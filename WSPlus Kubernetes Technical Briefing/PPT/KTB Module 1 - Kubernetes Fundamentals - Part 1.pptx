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8.xml" ContentType="application/vnd.openxmlformats-officedocument.presentationml.tags+xml"/>
  <Override PartName="/ppt/notesSlides/notesSlide4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3"/>
  </p:sldMasterIdLst>
  <p:notesMasterIdLst>
    <p:notesMasterId r:id="rId98"/>
  </p:notesMasterIdLst>
  <p:sldIdLst>
    <p:sldId id="256" r:id="rId44"/>
    <p:sldId id="257" r:id="rId45"/>
    <p:sldId id="2147469889" r:id="rId46"/>
    <p:sldId id="2147469966" r:id="rId47"/>
    <p:sldId id="2147469931" r:id="rId48"/>
    <p:sldId id="2147469959" r:id="rId49"/>
    <p:sldId id="2147469967" r:id="rId50"/>
    <p:sldId id="2147469921" r:id="rId51"/>
    <p:sldId id="259" r:id="rId52"/>
    <p:sldId id="2147469932" r:id="rId53"/>
    <p:sldId id="2134804656" r:id="rId54"/>
    <p:sldId id="2076138529" r:id="rId55"/>
    <p:sldId id="2076138531" r:id="rId56"/>
    <p:sldId id="2076138543" r:id="rId57"/>
    <p:sldId id="2076138585" r:id="rId58"/>
    <p:sldId id="2076138514" r:id="rId59"/>
    <p:sldId id="2076138591" r:id="rId60"/>
    <p:sldId id="2134804654" r:id="rId61"/>
    <p:sldId id="2147469916" r:id="rId62"/>
    <p:sldId id="2076138544" r:id="rId63"/>
    <p:sldId id="2076138545" r:id="rId64"/>
    <p:sldId id="2076138546" r:id="rId65"/>
    <p:sldId id="2076138547" r:id="rId66"/>
    <p:sldId id="2076138548" r:id="rId67"/>
    <p:sldId id="2076138581" r:id="rId68"/>
    <p:sldId id="2076138563" r:id="rId69"/>
    <p:sldId id="2076138586" r:id="rId70"/>
    <p:sldId id="2147469946" r:id="rId71"/>
    <p:sldId id="2076138590" r:id="rId72"/>
    <p:sldId id="2076138551" r:id="rId73"/>
    <p:sldId id="2076138593" r:id="rId74"/>
    <p:sldId id="2076138552" r:id="rId75"/>
    <p:sldId id="2076138559" r:id="rId76"/>
    <p:sldId id="2147469947" r:id="rId77"/>
    <p:sldId id="2076138571" r:id="rId78"/>
    <p:sldId id="2076138569" r:id="rId79"/>
    <p:sldId id="2076138573" r:id="rId80"/>
    <p:sldId id="2076138574" r:id="rId81"/>
    <p:sldId id="2076138575" r:id="rId82"/>
    <p:sldId id="2147469948" r:id="rId83"/>
    <p:sldId id="2147469962" r:id="rId84"/>
    <p:sldId id="2147469963" r:id="rId85"/>
    <p:sldId id="2147469960" r:id="rId86"/>
    <p:sldId id="2076138497" r:id="rId87"/>
    <p:sldId id="2076138621" r:id="rId88"/>
    <p:sldId id="2076138588" r:id="rId89"/>
    <p:sldId id="2147469964" r:id="rId90"/>
    <p:sldId id="2076138626" r:id="rId91"/>
    <p:sldId id="2076138627" r:id="rId92"/>
    <p:sldId id="2076138631" r:id="rId93"/>
    <p:sldId id="2076138629" r:id="rId94"/>
    <p:sldId id="2076138630" r:id="rId95"/>
    <p:sldId id="2147469965" r:id="rId96"/>
    <p:sldId id="265" r:id="rId97"/>
  </p:sldIdLst>
  <p:sldSz cx="12192000" cy="6858000"/>
  <p:notesSz cx="6858000" cy="9144000"/>
  <p:custDataLst>
    <p:tags r:id="rId9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3C47699E-C057-66EC-848D-19B9ECA3E1B3}" name="Andrew Albers" initials="AA" userId="S::andrewalbers@microsoft.com::05a0db6f-a93d-4086-9310-e241c2ed23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50" autoAdjust="0"/>
    <p:restoredTop sz="76643" autoAdjust="0"/>
  </p:normalViewPr>
  <p:slideViewPr>
    <p:cSldViewPr snapToGrid="0">
      <p:cViewPr varScale="1">
        <p:scale>
          <a:sx n="80" d="100"/>
          <a:sy n="80" d="100"/>
        </p:scale>
        <p:origin x="40" y="1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4.xml"/><Relationship Id="rId63" Type="http://schemas.openxmlformats.org/officeDocument/2006/relationships/slide" Target="slides/slide20.xml"/><Relationship Id="rId68" Type="http://schemas.openxmlformats.org/officeDocument/2006/relationships/slide" Target="slides/slide25.xml"/><Relationship Id="rId84" Type="http://schemas.openxmlformats.org/officeDocument/2006/relationships/slide" Target="slides/slide41.xml"/><Relationship Id="rId89" Type="http://schemas.openxmlformats.org/officeDocument/2006/relationships/slide" Target="slides/slide46.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10.xml"/><Relationship Id="rId58" Type="http://schemas.openxmlformats.org/officeDocument/2006/relationships/slide" Target="slides/slide15.xml"/><Relationship Id="rId74" Type="http://schemas.openxmlformats.org/officeDocument/2006/relationships/slide" Target="slides/slide31.xml"/><Relationship Id="rId79" Type="http://schemas.openxmlformats.org/officeDocument/2006/relationships/slide" Target="slides/slide36.xml"/><Relationship Id="rId102" Type="http://schemas.openxmlformats.org/officeDocument/2006/relationships/viewProps" Target="viewProps.xml"/><Relationship Id="rId5" Type="http://schemas.openxmlformats.org/officeDocument/2006/relationships/customXml" Target="../customXml/item5.xml"/><Relationship Id="rId90" Type="http://schemas.openxmlformats.org/officeDocument/2006/relationships/slide" Target="slides/slide47.xml"/><Relationship Id="rId95" Type="http://schemas.openxmlformats.org/officeDocument/2006/relationships/slide" Target="slides/slide52.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slideMaster" Target="slideMasters/slideMaster1.xml"/><Relationship Id="rId48" Type="http://schemas.openxmlformats.org/officeDocument/2006/relationships/slide" Target="slides/slide5.xml"/><Relationship Id="rId64" Type="http://schemas.openxmlformats.org/officeDocument/2006/relationships/slide" Target="slides/slide21.xml"/><Relationship Id="rId69" Type="http://schemas.openxmlformats.org/officeDocument/2006/relationships/slide" Target="slides/slide26.xml"/><Relationship Id="rId80" Type="http://schemas.openxmlformats.org/officeDocument/2006/relationships/slide" Target="slides/slide37.xml"/><Relationship Id="rId85" Type="http://schemas.openxmlformats.org/officeDocument/2006/relationships/slide" Target="slides/slide42.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slide" Target="slides/slide16.xml"/><Relationship Id="rId103" Type="http://schemas.openxmlformats.org/officeDocument/2006/relationships/theme" Target="theme/theme1.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11.xml"/><Relationship Id="rId62" Type="http://schemas.openxmlformats.org/officeDocument/2006/relationships/slide" Target="slides/slide19.xml"/><Relationship Id="rId70" Type="http://schemas.openxmlformats.org/officeDocument/2006/relationships/slide" Target="slides/slide27.xml"/><Relationship Id="rId75" Type="http://schemas.openxmlformats.org/officeDocument/2006/relationships/slide" Target="slides/slide32.xml"/><Relationship Id="rId83" Type="http://schemas.openxmlformats.org/officeDocument/2006/relationships/slide" Target="slides/slide40.xml"/><Relationship Id="rId88" Type="http://schemas.openxmlformats.org/officeDocument/2006/relationships/slide" Target="slides/slide45.xml"/><Relationship Id="rId91" Type="http://schemas.openxmlformats.org/officeDocument/2006/relationships/slide" Target="slides/slide48.xml"/><Relationship Id="rId96" Type="http://schemas.openxmlformats.org/officeDocument/2006/relationships/slide" Target="slides/slide53.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6.xml"/><Relationship Id="rId57" Type="http://schemas.openxmlformats.org/officeDocument/2006/relationships/slide" Target="slides/slide14.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1.xml"/><Relationship Id="rId52" Type="http://schemas.openxmlformats.org/officeDocument/2006/relationships/slide" Target="slides/slide9.xml"/><Relationship Id="rId60" Type="http://schemas.openxmlformats.org/officeDocument/2006/relationships/slide" Target="slides/slide17.xml"/><Relationship Id="rId65" Type="http://schemas.openxmlformats.org/officeDocument/2006/relationships/slide" Target="slides/slide22.xml"/><Relationship Id="rId73" Type="http://schemas.openxmlformats.org/officeDocument/2006/relationships/slide" Target="slides/slide30.xml"/><Relationship Id="rId78" Type="http://schemas.openxmlformats.org/officeDocument/2006/relationships/slide" Target="slides/slide35.xml"/><Relationship Id="rId81" Type="http://schemas.openxmlformats.org/officeDocument/2006/relationships/slide" Target="slides/slide38.xml"/><Relationship Id="rId86" Type="http://schemas.openxmlformats.org/officeDocument/2006/relationships/slide" Target="slides/slide43.xml"/><Relationship Id="rId94" Type="http://schemas.openxmlformats.org/officeDocument/2006/relationships/slide" Target="slides/slide51.xml"/><Relationship Id="rId99" Type="http://schemas.openxmlformats.org/officeDocument/2006/relationships/tags" Target="tags/tag1.xml"/><Relationship Id="rId10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7.xml"/><Relationship Id="rId55" Type="http://schemas.openxmlformats.org/officeDocument/2006/relationships/slide" Target="slides/slide12.xml"/><Relationship Id="rId76" Type="http://schemas.openxmlformats.org/officeDocument/2006/relationships/slide" Target="slides/slide33.xml"/><Relationship Id="rId97" Type="http://schemas.openxmlformats.org/officeDocument/2006/relationships/slide" Target="slides/slide54.xml"/><Relationship Id="rId104" Type="http://schemas.openxmlformats.org/officeDocument/2006/relationships/tableStyles" Target="tableStyles.xml"/><Relationship Id="rId7" Type="http://schemas.openxmlformats.org/officeDocument/2006/relationships/customXml" Target="../customXml/item7.xml"/><Relationship Id="rId71" Type="http://schemas.openxmlformats.org/officeDocument/2006/relationships/slide" Target="slides/slide28.xml"/><Relationship Id="rId92" Type="http://schemas.openxmlformats.org/officeDocument/2006/relationships/slide" Target="slides/slide49.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 Target="slides/slide2.xml"/><Relationship Id="rId66" Type="http://schemas.openxmlformats.org/officeDocument/2006/relationships/slide" Target="slides/slide23.xml"/><Relationship Id="rId87" Type="http://schemas.openxmlformats.org/officeDocument/2006/relationships/slide" Target="slides/slide44.xml"/><Relationship Id="rId61" Type="http://schemas.openxmlformats.org/officeDocument/2006/relationships/slide" Target="slides/slide18.xml"/><Relationship Id="rId82" Type="http://schemas.openxmlformats.org/officeDocument/2006/relationships/slide" Target="slides/slide39.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slide" Target="slides/slide13.xml"/><Relationship Id="rId77" Type="http://schemas.openxmlformats.org/officeDocument/2006/relationships/slide" Target="slides/slide34.xml"/><Relationship Id="rId100" Type="http://schemas.openxmlformats.org/officeDocument/2006/relationships/commentAuthors" Target="commentAuthors.xml"/><Relationship Id="rId105" Type="http://schemas.microsoft.com/office/2018/10/relationships/authors" Target="authors.xml"/><Relationship Id="rId8" Type="http://schemas.openxmlformats.org/officeDocument/2006/relationships/customXml" Target="../customXml/item8.xml"/><Relationship Id="rId51" Type="http://schemas.openxmlformats.org/officeDocument/2006/relationships/slide" Target="slides/slide8.xml"/><Relationship Id="rId72" Type="http://schemas.openxmlformats.org/officeDocument/2006/relationships/slide" Target="slides/slide29.xml"/><Relationship Id="rId93" Type="http://schemas.openxmlformats.org/officeDocument/2006/relationships/slide" Target="slides/slide50.xml"/><Relationship Id="rId98"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slide" Target="slides/slide3.xml"/><Relationship Id="rId67"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gateway-api.sigs.k8s.io/concepts/roles-and-personas"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gateway-api.sigs.k8s.io/#why-does-a-role-oriented-api-matter" TargetMode="External"/><Relationship Id="rId2" Type="http://schemas.openxmlformats.org/officeDocument/2006/relationships/slide" Target="../slides/slide49.xml"/><Relationship Id="rId1" Type="http://schemas.openxmlformats.org/officeDocument/2006/relationships/notesMaster" Target="../notesMasters/notesMaster1.xml"/><Relationship Id="rId6" Type="http://schemas.openxmlformats.org/officeDocument/2006/relationships/hyperlink" Target="https://gateway-api.sigs.k8s.io/concepts/glossary#eastwest-traffic" TargetMode="External"/><Relationship Id="rId5" Type="http://schemas.openxmlformats.org/officeDocument/2006/relationships/hyperlink" Target="https://gateway-api.sigs.k8s.io/concepts/gamma/" TargetMode="External"/><Relationship Id="rId4" Type="http://schemas.openxmlformats.org/officeDocument/2006/relationships/hyperlink" Target="https://kubernetes.io/docs/concepts/services-networking/ingress-controllers/" TargetMode="External"/></Relationships>
</file>

<file path=ppt/notesSlides/_rels/notesSlide37.xml.rels><?xml version="1.0" encoding="UTF-8" standalone="yes"?>
<Relationships xmlns="http://schemas.openxmlformats.org/package/2006/relationships"><Relationship Id="rId8" Type="http://schemas.openxmlformats.org/officeDocument/2006/relationships/hyperlink" Target="https://gateway-api.sigs.k8s.io/concepts/api-overview/#grpcroute" TargetMode="External"/><Relationship Id="rId3" Type="http://schemas.openxmlformats.org/officeDocument/2006/relationships/hyperlink" Target="https://gateway-api.sigs.k8s.io/concepts/api-overview/#gateway" TargetMode="External"/><Relationship Id="rId7" Type="http://schemas.openxmlformats.org/officeDocument/2006/relationships/hyperlink" Target="https://gateway-api.sigs.k8s.io/concepts/api-overview/#tcproute-and-udproute" TargetMode="External"/><Relationship Id="rId2" Type="http://schemas.openxmlformats.org/officeDocument/2006/relationships/slide" Target="../slides/slide50.xml"/><Relationship Id="rId1" Type="http://schemas.openxmlformats.org/officeDocument/2006/relationships/notesMaster" Target="../notesMasters/notesMaster1.xml"/><Relationship Id="rId6" Type="http://schemas.openxmlformats.org/officeDocument/2006/relationships/hyperlink" Target="https://gateway-api.sigs.k8s.io/concepts/api-overview/#tlsroute" TargetMode="External"/><Relationship Id="rId5" Type="http://schemas.openxmlformats.org/officeDocument/2006/relationships/hyperlink" Target="https://gateway-api.sigs.k8s.io/concepts/api-overview/#httproute" TargetMode="External"/><Relationship Id="rId4" Type="http://schemas.openxmlformats.org/officeDocument/2006/relationships/hyperlink" Target="https://gateway-api.sigs.k8s.io/concepts/api-overview/#route-resources" TargetMode="External"/><Relationship Id="rId9" Type="http://schemas.openxmlformats.org/officeDocument/2006/relationships/hyperlink" Target="https://gateway-api.sigs.k8s.io/concepts/api-overview/#attaching-routes-to-gateways" TargetMode="Externa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learn.microsoft.com/en-us/azure/application-gateway/for-containers/overview#deployment-strategies" TargetMode="External"/><Relationship Id="rId2" Type="http://schemas.openxmlformats.org/officeDocument/2006/relationships/slide" Target="../slides/slide51.xml"/><Relationship Id="rId1" Type="http://schemas.openxmlformats.org/officeDocument/2006/relationships/notesMaster" Target="../notesMasters/notesMaster1.xml"/><Relationship Id="rId4" Type="http://schemas.openxmlformats.org/officeDocument/2006/relationships/hyperlink" Target="https://learn.microsoft.com/en-us/azure/application-gateway/for-containers/overview#implementation-of-gateway-api" TargetMode="Externa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gateway-api.sigs.k8s.io/#why-does-a-role-oriented-api-matter" TargetMode="External"/><Relationship Id="rId2" Type="http://schemas.openxmlformats.org/officeDocument/2006/relationships/slide" Target="../slides/slide52.xml"/><Relationship Id="rId1" Type="http://schemas.openxmlformats.org/officeDocument/2006/relationships/notesMaster" Target="../notesMasters/notesMaster1.xml"/><Relationship Id="rId6" Type="http://schemas.openxmlformats.org/officeDocument/2006/relationships/hyperlink" Target="https://gateway-api.sigs.k8s.io/concepts/glossary#eastwest-traffic" TargetMode="External"/><Relationship Id="rId5" Type="http://schemas.openxmlformats.org/officeDocument/2006/relationships/hyperlink" Target="https://gateway-api.sigs.k8s.io/concepts/gamma/" TargetMode="External"/><Relationship Id="rId4" Type="http://schemas.openxmlformats.org/officeDocument/2006/relationships/hyperlink" Target="https://kubernetes.io/docs/concepts/services-networking/ingress-controllers/" TargetMode="Externa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learn.microsoft.com/en-us/azure/application-gateway/for-containers/quickstart-deploy-application-gateway-for-containers-alb-controller?tabs=install-helm-windows" TargetMode="External"/><Relationship Id="rId2" Type="http://schemas.openxmlformats.org/officeDocument/2006/relationships/slide" Target="../slides/slide53.xml"/><Relationship Id="rId1" Type="http://schemas.openxmlformats.org/officeDocument/2006/relationships/notesMaster" Target="../notesMasters/notesMaster1.xml"/><Relationship Id="rId5" Type="http://schemas.openxmlformats.org/officeDocument/2006/relationships/hyperlink" Target="https://learn.microsoft.com/en-us/azure/application-gateway/for-containers/how-to-traffic-splitting-gateway-api?tabs=alb-managed" TargetMode="External"/><Relationship Id="rId4" Type="http://schemas.openxmlformats.org/officeDocument/2006/relationships/hyperlink" Target="https://learn.microsoft.com/en-us/azure/application-gateway/for-containers/quickstart-create-application-gateway-for-containers-managed-by-alb-controller?tabs=new-subnet-aks-vnet" TargetMode="Externa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7/30/2026</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7/30/2026</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7/30/2026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611B6-3A42-7AF8-7943-5244566FD93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B97759-3D0C-73BE-A8BC-28EA0E2E6A11}"/>
              </a:ext>
            </a:extLst>
          </p:cNvPr>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FFF05387-2FD6-8573-78AE-76D070C34F4B}"/>
              </a:ext>
            </a:extLst>
          </p:cNvPr>
          <p:cNvSpPr>
            <a:spLocks noGrp="1"/>
          </p:cNvSpPr>
          <p:nvPr>
            <p:ph type="dt" idx="12"/>
          </p:nvPr>
        </p:nvSpPr>
        <p:spPr/>
        <p:txBody>
          <a:bodyPr/>
          <a:lstStyle/>
          <a:p>
            <a:fld id="{E57E3D00-9D4C-429E-9A61-DDFE4F2097D5}" type="datetime1">
              <a:rPr lang="en-US"/>
              <a:t>7/30/2026</a:t>
            </a:fld>
            <a:endParaRPr lang="en-US"/>
          </a:p>
        </p:txBody>
      </p:sp>
      <p:sp>
        <p:nvSpPr>
          <p:cNvPr id="8" name="Slide Image Placeholder 7">
            <a:extLst>
              <a:ext uri="{FF2B5EF4-FFF2-40B4-BE49-F238E27FC236}">
                <a16:creationId xmlns:a16="http://schemas.microsoft.com/office/drawing/2014/main" id="{C4FB76C1-7866-63DD-32F1-5A9C1243320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91D9D224-A5F0-C321-9411-101CF6A84AA6}"/>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5E883DC8-7F9F-FB59-9294-019F7E499A8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454154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Talk about why Kubernetes is used, what problems it solves and some of the scaling difficulties that took place before an orchestrator like it was developed.</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Kubernetes is a portable, extensible, open-source </a:t>
            </a:r>
            <a:r>
              <a:rPr lang="en-US" b="1" u="sng" dirty="0"/>
              <a:t>platform for managing containerized workloads and services</a:t>
            </a:r>
            <a:r>
              <a:rPr lang="en-US" dirty="0"/>
              <a:t>, that facilitates both declarative configuration and automation.</a:t>
            </a:r>
          </a:p>
          <a:p>
            <a:pPr marL="457200" indent="-457200">
              <a:buFont typeface="Arial" panose="020B0604020202020204" pitchFamily="34" charset="0"/>
              <a:buChar char="•"/>
            </a:pPr>
            <a:r>
              <a:rPr lang="en-US" dirty="0"/>
              <a:t>The name </a:t>
            </a:r>
            <a:r>
              <a:rPr lang="en-US" i="1" dirty="0"/>
              <a:t>Kubernetes</a:t>
            </a:r>
            <a:r>
              <a:rPr lang="en-US" dirty="0"/>
              <a:t> originates from Greek, meaning helmsman or pilot. </a:t>
            </a:r>
          </a:p>
          <a:p>
            <a:pPr marL="457200" indent="-457200">
              <a:buFont typeface="Arial" panose="020B0604020202020204" pitchFamily="34" charset="0"/>
              <a:buChar char="•"/>
            </a:pPr>
            <a:r>
              <a:rPr lang="en-US" b="1" u="sng" dirty="0"/>
              <a:t>K8s</a:t>
            </a:r>
            <a:r>
              <a:rPr lang="en-US" dirty="0"/>
              <a:t> as an abbreviation results from counting the eight letters between the "K" and the "s".</a:t>
            </a:r>
          </a:p>
          <a:p>
            <a:pPr marL="457200" indent="-457200">
              <a:buFont typeface="Arial" panose="020B0604020202020204" pitchFamily="34" charset="0"/>
              <a:buChar char="•"/>
            </a:pPr>
            <a:r>
              <a:rPr lang="en-US" dirty="0"/>
              <a:t>Google open-sourced the Kubernetes project in 2014.  Donated to Cloud Native Computing Foundation (CNCF) in 2015</a:t>
            </a:r>
          </a:p>
          <a:p>
            <a:pPr marL="457200" indent="-457200">
              <a:buFont typeface="Arial" panose="020B0604020202020204" pitchFamily="34" charset="0"/>
              <a:buChar char="•"/>
            </a:pPr>
            <a:r>
              <a:rPr lang="en-US" dirty="0"/>
              <a:t>Microsoft’s Brendan Burns was a co-creator!</a:t>
            </a:r>
          </a:p>
          <a:p>
            <a:pPr marL="457200" indent="-457200">
              <a:buFont typeface="Arial" panose="020B0604020202020204" pitchFamily="34" charset="0"/>
              <a:buChar char="•"/>
            </a:pPr>
            <a:endParaRPr lang="en-US" dirty="0"/>
          </a:p>
          <a:p>
            <a:pPr marL="0" indent="0">
              <a:buFont typeface="Arial" panose="020B0604020202020204" pitchFamily="34" charset="0"/>
              <a:buNone/>
            </a:pPr>
            <a:r>
              <a:rPr lang="en-GB" sz="1200" b="0" i="0" kern="1200" dirty="0">
                <a:solidFill>
                  <a:schemeClr val="tx1"/>
                </a:solidFill>
                <a:effectLst/>
                <a:latin typeface="+mn-lt"/>
                <a:ea typeface="+mn-ea"/>
                <a:cs typeface="+mn-cs"/>
              </a:rPr>
              <a:t>There are more container orchestration available: Docker Swarm, Service Fabric, Mirantis</a:t>
            </a:r>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5</a:t>
            </a:fld>
            <a:endParaRPr lang="en-US"/>
          </a:p>
        </p:txBody>
      </p:sp>
    </p:spTree>
    <p:extLst>
      <p:ext uri="{BB962C8B-B14F-4D97-AF65-F5344CB8AC3E}">
        <p14:creationId xmlns:p14="http://schemas.microsoft.com/office/powerpoint/2010/main" val="293643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32A04-69E7-F213-05D3-FEC7320B694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0F9960-0377-7F74-664F-1F91B9B936BF}"/>
              </a:ext>
            </a:extLst>
          </p:cNvPr>
          <p:cNvSpPr>
            <a:spLocks noGrp="1"/>
          </p:cNvSpPr>
          <p:nvPr>
            <p:ph type="sldNum" sz="quarter" idx="10"/>
          </p:nvPr>
        </p:nvSpPr>
        <p:spPr/>
        <p:txBody>
          <a:bodyPr/>
          <a:lstStyle/>
          <a:p>
            <a:fld id="{F475C4C8-7DEA-455A-9336-A4C7DB3AE516}" type="slidenum">
              <a:rPr lang="en-US"/>
              <a:pPr/>
              <a:t>7</a:t>
            </a:fld>
            <a:endParaRPr lang="en-US"/>
          </a:p>
        </p:txBody>
      </p:sp>
      <p:sp>
        <p:nvSpPr>
          <p:cNvPr id="3" name="Date Placeholder 2">
            <a:extLst>
              <a:ext uri="{FF2B5EF4-FFF2-40B4-BE49-F238E27FC236}">
                <a16:creationId xmlns:a16="http://schemas.microsoft.com/office/drawing/2014/main" id="{DDD3E4A3-E5AF-A625-838E-1AC803A71DF2}"/>
              </a:ext>
            </a:extLst>
          </p:cNvPr>
          <p:cNvSpPr>
            <a:spLocks noGrp="1"/>
          </p:cNvSpPr>
          <p:nvPr>
            <p:ph type="dt" idx="12"/>
          </p:nvPr>
        </p:nvSpPr>
        <p:spPr/>
        <p:txBody>
          <a:bodyPr/>
          <a:lstStyle/>
          <a:p>
            <a:fld id="{E57E3D00-9D4C-429E-9A61-DDFE4F2097D5}" type="datetime1">
              <a:rPr lang="en-US"/>
              <a:t>7/30/2026</a:t>
            </a:fld>
            <a:endParaRPr lang="en-US"/>
          </a:p>
        </p:txBody>
      </p:sp>
      <p:sp>
        <p:nvSpPr>
          <p:cNvPr id="8" name="Slide Image Placeholder 7">
            <a:extLst>
              <a:ext uri="{FF2B5EF4-FFF2-40B4-BE49-F238E27FC236}">
                <a16:creationId xmlns:a16="http://schemas.microsoft.com/office/drawing/2014/main" id="{12F093E8-86C5-7F5F-979F-7A4422E45344}"/>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04581DEE-7DCD-DACA-59D8-817A2782637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B8A7528A-2D9A-DDB6-5D90-51E1B7FF54A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94113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u="sng" dirty="0"/>
              <a:t>Control Plane</a:t>
            </a:r>
          </a:p>
          <a:p>
            <a:pPr marL="457200" indent="-457200">
              <a:buFont typeface="Arial" panose="020B0604020202020204" pitchFamily="34" charset="0"/>
              <a:buChar char="•"/>
            </a:pPr>
            <a:r>
              <a:rPr lang="en-US" b="1" u="sng" dirty="0"/>
              <a:t>API Server</a:t>
            </a:r>
            <a:r>
              <a:rPr lang="en-US" dirty="0"/>
              <a:t> - Exposes the Kubernetes API outside the cluster.</a:t>
            </a:r>
          </a:p>
          <a:p>
            <a:pPr marL="457200" indent="-457200">
              <a:buFont typeface="Arial" panose="020B0604020202020204" pitchFamily="34" charset="0"/>
              <a:buChar char="•"/>
            </a:pPr>
            <a:r>
              <a:rPr lang="en-US" b="1" u="sng" dirty="0" err="1"/>
              <a:t>etcd</a:t>
            </a:r>
            <a:r>
              <a:rPr lang="en-US" dirty="0"/>
              <a:t> - Consistent and highly-available key value store used to store for all cluster data.</a:t>
            </a:r>
          </a:p>
          <a:p>
            <a:pPr marL="457200" indent="-457200">
              <a:buFont typeface="Arial" panose="020B0604020202020204" pitchFamily="34" charset="0"/>
              <a:buChar char="•"/>
            </a:pPr>
            <a:r>
              <a:rPr lang="en-US" b="1" u="sng" dirty="0"/>
              <a:t>Scheduler</a:t>
            </a:r>
            <a:r>
              <a:rPr lang="en-US" dirty="0"/>
              <a:t> - Watches for newly created Pods with no assigned node and selects a node for them to run on.</a:t>
            </a:r>
          </a:p>
          <a:p>
            <a:pPr marL="457200" indent="-457200">
              <a:buFont typeface="Arial" panose="020B0604020202020204" pitchFamily="34" charset="0"/>
              <a:buChar char="•"/>
            </a:pPr>
            <a:r>
              <a:rPr lang="en-US" b="1" u="sng" dirty="0"/>
              <a:t>Controller Manager</a:t>
            </a:r>
            <a:r>
              <a:rPr lang="en-US" dirty="0"/>
              <a:t> - Manages controller processes</a:t>
            </a:r>
            <a:endParaRPr lang="en-US" b="0" u="none" dirty="0"/>
          </a:p>
          <a:p>
            <a:pPr marL="457200" indent="-457200">
              <a:buFont typeface="Arial" panose="020B0604020202020204" pitchFamily="34" charset="0"/>
              <a:buChar char="•"/>
            </a:pPr>
            <a:r>
              <a:rPr lang="en-US" b="0" u="none" dirty="0"/>
              <a:t>Cloud-controller-manager: cloud-specific control logic, linking clusters into the cloud providers API</a:t>
            </a:r>
          </a:p>
          <a:p>
            <a:pPr marL="457200" indent="-457200">
              <a:buFont typeface="Arial" panose="020B0604020202020204" pitchFamily="34" charset="0"/>
              <a:buChar char="•"/>
            </a:pPr>
            <a:r>
              <a:rPr lang="en-US" b="0" u="none" dirty="0"/>
              <a:t>Example controllers: </a:t>
            </a:r>
            <a:r>
              <a:rPr lang="en-US" dirty="0"/>
              <a:t>Node controller, Job controller, Replication controller, Namespace controller, Endpoint controller, Service Account controller, etc.</a:t>
            </a:r>
          </a:p>
          <a:p>
            <a:r>
              <a:rPr lang="en-US" dirty="0"/>
              <a:t>Controller pattern: watch the state of the cluster, then make or request changes where needed. </a:t>
            </a:r>
          </a:p>
          <a:p>
            <a:pPr>
              <a:lnSpc>
                <a:spcPct val="90000"/>
              </a:lnSpc>
              <a:spcAft>
                <a:spcPts val="600"/>
              </a:spcAft>
            </a:pPr>
            <a:endParaRPr lang="en-US" sz="800" dirty="0">
              <a:gradFill>
                <a:gsLst>
                  <a:gs pos="2917">
                    <a:schemeClr val="tx1"/>
                  </a:gs>
                  <a:gs pos="30000">
                    <a:schemeClr val="tx1"/>
                  </a:gs>
                </a:gsLst>
                <a:lin ang="5400000" scaled="0"/>
              </a:gradFill>
            </a:endParaRPr>
          </a:p>
          <a:p>
            <a:pPr>
              <a:lnSpc>
                <a:spcPct val="90000"/>
              </a:lnSpc>
              <a:spcAft>
                <a:spcPts val="600"/>
              </a:spcAft>
            </a:pPr>
            <a:r>
              <a:rPr lang="en-US" sz="800" b="1" u="sng" dirty="0">
                <a:gradFill>
                  <a:gsLst>
                    <a:gs pos="2917">
                      <a:schemeClr val="tx1"/>
                    </a:gs>
                    <a:gs pos="30000">
                      <a:schemeClr val="tx1"/>
                    </a:gs>
                  </a:gsLst>
                  <a:lin ang="5400000" scaled="0"/>
                </a:gradFill>
              </a:rPr>
              <a:t>Worker Node</a:t>
            </a:r>
          </a:p>
          <a:p>
            <a:pPr marL="457200" indent="-457200">
              <a:buFont typeface="Arial" panose="020B0604020202020204" pitchFamily="34" charset="0"/>
              <a:buChar char="•"/>
            </a:pPr>
            <a:r>
              <a:rPr lang="en-US" sz="800" b="1" u="sng" dirty="0" err="1"/>
              <a:t>Kubelet</a:t>
            </a:r>
            <a:r>
              <a:rPr lang="en-US" sz="800" dirty="0"/>
              <a:t> - Makes sure that containers are running in a Pod. It takes ensures that the containers described in Pod Specs are running and healthy.</a:t>
            </a:r>
          </a:p>
          <a:p>
            <a:pPr marL="457200" indent="-457200">
              <a:buFont typeface="Arial" panose="020B0604020202020204" pitchFamily="34" charset="0"/>
              <a:buChar char="•"/>
            </a:pPr>
            <a:r>
              <a:rPr lang="en-US" sz="800" b="1" u="sng" dirty="0"/>
              <a:t>Kube-proxy</a:t>
            </a:r>
            <a:r>
              <a:rPr lang="en-US" sz="800" dirty="0"/>
              <a:t> - Maintains the network rules, which allow network communication to your Pods from network sessions inside or outside of your cluster.</a:t>
            </a:r>
          </a:p>
          <a:p>
            <a:pPr marL="457200" indent="-457200">
              <a:buFont typeface="Arial" panose="020B0604020202020204" pitchFamily="34" charset="0"/>
              <a:buChar char="•"/>
            </a:pPr>
            <a:r>
              <a:rPr lang="en-US" sz="800" b="1" u="sng" dirty="0"/>
              <a:t>Container runtime</a:t>
            </a:r>
            <a:r>
              <a:rPr lang="en-US" sz="800" dirty="0"/>
              <a:t> - </a:t>
            </a:r>
            <a:r>
              <a:rPr lang="en-GB" sz="1200" b="0" i="0" kern="1200" dirty="0">
                <a:solidFill>
                  <a:schemeClr val="tx1"/>
                </a:solidFill>
                <a:effectLst/>
                <a:latin typeface="+mn-lt"/>
                <a:ea typeface="+mn-ea"/>
                <a:cs typeface="+mn-cs"/>
              </a:rPr>
              <a:t>Kubernetes supports several container runtimes, including containerd and CRI-O</a:t>
            </a:r>
            <a:endParaRPr lang="en-US" sz="800" dirty="0"/>
          </a:p>
          <a:p>
            <a:endParaRPr lang="en-US" sz="800" dirty="0"/>
          </a:p>
          <a:p>
            <a:pPr>
              <a:lnSpc>
                <a:spcPct val="90000"/>
              </a:lnSpc>
              <a:spcAft>
                <a:spcPts val="600"/>
              </a:spcAft>
            </a:pPr>
            <a:endParaRPr lang="en-US" sz="800" dirty="0">
              <a:gradFill>
                <a:gsLst>
                  <a:gs pos="2917">
                    <a:schemeClr val="tx1"/>
                  </a:gs>
                  <a:gs pos="30000">
                    <a:schemeClr val="tx1"/>
                  </a:gs>
                </a:gsLst>
                <a:lin ang="5400000" scaled="0"/>
              </a:gradFill>
            </a:endParaRPr>
          </a:p>
        </p:txBody>
      </p:sp>
      <p:sp>
        <p:nvSpPr>
          <p:cNvPr id="4" name="Slide Number Placeholder 3"/>
          <p:cNvSpPr>
            <a:spLocks noGrp="1"/>
          </p:cNvSpPr>
          <p:nvPr>
            <p:ph type="sldNum" sz="quarter" idx="5"/>
          </p:nvPr>
        </p:nvSpPr>
        <p:spPr/>
        <p:txBody>
          <a:bodyPr/>
          <a:lstStyle/>
          <a:p>
            <a:fld id="{1D09229F-6F41-4CC3-A51C-EB832A3392C5}" type="slidenum">
              <a:rPr lang="en-US" smtClean="0"/>
              <a:t>8</a:t>
            </a:fld>
            <a:endParaRPr lang="en-US"/>
          </a:p>
        </p:txBody>
      </p:sp>
    </p:spTree>
    <p:extLst>
      <p:ext uri="{BB962C8B-B14F-4D97-AF65-F5344CB8AC3E}">
        <p14:creationId xmlns:p14="http://schemas.microsoft.com/office/powerpoint/2010/main" val="3650462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9</a:t>
            </a:fld>
            <a:endParaRPr lang="en-US"/>
          </a:p>
        </p:txBody>
      </p:sp>
      <p:sp>
        <p:nvSpPr>
          <p:cNvPr id="3" name="Date Placeholder 2">
            <a:extLst>
              <a:ext uri="{FF2B5EF4-FFF2-40B4-BE49-F238E27FC236}">
                <a16:creationId xmlns:a16="http://schemas.microsoft.com/office/drawing/2014/main" id="{253F21FE-6D90-469E-9047-D9E85B68DF6B}"/>
              </a:ext>
            </a:extLst>
          </p:cNvPr>
          <p:cNvSpPr>
            <a:spLocks noGrp="1"/>
          </p:cNvSpPr>
          <p:nvPr>
            <p:ph type="dt" idx="12"/>
          </p:nvPr>
        </p:nvSpPr>
        <p:spPr/>
        <p:txBody>
          <a:bodyPr/>
          <a:lstStyle/>
          <a:p>
            <a:fld id="{E57E3D00-9D4C-429E-9A61-DDFE4F2097D5}" type="datetime1">
              <a:rPr lang="en-US"/>
              <a:t>7/30/2026</a:t>
            </a:fld>
            <a:endParaRPr lang="en-US"/>
          </a:p>
        </p:txBody>
      </p:sp>
      <p:sp>
        <p:nvSpPr>
          <p:cNvPr id="8" name="Slide Image Placeholder 7">
            <a:extLst>
              <a:ext uri="{FF2B5EF4-FFF2-40B4-BE49-F238E27FC236}">
                <a16:creationId xmlns:a16="http://schemas.microsoft.com/office/drawing/2014/main" id="{C7B11183-186A-4BBC-B2F8-7884666DA151}"/>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F5BB2EB-6EC5-46BF-B848-AF78DF3313F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D2DE8FA8-BD65-4569-8095-2AAA0C0CEA0A}"/>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738753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10</a:t>
            </a:fld>
            <a:endParaRPr lang="en-US"/>
          </a:p>
        </p:txBody>
      </p:sp>
    </p:spTree>
    <p:extLst>
      <p:ext uri="{BB962C8B-B14F-4D97-AF65-F5344CB8AC3E}">
        <p14:creationId xmlns:p14="http://schemas.microsoft.com/office/powerpoint/2010/main" val="3998536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285750" indent="-285750">
              <a:spcBef>
                <a:spcPts val="600"/>
              </a:spcBef>
              <a:spcAft>
                <a:spcPts val="1200"/>
              </a:spcAft>
              <a:buFont typeface="Arial" panose="020B0604020202020204" pitchFamily="34" charset="0"/>
              <a:buChar char="•"/>
            </a:pPr>
            <a:r>
              <a:rPr lang="en-US" sz="1200" dirty="0">
                <a:solidFill>
                  <a:srgbClr val="222222"/>
                </a:solidFill>
              </a:rPr>
              <a:t>A Pod is the smallest deployable compute units you can create and manage in Kubernetes.</a:t>
            </a:r>
          </a:p>
          <a:p>
            <a:pPr marL="285750" indent="-285750">
              <a:spcBef>
                <a:spcPts val="600"/>
              </a:spcBef>
              <a:spcAft>
                <a:spcPts val="1200"/>
              </a:spcAft>
              <a:buFont typeface="Arial" panose="020B0604020202020204" pitchFamily="34" charset="0"/>
              <a:buChar char="•"/>
            </a:pPr>
            <a:r>
              <a:rPr lang="en-US" sz="1200" dirty="0">
                <a:solidFill>
                  <a:srgbClr val="222222"/>
                </a:solidFill>
              </a:rPr>
              <a:t>A Pod can manage one or more containers, with shared storage (volumes) and network resources, and a specification for how to run the containers.</a:t>
            </a:r>
          </a:p>
          <a:p>
            <a:pPr marL="285750" indent="-285750">
              <a:spcBef>
                <a:spcPts val="600"/>
              </a:spcBef>
              <a:spcAft>
                <a:spcPts val="1200"/>
              </a:spcAft>
              <a:buFont typeface="Arial" panose="020B0604020202020204" pitchFamily="34" charset="0"/>
              <a:buChar char="•"/>
            </a:pPr>
            <a:r>
              <a:rPr lang="en-US" sz="1200" dirty="0">
                <a:solidFill>
                  <a:srgbClr val="222222"/>
                </a:solidFill>
              </a:rPr>
              <a:t>Containers running in a Pod share the same IP and ports and communicate using native inter-process communication channels or </a:t>
            </a:r>
            <a:r>
              <a:rPr lang="en-US" sz="1200" i="1" dirty="0">
                <a:solidFill>
                  <a:srgbClr val="222222"/>
                </a:solidFill>
              </a:rPr>
              <a:t>localhost</a:t>
            </a:r>
            <a:r>
              <a:rPr lang="en-US" sz="1200" dirty="0">
                <a:solidFill>
                  <a:srgbClr val="222222"/>
                </a:solidFill>
              </a:rPr>
              <a:t>.</a:t>
            </a:r>
          </a:p>
          <a:p>
            <a:pPr marL="285750" indent="-285750">
              <a:spcBef>
                <a:spcPts val="600"/>
              </a:spcBef>
              <a:spcAft>
                <a:spcPts val="1200"/>
              </a:spcAft>
              <a:buFont typeface="Arial" panose="020B0604020202020204" pitchFamily="34" charset="0"/>
              <a:buChar char="•"/>
            </a:pPr>
            <a:r>
              <a:rPr lang="en-US" sz="1200" dirty="0">
                <a:solidFill>
                  <a:srgbClr val="222222"/>
                </a:solidFill>
              </a:rPr>
              <a:t>Pods are immutable - if any change is made to the Pod specification (</a:t>
            </a:r>
            <a:r>
              <a:rPr lang="en-US" sz="1200" b="1" i="1" dirty="0">
                <a:solidFill>
                  <a:srgbClr val="222222"/>
                </a:solidFill>
              </a:rPr>
              <a:t>spec</a:t>
            </a:r>
            <a:r>
              <a:rPr lang="en-US" sz="1200" dirty="0">
                <a:solidFill>
                  <a:srgbClr val="222222"/>
                </a:solidFill>
              </a:rPr>
              <a:t>), a new Pod is created and then the old Pod is deleted.</a:t>
            </a:r>
          </a:p>
          <a:p>
            <a:pPr marL="285750" indent="-285750">
              <a:spcBef>
                <a:spcPts val="600"/>
              </a:spcBef>
              <a:spcAft>
                <a:spcPts val="1200"/>
              </a:spcAft>
              <a:buFont typeface="Arial" panose="020B0604020202020204" pitchFamily="34" charset="0"/>
              <a:buChar char="•"/>
            </a:pPr>
            <a:r>
              <a:rPr lang="en-US" sz="1200" dirty="0">
                <a:solidFill>
                  <a:srgbClr val="222222"/>
                </a:solidFill>
              </a:rPr>
              <a:t>Talk about scaling limitations of pods</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17"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7/30/2026 11:37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905648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35" indent="-171435">
              <a:buFontTx/>
              <a:buChar char="-"/>
            </a:pPr>
            <a:r>
              <a:rPr lang="en-US" sz="800" dirty="0"/>
              <a:t>Briefly mention replica sets and how the deployment uses that object, but emphasize the main workload deployment method is deployments</a:t>
            </a:r>
          </a:p>
          <a:p>
            <a:pPr marL="171435" indent="-171435">
              <a:buFontTx/>
              <a:buChar char="-"/>
            </a:pPr>
            <a:endParaRPr lang="en-US" sz="800"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17"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7/30/2026 11:37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3905648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Kubectl</a:t>
            </a:r>
            <a:r>
              <a:rPr lang="en-US" dirty="0"/>
              <a:t> connects to the cluster, converts YAML to JSON and calls API Server, including the required certificates and tokens.</a:t>
            </a:r>
          </a:p>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16</a:t>
            </a:fld>
            <a:endParaRPr lang="en-US"/>
          </a:p>
        </p:txBody>
      </p:sp>
    </p:spTree>
    <p:extLst>
      <p:ext uri="{BB962C8B-B14F-4D97-AF65-F5344CB8AC3E}">
        <p14:creationId xmlns:p14="http://schemas.microsoft.com/office/powerpoint/2010/main" val="385627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17</a:t>
            </a:fld>
            <a:endParaRPr lang="en-US"/>
          </a:p>
        </p:txBody>
      </p:sp>
    </p:spTree>
    <p:extLst>
      <p:ext uri="{BB962C8B-B14F-4D97-AF65-F5344CB8AC3E}">
        <p14:creationId xmlns:p14="http://schemas.microsoft.com/office/powerpoint/2010/main" val="1338568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18</a:t>
            </a:fld>
            <a:endParaRPr lang="en-US"/>
          </a:p>
        </p:txBody>
      </p:sp>
    </p:spTree>
    <p:extLst>
      <p:ext uri="{BB962C8B-B14F-4D97-AF65-F5344CB8AC3E}">
        <p14:creationId xmlns:p14="http://schemas.microsoft.com/office/powerpoint/2010/main" val="107009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in detail the </a:t>
            </a:r>
            <a:r>
              <a:rPr lang="en-US" dirty="0" err="1"/>
              <a:t>yaml</a:t>
            </a:r>
            <a:r>
              <a:rPr lang="en-US" dirty="0"/>
              <a:t> manifests used in the demo then run the demo script using cluster info</a:t>
            </a:r>
          </a:p>
          <a:p>
            <a:r>
              <a:rPr lang="en-US" b="1" dirty="0"/>
              <a:t>\Demos\Module1\demo-basic-deployments.ps1 or  use the bash script with same name under demos_bash\Module1\demo-basic-deployments.sh</a:t>
            </a:r>
          </a:p>
          <a:p>
            <a:endParaRPr lang="en-US" b="1" dirty="0"/>
          </a:p>
          <a:p>
            <a:r>
              <a:rPr lang="en-US" b="0" dirty="0"/>
              <a:t>Go over </a:t>
            </a:r>
            <a:r>
              <a:rPr lang="en-US" b="0" dirty="0" err="1"/>
              <a:t>kubectl</a:t>
            </a:r>
            <a:r>
              <a:rPr lang="en-US" b="0" dirty="0"/>
              <a:t> basics with applying files and how to query cluster workloads.</a:t>
            </a:r>
          </a:p>
          <a:p>
            <a:endParaRPr lang="en-US" b="0" dirty="0"/>
          </a:p>
          <a:p>
            <a:r>
              <a:rPr lang="en-US" b="0" dirty="0"/>
              <a:t>Show how to edit </a:t>
            </a:r>
            <a:r>
              <a:rPr lang="en-US" b="0" dirty="0" err="1"/>
              <a:t>kubectl</a:t>
            </a:r>
            <a:r>
              <a:rPr lang="en-US" b="0" dirty="0"/>
              <a:t> deployment files live on the cluster to make rapid changes.</a:t>
            </a:r>
          </a:p>
          <a:p>
            <a:r>
              <a:rPr lang="en-US" b="0" dirty="0"/>
              <a:t>How to view objects and different object types and </a:t>
            </a:r>
          </a:p>
          <a:p>
            <a:endParaRPr lang="en-US" b="1" dirty="0"/>
          </a:p>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19</a:t>
            </a:fld>
            <a:endParaRPr lang="en-US"/>
          </a:p>
        </p:txBody>
      </p:sp>
    </p:spTree>
    <p:extLst>
      <p:ext uri="{BB962C8B-B14F-4D97-AF65-F5344CB8AC3E}">
        <p14:creationId xmlns:p14="http://schemas.microsoft.com/office/powerpoint/2010/main" val="28610819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4 types of services. Emphasize the focus here is on </a:t>
            </a:r>
            <a:r>
              <a:rPr lang="en-US" dirty="0" err="1"/>
              <a:t>ClusterIP</a:t>
            </a:r>
            <a:r>
              <a:rPr lang="en-US" dirty="0"/>
              <a:t> and </a:t>
            </a:r>
            <a:r>
              <a:rPr lang="en-US" dirty="0" err="1"/>
              <a:t>LoadBalancer</a:t>
            </a:r>
            <a:r>
              <a:rPr lang="en-US" dirty="0"/>
              <a:t> for the next slides. If needed the other two can be included or just provider a brief overview.</a:t>
            </a:r>
          </a:p>
        </p:txBody>
      </p:sp>
      <p:sp>
        <p:nvSpPr>
          <p:cNvPr id="4" name="Slide Number Placeholder 3"/>
          <p:cNvSpPr>
            <a:spLocks noGrp="1"/>
          </p:cNvSpPr>
          <p:nvPr>
            <p:ph type="sldNum" sz="quarter" idx="5"/>
          </p:nvPr>
        </p:nvSpPr>
        <p:spPr/>
        <p:txBody>
          <a:bodyPr/>
          <a:lstStyle/>
          <a:p>
            <a:fld id="{1D09229F-6F41-4CC3-A51C-EB832A3392C5}" type="slidenum">
              <a:rPr lang="en-US" smtClean="0"/>
              <a:t>21</a:t>
            </a:fld>
            <a:endParaRPr lang="en-US"/>
          </a:p>
        </p:txBody>
      </p:sp>
    </p:spTree>
    <p:extLst>
      <p:ext uri="{BB962C8B-B14F-4D97-AF65-F5344CB8AC3E}">
        <p14:creationId xmlns:p14="http://schemas.microsoft.com/office/powerpoint/2010/main" val="378911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Node Ports are mostly used in on-premise clusters where the Node IPs are known.</a:t>
            </a:r>
          </a:p>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23</a:t>
            </a:fld>
            <a:endParaRPr lang="en-US"/>
          </a:p>
        </p:txBody>
      </p:sp>
    </p:spTree>
    <p:extLst>
      <p:ext uri="{BB962C8B-B14F-4D97-AF65-F5344CB8AC3E}">
        <p14:creationId xmlns:p14="http://schemas.microsoft.com/office/powerpoint/2010/main" val="3898937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dirty="0" err="1"/>
              <a:t>LoadBalancer</a:t>
            </a:r>
            <a:r>
              <a:rPr lang="en-US" dirty="0"/>
              <a:t> service contains a </a:t>
            </a:r>
            <a:r>
              <a:rPr lang="en-US" dirty="0" err="1"/>
              <a:t>NodePort</a:t>
            </a:r>
            <a:r>
              <a:rPr lang="en-US" dirty="0"/>
              <a:t> and </a:t>
            </a:r>
            <a:r>
              <a:rPr lang="en-US" dirty="0" err="1"/>
              <a:t>ClusterIP</a:t>
            </a:r>
            <a:r>
              <a:rPr lang="en-US" dirty="0"/>
              <a:t> configurations.  Internal traffic still uses the internal </a:t>
            </a:r>
            <a:r>
              <a:rPr lang="en-US" dirty="0" err="1"/>
              <a:t>ClusterIP</a:t>
            </a:r>
            <a:r>
              <a:rPr lang="en-US" dirty="0"/>
              <a:t> address for access.</a:t>
            </a:r>
          </a:p>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24</a:t>
            </a:fld>
            <a:endParaRPr lang="en-US"/>
          </a:p>
        </p:txBody>
      </p:sp>
    </p:spTree>
    <p:extLst>
      <p:ext uri="{BB962C8B-B14F-4D97-AF65-F5344CB8AC3E}">
        <p14:creationId xmlns:p14="http://schemas.microsoft.com/office/powerpoint/2010/main" val="28121430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25</a:t>
            </a:fld>
            <a:endParaRPr lang="en-US"/>
          </a:p>
        </p:txBody>
      </p:sp>
    </p:spTree>
    <p:extLst>
      <p:ext uri="{BB962C8B-B14F-4D97-AF65-F5344CB8AC3E}">
        <p14:creationId xmlns:p14="http://schemas.microsoft.com/office/powerpoint/2010/main" val="915478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26</a:t>
            </a:fld>
            <a:endParaRPr lang="en-US"/>
          </a:p>
        </p:txBody>
      </p:sp>
    </p:spTree>
    <p:extLst>
      <p:ext uri="{BB962C8B-B14F-4D97-AF65-F5344CB8AC3E}">
        <p14:creationId xmlns:p14="http://schemas.microsoft.com/office/powerpoint/2010/main" val="2767133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27</a:t>
            </a:fld>
            <a:endParaRPr lang="en-US"/>
          </a:p>
        </p:txBody>
      </p:sp>
    </p:spTree>
    <p:extLst>
      <p:ext uri="{BB962C8B-B14F-4D97-AF65-F5344CB8AC3E}">
        <p14:creationId xmlns:p14="http://schemas.microsoft.com/office/powerpoint/2010/main" val="24334397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3DFF3-5EE2-00D7-583A-E90AD3E2C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DC548-44A2-7FB6-B59F-E4B82CD7A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9D862-F1A1-468C-F9A1-0B96D9E3A2F1}"/>
              </a:ext>
            </a:extLst>
          </p:cNvPr>
          <p:cNvSpPr>
            <a:spLocks noGrp="1"/>
          </p:cNvSpPr>
          <p:nvPr>
            <p:ph type="body" idx="1"/>
          </p:nvPr>
        </p:nvSpPr>
        <p:spPr/>
        <p:txBody>
          <a:bodyPr/>
          <a:lstStyle/>
          <a:p>
            <a:pPr defTabSz="914318">
              <a:defRPr/>
            </a:pPr>
            <a:r>
              <a:rPr lang="en-US" b="1" dirty="0"/>
              <a:t>\Demos\Module1\demo-services.ps1</a:t>
            </a:r>
          </a:p>
          <a:p>
            <a:pPr defTabSz="914318">
              <a:defRPr/>
            </a:pPr>
            <a:endParaRPr lang="en-US" b="1" dirty="0"/>
          </a:p>
          <a:p>
            <a:pPr defTabSz="914318">
              <a:defRPr/>
            </a:pPr>
            <a:endParaRPr lang="en-US" b="1" dirty="0"/>
          </a:p>
          <a:p>
            <a:pPr defTabSz="914318">
              <a:defRPr/>
            </a:pPr>
            <a:r>
              <a:rPr lang="en-US" b="0" dirty="0"/>
              <a:t>Run the demo script: </a:t>
            </a:r>
            <a:r>
              <a:rPr lang="en-US" b="1" dirty="0"/>
              <a:t>\Demos\Module1\demo-blue-green-deployments.ps1</a:t>
            </a:r>
          </a:p>
          <a:p>
            <a:pPr defTabSz="914318">
              <a:defRPr/>
            </a:pPr>
            <a:endParaRPr lang="en-US" b="1" dirty="0"/>
          </a:p>
          <a:p>
            <a:pPr defTabSz="914318">
              <a:defRPr/>
            </a:pPr>
            <a:r>
              <a:rPr lang="en-US" b="0" dirty="0"/>
              <a:t>Run the demo script: </a:t>
            </a:r>
            <a:r>
              <a:rPr lang="en-US" b="1" dirty="0"/>
              <a:t>\Demos\Module1\demo-canary-deployments.ps1</a:t>
            </a:r>
            <a:endParaRPr lang="en-US" dirty="0"/>
          </a:p>
          <a:p>
            <a:pPr defTabSz="914318">
              <a:defRPr/>
            </a:pPr>
            <a:endParaRPr lang="en-US" dirty="0"/>
          </a:p>
        </p:txBody>
      </p:sp>
      <p:sp>
        <p:nvSpPr>
          <p:cNvPr id="4" name="Slide Number Placeholder 3">
            <a:extLst>
              <a:ext uri="{FF2B5EF4-FFF2-40B4-BE49-F238E27FC236}">
                <a16:creationId xmlns:a16="http://schemas.microsoft.com/office/drawing/2014/main" id="{43B7A9BD-1240-DFA6-BEC8-4F297D3856F7}"/>
              </a:ext>
            </a:extLst>
          </p:cNvPr>
          <p:cNvSpPr>
            <a:spLocks noGrp="1"/>
          </p:cNvSpPr>
          <p:nvPr>
            <p:ph type="sldNum" sz="quarter" idx="5"/>
          </p:nvPr>
        </p:nvSpPr>
        <p:spPr/>
        <p:txBody>
          <a:bodyPr/>
          <a:lstStyle/>
          <a:p>
            <a:fld id="{1D09229F-6F41-4CC3-A51C-EB832A3392C5}" type="slidenum">
              <a:rPr lang="en-US" smtClean="0"/>
              <a:t>28</a:t>
            </a:fld>
            <a:endParaRPr lang="en-US"/>
          </a:p>
        </p:txBody>
      </p:sp>
    </p:spTree>
    <p:extLst>
      <p:ext uri="{BB962C8B-B14F-4D97-AF65-F5344CB8AC3E}">
        <p14:creationId xmlns:p14="http://schemas.microsoft.com/office/powerpoint/2010/main" val="198332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17"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7/30/2026 11:37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15254867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17"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386CE63F-9E7F-4C04-9D0D-FCA25A8E9E86}" type="datetime8">
              <a:rPr lang="en-US" smtClean="0"/>
              <a:t>7/30/2026 11:37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dirty="0"/>
          </a:p>
        </p:txBody>
      </p:sp>
    </p:spTree>
    <p:extLst>
      <p:ext uri="{BB962C8B-B14F-4D97-AF65-F5344CB8AC3E}">
        <p14:creationId xmlns:p14="http://schemas.microsoft.com/office/powerpoint/2010/main" val="1056430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09229F-6F41-4CC3-A51C-EB832A3392C5}" type="slidenum">
              <a:rPr lang="en-US" smtClean="0"/>
              <a:t>33</a:t>
            </a:fld>
            <a:endParaRPr lang="en-US"/>
          </a:p>
        </p:txBody>
      </p:sp>
    </p:spTree>
    <p:extLst>
      <p:ext uri="{BB962C8B-B14F-4D97-AF65-F5344CB8AC3E}">
        <p14:creationId xmlns:p14="http://schemas.microsoft.com/office/powerpoint/2010/main" val="21141772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F00DF-E6BA-4F52-A22F-31456DDDE4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9662A-B3C3-ECEE-37F8-13C8FA4BC2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E97820-EC5E-5229-B539-3887B1C79E9C}"/>
              </a:ext>
            </a:extLst>
          </p:cNvPr>
          <p:cNvSpPr>
            <a:spLocks noGrp="1"/>
          </p:cNvSpPr>
          <p:nvPr>
            <p:ph type="body" idx="1"/>
          </p:nvPr>
        </p:nvSpPr>
        <p:spPr/>
        <p:txBody>
          <a:bodyPr/>
          <a:lstStyle/>
          <a:p>
            <a:pPr defTabSz="914318">
              <a:defRPr/>
            </a:pPr>
            <a:endParaRPr lang="en-US" b="0" dirty="0"/>
          </a:p>
          <a:p>
            <a:pPr defTabSz="914318">
              <a:defRPr/>
            </a:pPr>
            <a:endParaRPr lang="en-US" b="0" dirty="0"/>
          </a:p>
          <a:p>
            <a:pPr defTabSz="914318">
              <a:defRPr/>
            </a:pPr>
            <a:r>
              <a:rPr lang="en-US" b="0" dirty="0"/>
              <a:t>Run the demo script: </a:t>
            </a:r>
            <a:r>
              <a:rPr lang="en-US" b="1" dirty="0"/>
              <a:t>\Demos\Module1\demo-configmaps.ps1</a:t>
            </a:r>
          </a:p>
          <a:p>
            <a:pPr defTabSz="914318">
              <a:defRPr/>
            </a:pPr>
            <a:endParaRPr lang="en-US" b="1" dirty="0"/>
          </a:p>
          <a:p>
            <a:pPr marL="0" marR="0" lvl="0" indent="0" algn="l" defTabSz="914318"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\Demos\Module1\demo-secrets.ps1</a:t>
            </a:r>
            <a:endParaRPr lang="en-US" dirty="0"/>
          </a:p>
          <a:p>
            <a:pPr defTabSz="914318">
              <a:defRPr/>
            </a:pPr>
            <a:endParaRPr lang="en-US" b="1" dirty="0"/>
          </a:p>
          <a:p>
            <a:pPr defTabSz="914318">
              <a:defRPr/>
            </a:pPr>
            <a:endParaRPr lang="en-US" dirty="0"/>
          </a:p>
        </p:txBody>
      </p:sp>
      <p:sp>
        <p:nvSpPr>
          <p:cNvPr id="4" name="Slide Number Placeholder 3">
            <a:extLst>
              <a:ext uri="{FF2B5EF4-FFF2-40B4-BE49-F238E27FC236}">
                <a16:creationId xmlns:a16="http://schemas.microsoft.com/office/drawing/2014/main" id="{391095C2-FC39-11B0-D37F-7A2709701A68}"/>
              </a:ext>
            </a:extLst>
          </p:cNvPr>
          <p:cNvSpPr>
            <a:spLocks noGrp="1"/>
          </p:cNvSpPr>
          <p:nvPr>
            <p:ph type="sldNum" sz="quarter" idx="5"/>
          </p:nvPr>
        </p:nvSpPr>
        <p:spPr/>
        <p:txBody>
          <a:bodyPr/>
          <a:lstStyle/>
          <a:p>
            <a:fld id="{1D09229F-6F41-4CC3-A51C-EB832A3392C5}" type="slidenum">
              <a:rPr lang="en-US" smtClean="0"/>
              <a:t>34</a:t>
            </a:fld>
            <a:endParaRPr lang="en-US"/>
          </a:p>
        </p:txBody>
      </p:sp>
    </p:spTree>
    <p:extLst>
      <p:ext uri="{BB962C8B-B14F-4D97-AF65-F5344CB8AC3E}">
        <p14:creationId xmlns:p14="http://schemas.microsoft.com/office/powerpoint/2010/main" val="18379756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1200"/>
              </a:spcAft>
              <a:buFont typeface="Arial" panose="020B0604020202020204" pitchFamily="34" charset="0"/>
              <a:buNone/>
            </a:pPr>
            <a:r>
              <a:rPr lang="en-US" sz="1200" dirty="0"/>
              <a:t>No deep dives into Azure storage types here. This is covered in the AKS Storage module. Keep it high level and Kubernetes </a:t>
            </a:r>
            <a:r>
              <a:rPr lang="en-US" sz="1200"/>
              <a:t>concepts only. </a:t>
            </a:r>
          </a:p>
          <a:p>
            <a:pPr marL="342900" indent="-342900">
              <a:spcAft>
                <a:spcPts val="1200"/>
              </a:spcAft>
              <a:buFont typeface="Arial" panose="020B0604020202020204" pitchFamily="34" charset="0"/>
              <a:buChar char="•"/>
            </a:pPr>
            <a:endParaRPr lang="en-US" sz="1200" dirty="0"/>
          </a:p>
          <a:p>
            <a:pPr marL="342900" indent="-342900">
              <a:spcAft>
                <a:spcPts val="1200"/>
              </a:spcAft>
              <a:buFont typeface="Arial" panose="020B0604020202020204" pitchFamily="34" charset="0"/>
              <a:buChar char="•"/>
            </a:pPr>
            <a:r>
              <a:rPr lang="en-US" sz="1200" dirty="0"/>
              <a:t>PVs are volume plugins like Volumes but have a lifecycle independent of any individual Pod that uses the PV. </a:t>
            </a:r>
          </a:p>
          <a:p>
            <a:pPr marL="342900" indent="-342900">
              <a:spcAft>
                <a:spcPts val="1200"/>
              </a:spcAft>
              <a:buFont typeface="Arial" panose="020B0604020202020204" pitchFamily="34" charset="0"/>
              <a:buChar char="•"/>
            </a:pPr>
            <a:r>
              <a:rPr lang="en-US" sz="1200" dirty="0"/>
              <a:t>It is a cluster wide resource (not </a:t>
            </a:r>
            <a:r>
              <a:rPr lang="en-US" sz="1200" dirty="0" err="1"/>
              <a:t>namespaced</a:t>
            </a:r>
            <a:r>
              <a:rPr lang="en-US" sz="1200" dirty="0"/>
              <a:t>), available to for any user to claim. </a:t>
            </a:r>
          </a:p>
        </p:txBody>
      </p:sp>
      <p:sp>
        <p:nvSpPr>
          <p:cNvPr id="4" name="Slide Number Placeholder 3"/>
          <p:cNvSpPr>
            <a:spLocks noGrp="1"/>
          </p:cNvSpPr>
          <p:nvPr>
            <p:ph type="sldNum" sz="quarter" idx="5"/>
          </p:nvPr>
        </p:nvSpPr>
        <p:spPr/>
        <p:txBody>
          <a:bodyPr/>
          <a:lstStyle/>
          <a:p>
            <a:fld id="{2625FF2B-9848-40D4-A961-E928D17E1660}" type="slidenum">
              <a:rPr lang="en-US" smtClean="0"/>
              <a:t>36</a:t>
            </a:fld>
            <a:endParaRPr lang="en-US"/>
          </a:p>
        </p:txBody>
      </p:sp>
    </p:spTree>
    <p:extLst>
      <p:ext uri="{BB962C8B-B14F-4D97-AF65-F5344CB8AC3E}">
        <p14:creationId xmlns:p14="http://schemas.microsoft.com/office/powerpoint/2010/main" val="24649015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C7E76-00AC-BE57-A50B-27616AA19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602FE-C57C-1ED5-693E-FA8A2EB4E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6F47F-C5FC-90A2-E017-5BE0C72E62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25A762-6A90-E656-3DB5-246F08C5C075}"/>
              </a:ext>
            </a:extLst>
          </p:cNvPr>
          <p:cNvSpPr>
            <a:spLocks noGrp="1"/>
          </p:cNvSpPr>
          <p:nvPr>
            <p:ph type="sldNum" sz="quarter" idx="5"/>
          </p:nvPr>
        </p:nvSpPr>
        <p:spPr/>
        <p:txBody>
          <a:bodyPr/>
          <a:lstStyle/>
          <a:p>
            <a:fld id="{1D09229F-6F41-4CC3-A51C-EB832A3392C5}" type="slidenum">
              <a:rPr lang="en-US" smtClean="0"/>
              <a:t>40</a:t>
            </a:fld>
            <a:endParaRPr lang="en-US"/>
          </a:p>
        </p:txBody>
      </p:sp>
    </p:spTree>
    <p:extLst>
      <p:ext uri="{BB962C8B-B14F-4D97-AF65-F5344CB8AC3E}">
        <p14:creationId xmlns:p14="http://schemas.microsoft.com/office/powerpoint/2010/main" val="26548047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42</a:t>
            </a:fld>
            <a:endParaRPr lang="en-US"/>
          </a:p>
        </p:txBody>
      </p:sp>
    </p:spTree>
    <p:extLst>
      <p:ext uri="{BB962C8B-B14F-4D97-AF65-F5344CB8AC3E}">
        <p14:creationId xmlns:p14="http://schemas.microsoft.com/office/powerpoint/2010/main" val="42218755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A6598-5E2C-7219-FB13-AE908F9FF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BCFE4-68F0-7759-D7DB-53593E1DF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7DCAC-CCA5-2955-244A-CCE3218502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\Demos\Module3\demo-probes.ps1</a:t>
            </a:r>
            <a:endParaRPr lang="en-US" dirty="0"/>
          </a:p>
        </p:txBody>
      </p:sp>
      <p:sp>
        <p:nvSpPr>
          <p:cNvPr id="4" name="Slide Number Placeholder 3">
            <a:extLst>
              <a:ext uri="{FF2B5EF4-FFF2-40B4-BE49-F238E27FC236}">
                <a16:creationId xmlns:a16="http://schemas.microsoft.com/office/drawing/2014/main" id="{CC83BF10-7FA9-1F38-6253-E59BDD615E4C}"/>
              </a:ext>
            </a:extLst>
          </p:cNvPr>
          <p:cNvSpPr>
            <a:spLocks noGrp="1"/>
          </p:cNvSpPr>
          <p:nvPr>
            <p:ph type="sldNum" sz="quarter" idx="5"/>
          </p:nvPr>
        </p:nvSpPr>
        <p:spPr/>
        <p:txBody>
          <a:bodyPr/>
          <a:lstStyle/>
          <a:p>
            <a:fld id="{1D09229F-6F41-4CC3-A51C-EB832A3392C5}" type="slidenum">
              <a:rPr lang="en-US" smtClean="0"/>
              <a:t>43</a:t>
            </a:fld>
            <a:endParaRPr lang="en-US"/>
          </a:p>
        </p:txBody>
      </p:sp>
    </p:spTree>
    <p:extLst>
      <p:ext uri="{BB962C8B-B14F-4D97-AF65-F5344CB8AC3E}">
        <p14:creationId xmlns:p14="http://schemas.microsoft.com/office/powerpoint/2010/main" val="17479241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44</a:t>
            </a:fld>
            <a:endParaRPr lang="en-US"/>
          </a:p>
        </p:txBody>
      </p:sp>
    </p:spTree>
    <p:extLst>
      <p:ext uri="{BB962C8B-B14F-4D97-AF65-F5344CB8AC3E}">
        <p14:creationId xmlns:p14="http://schemas.microsoft.com/office/powerpoint/2010/main" val="4903799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45</a:t>
            </a:fld>
            <a:endParaRPr lang="en-US"/>
          </a:p>
        </p:txBody>
      </p:sp>
    </p:spTree>
    <p:extLst>
      <p:ext uri="{BB962C8B-B14F-4D97-AF65-F5344CB8AC3E}">
        <p14:creationId xmlns:p14="http://schemas.microsoft.com/office/powerpoint/2010/main" val="21168429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46</a:t>
            </a:fld>
            <a:endParaRPr lang="en-US"/>
          </a:p>
        </p:txBody>
      </p:sp>
    </p:spTree>
    <p:extLst>
      <p:ext uri="{BB962C8B-B14F-4D97-AF65-F5344CB8AC3E}">
        <p14:creationId xmlns:p14="http://schemas.microsoft.com/office/powerpoint/2010/main" val="3176827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980F-FDF5-12A4-D4DB-ED63CEA60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17BE1-409B-956D-1C05-7E06A40EA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A5D46-A246-AEF8-2344-FAD0FDF0FD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the demo script: </a:t>
            </a:r>
            <a:r>
              <a:rPr lang="en-US" b="1" dirty="0"/>
              <a:t>\Demos\</a:t>
            </a:r>
            <a:r>
              <a:rPr lang="en-US" b="1" dirty="0" err="1"/>
              <a:t>Kubernetes_fundamentals_demos</a:t>
            </a:r>
            <a:r>
              <a:rPr lang="en-US" b="1" dirty="0"/>
              <a:t>\demo-ingress.ps1</a:t>
            </a:r>
            <a:endParaRPr lang="en-US" dirty="0"/>
          </a:p>
        </p:txBody>
      </p:sp>
      <p:sp>
        <p:nvSpPr>
          <p:cNvPr id="4" name="Slide Number Placeholder 3">
            <a:extLst>
              <a:ext uri="{FF2B5EF4-FFF2-40B4-BE49-F238E27FC236}">
                <a16:creationId xmlns:a16="http://schemas.microsoft.com/office/drawing/2014/main" id="{51BD3DF4-2018-754F-4F0B-6561CC3443F4}"/>
              </a:ext>
            </a:extLst>
          </p:cNvPr>
          <p:cNvSpPr>
            <a:spLocks noGrp="1"/>
          </p:cNvSpPr>
          <p:nvPr>
            <p:ph type="sldNum" sz="quarter" idx="5"/>
          </p:nvPr>
        </p:nvSpPr>
        <p:spPr/>
        <p:txBody>
          <a:bodyPr/>
          <a:lstStyle/>
          <a:p>
            <a:fld id="{1D09229F-6F41-4CC3-A51C-EB832A3392C5}" type="slidenum">
              <a:rPr lang="en-US" smtClean="0"/>
              <a:t>47</a:t>
            </a:fld>
            <a:endParaRPr lang="en-US"/>
          </a:p>
        </p:txBody>
      </p:sp>
    </p:spTree>
    <p:extLst>
      <p:ext uri="{BB962C8B-B14F-4D97-AF65-F5344CB8AC3E}">
        <p14:creationId xmlns:p14="http://schemas.microsoft.com/office/powerpoint/2010/main" val="3294094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highlight>
                  <a:srgbClr val="FFFFFF"/>
                </a:highlight>
                <a:latin typeface="Roboto" panose="02000000000000000000" pitchFamily="2" charset="0"/>
              </a:rPr>
              <a:t>Gateway API is an official Kubernetes project focused on L4 and L7 routing in Kubernetes. This project represents the next generation of Kubernetes Ingress, Load Balancing, and Service Mesh APIs. From the outset, it has been designed to be generic, expressive, and role-oriented.</a:t>
            </a:r>
          </a:p>
          <a:p>
            <a:pPr algn="l"/>
            <a:r>
              <a:rPr lang="en-US" b="0" i="0" dirty="0">
                <a:effectLst/>
                <a:highlight>
                  <a:srgbClr val="FFFFFF"/>
                </a:highlight>
                <a:latin typeface="Roboto" panose="02000000000000000000" pitchFamily="2" charset="0"/>
              </a:rPr>
              <a:t>The overall resource model focuses on 3 separate </a:t>
            </a:r>
            <a:r>
              <a:rPr lang="en-US" b="0" i="0" u="none" strike="noStrike" dirty="0">
                <a:effectLst/>
                <a:highlight>
                  <a:srgbClr val="FFFFFF"/>
                </a:highlight>
                <a:latin typeface="Roboto" panose="02000000000000000000" pitchFamily="2" charset="0"/>
                <a:hlinkClick r:id="rId3"/>
              </a:rPr>
              <a:t>personas</a:t>
            </a:r>
            <a:r>
              <a:rPr lang="en-US" b="0" i="0" dirty="0">
                <a:effectLst/>
                <a:highlight>
                  <a:srgbClr val="FFFFFF"/>
                </a:highlight>
                <a:latin typeface="Roboto" panose="02000000000000000000" pitchFamily="2" charset="0"/>
              </a:rPr>
              <a:t> and corresponding resources that they are expected to manage:</a:t>
            </a:r>
            <a:endParaRPr lang="en-US" dirty="0"/>
          </a:p>
          <a:p>
            <a:endParaRPr lang="en-US" dirty="0"/>
          </a:p>
          <a:p>
            <a:r>
              <a:rPr lang="en-US" dirty="0"/>
              <a:t>Most of the configuration in this API is contained in the Routing layer. These protocol-specific resources (</a:t>
            </a:r>
            <a:r>
              <a:rPr lang="en-US" dirty="0" err="1"/>
              <a:t>HTTPRoute</a:t>
            </a:r>
            <a:r>
              <a:rPr lang="en-US" dirty="0"/>
              <a:t>, </a:t>
            </a:r>
            <a:r>
              <a:rPr lang="en-US" dirty="0" err="1"/>
              <a:t>GRPCRoute</a:t>
            </a:r>
            <a:r>
              <a:rPr lang="en-US" dirty="0"/>
              <a:t>, </a:t>
            </a:r>
            <a:r>
              <a:rPr lang="en-US" dirty="0" err="1"/>
              <a:t>etc</a:t>
            </a:r>
            <a:r>
              <a:rPr lang="en-US" dirty="0"/>
              <a:t>) enable advanced routing capabilities for both Ingress and Mesh.</a:t>
            </a:r>
          </a:p>
          <a:p>
            <a:endParaRPr lang="en-US" dirty="0"/>
          </a:p>
          <a:p>
            <a:r>
              <a:rPr lang="en-US" dirty="0"/>
              <a:t>The Gateway API Logo helps illustrate the dual purpose of this API, enabling routing for both North-South (Ingress) and East-West (Mesh) traffic to share the same configuration.</a:t>
            </a:r>
          </a:p>
          <a:p>
            <a:endParaRPr lang="en-US" dirty="0"/>
          </a:p>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48</a:t>
            </a:fld>
            <a:endParaRPr lang="en-US"/>
          </a:p>
        </p:txBody>
      </p:sp>
    </p:spTree>
    <p:extLst>
      <p:ext uri="{BB962C8B-B14F-4D97-AF65-F5344CB8AC3E}">
        <p14:creationId xmlns:p14="http://schemas.microsoft.com/office/powerpoint/2010/main" val="26074928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effectLst/>
                <a:highlight>
                  <a:srgbClr val="FFFFFF"/>
                </a:highlight>
                <a:latin typeface="Roboto" panose="02000000000000000000" pitchFamily="2" charset="0"/>
              </a:rPr>
              <a:t>Role-oriented</a:t>
            </a:r>
            <a:r>
              <a:rPr lang="en-US" b="0" i="0" dirty="0">
                <a:effectLst/>
                <a:highlight>
                  <a:srgbClr val="FFFFFF"/>
                </a:highlight>
                <a:latin typeface="Roboto" panose="02000000000000000000" pitchFamily="2" charset="0"/>
              </a:rPr>
              <a:t> - Gateway is composed of API resources which model organizational roles that use and configure Kubernetes service networking.</a:t>
            </a:r>
          </a:p>
          <a:p>
            <a:pPr algn="l"/>
            <a:r>
              <a:rPr lang="en-US" b="0" i="0" dirty="0">
                <a:effectLst/>
                <a:highlight>
                  <a:srgbClr val="FFFFFF"/>
                </a:highlight>
                <a:latin typeface="Roboto" panose="02000000000000000000" pitchFamily="2" charset="0"/>
              </a:rPr>
              <a:t>Why does a role-oriented API matter?</a:t>
            </a:r>
            <a:r>
              <a:rPr lang="en-US" b="0" i="0" u="none" strike="noStrike" dirty="0">
                <a:effectLst/>
                <a:highlight>
                  <a:srgbClr val="FFFFFF"/>
                </a:highlight>
                <a:latin typeface="Roboto" panose="02000000000000000000" pitchFamily="2" charset="0"/>
                <a:hlinkClick r:id="rId3" tooltip="Permanent link"/>
              </a:rPr>
              <a:t>¶</a:t>
            </a:r>
            <a:endParaRPr lang="en-US" b="0" i="0" dirty="0">
              <a:effectLst/>
              <a:highlight>
                <a:srgbClr val="FFFFFF"/>
              </a:highlight>
              <a:latin typeface="Roboto" panose="02000000000000000000" pitchFamily="2" charset="0"/>
            </a:endParaRPr>
          </a:p>
          <a:p>
            <a:pPr algn="l"/>
            <a:r>
              <a:rPr lang="en-US" b="0" i="0" dirty="0">
                <a:effectLst/>
                <a:highlight>
                  <a:srgbClr val="FFFFFF"/>
                </a:highlight>
                <a:latin typeface="Roboto" panose="02000000000000000000" pitchFamily="2" charset="0"/>
              </a:rPr>
              <a:t>Whether it’s roads, power, data centers, or Kubernetes clusters, infrastructure is built to be shared. However, shared infrastructure raises a common challenge - how to provide flexibility to users of the infrastructure while maintaining control by owners of the infrastructure?</a:t>
            </a:r>
          </a:p>
          <a:p>
            <a:pPr algn="l"/>
            <a:r>
              <a:rPr lang="en-US" b="0" i="0" dirty="0">
                <a:effectLst/>
                <a:highlight>
                  <a:srgbClr val="FFFFFF"/>
                </a:highlight>
                <a:latin typeface="Roboto" panose="02000000000000000000" pitchFamily="2" charset="0"/>
              </a:rPr>
              <a:t>Gateway API accomplishes this through a role-oriented design for Kubernetes service networking that strikes a balance between distributed flexibility and centralized control. It allows shared network infrastructure (hardware load balancers, cloud networking, cluster-hosted proxies </a:t>
            </a:r>
            <a:r>
              <a:rPr lang="en-US" b="0" i="0" dirty="0" err="1">
                <a:effectLst/>
                <a:highlight>
                  <a:srgbClr val="FFFFFF"/>
                </a:highlight>
                <a:latin typeface="Roboto" panose="02000000000000000000" pitchFamily="2" charset="0"/>
              </a:rPr>
              <a:t>etc</a:t>
            </a:r>
            <a:r>
              <a:rPr lang="en-US" b="0" i="0" dirty="0">
                <a:effectLst/>
                <a:highlight>
                  <a:srgbClr val="FFFFFF"/>
                </a:highlight>
                <a:latin typeface="Roboto" panose="02000000000000000000" pitchFamily="2" charset="0"/>
              </a:rPr>
              <a:t>) to be used by many different and non-coordinating teams, all bound by the policies and constraints set by cluster operators.</a:t>
            </a:r>
          </a:p>
          <a:p>
            <a:pPr algn="l">
              <a:buFont typeface="Arial" panose="020B0604020202020204" pitchFamily="34" charset="0"/>
              <a:buChar char="•"/>
            </a:pPr>
            <a:endParaRPr lang="en-US" b="0" i="0" dirty="0">
              <a:effectLst/>
              <a:highlight>
                <a:srgbClr val="FFFFFF"/>
              </a:highlight>
              <a:latin typeface="Roboto" panose="02000000000000000000" pitchFamily="2" charset="0"/>
            </a:endParaRPr>
          </a:p>
          <a:p>
            <a:pPr algn="l">
              <a:buFont typeface="Arial" panose="020B0604020202020204" pitchFamily="34" charset="0"/>
              <a:buChar char="•"/>
            </a:pPr>
            <a:r>
              <a:rPr lang="en-US" b="1" i="0" dirty="0">
                <a:effectLst/>
                <a:highlight>
                  <a:srgbClr val="FFFFFF"/>
                </a:highlight>
                <a:latin typeface="Roboto" panose="02000000000000000000" pitchFamily="2" charset="0"/>
              </a:rPr>
              <a:t>Portable</a:t>
            </a:r>
            <a:r>
              <a:rPr lang="en-US" b="0" i="0" dirty="0">
                <a:effectLst/>
                <a:highlight>
                  <a:srgbClr val="FFFFFF"/>
                </a:highlight>
                <a:latin typeface="Roboto" panose="02000000000000000000" pitchFamily="2" charset="0"/>
              </a:rPr>
              <a:t> - This isn't an improvement but rather something that should stay the same. Just as Ingress is a universal specification with </a:t>
            </a:r>
            <a:r>
              <a:rPr lang="en-US" b="0" i="0" u="none" strike="noStrike" dirty="0">
                <a:effectLst/>
                <a:highlight>
                  <a:srgbClr val="FFFFFF"/>
                </a:highlight>
                <a:latin typeface="Roboto" panose="02000000000000000000" pitchFamily="2" charset="0"/>
                <a:hlinkClick r:id="rId4"/>
              </a:rPr>
              <a:t>numerous implementations</a:t>
            </a:r>
            <a:r>
              <a:rPr lang="en-US" b="0" i="0" dirty="0">
                <a:effectLst/>
                <a:highlight>
                  <a:srgbClr val="FFFFFF"/>
                </a:highlight>
                <a:latin typeface="Roboto" panose="02000000000000000000" pitchFamily="2" charset="0"/>
              </a:rPr>
              <a:t>, Gateway API is designed to be a portable specification supported by many implementations.</a:t>
            </a:r>
          </a:p>
          <a:p>
            <a:pPr algn="l">
              <a:buFont typeface="Arial" panose="020B0604020202020204" pitchFamily="34" charset="0"/>
              <a:buChar char="•"/>
            </a:pPr>
            <a:r>
              <a:rPr lang="en-US" b="1" i="0" dirty="0">
                <a:effectLst/>
                <a:highlight>
                  <a:srgbClr val="FFFFFF"/>
                </a:highlight>
                <a:latin typeface="Roboto" panose="02000000000000000000" pitchFamily="2" charset="0"/>
              </a:rPr>
              <a:t>Expressive</a:t>
            </a:r>
            <a:r>
              <a:rPr lang="en-US" b="0" i="0" dirty="0">
                <a:effectLst/>
                <a:highlight>
                  <a:srgbClr val="FFFFFF"/>
                </a:highlight>
                <a:latin typeface="Roboto" panose="02000000000000000000" pitchFamily="2" charset="0"/>
              </a:rPr>
              <a:t> - Gateway API resources support core functionality for things like header-based matching, traffic weighting, and other capabilities that were only possible in Ingress through custom annotations.</a:t>
            </a:r>
          </a:p>
          <a:p>
            <a:pPr algn="l">
              <a:buFont typeface="Arial" panose="020B0604020202020204" pitchFamily="34" charset="0"/>
              <a:buChar char="•"/>
            </a:pPr>
            <a:r>
              <a:rPr lang="en-US" b="1" i="0" dirty="0">
                <a:effectLst/>
                <a:highlight>
                  <a:srgbClr val="FFFFFF"/>
                </a:highlight>
                <a:latin typeface="Roboto" panose="02000000000000000000" pitchFamily="2" charset="0"/>
              </a:rPr>
              <a:t>Extensible</a:t>
            </a:r>
            <a:r>
              <a:rPr lang="en-US" b="0" i="0" dirty="0">
                <a:effectLst/>
                <a:highlight>
                  <a:srgbClr val="FFFFFF"/>
                </a:highlight>
                <a:latin typeface="Roboto" panose="02000000000000000000" pitchFamily="2" charset="0"/>
              </a:rPr>
              <a:t> - Gateway API allows for custom resources to be linked at various layers of the API. This makes granular customization possible at the appropriate places within the API structure.</a:t>
            </a:r>
          </a:p>
          <a:p>
            <a:endParaRPr lang="en-US" dirty="0"/>
          </a:p>
          <a:p>
            <a:endParaRPr lang="en-US" dirty="0"/>
          </a:p>
          <a:p>
            <a:pPr algn="l">
              <a:buFont typeface="Arial" panose="020B0604020202020204" pitchFamily="34" charset="0"/>
              <a:buChar char="•"/>
            </a:pPr>
            <a:r>
              <a:rPr lang="en-US" b="1" i="0" dirty="0" err="1">
                <a:effectLst/>
                <a:highlight>
                  <a:srgbClr val="FFFFFF"/>
                </a:highlight>
                <a:latin typeface="Roboto" panose="02000000000000000000" pitchFamily="2" charset="0"/>
              </a:rPr>
              <a:t>GatewayClasses</a:t>
            </a:r>
            <a:r>
              <a:rPr lang="en-US" b="0" i="0" dirty="0">
                <a:effectLst/>
                <a:highlight>
                  <a:srgbClr val="FFFFFF"/>
                </a:highlight>
                <a:latin typeface="Roboto" panose="02000000000000000000" pitchFamily="2" charset="0"/>
              </a:rPr>
              <a:t> - </a:t>
            </a:r>
            <a:r>
              <a:rPr lang="en-US" b="0" i="0" dirty="0" err="1">
                <a:effectLst/>
                <a:highlight>
                  <a:srgbClr val="FFFFFF"/>
                </a:highlight>
                <a:latin typeface="Roboto" panose="02000000000000000000" pitchFamily="2" charset="0"/>
              </a:rPr>
              <a:t>GatewayClasses</a:t>
            </a:r>
            <a:r>
              <a:rPr lang="en-US" b="0" i="0" dirty="0">
                <a:effectLst/>
                <a:highlight>
                  <a:srgbClr val="FFFFFF"/>
                </a:highlight>
                <a:latin typeface="Roboto" panose="02000000000000000000" pitchFamily="2" charset="0"/>
              </a:rPr>
              <a:t> formalize types of load balancing implementations. These classes make it easy and explicit for users to understand what kind of capabilities are available via the Kubernetes resource model.</a:t>
            </a:r>
          </a:p>
          <a:p>
            <a:pPr algn="l">
              <a:buFont typeface="Arial" panose="020B0604020202020204" pitchFamily="34" charset="0"/>
              <a:buChar char="•"/>
            </a:pPr>
            <a:r>
              <a:rPr lang="en-US" b="1" i="0" dirty="0">
                <a:effectLst/>
                <a:highlight>
                  <a:srgbClr val="FFFFFF"/>
                </a:highlight>
                <a:latin typeface="Roboto" panose="02000000000000000000" pitchFamily="2" charset="0"/>
              </a:rPr>
              <a:t>Shared Gateways and cross-Namespace support</a:t>
            </a:r>
            <a:r>
              <a:rPr lang="en-US" b="0" i="0" dirty="0">
                <a:effectLst/>
                <a:highlight>
                  <a:srgbClr val="FFFFFF"/>
                </a:highlight>
                <a:latin typeface="Roboto" panose="02000000000000000000" pitchFamily="2" charset="0"/>
              </a:rPr>
              <a:t> - They allow the sharing of load balancers and VIPs by permitting independent Route resources to attach to the same Gateway. This allows teams (even across Namespaces) to share infrastructure safely without direct coordination.</a:t>
            </a:r>
          </a:p>
          <a:p>
            <a:pPr algn="l">
              <a:buFont typeface="Arial" panose="020B0604020202020204" pitchFamily="34" charset="0"/>
              <a:buChar char="•"/>
            </a:pPr>
            <a:r>
              <a:rPr lang="en-US" b="1" i="0" dirty="0">
                <a:effectLst/>
                <a:highlight>
                  <a:srgbClr val="FFFFFF"/>
                </a:highlight>
                <a:latin typeface="Roboto" panose="02000000000000000000" pitchFamily="2" charset="0"/>
              </a:rPr>
              <a:t>Typed Routes and typed backends</a:t>
            </a:r>
            <a:r>
              <a:rPr lang="en-US" b="0" i="0" dirty="0">
                <a:effectLst/>
                <a:highlight>
                  <a:srgbClr val="FFFFFF"/>
                </a:highlight>
                <a:latin typeface="Roboto" panose="02000000000000000000" pitchFamily="2" charset="0"/>
              </a:rPr>
              <a:t> - Gateway API supports typed Route resources and also different types of backends. This allows the API to be flexible in supporting various protocols (like HTTP and </a:t>
            </a:r>
            <a:r>
              <a:rPr lang="en-US" b="0" i="0" dirty="0" err="1">
                <a:effectLst/>
                <a:highlight>
                  <a:srgbClr val="FFFFFF"/>
                </a:highlight>
                <a:latin typeface="Roboto" panose="02000000000000000000" pitchFamily="2" charset="0"/>
              </a:rPr>
              <a:t>gRPC</a:t>
            </a:r>
            <a:r>
              <a:rPr lang="en-US" b="0" i="0" dirty="0">
                <a:effectLst/>
                <a:highlight>
                  <a:srgbClr val="FFFFFF"/>
                </a:highlight>
                <a:latin typeface="Roboto" panose="02000000000000000000" pitchFamily="2" charset="0"/>
              </a:rPr>
              <a:t>) and various backend targets (like Kubernetes Services, storage buckets, or functions).</a:t>
            </a:r>
          </a:p>
          <a:p>
            <a:pPr algn="l">
              <a:buFont typeface="Arial" panose="020B0604020202020204" pitchFamily="34" charset="0"/>
              <a:buChar char="•"/>
            </a:pPr>
            <a:r>
              <a:rPr lang="en-US" b="0" i="0" dirty="0">
                <a:effectLst/>
                <a:highlight>
                  <a:srgbClr val="FFFFFF"/>
                </a:highlight>
                <a:latin typeface="Roboto" panose="02000000000000000000" pitchFamily="2" charset="0"/>
              </a:rPr>
              <a:t>Experimental </a:t>
            </a:r>
            <a:r>
              <a:rPr lang="en-US" b="1" i="0" dirty="0">
                <a:effectLst/>
                <a:highlight>
                  <a:srgbClr val="FFFFFF"/>
                </a:highlight>
                <a:latin typeface="Roboto" panose="02000000000000000000" pitchFamily="2" charset="0"/>
              </a:rPr>
              <a:t>Service mesh support</a:t>
            </a:r>
            <a:r>
              <a:rPr lang="en-US" b="0" i="0" dirty="0">
                <a:effectLst/>
                <a:highlight>
                  <a:srgbClr val="FFFFFF"/>
                </a:highlight>
                <a:latin typeface="Roboto" panose="02000000000000000000" pitchFamily="2" charset="0"/>
              </a:rPr>
              <a:t> with the </a:t>
            </a:r>
            <a:r>
              <a:rPr lang="en-US" b="0" i="0" u="none" strike="noStrike" dirty="0">
                <a:effectLst/>
                <a:highlight>
                  <a:srgbClr val="FFFFFF"/>
                </a:highlight>
                <a:latin typeface="Roboto" panose="02000000000000000000" pitchFamily="2" charset="0"/>
                <a:hlinkClick r:id="rId5"/>
              </a:rPr>
              <a:t>GAMMA initiative</a:t>
            </a:r>
            <a:r>
              <a:rPr lang="en-US" b="0" i="0" dirty="0">
                <a:effectLst/>
                <a:highlight>
                  <a:srgbClr val="FFFFFF"/>
                </a:highlight>
                <a:latin typeface="Roboto" panose="02000000000000000000" pitchFamily="2" charset="0"/>
              </a:rPr>
              <a:t> - Gateway API supports associating routing resources with Service resources, to configure service meshes as well as ingress controllers.</a:t>
            </a:r>
          </a:p>
          <a:p>
            <a:r>
              <a:rPr lang="en-US" b="1" i="0" dirty="0">
                <a:effectLst/>
                <a:highlight>
                  <a:srgbClr val="FFFFFF"/>
                </a:highlight>
                <a:latin typeface="Roboto" panose="02000000000000000000" pitchFamily="2" charset="0"/>
              </a:rPr>
              <a:t>G</a:t>
            </a:r>
            <a:r>
              <a:rPr lang="en-US" b="0" i="0" dirty="0">
                <a:effectLst/>
                <a:highlight>
                  <a:srgbClr val="FFFFFF"/>
                </a:highlight>
                <a:latin typeface="Roboto" panose="02000000000000000000" pitchFamily="2" charset="0"/>
              </a:rPr>
              <a:t>ateway </a:t>
            </a:r>
            <a:r>
              <a:rPr lang="en-US" b="1" i="0" dirty="0">
                <a:effectLst/>
                <a:highlight>
                  <a:srgbClr val="FFFFFF"/>
                </a:highlight>
                <a:latin typeface="Roboto" panose="02000000000000000000" pitchFamily="2" charset="0"/>
              </a:rPr>
              <a:t>A</a:t>
            </a:r>
            <a:r>
              <a:rPr lang="en-US" b="0" i="0" dirty="0">
                <a:effectLst/>
                <a:highlight>
                  <a:srgbClr val="FFFFFF"/>
                </a:highlight>
                <a:latin typeface="Roboto" panose="02000000000000000000" pitchFamily="2" charset="0"/>
              </a:rPr>
              <a:t>PI for </a:t>
            </a:r>
            <a:r>
              <a:rPr lang="en-US" b="1" i="0" dirty="0">
                <a:effectLst/>
                <a:highlight>
                  <a:srgbClr val="FFFFFF"/>
                </a:highlight>
                <a:latin typeface="Roboto" panose="02000000000000000000" pitchFamily="2" charset="0"/>
              </a:rPr>
              <a:t>M</a:t>
            </a:r>
            <a:r>
              <a:rPr lang="en-US" b="0" i="0" dirty="0">
                <a:effectLst/>
                <a:highlight>
                  <a:srgbClr val="FFFFFF"/>
                </a:highlight>
                <a:latin typeface="Roboto" panose="02000000000000000000" pitchFamily="2" charset="0"/>
              </a:rPr>
              <a:t>esh </a:t>
            </a:r>
            <a:r>
              <a:rPr lang="en-US" b="1" i="0" dirty="0">
                <a:effectLst/>
                <a:highlight>
                  <a:srgbClr val="FFFFFF"/>
                </a:highlight>
                <a:latin typeface="Roboto" panose="02000000000000000000" pitchFamily="2" charset="0"/>
              </a:rPr>
              <a:t>M</a:t>
            </a:r>
            <a:r>
              <a:rPr lang="en-US" b="0" i="0" dirty="0">
                <a:effectLst/>
                <a:highlight>
                  <a:srgbClr val="FFFFFF"/>
                </a:highlight>
                <a:latin typeface="Roboto" panose="02000000000000000000" pitchFamily="2" charset="0"/>
              </a:rPr>
              <a:t>anagement and </a:t>
            </a:r>
            <a:r>
              <a:rPr lang="en-US" b="1" i="0" dirty="0">
                <a:effectLst/>
                <a:highlight>
                  <a:srgbClr val="FFFFFF"/>
                </a:highlight>
                <a:latin typeface="Roboto" panose="02000000000000000000" pitchFamily="2" charset="0"/>
              </a:rPr>
              <a:t>A</a:t>
            </a:r>
            <a:r>
              <a:rPr lang="en-US" b="0" i="0" dirty="0">
                <a:effectLst/>
                <a:highlight>
                  <a:srgbClr val="FFFFFF"/>
                </a:highlight>
                <a:latin typeface="Roboto" panose="02000000000000000000" pitchFamily="2" charset="0"/>
              </a:rPr>
              <a:t>dministration to define how Gateway API could also be used for inter-service or </a:t>
            </a:r>
            <a:r>
              <a:rPr lang="en-US" b="0" i="1" u="none" strike="noStrike" dirty="0">
                <a:effectLst/>
                <a:highlight>
                  <a:srgbClr val="FFFFFF"/>
                </a:highlight>
                <a:latin typeface="Roboto" panose="02000000000000000000" pitchFamily="2" charset="0"/>
                <a:hlinkClick r:id="rId6"/>
              </a:rPr>
              <a:t>east/west</a:t>
            </a:r>
            <a:r>
              <a:rPr lang="en-US" b="0" i="0" u="none" strike="noStrike" dirty="0">
                <a:effectLst/>
                <a:highlight>
                  <a:srgbClr val="FFFFFF"/>
                </a:highlight>
                <a:latin typeface="Roboto" panose="02000000000000000000" pitchFamily="2" charset="0"/>
                <a:hlinkClick r:id="rId6"/>
              </a:rPr>
              <a:t> traffic</a:t>
            </a:r>
            <a:r>
              <a:rPr lang="en-US" b="0" i="0" dirty="0">
                <a:effectLst/>
                <a:highlight>
                  <a:srgbClr val="FFFFFF"/>
                </a:highlight>
                <a:latin typeface="Roboto" panose="02000000000000000000" pitchFamily="2" charset="0"/>
              </a:rPr>
              <a:t> within the same cluster.</a:t>
            </a:r>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49</a:t>
            </a:fld>
            <a:endParaRPr lang="en-US"/>
          </a:p>
        </p:txBody>
      </p:sp>
    </p:spTree>
    <p:extLst>
      <p:ext uri="{BB962C8B-B14F-4D97-AF65-F5344CB8AC3E}">
        <p14:creationId xmlns:p14="http://schemas.microsoft.com/office/powerpoint/2010/main" val="16452017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highlight>
                  <a:srgbClr val="FFFFFF"/>
                </a:highlight>
                <a:latin typeface="Roboto" panose="02000000000000000000" pitchFamily="2" charset="0"/>
              </a:rPr>
              <a:t>Gateway</a:t>
            </a:r>
            <a:r>
              <a:rPr lang="en-US" b="0" i="0" u="none" strike="noStrike" dirty="0">
                <a:effectLst/>
                <a:highlight>
                  <a:srgbClr val="FFFFFF"/>
                </a:highlight>
                <a:latin typeface="Roboto" panose="02000000000000000000" pitchFamily="2" charset="0"/>
                <a:hlinkClick r:id="rId3" tooltip="Permanent link"/>
              </a:rPr>
              <a:t>¶</a:t>
            </a:r>
            <a:endParaRPr lang="en-US" b="0" i="0" dirty="0">
              <a:effectLst/>
              <a:highlight>
                <a:srgbClr val="FFFFFF"/>
              </a:highlight>
              <a:latin typeface="Roboto" panose="02000000000000000000" pitchFamily="2" charset="0"/>
            </a:endParaRPr>
          </a:p>
          <a:p>
            <a:r>
              <a:rPr lang="en-US" dirty="0"/>
              <a:t>Standard Channel in v0.5.0+</a:t>
            </a:r>
            <a:endParaRPr lang="en-US" dirty="0">
              <a:effectLst/>
            </a:endParaRPr>
          </a:p>
          <a:p>
            <a:pPr algn="l"/>
            <a:r>
              <a:rPr lang="en-US" b="0" i="0" dirty="0">
                <a:effectLst/>
                <a:highlight>
                  <a:srgbClr val="FFFFFF"/>
                </a:highlight>
                <a:latin typeface="Roboto" panose="02000000000000000000" pitchFamily="2" charset="0"/>
              </a:rPr>
              <a:t>A Gateway describes how traffic can be translated to Services within the cluster. That is, it defines a request for a way to translate traffic from somewhere that does not know about Kubernetes to somewhere that does. For example, traffic sent to a Kubernetes Service by a cloud load balancer, an in-cluster proxy, or an external hardware load balancer. While many use cases have client traffic originating “outside” the cluster, this is not a requirement.</a:t>
            </a:r>
          </a:p>
          <a:p>
            <a:pPr algn="l"/>
            <a:r>
              <a:rPr lang="en-US" b="0" i="0" dirty="0">
                <a:effectLst/>
                <a:highlight>
                  <a:srgbClr val="FFFFFF"/>
                </a:highlight>
                <a:latin typeface="Roboto" panose="02000000000000000000" pitchFamily="2" charset="0"/>
              </a:rPr>
              <a:t>It defines a request for a specific load balancer config that implements the </a:t>
            </a:r>
            <a:r>
              <a:rPr lang="en-US" b="0" i="0" dirty="0" err="1">
                <a:effectLst/>
                <a:highlight>
                  <a:srgbClr val="FFFFFF"/>
                </a:highlight>
                <a:latin typeface="Roboto" panose="02000000000000000000" pitchFamily="2" charset="0"/>
              </a:rPr>
              <a:t>GatewayClass</a:t>
            </a:r>
            <a:r>
              <a:rPr lang="en-US" b="0" i="0" dirty="0">
                <a:effectLst/>
                <a:highlight>
                  <a:srgbClr val="FFFFFF"/>
                </a:highlight>
                <a:latin typeface="Roboto" panose="02000000000000000000" pitchFamily="2" charset="0"/>
              </a:rPr>
              <a:t>’ configuration and </a:t>
            </a:r>
            <a:r>
              <a:rPr lang="en-US" b="0" i="0" dirty="0" err="1">
                <a:effectLst/>
                <a:highlight>
                  <a:srgbClr val="FFFFFF"/>
                </a:highlight>
                <a:latin typeface="Roboto" panose="02000000000000000000" pitchFamily="2" charset="0"/>
              </a:rPr>
              <a:t>behaviour</a:t>
            </a:r>
            <a:r>
              <a:rPr lang="en-US" b="0" i="0" dirty="0">
                <a:effectLst/>
                <a:highlight>
                  <a:srgbClr val="FFFFFF"/>
                </a:highlight>
                <a:latin typeface="Roboto" panose="02000000000000000000" pitchFamily="2" charset="0"/>
              </a:rPr>
              <a:t> contract. The resource may be created by an operator directly, or may be created by a controller handling a </a:t>
            </a:r>
            <a:r>
              <a:rPr lang="en-US" b="0" i="0" dirty="0" err="1">
                <a:effectLst/>
                <a:highlight>
                  <a:srgbClr val="FFFFFF"/>
                </a:highlight>
                <a:latin typeface="Roboto" panose="02000000000000000000" pitchFamily="2" charset="0"/>
              </a:rPr>
              <a:t>GatewayClass</a:t>
            </a:r>
            <a:r>
              <a:rPr lang="en-US" b="0" i="0" dirty="0">
                <a:effectLst/>
                <a:highlight>
                  <a:srgbClr val="FFFFFF"/>
                </a:highlight>
                <a:latin typeface="Roboto" panose="02000000000000000000" pitchFamily="2" charset="0"/>
              </a:rPr>
              <a:t>.</a:t>
            </a:r>
          </a:p>
          <a:p>
            <a:pPr algn="l"/>
            <a:r>
              <a:rPr lang="en-US" b="0" i="0" dirty="0">
                <a:effectLst/>
                <a:highlight>
                  <a:srgbClr val="FFFFFF"/>
                </a:highlight>
                <a:latin typeface="Roboto" panose="02000000000000000000" pitchFamily="2" charset="0"/>
              </a:rPr>
              <a:t>As the Gateway spec captures user intent, it may not contain a complete specification for all attributes in the spec. For example, the user may omit fields such as addresses, TLS settings. This allows the controller managing the </a:t>
            </a:r>
            <a:r>
              <a:rPr lang="en-US" b="0" i="0" dirty="0" err="1">
                <a:effectLst/>
                <a:highlight>
                  <a:srgbClr val="FFFFFF"/>
                </a:highlight>
                <a:latin typeface="Roboto" panose="02000000000000000000" pitchFamily="2" charset="0"/>
              </a:rPr>
              <a:t>GatewayClass</a:t>
            </a:r>
            <a:r>
              <a:rPr lang="en-US" b="0" i="0" dirty="0">
                <a:effectLst/>
                <a:highlight>
                  <a:srgbClr val="FFFFFF"/>
                </a:highlight>
                <a:latin typeface="Roboto" panose="02000000000000000000" pitchFamily="2" charset="0"/>
              </a:rPr>
              <a:t> to provide these settings for the user, resulting in a more portable spec. This </a:t>
            </a:r>
            <a:r>
              <a:rPr lang="en-US" b="0" i="0" dirty="0" err="1">
                <a:effectLst/>
                <a:highlight>
                  <a:srgbClr val="FFFFFF"/>
                </a:highlight>
                <a:latin typeface="Roboto" panose="02000000000000000000" pitchFamily="2" charset="0"/>
              </a:rPr>
              <a:t>behaviour</a:t>
            </a:r>
            <a:r>
              <a:rPr lang="en-US" b="0" i="0" dirty="0">
                <a:effectLst/>
                <a:highlight>
                  <a:srgbClr val="FFFFFF"/>
                </a:highlight>
                <a:latin typeface="Roboto" panose="02000000000000000000" pitchFamily="2" charset="0"/>
              </a:rPr>
              <a:t> will be made clear using the </a:t>
            </a:r>
            <a:r>
              <a:rPr lang="en-US" b="0" i="0" dirty="0" err="1">
                <a:effectLst/>
                <a:highlight>
                  <a:srgbClr val="FFFFFF"/>
                </a:highlight>
                <a:latin typeface="Roboto" panose="02000000000000000000" pitchFamily="2" charset="0"/>
              </a:rPr>
              <a:t>GatewayClass</a:t>
            </a:r>
            <a:r>
              <a:rPr lang="en-US" b="0" i="0" dirty="0">
                <a:effectLst/>
                <a:highlight>
                  <a:srgbClr val="FFFFFF"/>
                </a:highlight>
                <a:latin typeface="Roboto" panose="02000000000000000000" pitchFamily="2" charset="0"/>
              </a:rPr>
              <a:t> Status object.</a:t>
            </a:r>
          </a:p>
          <a:p>
            <a:pPr algn="l"/>
            <a:r>
              <a:rPr lang="en-US" b="0" i="0" dirty="0">
                <a:effectLst/>
                <a:highlight>
                  <a:srgbClr val="FFFFFF"/>
                </a:highlight>
                <a:latin typeface="Roboto" panose="02000000000000000000" pitchFamily="2" charset="0"/>
              </a:rPr>
              <a:t>A Gateway may be attached to one or more </a:t>
            </a:r>
            <a:r>
              <a:rPr lang="en-US" b="0" i="1" dirty="0">
                <a:effectLst/>
                <a:highlight>
                  <a:srgbClr val="FFFFFF"/>
                </a:highlight>
                <a:latin typeface="Roboto" panose="02000000000000000000" pitchFamily="2" charset="0"/>
              </a:rPr>
              <a:t>Route references</a:t>
            </a:r>
            <a:r>
              <a:rPr lang="en-US" b="0" i="0" dirty="0">
                <a:effectLst/>
                <a:highlight>
                  <a:srgbClr val="FFFFFF"/>
                </a:highlight>
                <a:latin typeface="Roboto" panose="02000000000000000000" pitchFamily="2" charset="0"/>
              </a:rPr>
              <a:t> which serve to direct traffic for a subset of traffic </a:t>
            </a:r>
            <a:r>
              <a:rPr lang="en-US" b="0" i="1" dirty="0">
                <a:effectLst/>
                <a:highlight>
                  <a:srgbClr val="FFFFFF"/>
                </a:highlight>
                <a:latin typeface="Roboto" panose="02000000000000000000" pitchFamily="2" charset="0"/>
              </a:rPr>
              <a:t>to a specific service.</a:t>
            </a:r>
            <a:endParaRPr lang="en-US" b="0" i="0" dirty="0">
              <a:effectLst/>
              <a:highlight>
                <a:srgbClr val="FFFFFF"/>
              </a:highlight>
              <a:latin typeface="Roboto" panose="02000000000000000000" pitchFamily="2" charset="0"/>
            </a:endParaRPr>
          </a:p>
          <a:p>
            <a:pPr algn="l"/>
            <a:endParaRPr lang="en-US" b="0" i="0" dirty="0">
              <a:effectLst/>
              <a:highlight>
                <a:srgbClr val="FFFFFF"/>
              </a:highlight>
              <a:latin typeface="Roboto" panose="02000000000000000000" pitchFamily="2" charset="0"/>
            </a:endParaRPr>
          </a:p>
          <a:p>
            <a:pPr algn="l"/>
            <a:endParaRPr lang="en-US" b="0" i="0" dirty="0">
              <a:effectLst/>
              <a:highlight>
                <a:srgbClr val="FFFFFF"/>
              </a:highlight>
              <a:latin typeface="Roboto" panose="02000000000000000000" pitchFamily="2" charset="0"/>
            </a:endParaRPr>
          </a:p>
          <a:p>
            <a:pPr algn="l"/>
            <a:r>
              <a:rPr lang="en-US" b="0" i="0" dirty="0">
                <a:effectLst/>
                <a:highlight>
                  <a:srgbClr val="FFFFFF"/>
                </a:highlight>
                <a:latin typeface="Roboto" panose="02000000000000000000" pitchFamily="2" charset="0"/>
              </a:rPr>
              <a:t>Route Resources</a:t>
            </a:r>
            <a:r>
              <a:rPr lang="en-US" b="0" i="0" u="none" strike="noStrike" dirty="0">
                <a:effectLst/>
                <a:highlight>
                  <a:srgbClr val="FFFFFF"/>
                </a:highlight>
                <a:latin typeface="Roboto" panose="02000000000000000000" pitchFamily="2" charset="0"/>
                <a:hlinkClick r:id="rId4" tooltip="Permanent link"/>
              </a:rPr>
              <a:t>¶</a:t>
            </a:r>
            <a:endParaRPr lang="en-US" b="0" i="0" dirty="0">
              <a:effectLst/>
              <a:highlight>
                <a:srgbClr val="FFFFFF"/>
              </a:highlight>
              <a:latin typeface="Roboto" panose="02000000000000000000" pitchFamily="2" charset="0"/>
            </a:endParaRPr>
          </a:p>
          <a:p>
            <a:pPr algn="l"/>
            <a:r>
              <a:rPr lang="en-US" b="0" i="0" dirty="0">
                <a:effectLst/>
                <a:highlight>
                  <a:srgbClr val="FFFFFF"/>
                </a:highlight>
                <a:latin typeface="Roboto" panose="02000000000000000000" pitchFamily="2" charset="0"/>
              </a:rPr>
              <a:t>Route resources define protocol-specific rules for mapping requests from a Gateway to Kubernetes Services.</a:t>
            </a:r>
          </a:p>
          <a:p>
            <a:pPr algn="l"/>
            <a:r>
              <a:rPr lang="en-US" b="0" i="0" dirty="0">
                <a:effectLst/>
                <a:highlight>
                  <a:srgbClr val="FFFFFF"/>
                </a:highlight>
                <a:latin typeface="Roboto" panose="02000000000000000000" pitchFamily="2" charset="0"/>
              </a:rPr>
              <a:t>As of v1alpha2, four Route resource types are included with the API. Custom Route types that are implementation-specific are encouraged for other protocols. New route types may be added to the API in future.</a:t>
            </a:r>
          </a:p>
          <a:p>
            <a:pPr algn="l"/>
            <a:endParaRPr lang="en-US" b="0" i="0" dirty="0">
              <a:effectLst/>
              <a:highlight>
                <a:srgbClr val="FFFFFF"/>
              </a:highlight>
              <a:latin typeface="Roboto" panose="02000000000000000000" pitchFamily="2" charset="0"/>
            </a:endParaRPr>
          </a:p>
          <a:p>
            <a:pPr algn="l"/>
            <a:r>
              <a:rPr lang="en-US" b="1" i="0" dirty="0" err="1">
                <a:effectLst/>
                <a:highlight>
                  <a:srgbClr val="FFFFFF"/>
                </a:highlight>
                <a:latin typeface="Roboto" panose="02000000000000000000" pitchFamily="2" charset="0"/>
              </a:rPr>
              <a:t>HTTPRoute</a:t>
            </a:r>
            <a:r>
              <a:rPr lang="en-US" b="1" i="0" u="none" strike="noStrike" dirty="0">
                <a:effectLst/>
                <a:highlight>
                  <a:srgbClr val="FFFFFF"/>
                </a:highlight>
                <a:latin typeface="Roboto" panose="02000000000000000000" pitchFamily="2" charset="0"/>
                <a:hlinkClick r:id="rId5" tooltip="Permanent link"/>
              </a:rPr>
              <a:t>¶</a:t>
            </a:r>
            <a:endParaRPr lang="en-US" b="1" i="0" dirty="0">
              <a:effectLst/>
              <a:highlight>
                <a:srgbClr val="FFFFFF"/>
              </a:highlight>
              <a:latin typeface="Roboto" panose="02000000000000000000" pitchFamily="2" charset="0"/>
            </a:endParaRPr>
          </a:p>
          <a:p>
            <a:r>
              <a:rPr lang="en-US" dirty="0"/>
              <a:t>Standard Channel in v0.5.0+</a:t>
            </a:r>
            <a:endParaRPr lang="en-US" dirty="0">
              <a:effectLst/>
            </a:endParaRPr>
          </a:p>
          <a:p>
            <a:pPr algn="l"/>
            <a:r>
              <a:rPr lang="en-US" b="0" i="0" dirty="0" err="1">
                <a:effectLst/>
                <a:highlight>
                  <a:srgbClr val="FFFFFF"/>
                </a:highlight>
                <a:latin typeface="Roboto" panose="02000000000000000000" pitchFamily="2" charset="0"/>
              </a:rPr>
              <a:t>HTTPRoute</a:t>
            </a:r>
            <a:r>
              <a:rPr lang="en-US" b="0" i="0" dirty="0">
                <a:effectLst/>
                <a:highlight>
                  <a:srgbClr val="FFFFFF"/>
                </a:highlight>
                <a:latin typeface="Roboto" panose="02000000000000000000" pitchFamily="2" charset="0"/>
              </a:rPr>
              <a:t> is for multiplexing HTTP or terminated HTTPS connections. It's intended for use in cases where you want to inspect the HTTP stream and use HTTP request data for either routing or modification, for example using HTTP Headers for routing, or modifying them in-flight.</a:t>
            </a:r>
          </a:p>
          <a:p>
            <a:pPr algn="l"/>
            <a:endParaRPr lang="en-US" b="0" i="0" dirty="0">
              <a:effectLst/>
              <a:highlight>
                <a:srgbClr val="FFFFFF"/>
              </a:highlight>
              <a:latin typeface="Roboto" panose="02000000000000000000" pitchFamily="2" charset="0"/>
            </a:endParaRPr>
          </a:p>
          <a:p>
            <a:pPr algn="l"/>
            <a:r>
              <a:rPr lang="en-US" b="1" i="0" dirty="0" err="1">
                <a:effectLst/>
                <a:highlight>
                  <a:srgbClr val="FFFFFF"/>
                </a:highlight>
                <a:latin typeface="Roboto" panose="02000000000000000000" pitchFamily="2" charset="0"/>
              </a:rPr>
              <a:t>TLSRoute</a:t>
            </a:r>
            <a:r>
              <a:rPr lang="en-US" b="1" i="0" u="none" strike="noStrike" dirty="0">
                <a:effectLst/>
                <a:highlight>
                  <a:srgbClr val="FFFFFF"/>
                </a:highlight>
                <a:latin typeface="Roboto" panose="02000000000000000000" pitchFamily="2" charset="0"/>
                <a:hlinkClick r:id="rId6" tooltip="Permanent link"/>
              </a:rPr>
              <a:t>¶</a:t>
            </a:r>
            <a:endParaRPr lang="en-US" b="1" i="0" dirty="0">
              <a:effectLst/>
              <a:highlight>
                <a:srgbClr val="FFFFFF"/>
              </a:highlight>
              <a:latin typeface="Roboto" panose="02000000000000000000" pitchFamily="2" charset="0"/>
            </a:endParaRPr>
          </a:p>
          <a:p>
            <a:r>
              <a:rPr lang="en-US" dirty="0"/>
              <a:t>Experimental Channel in v0.3.0+</a:t>
            </a:r>
            <a:endParaRPr lang="en-US" dirty="0">
              <a:effectLst/>
            </a:endParaRPr>
          </a:p>
          <a:p>
            <a:pPr algn="l"/>
            <a:r>
              <a:rPr lang="en-US" b="0" i="0" dirty="0" err="1">
                <a:effectLst/>
                <a:highlight>
                  <a:srgbClr val="FFFFFF"/>
                </a:highlight>
                <a:latin typeface="Roboto" panose="02000000000000000000" pitchFamily="2" charset="0"/>
              </a:rPr>
              <a:t>TLSRoute</a:t>
            </a:r>
            <a:r>
              <a:rPr lang="en-US" b="0" i="0" dirty="0">
                <a:effectLst/>
                <a:highlight>
                  <a:srgbClr val="FFFFFF"/>
                </a:highlight>
                <a:latin typeface="Roboto" panose="02000000000000000000" pitchFamily="2" charset="0"/>
              </a:rPr>
              <a:t> is for multiplexing TLS connections, discriminated via SNI. It's intended for where you want to use the SNI as the main routing method, and are not interested in properties of the higher-level protocols like HTTP. The byte stream of the connection is proxied without any inspection to the backend.</a:t>
            </a:r>
          </a:p>
          <a:p>
            <a:pPr algn="l"/>
            <a:endParaRPr lang="en-US" b="0" i="0" dirty="0">
              <a:effectLst/>
              <a:highlight>
                <a:srgbClr val="FFFFFF"/>
              </a:highlight>
              <a:latin typeface="Roboto" panose="02000000000000000000" pitchFamily="2" charset="0"/>
            </a:endParaRPr>
          </a:p>
          <a:p>
            <a:pPr algn="l"/>
            <a:r>
              <a:rPr lang="en-US" b="1" i="0" dirty="0" err="1">
                <a:effectLst/>
                <a:highlight>
                  <a:srgbClr val="FFFFFF"/>
                </a:highlight>
                <a:latin typeface="Roboto" panose="02000000000000000000" pitchFamily="2" charset="0"/>
              </a:rPr>
              <a:t>TCPRoute</a:t>
            </a:r>
            <a:r>
              <a:rPr lang="en-US" b="1" i="0" dirty="0">
                <a:effectLst/>
                <a:highlight>
                  <a:srgbClr val="FFFFFF"/>
                </a:highlight>
                <a:latin typeface="Roboto" panose="02000000000000000000" pitchFamily="2" charset="0"/>
              </a:rPr>
              <a:t> and </a:t>
            </a:r>
            <a:r>
              <a:rPr lang="en-US" b="1" i="0" dirty="0" err="1">
                <a:effectLst/>
                <a:highlight>
                  <a:srgbClr val="FFFFFF"/>
                </a:highlight>
                <a:latin typeface="Roboto" panose="02000000000000000000" pitchFamily="2" charset="0"/>
              </a:rPr>
              <a:t>UDPRoute</a:t>
            </a:r>
            <a:r>
              <a:rPr lang="en-US" b="1" i="0" u="none" strike="noStrike" dirty="0">
                <a:effectLst/>
                <a:highlight>
                  <a:srgbClr val="FFFFFF"/>
                </a:highlight>
                <a:latin typeface="Roboto" panose="02000000000000000000" pitchFamily="2" charset="0"/>
                <a:hlinkClick r:id="rId7" tooltip="Permanent link"/>
              </a:rPr>
              <a:t>¶</a:t>
            </a:r>
            <a:endParaRPr lang="en-US" b="1" i="0" dirty="0">
              <a:effectLst/>
              <a:highlight>
                <a:srgbClr val="FFFFFF"/>
              </a:highlight>
              <a:latin typeface="Roboto" panose="02000000000000000000" pitchFamily="2" charset="0"/>
            </a:endParaRPr>
          </a:p>
          <a:p>
            <a:r>
              <a:rPr lang="en-US" dirty="0"/>
              <a:t>Experimental Channel in v0.3.0+</a:t>
            </a:r>
            <a:endParaRPr lang="en-US" dirty="0">
              <a:effectLst/>
            </a:endParaRPr>
          </a:p>
          <a:p>
            <a:pPr algn="l"/>
            <a:r>
              <a:rPr lang="en-US" b="0" i="0" dirty="0" err="1">
                <a:effectLst/>
                <a:highlight>
                  <a:srgbClr val="FFFFFF"/>
                </a:highlight>
                <a:latin typeface="Roboto" panose="02000000000000000000" pitchFamily="2" charset="0"/>
              </a:rPr>
              <a:t>TCPRoute</a:t>
            </a:r>
            <a:r>
              <a:rPr lang="en-US" b="0" i="0" dirty="0">
                <a:effectLst/>
                <a:highlight>
                  <a:srgbClr val="FFFFFF"/>
                </a:highlight>
                <a:latin typeface="Roboto" panose="02000000000000000000" pitchFamily="2" charset="0"/>
              </a:rPr>
              <a:t> (and </a:t>
            </a:r>
            <a:r>
              <a:rPr lang="en-US" b="0" i="0" dirty="0" err="1">
                <a:effectLst/>
                <a:highlight>
                  <a:srgbClr val="FFFFFF"/>
                </a:highlight>
                <a:latin typeface="Roboto" panose="02000000000000000000" pitchFamily="2" charset="0"/>
              </a:rPr>
              <a:t>UDPRoute</a:t>
            </a:r>
            <a:r>
              <a:rPr lang="en-US" b="0" i="0" dirty="0">
                <a:effectLst/>
                <a:highlight>
                  <a:srgbClr val="FFFFFF"/>
                </a:highlight>
                <a:latin typeface="Roboto" panose="02000000000000000000" pitchFamily="2" charset="0"/>
              </a:rPr>
              <a:t>) are intended for use for mapping one or more ports to a single backend. In this case, there is no discriminator you can use to choose different backends on the same port, so each </a:t>
            </a:r>
            <a:r>
              <a:rPr lang="en-US" b="0" i="0" dirty="0" err="1">
                <a:effectLst/>
                <a:highlight>
                  <a:srgbClr val="FFFFFF"/>
                </a:highlight>
                <a:latin typeface="Roboto" panose="02000000000000000000" pitchFamily="2" charset="0"/>
              </a:rPr>
              <a:t>TCPRoute</a:t>
            </a:r>
            <a:r>
              <a:rPr lang="en-US" b="0" i="0" dirty="0">
                <a:effectLst/>
                <a:highlight>
                  <a:srgbClr val="FFFFFF"/>
                </a:highlight>
                <a:latin typeface="Roboto" panose="02000000000000000000" pitchFamily="2" charset="0"/>
              </a:rPr>
              <a:t> really needs a different port on the listener (in general, anyway). You can terminate TLS in which case the unencrypted byte stream is passed through to the backend. You can choose to not terminate TLS, in which case the encrypted byte stream is passed through to the backend.</a:t>
            </a:r>
          </a:p>
          <a:p>
            <a:pPr algn="l"/>
            <a:endParaRPr lang="en-US" b="0" i="0" dirty="0">
              <a:effectLst/>
              <a:highlight>
                <a:srgbClr val="FFFFFF"/>
              </a:highlight>
              <a:latin typeface="Roboto" panose="02000000000000000000" pitchFamily="2" charset="0"/>
            </a:endParaRPr>
          </a:p>
          <a:p>
            <a:pPr algn="l"/>
            <a:r>
              <a:rPr lang="en-US" b="1" i="0" dirty="0" err="1">
                <a:effectLst/>
                <a:highlight>
                  <a:srgbClr val="FFFFFF"/>
                </a:highlight>
                <a:latin typeface="Roboto" panose="02000000000000000000" pitchFamily="2" charset="0"/>
              </a:rPr>
              <a:t>GRPCRoute</a:t>
            </a:r>
            <a:r>
              <a:rPr lang="en-US" b="1" i="0" u="none" strike="noStrike" dirty="0">
                <a:effectLst/>
                <a:highlight>
                  <a:srgbClr val="FFFFFF"/>
                </a:highlight>
                <a:latin typeface="Roboto" panose="02000000000000000000" pitchFamily="2" charset="0"/>
                <a:hlinkClick r:id="rId8" tooltip="Permanent link"/>
              </a:rPr>
              <a:t>¶</a:t>
            </a:r>
            <a:endParaRPr lang="en-US" b="1" i="0" dirty="0">
              <a:effectLst/>
              <a:highlight>
                <a:srgbClr val="FFFFFF"/>
              </a:highlight>
              <a:latin typeface="Roboto" panose="02000000000000000000" pitchFamily="2" charset="0"/>
            </a:endParaRPr>
          </a:p>
          <a:p>
            <a:r>
              <a:rPr lang="en-US" dirty="0"/>
              <a:t>Experimental Channel in v0.6.0+</a:t>
            </a:r>
            <a:endParaRPr lang="en-US" dirty="0">
              <a:effectLst/>
            </a:endParaRPr>
          </a:p>
          <a:p>
            <a:pPr algn="l"/>
            <a:r>
              <a:rPr lang="en-US" b="0" i="0" dirty="0" err="1">
                <a:effectLst/>
                <a:highlight>
                  <a:srgbClr val="FFFFFF"/>
                </a:highlight>
                <a:latin typeface="Roboto" panose="02000000000000000000" pitchFamily="2" charset="0"/>
              </a:rPr>
              <a:t>GRPCRoute</a:t>
            </a:r>
            <a:r>
              <a:rPr lang="en-US" b="0" i="0" dirty="0">
                <a:effectLst/>
                <a:highlight>
                  <a:srgbClr val="FFFFFF"/>
                </a:highlight>
                <a:latin typeface="Roboto" panose="02000000000000000000" pitchFamily="2" charset="0"/>
              </a:rPr>
              <a:t> is for idiomatically routing </a:t>
            </a:r>
            <a:r>
              <a:rPr lang="en-US" b="0" i="0" dirty="0" err="1">
                <a:effectLst/>
                <a:highlight>
                  <a:srgbClr val="FFFFFF"/>
                </a:highlight>
                <a:latin typeface="Roboto" panose="02000000000000000000" pitchFamily="2" charset="0"/>
              </a:rPr>
              <a:t>gRPC</a:t>
            </a:r>
            <a:r>
              <a:rPr lang="en-US" b="0" i="0" dirty="0">
                <a:effectLst/>
                <a:highlight>
                  <a:srgbClr val="FFFFFF"/>
                </a:highlight>
                <a:latin typeface="Roboto" panose="02000000000000000000" pitchFamily="2" charset="0"/>
              </a:rPr>
              <a:t> traffic. Gateways supporting </a:t>
            </a:r>
            <a:r>
              <a:rPr lang="en-US" b="0" i="0" dirty="0" err="1">
                <a:effectLst/>
                <a:highlight>
                  <a:srgbClr val="FFFFFF"/>
                </a:highlight>
                <a:latin typeface="Roboto" panose="02000000000000000000" pitchFamily="2" charset="0"/>
              </a:rPr>
              <a:t>GRPCRoute</a:t>
            </a:r>
            <a:r>
              <a:rPr lang="en-US" b="0" i="0" dirty="0">
                <a:effectLst/>
                <a:highlight>
                  <a:srgbClr val="FFFFFF"/>
                </a:highlight>
                <a:latin typeface="Roboto" panose="02000000000000000000" pitchFamily="2" charset="0"/>
              </a:rPr>
              <a:t> are required to support HTTP/2 without an initial upgrade from HTTP/1, so </a:t>
            </a:r>
            <a:r>
              <a:rPr lang="en-US" b="0" i="0" dirty="0" err="1">
                <a:effectLst/>
                <a:highlight>
                  <a:srgbClr val="FFFFFF"/>
                </a:highlight>
                <a:latin typeface="Roboto" panose="02000000000000000000" pitchFamily="2" charset="0"/>
              </a:rPr>
              <a:t>gRPC</a:t>
            </a:r>
            <a:r>
              <a:rPr lang="en-US" b="0" i="0" dirty="0">
                <a:effectLst/>
                <a:highlight>
                  <a:srgbClr val="FFFFFF"/>
                </a:highlight>
                <a:latin typeface="Roboto" panose="02000000000000000000" pitchFamily="2" charset="0"/>
              </a:rPr>
              <a:t> traffic is guaranteed to flow properly.</a:t>
            </a:r>
          </a:p>
          <a:p>
            <a:pPr algn="l"/>
            <a:endParaRPr lang="en-US" b="0" i="0" dirty="0">
              <a:effectLst/>
              <a:highlight>
                <a:srgbClr val="FFFFFF"/>
              </a:highlight>
              <a:latin typeface="Roboto" panose="02000000000000000000" pitchFamily="2" charset="0"/>
            </a:endParaRPr>
          </a:p>
          <a:p>
            <a:pPr algn="l"/>
            <a:r>
              <a:rPr lang="en-US" b="1" i="0" dirty="0">
                <a:effectLst/>
                <a:highlight>
                  <a:srgbClr val="FFFFFF"/>
                </a:highlight>
                <a:latin typeface="Roboto" panose="02000000000000000000" pitchFamily="2" charset="0"/>
              </a:rPr>
              <a:t>Attaching Routes to Gateways</a:t>
            </a:r>
            <a:r>
              <a:rPr lang="en-US" b="1" i="0" u="none" strike="noStrike" dirty="0">
                <a:effectLst/>
                <a:highlight>
                  <a:srgbClr val="FFFFFF"/>
                </a:highlight>
                <a:latin typeface="Roboto" panose="02000000000000000000" pitchFamily="2" charset="0"/>
                <a:hlinkClick r:id="rId9" tooltip="Permanent link"/>
              </a:rPr>
              <a:t>¶</a:t>
            </a:r>
            <a:endParaRPr lang="en-US" b="1" i="0" dirty="0">
              <a:effectLst/>
              <a:highlight>
                <a:srgbClr val="FFFFFF"/>
              </a:highlight>
              <a:latin typeface="Roboto" panose="02000000000000000000" pitchFamily="2" charset="0"/>
            </a:endParaRPr>
          </a:p>
          <a:p>
            <a:pPr algn="l"/>
            <a:r>
              <a:rPr lang="en-US" b="0" i="0" dirty="0">
                <a:effectLst/>
                <a:highlight>
                  <a:srgbClr val="FFFFFF"/>
                </a:highlight>
                <a:latin typeface="Roboto" panose="02000000000000000000" pitchFamily="2" charset="0"/>
              </a:rPr>
              <a:t>When a Route attaches to a Gateway, it represents configuration that is applied on the Gateway that configures the underlying load balancer or proxy. How and which Routes attach to Gateways is controlled by the resources themselves. Route and Gateway resources have built-in controls to permit or constrain how they are attached. Together with Kubernetes RBAC, these allow organizations to enforce policies for how Routes are exposed and on which Gateways.</a:t>
            </a:r>
          </a:p>
          <a:p>
            <a:pPr algn="l"/>
            <a:r>
              <a:rPr lang="en-US" b="0" i="0" dirty="0">
                <a:effectLst/>
                <a:highlight>
                  <a:srgbClr val="FFFFFF"/>
                </a:highlight>
                <a:latin typeface="Roboto" panose="02000000000000000000" pitchFamily="2" charset="0"/>
              </a:rPr>
              <a:t>There is a lot of flexibility in how Routes can attach to Gateways to achieve different organizational policies and scopes of responsibility. These are different relationships that Gateways and Routes can have:</a:t>
            </a:r>
          </a:p>
          <a:p>
            <a:pPr algn="l">
              <a:buFont typeface="Arial" panose="020B0604020202020204" pitchFamily="34" charset="0"/>
              <a:buChar char="•"/>
            </a:pPr>
            <a:r>
              <a:rPr lang="en-US" b="1" i="0" dirty="0">
                <a:effectLst/>
                <a:highlight>
                  <a:srgbClr val="FFFFFF"/>
                </a:highlight>
                <a:latin typeface="Roboto" panose="02000000000000000000" pitchFamily="2" charset="0"/>
              </a:rPr>
              <a:t>One-to-one</a:t>
            </a:r>
            <a:r>
              <a:rPr lang="en-US" b="0" i="0" dirty="0">
                <a:effectLst/>
                <a:highlight>
                  <a:srgbClr val="FFFFFF"/>
                </a:highlight>
                <a:latin typeface="Roboto" panose="02000000000000000000" pitchFamily="2" charset="0"/>
              </a:rPr>
              <a:t> - A Gateway and Route may be deployed and used by a single owner and have a one-to-one relationship.</a:t>
            </a:r>
          </a:p>
          <a:p>
            <a:pPr algn="l">
              <a:buFont typeface="Arial" panose="020B0604020202020204" pitchFamily="34" charset="0"/>
              <a:buChar char="•"/>
            </a:pPr>
            <a:r>
              <a:rPr lang="en-US" b="1" i="0" dirty="0">
                <a:effectLst/>
                <a:highlight>
                  <a:srgbClr val="FFFFFF"/>
                </a:highlight>
                <a:latin typeface="Roboto" panose="02000000000000000000" pitchFamily="2" charset="0"/>
              </a:rPr>
              <a:t>One-to-many</a:t>
            </a:r>
            <a:r>
              <a:rPr lang="en-US" b="0" i="0" dirty="0">
                <a:effectLst/>
                <a:highlight>
                  <a:srgbClr val="FFFFFF"/>
                </a:highlight>
                <a:latin typeface="Roboto" panose="02000000000000000000" pitchFamily="2" charset="0"/>
              </a:rPr>
              <a:t> - A Gateway can have many Routes bound to it that are owned by different teams from across different Namespaces.</a:t>
            </a:r>
          </a:p>
          <a:p>
            <a:pPr algn="l">
              <a:buFont typeface="Arial" panose="020B0604020202020204" pitchFamily="34" charset="0"/>
              <a:buChar char="•"/>
            </a:pPr>
            <a:r>
              <a:rPr lang="en-US" b="1" i="0" dirty="0">
                <a:effectLst/>
                <a:highlight>
                  <a:srgbClr val="FFFFFF"/>
                </a:highlight>
                <a:latin typeface="Roboto" panose="02000000000000000000" pitchFamily="2" charset="0"/>
              </a:rPr>
              <a:t>Many-to-one</a:t>
            </a:r>
            <a:r>
              <a:rPr lang="en-US" b="0" i="0" dirty="0">
                <a:effectLst/>
                <a:highlight>
                  <a:srgbClr val="FFFFFF"/>
                </a:highlight>
                <a:latin typeface="Roboto" panose="02000000000000000000" pitchFamily="2" charset="0"/>
              </a:rPr>
              <a:t> - Routes can also be bound to more than one Gateway, allowing a single Route to control application exposure simultaneously across different IPs, load balancers, or networks.</a:t>
            </a:r>
          </a:p>
          <a:p>
            <a:pPr algn="l"/>
            <a:endParaRPr lang="en-US" b="0" i="0" dirty="0">
              <a:effectLst/>
              <a:highlight>
                <a:srgbClr val="FFFFFF"/>
              </a:highlight>
              <a:latin typeface="Roboto" panose="02000000000000000000" pitchFamily="2" charset="0"/>
            </a:endParaRPr>
          </a:p>
          <a:p>
            <a:pPr algn="l">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50</a:t>
            </a:fld>
            <a:endParaRPr lang="en-US"/>
          </a:p>
        </p:txBody>
      </p:sp>
    </p:spTree>
    <p:extLst>
      <p:ext uri="{BB962C8B-B14F-4D97-AF65-F5344CB8AC3E}">
        <p14:creationId xmlns:p14="http://schemas.microsoft.com/office/powerpoint/2010/main" val="27681166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E6E6E6"/>
                </a:solidFill>
                <a:effectLst/>
                <a:highlight>
                  <a:srgbClr val="171717"/>
                </a:highlight>
                <a:latin typeface="Segoe UI" panose="020B0502040204020203" pitchFamily="34" charset="0"/>
              </a:rPr>
              <a:t>Features and Benefits</a:t>
            </a:r>
          </a:p>
          <a:p>
            <a:pPr algn="l"/>
            <a:r>
              <a:rPr lang="en-US" b="0" i="0" dirty="0">
                <a:solidFill>
                  <a:srgbClr val="E6E6E6"/>
                </a:solidFill>
                <a:effectLst/>
                <a:highlight>
                  <a:srgbClr val="171717"/>
                </a:highlight>
                <a:latin typeface="Segoe UI" panose="020B0502040204020203" pitchFamily="34" charset="0"/>
              </a:rPr>
              <a:t>Application Gateway for Containers offers some entirely new features at release, such as:</a:t>
            </a:r>
          </a:p>
          <a:p>
            <a:pPr algn="l">
              <a:buFont typeface="Arial" panose="020B0604020202020204" pitchFamily="34" charset="0"/>
              <a:buChar char="•"/>
            </a:pPr>
            <a:r>
              <a:rPr lang="en-US" b="0" i="0" dirty="0">
                <a:solidFill>
                  <a:srgbClr val="E6E6E6"/>
                </a:solidFill>
                <a:effectLst/>
                <a:highlight>
                  <a:srgbClr val="171717"/>
                </a:highlight>
                <a:latin typeface="Segoe UI" panose="020B0502040204020203" pitchFamily="34" charset="0"/>
              </a:rPr>
              <a:t>Traffic splitting / Weighted round robin</a:t>
            </a:r>
          </a:p>
          <a:p>
            <a:pPr algn="l">
              <a:buFont typeface="Arial" panose="020B0604020202020204" pitchFamily="34" charset="0"/>
              <a:buChar char="•"/>
            </a:pPr>
            <a:r>
              <a:rPr lang="en-US" b="0" i="0" dirty="0">
                <a:solidFill>
                  <a:srgbClr val="E6E6E6"/>
                </a:solidFill>
                <a:effectLst/>
                <a:highlight>
                  <a:srgbClr val="171717"/>
                </a:highlight>
                <a:latin typeface="Segoe UI" panose="020B0502040204020203" pitchFamily="34" charset="0"/>
              </a:rPr>
              <a:t>Mutual authentication to the backend target</a:t>
            </a:r>
          </a:p>
          <a:p>
            <a:pPr algn="l">
              <a:buFont typeface="Arial" panose="020B0604020202020204" pitchFamily="34" charset="0"/>
              <a:buChar char="•"/>
            </a:pPr>
            <a:r>
              <a:rPr lang="en-US" b="0" i="0" dirty="0">
                <a:solidFill>
                  <a:srgbClr val="E6E6E6"/>
                </a:solidFill>
                <a:effectLst/>
                <a:highlight>
                  <a:srgbClr val="171717"/>
                </a:highlight>
                <a:latin typeface="Segoe UI" panose="020B0502040204020203" pitchFamily="34" charset="0"/>
              </a:rPr>
              <a:t>Kubernetes support for Ingress and Gateway API</a:t>
            </a:r>
          </a:p>
          <a:p>
            <a:pPr algn="l">
              <a:buFont typeface="Arial" panose="020B0604020202020204" pitchFamily="34" charset="0"/>
              <a:buChar char="•"/>
            </a:pPr>
            <a:r>
              <a:rPr lang="en-US" b="0" i="0" dirty="0">
                <a:solidFill>
                  <a:srgbClr val="E6E6E6"/>
                </a:solidFill>
                <a:effectLst/>
                <a:highlight>
                  <a:srgbClr val="171717"/>
                </a:highlight>
                <a:latin typeface="Segoe UI" panose="020B0502040204020203" pitchFamily="34" charset="0"/>
              </a:rPr>
              <a:t>Flexible </a:t>
            </a:r>
            <a:r>
              <a:rPr lang="en-US" b="0" i="0" u="none" strike="noStrike" dirty="0">
                <a:solidFill>
                  <a:srgbClr val="E6E6E6"/>
                </a:solidFill>
                <a:effectLst/>
                <a:highlight>
                  <a:srgbClr val="171717"/>
                </a:highlight>
                <a:latin typeface="Segoe UI" panose="020B0502040204020203" pitchFamily="34" charset="0"/>
                <a:hlinkClick r:id="rId3"/>
              </a:rPr>
              <a:t>deployment strategies</a:t>
            </a:r>
            <a:endParaRPr lang="en-US" b="0" i="0" dirty="0">
              <a:solidFill>
                <a:srgbClr val="E6E6E6"/>
              </a:solidFill>
              <a:effectLst/>
              <a:highlight>
                <a:srgbClr val="171717"/>
              </a:highlight>
              <a:latin typeface="Segoe UI" panose="020B0502040204020203" pitchFamily="34" charset="0"/>
            </a:endParaRPr>
          </a:p>
          <a:p>
            <a:pPr algn="l">
              <a:buFont typeface="Arial" panose="020B0604020202020204" pitchFamily="34" charset="0"/>
              <a:buChar char="•"/>
            </a:pPr>
            <a:r>
              <a:rPr lang="en-US" b="0" i="0" dirty="0">
                <a:solidFill>
                  <a:srgbClr val="E6E6E6"/>
                </a:solidFill>
                <a:effectLst/>
                <a:highlight>
                  <a:srgbClr val="171717"/>
                </a:highlight>
                <a:latin typeface="Segoe UI" panose="020B0502040204020203" pitchFamily="34" charset="0"/>
              </a:rPr>
              <a:t>Increased performance, offering near real-time updates to add or move pods, routes, and probes</a:t>
            </a:r>
          </a:p>
          <a:p>
            <a:pPr algn="l"/>
            <a:r>
              <a:rPr lang="en-US" b="0" i="0" dirty="0">
                <a:solidFill>
                  <a:srgbClr val="E6E6E6"/>
                </a:solidFill>
                <a:effectLst/>
                <a:highlight>
                  <a:srgbClr val="171717"/>
                </a:highlight>
                <a:latin typeface="Segoe UI" panose="020B0502040204020203" pitchFamily="34" charset="0"/>
              </a:rPr>
              <a:t>Application Gateway for Containers offers an elastic and scalable ingress to AKS clusters and comprises a new data plane as well as control plane with </a:t>
            </a:r>
            <a:r>
              <a:rPr lang="en-US" b="0" i="0" u="none" strike="noStrike" dirty="0">
                <a:solidFill>
                  <a:srgbClr val="E6E6E6"/>
                </a:solidFill>
                <a:effectLst/>
                <a:highlight>
                  <a:srgbClr val="171717"/>
                </a:highlight>
                <a:latin typeface="Segoe UI" panose="020B0502040204020203" pitchFamily="34" charset="0"/>
                <a:hlinkClick r:id="rId4"/>
              </a:rPr>
              <a:t>new set of ARM APIs</a:t>
            </a:r>
            <a:r>
              <a:rPr lang="en-US" b="0" i="0" dirty="0">
                <a:solidFill>
                  <a:srgbClr val="E6E6E6"/>
                </a:solidFill>
                <a:effectLst/>
                <a:highlight>
                  <a:srgbClr val="171717"/>
                </a:highlight>
                <a:latin typeface="Segoe UI" panose="020B0502040204020203" pitchFamily="34" charset="0"/>
              </a:rPr>
              <a:t>, different from existing Application Gateway. These APIs are different from the current implementation of Application Gateway. Application Gateway for Containers is outside the AKS cluster data plane and is responsible for ingress. The service is managed by an ALB controller component that runs inside the AKS cluster and adheres to Kubernetes Gateway APIs.</a:t>
            </a:r>
          </a:p>
          <a:p>
            <a:endParaRPr lang="en-US" dirty="0"/>
          </a:p>
          <a:p>
            <a:pPr algn="l"/>
            <a:r>
              <a:rPr lang="en-US" b="1" i="0" dirty="0">
                <a:solidFill>
                  <a:srgbClr val="E6E6E6"/>
                </a:solidFill>
                <a:effectLst/>
                <a:highlight>
                  <a:srgbClr val="171717"/>
                </a:highlight>
                <a:latin typeface="Segoe UI" panose="020B0502040204020203" pitchFamily="34" charset="0"/>
              </a:rPr>
              <a:t>Deployment strategies</a:t>
            </a:r>
          </a:p>
          <a:p>
            <a:pPr algn="l"/>
            <a:r>
              <a:rPr lang="en-US" b="0" i="0" dirty="0">
                <a:solidFill>
                  <a:srgbClr val="E6E6E6"/>
                </a:solidFill>
                <a:effectLst/>
                <a:highlight>
                  <a:srgbClr val="171717"/>
                </a:highlight>
                <a:latin typeface="Segoe UI" panose="020B0502040204020203" pitchFamily="34" charset="0"/>
              </a:rPr>
              <a:t>There are two deployment strategies for management of Application Gateway for Containers:</a:t>
            </a:r>
          </a:p>
          <a:p>
            <a:pPr algn="l">
              <a:buFont typeface="Arial" panose="020B0604020202020204" pitchFamily="34" charset="0"/>
              <a:buChar char="•"/>
            </a:pPr>
            <a:r>
              <a:rPr lang="en-US" b="1" i="0" dirty="0">
                <a:solidFill>
                  <a:srgbClr val="E6E6E6"/>
                </a:solidFill>
                <a:effectLst/>
                <a:highlight>
                  <a:srgbClr val="171717"/>
                </a:highlight>
                <a:latin typeface="Segoe UI" panose="020B0502040204020203" pitchFamily="34" charset="0"/>
              </a:rPr>
              <a:t>Bring your own (BYO) deployment:</a:t>
            </a:r>
            <a:r>
              <a:rPr lang="en-US" b="0" i="0" dirty="0">
                <a:solidFill>
                  <a:srgbClr val="E6E6E6"/>
                </a:solidFill>
                <a:effectLst/>
                <a:highlight>
                  <a:srgbClr val="171717"/>
                </a:highlight>
                <a:latin typeface="Segoe UI" panose="020B0502040204020203" pitchFamily="34" charset="0"/>
              </a:rPr>
              <a:t> In this deployment strategy, deployment and lifecycle of the Application Gateway for Containers resource, Association, and Frontend resource is assumed via Azure portal, CLI, PowerShell, Terraform, etc. and referenced in configuration within Kubernetes.</a:t>
            </a:r>
          </a:p>
          <a:p>
            <a:pPr marL="742950" lvl="1" indent="-285750" algn="l">
              <a:buFont typeface="Arial" panose="020B0604020202020204" pitchFamily="34" charset="0"/>
              <a:buChar char="•"/>
            </a:pPr>
            <a:r>
              <a:rPr lang="en-US" b="1" i="0" dirty="0">
                <a:solidFill>
                  <a:srgbClr val="E6E6E6"/>
                </a:solidFill>
                <a:effectLst/>
                <a:highlight>
                  <a:srgbClr val="171717"/>
                </a:highlight>
                <a:latin typeface="Segoe UI" panose="020B0502040204020203" pitchFamily="34" charset="0"/>
              </a:rPr>
              <a:t>In Gateway API:</a:t>
            </a:r>
            <a:r>
              <a:rPr lang="en-US" b="0" i="0" dirty="0">
                <a:solidFill>
                  <a:srgbClr val="E6E6E6"/>
                </a:solidFill>
                <a:effectLst/>
                <a:highlight>
                  <a:srgbClr val="171717"/>
                </a:highlight>
                <a:latin typeface="Segoe UI" panose="020B0502040204020203" pitchFamily="34" charset="0"/>
              </a:rPr>
              <a:t> Every time you wish to create a new Gateway resource in Kubernetes, a Frontend resource should be provisioned in Azure prior and referenced by the Gateway resource. Deletion of the Frontend resource is responsible by the Azure administrator and isn't deleted when the Gateway resource in Kubernetes is deleted.</a:t>
            </a:r>
          </a:p>
          <a:p>
            <a:pPr algn="l">
              <a:buFont typeface="Arial" panose="020B0604020202020204" pitchFamily="34" charset="0"/>
              <a:buChar char="•"/>
            </a:pPr>
            <a:r>
              <a:rPr lang="en-US" b="1" i="0" dirty="0">
                <a:solidFill>
                  <a:srgbClr val="E6E6E6"/>
                </a:solidFill>
                <a:effectLst/>
                <a:highlight>
                  <a:srgbClr val="171717"/>
                </a:highlight>
                <a:latin typeface="Segoe UI" panose="020B0502040204020203" pitchFamily="34" charset="0"/>
              </a:rPr>
              <a:t>Managed by ALB Controller:</a:t>
            </a:r>
            <a:r>
              <a:rPr lang="en-US" b="0" i="0" dirty="0">
                <a:solidFill>
                  <a:srgbClr val="E6E6E6"/>
                </a:solidFill>
                <a:effectLst/>
                <a:highlight>
                  <a:srgbClr val="171717"/>
                </a:highlight>
                <a:latin typeface="Segoe UI" panose="020B0502040204020203" pitchFamily="34" charset="0"/>
              </a:rPr>
              <a:t> In this deployment strategy ALB Controller deployed in Kubernetes is responsible for the lifecycle of the Application Gateway for Containers resource and its sub resources. ALB Controller creates Application Gateway for Containers resource when an </a:t>
            </a:r>
            <a:r>
              <a:rPr lang="en-US" b="0" i="0" dirty="0" err="1">
                <a:solidFill>
                  <a:srgbClr val="E6E6E6"/>
                </a:solidFill>
                <a:effectLst/>
                <a:highlight>
                  <a:srgbClr val="171717"/>
                </a:highlight>
                <a:latin typeface="Segoe UI" panose="020B0502040204020203" pitchFamily="34" charset="0"/>
              </a:rPr>
              <a:t>ApplicationLoadBalancer</a:t>
            </a:r>
            <a:r>
              <a:rPr lang="en-US" b="0" i="0" dirty="0">
                <a:solidFill>
                  <a:srgbClr val="E6E6E6"/>
                </a:solidFill>
                <a:effectLst/>
                <a:highlight>
                  <a:srgbClr val="171717"/>
                </a:highlight>
                <a:latin typeface="Segoe UI" panose="020B0502040204020203" pitchFamily="34" charset="0"/>
              </a:rPr>
              <a:t> custom resource is defined on the cluster and its lifecycle is based on the lifecycle of the custom resource.</a:t>
            </a:r>
          </a:p>
          <a:p>
            <a:pPr marL="742950" lvl="1" indent="-285750" algn="l">
              <a:buFont typeface="Arial" panose="020B0604020202020204" pitchFamily="34" charset="0"/>
              <a:buChar char="•"/>
            </a:pPr>
            <a:r>
              <a:rPr lang="en-US" b="1" i="0" dirty="0">
                <a:solidFill>
                  <a:srgbClr val="E6E6E6"/>
                </a:solidFill>
                <a:effectLst/>
                <a:highlight>
                  <a:srgbClr val="171717"/>
                </a:highlight>
                <a:latin typeface="Segoe UI" panose="020B0502040204020203" pitchFamily="34" charset="0"/>
              </a:rPr>
              <a:t>In Gateway API:</a:t>
            </a:r>
            <a:r>
              <a:rPr lang="en-US" b="0" i="0" dirty="0">
                <a:solidFill>
                  <a:srgbClr val="E6E6E6"/>
                </a:solidFill>
                <a:effectLst/>
                <a:highlight>
                  <a:srgbClr val="171717"/>
                </a:highlight>
                <a:latin typeface="Segoe UI" panose="020B0502040204020203" pitchFamily="34" charset="0"/>
              </a:rPr>
              <a:t> Every time a Gateway resource is created referencing the </a:t>
            </a:r>
            <a:r>
              <a:rPr lang="en-US" b="0" i="0" dirty="0" err="1">
                <a:solidFill>
                  <a:srgbClr val="E6E6E6"/>
                </a:solidFill>
                <a:effectLst/>
                <a:highlight>
                  <a:srgbClr val="171717"/>
                </a:highlight>
                <a:latin typeface="Segoe UI" panose="020B0502040204020203" pitchFamily="34" charset="0"/>
              </a:rPr>
              <a:t>ApplicationLoadBalancer</a:t>
            </a:r>
            <a:r>
              <a:rPr lang="en-US" b="0" i="0" dirty="0">
                <a:solidFill>
                  <a:srgbClr val="E6E6E6"/>
                </a:solidFill>
                <a:effectLst/>
                <a:highlight>
                  <a:srgbClr val="171717"/>
                </a:highlight>
                <a:latin typeface="Segoe UI" panose="020B0502040204020203" pitchFamily="34" charset="0"/>
              </a:rPr>
              <a:t> resource, ALB Controller provisions a new Frontend resource and manage its lifecycle based on the lifecycle of the Gateway resource.</a:t>
            </a:r>
          </a:p>
          <a:p>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51</a:t>
            </a:fld>
            <a:endParaRPr lang="en-US"/>
          </a:p>
        </p:txBody>
      </p:sp>
    </p:spTree>
    <p:extLst>
      <p:ext uri="{BB962C8B-B14F-4D97-AF65-F5344CB8AC3E}">
        <p14:creationId xmlns:p14="http://schemas.microsoft.com/office/powerpoint/2010/main" val="1657988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effectLst/>
                <a:highlight>
                  <a:srgbClr val="FFFFFF"/>
                </a:highlight>
                <a:latin typeface="Roboto" panose="02000000000000000000" pitchFamily="2" charset="0"/>
              </a:rPr>
              <a:t>Role-oriented</a:t>
            </a:r>
            <a:r>
              <a:rPr lang="en-US" b="0" i="0" dirty="0">
                <a:effectLst/>
                <a:highlight>
                  <a:srgbClr val="FFFFFF"/>
                </a:highlight>
                <a:latin typeface="Roboto" panose="02000000000000000000" pitchFamily="2" charset="0"/>
              </a:rPr>
              <a:t> - Gateway is composed of API resources which model organizational roles that use and configure Kubernetes service networking.</a:t>
            </a:r>
          </a:p>
          <a:p>
            <a:pPr algn="l"/>
            <a:r>
              <a:rPr lang="en-US" b="0" i="0" dirty="0">
                <a:effectLst/>
                <a:highlight>
                  <a:srgbClr val="FFFFFF"/>
                </a:highlight>
                <a:latin typeface="Roboto" panose="02000000000000000000" pitchFamily="2" charset="0"/>
              </a:rPr>
              <a:t>Why does a role-oriented API matter?</a:t>
            </a:r>
            <a:r>
              <a:rPr lang="en-US" b="0" i="0" u="none" strike="noStrike" dirty="0">
                <a:effectLst/>
                <a:highlight>
                  <a:srgbClr val="FFFFFF"/>
                </a:highlight>
                <a:latin typeface="Roboto" panose="02000000000000000000" pitchFamily="2" charset="0"/>
                <a:hlinkClick r:id="rId3" tooltip="Permanent link"/>
              </a:rPr>
              <a:t>¶</a:t>
            </a:r>
            <a:endParaRPr lang="en-US" b="0" i="0" dirty="0">
              <a:effectLst/>
              <a:highlight>
                <a:srgbClr val="FFFFFF"/>
              </a:highlight>
              <a:latin typeface="Roboto" panose="02000000000000000000" pitchFamily="2" charset="0"/>
            </a:endParaRPr>
          </a:p>
          <a:p>
            <a:pPr algn="l"/>
            <a:r>
              <a:rPr lang="en-US" b="0" i="0" dirty="0">
                <a:effectLst/>
                <a:highlight>
                  <a:srgbClr val="FFFFFF"/>
                </a:highlight>
                <a:latin typeface="Roboto" panose="02000000000000000000" pitchFamily="2" charset="0"/>
              </a:rPr>
              <a:t>Whether it’s roads, power, data centers, or Kubernetes clusters, infrastructure is built to be shared. However, shared infrastructure raises a common challenge - how to provide flexibility to users of the infrastructure while maintaining control by owners of the infrastructure?</a:t>
            </a:r>
          </a:p>
          <a:p>
            <a:pPr algn="l"/>
            <a:r>
              <a:rPr lang="en-US" b="0" i="0" dirty="0">
                <a:effectLst/>
                <a:highlight>
                  <a:srgbClr val="FFFFFF"/>
                </a:highlight>
                <a:latin typeface="Roboto" panose="02000000000000000000" pitchFamily="2" charset="0"/>
              </a:rPr>
              <a:t>Gateway API accomplishes this through a role-oriented design for Kubernetes service networking that strikes a balance between distributed flexibility and centralized control. It allows shared network infrastructure (hardware load balancers, cloud networking, cluster-hosted proxies </a:t>
            </a:r>
            <a:r>
              <a:rPr lang="en-US" b="0" i="0" dirty="0" err="1">
                <a:effectLst/>
                <a:highlight>
                  <a:srgbClr val="FFFFFF"/>
                </a:highlight>
                <a:latin typeface="Roboto" panose="02000000000000000000" pitchFamily="2" charset="0"/>
              </a:rPr>
              <a:t>etc</a:t>
            </a:r>
            <a:r>
              <a:rPr lang="en-US" b="0" i="0" dirty="0">
                <a:effectLst/>
                <a:highlight>
                  <a:srgbClr val="FFFFFF"/>
                </a:highlight>
                <a:latin typeface="Roboto" panose="02000000000000000000" pitchFamily="2" charset="0"/>
              </a:rPr>
              <a:t>) to be used by many different and non-coordinating teams, all bound by the policies and constraints set by cluster operators.</a:t>
            </a:r>
          </a:p>
          <a:p>
            <a:pPr algn="l">
              <a:buFont typeface="Arial" panose="020B0604020202020204" pitchFamily="34" charset="0"/>
              <a:buChar char="•"/>
            </a:pPr>
            <a:endParaRPr lang="en-US" b="0" i="0" dirty="0">
              <a:effectLst/>
              <a:highlight>
                <a:srgbClr val="FFFFFF"/>
              </a:highlight>
              <a:latin typeface="Roboto" panose="02000000000000000000" pitchFamily="2" charset="0"/>
            </a:endParaRPr>
          </a:p>
          <a:p>
            <a:pPr algn="l">
              <a:buFont typeface="Arial" panose="020B0604020202020204" pitchFamily="34" charset="0"/>
              <a:buChar char="•"/>
            </a:pPr>
            <a:r>
              <a:rPr lang="en-US" b="1" i="0" dirty="0">
                <a:effectLst/>
                <a:highlight>
                  <a:srgbClr val="FFFFFF"/>
                </a:highlight>
                <a:latin typeface="Roboto" panose="02000000000000000000" pitchFamily="2" charset="0"/>
              </a:rPr>
              <a:t>Portable</a:t>
            </a:r>
            <a:r>
              <a:rPr lang="en-US" b="0" i="0" dirty="0">
                <a:effectLst/>
                <a:highlight>
                  <a:srgbClr val="FFFFFF"/>
                </a:highlight>
                <a:latin typeface="Roboto" panose="02000000000000000000" pitchFamily="2" charset="0"/>
              </a:rPr>
              <a:t> - This isn't an improvement but rather something that should stay the same. Just as Ingress is a universal specification with </a:t>
            </a:r>
            <a:r>
              <a:rPr lang="en-US" b="0" i="0" u="none" strike="noStrike" dirty="0">
                <a:effectLst/>
                <a:highlight>
                  <a:srgbClr val="FFFFFF"/>
                </a:highlight>
                <a:latin typeface="Roboto" panose="02000000000000000000" pitchFamily="2" charset="0"/>
                <a:hlinkClick r:id="rId4"/>
              </a:rPr>
              <a:t>numerous implementations</a:t>
            </a:r>
            <a:r>
              <a:rPr lang="en-US" b="0" i="0" dirty="0">
                <a:effectLst/>
                <a:highlight>
                  <a:srgbClr val="FFFFFF"/>
                </a:highlight>
                <a:latin typeface="Roboto" panose="02000000000000000000" pitchFamily="2" charset="0"/>
              </a:rPr>
              <a:t>, Gateway API is designed to be a portable specification supported by many implementations.</a:t>
            </a:r>
          </a:p>
          <a:p>
            <a:pPr algn="l">
              <a:buFont typeface="Arial" panose="020B0604020202020204" pitchFamily="34" charset="0"/>
              <a:buChar char="•"/>
            </a:pPr>
            <a:r>
              <a:rPr lang="en-US" b="1" i="0" dirty="0">
                <a:effectLst/>
                <a:highlight>
                  <a:srgbClr val="FFFFFF"/>
                </a:highlight>
                <a:latin typeface="Roboto" panose="02000000000000000000" pitchFamily="2" charset="0"/>
              </a:rPr>
              <a:t>Expressive</a:t>
            </a:r>
            <a:r>
              <a:rPr lang="en-US" b="0" i="0" dirty="0">
                <a:effectLst/>
                <a:highlight>
                  <a:srgbClr val="FFFFFF"/>
                </a:highlight>
                <a:latin typeface="Roboto" panose="02000000000000000000" pitchFamily="2" charset="0"/>
              </a:rPr>
              <a:t> - Gateway API resources support core functionality for things like header-based matching, traffic weighting, and other capabilities that were only possible in Ingress through custom annotations.</a:t>
            </a:r>
          </a:p>
          <a:p>
            <a:pPr algn="l">
              <a:buFont typeface="Arial" panose="020B0604020202020204" pitchFamily="34" charset="0"/>
              <a:buChar char="•"/>
            </a:pPr>
            <a:r>
              <a:rPr lang="en-US" b="1" i="0" dirty="0">
                <a:effectLst/>
                <a:highlight>
                  <a:srgbClr val="FFFFFF"/>
                </a:highlight>
                <a:latin typeface="Roboto" panose="02000000000000000000" pitchFamily="2" charset="0"/>
              </a:rPr>
              <a:t>Extensible</a:t>
            </a:r>
            <a:r>
              <a:rPr lang="en-US" b="0" i="0" dirty="0">
                <a:effectLst/>
                <a:highlight>
                  <a:srgbClr val="FFFFFF"/>
                </a:highlight>
                <a:latin typeface="Roboto" panose="02000000000000000000" pitchFamily="2" charset="0"/>
              </a:rPr>
              <a:t> - Gateway API allows for custom resources to be linked at various layers of the API. This makes granular customization possible at the appropriate places within the API structure.</a:t>
            </a:r>
          </a:p>
          <a:p>
            <a:endParaRPr lang="en-US" dirty="0"/>
          </a:p>
          <a:p>
            <a:endParaRPr lang="en-US" dirty="0"/>
          </a:p>
          <a:p>
            <a:pPr algn="l">
              <a:buFont typeface="Arial" panose="020B0604020202020204" pitchFamily="34" charset="0"/>
              <a:buChar char="•"/>
            </a:pPr>
            <a:r>
              <a:rPr lang="en-US" b="1" i="0" dirty="0" err="1">
                <a:effectLst/>
                <a:highlight>
                  <a:srgbClr val="FFFFFF"/>
                </a:highlight>
                <a:latin typeface="Roboto" panose="02000000000000000000" pitchFamily="2" charset="0"/>
              </a:rPr>
              <a:t>GatewayClasses</a:t>
            </a:r>
            <a:r>
              <a:rPr lang="en-US" b="0" i="0" dirty="0">
                <a:effectLst/>
                <a:highlight>
                  <a:srgbClr val="FFFFFF"/>
                </a:highlight>
                <a:latin typeface="Roboto" panose="02000000000000000000" pitchFamily="2" charset="0"/>
              </a:rPr>
              <a:t> - </a:t>
            </a:r>
            <a:r>
              <a:rPr lang="en-US" b="0" i="0" dirty="0" err="1">
                <a:effectLst/>
                <a:highlight>
                  <a:srgbClr val="FFFFFF"/>
                </a:highlight>
                <a:latin typeface="Roboto" panose="02000000000000000000" pitchFamily="2" charset="0"/>
              </a:rPr>
              <a:t>GatewayClasses</a:t>
            </a:r>
            <a:r>
              <a:rPr lang="en-US" b="0" i="0" dirty="0">
                <a:effectLst/>
                <a:highlight>
                  <a:srgbClr val="FFFFFF"/>
                </a:highlight>
                <a:latin typeface="Roboto" panose="02000000000000000000" pitchFamily="2" charset="0"/>
              </a:rPr>
              <a:t> formalize types of load balancing implementations. These classes make it easy and explicit for users to understand what kind of capabilities are available via the Kubernetes resource model.</a:t>
            </a:r>
          </a:p>
          <a:p>
            <a:pPr algn="l">
              <a:buFont typeface="Arial" panose="020B0604020202020204" pitchFamily="34" charset="0"/>
              <a:buChar char="•"/>
            </a:pPr>
            <a:r>
              <a:rPr lang="en-US" b="1" i="0" dirty="0">
                <a:effectLst/>
                <a:highlight>
                  <a:srgbClr val="FFFFFF"/>
                </a:highlight>
                <a:latin typeface="Roboto" panose="02000000000000000000" pitchFamily="2" charset="0"/>
              </a:rPr>
              <a:t>Shared Gateways and cross-Namespace support</a:t>
            </a:r>
            <a:r>
              <a:rPr lang="en-US" b="0" i="0" dirty="0">
                <a:effectLst/>
                <a:highlight>
                  <a:srgbClr val="FFFFFF"/>
                </a:highlight>
                <a:latin typeface="Roboto" panose="02000000000000000000" pitchFamily="2" charset="0"/>
              </a:rPr>
              <a:t> - They allow the sharing of load balancers and VIPs by permitting independent Route resources to attach to the same Gateway. This allows teams (even across Namespaces) to share infrastructure safely without direct coordination.</a:t>
            </a:r>
          </a:p>
          <a:p>
            <a:pPr algn="l">
              <a:buFont typeface="Arial" panose="020B0604020202020204" pitchFamily="34" charset="0"/>
              <a:buChar char="•"/>
            </a:pPr>
            <a:r>
              <a:rPr lang="en-US" b="1" i="0" dirty="0">
                <a:effectLst/>
                <a:highlight>
                  <a:srgbClr val="FFFFFF"/>
                </a:highlight>
                <a:latin typeface="Roboto" panose="02000000000000000000" pitchFamily="2" charset="0"/>
              </a:rPr>
              <a:t>Typed Routes and typed backends</a:t>
            </a:r>
            <a:r>
              <a:rPr lang="en-US" b="0" i="0" dirty="0">
                <a:effectLst/>
                <a:highlight>
                  <a:srgbClr val="FFFFFF"/>
                </a:highlight>
                <a:latin typeface="Roboto" panose="02000000000000000000" pitchFamily="2" charset="0"/>
              </a:rPr>
              <a:t> - Gateway API supports typed Route resources and also different types of backends. This allows the API to be flexible in supporting various protocols (like HTTP and </a:t>
            </a:r>
            <a:r>
              <a:rPr lang="en-US" b="0" i="0" dirty="0" err="1">
                <a:effectLst/>
                <a:highlight>
                  <a:srgbClr val="FFFFFF"/>
                </a:highlight>
                <a:latin typeface="Roboto" panose="02000000000000000000" pitchFamily="2" charset="0"/>
              </a:rPr>
              <a:t>gRPC</a:t>
            </a:r>
            <a:r>
              <a:rPr lang="en-US" b="0" i="0" dirty="0">
                <a:effectLst/>
                <a:highlight>
                  <a:srgbClr val="FFFFFF"/>
                </a:highlight>
                <a:latin typeface="Roboto" panose="02000000000000000000" pitchFamily="2" charset="0"/>
              </a:rPr>
              <a:t>) and various backend targets (like Kubernetes Services, storage buckets, or functions).</a:t>
            </a:r>
          </a:p>
          <a:p>
            <a:pPr algn="l">
              <a:buFont typeface="Arial" panose="020B0604020202020204" pitchFamily="34" charset="0"/>
              <a:buChar char="•"/>
            </a:pPr>
            <a:r>
              <a:rPr lang="en-US" b="0" i="0" dirty="0">
                <a:effectLst/>
                <a:highlight>
                  <a:srgbClr val="FFFFFF"/>
                </a:highlight>
                <a:latin typeface="Roboto" panose="02000000000000000000" pitchFamily="2" charset="0"/>
              </a:rPr>
              <a:t>Experimental </a:t>
            </a:r>
            <a:r>
              <a:rPr lang="en-US" b="1" i="0" dirty="0">
                <a:effectLst/>
                <a:highlight>
                  <a:srgbClr val="FFFFFF"/>
                </a:highlight>
                <a:latin typeface="Roboto" panose="02000000000000000000" pitchFamily="2" charset="0"/>
              </a:rPr>
              <a:t>Service mesh support</a:t>
            </a:r>
            <a:r>
              <a:rPr lang="en-US" b="0" i="0" dirty="0">
                <a:effectLst/>
                <a:highlight>
                  <a:srgbClr val="FFFFFF"/>
                </a:highlight>
                <a:latin typeface="Roboto" panose="02000000000000000000" pitchFamily="2" charset="0"/>
              </a:rPr>
              <a:t> with the </a:t>
            </a:r>
            <a:r>
              <a:rPr lang="en-US" b="0" i="0" u="none" strike="noStrike" dirty="0">
                <a:effectLst/>
                <a:highlight>
                  <a:srgbClr val="FFFFFF"/>
                </a:highlight>
                <a:latin typeface="Roboto" panose="02000000000000000000" pitchFamily="2" charset="0"/>
                <a:hlinkClick r:id="rId5"/>
              </a:rPr>
              <a:t>GAMMA initiative</a:t>
            </a:r>
            <a:r>
              <a:rPr lang="en-US" b="0" i="0" dirty="0">
                <a:effectLst/>
                <a:highlight>
                  <a:srgbClr val="FFFFFF"/>
                </a:highlight>
                <a:latin typeface="Roboto" panose="02000000000000000000" pitchFamily="2" charset="0"/>
              </a:rPr>
              <a:t> - Gateway API supports associating routing resources with Service resources, to configure service meshes as well as ingress controllers.</a:t>
            </a:r>
          </a:p>
          <a:p>
            <a:r>
              <a:rPr lang="en-US" b="1" i="0" dirty="0">
                <a:effectLst/>
                <a:highlight>
                  <a:srgbClr val="FFFFFF"/>
                </a:highlight>
                <a:latin typeface="Roboto" panose="02000000000000000000" pitchFamily="2" charset="0"/>
              </a:rPr>
              <a:t>G</a:t>
            </a:r>
            <a:r>
              <a:rPr lang="en-US" b="0" i="0" dirty="0">
                <a:effectLst/>
                <a:highlight>
                  <a:srgbClr val="FFFFFF"/>
                </a:highlight>
                <a:latin typeface="Roboto" panose="02000000000000000000" pitchFamily="2" charset="0"/>
              </a:rPr>
              <a:t>ateway </a:t>
            </a:r>
            <a:r>
              <a:rPr lang="en-US" b="1" i="0" dirty="0">
                <a:effectLst/>
                <a:highlight>
                  <a:srgbClr val="FFFFFF"/>
                </a:highlight>
                <a:latin typeface="Roboto" panose="02000000000000000000" pitchFamily="2" charset="0"/>
              </a:rPr>
              <a:t>A</a:t>
            </a:r>
            <a:r>
              <a:rPr lang="en-US" b="0" i="0" dirty="0">
                <a:effectLst/>
                <a:highlight>
                  <a:srgbClr val="FFFFFF"/>
                </a:highlight>
                <a:latin typeface="Roboto" panose="02000000000000000000" pitchFamily="2" charset="0"/>
              </a:rPr>
              <a:t>PI for </a:t>
            </a:r>
            <a:r>
              <a:rPr lang="en-US" b="1" i="0" dirty="0">
                <a:effectLst/>
                <a:highlight>
                  <a:srgbClr val="FFFFFF"/>
                </a:highlight>
                <a:latin typeface="Roboto" panose="02000000000000000000" pitchFamily="2" charset="0"/>
              </a:rPr>
              <a:t>M</a:t>
            </a:r>
            <a:r>
              <a:rPr lang="en-US" b="0" i="0" dirty="0">
                <a:effectLst/>
                <a:highlight>
                  <a:srgbClr val="FFFFFF"/>
                </a:highlight>
                <a:latin typeface="Roboto" panose="02000000000000000000" pitchFamily="2" charset="0"/>
              </a:rPr>
              <a:t>esh </a:t>
            </a:r>
            <a:r>
              <a:rPr lang="en-US" b="1" i="0" dirty="0">
                <a:effectLst/>
                <a:highlight>
                  <a:srgbClr val="FFFFFF"/>
                </a:highlight>
                <a:latin typeface="Roboto" panose="02000000000000000000" pitchFamily="2" charset="0"/>
              </a:rPr>
              <a:t>M</a:t>
            </a:r>
            <a:r>
              <a:rPr lang="en-US" b="0" i="0" dirty="0">
                <a:effectLst/>
                <a:highlight>
                  <a:srgbClr val="FFFFFF"/>
                </a:highlight>
                <a:latin typeface="Roboto" panose="02000000000000000000" pitchFamily="2" charset="0"/>
              </a:rPr>
              <a:t>anagement and </a:t>
            </a:r>
            <a:r>
              <a:rPr lang="en-US" b="1" i="0" dirty="0">
                <a:effectLst/>
                <a:highlight>
                  <a:srgbClr val="FFFFFF"/>
                </a:highlight>
                <a:latin typeface="Roboto" panose="02000000000000000000" pitchFamily="2" charset="0"/>
              </a:rPr>
              <a:t>A</a:t>
            </a:r>
            <a:r>
              <a:rPr lang="en-US" b="0" i="0" dirty="0">
                <a:effectLst/>
                <a:highlight>
                  <a:srgbClr val="FFFFFF"/>
                </a:highlight>
                <a:latin typeface="Roboto" panose="02000000000000000000" pitchFamily="2" charset="0"/>
              </a:rPr>
              <a:t>dministration to define how Gateway API could also be used for inter-service or </a:t>
            </a:r>
            <a:r>
              <a:rPr lang="en-US" b="0" i="1" u="none" strike="noStrike" dirty="0">
                <a:effectLst/>
                <a:highlight>
                  <a:srgbClr val="FFFFFF"/>
                </a:highlight>
                <a:latin typeface="Roboto" panose="02000000000000000000" pitchFamily="2" charset="0"/>
                <a:hlinkClick r:id="rId6"/>
              </a:rPr>
              <a:t>east/west</a:t>
            </a:r>
            <a:r>
              <a:rPr lang="en-US" b="0" i="0" u="none" strike="noStrike" dirty="0">
                <a:effectLst/>
                <a:highlight>
                  <a:srgbClr val="FFFFFF"/>
                </a:highlight>
                <a:latin typeface="Roboto" panose="02000000000000000000" pitchFamily="2" charset="0"/>
                <a:hlinkClick r:id="rId6"/>
              </a:rPr>
              <a:t> traffic</a:t>
            </a:r>
            <a:r>
              <a:rPr lang="en-US" b="0" i="0" dirty="0">
                <a:effectLst/>
                <a:highlight>
                  <a:srgbClr val="FFFFFF"/>
                </a:highlight>
                <a:latin typeface="Roboto" panose="02000000000000000000" pitchFamily="2" charset="0"/>
              </a:rPr>
              <a:t> within the same cluster.</a:t>
            </a:r>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52</a:t>
            </a:fld>
            <a:endParaRPr lang="en-US"/>
          </a:p>
        </p:txBody>
      </p:sp>
    </p:spTree>
    <p:extLst>
      <p:ext uri="{BB962C8B-B14F-4D97-AF65-F5344CB8AC3E}">
        <p14:creationId xmlns:p14="http://schemas.microsoft.com/office/powerpoint/2010/main" val="11213832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A1B2-202B-36EA-842B-87386F95D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57425-68A3-A3B0-BE61-847A66361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C0EE01-D825-A7E9-7FE7-4D25C8BDDB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Optional Demo using Application Gateway for containers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This demo is more involved so make sure to set this up beforehand.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Demo setup:</a:t>
            </a:r>
            <a:br>
              <a:rPr lang="en-US" b="0" dirty="0"/>
            </a:br>
            <a:br>
              <a:rPr lang="en-US" b="0" dirty="0"/>
            </a:br>
            <a:r>
              <a:rPr lang="en-US" b="0" dirty="0"/>
              <a:t>1. </a:t>
            </a:r>
            <a:r>
              <a:rPr lang="en-US" dirty="0" err="1">
                <a:hlinkClick r:id="rId3"/>
              </a:rPr>
              <a:t>Quickstart</a:t>
            </a:r>
            <a:r>
              <a:rPr lang="en-US" dirty="0">
                <a:hlinkClick r:id="rId3"/>
              </a:rPr>
              <a:t>: Deploy Application Gateway for Containers ALB Controller | Microsoft Learn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a:t>
            </a:r>
            <a:r>
              <a:rPr lang="en-US" dirty="0" err="1">
                <a:hlinkClick r:id="rId4"/>
              </a:rPr>
              <a:t>Quickstart</a:t>
            </a:r>
            <a:r>
              <a:rPr lang="en-US" dirty="0">
                <a:hlinkClick r:id="rId4"/>
              </a:rPr>
              <a:t>: Create Application Gateway for Containers managed by ALB Controller | Microsoft Learn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a:t>
            </a:r>
            <a:r>
              <a:rPr lang="en-US" dirty="0">
                <a:hlinkClick r:id="rId5"/>
              </a:rPr>
              <a:t>Traffic Splitting with Application Gateway for Containers - Gateway API | Microsoft Learn</a:t>
            </a:r>
            <a:endParaRPr lang="en-US" dirty="0"/>
          </a:p>
        </p:txBody>
      </p:sp>
      <p:sp>
        <p:nvSpPr>
          <p:cNvPr id="4" name="Slide Number Placeholder 3">
            <a:extLst>
              <a:ext uri="{FF2B5EF4-FFF2-40B4-BE49-F238E27FC236}">
                <a16:creationId xmlns:a16="http://schemas.microsoft.com/office/drawing/2014/main" id="{3897CB95-9D20-FFD0-1067-DD398863BB4C}"/>
              </a:ext>
            </a:extLst>
          </p:cNvPr>
          <p:cNvSpPr>
            <a:spLocks noGrp="1"/>
          </p:cNvSpPr>
          <p:nvPr>
            <p:ph type="sldNum" sz="quarter" idx="5"/>
          </p:nvPr>
        </p:nvSpPr>
        <p:spPr/>
        <p:txBody>
          <a:bodyPr/>
          <a:lstStyle/>
          <a:p>
            <a:fld id="{1D09229F-6F41-4CC3-A51C-EB832A3392C5}" type="slidenum">
              <a:rPr lang="en-US" smtClean="0"/>
              <a:t>53</a:t>
            </a:fld>
            <a:endParaRPr lang="en-US"/>
          </a:p>
        </p:txBody>
      </p:sp>
    </p:spTree>
    <p:extLst>
      <p:ext uri="{BB962C8B-B14F-4D97-AF65-F5344CB8AC3E}">
        <p14:creationId xmlns:p14="http://schemas.microsoft.com/office/powerpoint/2010/main" val="28581952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54</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7/30/2026</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r>
              <a:rPr lang="en-US" dirty="0"/>
              <a:t>After taking questions move onto part 2</a:t>
            </a:r>
          </a:p>
          <a:p>
            <a:endParaRPr lang="en-US" dirty="0"/>
          </a:p>
          <a:p>
            <a:r>
              <a:rPr lang="en-US" dirty="0"/>
              <a:t>Lab is at the end of part 2</a:t>
            </a:r>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dirty="0"/>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289308219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24869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6740" y="347349"/>
            <a:ext cx="11018520" cy="553998"/>
          </a:xfrm>
        </p:spPr>
        <p:txBody>
          <a:bodyPr anchor="ctr"/>
          <a:lstStyle>
            <a:lvl1pPr>
              <a:defRPr>
                <a:solidFill>
                  <a:schemeClr val="accent3"/>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6422" y="1350952"/>
            <a:ext cx="11018838" cy="2228302"/>
          </a:xfrm>
        </p:spPr>
        <p:txBody>
          <a:bodyPr/>
          <a:lstStyle>
            <a:lvl1pPr marL="0" indent="0">
              <a:lnSpc>
                <a:spcPct val="100000"/>
              </a:lnSpc>
              <a:spcAft>
                <a:spcPts val="1200"/>
              </a:spcAft>
              <a:buNone/>
              <a:defRPr sz="2400">
                <a:solidFill>
                  <a:schemeClr val="tx1"/>
                </a:solidFill>
              </a:defRPr>
            </a:lvl1pPr>
            <a:lvl2pPr>
              <a:lnSpc>
                <a:spcPct val="100000"/>
              </a:lnSpc>
              <a:spcAft>
                <a:spcPts val="1200"/>
              </a:spcAft>
              <a:defRPr>
                <a:solidFill>
                  <a:schemeClr val="tx1"/>
                </a:solidFill>
              </a:defRPr>
            </a:lvl2pPr>
            <a:lvl3pPr>
              <a:lnSpc>
                <a:spcPct val="100000"/>
              </a:lnSpc>
              <a:spcAft>
                <a:spcPts val="1200"/>
              </a:spcAft>
              <a:defRPr>
                <a:solidFill>
                  <a:schemeClr val="tx1"/>
                </a:solidFill>
              </a:defRPr>
            </a:lvl3pPr>
            <a:lvl4pPr>
              <a:lnSpc>
                <a:spcPct val="100000"/>
              </a:lnSpc>
              <a:spcAft>
                <a:spcPts val="1200"/>
              </a:spcAft>
              <a:defRPr>
                <a:solidFill>
                  <a:schemeClr val="tx1"/>
                </a:solidFill>
              </a:defRPr>
            </a:lvl4pPr>
            <a:lvl5pPr>
              <a:lnSpc>
                <a:spcPct val="100000"/>
              </a:lnSpc>
              <a:spcAft>
                <a:spcPts val="1200"/>
              </a:spcAft>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465703970"/>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dirty="0"/>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dirty="0" err="1"/>
              <a:t>Firstname</a:t>
            </a:r>
            <a:r>
              <a:rPr lang="en-US" dirty="0"/>
              <a:t> </a:t>
            </a:r>
            <a:r>
              <a:rPr lang="en-US" dirty="0" err="1"/>
              <a:t>Lastname</a:t>
            </a:r>
            <a:endParaRPr lang="en-US" dirty="0"/>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dirty="0"/>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dirty="0">
                <a:solidFill>
                  <a:srgbClr val="505050"/>
                </a:solidFill>
                <a:latin typeface="Segoe UI" panose="020B0502040204020203" pitchFamily="34" charset="0"/>
                <a:cs typeface="Segoe UI" panose="020B0502040204020203" pitchFamily="34" charset="0"/>
              </a:rPr>
              <a:t>About: Lorem ipsum dolor sit </a:t>
            </a:r>
            <a:r>
              <a:rPr lang="en-US" sz="1200" b="0" dirty="0" err="1">
                <a:solidFill>
                  <a:srgbClr val="505050"/>
                </a:solidFill>
                <a:latin typeface="Segoe UI" panose="020B0502040204020203" pitchFamily="34" charset="0"/>
                <a:cs typeface="Segoe UI" panose="020B0502040204020203" pitchFamily="34" charset="0"/>
              </a:rPr>
              <a:t>amet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consectetur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adipiscing</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elit</a:t>
            </a:r>
            <a:r>
              <a:rPr lang="en-US" sz="1200" b="0" dirty="0">
                <a:solidFill>
                  <a:srgbClr val="505050"/>
                </a:solidFill>
                <a:latin typeface="Segoe UI" panose="020B0502040204020203" pitchFamily="34" charset="0"/>
                <a:cs typeface="Segoe UI" panose="020B0502040204020203" pitchFamily="34" charset="0"/>
              </a:rPr>
              <a:t>, sed do </a:t>
            </a:r>
            <a:r>
              <a:rPr lang="en-US" sz="1200" b="0" dirty="0" err="1">
                <a:solidFill>
                  <a:srgbClr val="505050"/>
                </a:solidFill>
                <a:latin typeface="Segoe UI" panose="020B0502040204020203" pitchFamily="34" charset="0"/>
                <a:cs typeface="Segoe UI" panose="020B0502040204020203" pitchFamily="34" charset="0"/>
              </a:rPr>
              <a:t>eiusmod</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tempor</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incididunt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ut</a:t>
            </a:r>
            <a:r>
              <a:rPr lang="en-US" sz="1200" b="0" dirty="0">
                <a:solidFill>
                  <a:srgbClr val="505050"/>
                </a:solidFill>
                <a:latin typeface="Segoe UI" panose="020B0502040204020203" pitchFamily="34" charset="0"/>
                <a:cs typeface="Segoe UI" panose="020B0502040204020203" pitchFamily="34" charset="0"/>
              </a:rPr>
              <a:t> </a:t>
            </a:r>
            <a:r>
              <a:rPr lang="en-US" sz="1200" b="0" dirty="0" err="1">
                <a:solidFill>
                  <a:srgbClr val="505050"/>
                </a:solidFill>
                <a:latin typeface="Segoe UI" panose="020B0502040204020203" pitchFamily="34" charset="0"/>
                <a:cs typeface="Segoe UI" panose="020B0502040204020203" pitchFamily="34" charset="0"/>
              </a:rPr>
              <a:t>labore</a:t>
            </a:r>
            <a:r>
              <a:rPr lang="en-US" sz="1200" b="0" dirty="0">
                <a:solidFill>
                  <a:srgbClr val="505050"/>
                </a:solidFill>
                <a:latin typeface="Segoe UI" panose="020B0502040204020203" pitchFamily="34" charset="0"/>
                <a:cs typeface="Segoe UI" panose="020B0502040204020203" pitchFamily="34" charset="0"/>
              </a:rPr>
              <a:t> et dolore magna </a:t>
            </a:r>
            <a:r>
              <a:rPr lang="en-US" sz="1200" b="0" dirty="0" err="1">
                <a:solidFill>
                  <a:srgbClr val="505050"/>
                </a:solidFill>
                <a:latin typeface="Segoe UI" panose="020B0502040204020203" pitchFamily="34" charset="0"/>
                <a:cs typeface="Segoe UI" panose="020B0502040204020203" pitchFamily="34" charset="0"/>
              </a:rPr>
              <a:t>aliqua</a:t>
            </a:r>
            <a:r>
              <a:rPr lang="en-US" sz="1200" b="0" dirty="0">
                <a:solidFill>
                  <a:srgbClr val="505050"/>
                </a:solidFill>
                <a:latin typeface="Segoe UI" panose="020B0502040204020203" pitchFamily="34" charset="0"/>
                <a:cs typeface="Segoe UI" panose="020B0502040204020203" pitchFamily="34" charset="0"/>
              </a:rPr>
              <a:t>. Ut </a:t>
            </a:r>
            <a:r>
              <a:rPr lang="en-US" sz="1200" b="0" dirty="0" err="1">
                <a:solidFill>
                  <a:srgbClr val="505050"/>
                </a:solidFill>
                <a:latin typeface="Segoe UI" panose="020B0502040204020203" pitchFamily="34" charset="0"/>
                <a:cs typeface="Segoe UI" panose="020B0502040204020203" pitchFamily="34" charset="0"/>
              </a:rPr>
              <a:t>enim</a:t>
            </a:r>
            <a:r>
              <a:rPr lang="en-US" sz="1200" b="0" dirty="0">
                <a:solidFill>
                  <a:srgbClr val="505050"/>
                </a:solidFill>
                <a:latin typeface="Segoe UI" panose="020B0502040204020203" pitchFamily="34" charset="0"/>
                <a:cs typeface="Segoe UI" panose="020B0502040204020203" pitchFamily="34" charset="0"/>
              </a:rPr>
              <a:t> ad minim </a:t>
            </a:r>
            <a:r>
              <a:rPr lang="en-US" sz="1200" b="0" dirty="0" err="1">
                <a:solidFill>
                  <a:srgbClr val="505050"/>
                </a:solidFill>
                <a:latin typeface="Segoe UI" panose="020B0502040204020203" pitchFamily="34" charset="0"/>
                <a:cs typeface="Segoe UI" panose="020B0502040204020203" pitchFamily="34" charset="0"/>
              </a:rPr>
              <a:t>veniam</a:t>
            </a:r>
            <a:r>
              <a:rPr lang="en-US" sz="1200" b="0" dirty="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endParaRPr lang="en-US" dirty="0"/>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endParaRPr lang="en-US" dirty="0"/>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endParaRPr lang="en-US" dirty="0"/>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endParaRPr lang="en-US" dirty="0"/>
          </a:p>
        </p:txBody>
      </p:sp>
    </p:spTree>
    <p:extLst>
      <p:ext uri="{BB962C8B-B14F-4D97-AF65-F5344CB8AC3E}">
        <p14:creationId xmlns:p14="http://schemas.microsoft.com/office/powerpoint/2010/main" val="2593276683"/>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35410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63505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 id="2147484100" r:id="rId32"/>
    <p:sldLayoutId id="2147484101" r:id="rId33"/>
    <p:sldLayoutId id="2147484102" r:id="rId34"/>
    <p:sldLayoutId id="2147484103" r:id="rId35"/>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36.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41.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20.xml"/><Relationship Id="rId1" Type="http://schemas.openxmlformats.org/officeDocument/2006/relationships/tags" Target="../tags/tag6.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customXml" Target="../../customXml/item38.xml"/><Relationship Id="rId1" Type="http://schemas.openxmlformats.org/officeDocument/2006/relationships/tags" Target="../tags/tag7.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1.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png"/><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png"/><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hyperlink" Target="https://kubernetes.io/docs/reference/kubectl/cheatsheet/" TargetMode="External"/><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2.xml"/><Relationship Id="rId5" Type="http://schemas.openxmlformats.org/officeDocument/2006/relationships/image" Target="../media/image23.png"/><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2.xml"/><Relationship Id="rId6" Type="http://schemas.openxmlformats.org/officeDocument/2006/relationships/image" Target="../media/image22.svg"/><Relationship Id="rId5" Type="http://schemas.openxmlformats.org/officeDocument/2006/relationships/image" Target="../media/image24.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2.xml"/><Relationship Id="rId6" Type="http://schemas.openxmlformats.org/officeDocument/2006/relationships/image" Target="../media/image22.svg"/><Relationship Id="rId5" Type="http://schemas.openxmlformats.org/officeDocument/2006/relationships/image" Target="../media/image25.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2.xml"/><Relationship Id="rId5" Type="http://schemas.openxmlformats.org/officeDocument/2006/relationships/image" Target="../media/image22.sv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1.xml"/><Relationship Id="rId1" Type="http://schemas.openxmlformats.org/officeDocument/2006/relationships/slideLayout" Target="../slideLayouts/slideLayout32.xml"/><Relationship Id="rId4" Type="http://schemas.openxmlformats.org/officeDocument/2006/relationships/hyperlink" Target="https://www.cncf.io/wp-content/uploads/2020/08/CNCF-Presentation-Template-K8s-Deployment.pdf"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31.xml"/><Relationship Id="rId5" Type="http://schemas.openxmlformats.org/officeDocument/2006/relationships/image" Target="../media/image32.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3.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31.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2.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32.xml"/><Relationship Id="rId6" Type="http://schemas.openxmlformats.org/officeDocument/2006/relationships/image" Target="../media/image49.png"/><Relationship Id="rId11" Type="http://schemas.openxmlformats.org/officeDocument/2006/relationships/image" Target="../media/image36.png"/><Relationship Id="rId5" Type="http://schemas.openxmlformats.org/officeDocument/2006/relationships/image" Target="../media/image48.png"/><Relationship Id="rId10" Type="http://schemas.openxmlformats.org/officeDocument/2006/relationships/image" Target="../media/image30.png"/><Relationship Id="rId4" Type="http://schemas.openxmlformats.org/officeDocument/2006/relationships/image" Target="../media/image47.png"/><Relationship Id="rId9" Type="http://schemas.openxmlformats.org/officeDocument/2006/relationships/image" Target="../media/image52.png"/></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32.xml"/><Relationship Id="rId5" Type="http://schemas.openxmlformats.org/officeDocument/2006/relationships/image" Target="../media/image21.pn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32.xml"/><Relationship Id="rId6" Type="http://schemas.openxmlformats.org/officeDocument/2006/relationships/image" Target="../media/image55.png"/><Relationship Id="rId5" Type="http://schemas.openxmlformats.org/officeDocument/2006/relationships/image" Target="../media/image21.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8" Type="http://schemas.openxmlformats.org/officeDocument/2006/relationships/hyperlink" Target="https://learn.microsoft.com/en-us/azure/application-gateway/overview" TargetMode="External"/><Relationship Id="rId3" Type="http://schemas.openxmlformats.org/officeDocument/2006/relationships/hyperlink" Target="https://www.nginx.com/products/nginx-ingress-controller/" TargetMode="External"/><Relationship Id="rId7" Type="http://schemas.openxmlformats.org/officeDocument/2006/relationships/hyperlink" Target="https://learn.microsoft.com/en-us/azure/application-gateway/tutorial-ingress-controller-add-on-existing" TargetMode="External"/><Relationship Id="rId2" Type="http://schemas.openxmlformats.org/officeDocument/2006/relationships/notesSlide" Target="../notesSlides/notesSlide33.xml"/><Relationship Id="rId1" Type="http://schemas.openxmlformats.org/officeDocument/2006/relationships/slideLayout" Target="../slideLayouts/slideLayout32.xml"/><Relationship Id="rId6" Type="http://schemas.openxmlformats.org/officeDocument/2006/relationships/hyperlink" Target="https://traefik.io/traefik/" TargetMode="External"/><Relationship Id="rId5" Type="http://schemas.openxmlformats.org/officeDocument/2006/relationships/hyperlink" Target="https://doc.traefik.io/traefik/providers/kubernetes-ingress/" TargetMode="External"/><Relationship Id="rId4" Type="http://schemas.openxmlformats.org/officeDocument/2006/relationships/hyperlink" Target="https://www.nginx.com/resources/glossary/nginx/"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3318975"/>
            <a:ext cx="9274908" cy="2031325"/>
          </a:xfrm>
        </p:spPr>
        <p:txBody>
          <a:bodyPr/>
          <a:lstStyle/>
          <a:p>
            <a:r>
              <a:rPr lang="en-US" dirty="0">
                <a:latin typeface="Segoe UI Semibold"/>
                <a:cs typeface="Segoe UI Semibold"/>
              </a:rPr>
              <a:t>Kubernetes Fundamentals – Part 1</a:t>
            </a:r>
            <a:endParaRPr lang="en-US" dirty="0"/>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a:xfrm>
            <a:off x="582042" y="5634620"/>
            <a:ext cx="5654635" cy="338554"/>
          </a:xfrm>
        </p:spPr>
        <p:txBody>
          <a:bodyPr>
            <a:normAutofit/>
          </a:bodyPr>
          <a:lstStyle/>
          <a:p>
            <a:r>
              <a:rPr lang="en-US" dirty="0" err="1"/>
              <a:t>WorkshopPlus</a:t>
            </a:r>
            <a:r>
              <a:rPr lang="en-US" dirty="0"/>
              <a:t> – Kubernetes Tech Briefing</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p:txBody>
          <a:bodyPr lIns="0" tIns="0" rIns="0" bIns="0" anchor="t"/>
          <a:lstStyle/>
          <a:p>
            <a:r>
              <a:rPr lang="en-US" dirty="0"/>
              <a:t>Topics</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1567581859"/>
              </p:ext>
            </p:extLst>
          </p:nvPr>
        </p:nvGraphicFramePr>
        <p:xfrm>
          <a:off x="575481" y="1752869"/>
          <a:ext cx="5669280" cy="4505694"/>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501898">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What is Kubernetes?</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501898">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Cluster Components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501898">
                <a:tc>
                  <a:txBody>
                    <a:bodyPr/>
                    <a:lstStyle/>
                    <a:p>
                      <a:endParaRPr lang="en-US" dirty="0"/>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rPr>
                        <a:t>Basic Kubernetes Objects </a:t>
                      </a:r>
                      <a:endPar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endParaRP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7278780"/>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722184" y="23071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67" name="Straight Connector 166">
            <a:extLst>
              <a:ext uri="{FF2B5EF4-FFF2-40B4-BE49-F238E27FC236}">
                <a16:creationId xmlns:a16="http://schemas.microsoft.com/office/drawing/2014/main" id="{7B195598-F76A-4EA1-BF44-B801A69B2AEB}"/>
              </a:ext>
              <a:ext uri="{C183D7F6-B498-43B3-948B-1728B52AA6E4}">
                <adec:decorative xmlns:adec="http://schemas.microsoft.com/office/drawing/2017/decorative" val="1"/>
              </a:ext>
            </a:extLst>
          </p:cNvPr>
          <p:cNvCxnSpPr>
            <a:cxnSpLocks/>
          </p:cNvCxnSpPr>
          <p:nvPr/>
        </p:nvCxnSpPr>
        <p:spPr>
          <a:xfrm>
            <a:off x="5771254" y="329609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722184" y="380254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92" name="Straight Connector 191">
            <a:extLst>
              <a:ext uri="{FF2B5EF4-FFF2-40B4-BE49-F238E27FC236}">
                <a16:creationId xmlns:a16="http://schemas.microsoft.com/office/drawing/2014/main" id="{E0224169-9119-47EF-96EE-DDA203D7C417}"/>
              </a:ext>
              <a:ext uri="{C183D7F6-B498-43B3-948B-1728B52AA6E4}">
                <adec:decorative xmlns:adec="http://schemas.microsoft.com/office/drawing/2017/decorative" val="1"/>
              </a:ext>
            </a:extLst>
          </p:cNvPr>
          <p:cNvCxnSpPr>
            <a:cxnSpLocks/>
          </p:cNvCxnSpPr>
          <p:nvPr/>
        </p:nvCxnSpPr>
        <p:spPr>
          <a:xfrm>
            <a:off x="5771254" y="4787423"/>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grpSp>
        <p:nvGrpSpPr>
          <p:cNvPr id="3" name="Group 2">
            <a:extLst>
              <a:ext uri="{FF2B5EF4-FFF2-40B4-BE49-F238E27FC236}">
                <a16:creationId xmlns:a16="http://schemas.microsoft.com/office/drawing/2014/main" id="{FEF0FF49-B704-6572-A2AE-7B9B811256A0}"/>
              </a:ext>
              <a:ext uri="{C183D7F6-B498-43B3-948B-1728B52AA6E4}">
                <adec:decorative xmlns:adec="http://schemas.microsoft.com/office/drawing/2017/decorative" val="1"/>
              </a:ext>
            </a:extLst>
          </p:cNvPr>
          <p:cNvGrpSpPr>
            <a:grpSpLocks noChangeAspect="1"/>
          </p:cNvGrpSpPr>
          <p:nvPr/>
        </p:nvGrpSpPr>
        <p:grpSpPr>
          <a:xfrm>
            <a:off x="720137" y="5297927"/>
            <a:ext cx="522238" cy="522238"/>
            <a:chOff x="10323474" y="1468393"/>
            <a:chExt cx="751672" cy="751672"/>
          </a:xfrm>
        </p:grpSpPr>
        <p:sp>
          <p:nvSpPr>
            <p:cNvPr id="4" name="Oval 3">
              <a:extLst>
                <a:ext uri="{FF2B5EF4-FFF2-40B4-BE49-F238E27FC236}">
                  <a16:creationId xmlns:a16="http://schemas.microsoft.com/office/drawing/2014/main" id="{421B4766-46BB-56D0-19CD-55BFC6B69F5B}"/>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5" name="Group 4">
              <a:extLst>
                <a:ext uri="{FF2B5EF4-FFF2-40B4-BE49-F238E27FC236}">
                  <a16:creationId xmlns:a16="http://schemas.microsoft.com/office/drawing/2014/main" id="{CAEA6919-0189-7D12-B20C-92F25F3333B9}"/>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6" name="Freeform: Shape 5">
                <a:extLst>
                  <a:ext uri="{FF2B5EF4-FFF2-40B4-BE49-F238E27FC236}">
                    <a16:creationId xmlns:a16="http://schemas.microsoft.com/office/drawing/2014/main" id="{D592CA1E-D389-7444-A361-A528ECB28340}"/>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7" name="Freeform: Shape 6">
                <a:extLst>
                  <a:ext uri="{FF2B5EF4-FFF2-40B4-BE49-F238E27FC236}">
                    <a16:creationId xmlns:a16="http://schemas.microsoft.com/office/drawing/2014/main" id="{C49C6E4C-3D35-F748-4FD4-54652263EB5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9C5D03E3-35DE-61C0-F6CA-087BDEFD527B}"/>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24B9F928-82A0-8139-3882-23FA4284FE82}"/>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106EBFD2-894D-5944-F3B3-08BC49F8D15E}"/>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1" name="Freeform: Shape 10">
                <a:extLst>
                  <a:ext uri="{FF2B5EF4-FFF2-40B4-BE49-F238E27FC236}">
                    <a16:creationId xmlns:a16="http://schemas.microsoft.com/office/drawing/2014/main" id="{D604C0B7-362A-79FA-D5DB-335432CE7C81}"/>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0F9D9818-4005-CA65-D0DE-4179554065DE}"/>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3" name="Freeform: Shape 12">
                <a:extLst>
                  <a:ext uri="{FF2B5EF4-FFF2-40B4-BE49-F238E27FC236}">
                    <a16:creationId xmlns:a16="http://schemas.microsoft.com/office/drawing/2014/main" id="{029D2D64-00DF-7840-83DD-17CBB42955A2}"/>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 name="Freeform: Shape 13">
                <a:extLst>
                  <a:ext uri="{FF2B5EF4-FFF2-40B4-BE49-F238E27FC236}">
                    <a16:creationId xmlns:a16="http://schemas.microsoft.com/office/drawing/2014/main" id="{5C26AEAC-554C-A5A7-ADCB-CD13528D2DD8}"/>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FC0841D4-221D-47FA-58C3-1082D3F1F845}"/>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44DE30AA-B0B1-19FF-9FE0-AC4B9746FF2F}"/>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B6A22-DC44-1463-A96F-630CFBD0734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506FF81-85E9-944D-5FFA-51C9E4BABEA4}"/>
              </a:ext>
            </a:extLst>
          </p:cNvPr>
          <p:cNvSpPr>
            <a:spLocks noGrp="1"/>
          </p:cNvSpPr>
          <p:nvPr>
            <p:ph type="title"/>
            <p:custDataLst>
              <p:custData r:id="rId2"/>
            </p:custDataLst>
          </p:nvPr>
        </p:nvSpPr>
        <p:spPr>
          <a:xfrm>
            <a:off x="584199" y="4334637"/>
            <a:ext cx="10189817" cy="1015663"/>
          </a:xfrm>
        </p:spPr>
        <p:txBody>
          <a:bodyPr/>
          <a:lstStyle/>
          <a:p>
            <a:r>
              <a:rPr lang="en-US" dirty="0"/>
              <a:t>What is Kubernetes</a:t>
            </a:r>
          </a:p>
        </p:txBody>
      </p:sp>
      <p:sp>
        <p:nvSpPr>
          <p:cNvPr id="2" name="Text Placeholder 1">
            <a:extLst>
              <a:ext uri="{FF2B5EF4-FFF2-40B4-BE49-F238E27FC236}">
                <a16:creationId xmlns:a16="http://schemas.microsoft.com/office/drawing/2014/main" id="{86264759-8B85-82D0-0E4A-227E4B715E45}"/>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362440F5-CAAC-D176-6F64-475E8483C0C1}"/>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CCB94F8-FD7D-14B6-955E-485A1F9C5E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54587261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9E8D-EA7B-4AB3-1000-FDDECC4EBBF0}"/>
              </a:ext>
            </a:extLst>
          </p:cNvPr>
          <p:cNvSpPr>
            <a:spLocks noGrp="1"/>
          </p:cNvSpPr>
          <p:nvPr>
            <p:ph type="title"/>
          </p:nvPr>
        </p:nvSpPr>
        <p:spPr/>
        <p:txBody>
          <a:bodyPr/>
          <a:lstStyle/>
          <a:p>
            <a:r>
              <a:rPr lang="en-US" dirty="0"/>
              <a:t>What is Kubernetes?</a:t>
            </a:r>
          </a:p>
        </p:txBody>
      </p:sp>
      <p:sp>
        <p:nvSpPr>
          <p:cNvPr id="3" name="Footer Placeholder 2">
            <a:extLst>
              <a:ext uri="{FF2B5EF4-FFF2-40B4-BE49-F238E27FC236}">
                <a16:creationId xmlns:a16="http://schemas.microsoft.com/office/drawing/2014/main" id="{77C2715C-61B3-83BA-8CDD-0ED288A6ECC1}"/>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B4D25F85-7958-CC08-66B7-CE131BB6EE9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7" name="Group 6">
            <a:extLst>
              <a:ext uri="{FF2B5EF4-FFF2-40B4-BE49-F238E27FC236}">
                <a16:creationId xmlns:a16="http://schemas.microsoft.com/office/drawing/2014/main" id="{43347FE4-06F2-4D58-C0F3-A216B50C3F6C}"/>
              </a:ext>
              <a:ext uri="{C183D7F6-B498-43B3-948B-1728B52AA6E4}">
                <adec:decorative xmlns:adec="http://schemas.microsoft.com/office/drawing/2017/decorative" val="1"/>
              </a:ext>
            </a:extLst>
          </p:cNvPr>
          <p:cNvGrpSpPr/>
          <p:nvPr/>
        </p:nvGrpSpPr>
        <p:grpSpPr>
          <a:xfrm>
            <a:off x="273114" y="1863804"/>
            <a:ext cx="3061042" cy="1651260"/>
            <a:chOff x="465137" y="1452967"/>
            <a:chExt cx="3122422" cy="1684371"/>
          </a:xfrm>
        </p:grpSpPr>
        <p:grpSp>
          <p:nvGrpSpPr>
            <p:cNvPr id="8" name="Group 7">
              <a:extLst>
                <a:ext uri="{FF2B5EF4-FFF2-40B4-BE49-F238E27FC236}">
                  <a16:creationId xmlns:a16="http://schemas.microsoft.com/office/drawing/2014/main" id="{B75BE0D5-A4F7-482D-0A2B-42DEC691C077}"/>
                </a:ext>
              </a:extLst>
            </p:cNvPr>
            <p:cNvGrpSpPr/>
            <p:nvPr/>
          </p:nvGrpSpPr>
          <p:grpSpPr>
            <a:xfrm>
              <a:off x="465137" y="1801189"/>
              <a:ext cx="3112593" cy="1336149"/>
              <a:chOff x="465137" y="2047192"/>
              <a:chExt cx="3112593" cy="1336149"/>
            </a:xfrm>
          </p:grpSpPr>
          <p:grpSp>
            <p:nvGrpSpPr>
              <p:cNvPr id="10" name="Group 9">
                <a:extLst>
                  <a:ext uri="{FF2B5EF4-FFF2-40B4-BE49-F238E27FC236}">
                    <a16:creationId xmlns:a16="http://schemas.microsoft.com/office/drawing/2014/main" id="{0C3FE544-27C9-910D-D9C7-AD79B54E5288}"/>
                  </a:ext>
                </a:extLst>
              </p:cNvPr>
              <p:cNvGrpSpPr/>
              <p:nvPr/>
            </p:nvGrpSpPr>
            <p:grpSpPr>
              <a:xfrm>
                <a:off x="465137" y="2105056"/>
                <a:ext cx="3112593" cy="1278285"/>
                <a:chOff x="296726" y="1731910"/>
                <a:chExt cx="3112593" cy="1278285"/>
              </a:xfrm>
            </p:grpSpPr>
            <p:sp>
              <p:nvSpPr>
                <p:cNvPr id="12" name="Rectangle 11">
                  <a:extLst>
                    <a:ext uri="{FF2B5EF4-FFF2-40B4-BE49-F238E27FC236}">
                      <a16:creationId xmlns:a16="http://schemas.microsoft.com/office/drawing/2014/main" id="{BD5C4864-FCC7-4E70-E263-8083EFA75770}"/>
                    </a:ext>
                  </a:extLst>
                </p:cNvPr>
                <p:cNvSpPr/>
                <p:nvPr/>
              </p:nvSpPr>
              <p:spPr bwMode="auto">
                <a:xfrm>
                  <a:off x="296726" y="1731910"/>
                  <a:ext cx="3112593" cy="1278285"/>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13" name="Group 12">
                  <a:extLst>
                    <a:ext uri="{FF2B5EF4-FFF2-40B4-BE49-F238E27FC236}">
                      <a16:creationId xmlns:a16="http://schemas.microsoft.com/office/drawing/2014/main" id="{57DD2EFB-50D8-702A-1D78-24F1FD6080BC}"/>
                    </a:ext>
                  </a:extLst>
                </p:cNvPr>
                <p:cNvGrpSpPr/>
                <p:nvPr/>
              </p:nvGrpSpPr>
              <p:grpSpPr>
                <a:xfrm>
                  <a:off x="465137" y="1858536"/>
                  <a:ext cx="2887273" cy="1027435"/>
                  <a:chOff x="465137" y="1799530"/>
                  <a:chExt cx="2887273" cy="1027435"/>
                </a:xfrm>
              </p:grpSpPr>
              <p:sp>
                <p:nvSpPr>
                  <p:cNvPr id="14" name="Title 16">
                    <a:extLst>
                      <a:ext uri="{FF2B5EF4-FFF2-40B4-BE49-F238E27FC236}">
                        <a16:creationId xmlns:a16="http://schemas.microsoft.com/office/drawing/2014/main" id="{417DF49D-8EE1-7A36-8E08-30E1C93ADFAF}"/>
                      </a:ext>
                    </a:extLst>
                  </p:cNvPr>
                  <p:cNvSpPr txBox="1">
                    <a:spLocks/>
                  </p:cNvSpPr>
                  <p:nvPr/>
                </p:nvSpPr>
                <p:spPr>
                  <a:xfrm>
                    <a:off x="465138" y="1799530"/>
                    <a:ext cx="2887272"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defTabSz="914367">
                      <a:defRPr/>
                    </a:pPr>
                    <a:r>
                      <a:rPr lang="en-US" sz="2745" b="0" spc="-49">
                        <a:solidFill>
                          <a:srgbClr val="FFFFFF"/>
                        </a:solidFill>
                        <a:latin typeface="Segoe UI Semibold" panose="020B0702040204020203" pitchFamily="34" charset="0"/>
                        <a:cs typeface="Segoe UI Semibold" panose="020B0702040204020203" pitchFamily="34" charset="0"/>
                      </a:rPr>
                      <a:t>88%</a:t>
                    </a:r>
                  </a:p>
                </p:txBody>
              </p:sp>
              <p:sp>
                <p:nvSpPr>
                  <p:cNvPr id="15" name="TextBox 14" descr="88% of enterprises using or adopting Kubernetes&#10;">
                    <a:extLst>
                      <a:ext uri="{FF2B5EF4-FFF2-40B4-BE49-F238E27FC236}">
                        <a16:creationId xmlns:a16="http://schemas.microsoft.com/office/drawing/2014/main" id="{E8BEB8EA-B1CA-A23D-18DF-7A7DC68BE001}"/>
                      </a:ext>
                    </a:extLst>
                  </p:cNvPr>
                  <p:cNvSpPr txBox="1"/>
                  <p:nvPr/>
                </p:nvSpPr>
                <p:spPr>
                  <a:xfrm>
                    <a:off x="465137" y="2180634"/>
                    <a:ext cx="2593128" cy="646331"/>
                  </a:xfrm>
                  <a:prstGeom prst="rect">
                    <a:avLst/>
                  </a:prstGeom>
                  <a:noFill/>
                </p:spPr>
                <p:txBody>
                  <a:bodyPr wrap="square" lIns="0" rIns="0" rtlCol="0" anchor="t">
                    <a:spAutoFit/>
                  </a:bodyPr>
                  <a:lstStyle/>
                  <a:p>
                    <a:pPr>
                      <a:lnSpc>
                        <a:spcPct val="90000"/>
                      </a:lnSpc>
                      <a:defRPr/>
                    </a:pPr>
                    <a:r>
                      <a:rPr lang="en-US" sz="1961" dirty="0">
                        <a:solidFill>
                          <a:srgbClr val="FFFFFF"/>
                        </a:solidFill>
                        <a:latin typeface="Segoe UI"/>
                        <a:cs typeface="Segoe UI" panose="020B0502040204020203" pitchFamily="34" charset="0"/>
                      </a:rPr>
                      <a:t>of enterprises using or adopting Kubernetes</a:t>
                    </a:r>
                    <a:endParaRPr lang="en-US" sz="1961" baseline="30000" dirty="0">
                      <a:solidFill>
                        <a:srgbClr val="FFFFFF"/>
                      </a:solidFill>
                      <a:latin typeface="Segoe UI"/>
                      <a:cs typeface="Segoe UI" panose="020B0502040204020203" pitchFamily="34" charset="0"/>
                    </a:endParaRPr>
                  </a:p>
                </p:txBody>
              </p:sp>
            </p:grpSp>
          </p:grpSp>
          <p:cxnSp>
            <p:nvCxnSpPr>
              <p:cNvPr id="11" name="Straight Connector 10">
                <a:extLst>
                  <a:ext uri="{FF2B5EF4-FFF2-40B4-BE49-F238E27FC236}">
                    <a16:creationId xmlns:a16="http://schemas.microsoft.com/office/drawing/2014/main" id="{E3BB49D1-099B-4F6B-2A98-C3EB250B1512}"/>
                  </a:ext>
                </a:extLst>
              </p:cNvPr>
              <p:cNvCxnSpPr>
                <a:cxnSpLocks/>
              </p:cNvCxnSpPr>
              <p:nvPr/>
            </p:nvCxnSpPr>
            <p:spPr>
              <a:xfrm>
                <a:off x="465137" y="2047192"/>
                <a:ext cx="3112593" cy="0"/>
              </a:xfrm>
              <a:prstGeom prst="line">
                <a:avLst/>
              </a:prstGeom>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9" name="Title 16">
              <a:extLst>
                <a:ext uri="{FF2B5EF4-FFF2-40B4-BE49-F238E27FC236}">
                  <a16:creationId xmlns:a16="http://schemas.microsoft.com/office/drawing/2014/main" id="{4D68EDD9-6402-5078-9730-55A1E02FEE8D}"/>
                </a:ext>
              </a:extLst>
            </p:cNvPr>
            <p:cNvSpPr txBox="1">
              <a:spLocks/>
            </p:cNvSpPr>
            <p:nvPr/>
          </p:nvSpPr>
          <p:spPr>
            <a:xfrm>
              <a:off x="465137" y="1452967"/>
              <a:ext cx="3122422" cy="246221"/>
            </a:xfrm>
            <a:prstGeom prst="rect">
              <a:avLst/>
            </a:prstGeom>
          </p:spPr>
          <p:txBody>
            <a:bodyPr vert="horz" wrap="square" lIns="0" tIns="0" rIns="0" bIns="0" numCol="1" rtlCol="0" anchor="t">
              <a:spAutoFit/>
            </a:bodyPr>
            <a:lst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defTabSz="914367">
                <a:defRPr/>
              </a:pPr>
              <a:r>
                <a:rPr lang="en-US" sz="1568" b="0" spc="0" dirty="0">
                  <a:ln>
                    <a:noFill/>
                  </a:ln>
                  <a:solidFill>
                    <a:srgbClr val="2C292A"/>
                  </a:solidFill>
                  <a:latin typeface="Segoe UI Semibold"/>
                </a:rPr>
                <a:t>Microsoft investing in Kubernetes</a:t>
              </a:r>
            </a:p>
          </p:txBody>
        </p:sp>
      </p:grpSp>
      <p:sp>
        <p:nvSpPr>
          <p:cNvPr id="16" name="TextBox 15">
            <a:extLst>
              <a:ext uri="{FF2B5EF4-FFF2-40B4-BE49-F238E27FC236}">
                <a16:creationId xmlns:a16="http://schemas.microsoft.com/office/drawing/2014/main" id="{E9CA4705-3274-DE88-2B94-EEE015AA1C5B}"/>
              </a:ext>
            </a:extLst>
          </p:cNvPr>
          <p:cNvSpPr txBox="1"/>
          <p:nvPr/>
        </p:nvSpPr>
        <p:spPr>
          <a:xfrm>
            <a:off x="273114" y="3766894"/>
            <a:ext cx="2791319" cy="1418114"/>
          </a:xfrm>
          <a:prstGeom prst="rect">
            <a:avLst/>
          </a:prstGeom>
          <a:noFill/>
        </p:spPr>
        <p:txBody>
          <a:bodyPr wrap="square" lIns="0" tIns="0" rIns="0" bIns="0">
            <a:spAutoFit/>
          </a:bodyPr>
          <a:lstStyle/>
          <a:p>
            <a:pPr marL="179277" indent="-179277" defTabSz="448193">
              <a:spcAft>
                <a:spcPts val="588"/>
              </a:spcAft>
              <a:buClr>
                <a:srgbClr val="0078D4"/>
              </a:buClr>
              <a:buFont typeface="Arial" panose="020B0604020202020204" pitchFamily="34" charset="0"/>
              <a:buChar char="•"/>
              <a:defRPr/>
            </a:pPr>
            <a:r>
              <a:rPr lang="en-US" sz="1176" dirty="0">
                <a:solidFill>
                  <a:srgbClr val="0078D4"/>
                </a:solidFill>
                <a:latin typeface="Segoe UI Semibold" panose="020B0702040204020203" pitchFamily="34" charset="0"/>
                <a:cs typeface="Segoe UI Semibold" panose="020B0702040204020203" pitchFamily="34" charset="0"/>
              </a:rPr>
              <a:t>74%</a:t>
            </a:r>
            <a:r>
              <a:rPr lang="en-US" sz="1176" dirty="0">
                <a:solidFill>
                  <a:srgbClr val="2C292A"/>
                </a:solidFill>
                <a:latin typeface="Segoe UI" panose="020B0502040204020203" pitchFamily="34" charset="0"/>
                <a:cs typeface="Segoe UI" panose="020B0502040204020203" pitchFamily="34" charset="0"/>
              </a:rPr>
              <a:t> of enterprises that use Kubernetes are running workloads in production</a:t>
            </a:r>
            <a:endParaRPr lang="en-US" sz="1176" baseline="30000" dirty="0">
              <a:solidFill>
                <a:srgbClr val="2C292A"/>
              </a:solidFill>
              <a:latin typeface="Segoe UI" panose="020B0502040204020203" pitchFamily="34" charset="0"/>
              <a:cs typeface="Segoe UI" panose="020B0502040204020203" pitchFamily="34" charset="0"/>
            </a:endParaRPr>
          </a:p>
          <a:p>
            <a:pPr marL="179277" indent="-179277" defTabSz="448193">
              <a:spcAft>
                <a:spcPts val="588"/>
              </a:spcAft>
              <a:buClr>
                <a:srgbClr val="0078D4"/>
              </a:buClr>
              <a:buFont typeface="Arial" panose="020B0604020202020204" pitchFamily="34" charset="0"/>
              <a:buChar char="•"/>
              <a:defRPr/>
            </a:pPr>
            <a:r>
              <a:rPr lang="en-US" sz="1176" dirty="0">
                <a:solidFill>
                  <a:srgbClr val="0078D4"/>
                </a:solidFill>
                <a:latin typeface="Segoe UI Semibold" panose="020B0702040204020203" pitchFamily="34" charset="0"/>
                <a:cs typeface="Segoe UI Semibold" panose="020B0702040204020203" pitchFamily="34" charset="0"/>
              </a:rPr>
              <a:t>74%</a:t>
            </a:r>
            <a:r>
              <a:rPr lang="en-US" sz="1176" dirty="0">
                <a:solidFill>
                  <a:srgbClr val="2C292A"/>
                </a:solidFill>
                <a:latin typeface="Segoe UI" panose="020B0502040204020203" pitchFamily="34" charset="0"/>
                <a:cs typeface="Segoe UI" panose="020B0502040204020203" pitchFamily="34" charset="0"/>
              </a:rPr>
              <a:t> of survey respondents have a </a:t>
            </a:r>
            <a:r>
              <a:rPr lang="en-US" sz="1176" dirty="0" err="1">
                <a:solidFill>
                  <a:srgbClr val="2C292A"/>
                </a:solidFill>
                <a:latin typeface="Segoe UI" panose="020B0502040204020203" pitchFamily="34" charset="0"/>
                <a:cs typeface="Segoe UI" panose="020B0502040204020203" pitchFamily="34" charset="0"/>
              </a:rPr>
              <a:t>DevSecOps</a:t>
            </a:r>
            <a:r>
              <a:rPr lang="en-US" sz="1176" dirty="0">
                <a:solidFill>
                  <a:srgbClr val="2C292A"/>
                </a:solidFill>
                <a:latin typeface="Segoe UI" panose="020B0502040204020203" pitchFamily="34" charset="0"/>
                <a:cs typeface="Segoe UI" panose="020B0502040204020203" pitchFamily="34" charset="0"/>
              </a:rPr>
              <a:t> initiative underway</a:t>
            </a:r>
          </a:p>
          <a:p>
            <a:pPr marL="179277" indent="-179277" defTabSz="448193">
              <a:spcAft>
                <a:spcPts val="588"/>
              </a:spcAft>
              <a:buClr>
                <a:srgbClr val="0078D4"/>
              </a:buClr>
              <a:buFont typeface="Arial" panose="020B0604020202020204" pitchFamily="34" charset="0"/>
              <a:buChar char="•"/>
              <a:defRPr/>
            </a:pPr>
            <a:r>
              <a:rPr lang="en-US" sz="1176" dirty="0">
                <a:solidFill>
                  <a:srgbClr val="2C292A"/>
                </a:solidFill>
                <a:latin typeface="Segoe UI" panose="020B0502040204020203" pitchFamily="34" charset="0"/>
                <a:cs typeface="Segoe UI" panose="020B0502040204020203" pitchFamily="34" charset="0"/>
              </a:rPr>
              <a:t>At least 20% of enterprises that use Kubernetes leverage </a:t>
            </a:r>
            <a:r>
              <a:rPr lang="en-US" sz="1176" dirty="0">
                <a:solidFill>
                  <a:srgbClr val="0078D4"/>
                </a:solidFill>
                <a:latin typeface="Segoe UI Semibold" panose="020B0702040204020203" pitchFamily="34" charset="0"/>
                <a:cs typeface="Segoe UI Semibold" panose="020B0702040204020203" pitchFamily="34" charset="0"/>
              </a:rPr>
              <a:t>six different open-source security tools</a:t>
            </a:r>
          </a:p>
        </p:txBody>
      </p:sp>
      <p:grpSp>
        <p:nvGrpSpPr>
          <p:cNvPr id="17" name="Group 16" descr="Kubernetes logo">
            <a:extLst>
              <a:ext uri="{FF2B5EF4-FFF2-40B4-BE49-F238E27FC236}">
                <a16:creationId xmlns:a16="http://schemas.microsoft.com/office/drawing/2014/main" id="{24642465-44F7-EE93-BF95-A543019B6F15}"/>
              </a:ext>
            </a:extLst>
          </p:cNvPr>
          <p:cNvGrpSpPr/>
          <p:nvPr/>
        </p:nvGrpSpPr>
        <p:grpSpPr>
          <a:xfrm>
            <a:off x="4038600" y="2936820"/>
            <a:ext cx="1977308" cy="1977308"/>
            <a:chOff x="5209663" y="1859808"/>
            <a:chExt cx="2016957" cy="2016957"/>
          </a:xfrm>
        </p:grpSpPr>
        <p:sp>
          <p:nvSpPr>
            <p:cNvPr id="18" name="Oval 17">
              <a:extLst>
                <a:ext uri="{FF2B5EF4-FFF2-40B4-BE49-F238E27FC236}">
                  <a16:creationId xmlns:a16="http://schemas.microsoft.com/office/drawing/2014/main" id="{E5A939DD-E98A-714C-9154-39E557B2214C}"/>
                </a:ext>
              </a:extLst>
            </p:cNvPr>
            <p:cNvSpPr/>
            <p:nvPr/>
          </p:nvSpPr>
          <p:spPr bwMode="auto">
            <a:xfrm>
              <a:off x="5209663" y="1859808"/>
              <a:ext cx="2016957" cy="2016957"/>
            </a:xfrm>
            <a:prstGeom prst="ellipse">
              <a:avLst/>
            </a:prstGeom>
            <a:noFill/>
            <a:ln w="12700">
              <a:solidFill>
                <a:srgbClr val="75757A"/>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err="1">
                <a:solidFill>
                  <a:srgbClr val="505050"/>
                </a:solidFill>
                <a:latin typeface="Segoe UI"/>
                <a:cs typeface="Segoe UI" pitchFamily="34" charset="0"/>
              </a:endParaRPr>
            </a:p>
          </p:txBody>
        </p:sp>
        <p:grpSp>
          <p:nvGrpSpPr>
            <p:cNvPr id="19" name="Graphic 13">
              <a:extLst>
                <a:ext uri="{FF2B5EF4-FFF2-40B4-BE49-F238E27FC236}">
                  <a16:creationId xmlns:a16="http://schemas.microsoft.com/office/drawing/2014/main" id="{8B403B9B-60B8-FAA7-C849-876E165A3A43}"/>
                </a:ext>
              </a:extLst>
            </p:cNvPr>
            <p:cNvGrpSpPr/>
            <p:nvPr/>
          </p:nvGrpSpPr>
          <p:grpSpPr>
            <a:xfrm>
              <a:off x="5637399" y="2296514"/>
              <a:ext cx="1161484" cy="1143545"/>
              <a:chOff x="4862512" y="2214562"/>
              <a:chExt cx="2466975" cy="2428875"/>
            </a:xfrm>
          </p:grpSpPr>
          <p:sp>
            <p:nvSpPr>
              <p:cNvPr id="20" name="Freeform: Shape 19">
                <a:extLst>
                  <a:ext uri="{FF2B5EF4-FFF2-40B4-BE49-F238E27FC236}">
                    <a16:creationId xmlns:a16="http://schemas.microsoft.com/office/drawing/2014/main" id="{BE080363-D8C7-6805-AD7F-6258A2E29E2F}"/>
                  </a:ext>
                </a:extLst>
              </p:cNvPr>
              <p:cNvSpPr/>
              <p:nvPr/>
            </p:nvSpPr>
            <p:spPr>
              <a:xfrm>
                <a:off x="4854743" y="2207524"/>
                <a:ext cx="2476500" cy="2438400"/>
              </a:xfrm>
              <a:custGeom>
                <a:avLst/>
                <a:gdLst>
                  <a:gd name="connsiteX0" fmla="*/ 1165056 w 2476500"/>
                  <a:gd name="connsiteY0" fmla="*/ 27993 h 2438400"/>
                  <a:gd name="connsiteX1" fmla="*/ 347811 w 2476500"/>
                  <a:gd name="connsiteY1" fmla="*/ 408993 h 2438400"/>
                  <a:gd name="connsiteX2" fmla="*/ 224939 w 2476500"/>
                  <a:gd name="connsiteY2" fmla="*/ 558535 h 2438400"/>
                  <a:gd name="connsiteX3" fmla="*/ 13484 w 2476500"/>
                  <a:gd name="connsiteY3" fmla="*/ 1434835 h 2438400"/>
                  <a:gd name="connsiteX4" fmla="*/ 54441 w 2476500"/>
                  <a:gd name="connsiteY4" fmla="*/ 1624383 h 2438400"/>
                  <a:gd name="connsiteX5" fmla="*/ 607844 w 2476500"/>
                  <a:gd name="connsiteY5" fmla="*/ 2334948 h 2438400"/>
                  <a:gd name="connsiteX6" fmla="*/ 781199 w 2476500"/>
                  <a:gd name="connsiteY6" fmla="*/ 2420673 h 2438400"/>
                  <a:gd name="connsiteX7" fmla="*/ 1682264 w 2476500"/>
                  <a:gd name="connsiteY7" fmla="*/ 2432103 h 2438400"/>
                  <a:gd name="connsiteX8" fmla="*/ 1857524 w 2476500"/>
                  <a:gd name="connsiteY8" fmla="*/ 2350188 h 2438400"/>
                  <a:gd name="connsiteX9" fmla="*/ 2428071 w 2476500"/>
                  <a:gd name="connsiteY9" fmla="*/ 1652958 h 2438400"/>
                  <a:gd name="connsiteX10" fmla="*/ 2473791 w 2476500"/>
                  <a:gd name="connsiteY10" fmla="*/ 1465315 h 2438400"/>
                  <a:gd name="connsiteX11" fmla="*/ 2284244 w 2476500"/>
                  <a:gd name="connsiteY11" fmla="*/ 584253 h 2438400"/>
                  <a:gd name="connsiteX12" fmla="*/ 2165181 w 2476500"/>
                  <a:gd name="connsiteY12" fmla="*/ 431853 h 2438400"/>
                  <a:gd name="connsiteX13" fmla="*/ 1358414 w 2476500"/>
                  <a:gd name="connsiteY13" fmla="*/ 29898 h 2438400"/>
                  <a:gd name="connsiteX14" fmla="*/ 1165056 w 2476500"/>
                  <a:gd name="connsiteY14" fmla="*/ 27993 h 243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76500" h="2438400">
                    <a:moveTo>
                      <a:pt x="1165056" y="27993"/>
                    </a:moveTo>
                    <a:lnTo>
                      <a:pt x="347811" y="408993"/>
                    </a:lnTo>
                    <a:cubicBezTo>
                      <a:pt x="285899" y="437568"/>
                      <a:pt x="241131" y="492813"/>
                      <a:pt x="224939" y="558535"/>
                    </a:cubicBezTo>
                    <a:lnTo>
                      <a:pt x="13484" y="1434835"/>
                    </a:lnTo>
                    <a:cubicBezTo>
                      <a:pt x="-2709" y="1500558"/>
                      <a:pt x="12531" y="1570090"/>
                      <a:pt x="54441" y="1624383"/>
                    </a:cubicBezTo>
                    <a:lnTo>
                      <a:pt x="607844" y="2334948"/>
                    </a:lnTo>
                    <a:cubicBezTo>
                      <a:pt x="649754" y="2388288"/>
                      <a:pt x="713571" y="2419721"/>
                      <a:pt x="781199" y="2420673"/>
                    </a:cubicBezTo>
                    <a:lnTo>
                      <a:pt x="1682264" y="2432103"/>
                    </a:lnTo>
                    <a:cubicBezTo>
                      <a:pt x="1749891" y="2433055"/>
                      <a:pt x="1814661" y="2402575"/>
                      <a:pt x="1857524" y="2350188"/>
                    </a:cubicBezTo>
                    <a:lnTo>
                      <a:pt x="2428071" y="1652958"/>
                    </a:lnTo>
                    <a:cubicBezTo>
                      <a:pt x="2470934" y="1600570"/>
                      <a:pt x="2488079" y="1531038"/>
                      <a:pt x="2473791" y="1465315"/>
                    </a:cubicBezTo>
                    <a:lnTo>
                      <a:pt x="2284244" y="584253"/>
                    </a:lnTo>
                    <a:cubicBezTo>
                      <a:pt x="2269956" y="517578"/>
                      <a:pt x="2226141" y="461380"/>
                      <a:pt x="2165181" y="431853"/>
                    </a:cubicBezTo>
                    <a:lnTo>
                      <a:pt x="1358414" y="29898"/>
                    </a:lnTo>
                    <a:cubicBezTo>
                      <a:pt x="1297454" y="370"/>
                      <a:pt x="1226016" y="-582"/>
                      <a:pt x="1165056" y="27993"/>
                    </a:cubicBezTo>
                    <a:close/>
                  </a:path>
                </a:pathLst>
              </a:custGeom>
              <a:solidFill>
                <a:srgbClr val="0078D4"/>
              </a:solidFill>
              <a:ln w="9525" cap="flat">
                <a:noFill/>
                <a:prstDash val="solid"/>
                <a:miter/>
              </a:ln>
            </p:spPr>
            <p:txBody>
              <a:bodyPr rtlCol="0" anchor="ctr"/>
              <a:lstStyle/>
              <a:p>
                <a:pPr defTabSz="896386">
                  <a:defRPr/>
                </a:pPr>
                <a:endParaRPr lang="en-IN">
                  <a:solidFill>
                    <a:srgbClr val="505050"/>
                  </a:solidFill>
                  <a:latin typeface="Segoe UI"/>
                </a:endParaRPr>
              </a:p>
            </p:txBody>
          </p:sp>
          <p:sp>
            <p:nvSpPr>
              <p:cNvPr id="21" name="Freeform: Shape 20">
                <a:extLst>
                  <a:ext uri="{FF2B5EF4-FFF2-40B4-BE49-F238E27FC236}">
                    <a16:creationId xmlns:a16="http://schemas.microsoft.com/office/drawing/2014/main" id="{E50FF778-3F46-A5D2-632A-7F252C6AA74E}"/>
                  </a:ext>
                </a:extLst>
              </p:cNvPr>
              <p:cNvSpPr/>
              <p:nvPr/>
            </p:nvSpPr>
            <p:spPr>
              <a:xfrm>
                <a:off x="5566886" y="2933223"/>
                <a:ext cx="1066800" cy="1047750"/>
              </a:xfrm>
              <a:custGeom>
                <a:avLst/>
                <a:gdLst>
                  <a:gd name="connsiteX0" fmla="*/ 992981 w 1066800"/>
                  <a:gd name="connsiteY0" fmla="*/ 270986 h 1047750"/>
                  <a:gd name="connsiteX1" fmla="*/ 903446 w 1066800"/>
                  <a:gd name="connsiteY1" fmla="*/ 155734 h 1047750"/>
                  <a:gd name="connsiteX2" fmla="*/ 692944 w 1066800"/>
                  <a:gd name="connsiteY2" fmla="*/ 298609 h 1047750"/>
                  <a:gd name="connsiteX3" fmla="*/ 630079 w 1066800"/>
                  <a:gd name="connsiteY3" fmla="*/ 268129 h 1047750"/>
                  <a:gd name="connsiteX4" fmla="*/ 613886 w 1066800"/>
                  <a:gd name="connsiteY4" fmla="*/ 12859 h 1047750"/>
                  <a:gd name="connsiteX5" fmla="*/ 534829 w 1066800"/>
                  <a:gd name="connsiteY5" fmla="*/ 7144 h 1047750"/>
                  <a:gd name="connsiteX6" fmla="*/ 465296 w 1066800"/>
                  <a:gd name="connsiteY6" fmla="*/ 11906 h 1047750"/>
                  <a:gd name="connsiteX7" fmla="*/ 447199 w 1066800"/>
                  <a:gd name="connsiteY7" fmla="*/ 268129 h 1047750"/>
                  <a:gd name="connsiteX8" fmla="*/ 384334 w 1066800"/>
                  <a:gd name="connsiteY8" fmla="*/ 298609 h 1047750"/>
                  <a:gd name="connsiteX9" fmla="*/ 170974 w 1066800"/>
                  <a:gd name="connsiteY9" fmla="*/ 150971 h 1047750"/>
                  <a:gd name="connsiteX10" fmla="*/ 81439 w 1066800"/>
                  <a:gd name="connsiteY10" fmla="*/ 262414 h 1047750"/>
                  <a:gd name="connsiteX11" fmla="*/ 265271 w 1066800"/>
                  <a:gd name="connsiteY11" fmla="*/ 447199 h 1047750"/>
                  <a:gd name="connsiteX12" fmla="*/ 247174 w 1066800"/>
                  <a:gd name="connsiteY12" fmla="*/ 514826 h 1047750"/>
                  <a:gd name="connsiteX13" fmla="*/ 7144 w 1066800"/>
                  <a:gd name="connsiteY13" fmla="*/ 576739 h 1047750"/>
                  <a:gd name="connsiteX14" fmla="*/ 44291 w 1066800"/>
                  <a:gd name="connsiteY14" fmla="*/ 734854 h 1047750"/>
                  <a:gd name="connsiteX15" fmla="*/ 296704 w 1066800"/>
                  <a:gd name="connsiteY15" fmla="*/ 693896 h 1047750"/>
                  <a:gd name="connsiteX16" fmla="*/ 340519 w 1066800"/>
                  <a:gd name="connsiteY16" fmla="*/ 748189 h 1047750"/>
                  <a:gd name="connsiteX17" fmla="*/ 250031 w 1066800"/>
                  <a:gd name="connsiteY17" fmla="*/ 981551 h 1047750"/>
                  <a:gd name="connsiteX18" fmla="*/ 390049 w 1066800"/>
                  <a:gd name="connsiteY18" fmla="*/ 1044416 h 1047750"/>
                  <a:gd name="connsiteX19" fmla="*/ 500539 w 1066800"/>
                  <a:gd name="connsiteY19" fmla="*/ 831056 h 1047750"/>
                  <a:gd name="connsiteX20" fmla="*/ 571024 w 1066800"/>
                  <a:gd name="connsiteY20" fmla="*/ 828199 h 1047750"/>
                  <a:gd name="connsiteX21" fmla="*/ 701516 w 1066800"/>
                  <a:gd name="connsiteY21" fmla="*/ 1036796 h 1047750"/>
                  <a:gd name="connsiteX22" fmla="*/ 832961 w 1066800"/>
                  <a:gd name="connsiteY22" fmla="*/ 972026 h 1047750"/>
                  <a:gd name="connsiteX23" fmla="*/ 738664 w 1066800"/>
                  <a:gd name="connsiteY23" fmla="*/ 748189 h 1047750"/>
                  <a:gd name="connsiteX24" fmla="*/ 781526 w 1066800"/>
                  <a:gd name="connsiteY24" fmla="*/ 692944 h 1047750"/>
                  <a:gd name="connsiteX25" fmla="*/ 1028224 w 1066800"/>
                  <a:gd name="connsiteY25" fmla="*/ 726281 h 1047750"/>
                  <a:gd name="connsiteX26" fmla="*/ 1061561 w 1066800"/>
                  <a:gd name="connsiteY26" fmla="*/ 576739 h 1047750"/>
                  <a:gd name="connsiteX27" fmla="*/ 831056 w 1066800"/>
                  <a:gd name="connsiteY27" fmla="*/ 511969 h 1047750"/>
                  <a:gd name="connsiteX28" fmla="*/ 813911 w 1066800"/>
                  <a:gd name="connsiteY28" fmla="*/ 444341 h 1047750"/>
                  <a:gd name="connsiteX29" fmla="*/ 992981 w 1066800"/>
                  <a:gd name="connsiteY29" fmla="*/ 270986 h 1047750"/>
                  <a:gd name="connsiteX30" fmla="*/ 605314 w 1066800"/>
                  <a:gd name="connsiteY30" fmla="*/ 586264 h 1047750"/>
                  <a:gd name="connsiteX31" fmla="*/ 535781 w 1066800"/>
                  <a:gd name="connsiteY31" fmla="*/ 619601 h 1047750"/>
                  <a:gd name="connsiteX32" fmla="*/ 467201 w 1066800"/>
                  <a:gd name="connsiteY32" fmla="*/ 586264 h 1047750"/>
                  <a:gd name="connsiteX33" fmla="*/ 450056 w 1066800"/>
                  <a:gd name="connsiteY33" fmla="*/ 511016 h 1047750"/>
                  <a:gd name="connsiteX34" fmla="*/ 497681 w 1066800"/>
                  <a:gd name="connsiteY34" fmla="*/ 451009 h 1047750"/>
                  <a:gd name="connsiteX35" fmla="*/ 574834 w 1066800"/>
                  <a:gd name="connsiteY35" fmla="*/ 451009 h 1047750"/>
                  <a:gd name="connsiteX36" fmla="*/ 622459 w 1066800"/>
                  <a:gd name="connsiteY36" fmla="*/ 511016 h 1047750"/>
                  <a:gd name="connsiteX37" fmla="*/ 605314 w 1066800"/>
                  <a:gd name="connsiteY37" fmla="*/ 586264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66800" h="1047750">
                    <a:moveTo>
                      <a:pt x="992981" y="270986"/>
                    </a:moveTo>
                    <a:cubicBezTo>
                      <a:pt x="968216" y="228124"/>
                      <a:pt x="938689" y="190024"/>
                      <a:pt x="903446" y="155734"/>
                    </a:cubicBezTo>
                    <a:lnTo>
                      <a:pt x="692944" y="298609"/>
                    </a:lnTo>
                    <a:cubicBezTo>
                      <a:pt x="667226" y="315754"/>
                      <a:pt x="631984" y="298609"/>
                      <a:pt x="630079" y="268129"/>
                    </a:cubicBezTo>
                    <a:lnTo>
                      <a:pt x="613886" y="12859"/>
                    </a:lnTo>
                    <a:cubicBezTo>
                      <a:pt x="588169" y="9049"/>
                      <a:pt x="561499" y="7144"/>
                      <a:pt x="534829" y="7144"/>
                    </a:cubicBezTo>
                    <a:cubicBezTo>
                      <a:pt x="511016" y="7144"/>
                      <a:pt x="488156" y="9049"/>
                      <a:pt x="465296" y="11906"/>
                    </a:cubicBezTo>
                    <a:lnTo>
                      <a:pt x="447199" y="268129"/>
                    </a:lnTo>
                    <a:cubicBezTo>
                      <a:pt x="445294" y="299561"/>
                      <a:pt x="410051" y="315754"/>
                      <a:pt x="384334" y="298609"/>
                    </a:cubicBezTo>
                    <a:lnTo>
                      <a:pt x="170974" y="150971"/>
                    </a:lnTo>
                    <a:cubicBezTo>
                      <a:pt x="136684" y="183356"/>
                      <a:pt x="106204" y="220504"/>
                      <a:pt x="81439" y="262414"/>
                    </a:cubicBezTo>
                    <a:lnTo>
                      <a:pt x="265271" y="447199"/>
                    </a:lnTo>
                    <a:cubicBezTo>
                      <a:pt x="287179" y="469106"/>
                      <a:pt x="276701" y="507206"/>
                      <a:pt x="247174" y="514826"/>
                    </a:cubicBezTo>
                    <a:lnTo>
                      <a:pt x="7144" y="576739"/>
                    </a:lnTo>
                    <a:cubicBezTo>
                      <a:pt x="10954" y="631984"/>
                      <a:pt x="24289" y="685324"/>
                      <a:pt x="44291" y="734854"/>
                    </a:cubicBezTo>
                    <a:lnTo>
                      <a:pt x="296704" y="693896"/>
                    </a:lnTo>
                    <a:cubicBezTo>
                      <a:pt x="327184" y="689134"/>
                      <a:pt x="351949" y="719614"/>
                      <a:pt x="340519" y="748189"/>
                    </a:cubicBezTo>
                    <a:lnTo>
                      <a:pt x="250031" y="981551"/>
                    </a:lnTo>
                    <a:cubicBezTo>
                      <a:pt x="292894" y="1009174"/>
                      <a:pt x="339566" y="1030129"/>
                      <a:pt x="390049" y="1044416"/>
                    </a:cubicBezTo>
                    <a:lnTo>
                      <a:pt x="500539" y="831056"/>
                    </a:lnTo>
                    <a:cubicBezTo>
                      <a:pt x="514826" y="803434"/>
                      <a:pt x="553879" y="801529"/>
                      <a:pt x="571024" y="828199"/>
                    </a:cubicBezTo>
                    <a:lnTo>
                      <a:pt x="701516" y="1036796"/>
                    </a:lnTo>
                    <a:cubicBezTo>
                      <a:pt x="748189" y="1021556"/>
                      <a:pt x="792956" y="998696"/>
                      <a:pt x="832961" y="972026"/>
                    </a:cubicBezTo>
                    <a:lnTo>
                      <a:pt x="738664" y="748189"/>
                    </a:lnTo>
                    <a:cubicBezTo>
                      <a:pt x="726281" y="719614"/>
                      <a:pt x="750094" y="688181"/>
                      <a:pt x="781526" y="692944"/>
                    </a:cubicBezTo>
                    <a:lnTo>
                      <a:pt x="1028224" y="726281"/>
                    </a:lnTo>
                    <a:cubicBezTo>
                      <a:pt x="1046321" y="679609"/>
                      <a:pt x="1057751" y="629126"/>
                      <a:pt x="1061561" y="576739"/>
                    </a:cubicBezTo>
                    <a:lnTo>
                      <a:pt x="831056" y="511969"/>
                    </a:lnTo>
                    <a:cubicBezTo>
                      <a:pt x="800576" y="503396"/>
                      <a:pt x="791051" y="465296"/>
                      <a:pt x="813911" y="444341"/>
                    </a:cubicBezTo>
                    <a:lnTo>
                      <a:pt x="992981" y="270986"/>
                    </a:lnTo>
                    <a:close/>
                    <a:moveTo>
                      <a:pt x="605314" y="586264"/>
                    </a:moveTo>
                    <a:lnTo>
                      <a:pt x="535781" y="619601"/>
                    </a:lnTo>
                    <a:lnTo>
                      <a:pt x="467201" y="586264"/>
                    </a:lnTo>
                    <a:lnTo>
                      <a:pt x="450056" y="511016"/>
                    </a:lnTo>
                    <a:lnTo>
                      <a:pt x="497681" y="451009"/>
                    </a:lnTo>
                    <a:lnTo>
                      <a:pt x="574834" y="451009"/>
                    </a:lnTo>
                    <a:lnTo>
                      <a:pt x="622459" y="511016"/>
                    </a:lnTo>
                    <a:lnTo>
                      <a:pt x="605314" y="586264"/>
                    </a:lnTo>
                    <a:close/>
                  </a:path>
                </a:pathLst>
              </a:custGeom>
              <a:solidFill>
                <a:srgbClr val="FFFFFF"/>
              </a:solidFill>
              <a:ln w="9525" cap="flat">
                <a:noFill/>
                <a:prstDash val="solid"/>
                <a:miter/>
              </a:ln>
            </p:spPr>
            <p:txBody>
              <a:bodyPr rtlCol="0" anchor="ctr"/>
              <a:lstStyle/>
              <a:p>
                <a:pPr defTabSz="896386">
                  <a:defRPr/>
                </a:pPr>
                <a:endParaRPr lang="en-IN">
                  <a:solidFill>
                    <a:srgbClr val="505050"/>
                  </a:solidFill>
                  <a:latin typeface="Segoe UI"/>
                </a:endParaRPr>
              </a:p>
            </p:txBody>
          </p:sp>
          <p:sp>
            <p:nvSpPr>
              <p:cNvPr id="22" name="Freeform: Shape 21">
                <a:extLst>
                  <a:ext uri="{FF2B5EF4-FFF2-40B4-BE49-F238E27FC236}">
                    <a16:creationId xmlns:a16="http://schemas.microsoft.com/office/drawing/2014/main" id="{59E56839-C0E4-391B-E8AA-EC8505274A9C}"/>
                  </a:ext>
                </a:extLst>
              </p:cNvPr>
              <p:cNvSpPr/>
              <p:nvPr/>
            </p:nvSpPr>
            <p:spPr>
              <a:xfrm>
                <a:off x="5456396" y="3655218"/>
                <a:ext cx="9525" cy="9525"/>
              </a:xfrm>
              <a:custGeom>
                <a:avLst/>
                <a:gdLst>
                  <a:gd name="connsiteX0" fmla="*/ 10001 w 9525"/>
                  <a:gd name="connsiteY0" fmla="*/ 7144 h 9525"/>
                  <a:gd name="connsiteX1" fmla="*/ 7144 w 9525"/>
                  <a:gd name="connsiteY1" fmla="*/ 8096 h 9525"/>
                  <a:gd name="connsiteX2" fmla="*/ 7144 w 9525"/>
                  <a:gd name="connsiteY2" fmla="*/ 9049 h 9525"/>
                </a:gdLst>
                <a:ahLst/>
                <a:cxnLst>
                  <a:cxn ang="0">
                    <a:pos x="connsiteX0" y="connsiteY0"/>
                  </a:cxn>
                  <a:cxn ang="0">
                    <a:pos x="connsiteX1" y="connsiteY1"/>
                  </a:cxn>
                  <a:cxn ang="0">
                    <a:pos x="connsiteX2" y="connsiteY2"/>
                  </a:cxn>
                </a:cxnLst>
                <a:rect l="l" t="t" r="r" b="b"/>
                <a:pathLst>
                  <a:path w="9525" h="9525">
                    <a:moveTo>
                      <a:pt x="10001" y="7144"/>
                    </a:moveTo>
                    <a:lnTo>
                      <a:pt x="7144" y="8096"/>
                    </a:lnTo>
                    <a:lnTo>
                      <a:pt x="7144" y="9049"/>
                    </a:lnTo>
                    <a:close/>
                  </a:path>
                </a:pathLst>
              </a:custGeom>
              <a:solidFill>
                <a:srgbClr val="FFFFFF"/>
              </a:solidFill>
              <a:ln w="9525" cap="flat">
                <a:noFill/>
                <a:prstDash val="solid"/>
                <a:miter/>
              </a:ln>
            </p:spPr>
            <p:txBody>
              <a:bodyPr rtlCol="0" anchor="ctr"/>
              <a:lstStyle/>
              <a:p>
                <a:pPr defTabSz="896386">
                  <a:defRPr/>
                </a:pPr>
                <a:endParaRPr lang="en-IN">
                  <a:solidFill>
                    <a:srgbClr val="505050"/>
                  </a:solidFill>
                  <a:latin typeface="Segoe UI"/>
                </a:endParaRPr>
              </a:p>
            </p:txBody>
          </p:sp>
          <p:sp>
            <p:nvSpPr>
              <p:cNvPr id="23" name="Freeform: Shape 22">
                <a:extLst>
                  <a:ext uri="{FF2B5EF4-FFF2-40B4-BE49-F238E27FC236}">
                    <a16:creationId xmlns:a16="http://schemas.microsoft.com/office/drawing/2014/main" id="{2025B801-0AA4-14AC-C804-3156035BDF5A}"/>
                  </a:ext>
                </a:extLst>
              </p:cNvPr>
              <p:cNvSpPr/>
              <p:nvPr/>
            </p:nvSpPr>
            <p:spPr>
              <a:xfrm>
                <a:off x="5186165" y="2525553"/>
                <a:ext cx="1828800" cy="1790700"/>
              </a:xfrm>
              <a:custGeom>
                <a:avLst/>
                <a:gdLst>
                  <a:gd name="connsiteX0" fmla="*/ 1780420 w 1828800"/>
                  <a:gd name="connsiteY0" fmla="*/ 1078706 h 1790700"/>
                  <a:gd name="connsiteX1" fmla="*/ 1618495 w 1828800"/>
                  <a:gd name="connsiteY1" fmla="*/ 1055846 h 1790700"/>
                  <a:gd name="connsiteX2" fmla="*/ 1604207 w 1828800"/>
                  <a:gd name="connsiteY2" fmla="*/ 1036796 h 1790700"/>
                  <a:gd name="connsiteX3" fmla="*/ 1580395 w 1828800"/>
                  <a:gd name="connsiteY3" fmla="*/ 1031081 h 1790700"/>
                  <a:gd name="connsiteX4" fmla="*/ 1586110 w 1828800"/>
                  <a:gd name="connsiteY4" fmla="*/ 941546 h 1790700"/>
                  <a:gd name="connsiteX5" fmla="*/ 1466095 w 1828800"/>
                  <a:gd name="connsiteY5" fmla="*/ 561499 h 1790700"/>
                  <a:gd name="connsiteX6" fmla="*/ 1485145 w 1828800"/>
                  <a:gd name="connsiteY6" fmla="*/ 546259 h 1790700"/>
                  <a:gd name="connsiteX7" fmla="*/ 1489907 w 1828800"/>
                  <a:gd name="connsiteY7" fmla="*/ 523399 h 1790700"/>
                  <a:gd name="connsiteX8" fmla="*/ 1626115 w 1828800"/>
                  <a:gd name="connsiteY8" fmla="*/ 432911 h 1790700"/>
                  <a:gd name="connsiteX9" fmla="*/ 1643260 w 1828800"/>
                  <a:gd name="connsiteY9" fmla="*/ 357664 h 1790700"/>
                  <a:gd name="connsiteX10" fmla="*/ 1566107 w 1828800"/>
                  <a:gd name="connsiteY10" fmla="*/ 354806 h 1790700"/>
                  <a:gd name="connsiteX11" fmla="*/ 1444187 w 1828800"/>
                  <a:gd name="connsiteY11" fmla="*/ 460534 h 1790700"/>
                  <a:gd name="connsiteX12" fmla="*/ 1420375 w 1828800"/>
                  <a:gd name="connsiteY12" fmla="*/ 458629 h 1790700"/>
                  <a:gd name="connsiteX13" fmla="*/ 1399420 w 1828800"/>
                  <a:gd name="connsiteY13" fmla="*/ 472916 h 1790700"/>
                  <a:gd name="connsiteX14" fmla="*/ 1398467 w 1828800"/>
                  <a:gd name="connsiteY14" fmla="*/ 475774 h 1790700"/>
                  <a:gd name="connsiteX15" fmla="*/ 970794 w 1828800"/>
                  <a:gd name="connsiteY15" fmla="*/ 276701 h 1790700"/>
                  <a:gd name="connsiteX16" fmla="*/ 973652 w 1828800"/>
                  <a:gd name="connsiteY16" fmla="*/ 273844 h 1790700"/>
                  <a:gd name="connsiteX17" fmla="*/ 972700 w 1828800"/>
                  <a:gd name="connsiteY17" fmla="*/ 248126 h 1790700"/>
                  <a:gd name="connsiteX18" fmla="*/ 957460 w 1828800"/>
                  <a:gd name="connsiteY18" fmla="*/ 230029 h 1790700"/>
                  <a:gd name="connsiteX19" fmla="*/ 967937 w 1828800"/>
                  <a:gd name="connsiteY19" fmla="*/ 67151 h 1790700"/>
                  <a:gd name="connsiteX20" fmla="*/ 918407 w 1828800"/>
                  <a:gd name="connsiteY20" fmla="*/ 7144 h 1790700"/>
                  <a:gd name="connsiteX21" fmla="*/ 868877 w 1828800"/>
                  <a:gd name="connsiteY21" fmla="*/ 67151 h 1790700"/>
                  <a:gd name="connsiteX22" fmla="*/ 879355 w 1828800"/>
                  <a:gd name="connsiteY22" fmla="*/ 230029 h 1790700"/>
                  <a:gd name="connsiteX23" fmla="*/ 864115 w 1828800"/>
                  <a:gd name="connsiteY23" fmla="*/ 248126 h 1790700"/>
                  <a:gd name="connsiteX24" fmla="*/ 863162 w 1828800"/>
                  <a:gd name="connsiteY24" fmla="*/ 273844 h 1790700"/>
                  <a:gd name="connsiteX25" fmla="*/ 865067 w 1828800"/>
                  <a:gd name="connsiteY25" fmla="*/ 276701 h 1790700"/>
                  <a:gd name="connsiteX26" fmla="*/ 433585 w 1828800"/>
                  <a:gd name="connsiteY26" fmla="*/ 488156 h 1790700"/>
                  <a:gd name="connsiteX27" fmla="*/ 436442 w 1828800"/>
                  <a:gd name="connsiteY27" fmla="*/ 477679 h 1790700"/>
                  <a:gd name="connsiteX28" fmla="*/ 415487 w 1828800"/>
                  <a:gd name="connsiteY28" fmla="*/ 462439 h 1790700"/>
                  <a:gd name="connsiteX29" fmla="*/ 390722 w 1828800"/>
                  <a:gd name="connsiteY29" fmla="*/ 464344 h 1790700"/>
                  <a:gd name="connsiteX30" fmla="*/ 271660 w 1828800"/>
                  <a:gd name="connsiteY30" fmla="*/ 352901 h 1790700"/>
                  <a:gd name="connsiteX31" fmla="*/ 194507 w 1828800"/>
                  <a:gd name="connsiteY31" fmla="*/ 353854 h 1790700"/>
                  <a:gd name="connsiteX32" fmla="*/ 209747 w 1828800"/>
                  <a:gd name="connsiteY32" fmla="*/ 430054 h 1790700"/>
                  <a:gd name="connsiteX33" fmla="*/ 343097 w 1828800"/>
                  <a:gd name="connsiteY33" fmla="*/ 525304 h 1790700"/>
                  <a:gd name="connsiteX34" fmla="*/ 346907 w 1828800"/>
                  <a:gd name="connsiteY34" fmla="*/ 548164 h 1790700"/>
                  <a:gd name="connsiteX35" fmla="*/ 365957 w 1828800"/>
                  <a:gd name="connsiteY35" fmla="*/ 565309 h 1790700"/>
                  <a:gd name="connsiteX36" fmla="*/ 372625 w 1828800"/>
                  <a:gd name="connsiteY36" fmla="*/ 567214 h 1790700"/>
                  <a:gd name="connsiteX37" fmla="*/ 256420 w 1828800"/>
                  <a:gd name="connsiteY37" fmla="*/ 942499 h 1790700"/>
                  <a:gd name="connsiteX38" fmla="*/ 263087 w 1828800"/>
                  <a:gd name="connsiteY38" fmla="*/ 1036796 h 1790700"/>
                  <a:gd name="connsiteX39" fmla="*/ 257372 w 1828800"/>
                  <a:gd name="connsiteY39" fmla="*/ 1030129 h 1790700"/>
                  <a:gd name="connsiteX40" fmla="*/ 232607 w 1828800"/>
                  <a:gd name="connsiteY40" fmla="*/ 1036796 h 1790700"/>
                  <a:gd name="connsiteX41" fmla="*/ 218320 w 1828800"/>
                  <a:gd name="connsiteY41" fmla="*/ 1055846 h 1790700"/>
                  <a:gd name="connsiteX42" fmla="*/ 56395 w 1828800"/>
                  <a:gd name="connsiteY42" fmla="*/ 1078706 h 1790700"/>
                  <a:gd name="connsiteX43" fmla="*/ 7817 w 1828800"/>
                  <a:gd name="connsiteY43" fmla="*/ 1139666 h 1790700"/>
                  <a:gd name="connsiteX44" fmla="*/ 76397 w 1828800"/>
                  <a:gd name="connsiteY44" fmla="*/ 1175861 h 1790700"/>
                  <a:gd name="connsiteX45" fmla="*/ 233560 w 1828800"/>
                  <a:gd name="connsiteY45" fmla="*/ 1132046 h 1790700"/>
                  <a:gd name="connsiteX46" fmla="*/ 254515 w 1828800"/>
                  <a:gd name="connsiteY46" fmla="*/ 1143476 h 1790700"/>
                  <a:gd name="connsiteX47" fmla="*/ 277375 w 1828800"/>
                  <a:gd name="connsiteY47" fmla="*/ 1139666 h 1790700"/>
                  <a:gd name="connsiteX48" fmla="*/ 282137 w 1828800"/>
                  <a:gd name="connsiteY48" fmla="*/ 1130141 h 1790700"/>
                  <a:gd name="connsiteX49" fmla="*/ 579317 w 1828800"/>
                  <a:gd name="connsiteY49" fmla="*/ 1514951 h 1790700"/>
                  <a:gd name="connsiteX50" fmla="*/ 570745 w 1828800"/>
                  <a:gd name="connsiteY50" fmla="*/ 1535906 h 1790700"/>
                  <a:gd name="connsiteX51" fmla="*/ 577412 w 1828800"/>
                  <a:gd name="connsiteY51" fmla="*/ 1558766 h 1790700"/>
                  <a:gd name="connsiteX52" fmla="*/ 497402 w 1828800"/>
                  <a:gd name="connsiteY52" fmla="*/ 1701641 h 1790700"/>
                  <a:gd name="connsiteX53" fmla="*/ 516452 w 1828800"/>
                  <a:gd name="connsiteY53" fmla="*/ 1776889 h 1790700"/>
                  <a:gd name="connsiteX54" fmla="*/ 586937 w 1828800"/>
                  <a:gd name="connsiteY54" fmla="*/ 1744504 h 1790700"/>
                  <a:gd name="connsiteX55" fmla="*/ 646945 w 1828800"/>
                  <a:gd name="connsiteY55" fmla="*/ 1593056 h 1790700"/>
                  <a:gd name="connsiteX56" fmla="*/ 668852 w 1828800"/>
                  <a:gd name="connsiteY56" fmla="*/ 1583531 h 1790700"/>
                  <a:gd name="connsiteX57" fmla="*/ 679330 w 1828800"/>
                  <a:gd name="connsiteY57" fmla="*/ 1564481 h 1790700"/>
                  <a:gd name="connsiteX58" fmla="*/ 921265 w 1828800"/>
                  <a:gd name="connsiteY58" fmla="*/ 1610201 h 1790700"/>
                  <a:gd name="connsiteX59" fmla="*/ 1166057 w 1828800"/>
                  <a:gd name="connsiteY59" fmla="*/ 1563529 h 1790700"/>
                  <a:gd name="connsiteX60" fmla="*/ 1165105 w 1828800"/>
                  <a:gd name="connsiteY60" fmla="*/ 1566386 h 1790700"/>
                  <a:gd name="connsiteX61" fmla="*/ 1167010 w 1828800"/>
                  <a:gd name="connsiteY61" fmla="*/ 1566386 h 1790700"/>
                  <a:gd name="connsiteX62" fmla="*/ 1179392 w 1828800"/>
                  <a:gd name="connsiteY62" fmla="*/ 1589246 h 1790700"/>
                  <a:gd name="connsiteX63" fmla="*/ 1201300 w 1828800"/>
                  <a:gd name="connsiteY63" fmla="*/ 1598771 h 1790700"/>
                  <a:gd name="connsiteX64" fmla="*/ 1261307 w 1828800"/>
                  <a:gd name="connsiteY64" fmla="*/ 1750219 h 1790700"/>
                  <a:gd name="connsiteX65" fmla="*/ 1331792 w 1828800"/>
                  <a:gd name="connsiteY65" fmla="*/ 1782604 h 1790700"/>
                  <a:gd name="connsiteX66" fmla="*/ 1350842 w 1828800"/>
                  <a:gd name="connsiteY66" fmla="*/ 1707356 h 1790700"/>
                  <a:gd name="connsiteX67" fmla="*/ 1270832 w 1828800"/>
                  <a:gd name="connsiteY67" fmla="*/ 1564481 h 1790700"/>
                  <a:gd name="connsiteX68" fmla="*/ 1277500 w 1828800"/>
                  <a:gd name="connsiteY68" fmla="*/ 1541621 h 1790700"/>
                  <a:gd name="connsiteX69" fmla="*/ 1267975 w 1828800"/>
                  <a:gd name="connsiteY69" fmla="*/ 1517809 h 1790700"/>
                  <a:gd name="connsiteX70" fmla="*/ 1259402 w 1828800"/>
                  <a:gd name="connsiteY70" fmla="*/ 1517809 h 1790700"/>
                  <a:gd name="connsiteX71" fmla="*/ 1557535 w 1828800"/>
                  <a:gd name="connsiteY71" fmla="*/ 1141571 h 1790700"/>
                  <a:gd name="connsiteX72" fmla="*/ 1582300 w 1828800"/>
                  <a:gd name="connsiteY72" fmla="*/ 1145381 h 1790700"/>
                  <a:gd name="connsiteX73" fmla="*/ 1603255 w 1828800"/>
                  <a:gd name="connsiteY73" fmla="*/ 1133951 h 1790700"/>
                  <a:gd name="connsiteX74" fmla="*/ 1760417 w 1828800"/>
                  <a:gd name="connsiteY74" fmla="*/ 1177766 h 1790700"/>
                  <a:gd name="connsiteX75" fmla="*/ 1828997 w 1828800"/>
                  <a:gd name="connsiteY75" fmla="*/ 1141571 h 1790700"/>
                  <a:gd name="connsiteX76" fmla="*/ 1780420 w 1828800"/>
                  <a:gd name="connsiteY76" fmla="*/ 1078706 h 1790700"/>
                  <a:gd name="connsiteX77" fmla="*/ 914597 w 1828800"/>
                  <a:gd name="connsiteY77" fmla="*/ 1473994 h 1790700"/>
                  <a:gd name="connsiteX78" fmla="*/ 383102 w 1828800"/>
                  <a:gd name="connsiteY78" fmla="*/ 942499 h 1790700"/>
                  <a:gd name="connsiteX79" fmla="*/ 914597 w 1828800"/>
                  <a:gd name="connsiteY79" fmla="*/ 411004 h 1790700"/>
                  <a:gd name="connsiteX80" fmla="*/ 1446092 w 1828800"/>
                  <a:gd name="connsiteY80" fmla="*/ 942499 h 1790700"/>
                  <a:gd name="connsiteX81" fmla="*/ 914597 w 1828800"/>
                  <a:gd name="connsiteY81" fmla="*/ 1473994 h 179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828800" h="1790700">
                    <a:moveTo>
                      <a:pt x="1780420" y="1078706"/>
                    </a:moveTo>
                    <a:lnTo>
                      <a:pt x="1618495" y="1055846"/>
                    </a:lnTo>
                    <a:lnTo>
                      <a:pt x="1604207" y="1036796"/>
                    </a:lnTo>
                    <a:lnTo>
                      <a:pt x="1580395" y="1031081"/>
                    </a:lnTo>
                    <a:cubicBezTo>
                      <a:pt x="1584205" y="1001554"/>
                      <a:pt x="1586110" y="972026"/>
                      <a:pt x="1586110" y="941546"/>
                    </a:cubicBezTo>
                    <a:cubicBezTo>
                      <a:pt x="1586110" y="799624"/>
                      <a:pt x="1542295" y="669131"/>
                      <a:pt x="1466095" y="561499"/>
                    </a:cubicBezTo>
                    <a:lnTo>
                      <a:pt x="1485145" y="546259"/>
                    </a:lnTo>
                    <a:lnTo>
                      <a:pt x="1489907" y="523399"/>
                    </a:lnTo>
                    <a:lnTo>
                      <a:pt x="1626115" y="432911"/>
                    </a:lnTo>
                    <a:cubicBezTo>
                      <a:pt x="1651832" y="412909"/>
                      <a:pt x="1660405" y="379571"/>
                      <a:pt x="1643260" y="357664"/>
                    </a:cubicBezTo>
                    <a:cubicBezTo>
                      <a:pt x="1627067" y="335756"/>
                      <a:pt x="1591825" y="334804"/>
                      <a:pt x="1566107" y="354806"/>
                    </a:cubicBezTo>
                    <a:lnTo>
                      <a:pt x="1444187" y="460534"/>
                    </a:lnTo>
                    <a:lnTo>
                      <a:pt x="1420375" y="458629"/>
                    </a:lnTo>
                    <a:lnTo>
                      <a:pt x="1399420" y="472916"/>
                    </a:lnTo>
                    <a:lnTo>
                      <a:pt x="1398467" y="475774"/>
                    </a:lnTo>
                    <a:cubicBezTo>
                      <a:pt x="1287977" y="362426"/>
                      <a:pt x="1138435" y="289084"/>
                      <a:pt x="970794" y="276701"/>
                    </a:cubicBezTo>
                    <a:lnTo>
                      <a:pt x="973652" y="273844"/>
                    </a:lnTo>
                    <a:lnTo>
                      <a:pt x="972700" y="248126"/>
                    </a:lnTo>
                    <a:lnTo>
                      <a:pt x="957460" y="230029"/>
                    </a:lnTo>
                    <a:lnTo>
                      <a:pt x="967937" y="67151"/>
                    </a:lnTo>
                    <a:cubicBezTo>
                      <a:pt x="967937" y="33814"/>
                      <a:pt x="946030" y="7144"/>
                      <a:pt x="918407" y="7144"/>
                    </a:cubicBezTo>
                    <a:cubicBezTo>
                      <a:pt x="890785" y="7144"/>
                      <a:pt x="868877" y="33814"/>
                      <a:pt x="868877" y="67151"/>
                    </a:cubicBezTo>
                    <a:lnTo>
                      <a:pt x="879355" y="230029"/>
                    </a:lnTo>
                    <a:lnTo>
                      <a:pt x="864115" y="248126"/>
                    </a:lnTo>
                    <a:lnTo>
                      <a:pt x="863162" y="273844"/>
                    </a:lnTo>
                    <a:lnTo>
                      <a:pt x="865067" y="276701"/>
                    </a:lnTo>
                    <a:cubicBezTo>
                      <a:pt x="694570" y="290989"/>
                      <a:pt x="543122" y="369094"/>
                      <a:pt x="433585" y="488156"/>
                    </a:cubicBezTo>
                    <a:lnTo>
                      <a:pt x="436442" y="477679"/>
                    </a:lnTo>
                    <a:lnTo>
                      <a:pt x="415487" y="462439"/>
                    </a:lnTo>
                    <a:lnTo>
                      <a:pt x="390722" y="464344"/>
                    </a:lnTo>
                    <a:lnTo>
                      <a:pt x="271660" y="352901"/>
                    </a:lnTo>
                    <a:cubicBezTo>
                      <a:pt x="245942" y="331946"/>
                      <a:pt x="211652" y="331946"/>
                      <a:pt x="194507" y="353854"/>
                    </a:cubicBezTo>
                    <a:cubicBezTo>
                      <a:pt x="177362" y="374809"/>
                      <a:pt x="184030" y="409099"/>
                      <a:pt x="209747" y="430054"/>
                    </a:cubicBezTo>
                    <a:lnTo>
                      <a:pt x="343097" y="525304"/>
                    </a:lnTo>
                    <a:lnTo>
                      <a:pt x="346907" y="548164"/>
                    </a:lnTo>
                    <a:lnTo>
                      <a:pt x="365957" y="565309"/>
                    </a:lnTo>
                    <a:lnTo>
                      <a:pt x="372625" y="567214"/>
                    </a:lnTo>
                    <a:cubicBezTo>
                      <a:pt x="299282" y="673894"/>
                      <a:pt x="256420" y="803434"/>
                      <a:pt x="256420" y="942499"/>
                    </a:cubicBezTo>
                    <a:cubicBezTo>
                      <a:pt x="256420" y="974884"/>
                      <a:pt x="259277" y="1006316"/>
                      <a:pt x="263087" y="1036796"/>
                    </a:cubicBezTo>
                    <a:lnTo>
                      <a:pt x="257372" y="1030129"/>
                    </a:lnTo>
                    <a:lnTo>
                      <a:pt x="232607" y="1036796"/>
                    </a:lnTo>
                    <a:lnTo>
                      <a:pt x="218320" y="1055846"/>
                    </a:lnTo>
                    <a:lnTo>
                      <a:pt x="56395" y="1078706"/>
                    </a:lnTo>
                    <a:cubicBezTo>
                      <a:pt x="24010" y="1085374"/>
                      <a:pt x="3055" y="1112996"/>
                      <a:pt x="7817" y="1139666"/>
                    </a:cubicBezTo>
                    <a:cubicBezTo>
                      <a:pt x="13532" y="1166336"/>
                      <a:pt x="44012" y="1182529"/>
                      <a:pt x="76397" y="1175861"/>
                    </a:cubicBezTo>
                    <a:lnTo>
                      <a:pt x="233560" y="1132046"/>
                    </a:lnTo>
                    <a:lnTo>
                      <a:pt x="254515" y="1143476"/>
                    </a:lnTo>
                    <a:lnTo>
                      <a:pt x="277375" y="1139666"/>
                    </a:lnTo>
                    <a:lnTo>
                      <a:pt x="282137" y="1130141"/>
                    </a:lnTo>
                    <a:cubicBezTo>
                      <a:pt x="329762" y="1293019"/>
                      <a:pt x="437395" y="1429226"/>
                      <a:pt x="579317" y="1514951"/>
                    </a:cubicBezTo>
                    <a:lnTo>
                      <a:pt x="570745" y="1535906"/>
                    </a:lnTo>
                    <a:lnTo>
                      <a:pt x="577412" y="1558766"/>
                    </a:lnTo>
                    <a:lnTo>
                      <a:pt x="497402" y="1701641"/>
                    </a:lnTo>
                    <a:cubicBezTo>
                      <a:pt x="483115" y="1731169"/>
                      <a:pt x="491687" y="1765459"/>
                      <a:pt x="516452" y="1776889"/>
                    </a:cubicBezTo>
                    <a:cubicBezTo>
                      <a:pt x="541217" y="1788319"/>
                      <a:pt x="572650" y="1774031"/>
                      <a:pt x="586937" y="1744504"/>
                    </a:cubicBezTo>
                    <a:lnTo>
                      <a:pt x="646945" y="1593056"/>
                    </a:lnTo>
                    <a:lnTo>
                      <a:pt x="668852" y="1583531"/>
                    </a:lnTo>
                    <a:lnTo>
                      <a:pt x="679330" y="1564481"/>
                    </a:lnTo>
                    <a:cubicBezTo>
                      <a:pt x="754577" y="1594009"/>
                      <a:pt x="835540" y="1610201"/>
                      <a:pt x="921265" y="1610201"/>
                    </a:cubicBezTo>
                    <a:cubicBezTo>
                      <a:pt x="1007942" y="1610201"/>
                      <a:pt x="1090810" y="1593056"/>
                      <a:pt x="1166057" y="1563529"/>
                    </a:cubicBezTo>
                    <a:lnTo>
                      <a:pt x="1165105" y="1566386"/>
                    </a:lnTo>
                    <a:lnTo>
                      <a:pt x="1167010" y="1566386"/>
                    </a:lnTo>
                    <a:lnTo>
                      <a:pt x="1179392" y="1589246"/>
                    </a:lnTo>
                    <a:lnTo>
                      <a:pt x="1201300" y="1598771"/>
                    </a:lnTo>
                    <a:lnTo>
                      <a:pt x="1261307" y="1750219"/>
                    </a:lnTo>
                    <a:cubicBezTo>
                      <a:pt x="1275595" y="1779746"/>
                      <a:pt x="1307027" y="1794986"/>
                      <a:pt x="1331792" y="1782604"/>
                    </a:cubicBezTo>
                    <a:cubicBezTo>
                      <a:pt x="1356557" y="1771174"/>
                      <a:pt x="1365130" y="1736884"/>
                      <a:pt x="1350842" y="1707356"/>
                    </a:cubicBezTo>
                    <a:lnTo>
                      <a:pt x="1270832" y="1564481"/>
                    </a:lnTo>
                    <a:lnTo>
                      <a:pt x="1277500" y="1541621"/>
                    </a:lnTo>
                    <a:lnTo>
                      <a:pt x="1267975" y="1517809"/>
                    </a:lnTo>
                    <a:lnTo>
                      <a:pt x="1259402" y="1517809"/>
                    </a:lnTo>
                    <a:cubicBezTo>
                      <a:pt x="1400372" y="1434941"/>
                      <a:pt x="1508957" y="1300639"/>
                      <a:pt x="1557535" y="1141571"/>
                    </a:cubicBezTo>
                    <a:lnTo>
                      <a:pt x="1582300" y="1145381"/>
                    </a:lnTo>
                    <a:lnTo>
                      <a:pt x="1603255" y="1133951"/>
                    </a:lnTo>
                    <a:lnTo>
                      <a:pt x="1760417" y="1177766"/>
                    </a:lnTo>
                    <a:cubicBezTo>
                      <a:pt x="1792802" y="1184434"/>
                      <a:pt x="1823282" y="1168241"/>
                      <a:pt x="1828997" y="1141571"/>
                    </a:cubicBezTo>
                    <a:cubicBezTo>
                      <a:pt x="1833760" y="1112996"/>
                      <a:pt x="1812805" y="1086326"/>
                      <a:pt x="1780420" y="1078706"/>
                    </a:cubicBezTo>
                    <a:close/>
                    <a:moveTo>
                      <a:pt x="914597" y="1473994"/>
                    </a:moveTo>
                    <a:cubicBezTo>
                      <a:pt x="621227" y="1473994"/>
                      <a:pt x="383102" y="1235869"/>
                      <a:pt x="383102" y="942499"/>
                    </a:cubicBezTo>
                    <a:cubicBezTo>
                      <a:pt x="383102" y="649129"/>
                      <a:pt x="621227" y="411004"/>
                      <a:pt x="914597" y="411004"/>
                    </a:cubicBezTo>
                    <a:cubicBezTo>
                      <a:pt x="1207967" y="411004"/>
                      <a:pt x="1446092" y="649129"/>
                      <a:pt x="1446092" y="942499"/>
                    </a:cubicBezTo>
                    <a:cubicBezTo>
                      <a:pt x="1446092" y="1235869"/>
                      <a:pt x="1207967" y="1473994"/>
                      <a:pt x="914597" y="1473994"/>
                    </a:cubicBezTo>
                    <a:close/>
                  </a:path>
                </a:pathLst>
              </a:custGeom>
              <a:solidFill>
                <a:srgbClr val="FFFFFF"/>
              </a:solidFill>
              <a:ln w="9525" cap="flat">
                <a:noFill/>
                <a:prstDash val="solid"/>
                <a:miter/>
              </a:ln>
            </p:spPr>
            <p:txBody>
              <a:bodyPr rtlCol="0" anchor="ctr"/>
              <a:lstStyle/>
              <a:p>
                <a:pPr defTabSz="896386">
                  <a:defRPr/>
                </a:pPr>
                <a:endParaRPr lang="en-IN">
                  <a:solidFill>
                    <a:srgbClr val="505050"/>
                  </a:solidFill>
                  <a:latin typeface="Segoe UI"/>
                </a:endParaRPr>
              </a:p>
            </p:txBody>
          </p:sp>
        </p:grpSp>
      </p:grpSp>
      <p:cxnSp>
        <p:nvCxnSpPr>
          <p:cNvPr id="24" name="Straight Connector 23">
            <a:extLst>
              <a:ext uri="{FF2B5EF4-FFF2-40B4-BE49-F238E27FC236}">
                <a16:creationId xmlns:a16="http://schemas.microsoft.com/office/drawing/2014/main" id="{6CF0F00A-6503-79B6-7F57-286356700FA4}"/>
              </a:ext>
              <a:ext uri="{C183D7F6-B498-43B3-948B-1728B52AA6E4}">
                <adec:decorative xmlns:adec="http://schemas.microsoft.com/office/drawing/2017/decorative" val="1"/>
              </a:ext>
            </a:extLst>
          </p:cNvPr>
          <p:cNvCxnSpPr>
            <a:cxnSpLocks/>
          </p:cNvCxnSpPr>
          <p:nvPr/>
        </p:nvCxnSpPr>
        <p:spPr>
          <a:xfrm>
            <a:off x="6096000" y="3938442"/>
            <a:ext cx="691182" cy="0"/>
          </a:xfrm>
          <a:prstGeom prst="line">
            <a:avLst/>
          </a:prstGeom>
          <a:ln w="28575" cap="rnd">
            <a:solidFill>
              <a:srgbClr val="75757A"/>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EF9A778C-F64B-6763-F336-498426CF18CE}"/>
              </a:ext>
              <a:ext uri="{C183D7F6-B498-43B3-948B-1728B52AA6E4}">
                <adec:decorative xmlns:adec="http://schemas.microsoft.com/office/drawing/2017/decorative" val="1"/>
              </a:ext>
            </a:extLst>
          </p:cNvPr>
          <p:cNvGrpSpPr/>
          <p:nvPr/>
        </p:nvGrpSpPr>
        <p:grpSpPr>
          <a:xfrm>
            <a:off x="6848881" y="2324334"/>
            <a:ext cx="141194" cy="3228215"/>
            <a:chOff x="8205042" y="2372759"/>
            <a:chExt cx="144025" cy="3292947"/>
          </a:xfrm>
        </p:grpSpPr>
        <p:cxnSp>
          <p:nvCxnSpPr>
            <p:cNvPr id="27" name="Straight Connector 26">
              <a:extLst>
                <a:ext uri="{FF2B5EF4-FFF2-40B4-BE49-F238E27FC236}">
                  <a16:creationId xmlns:a16="http://schemas.microsoft.com/office/drawing/2014/main" id="{086BF0C4-4F44-FE4E-3EC2-88B755B7903A}"/>
                </a:ext>
              </a:extLst>
            </p:cNvPr>
            <p:cNvCxnSpPr>
              <a:cxnSpLocks/>
            </p:cNvCxnSpPr>
            <p:nvPr/>
          </p:nvCxnSpPr>
          <p:spPr>
            <a:xfrm flipV="1">
              <a:off x="8277054" y="2677892"/>
              <a:ext cx="0" cy="1108220"/>
            </a:xfrm>
            <a:prstGeom prst="line">
              <a:avLst/>
            </a:prstGeom>
            <a:ln w="28575" cap="rnd">
              <a:solidFill>
                <a:srgbClr val="75757A"/>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27D8DA63-A4A5-B9B9-EF5F-95672033AC6D}"/>
                </a:ext>
              </a:extLst>
            </p:cNvPr>
            <p:cNvSpPr/>
            <p:nvPr/>
          </p:nvSpPr>
          <p:spPr bwMode="auto">
            <a:xfrm rot="10800000">
              <a:off x="8205043" y="5521682"/>
              <a:ext cx="144024" cy="144024"/>
            </a:xfrm>
            <a:prstGeom prst="ellipse">
              <a:avLst/>
            </a:prstGeom>
            <a:solidFill>
              <a:srgbClr val="0078D4"/>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3940" rIns="0" bIns="43940" numCol="1" rtlCol="0" anchor="ctr" anchorCtr="0" compatLnSpc="1">
              <a:prstTxWarp prst="textNoShape">
                <a:avLst/>
              </a:prstTxWarp>
            </a:bodyPr>
            <a:lstStyle/>
            <a:p>
              <a:pPr algn="ctr" defTabSz="878441" fontAlgn="base">
                <a:spcBef>
                  <a:spcPct val="0"/>
                </a:spcBef>
                <a:spcAft>
                  <a:spcPct val="0"/>
                </a:spcAft>
                <a:defRPr/>
              </a:pPr>
              <a:endParaRPr lang="en-US" sz="1884">
                <a:gradFill>
                  <a:gsLst>
                    <a:gs pos="0">
                      <a:srgbClr val="FFFFFF"/>
                    </a:gs>
                    <a:gs pos="100000">
                      <a:srgbClr val="FFFFFF"/>
                    </a:gs>
                  </a:gsLst>
                  <a:lin ang="5400000" scaled="0"/>
                </a:gradFill>
                <a:latin typeface="Segoe UI Semilight"/>
              </a:endParaRPr>
            </a:p>
          </p:txBody>
        </p:sp>
        <p:sp>
          <p:nvSpPr>
            <p:cNvPr id="29" name="Oval 28">
              <a:extLst>
                <a:ext uri="{FF2B5EF4-FFF2-40B4-BE49-F238E27FC236}">
                  <a16:creationId xmlns:a16="http://schemas.microsoft.com/office/drawing/2014/main" id="{4726901C-4F61-BE13-601D-215DC1F536A4}"/>
                </a:ext>
              </a:extLst>
            </p:cNvPr>
            <p:cNvSpPr/>
            <p:nvPr/>
          </p:nvSpPr>
          <p:spPr bwMode="auto">
            <a:xfrm rot="10800000">
              <a:off x="8205042" y="3947221"/>
              <a:ext cx="144024" cy="144024"/>
            </a:xfrm>
            <a:prstGeom prst="ellipse">
              <a:avLst/>
            </a:prstGeom>
            <a:solidFill>
              <a:srgbClr val="0078D4"/>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3940" rIns="0" bIns="43940" numCol="1" rtlCol="0" anchor="ctr" anchorCtr="0" compatLnSpc="1">
              <a:prstTxWarp prst="textNoShape">
                <a:avLst/>
              </a:prstTxWarp>
            </a:bodyPr>
            <a:lstStyle/>
            <a:p>
              <a:pPr algn="ctr" defTabSz="878441" fontAlgn="base">
                <a:spcBef>
                  <a:spcPct val="0"/>
                </a:spcBef>
                <a:spcAft>
                  <a:spcPct val="0"/>
                </a:spcAft>
                <a:defRPr/>
              </a:pPr>
              <a:endParaRPr lang="en-US" sz="1884">
                <a:gradFill>
                  <a:gsLst>
                    <a:gs pos="0">
                      <a:srgbClr val="FFFFFF"/>
                    </a:gs>
                    <a:gs pos="100000">
                      <a:srgbClr val="FFFFFF"/>
                    </a:gs>
                  </a:gsLst>
                  <a:lin ang="5400000" scaled="0"/>
                </a:gradFill>
                <a:latin typeface="Segoe UI Semilight"/>
              </a:endParaRPr>
            </a:p>
          </p:txBody>
        </p:sp>
        <p:sp>
          <p:nvSpPr>
            <p:cNvPr id="30" name="Oval 29">
              <a:extLst>
                <a:ext uri="{FF2B5EF4-FFF2-40B4-BE49-F238E27FC236}">
                  <a16:creationId xmlns:a16="http://schemas.microsoft.com/office/drawing/2014/main" id="{4CCF6C63-C3B8-DEB7-307A-61EDCA7B86E6}"/>
                </a:ext>
              </a:extLst>
            </p:cNvPr>
            <p:cNvSpPr/>
            <p:nvPr/>
          </p:nvSpPr>
          <p:spPr bwMode="auto">
            <a:xfrm rot="10800000">
              <a:off x="8205043" y="2372759"/>
              <a:ext cx="144024" cy="144024"/>
            </a:xfrm>
            <a:prstGeom prst="ellipse">
              <a:avLst/>
            </a:prstGeom>
            <a:solidFill>
              <a:srgbClr val="0078D4"/>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3940" rIns="0" bIns="43940" numCol="1" rtlCol="0" anchor="ctr" anchorCtr="0" compatLnSpc="1">
              <a:prstTxWarp prst="textNoShape">
                <a:avLst/>
              </a:prstTxWarp>
            </a:bodyPr>
            <a:lstStyle/>
            <a:p>
              <a:pPr algn="ctr" defTabSz="878441" fontAlgn="base">
                <a:spcBef>
                  <a:spcPct val="0"/>
                </a:spcBef>
                <a:spcAft>
                  <a:spcPct val="0"/>
                </a:spcAft>
                <a:defRPr/>
              </a:pPr>
              <a:endParaRPr lang="en-US" sz="1884">
                <a:gradFill>
                  <a:gsLst>
                    <a:gs pos="0">
                      <a:srgbClr val="FFFFFF"/>
                    </a:gs>
                    <a:gs pos="100000">
                      <a:srgbClr val="FFFFFF"/>
                    </a:gs>
                  </a:gsLst>
                  <a:lin ang="5400000" scaled="0"/>
                </a:gradFill>
                <a:latin typeface="Segoe UI Semilight"/>
              </a:endParaRPr>
            </a:p>
          </p:txBody>
        </p:sp>
        <p:cxnSp>
          <p:nvCxnSpPr>
            <p:cNvPr id="31" name="Straight Connector 30">
              <a:extLst>
                <a:ext uri="{FF2B5EF4-FFF2-40B4-BE49-F238E27FC236}">
                  <a16:creationId xmlns:a16="http://schemas.microsoft.com/office/drawing/2014/main" id="{1AB6D615-356F-681C-797D-4966A11E7A15}"/>
                </a:ext>
              </a:extLst>
            </p:cNvPr>
            <p:cNvCxnSpPr>
              <a:cxnSpLocks/>
            </p:cNvCxnSpPr>
            <p:nvPr/>
          </p:nvCxnSpPr>
          <p:spPr>
            <a:xfrm flipV="1">
              <a:off x="8277054" y="4252354"/>
              <a:ext cx="0" cy="1108220"/>
            </a:xfrm>
            <a:prstGeom prst="line">
              <a:avLst/>
            </a:prstGeom>
            <a:ln w="28575" cap="rnd">
              <a:solidFill>
                <a:srgbClr val="75757A"/>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sp>
        <p:nvSpPr>
          <p:cNvPr id="32" name="TextBox 31">
            <a:extLst>
              <a:ext uri="{FF2B5EF4-FFF2-40B4-BE49-F238E27FC236}">
                <a16:creationId xmlns:a16="http://schemas.microsoft.com/office/drawing/2014/main" id="{48896ADD-4AB8-A52A-11B2-38AF270C557B}"/>
              </a:ext>
            </a:extLst>
          </p:cNvPr>
          <p:cNvSpPr txBox="1"/>
          <p:nvPr/>
        </p:nvSpPr>
        <p:spPr>
          <a:xfrm>
            <a:off x="7095623" y="1822988"/>
            <a:ext cx="2720202" cy="1143884"/>
          </a:xfrm>
          <a:prstGeom prst="rect">
            <a:avLst/>
          </a:prstGeom>
          <a:noFill/>
        </p:spPr>
        <p:txBody>
          <a:bodyPr wrap="square" lIns="140609" tIns="140609" rIns="140609" bIns="140609" rtlCol="0">
            <a:spAutoFit/>
          </a:bodyPr>
          <a:lstStyle/>
          <a:p>
            <a:pPr defTabSz="896354">
              <a:spcAft>
                <a:spcPts val="576"/>
              </a:spcAft>
              <a:defRPr/>
            </a:pPr>
            <a:r>
              <a:rPr lang="en-US" sz="1961" dirty="0">
                <a:solidFill>
                  <a:srgbClr val="0078D4"/>
                </a:solidFill>
                <a:latin typeface="Segoe UI Semibold" panose="020B0702040204020203" pitchFamily="34" charset="0"/>
                <a:cs typeface="Segoe UI Semibold" panose="020B0702040204020203" pitchFamily="34" charset="0"/>
              </a:rPr>
              <a:t>Portable </a:t>
            </a:r>
          </a:p>
          <a:p>
            <a:pPr defTabSz="896354">
              <a:spcAft>
                <a:spcPts val="576"/>
              </a:spcAft>
              <a:defRPr/>
            </a:pPr>
            <a:r>
              <a:rPr lang="en-US" sz="1568" dirty="0">
                <a:solidFill>
                  <a:srgbClr val="000000"/>
                </a:solidFill>
                <a:latin typeface="Segoe UI"/>
                <a:cs typeface="Segoe UI Semibold" panose="020B0702040204020203" pitchFamily="34" charset="0"/>
              </a:rPr>
              <a:t>Public, private, hybrid, multi-cloud</a:t>
            </a:r>
          </a:p>
        </p:txBody>
      </p:sp>
      <p:sp>
        <p:nvSpPr>
          <p:cNvPr id="33" name="TextBox 32">
            <a:extLst>
              <a:ext uri="{FF2B5EF4-FFF2-40B4-BE49-F238E27FC236}">
                <a16:creationId xmlns:a16="http://schemas.microsoft.com/office/drawing/2014/main" id="{7F6EAA7A-3058-E286-3A80-BFEBEFF1F2E2}"/>
              </a:ext>
            </a:extLst>
          </p:cNvPr>
          <p:cNvSpPr txBox="1"/>
          <p:nvPr/>
        </p:nvSpPr>
        <p:spPr>
          <a:xfrm>
            <a:off x="7095623" y="3358639"/>
            <a:ext cx="2720202" cy="1143884"/>
          </a:xfrm>
          <a:prstGeom prst="rect">
            <a:avLst/>
          </a:prstGeom>
          <a:noFill/>
        </p:spPr>
        <p:txBody>
          <a:bodyPr wrap="square" lIns="140609" tIns="140609" rIns="140609" bIns="140609" rtlCol="0">
            <a:spAutoFit/>
          </a:bodyPr>
          <a:lstStyle/>
          <a:p>
            <a:pPr defTabSz="896354">
              <a:spcAft>
                <a:spcPts val="576"/>
              </a:spcAft>
              <a:defRPr/>
            </a:pPr>
            <a:r>
              <a:rPr lang="en-US" sz="1961" dirty="0">
                <a:solidFill>
                  <a:srgbClr val="0078D4"/>
                </a:solidFill>
                <a:latin typeface="Segoe UI Semibold" panose="020B0702040204020203" pitchFamily="34" charset="0"/>
                <a:cs typeface="Segoe UI Semibold" panose="020B0702040204020203" pitchFamily="34" charset="0"/>
              </a:rPr>
              <a:t>Extensible </a:t>
            </a:r>
          </a:p>
          <a:p>
            <a:pPr defTabSz="896354">
              <a:spcAft>
                <a:spcPts val="576"/>
              </a:spcAft>
              <a:defRPr/>
            </a:pPr>
            <a:r>
              <a:rPr lang="en-US" sz="1568" dirty="0">
                <a:solidFill>
                  <a:srgbClr val="000000"/>
                </a:solidFill>
                <a:latin typeface="Segoe UI"/>
                <a:cs typeface="Segoe UI Semibold" panose="020B0702040204020203" pitchFamily="34" charset="0"/>
              </a:rPr>
              <a:t>Modular, pluggable, </a:t>
            </a:r>
            <a:r>
              <a:rPr lang="en-US" sz="1568" dirty="0" err="1">
                <a:solidFill>
                  <a:srgbClr val="000000"/>
                </a:solidFill>
                <a:latin typeface="Segoe UI"/>
                <a:cs typeface="Segoe UI Semibold" panose="020B0702040204020203" pitchFamily="34" charset="0"/>
              </a:rPr>
              <a:t>hookable</a:t>
            </a:r>
            <a:r>
              <a:rPr lang="en-US" sz="1568" dirty="0">
                <a:solidFill>
                  <a:srgbClr val="000000"/>
                </a:solidFill>
                <a:latin typeface="Segoe UI"/>
                <a:cs typeface="Segoe UI Semibold" panose="020B0702040204020203" pitchFamily="34" charset="0"/>
              </a:rPr>
              <a:t>, composable</a:t>
            </a:r>
          </a:p>
        </p:txBody>
      </p:sp>
      <p:sp>
        <p:nvSpPr>
          <p:cNvPr id="34" name="TextBox 33">
            <a:extLst>
              <a:ext uri="{FF2B5EF4-FFF2-40B4-BE49-F238E27FC236}">
                <a16:creationId xmlns:a16="http://schemas.microsoft.com/office/drawing/2014/main" id="{280450CF-5329-D6AC-4BE2-941660E6325B}"/>
              </a:ext>
            </a:extLst>
          </p:cNvPr>
          <p:cNvSpPr txBox="1"/>
          <p:nvPr/>
        </p:nvSpPr>
        <p:spPr>
          <a:xfrm>
            <a:off x="7095623" y="4902150"/>
            <a:ext cx="3327676" cy="1143884"/>
          </a:xfrm>
          <a:prstGeom prst="rect">
            <a:avLst/>
          </a:prstGeom>
          <a:noFill/>
        </p:spPr>
        <p:txBody>
          <a:bodyPr wrap="square" lIns="140609" tIns="140609" rIns="140609" bIns="140609" rtlCol="0">
            <a:spAutoFit/>
          </a:bodyPr>
          <a:lstStyle/>
          <a:p>
            <a:pPr defTabSz="896354">
              <a:spcAft>
                <a:spcPts val="576"/>
              </a:spcAft>
              <a:defRPr/>
            </a:pPr>
            <a:r>
              <a:rPr lang="en-US" sz="1961" dirty="0">
                <a:solidFill>
                  <a:srgbClr val="0078D4"/>
                </a:solidFill>
                <a:latin typeface="Segoe UI Semibold" panose="020B0702040204020203" pitchFamily="34" charset="0"/>
                <a:cs typeface="Segoe UI Semibold" panose="020B0702040204020203" pitchFamily="34" charset="0"/>
              </a:rPr>
              <a:t>Self-healing </a:t>
            </a:r>
          </a:p>
          <a:p>
            <a:pPr defTabSz="896354">
              <a:spcAft>
                <a:spcPts val="576"/>
              </a:spcAft>
              <a:defRPr/>
            </a:pPr>
            <a:r>
              <a:rPr lang="en-US" sz="1568" dirty="0">
                <a:solidFill>
                  <a:srgbClr val="000000"/>
                </a:solidFill>
                <a:latin typeface="Segoe UI"/>
                <a:cs typeface="Segoe UI Semibold" panose="020B0702040204020203" pitchFamily="34" charset="0"/>
              </a:rPr>
              <a:t>Auto-placement, auto-restart, auto-replication, auto-scaling</a:t>
            </a:r>
          </a:p>
        </p:txBody>
      </p:sp>
    </p:spTree>
    <p:extLst>
      <p:ext uri="{BB962C8B-B14F-4D97-AF65-F5344CB8AC3E}">
        <p14:creationId xmlns:p14="http://schemas.microsoft.com/office/powerpoint/2010/main" val="7961713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arn(outHorizontal)">
                                      <p:cBhvr>
                                        <p:cTn id="11" dur="500"/>
                                        <p:tgtEl>
                                          <p:spTgt spid="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3598-35A6-3682-EBA3-0322C0726EAD}"/>
              </a:ext>
            </a:extLst>
          </p:cNvPr>
          <p:cNvSpPr>
            <a:spLocks noGrp="1"/>
          </p:cNvSpPr>
          <p:nvPr>
            <p:ph type="title"/>
          </p:nvPr>
        </p:nvSpPr>
        <p:spPr/>
        <p:txBody>
          <a:bodyPr/>
          <a:lstStyle/>
          <a:p>
            <a:r>
              <a:rPr lang="en-US" dirty="0"/>
              <a:t>What’s behind the growth?</a:t>
            </a:r>
          </a:p>
        </p:txBody>
      </p:sp>
      <p:sp>
        <p:nvSpPr>
          <p:cNvPr id="3" name="Footer Placeholder 2">
            <a:extLst>
              <a:ext uri="{FF2B5EF4-FFF2-40B4-BE49-F238E27FC236}">
                <a16:creationId xmlns:a16="http://schemas.microsoft.com/office/drawing/2014/main" id="{0521AE21-5A22-0701-1287-289DDAE0BD3B}"/>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70C32BDA-5D11-DA9A-8B63-3734A7488F1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extBox 4">
            <a:extLst>
              <a:ext uri="{FF2B5EF4-FFF2-40B4-BE49-F238E27FC236}">
                <a16:creationId xmlns:a16="http://schemas.microsoft.com/office/drawing/2014/main" id="{18DBC5D3-BD6D-0672-8BB9-CD13C49E4791}"/>
              </a:ext>
            </a:extLst>
          </p:cNvPr>
          <p:cNvSpPr txBox="1"/>
          <p:nvPr/>
        </p:nvSpPr>
        <p:spPr>
          <a:xfrm>
            <a:off x="1" y="2136427"/>
            <a:ext cx="4482124" cy="392245"/>
          </a:xfrm>
          <a:prstGeom prst="rect">
            <a:avLst/>
          </a:prstGeom>
          <a:noFill/>
        </p:spPr>
        <p:txBody>
          <a:bodyPr wrap="square" rtlCol="0">
            <a:spAutoFit/>
          </a:bodyPr>
          <a:lstStyle/>
          <a:p>
            <a:pPr algn="ctr" defTabSz="896386">
              <a:defRPr/>
            </a:pPr>
            <a:r>
              <a:rPr lang="en-US" sz="1961" spc="-49">
                <a:ln w="3175">
                  <a:noFill/>
                </a:ln>
                <a:solidFill>
                  <a:srgbClr val="3C3C41"/>
                </a:solidFill>
                <a:latin typeface="Segoe UI Semibold"/>
                <a:cs typeface="Segoe UI" pitchFamily="34" charset="0"/>
              </a:rPr>
              <a:t>It’s widely used</a:t>
            </a:r>
          </a:p>
        </p:txBody>
      </p:sp>
      <p:sp>
        <p:nvSpPr>
          <p:cNvPr id="6" name="TextBox 5">
            <a:extLst>
              <a:ext uri="{FF2B5EF4-FFF2-40B4-BE49-F238E27FC236}">
                <a16:creationId xmlns:a16="http://schemas.microsoft.com/office/drawing/2014/main" id="{AB35F371-606C-D0CD-910E-EE108AE4AEC9}"/>
              </a:ext>
            </a:extLst>
          </p:cNvPr>
          <p:cNvSpPr txBox="1"/>
          <p:nvPr/>
        </p:nvSpPr>
        <p:spPr>
          <a:xfrm>
            <a:off x="3854938" y="2136427"/>
            <a:ext cx="4482124" cy="392245"/>
          </a:xfrm>
          <a:prstGeom prst="rect">
            <a:avLst/>
          </a:prstGeom>
          <a:noFill/>
        </p:spPr>
        <p:txBody>
          <a:bodyPr wrap="square" rtlCol="0">
            <a:spAutoFit/>
          </a:bodyPr>
          <a:lstStyle/>
          <a:p>
            <a:pPr algn="ctr" defTabSz="896386">
              <a:defRPr/>
            </a:pPr>
            <a:r>
              <a:rPr lang="en-US" sz="1961" spc="-49">
                <a:ln w="3175">
                  <a:noFill/>
                </a:ln>
                <a:solidFill>
                  <a:srgbClr val="3C3C41"/>
                </a:solidFill>
                <a:latin typeface="Segoe UI Semibold"/>
                <a:cs typeface="Segoe UI" pitchFamily="34" charset="0"/>
              </a:rPr>
              <a:t>It’s vendor-neutral</a:t>
            </a:r>
          </a:p>
        </p:txBody>
      </p:sp>
      <p:sp>
        <p:nvSpPr>
          <p:cNvPr id="7" name="TextBox 6">
            <a:extLst>
              <a:ext uri="{FF2B5EF4-FFF2-40B4-BE49-F238E27FC236}">
                <a16:creationId xmlns:a16="http://schemas.microsoft.com/office/drawing/2014/main" id="{99350E5F-9906-BCB7-D8A1-BA24EEAF7391}"/>
              </a:ext>
            </a:extLst>
          </p:cNvPr>
          <p:cNvSpPr txBox="1"/>
          <p:nvPr/>
        </p:nvSpPr>
        <p:spPr>
          <a:xfrm>
            <a:off x="7709876" y="2136427"/>
            <a:ext cx="4482124" cy="392245"/>
          </a:xfrm>
          <a:prstGeom prst="rect">
            <a:avLst/>
          </a:prstGeom>
          <a:noFill/>
        </p:spPr>
        <p:txBody>
          <a:bodyPr wrap="square" rtlCol="0">
            <a:spAutoFit/>
          </a:bodyPr>
          <a:lstStyle/>
          <a:p>
            <a:pPr algn="ctr" defTabSz="896386">
              <a:defRPr/>
            </a:pPr>
            <a:r>
              <a:rPr lang="en-US" sz="1961" spc="-49">
                <a:ln w="3175">
                  <a:noFill/>
                </a:ln>
                <a:solidFill>
                  <a:srgbClr val="3C3C41"/>
                </a:solidFill>
                <a:latin typeface="Segoe UI Semibold"/>
                <a:cs typeface="Segoe UI" pitchFamily="34" charset="0"/>
              </a:rPr>
              <a:t>It’s community-supported</a:t>
            </a:r>
          </a:p>
        </p:txBody>
      </p:sp>
      <p:sp>
        <p:nvSpPr>
          <p:cNvPr id="8" name="TextBox 7">
            <a:extLst>
              <a:ext uri="{FF2B5EF4-FFF2-40B4-BE49-F238E27FC236}">
                <a16:creationId xmlns:a16="http://schemas.microsoft.com/office/drawing/2014/main" id="{6EDFBBD2-88DF-A977-5A81-35A4729B8899}"/>
              </a:ext>
            </a:extLst>
          </p:cNvPr>
          <p:cNvSpPr txBox="1"/>
          <p:nvPr/>
        </p:nvSpPr>
        <p:spPr>
          <a:xfrm>
            <a:off x="645730" y="2863189"/>
            <a:ext cx="3190665" cy="573280"/>
          </a:xfrm>
          <a:prstGeom prst="rect">
            <a:avLst/>
          </a:prstGeom>
          <a:noFill/>
        </p:spPr>
        <p:txBody>
          <a:bodyPr wrap="square" rtlCol="0">
            <a:spAutoFit/>
          </a:bodyPr>
          <a:lstStyle/>
          <a:p>
            <a:pPr algn="ctr" defTabSz="896386">
              <a:defRPr/>
            </a:pPr>
            <a:r>
              <a:rPr lang="en-US" sz="1568" spc="-49">
                <a:ln w="3175">
                  <a:noFill/>
                </a:ln>
                <a:solidFill>
                  <a:srgbClr val="3C3C41"/>
                </a:solidFill>
                <a:latin typeface="Segoe UI"/>
                <a:cs typeface="Segoe UI" pitchFamily="34" charset="0"/>
              </a:rPr>
              <a:t>Kubernetes is in production for </a:t>
            </a:r>
            <a:r>
              <a:rPr lang="en-US" sz="1568" spc="-49">
                <a:ln w="3175">
                  <a:noFill/>
                </a:ln>
                <a:solidFill>
                  <a:srgbClr val="0078D3"/>
                </a:solidFill>
                <a:latin typeface="Segoe UI Semibold"/>
                <a:cs typeface="Segoe UI" pitchFamily="34" charset="0"/>
              </a:rPr>
              <a:t>global companies across industries</a:t>
            </a:r>
            <a:r>
              <a:rPr lang="en-US" sz="1568" spc="-49" baseline="30000">
                <a:ln w="3175">
                  <a:noFill/>
                </a:ln>
                <a:solidFill>
                  <a:srgbClr val="3C3C41"/>
                </a:solidFill>
                <a:latin typeface="Segoe UI"/>
                <a:cs typeface="Segoe UI" pitchFamily="34" charset="0"/>
              </a:rPr>
              <a:t>1</a:t>
            </a:r>
          </a:p>
        </p:txBody>
      </p:sp>
      <p:sp>
        <p:nvSpPr>
          <p:cNvPr id="9" name="TextBox 8">
            <a:extLst>
              <a:ext uri="{FF2B5EF4-FFF2-40B4-BE49-F238E27FC236}">
                <a16:creationId xmlns:a16="http://schemas.microsoft.com/office/drawing/2014/main" id="{36C6EC5E-FF01-6E37-825B-D0D22FD6CF8C}"/>
              </a:ext>
            </a:extLst>
          </p:cNvPr>
          <p:cNvSpPr txBox="1"/>
          <p:nvPr/>
        </p:nvSpPr>
        <p:spPr>
          <a:xfrm>
            <a:off x="4553846" y="2863189"/>
            <a:ext cx="3084309" cy="573280"/>
          </a:xfrm>
          <a:prstGeom prst="rect">
            <a:avLst/>
          </a:prstGeom>
          <a:noFill/>
        </p:spPr>
        <p:txBody>
          <a:bodyPr wrap="square" rtlCol="0">
            <a:spAutoFit/>
          </a:bodyPr>
          <a:lstStyle/>
          <a:p>
            <a:pPr algn="ctr" defTabSz="896386">
              <a:defRPr/>
            </a:pPr>
            <a:r>
              <a:rPr lang="en-US" sz="1568" spc="-49">
                <a:ln w="3175">
                  <a:noFill/>
                </a:ln>
                <a:solidFill>
                  <a:srgbClr val="3C3C41"/>
                </a:solidFill>
                <a:latin typeface="Segoe UI"/>
                <a:cs typeface="Segoe UI" pitchFamily="34" charset="0"/>
              </a:rPr>
              <a:t>A </a:t>
            </a:r>
            <a:r>
              <a:rPr lang="en-US" sz="1568" spc="-49">
                <a:ln w="3175">
                  <a:noFill/>
                </a:ln>
                <a:solidFill>
                  <a:srgbClr val="0078D3"/>
                </a:solidFill>
                <a:latin typeface="Segoe UI Semibold"/>
                <a:cs typeface="Segoe UI" pitchFamily="34" charset="0"/>
              </a:rPr>
              <a:t>variety of cloud providers </a:t>
            </a:r>
            <a:br>
              <a:rPr lang="en-US" sz="1568" spc="-49">
                <a:ln w="3175">
                  <a:noFill/>
                </a:ln>
                <a:solidFill>
                  <a:srgbClr val="0078D3"/>
                </a:solidFill>
                <a:latin typeface="Segoe UI Semibold"/>
                <a:cs typeface="Segoe UI" pitchFamily="34" charset="0"/>
              </a:rPr>
            </a:br>
            <a:r>
              <a:rPr lang="en-US" sz="1568" spc="-49">
                <a:ln w="3175">
                  <a:noFill/>
                </a:ln>
                <a:solidFill>
                  <a:srgbClr val="3C3C41"/>
                </a:solidFill>
                <a:latin typeface="Segoe UI"/>
                <a:cs typeface="Segoe UI" pitchFamily="34" charset="0"/>
              </a:rPr>
              <a:t>offer robust Kubernetes support</a:t>
            </a:r>
            <a:endParaRPr lang="en-US" sz="1568" spc="-49">
              <a:ln w="3175">
                <a:noFill/>
              </a:ln>
              <a:solidFill>
                <a:srgbClr val="0078D3"/>
              </a:solidFill>
              <a:latin typeface="Segoe UI Semibold"/>
              <a:cs typeface="Segoe UI" pitchFamily="34" charset="0"/>
            </a:endParaRPr>
          </a:p>
        </p:txBody>
      </p:sp>
      <p:sp>
        <p:nvSpPr>
          <p:cNvPr id="10" name="TextBox 9">
            <a:extLst>
              <a:ext uri="{FF2B5EF4-FFF2-40B4-BE49-F238E27FC236}">
                <a16:creationId xmlns:a16="http://schemas.microsoft.com/office/drawing/2014/main" id="{D10E70A7-A130-0A95-3D41-68DB53375982}"/>
              </a:ext>
            </a:extLst>
          </p:cNvPr>
          <p:cNvSpPr txBox="1"/>
          <p:nvPr/>
        </p:nvSpPr>
        <p:spPr>
          <a:xfrm>
            <a:off x="8322688" y="2863189"/>
            <a:ext cx="3256503" cy="573280"/>
          </a:xfrm>
          <a:prstGeom prst="rect">
            <a:avLst/>
          </a:prstGeom>
          <a:noFill/>
        </p:spPr>
        <p:txBody>
          <a:bodyPr wrap="square" rtlCol="0">
            <a:spAutoFit/>
          </a:bodyPr>
          <a:lstStyle/>
          <a:p>
            <a:pPr algn="ctr" defTabSz="896386">
              <a:defRPr/>
            </a:pPr>
            <a:r>
              <a:rPr lang="en-US" sz="1568" spc="-49">
                <a:ln w="3175">
                  <a:noFill/>
                </a:ln>
                <a:solidFill>
                  <a:srgbClr val="3C3C41"/>
                </a:solidFill>
                <a:latin typeface="Segoe UI"/>
                <a:cs typeface="Segoe UI" pitchFamily="34" charset="0"/>
              </a:rPr>
              <a:t>There’s a </a:t>
            </a:r>
            <a:r>
              <a:rPr lang="en-US" sz="1568" spc="-49">
                <a:ln w="3175">
                  <a:noFill/>
                </a:ln>
                <a:solidFill>
                  <a:srgbClr val="0078D3"/>
                </a:solidFill>
                <a:latin typeface="Segoe UI Semibold"/>
                <a:cs typeface="Segoe UI" pitchFamily="34" charset="0"/>
              </a:rPr>
              <a:t>huge community </a:t>
            </a:r>
            <a:r>
              <a:rPr lang="en-US" sz="1568" spc="-49">
                <a:ln w="3175">
                  <a:noFill/>
                </a:ln>
                <a:solidFill>
                  <a:srgbClr val="3C3C41"/>
                </a:solidFill>
                <a:latin typeface="Segoe UI"/>
                <a:cs typeface="Segoe UI" pitchFamily="34" charset="0"/>
              </a:rPr>
              <a:t>of active contributors supporting Kubernetes</a:t>
            </a:r>
            <a:r>
              <a:rPr lang="en-US" sz="1568" spc="-49" baseline="30000">
                <a:ln w="3175">
                  <a:noFill/>
                </a:ln>
                <a:solidFill>
                  <a:srgbClr val="3C3C41"/>
                </a:solidFill>
                <a:latin typeface="Segoe UI"/>
                <a:cs typeface="Segoe UI" pitchFamily="34" charset="0"/>
              </a:rPr>
              <a:t>3</a:t>
            </a:r>
            <a:endParaRPr lang="en-US" sz="1568" spc="-49">
              <a:ln w="3175">
                <a:noFill/>
              </a:ln>
              <a:solidFill>
                <a:srgbClr val="0078D3"/>
              </a:solidFill>
              <a:latin typeface="Segoe UI Semibold"/>
              <a:cs typeface="Segoe UI" pitchFamily="34" charset="0"/>
            </a:endParaRPr>
          </a:p>
        </p:txBody>
      </p:sp>
      <p:grpSp>
        <p:nvGrpSpPr>
          <p:cNvPr id="11" name="Group 10" descr="names of global companies">
            <a:extLst>
              <a:ext uri="{FF2B5EF4-FFF2-40B4-BE49-F238E27FC236}">
                <a16:creationId xmlns:a16="http://schemas.microsoft.com/office/drawing/2014/main" id="{28F49C51-136D-0365-8C23-8FF720B814D1}"/>
              </a:ext>
            </a:extLst>
          </p:cNvPr>
          <p:cNvGrpSpPr/>
          <p:nvPr/>
        </p:nvGrpSpPr>
        <p:grpSpPr>
          <a:xfrm>
            <a:off x="511520" y="3669965"/>
            <a:ext cx="3459086" cy="1380089"/>
            <a:chOff x="521776" y="3743058"/>
            <a:chExt cx="3528448" cy="1407763"/>
          </a:xfrm>
        </p:grpSpPr>
        <p:sp>
          <p:nvSpPr>
            <p:cNvPr id="12" name="Rectangle 11">
              <a:extLst>
                <a:ext uri="{FF2B5EF4-FFF2-40B4-BE49-F238E27FC236}">
                  <a16:creationId xmlns:a16="http://schemas.microsoft.com/office/drawing/2014/main" id="{F42434FE-FF90-0AED-4C9B-E7957928CA52}"/>
                </a:ext>
              </a:extLst>
            </p:cNvPr>
            <p:cNvSpPr/>
            <p:nvPr/>
          </p:nvSpPr>
          <p:spPr bwMode="auto">
            <a:xfrm>
              <a:off x="521776" y="3743058"/>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9E6B847C-D88F-FE3B-5B9E-28B3D47BCAB3}"/>
                </a:ext>
              </a:extLst>
            </p:cNvPr>
            <p:cNvSpPr/>
            <p:nvPr/>
          </p:nvSpPr>
          <p:spPr bwMode="auto">
            <a:xfrm>
              <a:off x="1728061" y="3743058"/>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4" name="Rectangle 13">
              <a:extLst>
                <a:ext uri="{FF2B5EF4-FFF2-40B4-BE49-F238E27FC236}">
                  <a16:creationId xmlns:a16="http://schemas.microsoft.com/office/drawing/2014/main" id="{927691C4-23F2-3CBC-0C86-1290CD3094A9}"/>
                </a:ext>
              </a:extLst>
            </p:cNvPr>
            <p:cNvSpPr/>
            <p:nvPr/>
          </p:nvSpPr>
          <p:spPr bwMode="auto">
            <a:xfrm>
              <a:off x="2934346" y="3743058"/>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14">
              <a:extLst>
                <a:ext uri="{FF2B5EF4-FFF2-40B4-BE49-F238E27FC236}">
                  <a16:creationId xmlns:a16="http://schemas.microsoft.com/office/drawing/2014/main" id="{ABEC08EA-9330-85DF-D086-DCD64BEB7F16}"/>
                </a:ext>
              </a:extLst>
            </p:cNvPr>
            <p:cNvSpPr/>
            <p:nvPr/>
          </p:nvSpPr>
          <p:spPr bwMode="auto">
            <a:xfrm>
              <a:off x="521776" y="4499892"/>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6" name="Rectangle 15">
              <a:extLst>
                <a:ext uri="{FF2B5EF4-FFF2-40B4-BE49-F238E27FC236}">
                  <a16:creationId xmlns:a16="http://schemas.microsoft.com/office/drawing/2014/main" id="{A5CF777A-2AE7-B885-4BBC-56F6DDC1D169}"/>
                </a:ext>
              </a:extLst>
            </p:cNvPr>
            <p:cNvSpPr/>
            <p:nvPr/>
          </p:nvSpPr>
          <p:spPr bwMode="auto">
            <a:xfrm>
              <a:off x="1728061" y="4499892"/>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7" name="Rectangle 16">
              <a:extLst>
                <a:ext uri="{FF2B5EF4-FFF2-40B4-BE49-F238E27FC236}">
                  <a16:creationId xmlns:a16="http://schemas.microsoft.com/office/drawing/2014/main" id="{2F3D549C-F737-2029-9CEB-B46399F980DA}"/>
                </a:ext>
              </a:extLst>
            </p:cNvPr>
            <p:cNvSpPr/>
            <p:nvPr/>
          </p:nvSpPr>
          <p:spPr bwMode="auto">
            <a:xfrm>
              <a:off x="2934346" y="4499892"/>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B2369475-9CC2-BD0F-58B3-5426626847E3}"/>
                </a:ext>
              </a:extLst>
            </p:cNvPr>
            <p:cNvSpPr txBox="1"/>
            <p:nvPr/>
          </p:nvSpPr>
          <p:spPr>
            <a:xfrm>
              <a:off x="650344" y="3846923"/>
              <a:ext cx="858742" cy="443198"/>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Capital </a:t>
              </a:r>
              <a:br>
                <a:rPr lang="en-US" sz="1568" spc="-49">
                  <a:gradFill>
                    <a:gsLst>
                      <a:gs pos="2917">
                        <a:srgbClr val="3C3C41"/>
                      </a:gs>
                      <a:gs pos="30000">
                        <a:srgbClr val="3C3C41"/>
                      </a:gs>
                    </a:gsLst>
                    <a:lin ang="5400000" scaled="0"/>
                  </a:gradFill>
                  <a:latin typeface="Segoe UI Semibold"/>
                </a:rPr>
              </a:br>
              <a:r>
                <a:rPr lang="en-US" sz="1568" spc="-49">
                  <a:gradFill>
                    <a:gsLst>
                      <a:gs pos="2917">
                        <a:srgbClr val="3C3C41"/>
                      </a:gs>
                      <a:gs pos="30000">
                        <a:srgbClr val="3C3C41"/>
                      </a:gs>
                    </a:gsLst>
                    <a:lin ang="5400000" scaled="0"/>
                  </a:gradFill>
                  <a:latin typeface="Segoe UI Semibold"/>
                </a:rPr>
                <a:t>One</a:t>
              </a:r>
            </a:p>
          </p:txBody>
        </p:sp>
        <p:sp>
          <p:nvSpPr>
            <p:cNvPr id="19" name="TextBox 18">
              <a:extLst>
                <a:ext uri="{FF2B5EF4-FFF2-40B4-BE49-F238E27FC236}">
                  <a16:creationId xmlns:a16="http://schemas.microsoft.com/office/drawing/2014/main" id="{044D5D79-680E-32AC-8B04-F15738554364}"/>
                </a:ext>
              </a:extLst>
            </p:cNvPr>
            <p:cNvSpPr txBox="1"/>
            <p:nvPr/>
          </p:nvSpPr>
          <p:spPr>
            <a:xfrm>
              <a:off x="1833438" y="3957723"/>
              <a:ext cx="905124" cy="221599"/>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eBay</a:t>
              </a:r>
            </a:p>
          </p:txBody>
        </p:sp>
        <p:sp>
          <p:nvSpPr>
            <p:cNvPr id="20" name="TextBox 19">
              <a:extLst>
                <a:ext uri="{FF2B5EF4-FFF2-40B4-BE49-F238E27FC236}">
                  <a16:creationId xmlns:a16="http://schemas.microsoft.com/office/drawing/2014/main" id="{E88CB0B1-F822-DF95-DFB6-D24BDC1DD719}"/>
                </a:ext>
              </a:extLst>
            </p:cNvPr>
            <p:cNvSpPr txBox="1"/>
            <p:nvPr/>
          </p:nvSpPr>
          <p:spPr>
            <a:xfrm>
              <a:off x="3039723" y="3957723"/>
              <a:ext cx="905124" cy="221599"/>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SAP</a:t>
              </a:r>
            </a:p>
          </p:txBody>
        </p:sp>
        <p:sp>
          <p:nvSpPr>
            <p:cNvPr id="21" name="TextBox 20">
              <a:extLst>
                <a:ext uri="{FF2B5EF4-FFF2-40B4-BE49-F238E27FC236}">
                  <a16:creationId xmlns:a16="http://schemas.microsoft.com/office/drawing/2014/main" id="{6782610E-396C-9CB7-9327-64A53CEA393F}"/>
                </a:ext>
              </a:extLst>
            </p:cNvPr>
            <p:cNvSpPr txBox="1"/>
            <p:nvPr/>
          </p:nvSpPr>
          <p:spPr>
            <a:xfrm>
              <a:off x="627153" y="4603757"/>
              <a:ext cx="905124" cy="443198"/>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New York Times</a:t>
              </a:r>
            </a:p>
          </p:txBody>
        </p:sp>
        <p:sp>
          <p:nvSpPr>
            <p:cNvPr id="22" name="TextBox 21">
              <a:extLst>
                <a:ext uri="{FF2B5EF4-FFF2-40B4-BE49-F238E27FC236}">
                  <a16:creationId xmlns:a16="http://schemas.microsoft.com/office/drawing/2014/main" id="{23B48CBF-E939-7186-6708-BBA1583522E7}"/>
                </a:ext>
              </a:extLst>
            </p:cNvPr>
            <p:cNvSpPr txBox="1"/>
            <p:nvPr/>
          </p:nvSpPr>
          <p:spPr>
            <a:xfrm>
              <a:off x="1833438" y="4603757"/>
              <a:ext cx="905124" cy="443198"/>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Pokémon Go</a:t>
              </a:r>
            </a:p>
          </p:txBody>
        </p:sp>
        <p:sp>
          <p:nvSpPr>
            <p:cNvPr id="23" name="TextBox 22">
              <a:extLst>
                <a:ext uri="{FF2B5EF4-FFF2-40B4-BE49-F238E27FC236}">
                  <a16:creationId xmlns:a16="http://schemas.microsoft.com/office/drawing/2014/main" id="{F01160A4-8843-42F0-C53D-5ED06BA4E4A3}"/>
                </a:ext>
              </a:extLst>
            </p:cNvPr>
            <p:cNvSpPr txBox="1"/>
            <p:nvPr/>
          </p:nvSpPr>
          <p:spPr>
            <a:xfrm>
              <a:off x="3039723" y="4714557"/>
              <a:ext cx="905124" cy="221599"/>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Spotify</a:t>
              </a:r>
            </a:p>
          </p:txBody>
        </p:sp>
      </p:grpSp>
      <p:grpSp>
        <p:nvGrpSpPr>
          <p:cNvPr id="24" name="Group 23" descr="names of major cloud providers">
            <a:extLst>
              <a:ext uri="{FF2B5EF4-FFF2-40B4-BE49-F238E27FC236}">
                <a16:creationId xmlns:a16="http://schemas.microsoft.com/office/drawing/2014/main" id="{CBAA2B7E-66E9-15D1-FCF5-13CFBE4293F5}"/>
              </a:ext>
            </a:extLst>
          </p:cNvPr>
          <p:cNvGrpSpPr/>
          <p:nvPr/>
        </p:nvGrpSpPr>
        <p:grpSpPr>
          <a:xfrm>
            <a:off x="4957744" y="3669965"/>
            <a:ext cx="2276514" cy="1380089"/>
            <a:chOff x="5057156" y="3743058"/>
            <a:chExt cx="2322163" cy="1407763"/>
          </a:xfrm>
        </p:grpSpPr>
        <p:sp>
          <p:nvSpPr>
            <p:cNvPr id="25" name="Rectangle 24">
              <a:extLst>
                <a:ext uri="{FF2B5EF4-FFF2-40B4-BE49-F238E27FC236}">
                  <a16:creationId xmlns:a16="http://schemas.microsoft.com/office/drawing/2014/main" id="{E09B4AA8-6F98-A767-D47D-357EF6DEED51}"/>
                </a:ext>
              </a:extLst>
            </p:cNvPr>
            <p:cNvSpPr/>
            <p:nvPr/>
          </p:nvSpPr>
          <p:spPr bwMode="auto">
            <a:xfrm>
              <a:off x="5057156" y="3743058"/>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6" name="Rectangle 25">
              <a:extLst>
                <a:ext uri="{FF2B5EF4-FFF2-40B4-BE49-F238E27FC236}">
                  <a16:creationId xmlns:a16="http://schemas.microsoft.com/office/drawing/2014/main" id="{3E31622B-B211-3BBE-E35E-5D3DAF44B8E9}"/>
                </a:ext>
              </a:extLst>
            </p:cNvPr>
            <p:cNvSpPr/>
            <p:nvPr/>
          </p:nvSpPr>
          <p:spPr bwMode="auto">
            <a:xfrm>
              <a:off x="6263441" y="3743058"/>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7" name="Rectangle 26">
              <a:extLst>
                <a:ext uri="{FF2B5EF4-FFF2-40B4-BE49-F238E27FC236}">
                  <a16:creationId xmlns:a16="http://schemas.microsoft.com/office/drawing/2014/main" id="{1F8CD8FB-8C5D-60F4-355B-0A7CC3434A70}"/>
                </a:ext>
              </a:extLst>
            </p:cNvPr>
            <p:cNvSpPr/>
            <p:nvPr/>
          </p:nvSpPr>
          <p:spPr bwMode="auto">
            <a:xfrm>
              <a:off x="5057156" y="4499892"/>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8" name="Rectangle 27">
              <a:extLst>
                <a:ext uri="{FF2B5EF4-FFF2-40B4-BE49-F238E27FC236}">
                  <a16:creationId xmlns:a16="http://schemas.microsoft.com/office/drawing/2014/main" id="{CAD05219-1E29-3958-655F-26148106DF49}"/>
                </a:ext>
              </a:extLst>
            </p:cNvPr>
            <p:cNvSpPr/>
            <p:nvPr/>
          </p:nvSpPr>
          <p:spPr bwMode="auto">
            <a:xfrm>
              <a:off x="6263441" y="4499892"/>
              <a:ext cx="1115878" cy="65092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9" name="TextBox 28">
              <a:extLst>
                <a:ext uri="{FF2B5EF4-FFF2-40B4-BE49-F238E27FC236}">
                  <a16:creationId xmlns:a16="http://schemas.microsoft.com/office/drawing/2014/main" id="{2818BE94-3AF9-C71B-CEDB-44C8B7FC170A}"/>
                </a:ext>
              </a:extLst>
            </p:cNvPr>
            <p:cNvSpPr txBox="1"/>
            <p:nvPr/>
          </p:nvSpPr>
          <p:spPr>
            <a:xfrm>
              <a:off x="5162533" y="3957723"/>
              <a:ext cx="905124" cy="221599"/>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Azure</a:t>
              </a:r>
            </a:p>
          </p:txBody>
        </p:sp>
        <p:sp>
          <p:nvSpPr>
            <p:cNvPr id="30" name="TextBox 29">
              <a:extLst>
                <a:ext uri="{FF2B5EF4-FFF2-40B4-BE49-F238E27FC236}">
                  <a16:creationId xmlns:a16="http://schemas.microsoft.com/office/drawing/2014/main" id="{AD2B6D73-9205-4D6B-0D8D-E9CC356AFB93}"/>
                </a:ext>
              </a:extLst>
            </p:cNvPr>
            <p:cNvSpPr txBox="1"/>
            <p:nvPr/>
          </p:nvSpPr>
          <p:spPr>
            <a:xfrm>
              <a:off x="6368818" y="3957723"/>
              <a:ext cx="905124" cy="221599"/>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AWS</a:t>
              </a:r>
            </a:p>
          </p:txBody>
        </p:sp>
        <p:sp>
          <p:nvSpPr>
            <p:cNvPr id="31" name="TextBox 30">
              <a:extLst>
                <a:ext uri="{FF2B5EF4-FFF2-40B4-BE49-F238E27FC236}">
                  <a16:creationId xmlns:a16="http://schemas.microsoft.com/office/drawing/2014/main" id="{789151C7-B6E4-B2C0-0387-A83EA53BDC68}"/>
                </a:ext>
              </a:extLst>
            </p:cNvPr>
            <p:cNvSpPr txBox="1"/>
            <p:nvPr/>
          </p:nvSpPr>
          <p:spPr>
            <a:xfrm>
              <a:off x="5130720" y="4714557"/>
              <a:ext cx="968751" cy="221599"/>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VMWare</a:t>
              </a:r>
            </a:p>
          </p:txBody>
        </p:sp>
        <p:sp>
          <p:nvSpPr>
            <p:cNvPr id="32" name="TextBox 31">
              <a:extLst>
                <a:ext uri="{FF2B5EF4-FFF2-40B4-BE49-F238E27FC236}">
                  <a16:creationId xmlns:a16="http://schemas.microsoft.com/office/drawing/2014/main" id="{378E0502-070C-4DEB-959A-D413D7327A26}"/>
                </a:ext>
              </a:extLst>
            </p:cNvPr>
            <p:cNvSpPr txBox="1"/>
            <p:nvPr/>
          </p:nvSpPr>
          <p:spPr>
            <a:xfrm>
              <a:off x="6337005" y="4714557"/>
              <a:ext cx="968751" cy="221599"/>
            </a:xfrm>
            <a:prstGeom prst="rect">
              <a:avLst/>
            </a:prstGeom>
            <a:noFill/>
          </p:spPr>
          <p:txBody>
            <a:bodyPr wrap="square" lIns="0" tIns="0" rIns="0" bIns="0" rtlCol="0">
              <a:spAutoFit/>
            </a:bodyPr>
            <a:lstStyle/>
            <a:p>
              <a:pPr algn="ctr">
                <a:lnSpc>
                  <a:spcPct val="90000"/>
                </a:lnSpc>
                <a:spcAft>
                  <a:spcPts val="588"/>
                </a:spcAft>
              </a:pPr>
              <a:r>
                <a:rPr lang="en-US" sz="1568" spc="-49">
                  <a:gradFill>
                    <a:gsLst>
                      <a:gs pos="2917">
                        <a:srgbClr val="3C3C41"/>
                      </a:gs>
                      <a:gs pos="30000">
                        <a:srgbClr val="3C3C41"/>
                      </a:gs>
                    </a:gsLst>
                    <a:lin ang="5400000" scaled="0"/>
                  </a:gradFill>
                  <a:latin typeface="Segoe UI Semibold"/>
                </a:rPr>
                <a:t>Red Hat</a:t>
              </a:r>
            </a:p>
          </p:txBody>
        </p:sp>
      </p:grpSp>
      <p:grpSp>
        <p:nvGrpSpPr>
          <p:cNvPr id="33" name="Group 32" descr="community stats">
            <a:extLst>
              <a:ext uri="{FF2B5EF4-FFF2-40B4-BE49-F238E27FC236}">
                <a16:creationId xmlns:a16="http://schemas.microsoft.com/office/drawing/2014/main" id="{D9D7A0D2-B0D2-1553-C0AE-992F35691269}"/>
              </a:ext>
            </a:extLst>
          </p:cNvPr>
          <p:cNvGrpSpPr/>
          <p:nvPr/>
        </p:nvGrpSpPr>
        <p:grpSpPr>
          <a:xfrm>
            <a:off x="8194712" y="3669964"/>
            <a:ext cx="3592693" cy="1380089"/>
            <a:chOff x="8359033" y="3743057"/>
            <a:chExt cx="3664734" cy="1407763"/>
          </a:xfrm>
        </p:grpSpPr>
        <p:grpSp>
          <p:nvGrpSpPr>
            <p:cNvPr id="34" name="Group 33">
              <a:extLst>
                <a:ext uri="{FF2B5EF4-FFF2-40B4-BE49-F238E27FC236}">
                  <a16:creationId xmlns:a16="http://schemas.microsoft.com/office/drawing/2014/main" id="{524CD0B9-00DD-2CC8-9B51-F8098840A591}"/>
                </a:ext>
              </a:extLst>
            </p:cNvPr>
            <p:cNvGrpSpPr/>
            <p:nvPr/>
          </p:nvGrpSpPr>
          <p:grpSpPr>
            <a:xfrm>
              <a:off x="8359033" y="3743057"/>
              <a:ext cx="3664734" cy="1407763"/>
              <a:chOff x="8359033" y="3743057"/>
              <a:chExt cx="3664734" cy="1407763"/>
            </a:xfrm>
          </p:grpSpPr>
          <p:grpSp>
            <p:nvGrpSpPr>
              <p:cNvPr id="36" name="Group 35">
                <a:extLst>
                  <a:ext uri="{FF2B5EF4-FFF2-40B4-BE49-F238E27FC236}">
                    <a16:creationId xmlns:a16="http://schemas.microsoft.com/office/drawing/2014/main" id="{47C55228-0A60-8EBB-E357-9DF88CE391D9}"/>
                  </a:ext>
                </a:extLst>
              </p:cNvPr>
              <p:cNvGrpSpPr/>
              <p:nvPr/>
            </p:nvGrpSpPr>
            <p:grpSpPr>
              <a:xfrm>
                <a:off x="8359033" y="3743057"/>
                <a:ext cx="3664734" cy="1407763"/>
                <a:chOff x="8359033" y="3743057"/>
                <a:chExt cx="3664734" cy="1407763"/>
              </a:xfrm>
            </p:grpSpPr>
            <p:sp>
              <p:nvSpPr>
                <p:cNvPr id="38" name="Rectangle 37">
                  <a:extLst>
                    <a:ext uri="{FF2B5EF4-FFF2-40B4-BE49-F238E27FC236}">
                      <a16:creationId xmlns:a16="http://schemas.microsoft.com/office/drawing/2014/main" id="{84E0A04E-7038-9C87-6804-5285B004EA69}"/>
                    </a:ext>
                  </a:extLst>
                </p:cNvPr>
                <p:cNvSpPr/>
                <p:nvPr/>
              </p:nvSpPr>
              <p:spPr bwMode="auto">
                <a:xfrm>
                  <a:off x="8359033" y="3743057"/>
                  <a:ext cx="1766042" cy="140776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9" name="Rectangle 38">
                  <a:extLst>
                    <a:ext uri="{FF2B5EF4-FFF2-40B4-BE49-F238E27FC236}">
                      <a16:creationId xmlns:a16="http://schemas.microsoft.com/office/drawing/2014/main" id="{8D8CD4A6-931A-797A-DB85-74EE38111D06}"/>
                    </a:ext>
                  </a:extLst>
                </p:cNvPr>
                <p:cNvSpPr/>
                <p:nvPr/>
              </p:nvSpPr>
              <p:spPr bwMode="auto">
                <a:xfrm>
                  <a:off x="10257725" y="3743057"/>
                  <a:ext cx="1766042" cy="140776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37" name="TextBox 36">
                <a:extLst>
                  <a:ext uri="{FF2B5EF4-FFF2-40B4-BE49-F238E27FC236}">
                    <a16:creationId xmlns:a16="http://schemas.microsoft.com/office/drawing/2014/main" id="{FB4D87B2-CFFA-9C46-D016-D893E2900530}"/>
                  </a:ext>
                </a:extLst>
              </p:cNvPr>
              <p:cNvSpPr txBox="1"/>
              <p:nvPr/>
            </p:nvSpPr>
            <p:spPr>
              <a:xfrm>
                <a:off x="10257725" y="4023456"/>
                <a:ext cx="1710166" cy="892552"/>
              </a:xfrm>
              <a:prstGeom prst="rect">
                <a:avLst/>
              </a:prstGeom>
              <a:noFill/>
            </p:spPr>
            <p:txBody>
              <a:bodyPr wrap="square" rtlCol="0">
                <a:spAutoFit/>
              </a:bodyPr>
              <a:lstStyle/>
              <a:p>
                <a:pPr algn="ctr" defTabSz="896386">
                  <a:defRPr/>
                </a:pPr>
                <a:r>
                  <a:rPr lang="en-US" sz="1961" spc="-49">
                    <a:ln w="3175">
                      <a:noFill/>
                    </a:ln>
                    <a:solidFill>
                      <a:srgbClr val="3C3C41"/>
                    </a:solidFill>
                    <a:latin typeface="Segoe UI Semibold"/>
                    <a:cs typeface="Segoe UI" pitchFamily="34" charset="0"/>
                  </a:rPr>
                  <a:t>1.1 million</a:t>
                </a:r>
                <a:br>
                  <a:rPr lang="en-US" sz="1961" spc="-49">
                    <a:ln w="3175">
                      <a:noFill/>
                    </a:ln>
                    <a:solidFill>
                      <a:srgbClr val="3C3C41"/>
                    </a:solidFill>
                    <a:latin typeface="Segoe UI Semibold"/>
                    <a:cs typeface="Segoe UI" pitchFamily="34" charset="0"/>
                  </a:rPr>
                </a:br>
                <a:r>
                  <a:rPr lang="en-US" sz="1568" spc="-49">
                    <a:ln w="3175">
                      <a:noFill/>
                    </a:ln>
                    <a:solidFill>
                      <a:srgbClr val="0F78D4"/>
                    </a:solidFill>
                    <a:latin typeface="Segoe UI"/>
                    <a:cs typeface="Segoe UI" pitchFamily="34" charset="0"/>
                  </a:rPr>
                  <a:t>contributions</a:t>
                </a:r>
                <a:r>
                  <a:rPr lang="en-US" sz="1568" spc="-49">
                    <a:ln w="3175">
                      <a:noFill/>
                    </a:ln>
                    <a:solidFill>
                      <a:srgbClr val="3C3C41"/>
                    </a:solidFill>
                    <a:latin typeface="Segoe UI"/>
                    <a:cs typeface="Segoe UI" pitchFamily="34" charset="0"/>
                  </a:rPr>
                  <a:t> since 2016</a:t>
                </a:r>
                <a:endParaRPr lang="en-US" sz="1961" spc="-49">
                  <a:ln w="3175">
                    <a:noFill/>
                  </a:ln>
                  <a:solidFill>
                    <a:srgbClr val="3C3C41"/>
                  </a:solidFill>
                  <a:latin typeface="Segoe UI"/>
                  <a:cs typeface="Segoe UI" pitchFamily="34" charset="0"/>
                </a:endParaRPr>
              </a:p>
            </p:txBody>
          </p:sp>
        </p:grpSp>
        <p:sp>
          <p:nvSpPr>
            <p:cNvPr id="35" name="TextBox 34">
              <a:extLst>
                <a:ext uri="{FF2B5EF4-FFF2-40B4-BE49-F238E27FC236}">
                  <a16:creationId xmlns:a16="http://schemas.microsoft.com/office/drawing/2014/main" id="{78BBD3FD-CA7B-834C-9C67-0B0CF69D1B4F}"/>
                </a:ext>
              </a:extLst>
            </p:cNvPr>
            <p:cNvSpPr txBox="1"/>
            <p:nvPr/>
          </p:nvSpPr>
          <p:spPr>
            <a:xfrm>
              <a:off x="8409502" y="3997801"/>
              <a:ext cx="1623927" cy="892552"/>
            </a:xfrm>
            <a:prstGeom prst="rect">
              <a:avLst/>
            </a:prstGeom>
            <a:noFill/>
          </p:spPr>
          <p:txBody>
            <a:bodyPr wrap="square" rtlCol="0">
              <a:spAutoFit/>
            </a:bodyPr>
            <a:lstStyle/>
            <a:p>
              <a:pPr algn="ctr" defTabSz="896386">
                <a:defRPr/>
              </a:pPr>
              <a:r>
                <a:rPr lang="en-US" sz="1961" spc="-49">
                  <a:ln w="3175">
                    <a:noFill/>
                  </a:ln>
                  <a:solidFill>
                    <a:srgbClr val="3C3C41"/>
                  </a:solidFill>
                  <a:latin typeface="Segoe UI Semibold"/>
                  <a:cs typeface="Segoe UI" pitchFamily="34" charset="0"/>
                </a:rPr>
                <a:t>35,000</a:t>
              </a:r>
              <a:br>
                <a:rPr lang="en-US" sz="1961" spc="-49">
                  <a:ln w="3175">
                    <a:noFill/>
                  </a:ln>
                  <a:solidFill>
                    <a:srgbClr val="3C3C41"/>
                  </a:solidFill>
                  <a:latin typeface="Segoe UI Semibold"/>
                  <a:cs typeface="Segoe UI" pitchFamily="34" charset="0"/>
                </a:rPr>
              </a:br>
              <a:r>
                <a:rPr lang="en-US" sz="1568" spc="-49">
                  <a:ln w="3175">
                    <a:noFill/>
                  </a:ln>
                  <a:solidFill>
                    <a:srgbClr val="0F78D4"/>
                  </a:solidFill>
                  <a:latin typeface="Segoe UI"/>
                  <a:cs typeface="Segoe UI" pitchFamily="34" charset="0"/>
                </a:rPr>
                <a:t>contributors</a:t>
              </a:r>
              <a:r>
                <a:rPr lang="en-US" sz="1568" spc="-49">
                  <a:ln w="3175">
                    <a:noFill/>
                  </a:ln>
                  <a:solidFill>
                    <a:srgbClr val="3C3C41"/>
                  </a:solidFill>
                  <a:latin typeface="Segoe UI"/>
                  <a:cs typeface="Segoe UI" pitchFamily="34" charset="0"/>
                </a:rPr>
                <a:t> since 2016</a:t>
              </a:r>
              <a:endParaRPr lang="en-US" sz="1961" spc="-49">
                <a:ln w="3175">
                  <a:noFill/>
                </a:ln>
                <a:solidFill>
                  <a:srgbClr val="3C3C41"/>
                </a:solidFill>
                <a:latin typeface="Segoe UI"/>
                <a:cs typeface="Segoe UI" pitchFamily="34" charset="0"/>
              </a:endParaRPr>
            </a:p>
          </p:txBody>
        </p:sp>
      </p:grpSp>
    </p:spTree>
    <p:extLst>
      <p:ext uri="{BB962C8B-B14F-4D97-AF65-F5344CB8AC3E}">
        <p14:creationId xmlns:p14="http://schemas.microsoft.com/office/powerpoint/2010/main" val="227922514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A7233-FA4D-FBBE-4982-2EDD3B1A5E7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25EF2F8-5ADA-9C3F-7826-59BB8A3A5222}"/>
              </a:ext>
            </a:extLst>
          </p:cNvPr>
          <p:cNvSpPr>
            <a:spLocks noGrp="1"/>
          </p:cNvSpPr>
          <p:nvPr>
            <p:ph type="title"/>
            <p:custDataLst>
              <p:custData r:id="rId2"/>
            </p:custDataLst>
          </p:nvPr>
        </p:nvSpPr>
        <p:spPr>
          <a:xfrm>
            <a:off x="584199" y="4334637"/>
            <a:ext cx="10189817" cy="1015663"/>
          </a:xfrm>
        </p:spPr>
        <p:txBody>
          <a:bodyPr/>
          <a:lstStyle/>
          <a:p>
            <a:r>
              <a:rPr lang="en-US" dirty="0"/>
              <a:t>Cluster Components</a:t>
            </a:r>
          </a:p>
        </p:txBody>
      </p:sp>
      <p:sp>
        <p:nvSpPr>
          <p:cNvPr id="2" name="Text Placeholder 1">
            <a:extLst>
              <a:ext uri="{FF2B5EF4-FFF2-40B4-BE49-F238E27FC236}">
                <a16:creationId xmlns:a16="http://schemas.microsoft.com/office/drawing/2014/main" id="{16835943-F53A-222E-2508-8F401BDA4DBA}"/>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F021A447-BBCD-C55F-156D-4A88AEA6642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9749F100-ACAA-033D-5441-62E6C6AC01E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85648899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B9308-E839-2134-D54F-14B82E3CA7C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56230AB-DA97-5C27-654C-796CDE520D9E}"/>
              </a:ext>
            </a:extLst>
          </p:cNvPr>
          <p:cNvSpPr>
            <a:spLocks noGrp="1"/>
          </p:cNvSpPr>
          <p:nvPr>
            <p:ph type="title"/>
          </p:nvPr>
        </p:nvSpPr>
        <p:spPr/>
        <p:txBody>
          <a:bodyPr/>
          <a:lstStyle/>
          <a:p>
            <a:r>
              <a:rPr lang="en-US" dirty="0"/>
              <a:t>Cluster Components</a:t>
            </a:r>
          </a:p>
        </p:txBody>
      </p:sp>
      <p:sp>
        <p:nvSpPr>
          <p:cNvPr id="58" name="Footer Placeholder 13">
            <a:extLst>
              <a:ext uri="{FF2B5EF4-FFF2-40B4-BE49-F238E27FC236}">
                <a16:creationId xmlns:a16="http://schemas.microsoft.com/office/drawing/2014/main" id="{8533AAC8-F242-A958-31F8-F0A6E0C261C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5" name="Slide Number Placeholder 4">
            <a:extLst>
              <a:ext uri="{FF2B5EF4-FFF2-40B4-BE49-F238E27FC236}">
                <a16:creationId xmlns:a16="http://schemas.microsoft.com/office/drawing/2014/main" id="{094D97F7-7323-F1A2-3996-37A36885C8DC}"/>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8</a:t>
            </a:fld>
            <a:endParaRPr lang="en-US" noProof="0"/>
          </a:p>
        </p:txBody>
      </p:sp>
      <p:sp>
        <p:nvSpPr>
          <p:cNvPr id="23" name="Rectangle 22" descr="Technical diagram of Kubernetes components and relationships within an agent node">
            <a:extLst>
              <a:ext uri="{FF2B5EF4-FFF2-40B4-BE49-F238E27FC236}">
                <a16:creationId xmlns:a16="http://schemas.microsoft.com/office/drawing/2014/main" id="{9EAA7422-5CD6-2186-EC1D-E176A5A22C4C}"/>
              </a:ext>
            </a:extLst>
          </p:cNvPr>
          <p:cNvSpPr/>
          <p:nvPr/>
        </p:nvSpPr>
        <p:spPr bwMode="auto">
          <a:xfrm>
            <a:off x="7897669" y="1498945"/>
            <a:ext cx="2909230" cy="5185673"/>
          </a:xfrm>
          <a:prstGeom prst="rect">
            <a:avLst/>
          </a:prstGeom>
          <a:solidFill>
            <a:srgbClr val="D9EBF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cs typeface="Segoe UI" pitchFamily="34" charset="0"/>
            </a:endParaRPr>
          </a:p>
        </p:txBody>
      </p:sp>
      <p:sp>
        <p:nvSpPr>
          <p:cNvPr id="24" name="Rectangle 23" descr="Two Kubernetes agent nodes with sub-components">
            <a:extLst>
              <a:ext uri="{FF2B5EF4-FFF2-40B4-BE49-F238E27FC236}">
                <a16:creationId xmlns:a16="http://schemas.microsoft.com/office/drawing/2014/main" id="{52D9C9EA-409E-924A-AFC7-0102BE10A5A8}"/>
              </a:ext>
            </a:extLst>
          </p:cNvPr>
          <p:cNvSpPr/>
          <p:nvPr/>
        </p:nvSpPr>
        <p:spPr bwMode="auto">
          <a:xfrm>
            <a:off x="7818817" y="1407643"/>
            <a:ext cx="2909230" cy="5185673"/>
          </a:xfrm>
          <a:prstGeom prst="rect">
            <a:avLst/>
          </a:prstGeom>
          <a:solidFill>
            <a:srgbClr val="D9EBF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cs typeface="Segoe UI" pitchFamily="34" charset="0"/>
            </a:endParaRPr>
          </a:p>
        </p:txBody>
      </p:sp>
      <p:sp>
        <p:nvSpPr>
          <p:cNvPr id="25" name="Rectangle 24" descr="Agent pool components visual grouping">
            <a:extLst>
              <a:ext uri="{FF2B5EF4-FFF2-40B4-BE49-F238E27FC236}">
                <a16:creationId xmlns:a16="http://schemas.microsoft.com/office/drawing/2014/main" id="{F3BF7CF6-7FEB-71F2-CE2C-786CF226040B}"/>
              </a:ext>
            </a:extLst>
          </p:cNvPr>
          <p:cNvSpPr/>
          <p:nvPr/>
        </p:nvSpPr>
        <p:spPr bwMode="auto">
          <a:xfrm>
            <a:off x="7739966" y="1316341"/>
            <a:ext cx="2909230" cy="5185673"/>
          </a:xfrm>
          <a:prstGeom prst="rect">
            <a:avLst/>
          </a:prstGeom>
          <a:solidFill>
            <a:srgbClr val="D9EBF9"/>
          </a:soli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cs typeface="Segoe UI" pitchFamily="34" charset="0"/>
            </a:endParaRPr>
          </a:p>
        </p:txBody>
      </p:sp>
      <p:sp>
        <p:nvSpPr>
          <p:cNvPr id="26" name="Rectangle: Rounded Corners 25">
            <a:extLst>
              <a:ext uri="{FF2B5EF4-FFF2-40B4-BE49-F238E27FC236}">
                <a16:creationId xmlns:a16="http://schemas.microsoft.com/office/drawing/2014/main" id="{D970081C-1575-52D6-EE75-42D3A76EAC90}"/>
              </a:ext>
              <a:ext uri="{C183D7F6-B498-43B3-948B-1728B52AA6E4}">
                <adec:decorative xmlns:adec="http://schemas.microsoft.com/office/drawing/2017/decorative" val="1"/>
              </a:ext>
            </a:extLst>
          </p:cNvPr>
          <p:cNvSpPr/>
          <p:nvPr/>
        </p:nvSpPr>
        <p:spPr bwMode="auto">
          <a:xfrm>
            <a:off x="4934172" y="2686119"/>
            <a:ext cx="2330705" cy="2330705"/>
          </a:xfrm>
          <a:prstGeom prst="roundRect">
            <a:avLst>
              <a:gd name="adj" fmla="val 3125"/>
            </a:avLst>
          </a:prstGeom>
          <a:solidFill>
            <a:schemeClr val="bg2"/>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505050"/>
              </a:solidFill>
              <a:latin typeface="Segoe UI"/>
              <a:cs typeface="Segoe UI" pitchFamily="34" charset="0"/>
            </a:endParaRPr>
          </a:p>
        </p:txBody>
      </p:sp>
      <p:grpSp>
        <p:nvGrpSpPr>
          <p:cNvPr id="27" name="Group 26" descr="AKS logo">
            <a:extLst>
              <a:ext uri="{FF2B5EF4-FFF2-40B4-BE49-F238E27FC236}">
                <a16:creationId xmlns:a16="http://schemas.microsoft.com/office/drawing/2014/main" id="{41EBD532-7BEF-34C5-6ACE-636A80D81141}"/>
              </a:ext>
            </a:extLst>
          </p:cNvPr>
          <p:cNvGrpSpPr/>
          <p:nvPr/>
        </p:nvGrpSpPr>
        <p:grpSpPr>
          <a:xfrm>
            <a:off x="5033556" y="2782680"/>
            <a:ext cx="482405" cy="455752"/>
            <a:chOff x="5603827" y="1684376"/>
            <a:chExt cx="508410" cy="480321"/>
          </a:xfrm>
          <a:solidFill>
            <a:srgbClr val="DAEBF9"/>
          </a:solidFill>
        </p:grpSpPr>
        <p:sp>
          <p:nvSpPr>
            <p:cNvPr id="28" name="Freeform: Shape 27">
              <a:extLst>
                <a:ext uri="{FF2B5EF4-FFF2-40B4-BE49-F238E27FC236}">
                  <a16:creationId xmlns:a16="http://schemas.microsoft.com/office/drawing/2014/main" id="{53F72A8B-E5B5-6EAE-587C-B7DD973A8F16}"/>
                </a:ext>
              </a:extLst>
            </p:cNvPr>
            <p:cNvSpPr/>
            <p:nvPr/>
          </p:nvSpPr>
          <p:spPr>
            <a:xfrm>
              <a:off x="5691268" y="1684376"/>
              <a:ext cx="144272" cy="158110"/>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grpFill/>
            <a:ln w="12700" cap="rnd">
              <a:solidFill>
                <a:srgbClr val="0078D4"/>
              </a:solidFill>
              <a:prstDash val="solid"/>
              <a:round/>
            </a:ln>
          </p:spPr>
          <p:txBody>
            <a:bodyPr wrap="square">
              <a:noAutofit/>
            </a:bodyPr>
            <a:lstStyle/>
            <a:p>
              <a:pPr defTabSz="896354">
                <a:defRPr/>
              </a:pPr>
              <a:endParaRPr lang="en-US" sz="1730">
                <a:solidFill>
                  <a:srgbClr val="FFFFFF"/>
                </a:solidFill>
                <a:latin typeface="Segoe UI"/>
              </a:endParaRPr>
            </a:p>
          </p:txBody>
        </p:sp>
        <p:sp>
          <p:nvSpPr>
            <p:cNvPr id="29" name="Freeform: Shape 28">
              <a:extLst>
                <a:ext uri="{FF2B5EF4-FFF2-40B4-BE49-F238E27FC236}">
                  <a16:creationId xmlns:a16="http://schemas.microsoft.com/office/drawing/2014/main" id="{B95694C9-C49B-3311-10D9-4E0115E6FB0C}"/>
                </a:ext>
              </a:extLst>
            </p:cNvPr>
            <p:cNvSpPr/>
            <p:nvPr/>
          </p:nvSpPr>
          <p:spPr>
            <a:xfrm>
              <a:off x="5880522" y="1684376"/>
              <a:ext cx="144272" cy="158110"/>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grpFill/>
            <a:ln w="12700" cap="rnd">
              <a:solidFill>
                <a:srgbClr val="0078D4"/>
              </a:solidFill>
              <a:prstDash val="solid"/>
              <a:round/>
            </a:ln>
          </p:spPr>
          <p:txBody>
            <a:bodyPr wrap="square">
              <a:noAutofit/>
            </a:bodyPr>
            <a:lstStyle/>
            <a:p>
              <a:pPr defTabSz="896354">
                <a:defRPr/>
              </a:pPr>
              <a:endParaRPr lang="en-US" sz="1730">
                <a:solidFill>
                  <a:srgbClr val="FFFFFF"/>
                </a:solidFill>
                <a:latin typeface="Segoe UI"/>
              </a:endParaRPr>
            </a:p>
          </p:txBody>
        </p:sp>
        <p:sp>
          <p:nvSpPr>
            <p:cNvPr id="30" name="Freeform: Shape 29">
              <a:extLst>
                <a:ext uri="{FF2B5EF4-FFF2-40B4-BE49-F238E27FC236}">
                  <a16:creationId xmlns:a16="http://schemas.microsoft.com/office/drawing/2014/main" id="{F54D0AFE-4A8B-2296-E99F-0EC52720CE45}"/>
                </a:ext>
              </a:extLst>
            </p:cNvPr>
            <p:cNvSpPr/>
            <p:nvPr/>
          </p:nvSpPr>
          <p:spPr>
            <a:xfrm>
              <a:off x="5603827" y="1845481"/>
              <a:ext cx="144272" cy="158110"/>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grpFill/>
            <a:ln w="12700" cap="rnd">
              <a:solidFill>
                <a:srgbClr val="0078D4"/>
              </a:solidFill>
              <a:prstDash val="solid"/>
              <a:round/>
            </a:ln>
          </p:spPr>
          <p:txBody>
            <a:bodyPr wrap="square">
              <a:noAutofit/>
            </a:bodyPr>
            <a:lstStyle/>
            <a:p>
              <a:pPr defTabSz="896354">
                <a:defRPr/>
              </a:pPr>
              <a:endParaRPr lang="en-US" sz="1730">
                <a:solidFill>
                  <a:srgbClr val="FFFFFF"/>
                </a:solidFill>
                <a:latin typeface="Segoe UI"/>
              </a:endParaRPr>
            </a:p>
          </p:txBody>
        </p:sp>
        <p:sp>
          <p:nvSpPr>
            <p:cNvPr id="31" name="Freeform: Shape 30">
              <a:extLst>
                <a:ext uri="{FF2B5EF4-FFF2-40B4-BE49-F238E27FC236}">
                  <a16:creationId xmlns:a16="http://schemas.microsoft.com/office/drawing/2014/main" id="{219EE9FC-4715-35D2-258A-636A1ADFC342}"/>
                </a:ext>
              </a:extLst>
            </p:cNvPr>
            <p:cNvSpPr/>
            <p:nvPr/>
          </p:nvSpPr>
          <p:spPr>
            <a:xfrm>
              <a:off x="5775158" y="1843487"/>
              <a:ext cx="144272" cy="158110"/>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grpFill/>
            <a:ln w="12700" cap="rnd">
              <a:solidFill>
                <a:srgbClr val="0078D4"/>
              </a:solidFill>
              <a:prstDash val="solid"/>
              <a:round/>
            </a:ln>
          </p:spPr>
          <p:txBody>
            <a:bodyPr wrap="square">
              <a:noAutofit/>
            </a:bodyPr>
            <a:lstStyle/>
            <a:p>
              <a:pPr defTabSz="896354">
                <a:defRPr/>
              </a:pPr>
              <a:endParaRPr lang="en-US" sz="1730">
                <a:solidFill>
                  <a:srgbClr val="FFFFFF"/>
                </a:solidFill>
                <a:latin typeface="Segoe UI"/>
              </a:endParaRPr>
            </a:p>
          </p:txBody>
        </p:sp>
        <p:sp>
          <p:nvSpPr>
            <p:cNvPr id="32" name="Freeform: Shape 31">
              <a:extLst>
                <a:ext uri="{FF2B5EF4-FFF2-40B4-BE49-F238E27FC236}">
                  <a16:creationId xmlns:a16="http://schemas.microsoft.com/office/drawing/2014/main" id="{F43B3A7E-40AA-0474-A8C0-C5CE4BD6B4CB}"/>
                </a:ext>
              </a:extLst>
            </p:cNvPr>
            <p:cNvSpPr/>
            <p:nvPr/>
          </p:nvSpPr>
          <p:spPr>
            <a:xfrm>
              <a:off x="5967965" y="1845481"/>
              <a:ext cx="144272" cy="158110"/>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grpFill/>
            <a:ln w="12700" cap="rnd">
              <a:solidFill>
                <a:srgbClr val="0078D4"/>
              </a:solidFill>
              <a:prstDash val="solid"/>
              <a:round/>
            </a:ln>
          </p:spPr>
          <p:txBody>
            <a:bodyPr wrap="square">
              <a:noAutofit/>
            </a:bodyPr>
            <a:lstStyle/>
            <a:p>
              <a:pPr defTabSz="896354">
                <a:defRPr/>
              </a:pPr>
              <a:endParaRPr lang="en-US" sz="1730">
                <a:solidFill>
                  <a:srgbClr val="FFFFFF"/>
                </a:solidFill>
                <a:latin typeface="Segoe UI"/>
              </a:endParaRPr>
            </a:p>
          </p:txBody>
        </p:sp>
        <p:sp>
          <p:nvSpPr>
            <p:cNvPr id="33" name="Freeform: Shape 32">
              <a:extLst>
                <a:ext uri="{FF2B5EF4-FFF2-40B4-BE49-F238E27FC236}">
                  <a16:creationId xmlns:a16="http://schemas.microsoft.com/office/drawing/2014/main" id="{A5C42519-D32B-72AB-5204-7BF5408EB937}"/>
                </a:ext>
              </a:extLst>
            </p:cNvPr>
            <p:cNvSpPr/>
            <p:nvPr/>
          </p:nvSpPr>
          <p:spPr>
            <a:xfrm>
              <a:off x="5691268" y="2006587"/>
              <a:ext cx="144272" cy="158110"/>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grpFill/>
            <a:ln w="12700" cap="rnd">
              <a:solidFill>
                <a:srgbClr val="0078D4"/>
              </a:solidFill>
              <a:prstDash val="solid"/>
              <a:round/>
            </a:ln>
          </p:spPr>
          <p:txBody>
            <a:bodyPr wrap="square">
              <a:noAutofit/>
            </a:bodyPr>
            <a:lstStyle/>
            <a:p>
              <a:pPr defTabSz="896354">
                <a:defRPr/>
              </a:pPr>
              <a:endParaRPr lang="en-US" sz="1730">
                <a:solidFill>
                  <a:srgbClr val="FFFFFF"/>
                </a:solidFill>
                <a:latin typeface="Segoe UI"/>
              </a:endParaRPr>
            </a:p>
          </p:txBody>
        </p:sp>
        <p:sp>
          <p:nvSpPr>
            <p:cNvPr id="34" name="Freeform: Shape 33">
              <a:extLst>
                <a:ext uri="{FF2B5EF4-FFF2-40B4-BE49-F238E27FC236}">
                  <a16:creationId xmlns:a16="http://schemas.microsoft.com/office/drawing/2014/main" id="{55E9F54F-FAD8-BD52-93DC-38AB5A6876E7}"/>
                </a:ext>
              </a:extLst>
            </p:cNvPr>
            <p:cNvSpPr/>
            <p:nvPr/>
          </p:nvSpPr>
          <p:spPr>
            <a:xfrm>
              <a:off x="5880522" y="2006587"/>
              <a:ext cx="144272" cy="158110"/>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grpFill/>
            <a:ln w="12700" cap="rnd">
              <a:solidFill>
                <a:srgbClr val="0078D4"/>
              </a:solidFill>
              <a:prstDash val="solid"/>
              <a:round/>
            </a:ln>
          </p:spPr>
          <p:txBody>
            <a:bodyPr wrap="square">
              <a:noAutofit/>
            </a:bodyPr>
            <a:lstStyle/>
            <a:p>
              <a:pPr defTabSz="896354">
                <a:defRPr/>
              </a:pPr>
              <a:endParaRPr lang="en-US" sz="1730">
                <a:solidFill>
                  <a:srgbClr val="FFFFFF"/>
                </a:solidFill>
                <a:latin typeface="Segoe UI"/>
              </a:endParaRPr>
            </a:p>
          </p:txBody>
        </p:sp>
      </p:grpSp>
      <p:grpSp>
        <p:nvGrpSpPr>
          <p:cNvPr id="35" name="Group 34" descr="api-server icon">
            <a:extLst>
              <a:ext uri="{FF2B5EF4-FFF2-40B4-BE49-F238E27FC236}">
                <a16:creationId xmlns:a16="http://schemas.microsoft.com/office/drawing/2014/main" id="{8A0A37C3-D3BA-EC80-DC4C-C02620B7BD55}"/>
              </a:ext>
            </a:extLst>
          </p:cNvPr>
          <p:cNvGrpSpPr/>
          <p:nvPr/>
        </p:nvGrpSpPr>
        <p:grpSpPr>
          <a:xfrm>
            <a:off x="5797875" y="2892841"/>
            <a:ext cx="589663" cy="689351"/>
            <a:chOff x="5557289" y="2951566"/>
            <a:chExt cx="601487" cy="703174"/>
          </a:xfrm>
        </p:grpSpPr>
        <p:sp>
          <p:nvSpPr>
            <p:cNvPr id="36" name="Title 1">
              <a:extLst>
                <a:ext uri="{FF2B5EF4-FFF2-40B4-BE49-F238E27FC236}">
                  <a16:creationId xmlns:a16="http://schemas.microsoft.com/office/drawing/2014/main" id="{6074EE45-CA7F-9203-6758-DCCE3208887D}"/>
                </a:ext>
              </a:extLst>
            </p:cNvPr>
            <p:cNvSpPr txBox="1">
              <a:spLocks/>
            </p:cNvSpPr>
            <p:nvPr/>
          </p:nvSpPr>
          <p:spPr>
            <a:xfrm>
              <a:off x="5557289" y="2951566"/>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err="1">
                  <a:solidFill>
                    <a:srgbClr val="3C3C41"/>
                  </a:solidFill>
                  <a:latin typeface="Segoe UI Semibold" panose="020B0702040204020203" pitchFamily="34" charset="0"/>
                  <a:cs typeface="Segoe UI Semibold" panose="020B0702040204020203" pitchFamily="34" charset="0"/>
                </a:rPr>
                <a:t>api</a:t>
              </a:r>
              <a:r>
                <a:rPr lang="en-US" sz="784" spc="0">
                  <a:solidFill>
                    <a:srgbClr val="3C3C41"/>
                  </a:solidFill>
                  <a:latin typeface="Segoe UI Semibold" panose="020B0702040204020203" pitchFamily="34" charset="0"/>
                  <a:cs typeface="Segoe UI Semibold" panose="020B0702040204020203" pitchFamily="34" charset="0"/>
                </a:rPr>
                <a:t>-server</a:t>
              </a:r>
            </a:p>
          </p:txBody>
        </p:sp>
        <p:sp>
          <p:nvSpPr>
            <p:cNvPr id="37" name="Rectangle: Rounded Corners 36">
              <a:extLst>
                <a:ext uri="{FF2B5EF4-FFF2-40B4-BE49-F238E27FC236}">
                  <a16:creationId xmlns:a16="http://schemas.microsoft.com/office/drawing/2014/main" id="{02505118-D963-8627-7273-A595C74BD226}"/>
                </a:ext>
              </a:extLst>
            </p:cNvPr>
            <p:cNvSpPr/>
            <p:nvPr/>
          </p:nvSpPr>
          <p:spPr bwMode="auto">
            <a:xfrm>
              <a:off x="5591509" y="3121151"/>
              <a:ext cx="533589" cy="533589"/>
            </a:xfrm>
            <a:prstGeom prst="roundRect">
              <a:avLst>
                <a:gd name="adj" fmla="val 3125"/>
              </a:avLst>
            </a:prstGeom>
            <a:solidFill>
              <a:schemeClr val="bg2"/>
            </a:solidFill>
            <a:ln w="12700">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3C3C41"/>
                </a:solidFill>
                <a:latin typeface="Segoe UI"/>
                <a:cs typeface="Segoe UI" pitchFamily="34" charset="0"/>
              </a:endParaRPr>
            </a:p>
          </p:txBody>
        </p:sp>
        <p:sp>
          <p:nvSpPr>
            <p:cNvPr id="38" name="plug" title="Icon of a power plug showing an A to B connection">
              <a:extLst>
                <a:ext uri="{FF2B5EF4-FFF2-40B4-BE49-F238E27FC236}">
                  <a16:creationId xmlns:a16="http://schemas.microsoft.com/office/drawing/2014/main" id="{3D4D0B13-932D-84ED-197F-717671ABF561}"/>
                </a:ext>
              </a:extLst>
            </p:cNvPr>
            <p:cNvSpPr>
              <a:spLocks noChangeAspect="1" noEditPoints="1"/>
            </p:cNvSpPr>
            <p:nvPr/>
          </p:nvSpPr>
          <p:spPr bwMode="auto">
            <a:xfrm>
              <a:off x="5704726" y="3242372"/>
              <a:ext cx="307154" cy="291146"/>
            </a:xfrm>
            <a:custGeom>
              <a:avLst/>
              <a:gdLst>
                <a:gd name="T0" fmla="*/ 169 w 346"/>
                <a:gd name="T1" fmla="*/ 90 h 328"/>
                <a:gd name="T2" fmla="*/ 199 w 346"/>
                <a:gd name="T3" fmla="*/ 61 h 328"/>
                <a:gd name="T4" fmla="*/ 279 w 346"/>
                <a:gd name="T5" fmla="*/ 63 h 328"/>
                <a:gd name="T6" fmla="*/ 279 w 346"/>
                <a:gd name="T7" fmla="*/ 63 h 328"/>
                <a:gd name="T8" fmla="*/ 277 w 346"/>
                <a:gd name="T9" fmla="*/ 143 h 328"/>
                <a:gd name="T10" fmla="*/ 247 w 346"/>
                <a:gd name="T11" fmla="*/ 172 h 328"/>
                <a:gd name="T12" fmla="*/ 169 w 346"/>
                <a:gd name="T13" fmla="*/ 90 h 328"/>
                <a:gd name="T14" fmla="*/ 279 w 346"/>
                <a:gd name="T15" fmla="*/ 63 h 328"/>
                <a:gd name="T16" fmla="*/ 346 w 346"/>
                <a:gd name="T17" fmla="*/ 0 h 328"/>
                <a:gd name="T18" fmla="*/ 99 w 346"/>
                <a:gd name="T19" fmla="*/ 156 h 328"/>
                <a:gd name="T20" fmla="*/ 69 w 346"/>
                <a:gd name="T21" fmla="*/ 185 h 328"/>
                <a:gd name="T22" fmla="*/ 67 w 346"/>
                <a:gd name="T23" fmla="*/ 265 h 328"/>
                <a:gd name="T24" fmla="*/ 67 w 346"/>
                <a:gd name="T25" fmla="*/ 265 h 328"/>
                <a:gd name="T26" fmla="*/ 147 w 346"/>
                <a:gd name="T27" fmla="*/ 267 h 328"/>
                <a:gd name="T28" fmla="*/ 177 w 346"/>
                <a:gd name="T29" fmla="*/ 238 h 328"/>
                <a:gd name="T30" fmla="*/ 99 w 346"/>
                <a:gd name="T31" fmla="*/ 156 h 328"/>
                <a:gd name="T32" fmla="*/ 67 w 346"/>
                <a:gd name="T33" fmla="*/ 265 h 328"/>
                <a:gd name="T34" fmla="*/ 0 w 346"/>
                <a:gd name="T35" fmla="*/ 328 h 328"/>
                <a:gd name="T36" fmla="*/ 157 w 346"/>
                <a:gd name="T37" fmla="*/ 143 h 328"/>
                <a:gd name="T38" fmla="*/ 120 w 346"/>
                <a:gd name="T39" fmla="*/ 178 h 328"/>
                <a:gd name="T40" fmla="*/ 193 w 346"/>
                <a:gd name="T41" fmla="*/ 181 h 328"/>
                <a:gd name="T42" fmla="*/ 156 w 346"/>
                <a:gd name="T43" fmla="*/ 216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46" h="328">
                  <a:moveTo>
                    <a:pt x="169" y="90"/>
                  </a:moveTo>
                  <a:cubicBezTo>
                    <a:pt x="199" y="61"/>
                    <a:pt x="199" y="61"/>
                    <a:pt x="199" y="61"/>
                  </a:cubicBezTo>
                  <a:cubicBezTo>
                    <a:pt x="222" y="40"/>
                    <a:pt x="258" y="41"/>
                    <a:pt x="279" y="63"/>
                  </a:cubicBezTo>
                  <a:cubicBezTo>
                    <a:pt x="279" y="63"/>
                    <a:pt x="279" y="63"/>
                    <a:pt x="279" y="63"/>
                  </a:cubicBezTo>
                  <a:cubicBezTo>
                    <a:pt x="300" y="86"/>
                    <a:pt x="300" y="122"/>
                    <a:pt x="277" y="143"/>
                  </a:cubicBezTo>
                  <a:cubicBezTo>
                    <a:pt x="247" y="172"/>
                    <a:pt x="247" y="172"/>
                    <a:pt x="247" y="172"/>
                  </a:cubicBezTo>
                  <a:lnTo>
                    <a:pt x="169" y="90"/>
                  </a:lnTo>
                  <a:close/>
                  <a:moveTo>
                    <a:pt x="279" y="63"/>
                  </a:moveTo>
                  <a:cubicBezTo>
                    <a:pt x="346" y="0"/>
                    <a:pt x="346" y="0"/>
                    <a:pt x="346" y="0"/>
                  </a:cubicBezTo>
                  <a:moveTo>
                    <a:pt x="99" y="156"/>
                  </a:moveTo>
                  <a:cubicBezTo>
                    <a:pt x="69" y="185"/>
                    <a:pt x="69" y="185"/>
                    <a:pt x="69" y="185"/>
                  </a:cubicBezTo>
                  <a:cubicBezTo>
                    <a:pt x="46" y="206"/>
                    <a:pt x="46" y="242"/>
                    <a:pt x="67" y="265"/>
                  </a:cubicBezTo>
                  <a:cubicBezTo>
                    <a:pt x="67" y="265"/>
                    <a:pt x="67" y="265"/>
                    <a:pt x="67" y="265"/>
                  </a:cubicBezTo>
                  <a:cubicBezTo>
                    <a:pt x="88" y="287"/>
                    <a:pt x="124" y="288"/>
                    <a:pt x="147" y="267"/>
                  </a:cubicBezTo>
                  <a:cubicBezTo>
                    <a:pt x="177" y="238"/>
                    <a:pt x="177" y="238"/>
                    <a:pt x="177" y="238"/>
                  </a:cubicBezTo>
                  <a:lnTo>
                    <a:pt x="99" y="156"/>
                  </a:lnTo>
                  <a:close/>
                  <a:moveTo>
                    <a:pt x="67" y="265"/>
                  </a:moveTo>
                  <a:cubicBezTo>
                    <a:pt x="0" y="328"/>
                    <a:pt x="0" y="328"/>
                    <a:pt x="0" y="328"/>
                  </a:cubicBezTo>
                  <a:moveTo>
                    <a:pt x="157" y="143"/>
                  </a:moveTo>
                  <a:cubicBezTo>
                    <a:pt x="120" y="178"/>
                    <a:pt x="120" y="178"/>
                    <a:pt x="120" y="178"/>
                  </a:cubicBezTo>
                  <a:moveTo>
                    <a:pt x="193" y="181"/>
                  </a:moveTo>
                  <a:cubicBezTo>
                    <a:pt x="156" y="216"/>
                    <a:pt x="156" y="216"/>
                    <a:pt x="156" y="216"/>
                  </a:cubicBezTo>
                </a:path>
              </a:pathLst>
            </a:custGeom>
            <a:noFill/>
            <a:ln w="1270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882">
                <a:solidFill>
                  <a:srgbClr val="3C3C41"/>
                </a:solidFill>
                <a:latin typeface="Segoe UI"/>
              </a:endParaRPr>
            </a:p>
          </p:txBody>
        </p:sp>
      </p:grpSp>
      <p:sp>
        <p:nvSpPr>
          <p:cNvPr id="39" name="Title 1">
            <a:extLst>
              <a:ext uri="{FF2B5EF4-FFF2-40B4-BE49-F238E27FC236}">
                <a16:creationId xmlns:a16="http://schemas.microsoft.com/office/drawing/2014/main" id="{3DAF96D5-442D-470C-A36F-827ACD8BB934}"/>
              </a:ext>
            </a:extLst>
          </p:cNvPr>
          <p:cNvSpPr txBox="1">
            <a:spLocks/>
          </p:cNvSpPr>
          <p:nvPr/>
        </p:nvSpPr>
        <p:spPr>
          <a:xfrm>
            <a:off x="4997256" y="4712926"/>
            <a:ext cx="1088630" cy="24138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i="1" spc="0">
                <a:solidFill>
                  <a:srgbClr val="3C3C41"/>
                </a:solidFill>
                <a:latin typeface="Segoe UI"/>
                <a:cs typeface="Segoe UI Semibold" panose="020B0702040204020203" pitchFamily="34" charset="0"/>
              </a:rPr>
              <a:t>replication, namespace, </a:t>
            </a:r>
            <a:r>
              <a:rPr lang="en-US" sz="784" i="1" spc="0" err="1">
                <a:solidFill>
                  <a:srgbClr val="3C3C41"/>
                </a:solidFill>
                <a:latin typeface="Segoe UI"/>
                <a:cs typeface="Segoe UI Semibold" panose="020B0702040204020203" pitchFamily="34" charset="0"/>
              </a:rPr>
              <a:t>serviceaccounts</a:t>
            </a:r>
            <a:r>
              <a:rPr lang="en-US" sz="784" i="1" spc="0">
                <a:solidFill>
                  <a:srgbClr val="3C3C41"/>
                </a:solidFill>
                <a:latin typeface="Segoe UI"/>
                <a:cs typeface="Segoe UI Semibold" panose="020B0702040204020203" pitchFamily="34" charset="0"/>
              </a:rPr>
              <a:t>, etc.</a:t>
            </a:r>
          </a:p>
        </p:txBody>
      </p:sp>
      <p:grpSp>
        <p:nvGrpSpPr>
          <p:cNvPr id="40" name="Group 39" descr="controller manager icon">
            <a:extLst>
              <a:ext uri="{FF2B5EF4-FFF2-40B4-BE49-F238E27FC236}">
                <a16:creationId xmlns:a16="http://schemas.microsoft.com/office/drawing/2014/main" id="{69114923-926F-7402-FA11-11545A24A6E6}"/>
              </a:ext>
            </a:extLst>
          </p:cNvPr>
          <p:cNvGrpSpPr/>
          <p:nvPr/>
        </p:nvGrpSpPr>
        <p:grpSpPr>
          <a:xfrm>
            <a:off x="5246471" y="3854988"/>
            <a:ext cx="589663" cy="810041"/>
            <a:chOff x="5351673" y="3989112"/>
            <a:chExt cx="601487" cy="826284"/>
          </a:xfrm>
        </p:grpSpPr>
        <p:sp>
          <p:nvSpPr>
            <p:cNvPr id="41" name="Title 1">
              <a:extLst>
                <a:ext uri="{FF2B5EF4-FFF2-40B4-BE49-F238E27FC236}">
                  <a16:creationId xmlns:a16="http://schemas.microsoft.com/office/drawing/2014/main" id="{A1B67ADC-92FA-D5C5-BC5C-BECF22BFD889}"/>
                </a:ext>
              </a:extLst>
            </p:cNvPr>
            <p:cNvSpPr txBox="1">
              <a:spLocks/>
            </p:cNvSpPr>
            <p:nvPr/>
          </p:nvSpPr>
          <p:spPr>
            <a:xfrm>
              <a:off x="5351673" y="3989112"/>
              <a:ext cx="601487" cy="24622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controller-manager</a:t>
              </a:r>
            </a:p>
          </p:txBody>
        </p:sp>
        <p:sp>
          <p:nvSpPr>
            <p:cNvPr id="42" name="Rectangle: Rounded Corners 41">
              <a:extLst>
                <a:ext uri="{FF2B5EF4-FFF2-40B4-BE49-F238E27FC236}">
                  <a16:creationId xmlns:a16="http://schemas.microsoft.com/office/drawing/2014/main" id="{85E92FE2-BB77-BD3B-CC42-BECD7CBD3907}"/>
                </a:ext>
              </a:extLst>
            </p:cNvPr>
            <p:cNvSpPr/>
            <p:nvPr/>
          </p:nvSpPr>
          <p:spPr bwMode="auto">
            <a:xfrm>
              <a:off x="5385893" y="4281807"/>
              <a:ext cx="533589" cy="533589"/>
            </a:xfrm>
            <a:prstGeom prst="roundRect">
              <a:avLst>
                <a:gd name="adj" fmla="val 3125"/>
              </a:avLst>
            </a:prstGeom>
            <a:solidFill>
              <a:schemeClr val="bg2"/>
            </a:solidFill>
            <a:ln w="12700">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3C3C41"/>
                </a:solidFill>
                <a:latin typeface="Segoe UI"/>
                <a:cs typeface="Segoe UI" pitchFamily="34" charset="0"/>
              </a:endParaRPr>
            </a:p>
          </p:txBody>
        </p:sp>
        <p:sp>
          <p:nvSpPr>
            <p:cNvPr id="43" name="remote" title="Icon of a remote control">
              <a:extLst>
                <a:ext uri="{FF2B5EF4-FFF2-40B4-BE49-F238E27FC236}">
                  <a16:creationId xmlns:a16="http://schemas.microsoft.com/office/drawing/2014/main" id="{9A90FF63-F369-162E-E186-B5CD56BAC6C9}"/>
                </a:ext>
              </a:extLst>
            </p:cNvPr>
            <p:cNvSpPr>
              <a:spLocks noChangeAspect="1" noEditPoints="1"/>
            </p:cNvSpPr>
            <p:nvPr/>
          </p:nvSpPr>
          <p:spPr bwMode="auto">
            <a:xfrm>
              <a:off x="5576275" y="4365721"/>
              <a:ext cx="152825" cy="365760"/>
            </a:xfrm>
            <a:custGeom>
              <a:avLst/>
              <a:gdLst>
                <a:gd name="T0" fmla="*/ 87 w 107"/>
                <a:gd name="T1" fmla="*/ 188 h 261"/>
                <a:gd name="T2" fmla="*/ 71 w 107"/>
                <a:gd name="T3" fmla="*/ 261 h 261"/>
                <a:gd name="T4" fmla="*/ 19 w 107"/>
                <a:gd name="T5" fmla="*/ 245 h 261"/>
                <a:gd name="T6" fmla="*/ 0 w 107"/>
                <a:gd name="T7" fmla="*/ 110 h 261"/>
                <a:gd name="T8" fmla="*/ 18 w 107"/>
                <a:gd name="T9" fmla="*/ 0 h 261"/>
                <a:gd name="T10" fmla="*/ 107 w 107"/>
                <a:gd name="T11" fmla="*/ 18 h 261"/>
                <a:gd name="T12" fmla="*/ 54 w 107"/>
                <a:gd name="T13" fmla="*/ 35 h 261"/>
                <a:gd name="T14" fmla="*/ 52 w 107"/>
                <a:gd name="T15" fmla="*/ 36 h 261"/>
                <a:gd name="T16" fmla="*/ 54 w 107"/>
                <a:gd name="T17" fmla="*/ 35 h 261"/>
                <a:gd name="T18" fmla="*/ 70 w 107"/>
                <a:gd name="T19" fmla="*/ 52 h 261"/>
                <a:gd name="T20" fmla="*/ 72 w 107"/>
                <a:gd name="T21" fmla="*/ 54 h 261"/>
                <a:gd name="T22" fmla="*/ 37 w 107"/>
                <a:gd name="T23" fmla="*/ 52 h 261"/>
                <a:gd name="T24" fmla="*/ 35 w 107"/>
                <a:gd name="T25" fmla="*/ 54 h 261"/>
                <a:gd name="T26" fmla="*/ 37 w 107"/>
                <a:gd name="T27" fmla="*/ 52 h 261"/>
                <a:gd name="T28" fmla="*/ 70 w 107"/>
                <a:gd name="T29" fmla="*/ 86 h 261"/>
                <a:gd name="T30" fmla="*/ 72 w 107"/>
                <a:gd name="T31" fmla="*/ 88 h 261"/>
                <a:gd name="T32" fmla="*/ 37 w 107"/>
                <a:gd name="T33" fmla="*/ 86 h 261"/>
                <a:gd name="T34" fmla="*/ 35 w 107"/>
                <a:gd name="T35" fmla="*/ 88 h 261"/>
                <a:gd name="T36" fmla="*/ 37 w 107"/>
                <a:gd name="T37" fmla="*/ 86 h 261"/>
                <a:gd name="T38" fmla="*/ 70 w 107"/>
                <a:gd name="T39" fmla="*/ 121 h 261"/>
                <a:gd name="T40" fmla="*/ 72 w 107"/>
                <a:gd name="T41" fmla="*/ 123 h 261"/>
                <a:gd name="T42" fmla="*/ 37 w 107"/>
                <a:gd name="T43" fmla="*/ 121 h 261"/>
                <a:gd name="T44" fmla="*/ 35 w 107"/>
                <a:gd name="T45" fmla="*/ 123 h 261"/>
                <a:gd name="T46" fmla="*/ 37 w 107"/>
                <a:gd name="T47" fmla="*/ 121 h 261"/>
                <a:gd name="T48" fmla="*/ 52 w 107"/>
                <a:gd name="T49" fmla="*/ 69 h 261"/>
                <a:gd name="T50" fmla="*/ 54 w 107"/>
                <a:gd name="T51" fmla="*/ 71 h 261"/>
                <a:gd name="T52" fmla="*/ 54 w 107"/>
                <a:gd name="T53" fmla="*/ 156 h 261"/>
                <a:gd name="T54" fmla="*/ 52 w 107"/>
                <a:gd name="T55" fmla="*/ 158 h 261"/>
                <a:gd name="T56" fmla="*/ 54 w 107"/>
                <a:gd name="T57" fmla="*/ 156 h 261"/>
                <a:gd name="T58" fmla="*/ 52 w 107"/>
                <a:gd name="T59" fmla="*/ 191 h 261"/>
                <a:gd name="T60" fmla="*/ 54 w 107"/>
                <a:gd name="T61" fmla="*/ 192 h 261"/>
                <a:gd name="T62" fmla="*/ 54 w 107"/>
                <a:gd name="T63" fmla="*/ 226 h 261"/>
                <a:gd name="T64" fmla="*/ 52 w 107"/>
                <a:gd name="T65" fmla="*/ 227 h 261"/>
                <a:gd name="T66" fmla="*/ 54 w 107"/>
                <a:gd name="T67" fmla="*/ 226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7" h="261">
                  <a:moveTo>
                    <a:pt x="106" y="110"/>
                  </a:moveTo>
                  <a:cubicBezTo>
                    <a:pt x="87" y="188"/>
                    <a:pt x="87" y="188"/>
                    <a:pt x="87" y="188"/>
                  </a:cubicBezTo>
                  <a:cubicBezTo>
                    <a:pt x="87" y="245"/>
                    <a:pt x="87" y="245"/>
                    <a:pt x="87" y="245"/>
                  </a:cubicBezTo>
                  <a:cubicBezTo>
                    <a:pt x="87" y="254"/>
                    <a:pt x="80" y="261"/>
                    <a:pt x="71" y="261"/>
                  </a:cubicBezTo>
                  <a:cubicBezTo>
                    <a:pt x="35" y="261"/>
                    <a:pt x="35" y="261"/>
                    <a:pt x="35" y="261"/>
                  </a:cubicBezTo>
                  <a:cubicBezTo>
                    <a:pt x="26" y="261"/>
                    <a:pt x="19" y="254"/>
                    <a:pt x="19" y="245"/>
                  </a:cubicBezTo>
                  <a:cubicBezTo>
                    <a:pt x="19" y="188"/>
                    <a:pt x="19" y="188"/>
                    <a:pt x="19" y="188"/>
                  </a:cubicBezTo>
                  <a:cubicBezTo>
                    <a:pt x="0" y="110"/>
                    <a:pt x="0" y="110"/>
                    <a:pt x="0" y="110"/>
                  </a:cubicBezTo>
                  <a:cubicBezTo>
                    <a:pt x="0" y="18"/>
                    <a:pt x="0" y="18"/>
                    <a:pt x="0" y="18"/>
                  </a:cubicBezTo>
                  <a:cubicBezTo>
                    <a:pt x="0" y="8"/>
                    <a:pt x="8" y="0"/>
                    <a:pt x="18" y="0"/>
                  </a:cubicBezTo>
                  <a:cubicBezTo>
                    <a:pt x="89" y="0"/>
                    <a:pt x="89" y="0"/>
                    <a:pt x="89" y="0"/>
                  </a:cubicBezTo>
                  <a:cubicBezTo>
                    <a:pt x="99" y="0"/>
                    <a:pt x="107" y="8"/>
                    <a:pt x="107" y="18"/>
                  </a:cubicBezTo>
                  <a:lnTo>
                    <a:pt x="106" y="110"/>
                  </a:lnTo>
                  <a:close/>
                  <a:moveTo>
                    <a:pt x="54" y="35"/>
                  </a:moveTo>
                  <a:cubicBezTo>
                    <a:pt x="52" y="35"/>
                    <a:pt x="52" y="35"/>
                    <a:pt x="52" y="35"/>
                  </a:cubicBezTo>
                  <a:cubicBezTo>
                    <a:pt x="52" y="36"/>
                    <a:pt x="52" y="36"/>
                    <a:pt x="52" y="36"/>
                  </a:cubicBezTo>
                  <a:cubicBezTo>
                    <a:pt x="54" y="36"/>
                    <a:pt x="54" y="36"/>
                    <a:pt x="54" y="36"/>
                  </a:cubicBezTo>
                  <a:lnTo>
                    <a:pt x="54" y="35"/>
                  </a:lnTo>
                  <a:close/>
                  <a:moveTo>
                    <a:pt x="72" y="52"/>
                  </a:moveTo>
                  <a:cubicBezTo>
                    <a:pt x="70" y="52"/>
                    <a:pt x="70" y="52"/>
                    <a:pt x="70" y="52"/>
                  </a:cubicBezTo>
                  <a:cubicBezTo>
                    <a:pt x="70" y="54"/>
                    <a:pt x="70" y="54"/>
                    <a:pt x="70" y="54"/>
                  </a:cubicBezTo>
                  <a:cubicBezTo>
                    <a:pt x="72" y="54"/>
                    <a:pt x="72" y="54"/>
                    <a:pt x="72" y="54"/>
                  </a:cubicBezTo>
                  <a:lnTo>
                    <a:pt x="72" y="52"/>
                  </a:lnTo>
                  <a:close/>
                  <a:moveTo>
                    <a:pt x="37" y="52"/>
                  </a:moveTo>
                  <a:cubicBezTo>
                    <a:pt x="35" y="52"/>
                    <a:pt x="35" y="52"/>
                    <a:pt x="35" y="52"/>
                  </a:cubicBezTo>
                  <a:cubicBezTo>
                    <a:pt x="35" y="54"/>
                    <a:pt x="35" y="54"/>
                    <a:pt x="35" y="54"/>
                  </a:cubicBezTo>
                  <a:cubicBezTo>
                    <a:pt x="37" y="54"/>
                    <a:pt x="37" y="54"/>
                    <a:pt x="37" y="54"/>
                  </a:cubicBezTo>
                  <a:lnTo>
                    <a:pt x="37" y="52"/>
                  </a:lnTo>
                  <a:close/>
                  <a:moveTo>
                    <a:pt x="72" y="86"/>
                  </a:moveTo>
                  <a:cubicBezTo>
                    <a:pt x="70" y="86"/>
                    <a:pt x="70" y="86"/>
                    <a:pt x="70" y="86"/>
                  </a:cubicBezTo>
                  <a:cubicBezTo>
                    <a:pt x="70" y="88"/>
                    <a:pt x="70" y="88"/>
                    <a:pt x="70" y="88"/>
                  </a:cubicBezTo>
                  <a:cubicBezTo>
                    <a:pt x="72" y="88"/>
                    <a:pt x="72" y="88"/>
                    <a:pt x="72" y="88"/>
                  </a:cubicBezTo>
                  <a:lnTo>
                    <a:pt x="72" y="86"/>
                  </a:lnTo>
                  <a:close/>
                  <a:moveTo>
                    <a:pt x="37" y="86"/>
                  </a:moveTo>
                  <a:cubicBezTo>
                    <a:pt x="35" y="86"/>
                    <a:pt x="35" y="86"/>
                    <a:pt x="35" y="86"/>
                  </a:cubicBezTo>
                  <a:cubicBezTo>
                    <a:pt x="35" y="88"/>
                    <a:pt x="35" y="88"/>
                    <a:pt x="35" y="88"/>
                  </a:cubicBezTo>
                  <a:cubicBezTo>
                    <a:pt x="37" y="88"/>
                    <a:pt x="37" y="88"/>
                    <a:pt x="37" y="88"/>
                  </a:cubicBezTo>
                  <a:lnTo>
                    <a:pt x="37" y="86"/>
                  </a:lnTo>
                  <a:close/>
                  <a:moveTo>
                    <a:pt x="72" y="121"/>
                  </a:moveTo>
                  <a:cubicBezTo>
                    <a:pt x="70" y="121"/>
                    <a:pt x="70" y="121"/>
                    <a:pt x="70" y="121"/>
                  </a:cubicBezTo>
                  <a:cubicBezTo>
                    <a:pt x="70" y="123"/>
                    <a:pt x="70" y="123"/>
                    <a:pt x="70" y="123"/>
                  </a:cubicBezTo>
                  <a:cubicBezTo>
                    <a:pt x="72" y="123"/>
                    <a:pt x="72" y="123"/>
                    <a:pt x="72" y="123"/>
                  </a:cubicBezTo>
                  <a:lnTo>
                    <a:pt x="72" y="121"/>
                  </a:lnTo>
                  <a:close/>
                  <a:moveTo>
                    <a:pt x="37" y="121"/>
                  </a:moveTo>
                  <a:cubicBezTo>
                    <a:pt x="35" y="121"/>
                    <a:pt x="35" y="121"/>
                    <a:pt x="35" y="121"/>
                  </a:cubicBezTo>
                  <a:cubicBezTo>
                    <a:pt x="35" y="123"/>
                    <a:pt x="35" y="123"/>
                    <a:pt x="35" y="123"/>
                  </a:cubicBezTo>
                  <a:cubicBezTo>
                    <a:pt x="37" y="123"/>
                    <a:pt x="37" y="123"/>
                    <a:pt x="37" y="123"/>
                  </a:cubicBezTo>
                  <a:lnTo>
                    <a:pt x="37" y="121"/>
                  </a:lnTo>
                  <a:close/>
                  <a:moveTo>
                    <a:pt x="54" y="69"/>
                  </a:moveTo>
                  <a:cubicBezTo>
                    <a:pt x="52" y="69"/>
                    <a:pt x="52" y="69"/>
                    <a:pt x="52" y="69"/>
                  </a:cubicBezTo>
                  <a:cubicBezTo>
                    <a:pt x="52" y="71"/>
                    <a:pt x="52" y="71"/>
                    <a:pt x="52" y="71"/>
                  </a:cubicBezTo>
                  <a:cubicBezTo>
                    <a:pt x="54" y="71"/>
                    <a:pt x="54" y="71"/>
                    <a:pt x="54" y="71"/>
                  </a:cubicBezTo>
                  <a:lnTo>
                    <a:pt x="54" y="69"/>
                  </a:lnTo>
                  <a:close/>
                  <a:moveTo>
                    <a:pt x="54" y="156"/>
                  </a:moveTo>
                  <a:cubicBezTo>
                    <a:pt x="52" y="156"/>
                    <a:pt x="52" y="156"/>
                    <a:pt x="52" y="156"/>
                  </a:cubicBezTo>
                  <a:cubicBezTo>
                    <a:pt x="52" y="158"/>
                    <a:pt x="52" y="158"/>
                    <a:pt x="52" y="158"/>
                  </a:cubicBezTo>
                  <a:cubicBezTo>
                    <a:pt x="54" y="158"/>
                    <a:pt x="54" y="158"/>
                    <a:pt x="54" y="158"/>
                  </a:cubicBezTo>
                  <a:lnTo>
                    <a:pt x="54" y="156"/>
                  </a:lnTo>
                  <a:close/>
                  <a:moveTo>
                    <a:pt x="54" y="191"/>
                  </a:moveTo>
                  <a:cubicBezTo>
                    <a:pt x="52" y="191"/>
                    <a:pt x="52" y="191"/>
                    <a:pt x="52" y="191"/>
                  </a:cubicBezTo>
                  <a:cubicBezTo>
                    <a:pt x="52" y="192"/>
                    <a:pt x="52" y="192"/>
                    <a:pt x="52" y="192"/>
                  </a:cubicBezTo>
                  <a:cubicBezTo>
                    <a:pt x="54" y="192"/>
                    <a:pt x="54" y="192"/>
                    <a:pt x="54" y="192"/>
                  </a:cubicBezTo>
                  <a:lnTo>
                    <a:pt x="54" y="191"/>
                  </a:lnTo>
                  <a:close/>
                  <a:moveTo>
                    <a:pt x="54" y="226"/>
                  </a:moveTo>
                  <a:cubicBezTo>
                    <a:pt x="52" y="226"/>
                    <a:pt x="52" y="226"/>
                    <a:pt x="52" y="226"/>
                  </a:cubicBezTo>
                  <a:cubicBezTo>
                    <a:pt x="52" y="227"/>
                    <a:pt x="52" y="227"/>
                    <a:pt x="52" y="227"/>
                  </a:cubicBezTo>
                  <a:cubicBezTo>
                    <a:pt x="54" y="227"/>
                    <a:pt x="54" y="227"/>
                    <a:pt x="54" y="227"/>
                  </a:cubicBezTo>
                  <a:lnTo>
                    <a:pt x="54" y="226"/>
                  </a:lnTo>
                  <a:close/>
                </a:path>
              </a:pathLst>
            </a:custGeom>
            <a:noFill/>
            <a:ln w="1270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a:solidFill>
                  <a:srgbClr val="3C3C41"/>
                </a:solidFill>
                <a:latin typeface="Segoe UI"/>
              </a:endParaRPr>
            </a:p>
          </p:txBody>
        </p:sp>
      </p:grpSp>
      <p:grpSp>
        <p:nvGrpSpPr>
          <p:cNvPr id="44" name="Group 43" descr="scheduler icon">
            <a:extLst>
              <a:ext uri="{FF2B5EF4-FFF2-40B4-BE49-F238E27FC236}">
                <a16:creationId xmlns:a16="http://schemas.microsoft.com/office/drawing/2014/main" id="{955C8E04-3146-97A6-C82C-1725DF7116CC}"/>
              </a:ext>
            </a:extLst>
          </p:cNvPr>
          <p:cNvGrpSpPr/>
          <p:nvPr/>
        </p:nvGrpSpPr>
        <p:grpSpPr>
          <a:xfrm>
            <a:off x="6349277" y="3974511"/>
            <a:ext cx="589663" cy="689351"/>
            <a:chOff x="6119748" y="4054926"/>
            <a:chExt cx="601487" cy="703174"/>
          </a:xfrm>
          <a:solidFill>
            <a:schemeClr val="bg2"/>
          </a:solidFill>
        </p:grpSpPr>
        <p:sp>
          <p:nvSpPr>
            <p:cNvPr id="45" name="Title 1">
              <a:extLst>
                <a:ext uri="{FF2B5EF4-FFF2-40B4-BE49-F238E27FC236}">
                  <a16:creationId xmlns:a16="http://schemas.microsoft.com/office/drawing/2014/main" id="{03A4BC80-5C21-FFF3-621C-EFE6ABA22FAE}"/>
                </a:ext>
              </a:extLst>
            </p:cNvPr>
            <p:cNvSpPr txBox="1">
              <a:spLocks/>
            </p:cNvSpPr>
            <p:nvPr/>
          </p:nvSpPr>
          <p:spPr>
            <a:xfrm>
              <a:off x="6119748" y="4054926"/>
              <a:ext cx="601487" cy="123111"/>
            </a:xfrm>
            <a:prstGeom prst="rect">
              <a:avLst/>
            </a:prstGeom>
            <a:grpFill/>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scheduler</a:t>
              </a:r>
            </a:p>
          </p:txBody>
        </p:sp>
        <p:sp>
          <p:nvSpPr>
            <p:cNvPr id="46" name="Rectangle: Rounded Corners 45">
              <a:extLst>
                <a:ext uri="{FF2B5EF4-FFF2-40B4-BE49-F238E27FC236}">
                  <a16:creationId xmlns:a16="http://schemas.microsoft.com/office/drawing/2014/main" id="{26803A5A-7272-21FC-5B1C-F8D766150B89}"/>
                </a:ext>
              </a:extLst>
            </p:cNvPr>
            <p:cNvSpPr/>
            <p:nvPr/>
          </p:nvSpPr>
          <p:spPr bwMode="auto">
            <a:xfrm>
              <a:off x="6153968" y="4224511"/>
              <a:ext cx="533589" cy="533589"/>
            </a:xfrm>
            <a:prstGeom prst="roundRect">
              <a:avLst>
                <a:gd name="adj" fmla="val 3125"/>
              </a:avLst>
            </a:prstGeom>
            <a:grpFill/>
            <a:ln w="12700">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3C3C41"/>
                </a:solidFill>
                <a:latin typeface="Segoe UI"/>
                <a:cs typeface="Segoe UI" pitchFamily="34" charset="0"/>
              </a:endParaRPr>
            </a:p>
          </p:txBody>
        </p:sp>
        <p:sp>
          <p:nvSpPr>
            <p:cNvPr id="47" name="Calendar" title="Icon of a calendar">
              <a:extLst>
                <a:ext uri="{FF2B5EF4-FFF2-40B4-BE49-F238E27FC236}">
                  <a16:creationId xmlns:a16="http://schemas.microsoft.com/office/drawing/2014/main" id="{E934E941-BDBE-7C04-E00C-DCBBEFC20DE6}"/>
                </a:ext>
              </a:extLst>
            </p:cNvPr>
            <p:cNvSpPr>
              <a:spLocks noChangeAspect="1" noEditPoints="1"/>
            </p:cNvSpPr>
            <p:nvPr/>
          </p:nvSpPr>
          <p:spPr bwMode="auto">
            <a:xfrm>
              <a:off x="6256749" y="4334148"/>
              <a:ext cx="328027" cy="314314"/>
            </a:xfrm>
            <a:custGeom>
              <a:avLst/>
              <a:gdLst>
                <a:gd name="T0" fmla="*/ 598 w 598"/>
                <a:gd name="T1" fmla="*/ 573 h 573"/>
                <a:gd name="T2" fmla="*/ 0 w 598"/>
                <a:gd name="T3" fmla="*/ 59 h 573"/>
                <a:gd name="T4" fmla="*/ 598 w 598"/>
                <a:gd name="T5" fmla="*/ 341 h 573"/>
                <a:gd name="T6" fmla="*/ 598 w 598"/>
                <a:gd name="T7" fmla="*/ 176 h 573"/>
                <a:gd name="T8" fmla="*/ 120 w 598"/>
                <a:gd name="T9" fmla="*/ 121 h 573"/>
                <a:gd name="T10" fmla="*/ 477 w 598"/>
                <a:gd name="T11" fmla="*/ 121 h 573"/>
                <a:gd name="T12" fmla="*/ 246 w 598"/>
                <a:gd name="T13" fmla="*/ 252 h 573"/>
                <a:gd name="T14" fmla="*/ 232 w 598"/>
                <a:gd name="T15" fmla="*/ 266 h 573"/>
                <a:gd name="T16" fmla="*/ 246 w 598"/>
                <a:gd name="T17" fmla="*/ 259 h 573"/>
                <a:gd name="T18" fmla="*/ 365 w 598"/>
                <a:gd name="T19" fmla="*/ 252 h 573"/>
                <a:gd name="T20" fmla="*/ 351 w 598"/>
                <a:gd name="T21" fmla="*/ 266 h 573"/>
                <a:gd name="T22" fmla="*/ 365 w 598"/>
                <a:gd name="T23" fmla="*/ 257 h 573"/>
                <a:gd name="T24" fmla="*/ 484 w 598"/>
                <a:gd name="T25" fmla="*/ 252 h 573"/>
                <a:gd name="T26" fmla="*/ 470 w 598"/>
                <a:gd name="T27" fmla="*/ 266 h 573"/>
                <a:gd name="T28" fmla="*/ 484 w 598"/>
                <a:gd name="T29" fmla="*/ 259 h 573"/>
                <a:gd name="T30" fmla="*/ 246 w 598"/>
                <a:gd name="T31" fmla="*/ 332 h 573"/>
                <a:gd name="T32" fmla="*/ 232 w 598"/>
                <a:gd name="T33" fmla="*/ 344 h 573"/>
                <a:gd name="T34" fmla="*/ 246 w 598"/>
                <a:gd name="T35" fmla="*/ 339 h 573"/>
                <a:gd name="T36" fmla="*/ 365 w 598"/>
                <a:gd name="T37" fmla="*/ 332 h 573"/>
                <a:gd name="T38" fmla="*/ 351 w 598"/>
                <a:gd name="T39" fmla="*/ 344 h 573"/>
                <a:gd name="T40" fmla="*/ 365 w 598"/>
                <a:gd name="T41" fmla="*/ 337 h 573"/>
                <a:gd name="T42" fmla="*/ 484 w 598"/>
                <a:gd name="T43" fmla="*/ 332 h 573"/>
                <a:gd name="T44" fmla="*/ 470 w 598"/>
                <a:gd name="T45" fmla="*/ 344 h 573"/>
                <a:gd name="T46" fmla="*/ 484 w 598"/>
                <a:gd name="T47" fmla="*/ 339 h 573"/>
                <a:gd name="T48" fmla="*/ 127 w 598"/>
                <a:gd name="T49" fmla="*/ 332 h 573"/>
                <a:gd name="T50" fmla="*/ 113 w 598"/>
                <a:gd name="T51" fmla="*/ 344 h 573"/>
                <a:gd name="T52" fmla="*/ 127 w 598"/>
                <a:gd name="T53" fmla="*/ 337 h 573"/>
                <a:gd name="T54" fmla="*/ 246 w 598"/>
                <a:gd name="T55" fmla="*/ 410 h 573"/>
                <a:gd name="T56" fmla="*/ 232 w 598"/>
                <a:gd name="T57" fmla="*/ 424 h 573"/>
                <a:gd name="T58" fmla="*/ 246 w 598"/>
                <a:gd name="T59" fmla="*/ 417 h 573"/>
                <a:gd name="T60" fmla="*/ 365 w 598"/>
                <a:gd name="T61" fmla="*/ 410 h 573"/>
                <a:gd name="T62" fmla="*/ 351 w 598"/>
                <a:gd name="T63" fmla="*/ 424 h 573"/>
                <a:gd name="T64" fmla="*/ 365 w 598"/>
                <a:gd name="T65" fmla="*/ 417 h 573"/>
                <a:gd name="T66" fmla="*/ 484 w 598"/>
                <a:gd name="T67" fmla="*/ 410 h 573"/>
                <a:gd name="T68" fmla="*/ 470 w 598"/>
                <a:gd name="T69" fmla="*/ 424 h 573"/>
                <a:gd name="T70" fmla="*/ 484 w 598"/>
                <a:gd name="T71" fmla="*/ 417 h 573"/>
                <a:gd name="T72" fmla="*/ 127 w 598"/>
                <a:gd name="T73" fmla="*/ 410 h 573"/>
                <a:gd name="T74" fmla="*/ 113 w 598"/>
                <a:gd name="T75" fmla="*/ 424 h 573"/>
                <a:gd name="T76" fmla="*/ 127 w 598"/>
                <a:gd name="T77" fmla="*/ 417 h 573"/>
                <a:gd name="T78" fmla="*/ 246 w 598"/>
                <a:gd name="T79" fmla="*/ 490 h 573"/>
                <a:gd name="T80" fmla="*/ 232 w 598"/>
                <a:gd name="T81" fmla="*/ 504 h 573"/>
                <a:gd name="T82" fmla="*/ 246 w 598"/>
                <a:gd name="T83" fmla="*/ 497 h 573"/>
                <a:gd name="T84" fmla="*/ 365 w 598"/>
                <a:gd name="T85" fmla="*/ 490 h 573"/>
                <a:gd name="T86" fmla="*/ 351 w 598"/>
                <a:gd name="T87" fmla="*/ 504 h 573"/>
                <a:gd name="T88" fmla="*/ 365 w 598"/>
                <a:gd name="T89" fmla="*/ 497 h 573"/>
                <a:gd name="T90" fmla="*/ 127 w 598"/>
                <a:gd name="T91" fmla="*/ 490 h 573"/>
                <a:gd name="T92" fmla="*/ 113 w 598"/>
                <a:gd name="T93" fmla="*/ 504 h 573"/>
                <a:gd name="T94" fmla="*/ 127 w 598"/>
                <a:gd name="T95" fmla="*/ 495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8" h="573">
                  <a:moveTo>
                    <a:pt x="598" y="341"/>
                  </a:moveTo>
                  <a:lnTo>
                    <a:pt x="598" y="573"/>
                  </a:lnTo>
                  <a:lnTo>
                    <a:pt x="0" y="573"/>
                  </a:lnTo>
                  <a:lnTo>
                    <a:pt x="0" y="59"/>
                  </a:lnTo>
                  <a:lnTo>
                    <a:pt x="598" y="59"/>
                  </a:lnTo>
                  <a:lnTo>
                    <a:pt x="598" y="341"/>
                  </a:lnTo>
                  <a:moveTo>
                    <a:pt x="0" y="176"/>
                  </a:moveTo>
                  <a:lnTo>
                    <a:pt x="598" y="176"/>
                  </a:lnTo>
                  <a:moveTo>
                    <a:pt x="120" y="0"/>
                  </a:moveTo>
                  <a:lnTo>
                    <a:pt x="120" y="121"/>
                  </a:lnTo>
                  <a:moveTo>
                    <a:pt x="477" y="0"/>
                  </a:moveTo>
                  <a:lnTo>
                    <a:pt x="477" y="121"/>
                  </a:lnTo>
                  <a:moveTo>
                    <a:pt x="246" y="259"/>
                  </a:moveTo>
                  <a:lnTo>
                    <a:pt x="246" y="252"/>
                  </a:lnTo>
                  <a:lnTo>
                    <a:pt x="232" y="252"/>
                  </a:lnTo>
                  <a:lnTo>
                    <a:pt x="232" y="266"/>
                  </a:lnTo>
                  <a:lnTo>
                    <a:pt x="246" y="266"/>
                  </a:lnTo>
                  <a:lnTo>
                    <a:pt x="246" y="259"/>
                  </a:lnTo>
                  <a:moveTo>
                    <a:pt x="365" y="257"/>
                  </a:moveTo>
                  <a:lnTo>
                    <a:pt x="365" y="252"/>
                  </a:lnTo>
                  <a:lnTo>
                    <a:pt x="351" y="252"/>
                  </a:lnTo>
                  <a:lnTo>
                    <a:pt x="351" y="266"/>
                  </a:lnTo>
                  <a:lnTo>
                    <a:pt x="365" y="266"/>
                  </a:lnTo>
                  <a:lnTo>
                    <a:pt x="365" y="257"/>
                  </a:lnTo>
                  <a:moveTo>
                    <a:pt x="484" y="259"/>
                  </a:moveTo>
                  <a:lnTo>
                    <a:pt x="484" y="252"/>
                  </a:lnTo>
                  <a:lnTo>
                    <a:pt x="470" y="252"/>
                  </a:lnTo>
                  <a:lnTo>
                    <a:pt x="470" y="266"/>
                  </a:lnTo>
                  <a:lnTo>
                    <a:pt x="484" y="266"/>
                  </a:lnTo>
                  <a:lnTo>
                    <a:pt x="484" y="259"/>
                  </a:lnTo>
                  <a:moveTo>
                    <a:pt x="246" y="339"/>
                  </a:moveTo>
                  <a:lnTo>
                    <a:pt x="246" y="332"/>
                  </a:lnTo>
                  <a:lnTo>
                    <a:pt x="232" y="332"/>
                  </a:lnTo>
                  <a:lnTo>
                    <a:pt x="232" y="344"/>
                  </a:lnTo>
                  <a:lnTo>
                    <a:pt x="246" y="344"/>
                  </a:lnTo>
                  <a:lnTo>
                    <a:pt x="246" y="339"/>
                  </a:lnTo>
                  <a:moveTo>
                    <a:pt x="365" y="337"/>
                  </a:moveTo>
                  <a:lnTo>
                    <a:pt x="365" y="332"/>
                  </a:lnTo>
                  <a:lnTo>
                    <a:pt x="351" y="332"/>
                  </a:lnTo>
                  <a:lnTo>
                    <a:pt x="351" y="344"/>
                  </a:lnTo>
                  <a:lnTo>
                    <a:pt x="365" y="344"/>
                  </a:lnTo>
                  <a:lnTo>
                    <a:pt x="365" y="337"/>
                  </a:lnTo>
                  <a:moveTo>
                    <a:pt x="484" y="339"/>
                  </a:moveTo>
                  <a:lnTo>
                    <a:pt x="484" y="332"/>
                  </a:lnTo>
                  <a:lnTo>
                    <a:pt x="470" y="332"/>
                  </a:lnTo>
                  <a:lnTo>
                    <a:pt x="470" y="344"/>
                  </a:lnTo>
                  <a:lnTo>
                    <a:pt x="484" y="344"/>
                  </a:lnTo>
                  <a:lnTo>
                    <a:pt x="484" y="339"/>
                  </a:lnTo>
                  <a:moveTo>
                    <a:pt x="127" y="337"/>
                  </a:moveTo>
                  <a:lnTo>
                    <a:pt x="127" y="332"/>
                  </a:lnTo>
                  <a:lnTo>
                    <a:pt x="113" y="332"/>
                  </a:lnTo>
                  <a:lnTo>
                    <a:pt x="113" y="344"/>
                  </a:lnTo>
                  <a:lnTo>
                    <a:pt x="127" y="344"/>
                  </a:lnTo>
                  <a:lnTo>
                    <a:pt x="127" y="337"/>
                  </a:lnTo>
                  <a:moveTo>
                    <a:pt x="246" y="417"/>
                  </a:moveTo>
                  <a:lnTo>
                    <a:pt x="246" y="410"/>
                  </a:lnTo>
                  <a:lnTo>
                    <a:pt x="232" y="410"/>
                  </a:lnTo>
                  <a:lnTo>
                    <a:pt x="232" y="424"/>
                  </a:lnTo>
                  <a:lnTo>
                    <a:pt x="246" y="424"/>
                  </a:lnTo>
                  <a:lnTo>
                    <a:pt x="246" y="417"/>
                  </a:lnTo>
                  <a:moveTo>
                    <a:pt x="365" y="417"/>
                  </a:moveTo>
                  <a:lnTo>
                    <a:pt x="365" y="410"/>
                  </a:lnTo>
                  <a:lnTo>
                    <a:pt x="351" y="410"/>
                  </a:lnTo>
                  <a:lnTo>
                    <a:pt x="351" y="424"/>
                  </a:lnTo>
                  <a:lnTo>
                    <a:pt x="365" y="424"/>
                  </a:lnTo>
                  <a:lnTo>
                    <a:pt x="365" y="417"/>
                  </a:lnTo>
                  <a:moveTo>
                    <a:pt x="484" y="417"/>
                  </a:moveTo>
                  <a:lnTo>
                    <a:pt x="484" y="410"/>
                  </a:lnTo>
                  <a:lnTo>
                    <a:pt x="470" y="410"/>
                  </a:lnTo>
                  <a:lnTo>
                    <a:pt x="470" y="424"/>
                  </a:lnTo>
                  <a:lnTo>
                    <a:pt x="484" y="424"/>
                  </a:lnTo>
                  <a:lnTo>
                    <a:pt x="484" y="417"/>
                  </a:lnTo>
                  <a:moveTo>
                    <a:pt x="127" y="417"/>
                  </a:moveTo>
                  <a:lnTo>
                    <a:pt x="127" y="410"/>
                  </a:lnTo>
                  <a:lnTo>
                    <a:pt x="113" y="410"/>
                  </a:lnTo>
                  <a:lnTo>
                    <a:pt x="113" y="424"/>
                  </a:lnTo>
                  <a:lnTo>
                    <a:pt x="127" y="424"/>
                  </a:lnTo>
                  <a:lnTo>
                    <a:pt x="127" y="417"/>
                  </a:lnTo>
                  <a:moveTo>
                    <a:pt x="246" y="497"/>
                  </a:moveTo>
                  <a:lnTo>
                    <a:pt x="246" y="490"/>
                  </a:lnTo>
                  <a:lnTo>
                    <a:pt x="232" y="490"/>
                  </a:lnTo>
                  <a:lnTo>
                    <a:pt x="232" y="504"/>
                  </a:lnTo>
                  <a:lnTo>
                    <a:pt x="246" y="504"/>
                  </a:lnTo>
                  <a:lnTo>
                    <a:pt x="246" y="497"/>
                  </a:lnTo>
                  <a:moveTo>
                    <a:pt x="365" y="497"/>
                  </a:moveTo>
                  <a:lnTo>
                    <a:pt x="365" y="490"/>
                  </a:lnTo>
                  <a:lnTo>
                    <a:pt x="351" y="490"/>
                  </a:lnTo>
                  <a:lnTo>
                    <a:pt x="351" y="504"/>
                  </a:lnTo>
                  <a:lnTo>
                    <a:pt x="365" y="504"/>
                  </a:lnTo>
                  <a:lnTo>
                    <a:pt x="365" y="497"/>
                  </a:lnTo>
                  <a:moveTo>
                    <a:pt x="127" y="495"/>
                  </a:moveTo>
                  <a:lnTo>
                    <a:pt x="127" y="490"/>
                  </a:lnTo>
                  <a:lnTo>
                    <a:pt x="113" y="490"/>
                  </a:lnTo>
                  <a:lnTo>
                    <a:pt x="113" y="504"/>
                  </a:lnTo>
                  <a:lnTo>
                    <a:pt x="127" y="504"/>
                  </a:lnTo>
                  <a:lnTo>
                    <a:pt x="127" y="495"/>
                  </a:lnTo>
                </a:path>
              </a:pathLst>
            </a:custGeom>
            <a:grpFill/>
            <a:ln w="12700" cap="sq">
              <a:solidFill>
                <a:srgbClr val="000000"/>
              </a:solidFill>
              <a:prstDash val="solid"/>
              <a:miter lim="800000"/>
              <a:headEnd/>
              <a:tailEnd/>
            </a:ln>
          </p:spPr>
          <p:txBody>
            <a:bodyPr vert="horz" wrap="square" lIns="89642" tIns="44821" rIns="89642" bIns="44821" numCol="1" anchor="t" anchorCtr="0" compatLnSpc="1">
              <a:prstTxWarp prst="textNoShape">
                <a:avLst/>
              </a:prstTxWarp>
            </a:bodyPr>
            <a:lstStyle/>
            <a:p>
              <a:pPr defTabSz="896386">
                <a:defRPr/>
              </a:pPr>
              <a:endParaRPr lang="en-US">
                <a:solidFill>
                  <a:srgbClr val="3C3C41"/>
                </a:solidFill>
                <a:latin typeface="Segoe UI"/>
              </a:endParaRPr>
            </a:p>
          </p:txBody>
        </p:sp>
      </p:grpSp>
      <p:cxnSp>
        <p:nvCxnSpPr>
          <p:cNvPr id="48" name="Straight Arrow Connector 47">
            <a:extLst>
              <a:ext uri="{FF2B5EF4-FFF2-40B4-BE49-F238E27FC236}">
                <a16:creationId xmlns:a16="http://schemas.microsoft.com/office/drawing/2014/main" id="{59799C2D-F0B1-63B7-08E1-4DAB0CCAC749}"/>
              </a:ext>
              <a:ext uri="{C183D7F6-B498-43B3-948B-1728B52AA6E4}">
                <adec:decorative xmlns:adec="http://schemas.microsoft.com/office/drawing/2017/decorative" val="1"/>
              </a:ext>
            </a:extLst>
          </p:cNvPr>
          <p:cNvCxnSpPr>
            <a:cxnSpLocks/>
            <a:stCxn id="127" idx="2"/>
            <a:endCxn id="36" idx="0"/>
          </p:cNvCxnSpPr>
          <p:nvPr/>
        </p:nvCxnSpPr>
        <p:spPr>
          <a:xfrm>
            <a:off x="6078963" y="2480121"/>
            <a:ext cx="13744" cy="412720"/>
          </a:xfrm>
          <a:prstGeom prst="straightConnector1">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0C7EB421-5EEB-2339-BBD7-706AED8C7DFF}"/>
              </a:ext>
              <a:ext uri="{C183D7F6-B498-43B3-948B-1728B52AA6E4}">
                <adec:decorative xmlns:adec="http://schemas.microsoft.com/office/drawing/2017/decorative" val="1"/>
              </a:ext>
            </a:extLst>
          </p:cNvPr>
          <p:cNvCxnSpPr>
            <a:stCxn id="42" idx="3"/>
            <a:endCxn id="37" idx="2"/>
          </p:cNvCxnSpPr>
          <p:nvPr/>
        </p:nvCxnSpPr>
        <p:spPr>
          <a:xfrm flipV="1">
            <a:off x="5803118" y="3582192"/>
            <a:ext cx="179285" cy="821287"/>
          </a:xfrm>
          <a:prstGeom prst="bentConnector2">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EFD3A61F-260A-BC0A-881B-625A40E6238E}"/>
              </a:ext>
              <a:ext uri="{C183D7F6-B498-43B3-948B-1728B52AA6E4}">
                <adec:decorative xmlns:adec="http://schemas.microsoft.com/office/drawing/2017/decorative" val="1"/>
              </a:ext>
            </a:extLst>
          </p:cNvPr>
          <p:cNvCxnSpPr>
            <a:cxnSpLocks/>
            <a:stCxn id="46" idx="1"/>
            <a:endCxn id="37" idx="2"/>
          </p:cNvCxnSpPr>
          <p:nvPr/>
        </p:nvCxnSpPr>
        <p:spPr>
          <a:xfrm rot="10800000">
            <a:off x="6203539" y="3582192"/>
            <a:ext cx="179285" cy="820121"/>
          </a:xfrm>
          <a:prstGeom prst="bentConnector2">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43F41D48-8345-8754-283C-0A741865C422}"/>
              </a:ext>
              <a:ext uri="{C183D7F6-B498-43B3-948B-1728B52AA6E4}">
                <adec:decorative xmlns:adec="http://schemas.microsoft.com/office/drawing/2017/decorative" val="1"/>
              </a:ext>
            </a:extLst>
          </p:cNvPr>
          <p:cNvSpPr/>
          <p:nvPr/>
        </p:nvSpPr>
        <p:spPr bwMode="auto">
          <a:xfrm>
            <a:off x="6389384" y="4993930"/>
            <a:ext cx="523100" cy="523100"/>
          </a:xfrm>
          <a:prstGeom prst="roundRect">
            <a:avLst>
              <a:gd name="adj" fmla="val 3125"/>
            </a:avLst>
          </a:prstGeom>
          <a:solidFill>
            <a:schemeClr val="bg1">
              <a:alpha val="1000"/>
            </a:schemeClr>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505050"/>
              </a:solidFill>
              <a:latin typeface="Segoe UI"/>
              <a:cs typeface="Segoe UI" pitchFamily="34" charset="0"/>
            </a:endParaRPr>
          </a:p>
        </p:txBody>
      </p:sp>
      <p:sp>
        <p:nvSpPr>
          <p:cNvPr id="52" name="Rectangle: Rounded Corners 51">
            <a:extLst>
              <a:ext uri="{FF2B5EF4-FFF2-40B4-BE49-F238E27FC236}">
                <a16:creationId xmlns:a16="http://schemas.microsoft.com/office/drawing/2014/main" id="{296140FD-809B-1767-0744-204AC6493B65}"/>
              </a:ext>
              <a:ext uri="{C183D7F6-B498-43B3-948B-1728B52AA6E4}">
                <adec:decorative xmlns:adec="http://schemas.microsoft.com/office/drawing/2017/decorative" val="1"/>
              </a:ext>
            </a:extLst>
          </p:cNvPr>
          <p:cNvSpPr/>
          <p:nvPr/>
        </p:nvSpPr>
        <p:spPr bwMode="auto">
          <a:xfrm>
            <a:off x="6452160" y="4995516"/>
            <a:ext cx="458736" cy="519926"/>
          </a:xfrm>
          <a:prstGeom prst="roundRect">
            <a:avLst>
              <a:gd name="adj" fmla="val 4203"/>
            </a:avLst>
          </a:prstGeom>
          <a:solidFill>
            <a:schemeClr val="bg2"/>
          </a:solidFill>
          <a:ln w="12700">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3" name="Database_EFC7" title="Icon of a cylinder">
            <a:extLst>
              <a:ext uri="{FF2B5EF4-FFF2-40B4-BE49-F238E27FC236}">
                <a16:creationId xmlns:a16="http://schemas.microsoft.com/office/drawing/2014/main" id="{2A840A6A-DF3A-180C-63B1-BC535FAC8339}"/>
              </a:ext>
            </a:extLst>
          </p:cNvPr>
          <p:cNvSpPr>
            <a:spLocks noChangeAspect="1" noEditPoints="1"/>
          </p:cNvSpPr>
          <p:nvPr/>
        </p:nvSpPr>
        <p:spPr bwMode="auto">
          <a:xfrm>
            <a:off x="6532213" y="5101162"/>
            <a:ext cx="237441" cy="30863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FFFFFF"/>
          </a:solidFill>
          <a:ln w="12700" cap="sq">
            <a:solidFill>
              <a:srgbClr val="000000"/>
            </a:solidFill>
            <a:prstDash val="solid"/>
            <a:miter lim="800000"/>
            <a:headEnd/>
            <a:tailEnd/>
          </a:ln>
        </p:spPr>
        <p:txBody>
          <a:bodyPr vert="horz" wrap="square" lIns="89642" tIns="44821" rIns="89642" bIns="44821" numCol="1" anchor="t" anchorCtr="0" compatLnSpc="1">
            <a:prstTxWarp prst="textNoShape">
              <a:avLst/>
            </a:prstTxWarp>
          </a:bodyPr>
          <a:lstStyle/>
          <a:p>
            <a:pPr defTabSz="896386">
              <a:defRPr/>
            </a:pPr>
            <a:endParaRPr lang="en-US">
              <a:solidFill>
                <a:srgbClr val="505050"/>
              </a:solidFill>
              <a:latin typeface="Segoe UI"/>
            </a:endParaRPr>
          </a:p>
        </p:txBody>
      </p:sp>
      <p:sp>
        <p:nvSpPr>
          <p:cNvPr id="54" name="Title 1">
            <a:extLst>
              <a:ext uri="{FF2B5EF4-FFF2-40B4-BE49-F238E27FC236}">
                <a16:creationId xmlns:a16="http://schemas.microsoft.com/office/drawing/2014/main" id="{94EC81D4-3421-BC55-C77D-02708EEAF9AE}"/>
              </a:ext>
            </a:extLst>
          </p:cNvPr>
          <p:cNvSpPr txBox="1">
            <a:spLocks/>
          </p:cNvSpPr>
          <p:nvPr/>
        </p:nvSpPr>
        <p:spPr>
          <a:xfrm>
            <a:off x="6472199" y="4829237"/>
            <a:ext cx="357471" cy="12069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err="1">
                <a:solidFill>
                  <a:srgbClr val="3C3C41"/>
                </a:solidFill>
                <a:latin typeface="Segoe UI Semibold" panose="020B0702040204020203" pitchFamily="34" charset="0"/>
                <a:cs typeface="Segoe UI Semibold" panose="020B0702040204020203" pitchFamily="34" charset="0"/>
              </a:rPr>
              <a:t>etcd</a:t>
            </a:r>
            <a:endParaRPr lang="en-US" sz="784" spc="0">
              <a:solidFill>
                <a:srgbClr val="3C3C41"/>
              </a:solidFill>
              <a:latin typeface="Segoe UI Semibold" panose="020B0702040204020203" pitchFamily="34" charset="0"/>
              <a:cs typeface="Segoe UI Semibold" panose="020B0702040204020203" pitchFamily="34" charset="0"/>
            </a:endParaRPr>
          </a:p>
        </p:txBody>
      </p:sp>
      <p:sp>
        <p:nvSpPr>
          <p:cNvPr id="55" name="Rectangle: Rounded Corners 54">
            <a:extLst>
              <a:ext uri="{FF2B5EF4-FFF2-40B4-BE49-F238E27FC236}">
                <a16:creationId xmlns:a16="http://schemas.microsoft.com/office/drawing/2014/main" id="{3BA60466-42AC-42F8-2BDD-A92FF60C6B50}"/>
              </a:ext>
              <a:ext uri="{C183D7F6-B498-43B3-948B-1728B52AA6E4}">
                <adec:decorative xmlns:adec="http://schemas.microsoft.com/office/drawing/2017/decorative" val="1"/>
              </a:ext>
            </a:extLst>
          </p:cNvPr>
          <p:cNvSpPr/>
          <p:nvPr/>
        </p:nvSpPr>
        <p:spPr bwMode="auto">
          <a:xfrm>
            <a:off x="6658317" y="5227091"/>
            <a:ext cx="523100" cy="523100"/>
          </a:xfrm>
          <a:prstGeom prst="roundRect">
            <a:avLst>
              <a:gd name="adj" fmla="val 3125"/>
            </a:avLst>
          </a:prstGeom>
          <a:solidFill>
            <a:schemeClr val="bg1">
              <a:alpha val="1000"/>
            </a:schemeClr>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505050"/>
              </a:solidFill>
              <a:latin typeface="Segoe UI"/>
              <a:cs typeface="Segoe UI" pitchFamily="34" charset="0"/>
            </a:endParaRPr>
          </a:p>
        </p:txBody>
      </p:sp>
      <p:sp>
        <p:nvSpPr>
          <p:cNvPr id="56" name="Rectangle: Rounded Corners 55">
            <a:extLst>
              <a:ext uri="{FF2B5EF4-FFF2-40B4-BE49-F238E27FC236}">
                <a16:creationId xmlns:a16="http://schemas.microsoft.com/office/drawing/2014/main" id="{0A86137B-0D84-068A-2C84-231FED0409B4}"/>
              </a:ext>
              <a:ext uri="{C183D7F6-B498-43B3-948B-1728B52AA6E4}">
                <adec:decorative xmlns:adec="http://schemas.microsoft.com/office/drawing/2017/decorative" val="1"/>
              </a:ext>
            </a:extLst>
          </p:cNvPr>
          <p:cNvSpPr/>
          <p:nvPr/>
        </p:nvSpPr>
        <p:spPr bwMode="auto">
          <a:xfrm>
            <a:off x="6659903" y="5228677"/>
            <a:ext cx="519926" cy="519926"/>
          </a:xfrm>
          <a:prstGeom prst="roundRect">
            <a:avLst>
              <a:gd name="adj" fmla="val 4203"/>
            </a:avLst>
          </a:prstGeom>
          <a:solidFill>
            <a:schemeClr val="bg2"/>
          </a:solidFill>
          <a:ln w="12700">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7" name="Database_EFC7" title="Icon of a cylinder">
            <a:extLst>
              <a:ext uri="{FF2B5EF4-FFF2-40B4-BE49-F238E27FC236}">
                <a16:creationId xmlns:a16="http://schemas.microsoft.com/office/drawing/2014/main" id="{A8EE9831-9549-725C-0538-68EF409A34D0}"/>
              </a:ext>
            </a:extLst>
          </p:cNvPr>
          <p:cNvSpPr>
            <a:spLocks noChangeAspect="1" noEditPoints="1"/>
          </p:cNvSpPr>
          <p:nvPr/>
        </p:nvSpPr>
        <p:spPr bwMode="auto">
          <a:xfrm>
            <a:off x="6801145" y="5334322"/>
            <a:ext cx="237441" cy="30863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FFFFFF"/>
          </a:solidFill>
          <a:ln w="12700" cap="sq">
            <a:solidFill>
              <a:srgbClr val="000000"/>
            </a:solidFill>
            <a:prstDash val="solid"/>
            <a:miter lim="800000"/>
            <a:headEnd/>
            <a:tailEnd/>
          </a:ln>
        </p:spPr>
        <p:txBody>
          <a:bodyPr vert="horz" wrap="square" lIns="89642" tIns="44821" rIns="89642" bIns="44821" numCol="1" anchor="t" anchorCtr="0" compatLnSpc="1">
            <a:prstTxWarp prst="textNoShape">
              <a:avLst/>
            </a:prstTxWarp>
          </a:bodyPr>
          <a:lstStyle/>
          <a:p>
            <a:pPr defTabSz="896386">
              <a:defRPr/>
            </a:pPr>
            <a:endParaRPr lang="en-US">
              <a:solidFill>
                <a:srgbClr val="505050"/>
              </a:solidFill>
              <a:latin typeface="Segoe UI"/>
            </a:endParaRPr>
          </a:p>
        </p:txBody>
      </p:sp>
      <p:sp>
        <p:nvSpPr>
          <p:cNvPr id="59" name="Rectangle: Rounded Corners 58">
            <a:extLst>
              <a:ext uri="{FF2B5EF4-FFF2-40B4-BE49-F238E27FC236}">
                <a16:creationId xmlns:a16="http://schemas.microsoft.com/office/drawing/2014/main" id="{AF7E2B1F-8ACA-3792-9F76-85451571C3C0}"/>
              </a:ext>
              <a:ext uri="{C183D7F6-B498-43B3-948B-1728B52AA6E4}">
                <adec:decorative xmlns:adec="http://schemas.microsoft.com/office/drawing/2017/decorative" val="1"/>
              </a:ext>
            </a:extLst>
          </p:cNvPr>
          <p:cNvSpPr/>
          <p:nvPr/>
        </p:nvSpPr>
        <p:spPr bwMode="auto">
          <a:xfrm>
            <a:off x="6927249" y="5460251"/>
            <a:ext cx="523100" cy="523100"/>
          </a:xfrm>
          <a:prstGeom prst="roundRect">
            <a:avLst>
              <a:gd name="adj" fmla="val 3125"/>
            </a:avLst>
          </a:prstGeom>
          <a:solidFill>
            <a:schemeClr val="bg2">
              <a:alpha val="1000"/>
            </a:schemeClr>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505050"/>
              </a:solidFill>
              <a:latin typeface="Segoe UI"/>
              <a:cs typeface="Segoe UI" pitchFamily="34" charset="0"/>
            </a:endParaRPr>
          </a:p>
        </p:txBody>
      </p:sp>
      <p:sp>
        <p:nvSpPr>
          <p:cNvPr id="60" name="Rectangle: Rounded Corners 59">
            <a:extLst>
              <a:ext uri="{FF2B5EF4-FFF2-40B4-BE49-F238E27FC236}">
                <a16:creationId xmlns:a16="http://schemas.microsoft.com/office/drawing/2014/main" id="{E592CFE1-1A77-3D5C-EAE7-17D49AC5DDCD}"/>
              </a:ext>
              <a:ext uri="{C183D7F6-B498-43B3-948B-1728B52AA6E4}">
                <adec:decorative xmlns:adec="http://schemas.microsoft.com/office/drawing/2017/decorative" val="1"/>
              </a:ext>
            </a:extLst>
          </p:cNvPr>
          <p:cNvSpPr/>
          <p:nvPr/>
        </p:nvSpPr>
        <p:spPr bwMode="auto">
          <a:xfrm>
            <a:off x="6928835" y="5461837"/>
            <a:ext cx="519926" cy="519926"/>
          </a:xfrm>
          <a:prstGeom prst="roundRect">
            <a:avLst>
              <a:gd name="adj" fmla="val 4203"/>
            </a:avLst>
          </a:prstGeom>
          <a:solidFill>
            <a:schemeClr val="bg2"/>
          </a:solidFill>
          <a:ln w="12700">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1" name="Database_EFC7" title="Icon of a cylinder">
            <a:extLst>
              <a:ext uri="{FF2B5EF4-FFF2-40B4-BE49-F238E27FC236}">
                <a16:creationId xmlns:a16="http://schemas.microsoft.com/office/drawing/2014/main" id="{3696C9AA-D7A6-50F4-2089-1943AD3DF499}"/>
              </a:ext>
            </a:extLst>
          </p:cNvPr>
          <p:cNvSpPr>
            <a:spLocks noChangeAspect="1" noEditPoints="1"/>
          </p:cNvSpPr>
          <p:nvPr/>
        </p:nvSpPr>
        <p:spPr bwMode="auto">
          <a:xfrm>
            <a:off x="7070078" y="5567482"/>
            <a:ext cx="237441" cy="308635"/>
          </a:xfrm>
          <a:custGeom>
            <a:avLst/>
            <a:gdLst>
              <a:gd name="T0" fmla="*/ 2470 w 2511"/>
              <a:gd name="T1" fmla="*/ 627 h 3264"/>
              <a:gd name="T2" fmla="*/ 2511 w 2511"/>
              <a:gd name="T3" fmla="*/ 627 h 3264"/>
              <a:gd name="T4" fmla="*/ 2511 w 2511"/>
              <a:gd name="T5" fmla="*/ 2762 h 3264"/>
              <a:gd name="T6" fmla="*/ 1255 w 2511"/>
              <a:gd name="T7" fmla="*/ 3264 h 3264"/>
              <a:gd name="T8" fmla="*/ 0 w 2511"/>
              <a:gd name="T9" fmla="*/ 2762 h 3264"/>
              <a:gd name="T10" fmla="*/ 0 w 2511"/>
              <a:gd name="T11" fmla="*/ 627 h 3264"/>
              <a:gd name="T12" fmla="*/ 41 w 2511"/>
              <a:gd name="T13" fmla="*/ 627 h 3264"/>
              <a:gd name="T14" fmla="*/ 1255 w 2511"/>
              <a:gd name="T15" fmla="*/ 1004 h 3264"/>
              <a:gd name="T16" fmla="*/ 2470 w 2511"/>
              <a:gd name="T17" fmla="*/ 627 h 3264"/>
              <a:gd name="T18" fmla="*/ 1255 w 2511"/>
              <a:gd name="T19" fmla="*/ 0 h 3264"/>
              <a:gd name="T20" fmla="*/ 0 w 2511"/>
              <a:gd name="T21" fmla="*/ 502 h 3264"/>
              <a:gd name="T22" fmla="*/ 1255 w 2511"/>
              <a:gd name="T23" fmla="*/ 1004 h 3264"/>
              <a:gd name="T24" fmla="*/ 2511 w 2511"/>
              <a:gd name="T25" fmla="*/ 502 h 3264"/>
              <a:gd name="T26" fmla="*/ 1255 w 2511"/>
              <a:gd name="T27" fmla="*/ 0 h 3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11" h="3264">
                <a:moveTo>
                  <a:pt x="2470" y="627"/>
                </a:moveTo>
                <a:cubicBezTo>
                  <a:pt x="2511" y="627"/>
                  <a:pt x="2511" y="627"/>
                  <a:pt x="2511" y="627"/>
                </a:cubicBezTo>
                <a:cubicBezTo>
                  <a:pt x="2511" y="2762"/>
                  <a:pt x="2511" y="2762"/>
                  <a:pt x="2511" y="2762"/>
                </a:cubicBezTo>
                <a:cubicBezTo>
                  <a:pt x="2511" y="3040"/>
                  <a:pt x="1949" y="3264"/>
                  <a:pt x="1255" y="3264"/>
                </a:cubicBezTo>
                <a:cubicBezTo>
                  <a:pt x="562" y="3264"/>
                  <a:pt x="0" y="3040"/>
                  <a:pt x="0" y="2762"/>
                </a:cubicBezTo>
                <a:cubicBezTo>
                  <a:pt x="0" y="627"/>
                  <a:pt x="0" y="627"/>
                  <a:pt x="0" y="627"/>
                </a:cubicBezTo>
                <a:cubicBezTo>
                  <a:pt x="41" y="627"/>
                  <a:pt x="41" y="627"/>
                  <a:pt x="41" y="627"/>
                </a:cubicBezTo>
                <a:cubicBezTo>
                  <a:pt x="180" y="844"/>
                  <a:pt x="671" y="1004"/>
                  <a:pt x="1255" y="1004"/>
                </a:cubicBezTo>
                <a:cubicBezTo>
                  <a:pt x="1840" y="1004"/>
                  <a:pt x="2330" y="844"/>
                  <a:pt x="2470" y="627"/>
                </a:cubicBezTo>
                <a:close/>
                <a:moveTo>
                  <a:pt x="1255" y="0"/>
                </a:moveTo>
                <a:cubicBezTo>
                  <a:pt x="562" y="0"/>
                  <a:pt x="0" y="224"/>
                  <a:pt x="0" y="502"/>
                </a:cubicBezTo>
                <a:cubicBezTo>
                  <a:pt x="0" y="779"/>
                  <a:pt x="562" y="1004"/>
                  <a:pt x="1255" y="1004"/>
                </a:cubicBezTo>
                <a:cubicBezTo>
                  <a:pt x="1949" y="1004"/>
                  <a:pt x="2511" y="779"/>
                  <a:pt x="2511" y="502"/>
                </a:cubicBezTo>
                <a:cubicBezTo>
                  <a:pt x="2511" y="224"/>
                  <a:pt x="1949" y="0"/>
                  <a:pt x="1255" y="0"/>
                </a:cubicBezTo>
                <a:close/>
              </a:path>
            </a:pathLst>
          </a:custGeom>
          <a:solidFill>
            <a:srgbClr val="FFFFFF"/>
          </a:solidFill>
          <a:ln w="12700" cap="sq">
            <a:solidFill>
              <a:srgbClr val="000000"/>
            </a:solidFill>
            <a:prstDash val="solid"/>
            <a:miter lim="800000"/>
            <a:headEnd/>
            <a:tailEnd/>
          </a:ln>
        </p:spPr>
        <p:txBody>
          <a:bodyPr vert="horz" wrap="square" lIns="89642" tIns="44821" rIns="89642" bIns="44821" numCol="1" anchor="t" anchorCtr="0" compatLnSpc="1">
            <a:prstTxWarp prst="textNoShape">
              <a:avLst/>
            </a:prstTxWarp>
          </a:bodyPr>
          <a:lstStyle/>
          <a:p>
            <a:pPr defTabSz="896386">
              <a:defRPr/>
            </a:pPr>
            <a:endParaRPr lang="en-US">
              <a:solidFill>
                <a:srgbClr val="505050"/>
              </a:solidFill>
              <a:latin typeface="Segoe UI"/>
            </a:endParaRPr>
          </a:p>
        </p:txBody>
      </p:sp>
      <p:cxnSp>
        <p:nvCxnSpPr>
          <p:cNvPr id="62" name="Connector: Elbow 61">
            <a:extLst>
              <a:ext uri="{FF2B5EF4-FFF2-40B4-BE49-F238E27FC236}">
                <a16:creationId xmlns:a16="http://schemas.microsoft.com/office/drawing/2014/main" id="{5619935C-BC25-9A1F-5D4B-FD72A2C2C4F3}"/>
              </a:ext>
              <a:ext uri="{C183D7F6-B498-43B3-948B-1728B52AA6E4}">
                <adec:decorative xmlns:adec="http://schemas.microsoft.com/office/drawing/2017/decorative" val="1"/>
              </a:ext>
            </a:extLst>
          </p:cNvPr>
          <p:cNvCxnSpPr>
            <a:stCxn id="37" idx="3"/>
            <a:endCxn id="55" idx="0"/>
          </p:cNvCxnSpPr>
          <p:nvPr/>
        </p:nvCxnSpPr>
        <p:spPr>
          <a:xfrm>
            <a:off x="6354521" y="3320643"/>
            <a:ext cx="717140" cy="1906448"/>
          </a:xfrm>
          <a:prstGeom prst="bentConnector2">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3" name="Title 1">
            <a:extLst>
              <a:ext uri="{FF2B5EF4-FFF2-40B4-BE49-F238E27FC236}">
                <a16:creationId xmlns:a16="http://schemas.microsoft.com/office/drawing/2014/main" id="{9F052383-C8D9-0914-227D-B9240BC9332C}"/>
              </a:ext>
            </a:extLst>
          </p:cNvPr>
          <p:cNvSpPr txBox="1">
            <a:spLocks/>
          </p:cNvSpPr>
          <p:nvPr/>
        </p:nvSpPr>
        <p:spPr>
          <a:xfrm>
            <a:off x="4934174" y="2493662"/>
            <a:ext cx="1663808" cy="150863"/>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defTabSz="914367">
              <a:lnSpc>
                <a:spcPct val="100000"/>
              </a:lnSpc>
              <a:defRPr/>
            </a:pPr>
            <a:r>
              <a:rPr lang="en-US" sz="980" spc="0">
                <a:solidFill>
                  <a:srgbClr val="3C3C41"/>
                </a:solidFill>
                <a:latin typeface="Segoe UI Semibold" panose="020B0702040204020203" pitchFamily="34" charset="0"/>
                <a:cs typeface="Segoe UI Semibold" panose="020B0702040204020203" pitchFamily="34" charset="0"/>
              </a:rPr>
              <a:t>Control plane</a:t>
            </a:r>
          </a:p>
        </p:txBody>
      </p:sp>
      <p:sp>
        <p:nvSpPr>
          <p:cNvPr id="64" name="Rectangle: Rounded Corners 63">
            <a:extLst>
              <a:ext uri="{FF2B5EF4-FFF2-40B4-BE49-F238E27FC236}">
                <a16:creationId xmlns:a16="http://schemas.microsoft.com/office/drawing/2014/main" id="{2BA77A52-FBD0-9D14-BCF5-6239D7CF5012}"/>
              </a:ext>
              <a:ext uri="{C183D7F6-B498-43B3-948B-1728B52AA6E4}">
                <adec:decorative xmlns:adec="http://schemas.microsoft.com/office/drawing/2017/decorative" val="1"/>
              </a:ext>
            </a:extLst>
          </p:cNvPr>
          <p:cNvSpPr/>
          <p:nvPr/>
        </p:nvSpPr>
        <p:spPr bwMode="auto">
          <a:xfrm>
            <a:off x="7938704" y="1550662"/>
            <a:ext cx="2515743" cy="2273516"/>
          </a:xfrm>
          <a:prstGeom prst="roundRect">
            <a:avLst>
              <a:gd name="adj" fmla="val 3125"/>
            </a:avLst>
          </a:prstGeom>
          <a:solidFill>
            <a:schemeClr val="bg1">
              <a:alpha val="2000"/>
            </a:schemeClr>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505050"/>
              </a:solidFill>
              <a:latin typeface="Segoe UI"/>
              <a:cs typeface="Segoe UI" pitchFamily="34" charset="0"/>
            </a:endParaRPr>
          </a:p>
        </p:txBody>
      </p:sp>
      <p:sp>
        <p:nvSpPr>
          <p:cNvPr id="66" name="Title 1">
            <a:extLst>
              <a:ext uri="{FF2B5EF4-FFF2-40B4-BE49-F238E27FC236}">
                <a16:creationId xmlns:a16="http://schemas.microsoft.com/office/drawing/2014/main" id="{FD9ABDAA-A5A7-50E8-FBE9-7BFCC9B46997}"/>
              </a:ext>
            </a:extLst>
          </p:cNvPr>
          <p:cNvSpPr txBox="1">
            <a:spLocks/>
          </p:cNvSpPr>
          <p:nvPr/>
        </p:nvSpPr>
        <p:spPr>
          <a:xfrm>
            <a:off x="7938705" y="1358205"/>
            <a:ext cx="1663808" cy="150863"/>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defTabSz="914367">
              <a:lnSpc>
                <a:spcPct val="100000"/>
              </a:lnSpc>
              <a:defRPr/>
            </a:pPr>
            <a:r>
              <a:rPr lang="en-US" sz="980" spc="0">
                <a:solidFill>
                  <a:srgbClr val="3C3C41"/>
                </a:solidFill>
                <a:latin typeface="Segoe UI Semibold" panose="020B0702040204020203" pitchFamily="34" charset="0"/>
                <a:cs typeface="Segoe UI Semibold" panose="020B0702040204020203" pitchFamily="34" charset="0"/>
              </a:rPr>
              <a:t>Agent node</a:t>
            </a:r>
          </a:p>
        </p:txBody>
      </p:sp>
      <p:grpSp>
        <p:nvGrpSpPr>
          <p:cNvPr id="67" name="Group 66" descr="kube-proxy icon">
            <a:extLst>
              <a:ext uri="{FF2B5EF4-FFF2-40B4-BE49-F238E27FC236}">
                <a16:creationId xmlns:a16="http://schemas.microsoft.com/office/drawing/2014/main" id="{25D1EAE3-44DB-68C1-9AD7-B82503B39ED8}"/>
              </a:ext>
            </a:extLst>
          </p:cNvPr>
          <p:cNvGrpSpPr/>
          <p:nvPr/>
        </p:nvGrpSpPr>
        <p:grpSpPr>
          <a:xfrm>
            <a:off x="9392796" y="1641779"/>
            <a:ext cx="589663" cy="689351"/>
            <a:chOff x="9224296" y="1534747"/>
            <a:chExt cx="601487" cy="703174"/>
          </a:xfrm>
        </p:grpSpPr>
        <p:sp>
          <p:nvSpPr>
            <p:cNvPr id="68" name="Rectangle: Rounded Corners 67">
              <a:extLst>
                <a:ext uri="{FF2B5EF4-FFF2-40B4-BE49-F238E27FC236}">
                  <a16:creationId xmlns:a16="http://schemas.microsoft.com/office/drawing/2014/main" id="{945D61B5-7EEC-FB8F-EC0F-BE9A01DF4C21}"/>
                </a:ext>
              </a:extLst>
            </p:cNvPr>
            <p:cNvSpPr/>
            <p:nvPr/>
          </p:nvSpPr>
          <p:spPr bwMode="auto">
            <a:xfrm>
              <a:off x="9258516" y="1704332"/>
              <a:ext cx="533589" cy="533589"/>
            </a:xfrm>
            <a:prstGeom prst="roundRect">
              <a:avLst>
                <a:gd name="adj" fmla="val 3125"/>
              </a:avLst>
            </a:prstGeom>
            <a:solidFill>
              <a:srgbClr val="0078D4">
                <a:alpha val="1000"/>
              </a:srgbClr>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3C3C41"/>
                </a:solidFill>
                <a:latin typeface="Segoe UI"/>
                <a:cs typeface="Segoe UI" pitchFamily="34" charset="0"/>
              </a:endParaRPr>
            </a:p>
          </p:txBody>
        </p:sp>
        <p:sp>
          <p:nvSpPr>
            <p:cNvPr id="69" name="Move_E7C2" title="Icon of four arrows pointing away from eachother">
              <a:extLst>
                <a:ext uri="{FF2B5EF4-FFF2-40B4-BE49-F238E27FC236}">
                  <a16:creationId xmlns:a16="http://schemas.microsoft.com/office/drawing/2014/main" id="{90EC5DF3-7327-D87B-9383-932DFBEA3159}"/>
                </a:ext>
              </a:extLst>
            </p:cNvPr>
            <p:cNvSpPr>
              <a:spLocks noChangeAspect="1" noEditPoints="1"/>
            </p:cNvSpPr>
            <p:nvPr/>
          </p:nvSpPr>
          <p:spPr bwMode="auto">
            <a:xfrm>
              <a:off x="9362221" y="1807997"/>
              <a:ext cx="326178" cy="326259"/>
            </a:xfrm>
            <a:custGeom>
              <a:avLst/>
              <a:gdLst>
                <a:gd name="T0" fmla="*/ 736 w 3999"/>
                <a:gd name="T1" fmla="*/ 2737 h 4000"/>
                <a:gd name="T2" fmla="*/ 0 w 3999"/>
                <a:gd name="T3" fmla="*/ 2001 h 4000"/>
                <a:gd name="T4" fmla="*/ 736 w 3999"/>
                <a:gd name="T5" fmla="*/ 1264 h 4000"/>
                <a:gd name="T6" fmla="*/ 86 w 3999"/>
                <a:gd name="T7" fmla="*/ 2001 h 4000"/>
                <a:gd name="T8" fmla="*/ 1264 w 3999"/>
                <a:gd name="T9" fmla="*/ 2001 h 4000"/>
                <a:gd name="T10" fmla="*/ 1264 w 3999"/>
                <a:gd name="T11" fmla="*/ 3265 h 4000"/>
                <a:gd name="T12" fmla="*/ 2000 w 3999"/>
                <a:gd name="T13" fmla="*/ 4000 h 4000"/>
                <a:gd name="T14" fmla="*/ 2735 w 3999"/>
                <a:gd name="T15" fmla="*/ 3265 h 4000"/>
                <a:gd name="T16" fmla="*/ 2000 w 3999"/>
                <a:gd name="T17" fmla="*/ 3915 h 4000"/>
                <a:gd name="T18" fmla="*/ 2000 w 3999"/>
                <a:gd name="T19" fmla="*/ 2737 h 4000"/>
                <a:gd name="T20" fmla="*/ 3264 w 3999"/>
                <a:gd name="T21" fmla="*/ 2737 h 4000"/>
                <a:gd name="T22" fmla="*/ 3999 w 3999"/>
                <a:gd name="T23" fmla="*/ 2001 h 4000"/>
                <a:gd name="T24" fmla="*/ 3264 w 3999"/>
                <a:gd name="T25" fmla="*/ 1264 h 4000"/>
                <a:gd name="T26" fmla="*/ 3913 w 3999"/>
                <a:gd name="T27" fmla="*/ 2001 h 4000"/>
                <a:gd name="T28" fmla="*/ 2735 w 3999"/>
                <a:gd name="T29" fmla="*/ 2001 h 4000"/>
                <a:gd name="T30" fmla="*/ 2735 w 3999"/>
                <a:gd name="T31" fmla="*/ 736 h 4000"/>
                <a:gd name="T32" fmla="*/ 2000 w 3999"/>
                <a:gd name="T33" fmla="*/ 0 h 4000"/>
                <a:gd name="T34" fmla="*/ 1264 w 3999"/>
                <a:gd name="T35" fmla="*/ 736 h 4000"/>
                <a:gd name="T36" fmla="*/ 2000 w 3999"/>
                <a:gd name="T37" fmla="*/ 86 h 4000"/>
                <a:gd name="T38" fmla="*/ 2000 w 3999"/>
                <a:gd name="T39" fmla="*/ 1264 h 4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99" h="4000">
                  <a:moveTo>
                    <a:pt x="736" y="2737"/>
                  </a:moveTo>
                  <a:lnTo>
                    <a:pt x="0" y="2001"/>
                  </a:lnTo>
                  <a:lnTo>
                    <a:pt x="736" y="1264"/>
                  </a:lnTo>
                  <a:moveTo>
                    <a:pt x="86" y="2001"/>
                  </a:moveTo>
                  <a:lnTo>
                    <a:pt x="1264" y="2001"/>
                  </a:lnTo>
                  <a:moveTo>
                    <a:pt x="1264" y="3265"/>
                  </a:moveTo>
                  <a:lnTo>
                    <a:pt x="2000" y="4000"/>
                  </a:lnTo>
                  <a:lnTo>
                    <a:pt x="2735" y="3265"/>
                  </a:lnTo>
                  <a:moveTo>
                    <a:pt x="2000" y="3915"/>
                  </a:moveTo>
                  <a:lnTo>
                    <a:pt x="2000" y="2737"/>
                  </a:lnTo>
                  <a:moveTo>
                    <a:pt x="3264" y="2737"/>
                  </a:moveTo>
                  <a:lnTo>
                    <a:pt x="3999" y="2001"/>
                  </a:lnTo>
                  <a:lnTo>
                    <a:pt x="3264" y="1264"/>
                  </a:lnTo>
                  <a:moveTo>
                    <a:pt x="3913" y="2001"/>
                  </a:moveTo>
                  <a:lnTo>
                    <a:pt x="2735" y="2001"/>
                  </a:lnTo>
                  <a:moveTo>
                    <a:pt x="2735" y="736"/>
                  </a:moveTo>
                  <a:lnTo>
                    <a:pt x="2000" y="0"/>
                  </a:lnTo>
                  <a:lnTo>
                    <a:pt x="1264" y="736"/>
                  </a:lnTo>
                  <a:moveTo>
                    <a:pt x="2000" y="86"/>
                  </a:moveTo>
                  <a:lnTo>
                    <a:pt x="2000" y="1264"/>
                  </a:lnTo>
                </a:path>
              </a:pathLst>
            </a:custGeom>
            <a:noFill/>
            <a:ln w="12700" cap="sq">
              <a:solidFill>
                <a:srgbClr val="0078D4"/>
              </a:solidFill>
              <a:prstDash val="solid"/>
              <a:miter lim="800000"/>
              <a:headEnd/>
              <a:tailEnd/>
            </a:ln>
          </p:spPr>
          <p:txBody>
            <a:bodyPr vert="horz" wrap="square" lIns="89642" tIns="44821" rIns="89642" bIns="44821" numCol="1" anchor="t" anchorCtr="0" compatLnSpc="1">
              <a:prstTxWarp prst="textNoShape">
                <a:avLst/>
              </a:prstTxWarp>
            </a:bodyPr>
            <a:lstStyle/>
            <a:p>
              <a:pPr defTabSz="896386">
                <a:defRPr/>
              </a:pPr>
              <a:endParaRPr lang="en-US" sz="882">
                <a:solidFill>
                  <a:srgbClr val="3C3C41"/>
                </a:solidFill>
                <a:latin typeface="Segoe UI"/>
              </a:endParaRPr>
            </a:p>
          </p:txBody>
        </p:sp>
        <p:sp>
          <p:nvSpPr>
            <p:cNvPr id="70" name="Title 1">
              <a:extLst>
                <a:ext uri="{FF2B5EF4-FFF2-40B4-BE49-F238E27FC236}">
                  <a16:creationId xmlns:a16="http://schemas.microsoft.com/office/drawing/2014/main" id="{85C2508A-EEC1-A73A-F444-39CE9F57317C}"/>
                </a:ext>
              </a:extLst>
            </p:cNvPr>
            <p:cNvSpPr txBox="1">
              <a:spLocks/>
            </p:cNvSpPr>
            <p:nvPr/>
          </p:nvSpPr>
          <p:spPr>
            <a:xfrm>
              <a:off x="9224296" y="1534747"/>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err="1">
                  <a:solidFill>
                    <a:srgbClr val="3C3C41"/>
                  </a:solidFill>
                  <a:latin typeface="Segoe UI Semibold" panose="020B0702040204020203" pitchFamily="34" charset="0"/>
                  <a:cs typeface="Segoe UI Semibold" panose="020B0702040204020203" pitchFamily="34" charset="0"/>
                </a:rPr>
                <a:t>kube</a:t>
              </a:r>
              <a:r>
                <a:rPr lang="en-US" sz="784" spc="0">
                  <a:solidFill>
                    <a:srgbClr val="3C3C41"/>
                  </a:solidFill>
                  <a:latin typeface="Segoe UI Semibold" panose="020B0702040204020203" pitchFamily="34" charset="0"/>
                  <a:cs typeface="Segoe UI Semibold" panose="020B0702040204020203" pitchFamily="34" charset="0"/>
                </a:rPr>
                <a:t>-proxy</a:t>
              </a:r>
            </a:p>
          </p:txBody>
        </p:sp>
      </p:grpSp>
      <p:grpSp>
        <p:nvGrpSpPr>
          <p:cNvPr id="71" name="Group 70">
            <a:extLst>
              <a:ext uri="{FF2B5EF4-FFF2-40B4-BE49-F238E27FC236}">
                <a16:creationId xmlns:a16="http://schemas.microsoft.com/office/drawing/2014/main" id="{C543856C-5099-E36D-5ACF-DEDC5F4DE6A1}"/>
              </a:ext>
              <a:ext uri="{C183D7F6-B498-43B3-948B-1728B52AA6E4}">
                <adec:decorative xmlns:adec="http://schemas.microsoft.com/office/drawing/2017/decorative" val="1"/>
              </a:ext>
            </a:extLst>
          </p:cNvPr>
          <p:cNvGrpSpPr/>
          <p:nvPr/>
        </p:nvGrpSpPr>
        <p:grpSpPr>
          <a:xfrm>
            <a:off x="8068636" y="2390130"/>
            <a:ext cx="2255879" cy="1281103"/>
            <a:chOff x="7873584" y="2298104"/>
            <a:chExt cx="2301114" cy="1306792"/>
          </a:xfrm>
        </p:grpSpPr>
        <p:sp>
          <p:nvSpPr>
            <p:cNvPr id="72" name="Rectangle: Rounded Corners 71">
              <a:extLst>
                <a:ext uri="{FF2B5EF4-FFF2-40B4-BE49-F238E27FC236}">
                  <a16:creationId xmlns:a16="http://schemas.microsoft.com/office/drawing/2014/main" id="{C65BC536-BAB2-4D81-232A-56D7025D8EAD}"/>
                </a:ext>
              </a:extLst>
            </p:cNvPr>
            <p:cNvSpPr/>
            <p:nvPr/>
          </p:nvSpPr>
          <p:spPr bwMode="auto">
            <a:xfrm>
              <a:off x="7873584" y="2595157"/>
              <a:ext cx="2301114" cy="1009739"/>
            </a:xfrm>
            <a:prstGeom prst="roundRect">
              <a:avLst>
                <a:gd name="adj" fmla="val 3125"/>
              </a:avLst>
            </a:prstGeom>
            <a:no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3C3C41"/>
                </a:solidFill>
                <a:latin typeface="Segoe UI"/>
                <a:cs typeface="Segoe UI" pitchFamily="34" charset="0"/>
              </a:endParaRPr>
            </a:p>
          </p:txBody>
        </p:sp>
        <p:sp>
          <p:nvSpPr>
            <p:cNvPr id="73" name="Title 1">
              <a:extLst>
                <a:ext uri="{FF2B5EF4-FFF2-40B4-BE49-F238E27FC236}">
                  <a16:creationId xmlns:a16="http://schemas.microsoft.com/office/drawing/2014/main" id="{BA896356-AC06-6750-4A31-561050E25B57}"/>
                </a:ext>
              </a:extLst>
            </p:cNvPr>
            <p:cNvSpPr txBox="1">
              <a:spLocks/>
            </p:cNvSpPr>
            <p:nvPr/>
          </p:nvSpPr>
          <p:spPr>
            <a:xfrm>
              <a:off x="7873585" y="2298104"/>
              <a:ext cx="503024" cy="24622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Container runtime</a:t>
              </a:r>
            </a:p>
          </p:txBody>
        </p:sp>
        <p:sp>
          <p:nvSpPr>
            <p:cNvPr id="74" name="Rectangle: Rounded Corners 73">
              <a:extLst>
                <a:ext uri="{FF2B5EF4-FFF2-40B4-BE49-F238E27FC236}">
                  <a16:creationId xmlns:a16="http://schemas.microsoft.com/office/drawing/2014/main" id="{EBACCD4A-9914-A738-747C-350120ED2F10}"/>
                </a:ext>
              </a:extLst>
            </p:cNvPr>
            <p:cNvSpPr/>
            <p:nvPr/>
          </p:nvSpPr>
          <p:spPr bwMode="auto">
            <a:xfrm>
              <a:off x="7993662" y="2913258"/>
              <a:ext cx="968156" cy="546759"/>
            </a:xfrm>
            <a:prstGeom prst="roundRect">
              <a:avLst>
                <a:gd name="adj" fmla="val 3125"/>
              </a:avLst>
            </a:prstGeom>
            <a:no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3C3C41"/>
                </a:solidFill>
                <a:latin typeface="Segoe UI"/>
                <a:cs typeface="Segoe UI" pitchFamily="34" charset="0"/>
              </a:endParaRPr>
            </a:p>
          </p:txBody>
        </p:sp>
        <p:sp>
          <p:nvSpPr>
            <p:cNvPr id="75" name="Rectangle: Rounded Corners 74">
              <a:extLst>
                <a:ext uri="{FF2B5EF4-FFF2-40B4-BE49-F238E27FC236}">
                  <a16:creationId xmlns:a16="http://schemas.microsoft.com/office/drawing/2014/main" id="{DCA963D2-201F-BDBA-BB98-027BFCC01255}"/>
                </a:ext>
              </a:extLst>
            </p:cNvPr>
            <p:cNvSpPr/>
            <p:nvPr/>
          </p:nvSpPr>
          <p:spPr bwMode="auto">
            <a:xfrm>
              <a:off x="9086465" y="2913258"/>
              <a:ext cx="968156" cy="546759"/>
            </a:xfrm>
            <a:prstGeom prst="roundRect">
              <a:avLst>
                <a:gd name="adj" fmla="val 3125"/>
              </a:avLst>
            </a:prstGeom>
            <a:no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3C3C41"/>
                </a:solidFill>
                <a:latin typeface="Segoe UI"/>
                <a:cs typeface="Segoe UI" pitchFamily="34" charset="0"/>
              </a:endParaRPr>
            </a:p>
          </p:txBody>
        </p:sp>
        <p:sp>
          <p:nvSpPr>
            <p:cNvPr id="76" name="Title 1">
              <a:extLst>
                <a:ext uri="{FF2B5EF4-FFF2-40B4-BE49-F238E27FC236}">
                  <a16:creationId xmlns:a16="http://schemas.microsoft.com/office/drawing/2014/main" id="{47651E92-CA7D-4984-7655-D1DC695F6528}"/>
                </a:ext>
              </a:extLst>
            </p:cNvPr>
            <p:cNvSpPr txBox="1">
              <a:spLocks/>
            </p:cNvSpPr>
            <p:nvPr/>
          </p:nvSpPr>
          <p:spPr>
            <a:xfrm>
              <a:off x="7993662" y="2740036"/>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Pods</a:t>
              </a:r>
            </a:p>
          </p:txBody>
        </p:sp>
        <p:sp>
          <p:nvSpPr>
            <p:cNvPr id="77" name="Title 1">
              <a:extLst>
                <a:ext uri="{FF2B5EF4-FFF2-40B4-BE49-F238E27FC236}">
                  <a16:creationId xmlns:a16="http://schemas.microsoft.com/office/drawing/2014/main" id="{3BB677E0-DFF5-BF20-73AA-CE3DAB67B63A}"/>
                </a:ext>
              </a:extLst>
            </p:cNvPr>
            <p:cNvSpPr txBox="1">
              <a:spLocks/>
            </p:cNvSpPr>
            <p:nvPr/>
          </p:nvSpPr>
          <p:spPr>
            <a:xfrm>
              <a:off x="9086465" y="2740036"/>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Pods</a:t>
              </a:r>
            </a:p>
          </p:txBody>
        </p:sp>
        <p:sp>
          <p:nvSpPr>
            <p:cNvPr id="78" name="Title 1">
              <a:extLst>
                <a:ext uri="{FF2B5EF4-FFF2-40B4-BE49-F238E27FC236}">
                  <a16:creationId xmlns:a16="http://schemas.microsoft.com/office/drawing/2014/main" id="{23312ADB-DA68-25FE-98A4-627328561985}"/>
                </a:ext>
              </a:extLst>
            </p:cNvPr>
            <p:cNvSpPr txBox="1">
              <a:spLocks/>
            </p:cNvSpPr>
            <p:nvPr/>
          </p:nvSpPr>
          <p:spPr>
            <a:xfrm>
              <a:off x="8176997" y="2966109"/>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Containers</a:t>
              </a:r>
            </a:p>
          </p:txBody>
        </p:sp>
        <p:sp>
          <p:nvSpPr>
            <p:cNvPr id="79" name="Title 1">
              <a:extLst>
                <a:ext uri="{FF2B5EF4-FFF2-40B4-BE49-F238E27FC236}">
                  <a16:creationId xmlns:a16="http://schemas.microsoft.com/office/drawing/2014/main" id="{0411FCBD-F373-36DB-C628-BCF2CC1E8E3C}"/>
                </a:ext>
              </a:extLst>
            </p:cNvPr>
            <p:cNvSpPr txBox="1">
              <a:spLocks/>
            </p:cNvSpPr>
            <p:nvPr/>
          </p:nvSpPr>
          <p:spPr>
            <a:xfrm>
              <a:off x="9269800" y="2966109"/>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Containers</a:t>
              </a:r>
            </a:p>
          </p:txBody>
        </p:sp>
        <p:sp>
          <p:nvSpPr>
            <p:cNvPr id="80" name="Freeform: Shape 79">
              <a:extLst>
                <a:ext uri="{FF2B5EF4-FFF2-40B4-BE49-F238E27FC236}">
                  <a16:creationId xmlns:a16="http://schemas.microsoft.com/office/drawing/2014/main" id="{DF155DCC-F856-43C5-BEC8-5C4CFAE92D00}"/>
                </a:ext>
              </a:extLst>
            </p:cNvPr>
            <p:cNvSpPr/>
            <p:nvPr/>
          </p:nvSpPr>
          <p:spPr>
            <a:xfrm>
              <a:off x="8140720" y="3150207"/>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81" name="Freeform: Shape 80">
              <a:extLst>
                <a:ext uri="{FF2B5EF4-FFF2-40B4-BE49-F238E27FC236}">
                  <a16:creationId xmlns:a16="http://schemas.microsoft.com/office/drawing/2014/main" id="{C221AE3A-A225-9246-3822-05570BCEFE57}"/>
                </a:ext>
              </a:extLst>
            </p:cNvPr>
            <p:cNvSpPr/>
            <p:nvPr/>
          </p:nvSpPr>
          <p:spPr>
            <a:xfrm>
              <a:off x="8386292" y="3150207"/>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82" name="Freeform: Shape 81">
              <a:extLst>
                <a:ext uri="{FF2B5EF4-FFF2-40B4-BE49-F238E27FC236}">
                  <a16:creationId xmlns:a16="http://schemas.microsoft.com/office/drawing/2014/main" id="{9B0F31A8-C9A6-87F1-5867-E8F3536470D1}"/>
                </a:ext>
              </a:extLst>
            </p:cNvPr>
            <p:cNvSpPr/>
            <p:nvPr/>
          </p:nvSpPr>
          <p:spPr>
            <a:xfrm>
              <a:off x="8631863" y="3150207"/>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83" name="Freeform: Shape 82">
              <a:extLst>
                <a:ext uri="{FF2B5EF4-FFF2-40B4-BE49-F238E27FC236}">
                  <a16:creationId xmlns:a16="http://schemas.microsoft.com/office/drawing/2014/main" id="{388A5CDF-61E6-3061-4A08-B933F9DD1A68}"/>
                </a:ext>
              </a:extLst>
            </p:cNvPr>
            <p:cNvSpPr/>
            <p:nvPr/>
          </p:nvSpPr>
          <p:spPr>
            <a:xfrm>
              <a:off x="9233523" y="3150207"/>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84" name="Freeform: Shape 83">
              <a:extLst>
                <a:ext uri="{FF2B5EF4-FFF2-40B4-BE49-F238E27FC236}">
                  <a16:creationId xmlns:a16="http://schemas.microsoft.com/office/drawing/2014/main" id="{7B498FB5-1E80-45F0-90C1-88DC8B086583}"/>
                </a:ext>
              </a:extLst>
            </p:cNvPr>
            <p:cNvSpPr/>
            <p:nvPr/>
          </p:nvSpPr>
          <p:spPr>
            <a:xfrm>
              <a:off x="9479095" y="3150207"/>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85" name="Freeform: Shape 84">
              <a:extLst>
                <a:ext uri="{FF2B5EF4-FFF2-40B4-BE49-F238E27FC236}">
                  <a16:creationId xmlns:a16="http://schemas.microsoft.com/office/drawing/2014/main" id="{E8E3C12F-1BB1-349A-9258-125CC43877C7}"/>
                </a:ext>
              </a:extLst>
            </p:cNvPr>
            <p:cNvSpPr/>
            <p:nvPr/>
          </p:nvSpPr>
          <p:spPr>
            <a:xfrm>
              <a:off x="9724666" y="3150207"/>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grpSp>
      <p:cxnSp>
        <p:nvCxnSpPr>
          <p:cNvPr id="86" name="Straight Arrow Connector 85">
            <a:extLst>
              <a:ext uri="{FF2B5EF4-FFF2-40B4-BE49-F238E27FC236}">
                <a16:creationId xmlns:a16="http://schemas.microsoft.com/office/drawing/2014/main" id="{B98DAC17-8E06-1C61-FE86-B7F3C288AD98}"/>
              </a:ext>
              <a:ext uri="{C183D7F6-B498-43B3-948B-1728B52AA6E4}">
                <adec:decorative xmlns:adec="http://schemas.microsoft.com/office/drawing/2017/decorative" val="1"/>
              </a:ext>
            </a:extLst>
          </p:cNvPr>
          <p:cNvCxnSpPr>
            <a:cxnSpLocks/>
          </p:cNvCxnSpPr>
          <p:nvPr/>
        </p:nvCxnSpPr>
        <p:spPr>
          <a:xfrm flipH="1">
            <a:off x="8661774" y="2331130"/>
            <a:ext cx="1" cy="717140"/>
          </a:xfrm>
          <a:prstGeom prst="straightConnector1">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65D8E4C-9545-7705-B5E1-38AC18F9735C}"/>
              </a:ext>
              <a:ext uri="{C183D7F6-B498-43B3-948B-1728B52AA6E4}">
                <adec:decorative xmlns:adec="http://schemas.microsoft.com/office/drawing/2017/decorative" val="1"/>
              </a:ext>
            </a:extLst>
          </p:cNvPr>
          <p:cNvCxnSpPr>
            <a:cxnSpLocks/>
          </p:cNvCxnSpPr>
          <p:nvPr/>
        </p:nvCxnSpPr>
        <p:spPr>
          <a:xfrm flipH="1">
            <a:off x="9731238" y="2331130"/>
            <a:ext cx="1" cy="622114"/>
          </a:xfrm>
          <a:prstGeom prst="straightConnector1">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8" name="Connector: Elbow 87">
            <a:extLst>
              <a:ext uri="{FF2B5EF4-FFF2-40B4-BE49-F238E27FC236}">
                <a16:creationId xmlns:a16="http://schemas.microsoft.com/office/drawing/2014/main" id="{0926B370-4FFF-77C4-CA46-8611EB5E65E9}"/>
              </a:ext>
              <a:ext uri="{C183D7F6-B498-43B3-948B-1728B52AA6E4}">
                <adec:decorative xmlns:adec="http://schemas.microsoft.com/office/drawing/2017/decorative" val="1"/>
              </a:ext>
            </a:extLst>
          </p:cNvPr>
          <p:cNvCxnSpPr>
            <a:cxnSpLocks/>
          </p:cNvCxnSpPr>
          <p:nvPr/>
        </p:nvCxnSpPr>
        <p:spPr>
          <a:xfrm rot="16200000" flipH="1">
            <a:off x="8783620" y="2253299"/>
            <a:ext cx="713873" cy="869532"/>
          </a:xfrm>
          <a:prstGeom prst="bentConnector3">
            <a:avLst>
              <a:gd name="adj1" fmla="val 37502"/>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D362E250-BA3B-C5CF-67E4-09B6A1B1D657}"/>
              </a:ext>
              <a:ext uri="{C183D7F6-B498-43B3-948B-1728B52AA6E4}">
                <adec:decorative xmlns:adec="http://schemas.microsoft.com/office/drawing/2017/decorative" val="1"/>
              </a:ext>
            </a:extLst>
          </p:cNvPr>
          <p:cNvCxnSpPr>
            <a:cxnSpLocks/>
          </p:cNvCxnSpPr>
          <p:nvPr/>
        </p:nvCxnSpPr>
        <p:spPr>
          <a:xfrm rot="5400000">
            <a:off x="8942455" y="2205630"/>
            <a:ext cx="618533" cy="869532"/>
          </a:xfrm>
          <a:prstGeom prst="bentConnector3">
            <a:avLst>
              <a:gd name="adj1" fmla="val 21704"/>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90" name="Rectangle: Rounded Corners 89">
            <a:extLst>
              <a:ext uri="{FF2B5EF4-FFF2-40B4-BE49-F238E27FC236}">
                <a16:creationId xmlns:a16="http://schemas.microsoft.com/office/drawing/2014/main" id="{A7373817-A516-2366-CB63-460657580FEB}"/>
              </a:ext>
              <a:ext uri="{C183D7F6-B498-43B3-948B-1728B52AA6E4}">
                <adec:decorative xmlns:adec="http://schemas.microsoft.com/office/drawing/2017/decorative" val="1"/>
              </a:ext>
            </a:extLst>
          </p:cNvPr>
          <p:cNvSpPr/>
          <p:nvPr/>
        </p:nvSpPr>
        <p:spPr bwMode="auto">
          <a:xfrm>
            <a:off x="7938704" y="4125238"/>
            <a:ext cx="2515743" cy="2273516"/>
          </a:xfrm>
          <a:prstGeom prst="roundRect">
            <a:avLst>
              <a:gd name="adj" fmla="val 3125"/>
            </a:avLst>
          </a:prstGeom>
          <a:no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505050"/>
              </a:solidFill>
              <a:latin typeface="Segoe UI"/>
              <a:cs typeface="Segoe UI" pitchFamily="34" charset="0"/>
            </a:endParaRPr>
          </a:p>
        </p:txBody>
      </p:sp>
      <p:sp>
        <p:nvSpPr>
          <p:cNvPr id="91" name="Title 1">
            <a:extLst>
              <a:ext uri="{FF2B5EF4-FFF2-40B4-BE49-F238E27FC236}">
                <a16:creationId xmlns:a16="http://schemas.microsoft.com/office/drawing/2014/main" id="{61B9CF7D-36F4-1FF2-2106-2B7C271A2E60}"/>
              </a:ext>
            </a:extLst>
          </p:cNvPr>
          <p:cNvSpPr txBox="1">
            <a:spLocks/>
          </p:cNvSpPr>
          <p:nvPr/>
        </p:nvSpPr>
        <p:spPr>
          <a:xfrm>
            <a:off x="7938705" y="3932780"/>
            <a:ext cx="1663808" cy="150863"/>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defTabSz="914367">
              <a:lnSpc>
                <a:spcPct val="100000"/>
              </a:lnSpc>
              <a:defRPr/>
            </a:pPr>
            <a:r>
              <a:rPr lang="en-US" sz="980" spc="0">
                <a:solidFill>
                  <a:srgbClr val="3C3C41"/>
                </a:solidFill>
                <a:latin typeface="Segoe UI Semibold" panose="020B0702040204020203" pitchFamily="34" charset="0"/>
                <a:cs typeface="Segoe UI Semibold" panose="020B0702040204020203" pitchFamily="34" charset="0"/>
              </a:rPr>
              <a:t>Agent node</a:t>
            </a:r>
          </a:p>
        </p:txBody>
      </p:sp>
      <p:grpSp>
        <p:nvGrpSpPr>
          <p:cNvPr id="92" name="Group 91" descr="kube-proxy">
            <a:extLst>
              <a:ext uri="{FF2B5EF4-FFF2-40B4-BE49-F238E27FC236}">
                <a16:creationId xmlns:a16="http://schemas.microsoft.com/office/drawing/2014/main" id="{9C60ED73-9F2B-26CE-5F1E-B338D9075678}"/>
              </a:ext>
            </a:extLst>
          </p:cNvPr>
          <p:cNvGrpSpPr/>
          <p:nvPr/>
        </p:nvGrpSpPr>
        <p:grpSpPr>
          <a:xfrm>
            <a:off x="9392796" y="4216354"/>
            <a:ext cx="589663" cy="689351"/>
            <a:chOff x="9224296" y="4442288"/>
            <a:chExt cx="601487" cy="703174"/>
          </a:xfrm>
        </p:grpSpPr>
        <p:sp>
          <p:nvSpPr>
            <p:cNvPr id="93" name="Rectangle: Rounded Corners 92">
              <a:extLst>
                <a:ext uri="{FF2B5EF4-FFF2-40B4-BE49-F238E27FC236}">
                  <a16:creationId xmlns:a16="http://schemas.microsoft.com/office/drawing/2014/main" id="{454E2B23-CED6-3E85-DEB9-E228ABE46898}"/>
                </a:ext>
              </a:extLst>
            </p:cNvPr>
            <p:cNvSpPr/>
            <p:nvPr/>
          </p:nvSpPr>
          <p:spPr bwMode="auto">
            <a:xfrm>
              <a:off x="9258516" y="4611873"/>
              <a:ext cx="533589" cy="533589"/>
            </a:xfrm>
            <a:prstGeom prst="roundRect">
              <a:avLst>
                <a:gd name="adj" fmla="val 3125"/>
              </a:avLst>
            </a:prstGeom>
            <a:solidFill>
              <a:srgbClr val="0078D4">
                <a:alpha val="1000"/>
              </a:srgbClr>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3C3C41"/>
                </a:solidFill>
                <a:latin typeface="Segoe UI"/>
                <a:cs typeface="Segoe UI" pitchFamily="34" charset="0"/>
              </a:endParaRPr>
            </a:p>
          </p:txBody>
        </p:sp>
        <p:sp>
          <p:nvSpPr>
            <p:cNvPr id="94" name="Move_E7C2" title="Icon of four arrows pointing away from eachother">
              <a:extLst>
                <a:ext uri="{FF2B5EF4-FFF2-40B4-BE49-F238E27FC236}">
                  <a16:creationId xmlns:a16="http://schemas.microsoft.com/office/drawing/2014/main" id="{BD485E00-2C80-F0BB-7FBF-D1A4E9C137DD}"/>
                </a:ext>
              </a:extLst>
            </p:cNvPr>
            <p:cNvSpPr>
              <a:spLocks noChangeAspect="1" noEditPoints="1"/>
            </p:cNvSpPr>
            <p:nvPr/>
          </p:nvSpPr>
          <p:spPr bwMode="auto">
            <a:xfrm>
              <a:off x="9362221" y="4715538"/>
              <a:ext cx="326178" cy="326259"/>
            </a:xfrm>
            <a:custGeom>
              <a:avLst/>
              <a:gdLst>
                <a:gd name="T0" fmla="*/ 736 w 3999"/>
                <a:gd name="T1" fmla="*/ 2737 h 4000"/>
                <a:gd name="T2" fmla="*/ 0 w 3999"/>
                <a:gd name="T3" fmla="*/ 2001 h 4000"/>
                <a:gd name="T4" fmla="*/ 736 w 3999"/>
                <a:gd name="T5" fmla="*/ 1264 h 4000"/>
                <a:gd name="T6" fmla="*/ 86 w 3999"/>
                <a:gd name="T7" fmla="*/ 2001 h 4000"/>
                <a:gd name="T8" fmla="*/ 1264 w 3999"/>
                <a:gd name="T9" fmla="*/ 2001 h 4000"/>
                <a:gd name="T10" fmla="*/ 1264 w 3999"/>
                <a:gd name="T11" fmla="*/ 3265 h 4000"/>
                <a:gd name="T12" fmla="*/ 2000 w 3999"/>
                <a:gd name="T13" fmla="*/ 4000 h 4000"/>
                <a:gd name="T14" fmla="*/ 2735 w 3999"/>
                <a:gd name="T15" fmla="*/ 3265 h 4000"/>
                <a:gd name="T16" fmla="*/ 2000 w 3999"/>
                <a:gd name="T17" fmla="*/ 3915 h 4000"/>
                <a:gd name="T18" fmla="*/ 2000 w 3999"/>
                <a:gd name="T19" fmla="*/ 2737 h 4000"/>
                <a:gd name="T20" fmla="*/ 3264 w 3999"/>
                <a:gd name="T21" fmla="*/ 2737 h 4000"/>
                <a:gd name="T22" fmla="*/ 3999 w 3999"/>
                <a:gd name="T23" fmla="*/ 2001 h 4000"/>
                <a:gd name="T24" fmla="*/ 3264 w 3999"/>
                <a:gd name="T25" fmla="*/ 1264 h 4000"/>
                <a:gd name="T26" fmla="*/ 3913 w 3999"/>
                <a:gd name="T27" fmla="*/ 2001 h 4000"/>
                <a:gd name="T28" fmla="*/ 2735 w 3999"/>
                <a:gd name="T29" fmla="*/ 2001 h 4000"/>
                <a:gd name="T30" fmla="*/ 2735 w 3999"/>
                <a:gd name="T31" fmla="*/ 736 h 4000"/>
                <a:gd name="T32" fmla="*/ 2000 w 3999"/>
                <a:gd name="T33" fmla="*/ 0 h 4000"/>
                <a:gd name="T34" fmla="*/ 1264 w 3999"/>
                <a:gd name="T35" fmla="*/ 736 h 4000"/>
                <a:gd name="T36" fmla="*/ 2000 w 3999"/>
                <a:gd name="T37" fmla="*/ 86 h 4000"/>
                <a:gd name="T38" fmla="*/ 2000 w 3999"/>
                <a:gd name="T39" fmla="*/ 1264 h 4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99" h="4000">
                  <a:moveTo>
                    <a:pt x="736" y="2737"/>
                  </a:moveTo>
                  <a:lnTo>
                    <a:pt x="0" y="2001"/>
                  </a:lnTo>
                  <a:lnTo>
                    <a:pt x="736" y="1264"/>
                  </a:lnTo>
                  <a:moveTo>
                    <a:pt x="86" y="2001"/>
                  </a:moveTo>
                  <a:lnTo>
                    <a:pt x="1264" y="2001"/>
                  </a:lnTo>
                  <a:moveTo>
                    <a:pt x="1264" y="3265"/>
                  </a:moveTo>
                  <a:lnTo>
                    <a:pt x="2000" y="4000"/>
                  </a:lnTo>
                  <a:lnTo>
                    <a:pt x="2735" y="3265"/>
                  </a:lnTo>
                  <a:moveTo>
                    <a:pt x="2000" y="3915"/>
                  </a:moveTo>
                  <a:lnTo>
                    <a:pt x="2000" y="2737"/>
                  </a:lnTo>
                  <a:moveTo>
                    <a:pt x="3264" y="2737"/>
                  </a:moveTo>
                  <a:lnTo>
                    <a:pt x="3999" y="2001"/>
                  </a:lnTo>
                  <a:lnTo>
                    <a:pt x="3264" y="1264"/>
                  </a:lnTo>
                  <a:moveTo>
                    <a:pt x="3913" y="2001"/>
                  </a:moveTo>
                  <a:lnTo>
                    <a:pt x="2735" y="2001"/>
                  </a:lnTo>
                  <a:moveTo>
                    <a:pt x="2735" y="736"/>
                  </a:moveTo>
                  <a:lnTo>
                    <a:pt x="2000" y="0"/>
                  </a:lnTo>
                  <a:lnTo>
                    <a:pt x="1264" y="736"/>
                  </a:lnTo>
                  <a:moveTo>
                    <a:pt x="2000" y="86"/>
                  </a:moveTo>
                  <a:lnTo>
                    <a:pt x="2000" y="1264"/>
                  </a:lnTo>
                </a:path>
              </a:pathLst>
            </a:custGeom>
            <a:noFill/>
            <a:ln w="12700" cap="sq">
              <a:solidFill>
                <a:srgbClr val="0078D4"/>
              </a:solidFill>
              <a:prstDash val="solid"/>
              <a:miter lim="800000"/>
              <a:headEnd/>
              <a:tailEnd/>
            </a:ln>
          </p:spPr>
          <p:txBody>
            <a:bodyPr vert="horz" wrap="square" lIns="89642" tIns="44821" rIns="89642" bIns="44821" numCol="1" anchor="t" anchorCtr="0" compatLnSpc="1">
              <a:prstTxWarp prst="textNoShape">
                <a:avLst/>
              </a:prstTxWarp>
            </a:bodyPr>
            <a:lstStyle/>
            <a:p>
              <a:pPr defTabSz="896386">
                <a:defRPr/>
              </a:pPr>
              <a:endParaRPr lang="en-US" sz="882">
                <a:solidFill>
                  <a:srgbClr val="3C3C41"/>
                </a:solidFill>
                <a:latin typeface="Segoe UI"/>
              </a:endParaRPr>
            </a:p>
          </p:txBody>
        </p:sp>
        <p:sp>
          <p:nvSpPr>
            <p:cNvPr id="95" name="Title 1">
              <a:extLst>
                <a:ext uri="{FF2B5EF4-FFF2-40B4-BE49-F238E27FC236}">
                  <a16:creationId xmlns:a16="http://schemas.microsoft.com/office/drawing/2014/main" id="{3840D8F2-8A36-9BC9-780F-3125007BCC2C}"/>
                </a:ext>
              </a:extLst>
            </p:cNvPr>
            <p:cNvSpPr txBox="1">
              <a:spLocks/>
            </p:cNvSpPr>
            <p:nvPr/>
          </p:nvSpPr>
          <p:spPr>
            <a:xfrm>
              <a:off x="9224296" y="4442288"/>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err="1">
                  <a:solidFill>
                    <a:srgbClr val="3C3C41"/>
                  </a:solidFill>
                  <a:latin typeface="Segoe UI Semibold" panose="020B0702040204020203" pitchFamily="34" charset="0"/>
                  <a:cs typeface="Segoe UI Semibold" panose="020B0702040204020203" pitchFamily="34" charset="0"/>
                </a:rPr>
                <a:t>kube</a:t>
              </a:r>
              <a:r>
                <a:rPr lang="en-US" sz="784" spc="0">
                  <a:solidFill>
                    <a:srgbClr val="3C3C41"/>
                  </a:solidFill>
                  <a:latin typeface="Segoe UI Semibold" panose="020B0702040204020203" pitchFamily="34" charset="0"/>
                  <a:cs typeface="Segoe UI Semibold" panose="020B0702040204020203" pitchFamily="34" charset="0"/>
                </a:rPr>
                <a:t>-proxy</a:t>
              </a:r>
            </a:p>
          </p:txBody>
        </p:sp>
      </p:grpSp>
      <p:grpSp>
        <p:nvGrpSpPr>
          <p:cNvPr id="96" name="Group 95">
            <a:extLst>
              <a:ext uri="{FF2B5EF4-FFF2-40B4-BE49-F238E27FC236}">
                <a16:creationId xmlns:a16="http://schemas.microsoft.com/office/drawing/2014/main" id="{9AF97DDF-12BB-5BEE-5853-D170A9EA5B5E}"/>
              </a:ext>
              <a:ext uri="{C183D7F6-B498-43B3-948B-1728B52AA6E4}">
                <adec:decorative xmlns:adec="http://schemas.microsoft.com/office/drawing/2017/decorative" val="1"/>
              </a:ext>
            </a:extLst>
          </p:cNvPr>
          <p:cNvGrpSpPr/>
          <p:nvPr/>
        </p:nvGrpSpPr>
        <p:grpSpPr>
          <a:xfrm>
            <a:off x="8066604" y="4964705"/>
            <a:ext cx="2257911" cy="1281103"/>
            <a:chOff x="7871511" y="5205645"/>
            <a:chExt cx="2303187" cy="1306792"/>
          </a:xfrm>
        </p:grpSpPr>
        <p:sp>
          <p:nvSpPr>
            <p:cNvPr id="97" name="Rectangle: Rounded Corners 96">
              <a:extLst>
                <a:ext uri="{FF2B5EF4-FFF2-40B4-BE49-F238E27FC236}">
                  <a16:creationId xmlns:a16="http://schemas.microsoft.com/office/drawing/2014/main" id="{C88F3AF2-D6F9-5083-2303-7F71E8F96FAD}"/>
                </a:ext>
              </a:extLst>
            </p:cNvPr>
            <p:cNvSpPr/>
            <p:nvPr/>
          </p:nvSpPr>
          <p:spPr bwMode="auto">
            <a:xfrm>
              <a:off x="7873584" y="5502698"/>
              <a:ext cx="2301114" cy="1009739"/>
            </a:xfrm>
            <a:prstGeom prst="roundRect">
              <a:avLst>
                <a:gd name="adj" fmla="val 3125"/>
              </a:avLst>
            </a:prstGeom>
            <a:no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3C3C41"/>
                </a:solidFill>
                <a:latin typeface="Segoe UI"/>
                <a:cs typeface="Segoe UI" pitchFamily="34" charset="0"/>
              </a:endParaRPr>
            </a:p>
          </p:txBody>
        </p:sp>
        <p:sp>
          <p:nvSpPr>
            <p:cNvPr id="98" name="Title 1">
              <a:extLst>
                <a:ext uri="{FF2B5EF4-FFF2-40B4-BE49-F238E27FC236}">
                  <a16:creationId xmlns:a16="http://schemas.microsoft.com/office/drawing/2014/main" id="{FE045EC0-D09A-5589-E963-D047BDBF1D32}"/>
                </a:ext>
              </a:extLst>
            </p:cNvPr>
            <p:cNvSpPr txBox="1">
              <a:spLocks/>
            </p:cNvSpPr>
            <p:nvPr/>
          </p:nvSpPr>
          <p:spPr>
            <a:xfrm>
              <a:off x="7871511" y="5205645"/>
              <a:ext cx="505099" cy="24622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Container runtime</a:t>
              </a:r>
            </a:p>
          </p:txBody>
        </p:sp>
        <p:sp>
          <p:nvSpPr>
            <p:cNvPr id="99" name="Rectangle: Rounded Corners 98">
              <a:extLst>
                <a:ext uri="{FF2B5EF4-FFF2-40B4-BE49-F238E27FC236}">
                  <a16:creationId xmlns:a16="http://schemas.microsoft.com/office/drawing/2014/main" id="{DE3CCEC3-76B6-EE8B-B9DF-AA0BF272E5FD}"/>
                </a:ext>
              </a:extLst>
            </p:cNvPr>
            <p:cNvSpPr/>
            <p:nvPr/>
          </p:nvSpPr>
          <p:spPr bwMode="auto">
            <a:xfrm>
              <a:off x="7993662" y="5820799"/>
              <a:ext cx="968156" cy="546759"/>
            </a:xfrm>
            <a:prstGeom prst="roundRect">
              <a:avLst>
                <a:gd name="adj" fmla="val 3125"/>
              </a:avLst>
            </a:prstGeom>
            <a:no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3C3C41"/>
                </a:solidFill>
                <a:latin typeface="Segoe UI"/>
                <a:cs typeface="Segoe UI" pitchFamily="34" charset="0"/>
              </a:endParaRPr>
            </a:p>
          </p:txBody>
        </p:sp>
        <p:sp>
          <p:nvSpPr>
            <p:cNvPr id="100" name="Rectangle: Rounded Corners 99">
              <a:extLst>
                <a:ext uri="{FF2B5EF4-FFF2-40B4-BE49-F238E27FC236}">
                  <a16:creationId xmlns:a16="http://schemas.microsoft.com/office/drawing/2014/main" id="{D7E2CDC8-9C11-99DD-BFFA-530EA5B241D3}"/>
                </a:ext>
              </a:extLst>
            </p:cNvPr>
            <p:cNvSpPr/>
            <p:nvPr/>
          </p:nvSpPr>
          <p:spPr bwMode="auto">
            <a:xfrm>
              <a:off x="9086465" y="5820799"/>
              <a:ext cx="968156" cy="546759"/>
            </a:xfrm>
            <a:prstGeom prst="roundRect">
              <a:avLst>
                <a:gd name="adj" fmla="val 3125"/>
              </a:avLst>
            </a:prstGeom>
            <a:no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61" tIns="140609" rIns="175761" bIns="140609" numCol="1" spcCol="0" rtlCol="0" fromWordArt="0" anchor="t" anchorCtr="0" forceAA="0" compatLnSpc="1">
              <a:prstTxWarp prst="textNoShape">
                <a:avLst/>
              </a:prstTxWarp>
              <a:noAutofit/>
            </a:bodyPr>
            <a:lstStyle/>
            <a:p>
              <a:pPr algn="ctr" defTabSz="896094" fontAlgn="base">
                <a:lnSpc>
                  <a:spcPct val="90000"/>
                </a:lnSpc>
                <a:spcBef>
                  <a:spcPct val="0"/>
                </a:spcBef>
                <a:spcAft>
                  <a:spcPct val="0"/>
                </a:spcAft>
                <a:defRPr/>
              </a:pPr>
              <a:endParaRPr lang="en-US" sz="1153">
                <a:solidFill>
                  <a:srgbClr val="3C3C41"/>
                </a:solidFill>
                <a:latin typeface="Segoe UI"/>
                <a:cs typeface="Segoe UI" pitchFamily="34" charset="0"/>
              </a:endParaRPr>
            </a:p>
          </p:txBody>
        </p:sp>
        <p:sp>
          <p:nvSpPr>
            <p:cNvPr id="101" name="Title 1">
              <a:extLst>
                <a:ext uri="{FF2B5EF4-FFF2-40B4-BE49-F238E27FC236}">
                  <a16:creationId xmlns:a16="http://schemas.microsoft.com/office/drawing/2014/main" id="{EA7F42DE-7ADE-88B6-74F1-A768E7EF9EA6}"/>
                </a:ext>
              </a:extLst>
            </p:cNvPr>
            <p:cNvSpPr txBox="1">
              <a:spLocks/>
            </p:cNvSpPr>
            <p:nvPr/>
          </p:nvSpPr>
          <p:spPr>
            <a:xfrm>
              <a:off x="7993662" y="5647577"/>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Pods</a:t>
              </a:r>
            </a:p>
          </p:txBody>
        </p:sp>
        <p:sp>
          <p:nvSpPr>
            <p:cNvPr id="102" name="Title 1">
              <a:extLst>
                <a:ext uri="{FF2B5EF4-FFF2-40B4-BE49-F238E27FC236}">
                  <a16:creationId xmlns:a16="http://schemas.microsoft.com/office/drawing/2014/main" id="{0A36BA6F-96BE-23A8-24B8-172E9D507E26}"/>
                </a:ext>
              </a:extLst>
            </p:cNvPr>
            <p:cNvSpPr txBox="1">
              <a:spLocks/>
            </p:cNvSpPr>
            <p:nvPr/>
          </p:nvSpPr>
          <p:spPr>
            <a:xfrm>
              <a:off x="9086465" y="5647577"/>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Pods</a:t>
              </a:r>
            </a:p>
          </p:txBody>
        </p:sp>
        <p:sp>
          <p:nvSpPr>
            <p:cNvPr id="103" name="Title 1">
              <a:extLst>
                <a:ext uri="{FF2B5EF4-FFF2-40B4-BE49-F238E27FC236}">
                  <a16:creationId xmlns:a16="http://schemas.microsoft.com/office/drawing/2014/main" id="{B5D40EA4-3BE9-C611-2FCB-E62E4CB3B002}"/>
                </a:ext>
              </a:extLst>
            </p:cNvPr>
            <p:cNvSpPr txBox="1">
              <a:spLocks/>
            </p:cNvSpPr>
            <p:nvPr/>
          </p:nvSpPr>
          <p:spPr>
            <a:xfrm>
              <a:off x="8176997" y="5873650"/>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Containers</a:t>
              </a:r>
            </a:p>
          </p:txBody>
        </p:sp>
        <p:sp>
          <p:nvSpPr>
            <p:cNvPr id="104" name="Title 1">
              <a:extLst>
                <a:ext uri="{FF2B5EF4-FFF2-40B4-BE49-F238E27FC236}">
                  <a16:creationId xmlns:a16="http://schemas.microsoft.com/office/drawing/2014/main" id="{6DC58D69-879B-648A-D902-D68BCCE9F73C}"/>
                </a:ext>
              </a:extLst>
            </p:cNvPr>
            <p:cNvSpPr txBox="1">
              <a:spLocks/>
            </p:cNvSpPr>
            <p:nvPr/>
          </p:nvSpPr>
          <p:spPr>
            <a:xfrm>
              <a:off x="9269800" y="5873650"/>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Containers</a:t>
              </a:r>
            </a:p>
          </p:txBody>
        </p:sp>
        <p:sp>
          <p:nvSpPr>
            <p:cNvPr id="105" name="Freeform: Shape 104">
              <a:extLst>
                <a:ext uri="{FF2B5EF4-FFF2-40B4-BE49-F238E27FC236}">
                  <a16:creationId xmlns:a16="http://schemas.microsoft.com/office/drawing/2014/main" id="{A14D77F9-1BF7-2958-669B-A3B137E4C7F6}"/>
                </a:ext>
              </a:extLst>
            </p:cNvPr>
            <p:cNvSpPr/>
            <p:nvPr/>
          </p:nvSpPr>
          <p:spPr>
            <a:xfrm>
              <a:off x="8140720" y="6057748"/>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106" name="Freeform: Shape 105">
              <a:extLst>
                <a:ext uri="{FF2B5EF4-FFF2-40B4-BE49-F238E27FC236}">
                  <a16:creationId xmlns:a16="http://schemas.microsoft.com/office/drawing/2014/main" id="{FC7EB033-CC9B-3EAA-EE1F-9D4F2FD9BD7A}"/>
                </a:ext>
              </a:extLst>
            </p:cNvPr>
            <p:cNvSpPr/>
            <p:nvPr/>
          </p:nvSpPr>
          <p:spPr>
            <a:xfrm>
              <a:off x="8386292" y="6057748"/>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107" name="Freeform: Shape 106">
              <a:extLst>
                <a:ext uri="{FF2B5EF4-FFF2-40B4-BE49-F238E27FC236}">
                  <a16:creationId xmlns:a16="http://schemas.microsoft.com/office/drawing/2014/main" id="{C8DAD31C-C662-A2EF-CA46-5168449FB744}"/>
                </a:ext>
              </a:extLst>
            </p:cNvPr>
            <p:cNvSpPr/>
            <p:nvPr/>
          </p:nvSpPr>
          <p:spPr>
            <a:xfrm>
              <a:off x="8631863" y="6057748"/>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108" name="Freeform: Shape 107">
              <a:extLst>
                <a:ext uri="{FF2B5EF4-FFF2-40B4-BE49-F238E27FC236}">
                  <a16:creationId xmlns:a16="http://schemas.microsoft.com/office/drawing/2014/main" id="{E68D741E-AEBC-0ACF-927C-E4AEE046A1A4}"/>
                </a:ext>
              </a:extLst>
            </p:cNvPr>
            <p:cNvSpPr/>
            <p:nvPr/>
          </p:nvSpPr>
          <p:spPr>
            <a:xfrm>
              <a:off x="9233523" y="6057748"/>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109" name="Freeform: Shape 108">
              <a:extLst>
                <a:ext uri="{FF2B5EF4-FFF2-40B4-BE49-F238E27FC236}">
                  <a16:creationId xmlns:a16="http://schemas.microsoft.com/office/drawing/2014/main" id="{EF212510-2E4D-808F-F132-A930C2109BA8}"/>
                </a:ext>
              </a:extLst>
            </p:cNvPr>
            <p:cNvSpPr/>
            <p:nvPr/>
          </p:nvSpPr>
          <p:spPr>
            <a:xfrm>
              <a:off x="9479095" y="6057748"/>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sp>
          <p:nvSpPr>
            <p:cNvPr id="110" name="Freeform: Shape 109">
              <a:extLst>
                <a:ext uri="{FF2B5EF4-FFF2-40B4-BE49-F238E27FC236}">
                  <a16:creationId xmlns:a16="http://schemas.microsoft.com/office/drawing/2014/main" id="{1ABD284F-87B9-0AF9-B60B-7F99D0DC734B}"/>
                </a:ext>
              </a:extLst>
            </p:cNvPr>
            <p:cNvSpPr/>
            <p:nvPr/>
          </p:nvSpPr>
          <p:spPr>
            <a:xfrm>
              <a:off x="9724666" y="6057748"/>
              <a:ext cx="182897" cy="200439"/>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defTabSz="896354">
                <a:defRPr/>
              </a:pPr>
              <a:endParaRPr lang="en-US" sz="1730">
                <a:solidFill>
                  <a:srgbClr val="3C3C41"/>
                </a:solidFill>
                <a:latin typeface="Segoe UI"/>
              </a:endParaRPr>
            </a:p>
          </p:txBody>
        </p:sp>
      </p:grpSp>
      <p:cxnSp>
        <p:nvCxnSpPr>
          <p:cNvPr id="111" name="Straight Arrow Connector 110">
            <a:extLst>
              <a:ext uri="{FF2B5EF4-FFF2-40B4-BE49-F238E27FC236}">
                <a16:creationId xmlns:a16="http://schemas.microsoft.com/office/drawing/2014/main" id="{C7F8633E-7F57-845B-2A14-4BF984931F14}"/>
              </a:ext>
              <a:ext uri="{C183D7F6-B498-43B3-948B-1728B52AA6E4}">
                <adec:decorative xmlns:adec="http://schemas.microsoft.com/office/drawing/2017/decorative" val="1"/>
              </a:ext>
            </a:extLst>
          </p:cNvPr>
          <p:cNvCxnSpPr>
            <a:cxnSpLocks/>
          </p:cNvCxnSpPr>
          <p:nvPr/>
        </p:nvCxnSpPr>
        <p:spPr>
          <a:xfrm flipH="1">
            <a:off x="8658914" y="4905705"/>
            <a:ext cx="1" cy="717140"/>
          </a:xfrm>
          <a:prstGeom prst="straightConnector1">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DF4B62B4-FECF-D1A5-BA69-2E16DFF46D2F}"/>
              </a:ext>
              <a:ext uri="{C183D7F6-B498-43B3-948B-1728B52AA6E4}">
                <adec:decorative xmlns:adec="http://schemas.microsoft.com/office/drawing/2017/decorative" val="1"/>
              </a:ext>
            </a:extLst>
          </p:cNvPr>
          <p:cNvCxnSpPr>
            <a:cxnSpLocks/>
          </p:cNvCxnSpPr>
          <p:nvPr/>
        </p:nvCxnSpPr>
        <p:spPr>
          <a:xfrm flipH="1">
            <a:off x="9731235" y="4905706"/>
            <a:ext cx="1" cy="622114"/>
          </a:xfrm>
          <a:prstGeom prst="straightConnector1">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D5EC2152-FEB8-DBEE-9041-971AE7A87391}"/>
              </a:ext>
              <a:ext uri="{C183D7F6-B498-43B3-948B-1728B52AA6E4}">
                <adec:decorative xmlns:adec="http://schemas.microsoft.com/office/drawing/2017/decorative" val="1"/>
              </a:ext>
            </a:extLst>
          </p:cNvPr>
          <p:cNvCxnSpPr>
            <a:cxnSpLocks/>
          </p:cNvCxnSpPr>
          <p:nvPr/>
        </p:nvCxnSpPr>
        <p:spPr>
          <a:xfrm rot="16200000" flipH="1">
            <a:off x="8783620" y="4827875"/>
            <a:ext cx="713873" cy="869532"/>
          </a:xfrm>
          <a:prstGeom prst="bentConnector3">
            <a:avLst>
              <a:gd name="adj1" fmla="val 37502"/>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B04FFF64-8FAA-CF67-5F9B-DA882B0E86EA}"/>
              </a:ext>
              <a:ext uri="{C183D7F6-B498-43B3-948B-1728B52AA6E4}">
                <adec:decorative xmlns:adec="http://schemas.microsoft.com/office/drawing/2017/decorative" val="1"/>
              </a:ext>
            </a:extLst>
          </p:cNvPr>
          <p:cNvCxnSpPr>
            <a:cxnSpLocks/>
          </p:cNvCxnSpPr>
          <p:nvPr/>
        </p:nvCxnSpPr>
        <p:spPr>
          <a:xfrm rot="5400000">
            <a:off x="8942455" y="4780206"/>
            <a:ext cx="618533" cy="869532"/>
          </a:xfrm>
          <a:prstGeom prst="bentConnector3">
            <a:avLst>
              <a:gd name="adj1" fmla="val 21704"/>
            </a:avLst>
          </a:prstGeom>
          <a:ln w="12700">
            <a:solidFill>
              <a:srgbClr val="000000"/>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15" name="Connector: Elbow 114">
            <a:extLst>
              <a:ext uri="{FF2B5EF4-FFF2-40B4-BE49-F238E27FC236}">
                <a16:creationId xmlns:a16="http://schemas.microsoft.com/office/drawing/2014/main" id="{D9136F81-6BE2-467A-F5BE-139AF4B44AA7}"/>
              </a:ext>
              <a:ext uri="{C183D7F6-B498-43B3-948B-1728B52AA6E4}">
                <adec:decorative xmlns:adec="http://schemas.microsoft.com/office/drawing/2017/decorative" val="1"/>
              </a:ext>
            </a:extLst>
          </p:cNvPr>
          <p:cNvCxnSpPr>
            <a:cxnSpLocks/>
            <a:endCxn id="141" idx="1"/>
          </p:cNvCxnSpPr>
          <p:nvPr/>
        </p:nvCxnSpPr>
        <p:spPr>
          <a:xfrm flipV="1">
            <a:off x="6354521" y="2069580"/>
            <a:ext cx="2089719" cy="1097793"/>
          </a:xfrm>
          <a:prstGeom prst="bentConnector3">
            <a:avLst/>
          </a:prstGeom>
          <a:ln w="12700">
            <a:solidFill>
              <a:srgbClr val="0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A0AD5839-02D1-AAA1-499A-FE643970D9A5}"/>
              </a:ext>
              <a:ext uri="{C183D7F6-B498-43B3-948B-1728B52AA6E4}">
                <adec:decorative xmlns:adec="http://schemas.microsoft.com/office/drawing/2017/decorative" val="1"/>
              </a:ext>
            </a:extLst>
          </p:cNvPr>
          <p:cNvCxnSpPr>
            <a:cxnSpLocks/>
            <a:endCxn id="155" idx="1"/>
          </p:cNvCxnSpPr>
          <p:nvPr/>
        </p:nvCxnSpPr>
        <p:spPr>
          <a:xfrm>
            <a:off x="6354521" y="3469823"/>
            <a:ext cx="2089719" cy="1174333"/>
          </a:xfrm>
          <a:prstGeom prst="bentConnector3">
            <a:avLst/>
          </a:prstGeom>
          <a:ln w="12700">
            <a:solidFill>
              <a:srgbClr val="000000"/>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17" name="Group 116" descr="internet icon">
            <a:extLst>
              <a:ext uri="{FF2B5EF4-FFF2-40B4-BE49-F238E27FC236}">
                <a16:creationId xmlns:a16="http://schemas.microsoft.com/office/drawing/2014/main" id="{BF2D0633-0323-5C32-915D-53113BDA3F5E}"/>
              </a:ext>
            </a:extLst>
          </p:cNvPr>
          <p:cNvGrpSpPr/>
          <p:nvPr/>
        </p:nvGrpSpPr>
        <p:grpSpPr>
          <a:xfrm>
            <a:off x="10847934" y="1710437"/>
            <a:ext cx="896425" cy="557196"/>
            <a:chOff x="10706748" y="1441803"/>
            <a:chExt cx="914400" cy="568369"/>
          </a:xfrm>
        </p:grpSpPr>
        <p:sp>
          <p:nvSpPr>
            <p:cNvPr id="118" name="globe_2" title="Icon of a sphere made of lines">
              <a:extLst>
                <a:ext uri="{FF2B5EF4-FFF2-40B4-BE49-F238E27FC236}">
                  <a16:creationId xmlns:a16="http://schemas.microsoft.com/office/drawing/2014/main" id="{A1D8CBD1-53D6-42FC-A2AD-5480DC9512A6}"/>
                </a:ext>
              </a:extLst>
            </p:cNvPr>
            <p:cNvSpPr>
              <a:spLocks noChangeAspect="1" noEditPoints="1"/>
            </p:cNvSpPr>
            <p:nvPr/>
          </p:nvSpPr>
          <p:spPr bwMode="auto">
            <a:xfrm>
              <a:off x="10981771" y="1644412"/>
              <a:ext cx="365760" cy="365760"/>
            </a:xfrm>
            <a:custGeom>
              <a:avLst/>
              <a:gdLst>
                <a:gd name="T0" fmla="*/ 0 w 335"/>
                <a:gd name="T1" fmla="*/ 168 h 335"/>
                <a:gd name="T2" fmla="*/ 168 w 335"/>
                <a:gd name="T3" fmla="*/ 0 h 335"/>
                <a:gd name="T4" fmla="*/ 335 w 335"/>
                <a:gd name="T5" fmla="*/ 168 h 335"/>
                <a:gd name="T6" fmla="*/ 168 w 335"/>
                <a:gd name="T7" fmla="*/ 335 h 335"/>
                <a:gd name="T8" fmla="*/ 0 w 335"/>
                <a:gd name="T9" fmla="*/ 168 h 335"/>
                <a:gd name="T10" fmla="*/ 168 w 335"/>
                <a:gd name="T11" fmla="*/ 335 h 335"/>
                <a:gd name="T12" fmla="*/ 253 w 335"/>
                <a:gd name="T13" fmla="*/ 168 h 335"/>
                <a:gd name="T14" fmla="*/ 168 w 335"/>
                <a:gd name="T15" fmla="*/ 0 h 335"/>
                <a:gd name="T16" fmla="*/ 82 w 335"/>
                <a:gd name="T17" fmla="*/ 168 h 335"/>
                <a:gd name="T18" fmla="*/ 168 w 335"/>
                <a:gd name="T19" fmla="*/ 335 h 335"/>
                <a:gd name="T20" fmla="*/ 8 w 335"/>
                <a:gd name="T21" fmla="*/ 116 h 335"/>
                <a:gd name="T22" fmla="*/ 327 w 335"/>
                <a:gd name="T23" fmla="*/ 116 h 335"/>
                <a:gd name="T24" fmla="*/ 9 w 335"/>
                <a:gd name="T25" fmla="*/ 221 h 335"/>
                <a:gd name="T26" fmla="*/ 326 w 335"/>
                <a:gd name="T27" fmla="*/ 221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335">
                  <a:moveTo>
                    <a:pt x="0" y="168"/>
                  </a:moveTo>
                  <a:cubicBezTo>
                    <a:pt x="0" y="75"/>
                    <a:pt x="75" y="0"/>
                    <a:pt x="168" y="0"/>
                  </a:cubicBezTo>
                  <a:cubicBezTo>
                    <a:pt x="260" y="0"/>
                    <a:pt x="335" y="75"/>
                    <a:pt x="335" y="168"/>
                  </a:cubicBezTo>
                  <a:cubicBezTo>
                    <a:pt x="335" y="260"/>
                    <a:pt x="260" y="335"/>
                    <a:pt x="168" y="335"/>
                  </a:cubicBezTo>
                  <a:cubicBezTo>
                    <a:pt x="75" y="335"/>
                    <a:pt x="0" y="260"/>
                    <a:pt x="0" y="168"/>
                  </a:cubicBezTo>
                  <a:close/>
                  <a:moveTo>
                    <a:pt x="168" y="335"/>
                  </a:moveTo>
                  <a:cubicBezTo>
                    <a:pt x="215" y="335"/>
                    <a:pt x="253" y="260"/>
                    <a:pt x="253" y="168"/>
                  </a:cubicBezTo>
                  <a:cubicBezTo>
                    <a:pt x="253" y="75"/>
                    <a:pt x="215" y="0"/>
                    <a:pt x="168" y="0"/>
                  </a:cubicBezTo>
                  <a:cubicBezTo>
                    <a:pt x="120" y="0"/>
                    <a:pt x="82" y="75"/>
                    <a:pt x="82" y="168"/>
                  </a:cubicBezTo>
                  <a:cubicBezTo>
                    <a:pt x="82" y="260"/>
                    <a:pt x="120" y="335"/>
                    <a:pt x="168" y="335"/>
                  </a:cubicBezTo>
                  <a:close/>
                  <a:moveTo>
                    <a:pt x="8" y="116"/>
                  </a:moveTo>
                  <a:cubicBezTo>
                    <a:pt x="327" y="116"/>
                    <a:pt x="327" y="116"/>
                    <a:pt x="327" y="116"/>
                  </a:cubicBezTo>
                  <a:moveTo>
                    <a:pt x="9" y="221"/>
                  </a:moveTo>
                  <a:cubicBezTo>
                    <a:pt x="326" y="221"/>
                    <a:pt x="326" y="221"/>
                    <a:pt x="326" y="221"/>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882">
                <a:solidFill>
                  <a:srgbClr val="3C3C41"/>
                </a:solidFill>
                <a:latin typeface="Segoe UI"/>
              </a:endParaRPr>
            </a:p>
          </p:txBody>
        </p:sp>
        <p:sp>
          <p:nvSpPr>
            <p:cNvPr id="119" name="Title 1">
              <a:extLst>
                <a:ext uri="{FF2B5EF4-FFF2-40B4-BE49-F238E27FC236}">
                  <a16:creationId xmlns:a16="http://schemas.microsoft.com/office/drawing/2014/main" id="{923BF90D-9D8A-EFED-2661-B80D9569340B}"/>
                </a:ext>
              </a:extLst>
            </p:cNvPr>
            <p:cNvSpPr txBox="1">
              <a:spLocks/>
            </p:cNvSpPr>
            <p:nvPr/>
          </p:nvSpPr>
          <p:spPr>
            <a:xfrm>
              <a:off x="10706748" y="1441803"/>
              <a:ext cx="914400" cy="153888"/>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980" spc="0">
                  <a:solidFill>
                    <a:srgbClr val="3C3C41"/>
                  </a:solidFill>
                  <a:latin typeface="Segoe UI Semibold" panose="020B0702040204020203" pitchFamily="34" charset="0"/>
                  <a:cs typeface="Segoe UI Semibold" panose="020B0702040204020203" pitchFamily="34" charset="0"/>
                </a:rPr>
                <a:t>Internet</a:t>
              </a:r>
            </a:p>
          </p:txBody>
        </p:sp>
      </p:grpSp>
      <p:cxnSp>
        <p:nvCxnSpPr>
          <p:cNvPr id="120" name="Straight Arrow Connector 119">
            <a:extLst>
              <a:ext uri="{FF2B5EF4-FFF2-40B4-BE49-F238E27FC236}">
                <a16:creationId xmlns:a16="http://schemas.microsoft.com/office/drawing/2014/main" id="{627A8022-3E9A-780D-82C0-72C4E43BE6C0}"/>
              </a:ext>
              <a:ext uri="{C183D7F6-B498-43B3-948B-1728B52AA6E4}">
                <adec:decorative xmlns:adec="http://schemas.microsoft.com/office/drawing/2017/decorative" val="1"/>
              </a:ext>
            </a:extLst>
          </p:cNvPr>
          <p:cNvCxnSpPr>
            <a:cxnSpLocks/>
            <a:stCxn id="118" idx="0"/>
          </p:cNvCxnSpPr>
          <p:nvPr/>
        </p:nvCxnSpPr>
        <p:spPr>
          <a:xfrm flipH="1">
            <a:off x="10259806" y="2088883"/>
            <a:ext cx="857745" cy="0"/>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21" name="Group 120" descr="internet icon">
            <a:extLst>
              <a:ext uri="{FF2B5EF4-FFF2-40B4-BE49-F238E27FC236}">
                <a16:creationId xmlns:a16="http://schemas.microsoft.com/office/drawing/2014/main" id="{D8F792DA-2CDD-8B15-CD33-183AF68AEC58}"/>
              </a:ext>
            </a:extLst>
          </p:cNvPr>
          <p:cNvGrpSpPr/>
          <p:nvPr/>
        </p:nvGrpSpPr>
        <p:grpSpPr>
          <a:xfrm>
            <a:off x="10846105" y="4125238"/>
            <a:ext cx="896425" cy="557196"/>
            <a:chOff x="10706748" y="4349344"/>
            <a:chExt cx="914400" cy="568369"/>
          </a:xfrm>
        </p:grpSpPr>
        <p:sp>
          <p:nvSpPr>
            <p:cNvPr id="122" name="globe_2" title="Icon of a sphere made of lines">
              <a:extLst>
                <a:ext uri="{FF2B5EF4-FFF2-40B4-BE49-F238E27FC236}">
                  <a16:creationId xmlns:a16="http://schemas.microsoft.com/office/drawing/2014/main" id="{3DEB9CA9-A8AB-6336-8837-4A15D0127A9B}"/>
                </a:ext>
              </a:extLst>
            </p:cNvPr>
            <p:cNvSpPr>
              <a:spLocks noChangeAspect="1" noEditPoints="1"/>
            </p:cNvSpPr>
            <p:nvPr/>
          </p:nvSpPr>
          <p:spPr bwMode="auto">
            <a:xfrm>
              <a:off x="10981771" y="4551953"/>
              <a:ext cx="365760" cy="365760"/>
            </a:xfrm>
            <a:custGeom>
              <a:avLst/>
              <a:gdLst>
                <a:gd name="T0" fmla="*/ 0 w 335"/>
                <a:gd name="T1" fmla="*/ 168 h 335"/>
                <a:gd name="T2" fmla="*/ 168 w 335"/>
                <a:gd name="T3" fmla="*/ 0 h 335"/>
                <a:gd name="T4" fmla="*/ 335 w 335"/>
                <a:gd name="T5" fmla="*/ 168 h 335"/>
                <a:gd name="T6" fmla="*/ 168 w 335"/>
                <a:gd name="T7" fmla="*/ 335 h 335"/>
                <a:gd name="T8" fmla="*/ 0 w 335"/>
                <a:gd name="T9" fmla="*/ 168 h 335"/>
                <a:gd name="T10" fmla="*/ 168 w 335"/>
                <a:gd name="T11" fmla="*/ 335 h 335"/>
                <a:gd name="T12" fmla="*/ 253 w 335"/>
                <a:gd name="T13" fmla="*/ 168 h 335"/>
                <a:gd name="T14" fmla="*/ 168 w 335"/>
                <a:gd name="T15" fmla="*/ 0 h 335"/>
                <a:gd name="T16" fmla="*/ 82 w 335"/>
                <a:gd name="T17" fmla="*/ 168 h 335"/>
                <a:gd name="T18" fmla="*/ 168 w 335"/>
                <a:gd name="T19" fmla="*/ 335 h 335"/>
                <a:gd name="T20" fmla="*/ 8 w 335"/>
                <a:gd name="T21" fmla="*/ 116 h 335"/>
                <a:gd name="T22" fmla="*/ 327 w 335"/>
                <a:gd name="T23" fmla="*/ 116 h 335"/>
                <a:gd name="T24" fmla="*/ 9 w 335"/>
                <a:gd name="T25" fmla="*/ 221 h 335"/>
                <a:gd name="T26" fmla="*/ 326 w 335"/>
                <a:gd name="T27" fmla="*/ 221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335">
                  <a:moveTo>
                    <a:pt x="0" y="168"/>
                  </a:moveTo>
                  <a:cubicBezTo>
                    <a:pt x="0" y="75"/>
                    <a:pt x="75" y="0"/>
                    <a:pt x="168" y="0"/>
                  </a:cubicBezTo>
                  <a:cubicBezTo>
                    <a:pt x="260" y="0"/>
                    <a:pt x="335" y="75"/>
                    <a:pt x="335" y="168"/>
                  </a:cubicBezTo>
                  <a:cubicBezTo>
                    <a:pt x="335" y="260"/>
                    <a:pt x="260" y="335"/>
                    <a:pt x="168" y="335"/>
                  </a:cubicBezTo>
                  <a:cubicBezTo>
                    <a:pt x="75" y="335"/>
                    <a:pt x="0" y="260"/>
                    <a:pt x="0" y="168"/>
                  </a:cubicBezTo>
                  <a:close/>
                  <a:moveTo>
                    <a:pt x="168" y="335"/>
                  </a:moveTo>
                  <a:cubicBezTo>
                    <a:pt x="215" y="335"/>
                    <a:pt x="253" y="260"/>
                    <a:pt x="253" y="168"/>
                  </a:cubicBezTo>
                  <a:cubicBezTo>
                    <a:pt x="253" y="75"/>
                    <a:pt x="215" y="0"/>
                    <a:pt x="168" y="0"/>
                  </a:cubicBezTo>
                  <a:cubicBezTo>
                    <a:pt x="120" y="0"/>
                    <a:pt x="82" y="75"/>
                    <a:pt x="82" y="168"/>
                  </a:cubicBezTo>
                  <a:cubicBezTo>
                    <a:pt x="82" y="260"/>
                    <a:pt x="120" y="335"/>
                    <a:pt x="168" y="335"/>
                  </a:cubicBezTo>
                  <a:close/>
                  <a:moveTo>
                    <a:pt x="8" y="116"/>
                  </a:moveTo>
                  <a:cubicBezTo>
                    <a:pt x="327" y="116"/>
                    <a:pt x="327" y="116"/>
                    <a:pt x="327" y="116"/>
                  </a:cubicBezTo>
                  <a:moveTo>
                    <a:pt x="9" y="221"/>
                  </a:moveTo>
                  <a:cubicBezTo>
                    <a:pt x="326" y="221"/>
                    <a:pt x="326" y="221"/>
                    <a:pt x="326" y="221"/>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896386">
                <a:defRPr/>
              </a:pPr>
              <a:endParaRPr lang="en-US" sz="882">
                <a:solidFill>
                  <a:srgbClr val="3C3C41"/>
                </a:solidFill>
                <a:latin typeface="Segoe UI"/>
              </a:endParaRPr>
            </a:p>
          </p:txBody>
        </p:sp>
        <p:sp>
          <p:nvSpPr>
            <p:cNvPr id="123" name="Title 1">
              <a:extLst>
                <a:ext uri="{FF2B5EF4-FFF2-40B4-BE49-F238E27FC236}">
                  <a16:creationId xmlns:a16="http://schemas.microsoft.com/office/drawing/2014/main" id="{D6200647-BB22-490E-F9EB-9CA52F6171C4}"/>
                </a:ext>
              </a:extLst>
            </p:cNvPr>
            <p:cNvSpPr txBox="1">
              <a:spLocks/>
            </p:cNvSpPr>
            <p:nvPr/>
          </p:nvSpPr>
          <p:spPr>
            <a:xfrm>
              <a:off x="10706748" y="4349344"/>
              <a:ext cx="914400" cy="153888"/>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980" spc="0">
                  <a:solidFill>
                    <a:srgbClr val="3C3C41"/>
                  </a:solidFill>
                  <a:latin typeface="Segoe UI Semibold" panose="020B0702040204020203" pitchFamily="34" charset="0"/>
                  <a:cs typeface="Segoe UI Semibold" panose="020B0702040204020203" pitchFamily="34" charset="0"/>
                </a:rPr>
                <a:t>Internet</a:t>
              </a:r>
            </a:p>
          </p:txBody>
        </p:sp>
      </p:grpSp>
      <p:cxnSp>
        <p:nvCxnSpPr>
          <p:cNvPr id="124" name="Straight Arrow Connector 123">
            <a:extLst>
              <a:ext uri="{FF2B5EF4-FFF2-40B4-BE49-F238E27FC236}">
                <a16:creationId xmlns:a16="http://schemas.microsoft.com/office/drawing/2014/main" id="{2942F731-D19A-165B-9522-B4319AC4DC88}"/>
              </a:ext>
              <a:ext uri="{C183D7F6-B498-43B3-948B-1728B52AA6E4}">
                <adec:decorative xmlns:adec="http://schemas.microsoft.com/office/drawing/2017/decorative" val="1"/>
              </a:ext>
            </a:extLst>
          </p:cNvPr>
          <p:cNvCxnSpPr>
            <a:cxnSpLocks/>
            <a:stCxn id="122" idx="0"/>
          </p:cNvCxnSpPr>
          <p:nvPr/>
        </p:nvCxnSpPr>
        <p:spPr>
          <a:xfrm flipH="1">
            <a:off x="10257977" y="4503683"/>
            <a:ext cx="857745" cy="0"/>
          </a:xfrm>
          <a:prstGeom prst="straightConnector1">
            <a:avLst/>
          </a:prstGeom>
          <a:ln w="127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125" name="Group 124" descr="user icon">
            <a:extLst>
              <a:ext uri="{FF2B5EF4-FFF2-40B4-BE49-F238E27FC236}">
                <a16:creationId xmlns:a16="http://schemas.microsoft.com/office/drawing/2014/main" id="{BE853B1D-EA3D-3F22-5AED-C2560A41B3D4}"/>
              </a:ext>
            </a:extLst>
          </p:cNvPr>
          <p:cNvGrpSpPr/>
          <p:nvPr/>
        </p:nvGrpSpPr>
        <p:grpSpPr>
          <a:xfrm>
            <a:off x="5729759" y="1684604"/>
            <a:ext cx="703475" cy="795517"/>
            <a:chOff x="5499242" y="1304924"/>
            <a:chExt cx="717581" cy="849998"/>
          </a:xfrm>
        </p:grpSpPr>
        <p:sp>
          <p:nvSpPr>
            <p:cNvPr id="126" name="Title 1">
              <a:extLst>
                <a:ext uri="{FF2B5EF4-FFF2-40B4-BE49-F238E27FC236}">
                  <a16:creationId xmlns:a16="http://schemas.microsoft.com/office/drawing/2014/main" id="{B6628504-1782-7E95-4EFF-D4BE72CB5626}"/>
                </a:ext>
              </a:extLst>
            </p:cNvPr>
            <p:cNvSpPr txBox="1">
              <a:spLocks/>
            </p:cNvSpPr>
            <p:nvPr/>
          </p:nvSpPr>
          <p:spPr>
            <a:xfrm>
              <a:off x="5499242" y="1304924"/>
              <a:ext cx="717581" cy="153888"/>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896182">
                <a:lnSpc>
                  <a:spcPct val="100000"/>
                </a:lnSpc>
                <a:defRPr/>
              </a:pPr>
              <a:r>
                <a:rPr lang="en-US" sz="980" spc="0">
                  <a:solidFill>
                    <a:srgbClr val="3C3C41"/>
                  </a:solidFill>
                  <a:latin typeface="Segoe UI Semibold" panose="020B0702040204020203" pitchFamily="34" charset="0"/>
                  <a:cs typeface="Segoe UI Semibold" panose="020B0702040204020203" pitchFamily="34" charset="0"/>
                </a:rPr>
                <a:t>User</a:t>
              </a:r>
            </a:p>
          </p:txBody>
        </p:sp>
        <p:sp>
          <p:nvSpPr>
            <p:cNvPr id="127" name="Rectangle: Rounded Corners 126">
              <a:extLst>
                <a:ext uri="{FF2B5EF4-FFF2-40B4-BE49-F238E27FC236}">
                  <a16:creationId xmlns:a16="http://schemas.microsoft.com/office/drawing/2014/main" id="{ACAE4068-1792-ECF8-1BBA-F33767D54288}"/>
                </a:ext>
              </a:extLst>
            </p:cNvPr>
            <p:cNvSpPr/>
            <p:nvPr/>
          </p:nvSpPr>
          <p:spPr bwMode="auto">
            <a:xfrm>
              <a:off x="5551583" y="1547191"/>
              <a:ext cx="607731" cy="607731"/>
            </a:xfrm>
            <a:prstGeom prst="roundRect">
              <a:avLst>
                <a:gd name="adj" fmla="val 3125"/>
              </a:avLst>
            </a:prstGeom>
            <a:noFill/>
            <a:ln w="12700">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algn="ctr" defTabSz="913927" fontAlgn="base">
                <a:lnSpc>
                  <a:spcPct val="90000"/>
                </a:lnSpc>
                <a:spcBef>
                  <a:spcPct val="0"/>
                </a:spcBef>
                <a:spcAft>
                  <a:spcPct val="0"/>
                </a:spcAft>
                <a:defRPr/>
              </a:pPr>
              <a:endParaRPr lang="en-US" sz="1175">
                <a:solidFill>
                  <a:srgbClr val="3C3C41"/>
                </a:solidFill>
                <a:latin typeface="Segoe UI"/>
                <a:cs typeface="Segoe UI" pitchFamily="34" charset="0"/>
              </a:endParaRPr>
            </a:p>
          </p:txBody>
        </p:sp>
        <p:sp>
          <p:nvSpPr>
            <p:cNvPr id="128" name="people_4" title="Icon of a person">
              <a:extLst>
                <a:ext uri="{FF2B5EF4-FFF2-40B4-BE49-F238E27FC236}">
                  <a16:creationId xmlns:a16="http://schemas.microsoft.com/office/drawing/2014/main" id="{52B1322A-5A48-EDBF-69FA-30829C9766B1}"/>
                </a:ext>
              </a:extLst>
            </p:cNvPr>
            <p:cNvSpPr>
              <a:spLocks noChangeAspect="1" noEditPoints="1"/>
            </p:cNvSpPr>
            <p:nvPr/>
          </p:nvSpPr>
          <p:spPr bwMode="auto">
            <a:xfrm>
              <a:off x="5677647" y="1652278"/>
              <a:ext cx="355603" cy="397557"/>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2700" cap="sq">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30" tIns="44814" rIns="89630" bIns="44814" numCol="1" anchor="t" anchorCtr="0" compatLnSpc="1">
              <a:prstTxWarp prst="textNoShape">
                <a:avLst/>
              </a:prstTxWarp>
            </a:bodyPr>
            <a:lstStyle/>
            <a:p>
              <a:pPr defTabSz="896214">
                <a:defRPr/>
              </a:pPr>
              <a:endParaRPr lang="en-US">
                <a:solidFill>
                  <a:srgbClr val="3C3C41"/>
                </a:solidFill>
                <a:latin typeface="Segoe UI"/>
              </a:endParaRPr>
            </a:p>
          </p:txBody>
        </p:sp>
      </p:grpSp>
      <p:grpSp>
        <p:nvGrpSpPr>
          <p:cNvPr id="129" name="Group 128">
            <a:extLst>
              <a:ext uri="{FF2B5EF4-FFF2-40B4-BE49-F238E27FC236}">
                <a16:creationId xmlns:a16="http://schemas.microsoft.com/office/drawing/2014/main" id="{1D35CDCF-74A3-C9E1-5EB3-A478084E1390}"/>
              </a:ext>
              <a:ext uri="{C183D7F6-B498-43B3-948B-1728B52AA6E4}">
                <adec:decorative xmlns:adec="http://schemas.microsoft.com/office/drawing/2017/decorative" val="1"/>
              </a:ext>
            </a:extLst>
          </p:cNvPr>
          <p:cNvGrpSpPr/>
          <p:nvPr/>
        </p:nvGrpSpPr>
        <p:grpSpPr>
          <a:xfrm>
            <a:off x="8410693" y="1641779"/>
            <a:ext cx="589663" cy="689351"/>
            <a:chOff x="8579344" y="1674203"/>
            <a:chExt cx="601487" cy="703174"/>
          </a:xfrm>
        </p:grpSpPr>
        <p:grpSp>
          <p:nvGrpSpPr>
            <p:cNvPr id="130" name="Group 129">
              <a:extLst>
                <a:ext uri="{FF2B5EF4-FFF2-40B4-BE49-F238E27FC236}">
                  <a16:creationId xmlns:a16="http://schemas.microsoft.com/office/drawing/2014/main" id="{A62ABA15-96EF-2683-9B68-BAA7716B6D49}"/>
                </a:ext>
              </a:extLst>
            </p:cNvPr>
            <p:cNvGrpSpPr/>
            <p:nvPr/>
          </p:nvGrpSpPr>
          <p:grpSpPr>
            <a:xfrm>
              <a:off x="8579344" y="1674203"/>
              <a:ext cx="601487" cy="703174"/>
              <a:chOff x="8579344" y="1674203"/>
              <a:chExt cx="601487" cy="703174"/>
            </a:xfrm>
          </p:grpSpPr>
          <p:sp>
            <p:nvSpPr>
              <p:cNvPr id="141" name="Rectangle: Rounded Corners 140">
                <a:extLst>
                  <a:ext uri="{FF2B5EF4-FFF2-40B4-BE49-F238E27FC236}">
                    <a16:creationId xmlns:a16="http://schemas.microsoft.com/office/drawing/2014/main" id="{AC5531D7-764A-DFFF-BA98-CCA045DD1662}"/>
                  </a:ext>
                </a:extLst>
              </p:cNvPr>
              <p:cNvSpPr/>
              <p:nvPr/>
            </p:nvSpPr>
            <p:spPr bwMode="auto">
              <a:xfrm>
                <a:off x="8613564" y="1843788"/>
                <a:ext cx="533589" cy="533589"/>
              </a:xfrm>
              <a:prstGeom prst="roundRect">
                <a:avLst>
                  <a:gd name="adj" fmla="val 3125"/>
                </a:avLst>
              </a:prstGeom>
              <a:solidFill>
                <a:srgbClr val="0078D4">
                  <a:alpha val="1000"/>
                </a:srgbClr>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3C3C41"/>
                  </a:solidFill>
                  <a:latin typeface="Segoe UI"/>
                  <a:cs typeface="Segoe UI" pitchFamily="34" charset="0"/>
                </a:endParaRPr>
              </a:p>
            </p:txBody>
          </p:sp>
          <p:sp>
            <p:nvSpPr>
              <p:cNvPr id="142" name="Title 1">
                <a:extLst>
                  <a:ext uri="{FF2B5EF4-FFF2-40B4-BE49-F238E27FC236}">
                    <a16:creationId xmlns:a16="http://schemas.microsoft.com/office/drawing/2014/main" id="{4458B9DA-8E80-6C76-EA25-7CE8AD61B900}"/>
                  </a:ext>
                </a:extLst>
              </p:cNvPr>
              <p:cNvSpPr txBox="1">
                <a:spLocks/>
              </p:cNvSpPr>
              <p:nvPr/>
            </p:nvSpPr>
            <p:spPr>
              <a:xfrm>
                <a:off x="8579344" y="1674203"/>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kubelet</a:t>
                </a:r>
              </a:p>
            </p:txBody>
          </p:sp>
        </p:grpSp>
        <p:grpSp>
          <p:nvGrpSpPr>
            <p:cNvPr id="131" name="Group 130">
              <a:extLst>
                <a:ext uri="{FF2B5EF4-FFF2-40B4-BE49-F238E27FC236}">
                  <a16:creationId xmlns:a16="http://schemas.microsoft.com/office/drawing/2014/main" id="{CA4ED733-37D6-C329-AFDD-D9CB7D6AA21A}"/>
                </a:ext>
              </a:extLst>
            </p:cNvPr>
            <p:cNvGrpSpPr/>
            <p:nvPr/>
          </p:nvGrpSpPr>
          <p:grpSpPr>
            <a:xfrm>
              <a:off x="8721381" y="1977370"/>
              <a:ext cx="317954" cy="266424"/>
              <a:chOff x="8721381" y="1977370"/>
              <a:chExt cx="317954" cy="266424"/>
            </a:xfrm>
          </p:grpSpPr>
          <p:cxnSp>
            <p:nvCxnSpPr>
              <p:cNvPr id="132" name="Straight Connector 131">
                <a:extLst>
                  <a:ext uri="{FF2B5EF4-FFF2-40B4-BE49-F238E27FC236}">
                    <a16:creationId xmlns:a16="http://schemas.microsoft.com/office/drawing/2014/main" id="{4B90C402-E03C-05ED-1261-4500735036C7}"/>
                  </a:ext>
                </a:extLst>
              </p:cNvPr>
              <p:cNvCxnSpPr>
                <a:stCxn id="136" idx="2"/>
                <a:endCxn id="139" idx="6"/>
              </p:cNvCxnSpPr>
              <p:nvPr/>
            </p:nvCxnSpPr>
            <p:spPr>
              <a:xfrm flipH="1">
                <a:off x="8780036" y="2122095"/>
                <a:ext cx="125541" cy="0"/>
              </a:xfrm>
              <a:prstGeom prst="line">
                <a:avLst/>
              </a:prstGeom>
              <a:solidFill>
                <a:srgbClr val="D7EAF8"/>
              </a:solidFill>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436EAEED-B04C-8BED-CD18-50712BB56644}"/>
                  </a:ext>
                </a:extLst>
              </p:cNvPr>
              <p:cNvCxnSpPr>
                <a:cxnSpLocks/>
              </p:cNvCxnSpPr>
              <p:nvPr/>
            </p:nvCxnSpPr>
            <p:spPr>
              <a:xfrm flipH="1" flipV="1">
                <a:off x="8859967" y="2005994"/>
                <a:ext cx="88397" cy="114483"/>
              </a:xfrm>
              <a:prstGeom prst="line">
                <a:avLst/>
              </a:prstGeom>
              <a:solidFill>
                <a:srgbClr val="D7EAF8"/>
              </a:solidFill>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8985BE39-A10D-72AB-99A0-08D5C6C0EA6E}"/>
                  </a:ext>
                </a:extLst>
              </p:cNvPr>
              <p:cNvCxnSpPr>
                <a:cxnSpLocks/>
              </p:cNvCxnSpPr>
              <p:nvPr/>
            </p:nvCxnSpPr>
            <p:spPr>
              <a:xfrm flipH="1">
                <a:off x="8841373" y="2120475"/>
                <a:ext cx="125830" cy="98785"/>
              </a:xfrm>
              <a:prstGeom prst="line">
                <a:avLst/>
              </a:prstGeom>
              <a:solidFill>
                <a:srgbClr val="D7EAF8"/>
              </a:solidFill>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FD6B10-1461-0774-0089-0340741C3D67}"/>
                  </a:ext>
                </a:extLst>
              </p:cNvPr>
              <p:cNvCxnSpPr>
                <a:cxnSpLocks/>
              </p:cNvCxnSpPr>
              <p:nvPr/>
            </p:nvCxnSpPr>
            <p:spPr>
              <a:xfrm flipH="1" flipV="1">
                <a:off x="8952713" y="2137866"/>
                <a:ext cx="55066" cy="75354"/>
              </a:xfrm>
              <a:prstGeom prst="line">
                <a:avLst/>
              </a:prstGeom>
              <a:solidFill>
                <a:srgbClr val="D7EAF8"/>
              </a:solidFill>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36" name="Oval 135">
                <a:extLst>
                  <a:ext uri="{FF2B5EF4-FFF2-40B4-BE49-F238E27FC236}">
                    <a16:creationId xmlns:a16="http://schemas.microsoft.com/office/drawing/2014/main" id="{6D8948D7-7D27-21A9-ECF4-13B56B96D11D}"/>
                  </a:ext>
                </a:extLst>
              </p:cNvPr>
              <p:cNvSpPr/>
              <p:nvPr/>
            </p:nvSpPr>
            <p:spPr bwMode="auto">
              <a:xfrm>
                <a:off x="8905577" y="2079335"/>
                <a:ext cx="85519" cy="85519"/>
              </a:xfrm>
              <a:prstGeom prst="ellipse">
                <a:avLst/>
              </a:prstGeom>
              <a:solidFill>
                <a:srgbClr val="D7EAF8"/>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7" name="Oval 136">
                <a:extLst>
                  <a:ext uri="{FF2B5EF4-FFF2-40B4-BE49-F238E27FC236}">
                    <a16:creationId xmlns:a16="http://schemas.microsoft.com/office/drawing/2014/main" id="{8836D8E0-3A85-4099-194A-DAD748FD7710}"/>
                  </a:ext>
                </a:extLst>
              </p:cNvPr>
              <p:cNvSpPr/>
              <p:nvPr/>
            </p:nvSpPr>
            <p:spPr bwMode="auto">
              <a:xfrm>
                <a:off x="8980680" y="2185139"/>
                <a:ext cx="58655" cy="58655"/>
              </a:xfrm>
              <a:prstGeom prst="ellipse">
                <a:avLst/>
              </a:prstGeom>
              <a:solidFill>
                <a:srgbClr val="D7EAF8"/>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8" name="Oval 137">
                <a:extLst>
                  <a:ext uri="{FF2B5EF4-FFF2-40B4-BE49-F238E27FC236}">
                    <a16:creationId xmlns:a16="http://schemas.microsoft.com/office/drawing/2014/main" id="{AE7B740B-F747-91A5-5F7E-FB7E25F8859E}"/>
                  </a:ext>
                </a:extLst>
              </p:cNvPr>
              <p:cNvSpPr/>
              <p:nvPr/>
            </p:nvSpPr>
            <p:spPr bwMode="auto">
              <a:xfrm>
                <a:off x="8835407" y="1977370"/>
                <a:ext cx="58655" cy="58655"/>
              </a:xfrm>
              <a:prstGeom prst="ellipse">
                <a:avLst/>
              </a:prstGeom>
              <a:solidFill>
                <a:srgbClr val="D7EAF8"/>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9" name="Oval 138">
                <a:extLst>
                  <a:ext uri="{FF2B5EF4-FFF2-40B4-BE49-F238E27FC236}">
                    <a16:creationId xmlns:a16="http://schemas.microsoft.com/office/drawing/2014/main" id="{A8C96B58-17CA-08D9-17B7-691A945084B1}"/>
                  </a:ext>
                </a:extLst>
              </p:cNvPr>
              <p:cNvSpPr/>
              <p:nvPr/>
            </p:nvSpPr>
            <p:spPr bwMode="auto">
              <a:xfrm>
                <a:off x="8721381" y="2092767"/>
                <a:ext cx="58655" cy="58655"/>
              </a:xfrm>
              <a:prstGeom prst="ellipse">
                <a:avLst/>
              </a:prstGeom>
              <a:solidFill>
                <a:srgbClr val="D7EAF8"/>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40" name="Oval 139">
                <a:extLst>
                  <a:ext uri="{FF2B5EF4-FFF2-40B4-BE49-F238E27FC236}">
                    <a16:creationId xmlns:a16="http://schemas.microsoft.com/office/drawing/2014/main" id="{7B3EE60A-1F84-58B5-C109-71034033BE2D}"/>
                  </a:ext>
                </a:extLst>
              </p:cNvPr>
              <p:cNvSpPr/>
              <p:nvPr/>
            </p:nvSpPr>
            <p:spPr bwMode="auto">
              <a:xfrm>
                <a:off x="8822798" y="2191496"/>
                <a:ext cx="45719" cy="45719"/>
              </a:xfrm>
              <a:prstGeom prst="ellipse">
                <a:avLst/>
              </a:prstGeom>
              <a:solidFill>
                <a:srgbClr val="D7EAF8"/>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grpSp>
        <p:nvGrpSpPr>
          <p:cNvPr id="143" name="Group 142">
            <a:extLst>
              <a:ext uri="{FF2B5EF4-FFF2-40B4-BE49-F238E27FC236}">
                <a16:creationId xmlns:a16="http://schemas.microsoft.com/office/drawing/2014/main" id="{DE0242DF-95FC-1382-600B-307ACB921641}"/>
              </a:ext>
              <a:ext uri="{C183D7F6-B498-43B3-948B-1728B52AA6E4}">
                <adec:decorative xmlns:adec="http://schemas.microsoft.com/office/drawing/2017/decorative" val="1"/>
              </a:ext>
            </a:extLst>
          </p:cNvPr>
          <p:cNvGrpSpPr/>
          <p:nvPr/>
        </p:nvGrpSpPr>
        <p:grpSpPr>
          <a:xfrm>
            <a:off x="8410693" y="4216354"/>
            <a:ext cx="589663" cy="689351"/>
            <a:chOff x="8579344" y="4300404"/>
            <a:chExt cx="601487" cy="703174"/>
          </a:xfrm>
        </p:grpSpPr>
        <p:grpSp>
          <p:nvGrpSpPr>
            <p:cNvPr id="144" name="Group 143">
              <a:extLst>
                <a:ext uri="{FF2B5EF4-FFF2-40B4-BE49-F238E27FC236}">
                  <a16:creationId xmlns:a16="http://schemas.microsoft.com/office/drawing/2014/main" id="{9F87B129-C333-DA7F-B9AD-A08BD55ECE6A}"/>
                </a:ext>
              </a:extLst>
            </p:cNvPr>
            <p:cNvGrpSpPr/>
            <p:nvPr/>
          </p:nvGrpSpPr>
          <p:grpSpPr>
            <a:xfrm>
              <a:off x="8579344" y="4300404"/>
              <a:ext cx="601487" cy="703174"/>
              <a:chOff x="8579344" y="4300404"/>
              <a:chExt cx="601487" cy="703174"/>
            </a:xfrm>
          </p:grpSpPr>
          <p:sp>
            <p:nvSpPr>
              <p:cNvPr id="155" name="Rectangle: Rounded Corners 154">
                <a:extLst>
                  <a:ext uri="{FF2B5EF4-FFF2-40B4-BE49-F238E27FC236}">
                    <a16:creationId xmlns:a16="http://schemas.microsoft.com/office/drawing/2014/main" id="{2C419481-44A0-6405-31AC-2608305F00E2}"/>
                  </a:ext>
                </a:extLst>
              </p:cNvPr>
              <p:cNvSpPr/>
              <p:nvPr/>
            </p:nvSpPr>
            <p:spPr bwMode="auto">
              <a:xfrm>
                <a:off x="8613564" y="4469989"/>
                <a:ext cx="533589" cy="533589"/>
              </a:xfrm>
              <a:prstGeom prst="roundRect">
                <a:avLst>
                  <a:gd name="adj" fmla="val 3125"/>
                </a:avLst>
              </a:prstGeom>
              <a:solidFill>
                <a:srgbClr val="0078D4">
                  <a:alpha val="1000"/>
                </a:srgbClr>
              </a:solid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defRPr/>
                </a:pPr>
                <a:endParaRPr lang="en-US" sz="1176">
                  <a:solidFill>
                    <a:srgbClr val="3C3C41"/>
                  </a:solidFill>
                  <a:latin typeface="Segoe UI"/>
                  <a:cs typeface="Segoe UI" pitchFamily="34" charset="0"/>
                </a:endParaRPr>
              </a:p>
            </p:txBody>
          </p:sp>
          <p:sp>
            <p:nvSpPr>
              <p:cNvPr id="156" name="Title 1">
                <a:extLst>
                  <a:ext uri="{FF2B5EF4-FFF2-40B4-BE49-F238E27FC236}">
                    <a16:creationId xmlns:a16="http://schemas.microsoft.com/office/drawing/2014/main" id="{742D6BF8-7FE3-F862-B71F-A7631E2C76F6}"/>
                  </a:ext>
                </a:extLst>
              </p:cNvPr>
              <p:cNvSpPr txBox="1">
                <a:spLocks/>
              </p:cNvSpPr>
              <p:nvPr/>
            </p:nvSpPr>
            <p:spPr>
              <a:xfrm>
                <a:off x="8579344" y="4300404"/>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algn="ctr" defTabSz="914367">
                  <a:lnSpc>
                    <a:spcPct val="100000"/>
                  </a:lnSpc>
                  <a:defRPr/>
                </a:pPr>
                <a:r>
                  <a:rPr lang="en-US" sz="784" spc="0">
                    <a:solidFill>
                      <a:srgbClr val="3C3C41"/>
                    </a:solidFill>
                    <a:latin typeface="Segoe UI Semibold" panose="020B0702040204020203" pitchFamily="34" charset="0"/>
                    <a:cs typeface="Segoe UI Semibold" panose="020B0702040204020203" pitchFamily="34" charset="0"/>
                  </a:rPr>
                  <a:t>kubelet</a:t>
                </a:r>
              </a:p>
            </p:txBody>
          </p:sp>
        </p:grpSp>
        <p:grpSp>
          <p:nvGrpSpPr>
            <p:cNvPr id="145" name="Group 144">
              <a:extLst>
                <a:ext uri="{FF2B5EF4-FFF2-40B4-BE49-F238E27FC236}">
                  <a16:creationId xmlns:a16="http://schemas.microsoft.com/office/drawing/2014/main" id="{8AE497D1-1D3B-3B34-3AEF-66570D527B8D}"/>
                </a:ext>
              </a:extLst>
            </p:cNvPr>
            <p:cNvGrpSpPr/>
            <p:nvPr/>
          </p:nvGrpSpPr>
          <p:grpSpPr>
            <a:xfrm>
              <a:off x="8721381" y="4603571"/>
              <a:ext cx="317954" cy="266424"/>
              <a:chOff x="6856356" y="1807422"/>
              <a:chExt cx="317954" cy="266424"/>
            </a:xfrm>
            <a:solidFill>
              <a:srgbClr val="D7EAF8"/>
            </a:solidFill>
          </p:grpSpPr>
          <p:cxnSp>
            <p:nvCxnSpPr>
              <p:cNvPr id="146" name="Straight Connector 145">
                <a:extLst>
                  <a:ext uri="{FF2B5EF4-FFF2-40B4-BE49-F238E27FC236}">
                    <a16:creationId xmlns:a16="http://schemas.microsoft.com/office/drawing/2014/main" id="{758B8B22-1E22-C775-7934-9C5A3F5F15DB}"/>
                  </a:ext>
                </a:extLst>
              </p:cNvPr>
              <p:cNvCxnSpPr>
                <a:stCxn id="150" idx="2"/>
                <a:endCxn id="153" idx="6"/>
              </p:cNvCxnSpPr>
              <p:nvPr/>
            </p:nvCxnSpPr>
            <p:spPr>
              <a:xfrm flipH="1">
                <a:off x="6915011" y="1952147"/>
                <a:ext cx="125541" cy="0"/>
              </a:xfrm>
              <a:prstGeom prst="line">
                <a:avLst/>
              </a:prstGeom>
              <a:grpFill/>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CF6FB164-93FC-78F2-A839-810BBD9495B0}"/>
                  </a:ext>
                </a:extLst>
              </p:cNvPr>
              <p:cNvCxnSpPr>
                <a:cxnSpLocks/>
              </p:cNvCxnSpPr>
              <p:nvPr/>
            </p:nvCxnSpPr>
            <p:spPr>
              <a:xfrm flipH="1" flipV="1">
                <a:off x="6994942" y="1836046"/>
                <a:ext cx="88397" cy="114483"/>
              </a:xfrm>
              <a:prstGeom prst="line">
                <a:avLst/>
              </a:prstGeom>
              <a:grpFill/>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8954502D-B92C-ECE1-BA62-F747E498F903}"/>
                  </a:ext>
                </a:extLst>
              </p:cNvPr>
              <p:cNvCxnSpPr>
                <a:cxnSpLocks/>
              </p:cNvCxnSpPr>
              <p:nvPr/>
            </p:nvCxnSpPr>
            <p:spPr>
              <a:xfrm flipH="1">
                <a:off x="6976348" y="1950527"/>
                <a:ext cx="125830" cy="98785"/>
              </a:xfrm>
              <a:prstGeom prst="line">
                <a:avLst/>
              </a:prstGeom>
              <a:grpFill/>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AA677305-A660-E800-8911-2D2B914F13D2}"/>
                  </a:ext>
                </a:extLst>
              </p:cNvPr>
              <p:cNvCxnSpPr>
                <a:cxnSpLocks/>
              </p:cNvCxnSpPr>
              <p:nvPr/>
            </p:nvCxnSpPr>
            <p:spPr>
              <a:xfrm flipH="1" flipV="1">
                <a:off x="7087688" y="1967918"/>
                <a:ext cx="55066" cy="75354"/>
              </a:xfrm>
              <a:prstGeom prst="line">
                <a:avLst/>
              </a:prstGeom>
              <a:grpFill/>
              <a:ln w="12700">
                <a:solidFill>
                  <a:srgbClr val="0078D4"/>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50" name="Oval 149">
                <a:extLst>
                  <a:ext uri="{FF2B5EF4-FFF2-40B4-BE49-F238E27FC236}">
                    <a16:creationId xmlns:a16="http://schemas.microsoft.com/office/drawing/2014/main" id="{0ED3852D-4249-1D13-C0DF-F5A1837CA073}"/>
                  </a:ext>
                </a:extLst>
              </p:cNvPr>
              <p:cNvSpPr/>
              <p:nvPr/>
            </p:nvSpPr>
            <p:spPr bwMode="auto">
              <a:xfrm>
                <a:off x="7040552" y="1909387"/>
                <a:ext cx="85519" cy="85519"/>
              </a:xfrm>
              <a:prstGeom prst="ellipse">
                <a:avLst/>
              </a:prstGeom>
              <a:grp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1" name="Oval 150">
                <a:extLst>
                  <a:ext uri="{FF2B5EF4-FFF2-40B4-BE49-F238E27FC236}">
                    <a16:creationId xmlns:a16="http://schemas.microsoft.com/office/drawing/2014/main" id="{E02B1A34-4FF8-BBE4-F6B1-97AD106AFFBE}"/>
                  </a:ext>
                </a:extLst>
              </p:cNvPr>
              <p:cNvSpPr/>
              <p:nvPr/>
            </p:nvSpPr>
            <p:spPr bwMode="auto">
              <a:xfrm>
                <a:off x="7115655" y="2015191"/>
                <a:ext cx="58655" cy="58655"/>
              </a:xfrm>
              <a:prstGeom prst="ellipse">
                <a:avLst/>
              </a:prstGeom>
              <a:grp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2" name="Oval 151">
                <a:extLst>
                  <a:ext uri="{FF2B5EF4-FFF2-40B4-BE49-F238E27FC236}">
                    <a16:creationId xmlns:a16="http://schemas.microsoft.com/office/drawing/2014/main" id="{4AF3C6FF-5053-6450-5F7E-448379AF36BE}"/>
                  </a:ext>
                </a:extLst>
              </p:cNvPr>
              <p:cNvSpPr/>
              <p:nvPr/>
            </p:nvSpPr>
            <p:spPr bwMode="auto">
              <a:xfrm>
                <a:off x="6970382" y="1807422"/>
                <a:ext cx="58655" cy="58655"/>
              </a:xfrm>
              <a:prstGeom prst="ellipse">
                <a:avLst/>
              </a:prstGeom>
              <a:grp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3" name="Oval 152">
                <a:extLst>
                  <a:ext uri="{FF2B5EF4-FFF2-40B4-BE49-F238E27FC236}">
                    <a16:creationId xmlns:a16="http://schemas.microsoft.com/office/drawing/2014/main" id="{B651198B-2ACA-C422-8A3B-1FEF083B4CD0}"/>
                  </a:ext>
                </a:extLst>
              </p:cNvPr>
              <p:cNvSpPr/>
              <p:nvPr/>
            </p:nvSpPr>
            <p:spPr bwMode="auto">
              <a:xfrm>
                <a:off x="6856356" y="1922819"/>
                <a:ext cx="58655" cy="58655"/>
              </a:xfrm>
              <a:prstGeom prst="ellipse">
                <a:avLst/>
              </a:prstGeom>
              <a:grp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4" name="Oval 153">
                <a:extLst>
                  <a:ext uri="{FF2B5EF4-FFF2-40B4-BE49-F238E27FC236}">
                    <a16:creationId xmlns:a16="http://schemas.microsoft.com/office/drawing/2014/main" id="{C80302A0-09F8-B638-41DC-12EAA20DA687}"/>
                  </a:ext>
                </a:extLst>
              </p:cNvPr>
              <p:cNvSpPr/>
              <p:nvPr/>
            </p:nvSpPr>
            <p:spPr bwMode="auto">
              <a:xfrm>
                <a:off x="6957773" y="2021548"/>
                <a:ext cx="45719" cy="45719"/>
              </a:xfrm>
              <a:prstGeom prst="ellipse">
                <a:avLst/>
              </a:prstGeom>
              <a:grpFill/>
              <a:ln w="1270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defRPr/>
                </a:pPr>
                <a:endParaRPr lang="en-US" sz="2353"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sp>
        <p:nvSpPr>
          <p:cNvPr id="157" name="Title 1">
            <a:extLst>
              <a:ext uri="{FF2B5EF4-FFF2-40B4-BE49-F238E27FC236}">
                <a16:creationId xmlns:a16="http://schemas.microsoft.com/office/drawing/2014/main" id="{AA36DCE4-D2AA-1DDB-530D-E238679AA5AC}"/>
              </a:ext>
            </a:extLst>
          </p:cNvPr>
          <p:cNvSpPr txBox="1">
            <a:spLocks/>
          </p:cNvSpPr>
          <p:nvPr/>
        </p:nvSpPr>
        <p:spPr>
          <a:xfrm>
            <a:off x="7739967" y="1126032"/>
            <a:ext cx="1663808" cy="150863"/>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defTabSz="914367">
              <a:lnSpc>
                <a:spcPct val="100000"/>
              </a:lnSpc>
              <a:defRPr/>
            </a:pPr>
            <a:r>
              <a:rPr lang="en-US" sz="980" spc="0">
                <a:solidFill>
                  <a:srgbClr val="3C3C41"/>
                </a:solidFill>
                <a:latin typeface="Segoe UI Semibold" panose="020B0702040204020203" pitchFamily="34" charset="0"/>
                <a:cs typeface="Segoe UI Semibold" panose="020B0702040204020203" pitchFamily="34" charset="0"/>
              </a:rPr>
              <a:t>Agent pools</a:t>
            </a:r>
          </a:p>
        </p:txBody>
      </p:sp>
      <p:sp>
        <p:nvSpPr>
          <p:cNvPr id="158" name="Title 16">
            <a:extLst>
              <a:ext uri="{FF2B5EF4-FFF2-40B4-BE49-F238E27FC236}">
                <a16:creationId xmlns:a16="http://schemas.microsoft.com/office/drawing/2014/main" id="{36472E72-FCBA-EAA8-99C0-85AE8A78084A}"/>
              </a:ext>
            </a:extLst>
          </p:cNvPr>
          <p:cNvSpPr txBox="1">
            <a:spLocks/>
          </p:cNvSpPr>
          <p:nvPr/>
        </p:nvSpPr>
        <p:spPr>
          <a:xfrm>
            <a:off x="156827" y="1928299"/>
            <a:ext cx="4592886" cy="4470455"/>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274320" lvl="0" indent="-274320">
              <a:spcAft>
                <a:spcPts val="300"/>
              </a:spcAft>
              <a:buFont typeface="+mj-lt"/>
              <a:buAutoNum type="arabicPeriod"/>
              <a:defRPr/>
            </a:pPr>
            <a:r>
              <a:rPr lang="en-US" sz="1600" b="0" spc="0" dirty="0">
                <a:solidFill>
                  <a:srgbClr val="0078D4"/>
                </a:solidFill>
                <a:latin typeface="Segoe UI Semibold" panose="020B0702040204020203" pitchFamily="34" charset="0"/>
                <a:cs typeface="Segoe UI Semibold" panose="020B0702040204020203" pitchFamily="34" charset="0"/>
              </a:rPr>
              <a:t>Control Plane</a:t>
            </a:r>
            <a:r>
              <a:rPr lang="en-US" sz="1600" b="0" spc="0" dirty="0">
                <a:solidFill>
                  <a:schemeClr val="tx1"/>
                </a:solidFill>
                <a:latin typeface="Segoe UI" panose="020B0502040204020203" pitchFamily="34" charset="0"/>
              </a:rPr>
              <a:t>: manages the agent nodes and the pods in the cluster</a:t>
            </a:r>
          </a:p>
          <a:p>
            <a:pPr marL="548640" lvl="2" indent="-274320">
              <a:spcAft>
                <a:spcPts val="300"/>
              </a:spcAft>
              <a:buFont typeface="Arial" panose="020B0604020202020204" pitchFamily="34" charset="0"/>
              <a:buChar char="•"/>
            </a:pPr>
            <a:r>
              <a:rPr lang="en-US" sz="1400" dirty="0" err="1">
                <a:latin typeface="Segoe UI Semibold" panose="020B0702040204020203" pitchFamily="34" charset="0"/>
                <a:cs typeface="Segoe UI Semibold" panose="020B0702040204020203" pitchFamily="34" charset="0"/>
              </a:rPr>
              <a:t>api</a:t>
            </a:r>
            <a:r>
              <a:rPr lang="en-US" sz="1400" dirty="0">
                <a:latin typeface="Segoe UI Semibold" panose="020B0702040204020203" pitchFamily="34" charset="0"/>
                <a:cs typeface="Segoe UI Semibold" panose="020B0702040204020203" pitchFamily="34" charset="0"/>
              </a:rPr>
              <a:t>-server</a:t>
            </a:r>
            <a:r>
              <a:rPr lang="en-US" sz="1400" dirty="0"/>
              <a:t>: front end of the Kubernetes control plane; exposes Kubernetes API</a:t>
            </a:r>
          </a:p>
          <a:p>
            <a:pPr marL="548640" lvl="2" indent="-274320">
              <a:spcAft>
                <a:spcPts val="300"/>
              </a:spcAft>
              <a:buFont typeface="Arial" panose="020B0604020202020204" pitchFamily="34" charset="0"/>
              <a:buChar char="•"/>
            </a:pPr>
            <a:r>
              <a:rPr lang="en-US" sz="1400" dirty="0">
                <a:latin typeface="Segoe UI Semibold" panose="020B0702040204020203" pitchFamily="34" charset="0"/>
                <a:cs typeface="Segoe UI Semibold" panose="020B0702040204020203" pitchFamily="34" charset="0"/>
              </a:rPr>
              <a:t>controller-manager</a:t>
            </a:r>
            <a:r>
              <a:rPr lang="en-US" sz="1400" dirty="0">
                <a:cs typeface="Segoe UI Semibold" panose="020B0702040204020203" pitchFamily="34" charset="0"/>
              </a:rPr>
              <a:t>:</a:t>
            </a:r>
            <a:r>
              <a:rPr lang="en-US" sz="1400" dirty="0"/>
              <a:t> runs the controller processes</a:t>
            </a:r>
          </a:p>
          <a:p>
            <a:pPr marL="548640" lvl="2" indent="-274320">
              <a:spcAft>
                <a:spcPts val="300"/>
              </a:spcAft>
              <a:buFont typeface="Arial" panose="020B0604020202020204" pitchFamily="34" charset="0"/>
              <a:buChar char="•"/>
            </a:pPr>
            <a:r>
              <a:rPr lang="en-US" sz="1400" dirty="0">
                <a:latin typeface="Segoe UI Semibold" panose="020B0702040204020203" pitchFamily="34" charset="0"/>
                <a:cs typeface="Segoe UI Semibold" panose="020B0702040204020203" pitchFamily="34" charset="0"/>
              </a:rPr>
              <a:t>scheduler</a:t>
            </a:r>
            <a:r>
              <a:rPr lang="en-US" sz="1400" dirty="0"/>
              <a:t>: tracks newly created pods and selects node to run them on</a:t>
            </a:r>
          </a:p>
          <a:p>
            <a:pPr marL="548640" lvl="2" indent="-274320">
              <a:spcAft>
                <a:spcPts val="300"/>
              </a:spcAft>
              <a:buFont typeface="Arial" panose="020B0604020202020204" pitchFamily="34" charset="0"/>
              <a:buChar char="•"/>
            </a:pPr>
            <a:r>
              <a:rPr lang="en-US" sz="1400" dirty="0" err="1">
                <a:latin typeface="Segoe UI Semibold" panose="020B0702040204020203" pitchFamily="34" charset="0"/>
                <a:cs typeface="Segoe UI Semibold" panose="020B0702040204020203" pitchFamily="34" charset="0"/>
              </a:rPr>
              <a:t>etcd</a:t>
            </a:r>
            <a:r>
              <a:rPr lang="en-US" sz="1400" dirty="0"/>
              <a:t>: stores the state of the cluster (config, running workloads status, etc.)</a:t>
            </a:r>
          </a:p>
          <a:p>
            <a:pPr marL="274320" lvl="1" indent="-274320">
              <a:spcBef>
                <a:spcPts val="1200"/>
              </a:spcBef>
              <a:spcAft>
                <a:spcPts val="300"/>
              </a:spcAft>
              <a:buFont typeface="+mj-lt"/>
              <a:buAutoNum type="arabicPeriod" startAt="2"/>
            </a:pPr>
            <a:r>
              <a:rPr lang="en-US" sz="1600" dirty="0">
                <a:ln w="3175">
                  <a:noFill/>
                </a:ln>
                <a:solidFill>
                  <a:srgbClr val="0078D4"/>
                </a:solidFill>
                <a:latin typeface="Segoe UI Semibold" panose="020B0702040204020203" pitchFamily="34" charset="0"/>
                <a:cs typeface="Segoe UI Semibold" panose="020B0702040204020203" pitchFamily="34" charset="0"/>
              </a:rPr>
              <a:t>Agent nodes</a:t>
            </a:r>
            <a:r>
              <a:rPr lang="en-US" sz="1600" dirty="0">
                <a:ln w="3175">
                  <a:noFill/>
                </a:ln>
                <a:latin typeface="Segoe UI" panose="020B0502040204020203" pitchFamily="34" charset="0"/>
                <a:cs typeface="Segoe UI" pitchFamily="34" charset="0"/>
              </a:rPr>
              <a:t>: run your application workloads</a:t>
            </a:r>
          </a:p>
          <a:p>
            <a:pPr marL="548640" lvl="2" indent="-274320">
              <a:spcAft>
                <a:spcPts val="300"/>
              </a:spcAft>
              <a:buFont typeface="Arial" panose="020B0604020202020204" pitchFamily="34" charset="0"/>
              <a:buChar char="•"/>
            </a:pPr>
            <a:r>
              <a:rPr lang="en-US" sz="1400" dirty="0">
                <a:latin typeface="Segoe UI Semibold" panose="020B0702040204020203" pitchFamily="34" charset="0"/>
                <a:cs typeface="Segoe UI Semibold" panose="020B0702040204020203" pitchFamily="34" charset="0"/>
              </a:rPr>
              <a:t>Pods</a:t>
            </a:r>
            <a:r>
              <a:rPr lang="en-US" sz="1400" dirty="0"/>
              <a:t>: a collection of containers co-located on a single machine</a:t>
            </a:r>
          </a:p>
          <a:p>
            <a:pPr marL="548640" lvl="2" indent="-274320">
              <a:spcAft>
                <a:spcPts val="300"/>
              </a:spcAft>
              <a:buFont typeface="Arial" panose="020B0604020202020204" pitchFamily="34" charset="0"/>
              <a:buChar char="•"/>
            </a:pPr>
            <a:r>
              <a:rPr lang="en-US" sz="1400" dirty="0" err="1">
                <a:latin typeface="Segoe UI Semibold" panose="020B0702040204020203" pitchFamily="34" charset="0"/>
                <a:cs typeface="Segoe UI Semibold" panose="020B0702040204020203" pitchFamily="34" charset="0"/>
              </a:rPr>
              <a:t>kube</a:t>
            </a:r>
            <a:r>
              <a:rPr lang="en-US" sz="1400" dirty="0">
                <a:latin typeface="Segoe UI Semibold" panose="020B0702040204020203" pitchFamily="34" charset="0"/>
                <a:cs typeface="Segoe UI Semibold" panose="020B0702040204020203" pitchFamily="34" charset="0"/>
              </a:rPr>
              <a:t>-proxy</a:t>
            </a:r>
            <a:r>
              <a:rPr lang="en-US" sz="1400" dirty="0"/>
              <a:t>: a network proxy that runs on each node in a cluster</a:t>
            </a:r>
          </a:p>
          <a:p>
            <a:pPr marL="548640" lvl="2" indent="-274320">
              <a:spcAft>
                <a:spcPts val="300"/>
              </a:spcAft>
              <a:buFont typeface="Arial" panose="020B0604020202020204" pitchFamily="34" charset="0"/>
              <a:buChar char="•"/>
            </a:pPr>
            <a:r>
              <a:rPr lang="en-US" sz="1400" dirty="0" err="1">
                <a:latin typeface="Segoe UI Semibold" panose="020B0702040204020203" pitchFamily="34" charset="0"/>
                <a:cs typeface="Segoe UI Semibold" panose="020B0702040204020203" pitchFamily="34" charset="0"/>
              </a:rPr>
              <a:t>kubelet</a:t>
            </a:r>
            <a:r>
              <a:rPr lang="en-US" sz="1400" dirty="0"/>
              <a:t>: agent that runs on each node in a cluster; ensures containers are running in a pod</a:t>
            </a:r>
          </a:p>
          <a:p>
            <a:pPr marL="548640" lvl="2" indent="-274320">
              <a:spcAft>
                <a:spcPts val="300"/>
              </a:spcAft>
              <a:buFont typeface="Arial" panose="020B0604020202020204" pitchFamily="34" charset="0"/>
              <a:buChar char="•"/>
            </a:pPr>
            <a:r>
              <a:rPr lang="en-US" sz="1400" dirty="0">
                <a:latin typeface="Segoe UI Semibold" panose="020B0702040204020203" pitchFamily="34" charset="0"/>
                <a:cs typeface="Segoe UI Semibold" panose="020B0702040204020203" pitchFamily="34" charset="0"/>
              </a:rPr>
              <a:t>Runtime</a:t>
            </a:r>
            <a:r>
              <a:rPr lang="en-US" sz="1400" dirty="0"/>
              <a:t>: software responsible for running containers. Includes WASM, containerd and CRI-O</a:t>
            </a:r>
          </a:p>
        </p:txBody>
      </p:sp>
    </p:spTree>
    <p:extLst>
      <p:ext uri="{BB962C8B-B14F-4D97-AF65-F5344CB8AC3E}">
        <p14:creationId xmlns:p14="http://schemas.microsoft.com/office/powerpoint/2010/main" val="327857849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HIDDEN - Slide6">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7132E6D-A6EE-402B-895A-D0B053AB702A}"/>
              </a:ext>
            </a:extLst>
          </p:cNvPr>
          <p:cNvSpPr>
            <a:spLocks noGrp="1"/>
          </p:cNvSpPr>
          <p:nvPr>
            <p:ph type="title"/>
            <p:custDataLst>
              <p:custData r:id="rId2"/>
            </p:custDataLst>
          </p:nvPr>
        </p:nvSpPr>
        <p:spPr>
          <a:xfrm>
            <a:off x="584199" y="4334637"/>
            <a:ext cx="10189817" cy="1015663"/>
          </a:xfrm>
        </p:spPr>
        <p:txBody>
          <a:bodyPr/>
          <a:lstStyle/>
          <a:p>
            <a:r>
              <a:rPr lang="en-US" dirty="0"/>
              <a:t>Basic Kubernetes Objects</a:t>
            </a:r>
          </a:p>
        </p:txBody>
      </p:sp>
      <p:sp>
        <p:nvSpPr>
          <p:cNvPr id="2" name="Text Placeholder 1">
            <a:extLst>
              <a:ext uri="{FF2B5EF4-FFF2-40B4-BE49-F238E27FC236}">
                <a16:creationId xmlns:a16="http://schemas.microsoft.com/office/drawing/2014/main" id="{482FEA19-2650-4EE7-9268-C5AD0D758CBB}"/>
              </a:ext>
            </a:extLst>
          </p:cNvPr>
          <p:cNvSpPr>
            <a:spLocks noGrp="1"/>
          </p:cNvSpPr>
          <p:nvPr>
            <p:ph type="body" sz="quarter" idx="12"/>
          </p:nvPr>
        </p:nvSpPr>
        <p:spPr/>
        <p:txBody>
          <a:bodyPr/>
          <a:lstStyle/>
          <a:p>
            <a:endParaRPr lang="en-US"/>
          </a:p>
        </p:txBody>
      </p:sp>
      <p:sp>
        <p:nvSpPr>
          <p:cNvPr id="11" name="Footer Placeholder 2">
            <a:extLst>
              <a:ext uri="{FF2B5EF4-FFF2-40B4-BE49-F238E27FC236}">
                <a16:creationId xmlns:a16="http://schemas.microsoft.com/office/drawing/2014/main" id="{B6557B7F-8930-45B3-8C92-8E2F48E4CF5E}"/>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2" name="Slide Number Placeholder 8">
            <a:extLst>
              <a:ext uri="{FF2B5EF4-FFF2-40B4-BE49-F238E27FC236}">
                <a16:creationId xmlns:a16="http://schemas.microsoft.com/office/drawing/2014/main" id="{53D1B8DB-CDB5-4538-B1E2-EE9AC4FA8B61}"/>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163588133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3B4EA-9537-F9C2-BCB3-8BEBFBD1B72A}"/>
              </a:ext>
            </a:extLst>
          </p:cNvPr>
          <p:cNvSpPr>
            <a:spLocks noGrp="1"/>
          </p:cNvSpPr>
          <p:nvPr>
            <p:ph type="title"/>
          </p:nvPr>
        </p:nvSpPr>
        <p:spPr/>
        <p:txBody>
          <a:bodyPr/>
          <a:lstStyle/>
          <a:p>
            <a:r>
              <a:rPr lang="en-US" dirty="0"/>
              <a:t>Overview of basic Kubernetes resources</a:t>
            </a:r>
          </a:p>
        </p:txBody>
      </p:sp>
      <p:sp>
        <p:nvSpPr>
          <p:cNvPr id="3" name="Footer Placeholder 2">
            <a:extLst>
              <a:ext uri="{FF2B5EF4-FFF2-40B4-BE49-F238E27FC236}">
                <a16:creationId xmlns:a16="http://schemas.microsoft.com/office/drawing/2014/main" id="{EC0F51BE-1ED6-232A-A193-F4F6612002F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39CE30B3-CEC7-DFD0-013B-3DAA06C7679D}"/>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6" name="Group 5">
            <a:extLst>
              <a:ext uri="{FF2B5EF4-FFF2-40B4-BE49-F238E27FC236}">
                <a16:creationId xmlns:a16="http://schemas.microsoft.com/office/drawing/2014/main" id="{3210F5AC-FB96-D4BC-DB71-2F863C1D56E6}"/>
              </a:ext>
            </a:extLst>
          </p:cNvPr>
          <p:cNvGrpSpPr/>
          <p:nvPr/>
        </p:nvGrpSpPr>
        <p:grpSpPr>
          <a:xfrm>
            <a:off x="305908" y="1865499"/>
            <a:ext cx="4839116" cy="4661912"/>
            <a:chOff x="305908" y="1904203"/>
            <a:chExt cx="5065714" cy="4661912"/>
          </a:xfrm>
        </p:grpSpPr>
        <p:sp>
          <p:nvSpPr>
            <p:cNvPr id="7" name="Rectangle: Rounded Corners 6">
              <a:extLst>
                <a:ext uri="{FF2B5EF4-FFF2-40B4-BE49-F238E27FC236}">
                  <a16:creationId xmlns:a16="http://schemas.microsoft.com/office/drawing/2014/main" id="{CAB10E8D-5260-3A2D-67D6-5BEC2C9AC509}"/>
                </a:ext>
              </a:extLst>
            </p:cNvPr>
            <p:cNvSpPr/>
            <p:nvPr/>
          </p:nvSpPr>
          <p:spPr bwMode="auto">
            <a:xfrm>
              <a:off x="305908" y="1904203"/>
              <a:ext cx="5065714" cy="4661912"/>
            </a:xfrm>
            <a:prstGeom prst="roundRect">
              <a:avLst>
                <a:gd name="adj" fmla="val 3125"/>
              </a:avLst>
            </a:prstGeom>
            <a:solidFill>
              <a:schemeClr val="bg1">
                <a:lumMod val="95000"/>
              </a:schemeClr>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dirty="0">
                <a:ln>
                  <a:noFill/>
                </a:ln>
                <a:solidFill>
                  <a:srgbClr val="505050"/>
                </a:solidFill>
                <a:effectLst/>
                <a:uLnTx/>
                <a:uFillTx/>
                <a:latin typeface="Segoe UI"/>
                <a:ea typeface="+mn-ea"/>
                <a:cs typeface="Segoe UI" pitchFamily="34" charset="0"/>
              </a:endParaRPr>
            </a:p>
          </p:txBody>
        </p:sp>
        <p:sp>
          <p:nvSpPr>
            <p:cNvPr id="8" name="Title 1">
              <a:extLst>
                <a:ext uri="{FF2B5EF4-FFF2-40B4-BE49-F238E27FC236}">
                  <a16:creationId xmlns:a16="http://schemas.microsoft.com/office/drawing/2014/main" id="{5A787B3E-9C13-8C9F-856C-B977D52EF83A}"/>
                </a:ext>
              </a:extLst>
            </p:cNvPr>
            <p:cNvSpPr txBox="1">
              <a:spLocks/>
            </p:cNvSpPr>
            <p:nvPr/>
          </p:nvSpPr>
          <p:spPr>
            <a:xfrm>
              <a:off x="488269" y="2006563"/>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Cluster</a:t>
              </a:r>
            </a:p>
          </p:txBody>
        </p:sp>
      </p:grpSp>
      <p:grpSp>
        <p:nvGrpSpPr>
          <p:cNvPr id="9" name="Group 8">
            <a:extLst>
              <a:ext uri="{FF2B5EF4-FFF2-40B4-BE49-F238E27FC236}">
                <a16:creationId xmlns:a16="http://schemas.microsoft.com/office/drawing/2014/main" id="{A646AB17-A9CA-858B-7516-DF74A15B7FD1}"/>
              </a:ext>
            </a:extLst>
          </p:cNvPr>
          <p:cNvGrpSpPr/>
          <p:nvPr/>
        </p:nvGrpSpPr>
        <p:grpSpPr>
          <a:xfrm>
            <a:off x="488734" y="2345508"/>
            <a:ext cx="4445978" cy="1404784"/>
            <a:chOff x="488734" y="2384212"/>
            <a:chExt cx="4600756" cy="1404784"/>
          </a:xfrm>
        </p:grpSpPr>
        <p:sp>
          <p:nvSpPr>
            <p:cNvPr id="10" name="Rectangle: Rounded Corners 9">
              <a:extLst>
                <a:ext uri="{FF2B5EF4-FFF2-40B4-BE49-F238E27FC236}">
                  <a16:creationId xmlns:a16="http://schemas.microsoft.com/office/drawing/2014/main" id="{37FEEEDD-69A8-8130-4E02-5C54F164D869}"/>
                </a:ext>
              </a:extLst>
            </p:cNvPr>
            <p:cNvSpPr/>
            <p:nvPr/>
          </p:nvSpPr>
          <p:spPr bwMode="auto">
            <a:xfrm>
              <a:off x="488734" y="2384212"/>
              <a:ext cx="4600756" cy="1404784"/>
            </a:xfrm>
            <a:prstGeom prst="roundRect">
              <a:avLst>
                <a:gd name="adj" fmla="val 3125"/>
              </a:avLst>
            </a:prstGeom>
            <a:solidFill>
              <a:srgbClr val="99FFCC"/>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11" name="Title 1">
              <a:extLst>
                <a:ext uri="{FF2B5EF4-FFF2-40B4-BE49-F238E27FC236}">
                  <a16:creationId xmlns:a16="http://schemas.microsoft.com/office/drawing/2014/main" id="{4A39216C-D8A6-FC1B-F370-1968FBAC503C}"/>
                </a:ext>
              </a:extLst>
            </p:cNvPr>
            <p:cNvSpPr txBox="1">
              <a:spLocks/>
            </p:cNvSpPr>
            <p:nvPr/>
          </p:nvSpPr>
          <p:spPr>
            <a:xfrm>
              <a:off x="603766" y="2438930"/>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Node</a:t>
              </a:r>
            </a:p>
          </p:txBody>
        </p:sp>
      </p:grpSp>
      <p:grpSp>
        <p:nvGrpSpPr>
          <p:cNvPr id="12" name="Group 11">
            <a:extLst>
              <a:ext uri="{FF2B5EF4-FFF2-40B4-BE49-F238E27FC236}">
                <a16:creationId xmlns:a16="http://schemas.microsoft.com/office/drawing/2014/main" id="{F052B24E-DB0D-D039-6399-1E048A848500}"/>
              </a:ext>
            </a:extLst>
          </p:cNvPr>
          <p:cNvGrpSpPr/>
          <p:nvPr/>
        </p:nvGrpSpPr>
        <p:grpSpPr>
          <a:xfrm>
            <a:off x="505624" y="3962200"/>
            <a:ext cx="4429088" cy="1412722"/>
            <a:chOff x="505624" y="4000904"/>
            <a:chExt cx="4600756" cy="1412722"/>
          </a:xfrm>
        </p:grpSpPr>
        <p:sp>
          <p:nvSpPr>
            <p:cNvPr id="13" name="Rectangle: Rounded Corners 12">
              <a:extLst>
                <a:ext uri="{FF2B5EF4-FFF2-40B4-BE49-F238E27FC236}">
                  <a16:creationId xmlns:a16="http://schemas.microsoft.com/office/drawing/2014/main" id="{A19E5596-794C-6C0E-9064-388388481570}"/>
                </a:ext>
              </a:extLst>
            </p:cNvPr>
            <p:cNvSpPr/>
            <p:nvPr/>
          </p:nvSpPr>
          <p:spPr bwMode="auto">
            <a:xfrm>
              <a:off x="505624" y="4000904"/>
              <a:ext cx="4600756" cy="1412722"/>
            </a:xfrm>
            <a:prstGeom prst="roundRect">
              <a:avLst>
                <a:gd name="adj" fmla="val 3125"/>
              </a:avLst>
            </a:prstGeom>
            <a:solidFill>
              <a:srgbClr val="99FFCC"/>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14" name="Title 1">
              <a:extLst>
                <a:ext uri="{FF2B5EF4-FFF2-40B4-BE49-F238E27FC236}">
                  <a16:creationId xmlns:a16="http://schemas.microsoft.com/office/drawing/2014/main" id="{E566CF9A-62B0-78F1-445B-85ED75121B98}"/>
                </a:ext>
              </a:extLst>
            </p:cNvPr>
            <p:cNvSpPr txBox="1">
              <a:spLocks/>
            </p:cNvSpPr>
            <p:nvPr/>
          </p:nvSpPr>
          <p:spPr>
            <a:xfrm>
              <a:off x="609036" y="4053456"/>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Node</a:t>
              </a:r>
            </a:p>
          </p:txBody>
        </p:sp>
      </p:grpSp>
      <p:grpSp>
        <p:nvGrpSpPr>
          <p:cNvPr id="15" name="Group 14">
            <a:extLst>
              <a:ext uri="{FF2B5EF4-FFF2-40B4-BE49-F238E27FC236}">
                <a16:creationId xmlns:a16="http://schemas.microsoft.com/office/drawing/2014/main" id="{7465A6AA-207D-60B6-406F-6901F2728B06}"/>
              </a:ext>
            </a:extLst>
          </p:cNvPr>
          <p:cNvGrpSpPr/>
          <p:nvPr/>
        </p:nvGrpSpPr>
        <p:grpSpPr>
          <a:xfrm>
            <a:off x="1183640" y="2051354"/>
            <a:ext cx="1400854" cy="4347318"/>
            <a:chOff x="1326382" y="2090058"/>
            <a:chExt cx="2959240" cy="4295502"/>
          </a:xfrm>
          <a:solidFill>
            <a:srgbClr val="FFCC99">
              <a:alpha val="40000"/>
            </a:srgbClr>
          </a:solidFill>
        </p:grpSpPr>
        <p:sp>
          <p:nvSpPr>
            <p:cNvPr id="16" name="Rectangle: Rounded Corners 15">
              <a:extLst>
                <a:ext uri="{FF2B5EF4-FFF2-40B4-BE49-F238E27FC236}">
                  <a16:creationId xmlns:a16="http://schemas.microsoft.com/office/drawing/2014/main" id="{BA6D5BC4-C707-6AD4-E27A-1FD219818207}"/>
                </a:ext>
              </a:extLst>
            </p:cNvPr>
            <p:cNvSpPr/>
            <p:nvPr/>
          </p:nvSpPr>
          <p:spPr bwMode="auto">
            <a:xfrm>
              <a:off x="1326382" y="2090058"/>
              <a:ext cx="2959240" cy="4295502"/>
            </a:xfrm>
            <a:prstGeom prst="roundRect">
              <a:avLst>
                <a:gd name="adj" fmla="val 3125"/>
              </a:avLst>
            </a:prstGeom>
            <a:grp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17" name="Title 1">
              <a:extLst>
                <a:ext uri="{FF2B5EF4-FFF2-40B4-BE49-F238E27FC236}">
                  <a16:creationId xmlns:a16="http://schemas.microsoft.com/office/drawing/2014/main" id="{AADD32AC-C20C-387A-FEA3-D4A69F57A48D}"/>
                </a:ext>
              </a:extLst>
            </p:cNvPr>
            <p:cNvSpPr txBox="1">
              <a:spLocks/>
            </p:cNvSpPr>
            <p:nvPr/>
          </p:nvSpPr>
          <p:spPr>
            <a:xfrm>
              <a:off x="1446775" y="2135825"/>
              <a:ext cx="2219023" cy="184666"/>
            </a:xfrm>
            <a:prstGeom prst="rect">
              <a:avLst/>
            </a:prstGeom>
            <a:solidFill>
              <a:srgbClr val="FFCC99">
                <a:alpha val="0"/>
              </a:srgbClr>
            </a:solidFill>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Namespace</a:t>
              </a:r>
            </a:p>
          </p:txBody>
        </p:sp>
      </p:grpSp>
      <p:grpSp>
        <p:nvGrpSpPr>
          <p:cNvPr id="18" name="Group 17">
            <a:extLst>
              <a:ext uri="{FF2B5EF4-FFF2-40B4-BE49-F238E27FC236}">
                <a16:creationId xmlns:a16="http://schemas.microsoft.com/office/drawing/2014/main" id="{E16285C5-43F0-0336-3C25-380EC53EF4CD}"/>
              </a:ext>
            </a:extLst>
          </p:cNvPr>
          <p:cNvGrpSpPr/>
          <p:nvPr/>
        </p:nvGrpSpPr>
        <p:grpSpPr>
          <a:xfrm>
            <a:off x="1312775" y="2441961"/>
            <a:ext cx="1385029" cy="1207225"/>
            <a:chOff x="1455710" y="2497090"/>
            <a:chExt cx="1385029" cy="1207225"/>
          </a:xfrm>
        </p:grpSpPr>
        <p:sp>
          <p:nvSpPr>
            <p:cNvPr id="19" name="Rectangle: Rounded Corners 18">
              <a:extLst>
                <a:ext uri="{FF2B5EF4-FFF2-40B4-BE49-F238E27FC236}">
                  <a16:creationId xmlns:a16="http://schemas.microsoft.com/office/drawing/2014/main" id="{FC764E32-47C4-04F9-FEB4-F54DB87C5902}"/>
                </a:ext>
              </a:extLst>
            </p:cNvPr>
            <p:cNvSpPr/>
            <p:nvPr/>
          </p:nvSpPr>
          <p:spPr bwMode="auto">
            <a:xfrm>
              <a:off x="1455710" y="2497090"/>
              <a:ext cx="1140768" cy="1207225"/>
            </a:xfrm>
            <a:prstGeom prst="roundRect">
              <a:avLst>
                <a:gd name="adj" fmla="val 3125"/>
              </a:avLst>
            </a:prstGeom>
            <a:solidFill>
              <a:srgbClr val="326CE5"/>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20" name="Title 1">
              <a:extLst>
                <a:ext uri="{FF2B5EF4-FFF2-40B4-BE49-F238E27FC236}">
                  <a16:creationId xmlns:a16="http://schemas.microsoft.com/office/drawing/2014/main" id="{125FDFE0-828B-438B-13DC-6B7E8FCC17E8}"/>
                </a:ext>
              </a:extLst>
            </p:cNvPr>
            <p:cNvSpPr txBox="1">
              <a:spLocks/>
            </p:cNvSpPr>
            <p:nvPr/>
          </p:nvSpPr>
          <p:spPr>
            <a:xfrm>
              <a:off x="1523452" y="2524333"/>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Pod</a:t>
              </a:r>
            </a:p>
          </p:txBody>
        </p:sp>
      </p:grpSp>
      <p:grpSp>
        <p:nvGrpSpPr>
          <p:cNvPr id="21" name="Group 20">
            <a:extLst>
              <a:ext uri="{FF2B5EF4-FFF2-40B4-BE49-F238E27FC236}">
                <a16:creationId xmlns:a16="http://schemas.microsoft.com/office/drawing/2014/main" id="{0F4077C3-7064-903A-F0F5-04764D995739}"/>
              </a:ext>
            </a:extLst>
          </p:cNvPr>
          <p:cNvGrpSpPr/>
          <p:nvPr/>
        </p:nvGrpSpPr>
        <p:grpSpPr>
          <a:xfrm>
            <a:off x="1448567" y="2690958"/>
            <a:ext cx="1406660" cy="251501"/>
            <a:chOff x="1591502" y="2746087"/>
            <a:chExt cx="1406660" cy="251501"/>
          </a:xfrm>
        </p:grpSpPr>
        <p:sp>
          <p:nvSpPr>
            <p:cNvPr id="22" name="Rectangle: Rounded Corners 21">
              <a:extLst>
                <a:ext uri="{FF2B5EF4-FFF2-40B4-BE49-F238E27FC236}">
                  <a16:creationId xmlns:a16="http://schemas.microsoft.com/office/drawing/2014/main" id="{B70BA2EC-98B1-48B1-3D04-6D3B6F3AA8EB}"/>
                </a:ext>
              </a:extLst>
            </p:cNvPr>
            <p:cNvSpPr/>
            <p:nvPr/>
          </p:nvSpPr>
          <p:spPr bwMode="auto">
            <a:xfrm>
              <a:off x="1591502" y="2746087"/>
              <a:ext cx="869183" cy="251501"/>
            </a:xfrm>
            <a:prstGeom prst="round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3" name="Title 1">
              <a:extLst>
                <a:ext uri="{FF2B5EF4-FFF2-40B4-BE49-F238E27FC236}">
                  <a16:creationId xmlns:a16="http://schemas.microsoft.com/office/drawing/2014/main" id="{70A7578A-E71B-37AB-EA34-C3DC6921CE06}"/>
                </a:ext>
              </a:extLst>
            </p:cNvPr>
            <p:cNvSpPr txBox="1">
              <a:spLocks/>
            </p:cNvSpPr>
            <p:nvPr/>
          </p:nvSpPr>
          <p:spPr>
            <a:xfrm>
              <a:off x="1680875" y="2771711"/>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a:t>
              </a:r>
            </a:p>
          </p:txBody>
        </p:sp>
      </p:grpSp>
      <p:grpSp>
        <p:nvGrpSpPr>
          <p:cNvPr id="24" name="Group 23">
            <a:extLst>
              <a:ext uri="{FF2B5EF4-FFF2-40B4-BE49-F238E27FC236}">
                <a16:creationId xmlns:a16="http://schemas.microsoft.com/office/drawing/2014/main" id="{C327935F-97A0-3F19-6745-4E69E627D032}"/>
              </a:ext>
            </a:extLst>
          </p:cNvPr>
          <p:cNvGrpSpPr/>
          <p:nvPr/>
        </p:nvGrpSpPr>
        <p:grpSpPr>
          <a:xfrm>
            <a:off x="1445280" y="2994791"/>
            <a:ext cx="1401524" cy="251501"/>
            <a:chOff x="1588215" y="3049920"/>
            <a:chExt cx="1401524" cy="251501"/>
          </a:xfrm>
        </p:grpSpPr>
        <p:sp>
          <p:nvSpPr>
            <p:cNvPr id="25" name="Rectangle: Rounded Corners 24">
              <a:extLst>
                <a:ext uri="{FF2B5EF4-FFF2-40B4-BE49-F238E27FC236}">
                  <a16:creationId xmlns:a16="http://schemas.microsoft.com/office/drawing/2014/main" id="{E4073CC2-C658-2A91-4A8F-7AD133386D6D}"/>
                </a:ext>
              </a:extLst>
            </p:cNvPr>
            <p:cNvSpPr/>
            <p:nvPr/>
          </p:nvSpPr>
          <p:spPr bwMode="auto">
            <a:xfrm>
              <a:off x="1588215" y="3049920"/>
              <a:ext cx="869183" cy="251501"/>
            </a:xfrm>
            <a:prstGeom prst="round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6" name="Title 1">
              <a:extLst>
                <a:ext uri="{FF2B5EF4-FFF2-40B4-BE49-F238E27FC236}">
                  <a16:creationId xmlns:a16="http://schemas.microsoft.com/office/drawing/2014/main" id="{2AE28661-7CB6-0716-945C-DCF2CA394EBA}"/>
                </a:ext>
              </a:extLst>
            </p:cNvPr>
            <p:cNvSpPr txBox="1">
              <a:spLocks/>
            </p:cNvSpPr>
            <p:nvPr/>
          </p:nvSpPr>
          <p:spPr>
            <a:xfrm>
              <a:off x="1672452" y="3069995"/>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a:t>
              </a:r>
            </a:p>
          </p:txBody>
        </p:sp>
      </p:grpSp>
      <p:grpSp>
        <p:nvGrpSpPr>
          <p:cNvPr id="27" name="Group 26">
            <a:extLst>
              <a:ext uri="{FF2B5EF4-FFF2-40B4-BE49-F238E27FC236}">
                <a16:creationId xmlns:a16="http://schemas.microsoft.com/office/drawing/2014/main" id="{3F8EB140-6D84-C5BE-CAA3-FB7BDCCFBA41}"/>
              </a:ext>
            </a:extLst>
          </p:cNvPr>
          <p:cNvGrpSpPr/>
          <p:nvPr/>
        </p:nvGrpSpPr>
        <p:grpSpPr>
          <a:xfrm>
            <a:off x="1549481" y="5443554"/>
            <a:ext cx="1388899" cy="263499"/>
            <a:chOff x="2482071" y="5594622"/>
            <a:chExt cx="1388899" cy="263499"/>
          </a:xfrm>
        </p:grpSpPr>
        <p:sp>
          <p:nvSpPr>
            <p:cNvPr id="28" name="Rectangle: Rounded Corners 27">
              <a:extLst>
                <a:ext uri="{FF2B5EF4-FFF2-40B4-BE49-F238E27FC236}">
                  <a16:creationId xmlns:a16="http://schemas.microsoft.com/office/drawing/2014/main" id="{5C99F1EB-411C-04D0-226F-01BC9FB80286}"/>
                </a:ext>
              </a:extLst>
            </p:cNvPr>
            <p:cNvSpPr/>
            <p:nvPr/>
          </p:nvSpPr>
          <p:spPr bwMode="auto">
            <a:xfrm>
              <a:off x="2482071" y="5594622"/>
              <a:ext cx="656236" cy="263499"/>
            </a:xfrm>
            <a:prstGeom prst="roundRect">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29" name="Title 1">
              <a:extLst>
                <a:ext uri="{FF2B5EF4-FFF2-40B4-BE49-F238E27FC236}">
                  <a16:creationId xmlns:a16="http://schemas.microsoft.com/office/drawing/2014/main" id="{82912D95-31E3-45C3-2C33-9DD47BD1C200}"/>
                </a:ext>
              </a:extLst>
            </p:cNvPr>
            <p:cNvSpPr txBox="1">
              <a:spLocks/>
            </p:cNvSpPr>
            <p:nvPr/>
          </p:nvSpPr>
          <p:spPr>
            <a:xfrm>
              <a:off x="2553683" y="5628545"/>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Service</a:t>
              </a:r>
            </a:p>
          </p:txBody>
        </p:sp>
      </p:grpSp>
      <p:grpSp>
        <p:nvGrpSpPr>
          <p:cNvPr id="30" name="Group 29">
            <a:extLst>
              <a:ext uri="{FF2B5EF4-FFF2-40B4-BE49-F238E27FC236}">
                <a16:creationId xmlns:a16="http://schemas.microsoft.com/office/drawing/2014/main" id="{45321F7E-B110-57DD-6E40-20B537CB61D1}"/>
              </a:ext>
            </a:extLst>
          </p:cNvPr>
          <p:cNvGrpSpPr/>
          <p:nvPr/>
        </p:nvGrpSpPr>
        <p:grpSpPr>
          <a:xfrm>
            <a:off x="1448565" y="5758501"/>
            <a:ext cx="869184" cy="263499"/>
            <a:chOff x="2144315" y="5941616"/>
            <a:chExt cx="1388900" cy="263499"/>
          </a:xfrm>
        </p:grpSpPr>
        <p:sp>
          <p:nvSpPr>
            <p:cNvPr id="31" name="Rectangle: Rounded Corners 30">
              <a:extLst>
                <a:ext uri="{FF2B5EF4-FFF2-40B4-BE49-F238E27FC236}">
                  <a16:creationId xmlns:a16="http://schemas.microsoft.com/office/drawing/2014/main" id="{6D2B90D8-FF8E-45FF-F775-07083589FD90}"/>
                </a:ext>
              </a:extLst>
            </p:cNvPr>
            <p:cNvSpPr/>
            <p:nvPr/>
          </p:nvSpPr>
          <p:spPr bwMode="auto">
            <a:xfrm>
              <a:off x="2144315" y="5941616"/>
              <a:ext cx="1388900" cy="263499"/>
            </a:xfrm>
            <a:prstGeom prst="round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32" name="Title 1">
              <a:extLst>
                <a:ext uri="{FF2B5EF4-FFF2-40B4-BE49-F238E27FC236}">
                  <a16:creationId xmlns:a16="http://schemas.microsoft.com/office/drawing/2014/main" id="{CB76A26C-E10D-3177-3281-7BA37C316795}"/>
                </a:ext>
              </a:extLst>
            </p:cNvPr>
            <p:cNvSpPr txBox="1">
              <a:spLocks/>
            </p:cNvSpPr>
            <p:nvPr/>
          </p:nvSpPr>
          <p:spPr>
            <a:xfrm>
              <a:off x="2215928" y="5973087"/>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err="1">
                  <a:ln w="3175">
                    <a:noFill/>
                  </a:ln>
                  <a:solidFill>
                    <a:schemeClr val="tx1"/>
                  </a:solidFill>
                  <a:effectLst/>
                  <a:uLnTx/>
                  <a:uFillTx/>
                  <a:latin typeface="Segoe UI Semibold" panose="020B0702040204020203" pitchFamily="34" charset="0"/>
                  <a:ea typeface="+mn-ea"/>
                  <a:cs typeface="Segoe UI Semibold" panose="020B0702040204020203" pitchFamily="34" charset="0"/>
                </a:rPr>
                <a:t>ConfigMap</a:t>
              </a:r>
              <a:endParaRPr kumimoji="0" lang="en-US" sz="1200" b="0" i="0" u="none" strike="noStrike" kern="1200" cap="none" spc="0" normalizeH="0" baseline="0" noProof="0" dirty="0">
                <a:ln w="3175">
                  <a:noFill/>
                </a:ln>
                <a:solidFill>
                  <a:schemeClr val="tx1"/>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33" name="Group 32">
            <a:extLst>
              <a:ext uri="{FF2B5EF4-FFF2-40B4-BE49-F238E27FC236}">
                <a16:creationId xmlns:a16="http://schemas.microsoft.com/office/drawing/2014/main" id="{D3E2F906-4E9F-DA9A-AF3A-A78BFB5158A2}"/>
              </a:ext>
            </a:extLst>
          </p:cNvPr>
          <p:cNvGrpSpPr/>
          <p:nvPr/>
        </p:nvGrpSpPr>
        <p:grpSpPr>
          <a:xfrm>
            <a:off x="2754410" y="2051666"/>
            <a:ext cx="1424398" cy="4347005"/>
            <a:chOff x="1326382" y="2090058"/>
            <a:chExt cx="2959240" cy="4295502"/>
          </a:xfrm>
          <a:solidFill>
            <a:srgbClr val="FFCC99">
              <a:alpha val="40000"/>
            </a:srgbClr>
          </a:solidFill>
        </p:grpSpPr>
        <p:sp>
          <p:nvSpPr>
            <p:cNvPr id="34" name="Rectangle: Rounded Corners 33">
              <a:extLst>
                <a:ext uri="{FF2B5EF4-FFF2-40B4-BE49-F238E27FC236}">
                  <a16:creationId xmlns:a16="http://schemas.microsoft.com/office/drawing/2014/main" id="{B9CEAA38-4DF4-F1FC-5FD1-3694C06E545F}"/>
                </a:ext>
              </a:extLst>
            </p:cNvPr>
            <p:cNvSpPr/>
            <p:nvPr/>
          </p:nvSpPr>
          <p:spPr bwMode="auto">
            <a:xfrm>
              <a:off x="1326382" y="2090058"/>
              <a:ext cx="2959240" cy="4295502"/>
            </a:xfrm>
            <a:prstGeom prst="roundRect">
              <a:avLst>
                <a:gd name="adj" fmla="val 3125"/>
              </a:avLst>
            </a:prstGeom>
            <a:grp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35" name="Title 1">
              <a:extLst>
                <a:ext uri="{FF2B5EF4-FFF2-40B4-BE49-F238E27FC236}">
                  <a16:creationId xmlns:a16="http://schemas.microsoft.com/office/drawing/2014/main" id="{E67940EF-0CE4-0A7C-159F-F1DFA2CB2ADB}"/>
                </a:ext>
              </a:extLst>
            </p:cNvPr>
            <p:cNvSpPr txBox="1">
              <a:spLocks/>
            </p:cNvSpPr>
            <p:nvPr/>
          </p:nvSpPr>
          <p:spPr>
            <a:xfrm>
              <a:off x="1446775" y="2135825"/>
              <a:ext cx="1878770" cy="184666"/>
            </a:xfrm>
            <a:prstGeom prst="rect">
              <a:avLst/>
            </a:prstGeom>
            <a:solidFill>
              <a:srgbClr val="FFCC99">
                <a:alpha val="0"/>
              </a:srgbClr>
            </a:solidFill>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Namespace</a:t>
              </a:r>
            </a:p>
          </p:txBody>
        </p:sp>
      </p:grpSp>
      <p:grpSp>
        <p:nvGrpSpPr>
          <p:cNvPr id="36" name="Group 35">
            <a:extLst>
              <a:ext uri="{FF2B5EF4-FFF2-40B4-BE49-F238E27FC236}">
                <a16:creationId xmlns:a16="http://schemas.microsoft.com/office/drawing/2014/main" id="{702C66DE-E47B-0CF2-C8EB-6010BE5AECFC}"/>
              </a:ext>
            </a:extLst>
          </p:cNvPr>
          <p:cNvGrpSpPr/>
          <p:nvPr/>
        </p:nvGrpSpPr>
        <p:grpSpPr>
          <a:xfrm>
            <a:off x="2908481" y="2461075"/>
            <a:ext cx="1385029" cy="1207225"/>
            <a:chOff x="1455710" y="2497090"/>
            <a:chExt cx="1385029" cy="1207225"/>
          </a:xfrm>
        </p:grpSpPr>
        <p:sp>
          <p:nvSpPr>
            <p:cNvPr id="37" name="Rectangle: Rounded Corners 36">
              <a:extLst>
                <a:ext uri="{FF2B5EF4-FFF2-40B4-BE49-F238E27FC236}">
                  <a16:creationId xmlns:a16="http://schemas.microsoft.com/office/drawing/2014/main" id="{A23A1D9F-1EFB-A833-C3F3-00BA2269F407}"/>
                </a:ext>
              </a:extLst>
            </p:cNvPr>
            <p:cNvSpPr/>
            <p:nvPr/>
          </p:nvSpPr>
          <p:spPr bwMode="auto">
            <a:xfrm>
              <a:off x="1455710" y="2497090"/>
              <a:ext cx="1140768" cy="1207225"/>
            </a:xfrm>
            <a:prstGeom prst="roundRect">
              <a:avLst>
                <a:gd name="adj" fmla="val 3125"/>
              </a:avLst>
            </a:prstGeom>
            <a:solidFill>
              <a:srgbClr val="326CE5"/>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38" name="Title 1">
              <a:extLst>
                <a:ext uri="{FF2B5EF4-FFF2-40B4-BE49-F238E27FC236}">
                  <a16:creationId xmlns:a16="http://schemas.microsoft.com/office/drawing/2014/main" id="{5072634B-B5AE-6E9D-1B66-D5D6781E29AC}"/>
                </a:ext>
              </a:extLst>
            </p:cNvPr>
            <p:cNvSpPr txBox="1">
              <a:spLocks/>
            </p:cNvSpPr>
            <p:nvPr/>
          </p:nvSpPr>
          <p:spPr>
            <a:xfrm>
              <a:off x="1523452" y="2524333"/>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Pod</a:t>
              </a:r>
            </a:p>
          </p:txBody>
        </p:sp>
      </p:grpSp>
      <p:grpSp>
        <p:nvGrpSpPr>
          <p:cNvPr id="39" name="Group 38">
            <a:extLst>
              <a:ext uri="{FF2B5EF4-FFF2-40B4-BE49-F238E27FC236}">
                <a16:creationId xmlns:a16="http://schemas.microsoft.com/office/drawing/2014/main" id="{3DC0A1CE-E96E-7F80-584F-609F70B77627}"/>
              </a:ext>
            </a:extLst>
          </p:cNvPr>
          <p:cNvGrpSpPr/>
          <p:nvPr/>
        </p:nvGrpSpPr>
        <p:grpSpPr>
          <a:xfrm>
            <a:off x="3044273" y="2710072"/>
            <a:ext cx="1406660" cy="251501"/>
            <a:chOff x="1591502" y="2746087"/>
            <a:chExt cx="1406660" cy="251501"/>
          </a:xfrm>
        </p:grpSpPr>
        <p:sp>
          <p:nvSpPr>
            <p:cNvPr id="40" name="Rectangle: Rounded Corners 39">
              <a:extLst>
                <a:ext uri="{FF2B5EF4-FFF2-40B4-BE49-F238E27FC236}">
                  <a16:creationId xmlns:a16="http://schemas.microsoft.com/office/drawing/2014/main" id="{0C37DEC1-99A3-F4CF-FE12-31873C02DDB3}"/>
                </a:ext>
              </a:extLst>
            </p:cNvPr>
            <p:cNvSpPr/>
            <p:nvPr/>
          </p:nvSpPr>
          <p:spPr bwMode="auto">
            <a:xfrm>
              <a:off x="1591502" y="2746087"/>
              <a:ext cx="869183" cy="251501"/>
            </a:xfrm>
            <a:prstGeom prst="round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41" name="Title 1">
              <a:extLst>
                <a:ext uri="{FF2B5EF4-FFF2-40B4-BE49-F238E27FC236}">
                  <a16:creationId xmlns:a16="http://schemas.microsoft.com/office/drawing/2014/main" id="{E4E02067-CC50-587D-DCAE-A275CE078F1C}"/>
                </a:ext>
              </a:extLst>
            </p:cNvPr>
            <p:cNvSpPr txBox="1">
              <a:spLocks/>
            </p:cNvSpPr>
            <p:nvPr/>
          </p:nvSpPr>
          <p:spPr>
            <a:xfrm>
              <a:off x="1680875" y="2771711"/>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a:t>
              </a:r>
            </a:p>
          </p:txBody>
        </p:sp>
      </p:grpSp>
      <p:grpSp>
        <p:nvGrpSpPr>
          <p:cNvPr id="42" name="Group 41">
            <a:extLst>
              <a:ext uri="{FF2B5EF4-FFF2-40B4-BE49-F238E27FC236}">
                <a16:creationId xmlns:a16="http://schemas.microsoft.com/office/drawing/2014/main" id="{690CB8C1-757E-D82B-40C7-800D617F195B}"/>
              </a:ext>
            </a:extLst>
          </p:cNvPr>
          <p:cNvGrpSpPr/>
          <p:nvPr/>
        </p:nvGrpSpPr>
        <p:grpSpPr>
          <a:xfrm>
            <a:off x="3044272" y="3330080"/>
            <a:ext cx="869183" cy="251501"/>
            <a:chOff x="1591501" y="3366095"/>
            <a:chExt cx="869183" cy="251501"/>
          </a:xfrm>
          <a:solidFill>
            <a:schemeClr val="bg1"/>
          </a:solidFill>
        </p:grpSpPr>
        <p:sp>
          <p:nvSpPr>
            <p:cNvPr id="43" name="Rectangle: Rounded Corners 42">
              <a:extLst>
                <a:ext uri="{FF2B5EF4-FFF2-40B4-BE49-F238E27FC236}">
                  <a16:creationId xmlns:a16="http://schemas.microsoft.com/office/drawing/2014/main" id="{569724CF-C716-0CD4-C4C6-B16652A345FB}"/>
                </a:ext>
              </a:extLst>
            </p:cNvPr>
            <p:cNvSpPr/>
            <p:nvPr/>
          </p:nvSpPr>
          <p:spPr bwMode="auto">
            <a:xfrm>
              <a:off x="1591501" y="3366095"/>
              <a:ext cx="869183" cy="251501"/>
            </a:xfrm>
            <a:prstGeom prst="round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44" name="Title 1">
              <a:extLst>
                <a:ext uri="{FF2B5EF4-FFF2-40B4-BE49-F238E27FC236}">
                  <a16:creationId xmlns:a16="http://schemas.microsoft.com/office/drawing/2014/main" id="{82701D5E-7485-E725-5210-C84818C9B3F8}"/>
                </a:ext>
              </a:extLst>
            </p:cNvPr>
            <p:cNvSpPr txBox="1">
              <a:spLocks/>
            </p:cNvSpPr>
            <p:nvPr/>
          </p:nvSpPr>
          <p:spPr>
            <a:xfrm>
              <a:off x="1672452" y="3398178"/>
              <a:ext cx="718358" cy="184666"/>
            </a:xfrm>
            <a:prstGeom prst="rect">
              <a:avLst/>
            </a:prstGeom>
            <a:noFill/>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chemeClr val="tx1"/>
                  </a:solidFill>
                  <a:effectLst/>
                  <a:uLnTx/>
                  <a:uFillTx/>
                  <a:latin typeface="Segoe UI Semibold" panose="020B0702040204020203" pitchFamily="34" charset="0"/>
                  <a:ea typeface="+mn-ea"/>
                  <a:cs typeface="Segoe UI Semibold" panose="020B0702040204020203" pitchFamily="34" charset="0"/>
                </a:rPr>
                <a:t>Volume</a:t>
              </a:r>
            </a:p>
          </p:txBody>
        </p:sp>
      </p:grpSp>
      <p:grpSp>
        <p:nvGrpSpPr>
          <p:cNvPr id="45" name="Group 44">
            <a:extLst>
              <a:ext uri="{FF2B5EF4-FFF2-40B4-BE49-F238E27FC236}">
                <a16:creationId xmlns:a16="http://schemas.microsoft.com/office/drawing/2014/main" id="{AC59A80E-5423-714D-813A-F0054FB3CE8D}"/>
              </a:ext>
            </a:extLst>
          </p:cNvPr>
          <p:cNvGrpSpPr/>
          <p:nvPr/>
        </p:nvGrpSpPr>
        <p:grpSpPr>
          <a:xfrm>
            <a:off x="1310263" y="4073468"/>
            <a:ext cx="1385029" cy="1207225"/>
            <a:chOff x="1455710" y="2497090"/>
            <a:chExt cx="1385029" cy="1207225"/>
          </a:xfrm>
        </p:grpSpPr>
        <p:sp>
          <p:nvSpPr>
            <p:cNvPr id="46" name="Rectangle: Rounded Corners 45">
              <a:extLst>
                <a:ext uri="{FF2B5EF4-FFF2-40B4-BE49-F238E27FC236}">
                  <a16:creationId xmlns:a16="http://schemas.microsoft.com/office/drawing/2014/main" id="{FF65D954-D0D8-1817-640A-3E528A82D8F0}"/>
                </a:ext>
              </a:extLst>
            </p:cNvPr>
            <p:cNvSpPr/>
            <p:nvPr/>
          </p:nvSpPr>
          <p:spPr bwMode="auto">
            <a:xfrm>
              <a:off x="1455710" y="2497090"/>
              <a:ext cx="1140768" cy="1207225"/>
            </a:xfrm>
            <a:prstGeom prst="roundRect">
              <a:avLst>
                <a:gd name="adj" fmla="val 3125"/>
              </a:avLst>
            </a:prstGeom>
            <a:solidFill>
              <a:srgbClr val="326CE5"/>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47" name="Title 1">
              <a:extLst>
                <a:ext uri="{FF2B5EF4-FFF2-40B4-BE49-F238E27FC236}">
                  <a16:creationId xmlns:a16="http://schemas.microsoft.com/office/drawing/2014/main" id="{73304FCF-08FE-BC36-265F-04E386D1134E}"/>
                </a:ext>
              </a:extLst>
            </p:cNvPr>
            <p:cNvSpPr txBox="1">
              <a:spLocks/>
            </p:cNvSpPr>
            <p:nvPr/>
          </p:nvSpPr>
          <p:spPr>
            <a:xfrm>
              <a:off x="1523452" y="2524333"/>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Pod</a:t>
              </a:r>
            </a:p>
          </p:txBody>
        </p:sp>
      </p:grpSp>
      <p:grpSp>
        <p:nvGrpSpPr>
          <p:cNvPr id="48" name="Group 47">
            <a:extLst>
              <a:ext uri="{FF2B5EF4-FFF2-40B4-BE49-F238E27FC236}">
                <a16:creationId xmlns:a16="http://schemas.microsoft.com/office/drawing/2014/main" id="{937E2E1B-9CF6-7F4F-BF89-21C1BBDAACCB}"/>
              </a:ext>
            </a:extLst>
          </p:cNvPr>
          <p:cNvGrpSpPr/>
          <p:nvPr/>
        </p:nvGrpSpPr>
        <p:grpSpPr>
          <a:xfrm>
            <a:off x="1446055" y="4322465"/>
            <a:ext cx="1406660" cy="251501"/>
            <a:chOff x="1591502" y="2746087"/>
            <a:chExt cx="1406660" cy="251501"/>
          </a:xfrm>
        </p:grpSpPr>
        <p:sp>
          <p:nvSpPr>
            <p:cNvPr id="49" name="Rectangle: Rounded Corners 48">
              <a:extLst>
                <a:ext uri="{FF2B5EF4-FFF2-40B4-BE49-F238E27FC236}">
                  <a16:creationId xmlns:a16="http://schemas.microsoft.com/office/drawing/2014/main" id="{F5059589-F3DF-73F7-FFB9-DD29269F4327}"/>
                </a:ext>
              </a:extLst>
            </p:cNvPr>
            <p:cNvSpPr/>
            <p:nvPr/>
          </p:nvSpPr>
          <p:spPr bwMode="auto">
            <a:xfrm>
              <a:off x="1591502" y="2746087"/>
              <a:ext cx="869183" cy="251501"/>
            </a:xfrm>
            <a:prstGeom prst="round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0" name="Title 1">
              <a:extLst>
                <a:ext uri="{FF2B5EF4-FFF2-40B4-BE49-F238E27FC236}">
                  <a16:creationId xmlns:a16="http://schemas.microsoft.com/office/drawing/2014/main" id="{63DC5A57-A29C-C2C5-0DC2-B33B59CB7445}"/>
                </a:ext>
              </a:extLst>
            </p:cNvPr>
            <p:cNvSpPr txBox="1">
              <a:spLocks/>
            </p:cNvSpPr>
            <p:nvPr/>
          </p:nvSpPr>
          <p:spPr>
            <a:xfrm>
              <a:off x="1680875" y="2771711"/>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a:t>
              </a:r>
            </a:p>
          </p:txBody>
        </p:sp>
      </p:grpSp>
      <p:grpSp>
        <p:nvGrpSpPr>
          <p:cNvPr id="51" name="Group 50">
            <a:extLst>
              <a:ext uri="{FF2B5EF4-FFF2-40B4-BE49-F238E27FC236}">
                <a16:creationId xmlns:a16="http://schemas.microsoft.com/office/drawing/2014/main" id="{5E0A4DD0-B25A-2D0D-D040-75555579A50A}"/>
              </a:ext>
            </a:extLst>
          </p:cNvPr>
          <p:cNvGrpSpPr/>
          <p:nvPr/>
        </p:nvGrpSpPr>
        <p:grpSpPr>
          <a:xfrm>
            <a:off x="3112858" y="5443554"/>
            <a:ext cx="1388899" cy="263499"/>
            <a:chOff x="2482071" y="5594622"/>
            <a:chExt cx="1388899" cy="263499"/>
          </a:xfrm>
        </p:grpSpPr>
        <p:sp>
          <p:nvSpPr>
            <p:cNvPr id="52" name="Rectangle: Rounded Corners 51">
              <a:extLst>
                <a:ext uri="{FF2B5EF4-FFF2-40B4-BE49-F238E27FC236}">
                  <a16:creationId xmlns:a16="http://schemas.microsoft.com/office/drawing/2014/main" id="{C400E628-80DC-3B1D-CB37-08532CECE691}"/>
                </a:ext>
              </a:extLst>
            </p:cNvPr>
            <p:cNvSpPr/>
            <p:nvPr/>
          </p:nvSpPr>
          <p:spPr bwMode="auto">
            <a:xfrm>
              <a:off x="2482071" y="5594622"/>
              <a:ext cx="656236" cy="263499"/>
            </a:xfrm>
            <a:prstGeom prst="roundRect">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3" name="Title 1">
              <a:extLst>
                <a:ext uri="{FF2B5EF4-FFF2-40B4-BE49-F238E27FC236}">
                  <a16:creationId xmlns:a16="http://schemas.microsoft.com/office/drawing/2014/main" id="{D947616E-783B-7C14-2552-76053313AB43}"/>
                </a:ext>
              </a:extLst>
            </p:cNvPr>
            <p:cNvSpPr txBox="1">
              <a:spLocks/>
            </p:cNvSpPr>
            <p:nvPr/>
          </p:nvSpPr>
          <p:spPr>
            <a:xfrm>
              <a:off x="2553683" y="5628545"/>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Service</a:t>
              </a:r>
            </a:p>
          </p:txBody>
        </p:sp>
      </p:grpSp>
      <p:grpSp>
        <p:nvGrpSpPr>
          <p:cNvPr id="54" name="Group 53">
            <a:extLst>
              <a:ext uri="{FF2B5EF4-FFF2-40B4-BE49-F238E27FC236}">
                <a16:creationId xmlns:a16="http://schemas.microsoft.com/office/drawing/2014/main" id="{8E552E4F-2416-BE2D-8A1F-2494DEF32094}"/>
              </a:ext>
            </a:extLst>
          </p:cNvPr>
          <p:cNvGrpSpPr/>
          <p:nvPr/>
        </p:nvGrpSpPr>
        <p:grpSpPr>
          <a:xfrm>
            <a:off x="3107205" y="6067793"/>
            <a:ext cx="656236" cy="263499"/>
            <a:chOff x="2144315" y="5941616"/>
            <a:chExt cx="1388900" cy="263499"/>
          </a:xfrm>
          <a:solidFill>
            <a:schemeClr val="tx1"/>
          </a:solidFill>
        </p:grpSpPr>
        <p:sp>
          <p:nvSpPr>
            <p:cNvPr id="55" name="Rectangle: Rounded Corners 54">
              <a:extLst>
                <a:ext uri="{FF2B5EF4-FFF2-40B4-BE49-F238E27FC236}">
                  <a16:creationId xmlns:a16="http://schemas.microsoft.com/office/drawing/2014/main" id="{FA781137-B0CF-5D9C-9766-51839D9B2AAB}"/>
                </a:ext>
              </a:extLst>
            </p:cNvPr>
            <p:cNvSpPr/>
            <p:nvPr/>
          </p:nvSpPr>
          <p:spPr bwMode="auto">
            <a:xfrm>
              <a:off x="2144315" y="5941616"/>
              <a:ext cx="1388900" cy="263499"/>
            </a:xfrm>
            <a:prstGeom prst="round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56" name="Title 1">
              <a:extLst>
                <a:ext uri="{FF2B5EF4-FFF2-40B4-BE49-F238E27FC236}">
                  <a16:creationId xmlns:a16="http://schemas.microsoft.com/office/drawing/2014/main" id="{128E5186-7EF8-84BC-739E-4372B05F3E81}"/>
                </a:ext>
              </a:extLst>
            </p:cNvPr>
            <p:cNvSpPr txBox="1">
              <a:spLocks/>
            </p:cNvSpPr>
            <p:nvPr/>
          </p:nvSpPr>
          <p:spPr>
            <a:xfrm>
              <a:off x="2150671" y="5973087"/>
              <a:ext cx="1382544" cy="184666"/>
            </a:xfrm>
            <a:prstGeom prst="rect">
              <a:avLst/>
            </a:prstGeom>
            <a:grpFill/>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Secret</a:t>
              </a:r>
            </a:p>
          </p:txBody>
        </p:sp>
      </p:grpSp>
      <p:pic>
        <p:nvPicPr>
          <p:cNvPr id="57" name="Picture 56" descr="Icon&#10;&#10;Description automatically generated">
            <a:extLst>
              <a:ext uri="{FF2B5EF4-FFF2-40B4-BE49-F238E27FC236}">
                <a16:creationId xmlns:a16="http://schemas.microsoft.com/office/drawing/2014/main" id="{5754FD2C-D431-E9EC-4F89-EB1900F7E9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7795" y="5760872"/>
            <a:ext cx="578574" cy="578574"/>
          </a:xfrm>
          <a:prstGeom prst="rect">
            <a:avLst/>
          </a:prstGeom>
        </p:spPr>
      </p:pic>
      <p:pic>
        <p:nvPicPr>
          <p:cNvPr id="58" name="Picture 57" descr="Icon&#10;&#10;Description automatically generated">
            <a:extLst>
              <a:ext uri="{FF2B5EF4-FFF2-40B4-BE49-F238E27FC236}">
                <a16:creationId xmlns:a16="http://schemas.microsoft.com/office/drawing/2014/main" id="{3F513710-CFF6-8E70-3612-8D2F481C02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1249" y="3207218"/>
            <a:ext cx="372168" cy="461082"/>
          </a:xfrm>
          <a:prstGeom prst="rect">
            <a:avLst/>
          </a:prstGeom>
        </p:spPr>
      </p:pic>
      <p:pic>
        <p:nvPicPr>
          <p:cNvPr id="59" name="Picture 58" descr="Shape, logo&#10;&#10;Description automatically generated">
            <a:extLst>
              <a:ext uri="{FF2B5EF4-FFF2-40B4-BE49-F238E27FC236}">
                <a16:creationId xmlns:a16="http://schemas.microsoft.com/office/drawing/2014/main" id="{AB1E315F-5C31-4E56-FDFB-C96C5E618D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7025" y="4925928"/>
            <a:ext cx="372168" cy="372168"/>
          </a:xfrm>
          <a:prstGeom prst="rect">
            <a:avLst/>
          </a:prstGeom>
        </p:spPr>
      </p:pic>
      <p:grpSp>
        <p:nvGrpSpPr>
          <p:cNvPr id="60" name="Group 59">
            <a:extLst>
              <a:ext uri="{FF2B5EF4-FFF2-40B4-BE49-F238E27FC236}">
                <a16:creationId xmlns:a16="http://schemas.microsoft.com/office/drawing/2014/main" id="{DFA929C5-4A5B-711D-791E-E16393657D73}"/>
              </a:ext>
            </a:extLst>
          </p:cNvPr>
          <p:cNvGrpSpPr/>
          <p:nvPr/>
        </p:nvGrpSpPr>
        <p:grpSpPr>
          <a:xfrm>
            <a:off x="3002232" y="5750064"/>
            <a:ext cx="869184" cy="263499"/>
            <a:chOff x="2144315" y="5941616"/>
            <a:chExt cx="1388900" cy="263499"/>
          </a:xfrm>
        </p:grpSpPr>
        <p:sp>
          <p:nvSpPr>
            <p:cNvPr id="61" name="Rectangle: Rounded Corners 60">
              <a:extLst>
                <a:ext uri="{FF2B5EF4-FFF2-40B4-BE49-F238E27FC236}">
                  <a16:creationId xmlns:a16="http://schemas.microsoft.com/office/drawing/2014/main" id="{F639D4AE-C82E-FCEA-BB15-333A54E7A927}"/>
                </a:ext>
              </a:extLst>
            </p:cNvPr>
            <p:cNvSpPr/>
            <p:nvPr/>
          </p:nvSpPr>
          <p:spPr bwMode="auto">
            <a:xfrm>
              <a:off x="2144315" y="5941616"/>
              <a:ext cx="1388900" cy="263499"/>
            </a:xfrm>
            <a:prstGeom prst="roundRect">
              <a:avLst/>
            </a:prstGeom>
            <a:solidFill>
              <a:srgbClr val="FFFF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62" name="Title 1">
              <a:extLst>
                <a:ext uri="{FF2B5EF4-FFF2-40B4-BE49-F238E27FC236}">
                  <a16:creationId xmlns:a16="http://schemas.microsoft.com/office/drawing/2014/main" id="{F7945C31-FB71-2D12-F7CE-BFFBEF5D8D6A}"/>
                </a:ext>
              </a:extLst>
            </p:cNvPr>
            <p:cNvSpPr txBox="1">
              <a:spLocks/>
            </p:cNvSpPr>
            <p:nvPr/>
          </p:nvSpPr>
          <p:spPr>
            <a:xfrm>
              <a:off x="2215928" y="5973087"/>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err="1">
                  <a:ln w="3175">
                    <a:noFill/>
                  </a:ln>
                  <a:solidFill>
                    <a:schemeClr val="tx1"/>
                  </a:solidFill>
                  <a:effectLst/>
                  <a:uLnTx/>
                  <a:uFillTx/>
                  <a:latin typeface="Segoe UI Semibold" panose="020B0702040204020203" pitchFamily="34" charset="0"/>
                  <a:ea typeface="+mn-ea"/>
                  <a:cs typeface="Segoe UI Semibold" panose="020B0702040204020203" pitchFamily="34" charset="0"/>
                </a:rPr>
                <a:t>ConfigMap</a:t>
              </a:r>
              <a:endParaRPr kumimoji="0" lang="en-US" sz="1200" b="0" i="0" u="none" strike="noStrike" kern="1200" cap="none" spc="0" normalizeH="0" baseline="0" noProof="0" dirty="0">
                <a:ln w="3175">
                  <a:noFill/>
                </a:ln>
                <a:solidFill>
                  <a:schemeClr val="tx1"/>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63" name="Group 62">
            <a:extLst>
              <a:ext uri="{FF2B5EF4-FFF2-40B4-BE49-F238E27FC236}">
                <a16:creationId xmlns:a16="http://schemas.microsoft.com/office/drawing/2014/main" id="{ABB44302-84B2-96CF-BA68-1303F62646A4}"/>
              </a:ext>
            </a:extLst>
          </p:cNvPr>
          <p:cNvGrpSpPr/>
          <p:nvPr/>
        </p:nvGrpSpPr>
        <p:grpSpPr>
          <a:xfrm>
            <a:off x="1562851" y="6069475"/>
            <a:ext cx="656236" cy="263499"/>
            <a:chOff x="2144315" y="5941616"/>
            <a:chExt cx="1388900" cy="263499"/>
          </a:xfrm>
          <a:solidFill>
            <a:schemeClr val="tx1"/>
          </a:solidFill>
        </p:grpSpPr>
        <p:sp>
          <p:nvSpPr>
            <p:cNvPr id="64" name="Rectangle: Rounded Corners 63">
              <a:extLst>
                <a:ext uri="{FF2B5EF4-FFF2-40B4-BE49-F238E27FC236}">
                  <a16:creationId xmlns:a16="http://schemas.microsoft.com/office/drawing/2014/main" id="{A78C44CA-60C3-EE35-BDEC-F13DE02DD61F}"/>
                </a:ext>
              </a:extLst>
            </p:cNvPr>
            <p:cNvSpPr/>
            <p:nvPr/>
          </p:nvSpPr>
          <p:spPr bwMode="auto">
            <a:xfrm>
              <a:off x="2144315" y="5941616"/>
              <a:ext cx="1388900" cy="263499"/>
            </a:xfrm>
            <a:prstGeom prst="round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65" name="Title 1">
              <a:extLst>
                <a:ext uri="{FF2B5EF4-FFF2-40B4-BE49-F238E27FC236}">
                  <a16:creationId xmlns:a16="http://schemas.microsoft.com/office/drawing/2014/main" id="{CC125B90-99D6-4C1B-7F23-10035AF212F5}"/>
                </a:ext>
              </a:extLst>
            </p:cNvPr>
            <p:cNvSpPr txBox="1">
              <a:spLocks/>
            </p:cNvSpPr>
            <p:nvPr/>
          </p:nvSpPr>
          <p:spPr>
            <a:xfrm>
              <a:off x="2150671" y="5973087"/>
              <a:ext cx="1382544" cy="184666"/>
            </a:xfrm>
            <a:prstGeom prst="rect">
              <a:avLst/>
            </a:prstGeom>
            <a:grpFill/>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Secret</a:t>
              </a:r>
            </a:p>
          </p:txBody>
        </p:sp>
      </p:grpSp>
      <p:grpSp>
        <p:nvGrpSpPr>
          <p:cNvPr id="66" name="Group 65">
            <a:extLst>
              <a:ext uri="{FF2B5EF4-FFF2-40B4-BE49-F238E27FC236}">
                <a16:creationId xmlns:a16="http://schemas.microsoft.com/office/drawing/2014/main" id="{E2E68855-3C52-CD88-4A95-C113DB053A3E}"/>
              </a:ext>
            </a:extLst>
          </p:cNvPr>
          <p:cNvGrpSpPr/>
          <p:nvPr/>
        </p:nvGrpSpPr>
        <p:grpSpPr>
          <a:xfrm>
            <a:off x="2896144" y="4081798"/>
            <a:ext cx="1385029" cy="1207225"/>
            <a:chOff x="1455710" y="2497090"/>
            <a:chExt cx="1385029" cy="1207225"/>
          </a:xfrm>
        </p:grpSpPr>
        <p:sp>
          <p:nvSpPr>
            <p:cNvPr id="67" name="Rectangle: Rounded Corners 66">
              <a:extLst>
                <a:ext uri="{FF2B5EF4-FFF2-40B4-BE49-F238E27FC236}">
                  <a16:creationId xmlns:a16="http://schemas.microsoft.com/office/drawing/2014/main" id="{7915BE18-22D0-C331-0D5A-553637777C91}"/>
                </a:ext>
              </a:extLst>
            </p:cNvPr>
            <p:cNvSpPr/>
            <p:nvPr/>
          </p:nvSpPr>
          <p:spPr bwMode="auto">
            <a:xfrm>
              <a:off x="1455710" y="2497090"/>
              <a:ext cx="1140768" cy="1207225"/>
            </a:xfrm>
            <a:prstGeom prst="roundRect">
              <a:avLst>
                <a:gd name="adj" fmla="val 3125"/>
              </a:avLst>
            </a:prstGeom>
            <a:solidFill>
              <a:srgbClr val="326CE5"/>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68" name="Title 1">
              <a:extLst>
                <a:ext uri="{FF2B5EF4-FFF2-40B4-BE49-F238E27FC236}">
                  <a16:creationId xmlns:a16="http://schemas.microsoft.com/office/drawing/2014/main" id="{5B8BA9A9-255E-739A-7456-34A8E9A6F123}"/>
                </a:ext>
              </a:extLst>
            </p:cNvPr>
            <p:cNvSpPr txBox="1">
              <a:spLocks/>
            </p:cNvSpPr>
            <p:nvPr/>
          </p:nvSpPr>
          <p:spPr>
            <a:xfrm>
              <a:off x="1523452" y="2524333"/>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Pod</a:t>
              </a:r>
            </a:p>
          </p:txBody>
        </p:sp>
      </p:grpSp>
      <p:grpSp>
        <p:nvGrpSpPr>
          <p:cNvPr id="69" name="Group 68">
            <a:extLst>
              <a:ext uri="{FF2B5EF4-FFF2-40B4-BE49-F238E27FC236}">
                <a16:creationId xmlns:a16="http://schemas.microsoft.com/office/drawing/2014/main" id="{5EAD013B-B88D-5DFA-4A7A-77F808F846CA}"/>
              </a:ext>
            </a:extLst>
          </p:cNvPr>
          <p:cNvGrpSpPr/>
          <p:nvPr/>
        </p:nvGrpSpPr>
        <p:grpSpPr>
          <a:xfrm>
            <a:off x="3031936" y="4330795"/>
            <a:ext cx="1406660" cy="251501"/>
            <a:chOff x="1591502" y="2746087"/>
            <a:chExt cx="1406660" cy="251501"/>
          </a:xfrm>
        </p:grpSpPr>
        <p:sp>
          <p:nvSpPr>
            <p:cNvPr id="70" name="Rectangle: Rounded Corners 69">
              <a:extLst>
                <a:ext uri="{FF2B5EF4-FFF2-40B4-BE49-F238E27FC236}">
                  <a16:creationId xmlns:a16="http://schemas.microsoft.com/office/drawing/2014/main" id="{E0D0D0A6-94ED-6F55-B17E-D589053876D8}"/>
                </a:ext>
              </a:extLst>
            </p:cNvPr>
            <p:cNvSpPr/>
            <p:nvPr/>
          </p:nvSpPr>
          <p:spPr bwMode="auto">
            <a:xfrm>
              <a:off x="1591502" y="2746087"/>
              <a:ext cx="869183" cy="251501"/>
            </a:xfrm>
            <a:prstGeom prst="round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71" name="Title 1">
              <a:extLst>
                <a:ext uri="{FF2B5EF4-FFF2-40B4-BE49-F238E27FC236}">
                  <a16:creationId xmlns:a16="http://schemas.microsoft.com/office/drawing/2014/main" id="{370CB12D-9BD9-A93F-9EE1-4BC8031B4120}"/>
                </a:ext>
              </a:extLst>
            </p:cNvPr>
            <p:cNvSpPr txBox="1">
              <a:spLocks/>
            </p:cNvSpPr>
            <p:nvPr/>
          </p:nvSpPr>
          <p:spPr>
            <a:xfrm>
              <a:off x="1680875" y="2771711"/>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a:t>
              </a:r>
            </a:p>
          </p:txBody>
        </p:sp>
      </p:grpSp>
      <p:grpSp>
        <p:nvGrpSpPr>
          <p:cNvPr id="72" name="Group 71">
            <a:extLst>
              <a:ext uri="{FF2B5EF4-FFF2-40B4-BE49-F238E27FC236}">
                <a16:creationId xmlns:a16="http://schemas.microsoft.com/office/drawing/2014/main" id="{D3E4E5F1-9885-9CB1-6096-6174FC922840}"/>
              </a:ext>
            </a:extLst>
          </p:cNvPr>
          <p:cNvGrpSpPr/>
          <p:nvPr/>
        </p:nvGrpSpPr>
        <p:grpSpPr>
          <a:xfrm>
            <a:off x="3028649" y="4634628"/>
            <a:ext cx="1401524" cy="251501"/>
            <a:chOff x="1588215" y="3049920"/>
            <a:chExt cx="1401524" cy="251501"/>
          </a:xfrm>
        </p:grpSpPr>
        <p:sp>
          <p:nvSpPr>
            <p:cNvPr id="73" name="Rectangle: Rounded Corners 72">
              <a:extLst>
                <a:ext uri="{FF2B5EF4-FFF2-40B4-BE49-F238E27FC236}">
                  <a16:creationId xmlns:a16="http://schemas.microsoft.com/office/drawing/2014/main" id="{6C721C00-2054-1C3B-0964-8C67FF1A1710}"/>
                </a:ext>
              </a:extLst>
            </p:cNvPr>
            <p:cNvSpPr/>
            <p:nvPr/>
          </p:nvSpPr>
          <p:spPr bwMode="auto">
            <a:xfrm>
              <a:off x="1588215" y="3049920"/>
              <a:ext cx="869183" cy="251501"/>
            </a:xfrm>
            <a:prstGeom prst="round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74" name="Title 1">
              <a:extLst>
                <a:ext uri="{FF2B5EF4-FFF2-40B4-BE49-F238E27FC236}">
                  <a16:creationId xmlns:a16="http://schemas.microsoft.com/office/drawing/2014/main" id="{7A82769B-254D-376C-770D-E1AC72EDFB36}"/>
                </a:ext>
              </a:extLst>
            </p:cNvPr>
            <p:cNvSpPr txBox="1">
              <a:spLocks/>
            </p:cNvSpPr>
            <p:nvPr/>
          </p:nvSpPr>
          <p:spPr>
            <a:xfrm>
              <a:off x="1672452" y="3069995"/>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a:t>
              </a:r>
            </a:p>
          </p:txBody>
        </p:sp>
      </p:grpSp>
      <p:grpSp>
        <p:nvGrpSpPr>
          <p:cNvPr id="75" name="Group 74">
            <a:extLst>
              <a:ext uri="{FF2B5EF4-FFF2-40B4-BE49-F238E27FC236}">
                <a16:creationId xmlns:a16="http://schemas.microsoft.com/office/drawing/2014/main" id="{59CE5D1D-25DD-B2C1-5896-7CB4316CB1AA}"/>
              </a:ext>
            </a:extLst>
          </p:cNvPr>
          <p:cNvGrpSpPr/>
          <p:nvPr/>
        </p:nvGrpSpPr>
        <p:grpSpPr>
          <a:xfrm>
            <a:off x="3026254" y="4940119"/>
            <a:ext cx="869183" cy="251501"/>
            <a:chOff x="1591501" y="3366095"/>
            <a:chExt cx="869183" cy="251501"/>
          </a:xfrm>
          <a:solidFill>
            <a:schemeClr val="bg1"/>
          </a:solidFill>
        </p:grpSpPr>
        <p:sp>
          <p:nvSpPr>
            <p:cNvPr id="76" name="Rectangle: Rounded Corners 75">
              <a:extLst>
                <a:ext uri="{FF2B5EF4-FFF2-40B4-BE49-F238E27FC236}">
                  <a16:creationId xmlns:a16="http://schemas.microsoft.com/office/drawing/2014/main" id="{BCA26203-A6A9-F5A4-CAAE-5DD8BD785305}"/>
                </a:ext>
              </a:extLst>
            </p:cNvPr>
            <p:cNvSpPr/>
            <p:nvPr/>
          </p:nvSpPr>
          <p:spPr bwMode="auto">
            <a:xfrm>
              <a:off x="1591501" y="3366095"/>
              <a:ext cx="869183" cy="251501"/>
            </a:xfrm>
            <a:prstGeom prst="round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77" name="Title 1">
              <a:extLst>
                <a:ext uri="{FF2B5EF4-FFF2-40B4-BE49-F238E27FC236}">
                  <a16:creationId xmlns:a16="http://schemas.microsoft.com/office/drawing/2014/main" id="{06E7E530-C671-8BB1-B3BF-C2CD79990A03}"/>
                </a:ext>
              </a:extLst>
            </p:cNvPr>
            <p:cNvSpPr txBox="1">
              <a:spLocks/>
            </p:cNvSpPr>
            <p:nvPr/>
          </p:nvSpPr>
          <p:spPr>
            <a:xfrm>
              <a:off x="1672452" y="3398178"/>
              <a:ext cx="718358" cy="184666"/>
            </a:xfrm>
            <a:prstGeom prst="rect">
              <a:avLst/>
            </a:prstGeom>
            <a:noFill/>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chemeClr val="tx1"/>
                  </a:solidFill>
                  <a:effectLst/>
                  <a:uLnTx/>
                  <a:uFillTx/>
                  <a:latin typeface="Segoe UI Semibold" panose="020B0702040204020203" pitchFamily="34" charset="0"/>
                  <a:ea typeface="+mn-ea"/>
                  <a:cs typeface="Segoe UI Semibold" panose="020B0702040204020203" pitchFamily="34" charset="0"/>
                </a:rPr>
                <a:t>Volume</a:t>
              </a:r>
            </a:p>
          </p:txBody>
        </p:sp>
      </p:grpSp>
      <p:sp>
        <p:nvSpPr>
          <p:cNvPr id="78" name="Content Placeholder 2">
            <a:extLst>
              <a:ext uri="{FF2B5EF4-FFF2-40B4-BE49-F238E27FC236}">
                <a16:creationId xmlns:a16="http://schemas.microsoft.com/office/drawing/2014/main" id="{A848EBB8-320D-287A-B84B-FD4393E6F368}"/>
              </a:ext>
            </a:extLst>
          </p:cNvPr>
          <p:cNvSpPr txBox="1">
            <a:spLocks/>
          </p:cNvSpPr>
          <p:nvPr/>
        </p:nvSpPr>
        <p:spPr>
          <a:xfrm>
            <a:off x="5419345" y="1891512"/>
            <a:ext cx="6550104" cy="4539704"/>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1200"/>
              </a:spcAft>
              <a:buClrTx/>
              <a:buSzPct val="90000"/>
              <a:buFont typeface="Wingdings" panose="05000000000000000000" pitchFamily="2" charset="2"/>
              <a:buNone/>
              <a:tabLst/>
              <a:defRPr sz="24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spcBef>
                <a:spcPts val="600"/>
              </a:spcBef>
              <a:spcAft>
                <a:spcPts val="0"/>
              </a:spcAft>
              <a:buFont typeface="Arial" panose="020B0604020202020204" pitchFamily="34" charset="0"/>
              <a:buChar char="•"/>
            </a:pPr>
            <a:r>
              <a:rPr lang="en-US" sz="2000" b="1" u="sng" dirty="0"/>
              <a:t>Cluster</a:t>
            </a:r>
            <a:r>
              <a:rPr lang="en-US" sz="2000" dirty="0"/>
              <a:t> – A collection of machines networked together.</a:t>
            </a:r>
          </a:p>
          <a:p>
            <a:pPr marL="342900" indent="-342900">
              <a:spcBef>
                <a:spcPts val="600"/>
              </a:spcBef>
              <a:spcAft>
                <a:spcPts val="0"/>
              </a:spcAft>
              <a:buFont typeface="Arial" panose="020B0604020202020204" pitchFamily="34" charset="0"/>
              <a:buChar char="•"/>
            </a:pPr>
            <a:r>
              <a:rPr lang="en-US" sz="2000" b="1" u="sng" dirty="0"/>
              <a:t>Node</a:t>
            </a:r>
            <a:r>
              <a:rPr lang="en-US" sz="2000" dirty="0"/>
              <a:t> – A single machine (physical or VM) in a cluster.</a:t>
            </a:r>
          </a:p>
          <a:p>
            <a:pPr marL="342900" indent="-342900">
              <a:spcBef>
                <a:spcPts val="600"/>
              </a:spcBef>
              <a:spcAft>
                <a:spcPts val="0"/>
              </a:spcAft>
              <a:buFont typeface="Arial" panose="020B0604020202020204" pitchFamily="34" charset="0"/>
              <a:buChar char="•"/>
            </a:pPr>
            <a:r>
              <a:rPr lang="en-US" sz="2000" b="1" u="sng" dirty="0"/>
              <a:t>Pod</a:t>
            </a:r>
            <a:r>
              <a:rPr lang="en-US" sz="2000" dirty="0"/>
              <a:t> – A wrapper around one or more Containers.  A Pod is scheduled on a Node.</a:t>
            </a:r>
          </a:p>
          <a:p>
            <a:pPr marL="342900" indent="-342900">
              <a:spcBef>
                <a:spcPts val="600"/>
              </a:spcBef>
              <a:spcAft>
                <a:spcPts val="0"/>
              </a:spcAft>
              <a:buFont typeface="Arial" panose="020B0604020202020204" pitchFamily="34" charset="0"/>
              <a:buChar char="•"/>
            </a:pPr>
            <a:r>
              <a:rPr lang="en-US" sz="2000" b="1" u="sng" dirty="0"/>
              <a:t>Container</a:t>
            </a:r>
            <a:r>
              <a:rPr lang="en-US" sz="2000" dirty="0"/>
              <a:t> – A single containerized application instance, based on an image, managed by a Pod.</a:t>
            </a:r>
          </a:p>
          <a:p>
            <a:pPr marL="342900" indent="-342900">
              <a:spcBef>
                <a:spcPts val="600"/>
              </a:spcBef>
              <a:spcAft>
                <a:spcPts val="0"/>
              </a:spcAft>
              <a:buFont typeface="Arial" panose="020B0604020202020204" pitchFamily="34" charset="0"/>
              <a:buChar char="•"/>
            </a:pPr>
            <a:r>
              <a:rPr lang="en-US" sz="2000" b="1" u="sng" dirty="0"/>
              <a:t>Volume</a:t>
            </a:r>
            <a:r>
              <a:rPr lang="en-US" sz="2000" dirty="0"/>
              <a:t> – A connection to external storage outside the Pod.</a:t>
            </a:r>
          </a:p>
          <a:p>
            <a:pPr marL="342900" indent="-342900">
              <a:spcBef>
                <a:spcPts val="600"/>
              </a:spcBef>
              <a:spcAft>
                <a:spcPts val="0"/>
              </a:spcAft>
              <a:buFont typeface="Arial" panose="020B0604020202020204" pitchFamily="34" charset="0"/>
              <a:buChar char="•"/>
            </a:pPr>
            <a:r>
              <a:rPr lang="en-US" sz="2000" b="1" u="sng" dirty="0"/>
              <a:t>Service</a:t>
            </a:r>
            <a:r>
              <a:rPr lang="en-US" sz="2000" dirty="0"/>
              <a:t> – A network configuration directing traffic to a Pod.</a:t>
            </a:r>
          </a:p>
          <a:p>
            <a:pPr marL="342900" indent="-342900">
              <a:spcBef>
                <a:spcPts val="600"/>
              </a:spcBef>
              <a:spcAft>
                <a:spcPts val="0"/>
              </a:spcAft>
              <a:buFont typeface="Arial" panose="020B0604020202020204" pitchFamily="34" charset="0"/>
              <a:buChar char="•"/>
            </a:pPr>
            <a:r>
              <a:rPr lang="en-US" sz="2000" b="1" u="sng" dirty="0" err="1"/>
              <a:t>ConfigMap</a:t>
            </a:r>
            <a:r>
              <a:rPr lang="en-US" sz="2000" b="1" u="sng" dirty="0"/>
              <a:t>/Secret</a:t>
            </a:r>
            <a:r>
              <a:rPr lang="en-US" sz="2000" dirty="0"/>
              <a:t> – An external configuration that can be referenced by multiple Pods.</a:t>
            </a:r>
          </a:p>
          <a:p>
            <a:pPr marL="342900" indent="-342900">
              <a:spcBef>
                <a:spcPts val="600"/>
              </a:spcBef>
              <a:spcAft>
                <a:spcPts val="0"/>
              </a:spcAft>
              <a:buFont typeface="Arial" panose="020B0604020202020204" pitchFamily="34" charset="0"/>
              <a:buChar char="•"/>
            </a:pPr>
            <a:r>
              <a:rPr lang="en-US" sz="2000" b="1" u="sng" dirty="0"/>
              <a:t>Namespaces: </a:t>
            </a:r>
            <a:r>
              <a:rPr lang="en-US" sz="2000" dirty="0"/>
              <a:t>a way to logically segment a cluster</a:t>
            </a:r>
            <a:endParaRPr lang="en-US" sz="2000" b="1" u="sng" dirty="0"/>
          </a:p>
        </p:txBody>
      </p:sp>
      <p:grpSp>
        <p:nvGrpSpPr>
          <p:cNvPr id="80" name="Group 79">
            <a:extLst>
              <a:ext uri="{FF2B5EF4-FFF2-40B4-BE49-F238E27FC236}">
                <a16:creationId xmlns:a16="http://schemas.microsoft.com/office/drawing/2014/main" id="{189BBDE0-656E-885B-DC70-6365A891F6FA}"/>
              </a:ext>
            </a:extLst>
          </p:cNvPr>
          <p:cNvGrpSpPr/>
          <p:nvPr/>
        </p:nvGrpSpPr>
        <p:grpSpPr>
          <a:xfrm>
            <a:off x="1448566" y="3310966"/>
            <a:ext cx="869183" cy="251501"/>
            <a:chOff x="1591501" y="3366095"/>
            <a:chExt cx="869183" cy="251501"/>
          </a:xfrm>
          <a:solidFill>
            <a:schemeClr val="bg1"/>
          </a:solidFill>
        </p:grpSpPr>
        <p:sp>
          <p:nvSpPr>
            <p:cNvPr id="81" name="Rectangle: Rounded Corners 80">
              <a:extLst>
                <a:ext uri="{FF2B5EF4-FFF2-40B4-BE49-F238E27FC236}">
                  <a16:creationId xmlns:a16="http://schemas.microsoft.com/office/drawing/2014/main" id="{7C3E7C38-241E-948D-2B8E-747A87ECEB11}"/>
                </a:ext>
              </a:extLst>
            </p:cNvPr>
            <p:cNvSpPr/>
            <p:nvPr/>
          </p:nvSpPr>
          <p:spPr bwMode="auto">
            <a:xfrm>
              <a:off x="1591501" y="3366095"/>
              <a:ext cx="869183" cy="251501"/>
            </a:xfrm>
            <a:prstGeom prst="round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dirty="0" err="1">
                <a:solidFill>
                  <a:schemeClr val="tx1"/>
                </a:solidFill>
                <a:ea typeface="Segoe UI" pitchFamily="34" charset="0"/>
                <a:cs typeface="Segoe UI" pitchFamily="34" charset="0"/>
              </a:endParaRPr>
            </a:p>
          </p:txBody>
        </p:sp>
        <p:sp>
          <p:nvSpPr>
            <p:cNvPr id="82" name="Title 1">
              <a:extLst>
                <a:ext uri="{FF2B5EF4-FFF2-40B4-BE49-F238E27FC236}">
                  <a16:creationId xmlns:a16="http://schemas.microsoft.com/office/drawing/2014/main" id="{99211E97-1B85-7A80-6B66-DFB63659E5BE}"/>
                </a:ext>
              </a:extLst>
            </p:cNvPr>
            <p:cNvSpPr txBox="1">
              <a:spLocks/>
            </p:cNvSpPr>
            <p:nvPr/>
          </p:nvSpPr>
          <p:spPr>
            <a:xfrm>
              <a:off x="1672452" y="3393172"/>
              <a:ext cx="722904" cy="189672"/>
            </a:xfrm>
            <a:prstGeom prst="rect">
              <a:avLst/>
            </a:prstGeom>
            <a:noFill/>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14192" rtl="0" eaLnBrk="1" fontAlgn="auto" latinLnBrk="0" hangingPunct="1">
                <a:lnSpc>
                  <a:spcPct val="100000"/>
                </a:lnSpc>
                <a:spcBef>
                  <a:spcPct val="0"/>
                </a:spcBef>
                <a:spcAft>
                  <a:spcPts val="0"/>
                </a:spcAft>
                <a:buClrTx/>
                <a:buSzTx/>
                <a:buFontTx/>
                <a:buNone/>
                <a:tabLst/>
                <a:defRPr/>
              </a:pPr>
              <a:r>
                <a:rPr kumimoji="0" lang="en-US" sz="1200" b="0" i="0" strike="noStrike" kern="1200" cap="none" spc="0" normalizeH="0" baseline="0" noProof="0" dirty="0">
                  <a:ln w="3175">
                    <a:noFill/>
                  </a:ln>
                  <a:solidFill>
                    <a:schemeClr val="tx1"/>
                  </a:solidFill>
                  <a:effectLst/>
                  <a:uLnTx/>
                  <a:uFillTx/>
                  <a:latin typeface="Segoe UI Semibold" panose="020B0702040204020203" pitchFamily="34" charset="0"/>
                  <a:ea typeface="+mn-ea"/>
                  <a:cs typeface="Segoe UI Semibold" panose="020B0702040204020203" pitchFamily="34" charset="0"/>
                </a:rPr>
                <a:t>Volume</a:t>
              </a:r>
            </a:p>
          </p:txBody>
        </p:sp>
      </p:grpSp>
    </p:spTree>
    <p:extLst>
      <p:ext uri="{BB962C8B-B14F-4D97-AF65-F5344CB8AC3E}">
        <p14:creationId xmlns:p14="http://schemas.microsoft.com/office/powerpoint/2010/main" val="42003012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par>
                                <p:cTn id="15" presetID="10"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500"/>
                                        <p:tgtEl>
                                          <p:spTgt spid="58"/>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500"/>
                                        <p:tgtEl>
                                          <p:spTgt spid="59"/>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0"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500"/>
                                        <p:tgtEl>
                                          <p:spTgt spid="45"/>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par>
                                <p:cTn id="44" presetID="10" presetClass="entr" presetSubtype="0" fill="hold"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500"/>
                                        <p:tgtEl>
                                          <p:spTgt spid="48"/>
                                        </p:tgtEl>
                                      </p:cBhvr>
                                    </p:animEffect>
                                  </p:childTnLst>
                                </p:cTn>
                              </p:par>
                              <p:par>
                                <p:cTn id="47" presetID="10" presetClass="entr" presetSubtype="0"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childTnLst>
                          </p:cTn>
                        </p:par>
                        <p:par>
                          <p:cTn id="50" fill="hold">
                            <p:stCondLst>
                              <p:cond delay="2000"/>
                            </p:stCondLst>
                            <p:childTnLst>
                              <p:par>
                                <p:cTn id="51" presetID="10" presetClass="entr" presetSubtype="0"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par>
                                <p:cTn id="54" presetID="10" presetClass="entr" presetSubtype="0" fill="hold" nodeType="with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500"/>
                                        <p:tgtEl>
                                          <p:spTgt spid="51"/>
                                        </p:tgtEl>
                                      </p:cBhvr>
                                    </p:animEffect>
                                  </p:childTnLst>
                                </p:cTn>
                              </p:par>
                            </p:childTnLst>
                          </p:cTn>
                        </p:par>
                        <p:par>
                          <p:cTn id="57" fill="hold">
                            <p:stCondLst>
                              <p:cond delay="2500"/>
                            </p:stCondLst>
                            <p:childTnLst>
                              <p:par>
                                <p:cTn id="58" presetID="10" presetClass="entr" presetSubtype="0" fill="hold" nodeType="after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par>
                                <p:cTn id="61" presetID="10" presetClass="entr" presetSubtype="0" fill="hold" nodeType="withEffect">
                                  <p:stCondLst>
                                    <p:cond delay="0"/>
                                  </p:stCondLst>
                                  <p:childTnLst>
                                    <p:set>
                                      <p:cBhvr>
                                        <p:cTn id="62" dur="1" fill="hold">
                                          <p:stCondLst>
                                            <p:cond delay="0"/>
                                          </p:stCondLst>
                                        </p:cTn>
                                        <p:tgtEl>
                                          <p:spTgt spid="60"/>
                                        </p:tgtEl>
                                        <p:attrNameLst>
                                          <p:attrName>style.visibility</p:attrName>
                                        </p:attrNameLst>
                                      </p:cBhvr>
                                      <p:to>
                                        <p:strVal val="visible"/>
                                      </p:to>
                                    </p:set>
                                    <p:animEffect transition="in" filter="fade">
                                      <p:cBhvr>
                                        <p:cTn id="63" dur="500"/>
                                        <p:tgtEl>
                                          <p:spTgt spid="60"/>
                                        </p:tgtEl>
                                      </p:cBhvr>
                                    </p:animEffect>
                                  </p:childTnLst>
                                </p:cTn>
                              </p:par>
                            </p:childTnLst>
                          </p:cTn>
                        </p:par>
                        <p:par>
                          <p:cTn id="64" fill="hold">
                            <p:stCondLst>
                              <p:cond delay="3000"/>
                            </p:stCondLst>
                            <p:childTnLst>
                              <p:par>
                                <p:cTn id="65" presetID="10" presetClass="entr" presetSubtype="0" fill="hold" nodeType="after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fade">
                                      <p:cBhvr>
                                        <p:cTn id="67" dur="500"/>
                                        <p:tgtEl>
                                          <p:spTgt spid="54"/>
                                        </p:tgtEl>
                                      </p:cBhvr>
                                    </p:animEffect>
                                  </p:childTnLst>
                                </p:cTn>
                              </p:par>
                              <p:par>
                                <p:cTn id="68" presetID="10"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500"/>
                                        <p:tgtEl>
                                          <p:spTgt spid="63"/>
                                        </p:tgtEl>
                                      </p:cBhvr>
                                    </p:animEffect>
                                  </p:childTnLst>
                                </p:cTn>
                              </p:par>
                            </p:childTnLst>
                          </p:cTn>
                        </p:par>
                        <p:par>
                          <p:cTn id="71" fill="hold">
                            <p:stCondLst>
                              <p:cond delay="3500"/>
                            </p:stCondLst>
                            <p:childTnLst>
                              <p:par>
                                <p:cTn id="72" presetID="10" presetClass="entr" presetSubtype="0" fill="hold"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par>
                                <p:cTn id="75" presetID="10" presetClass="entr" presetSubtype="0"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500"/>
                                        <p:tgtEl>
                                          <p:spTgt spid="33"/>
                                        </p:tgtEl>
                                      </p:cBhvr>
                                    </p:animEffect>
                                  </p:childTnLst>
                                </p:cTn>
                              </p:par>
                              <p:par>
                                <p:cTn id="78" presetID="10" presetClass="entr" presetSubtype="0" fill="hold" nodeType="withEffect">
                                  <p:stCondLst>
                                    <p:cond delay="0"/>
                                  </p:stCondLst>
                                  <p:childTnLst>
                                    <p:set>
                                      <p:cBhvr>
                                        <p:cTn id="79" dur="1" fill="hold">
                                          <p:stCondLst>
                                            <p:cond delay="0"/>
                                          </p:stCondLst>
                                        </p:cTn>
                                        <p:tgtEl>
                                          <p:spTgt spid="66"/>
                                        </p:tgtEl>
                                        <p:attrNameLst>
                                          <p:attrName>style.visibility</p:attrName>
                                        </p:attrNameLst>
                                      </p:cBhvr>
                                      <p:to>
                                        <p:strVal val="visible"/>
                                      </p:to>
                                    </p:set>
                                    <p:animEffect transition="in" filter="fade">
                                      <p:cBhvr>
                                        <p:cTn id="80" dur="500"/>
                                        <p:tgtEl>
                                          <p:spTgt spid="66"/>
                                        </p:tgtEl>
                                      </p:cBhvr>
                                    </p:animEffect>
                                  </p:childTnLst>
                                </p:cTn>
                              </p:par>
                              <p:par>
                                <p:cTn id="81" presetID="10" presetClass="entr" presetSubtype="0" fill="hold" nodeType="withEffect">
                                  <p:stCondLst>
                                    <p:cond delay="0"/>
                                  </p:stCondLst>
                                  <p:childTnLst>
                                    <p:set>
                                      <p:cBhvr>
                                        <p:cTn id="82" dur="1" fill="hold">
                                          <p:stCondLst>
                                            <p:cond delay="0"/>
                                          </p:stCondLst>
                                        </p:cTn>
                                        <p:tgtEl>
                                          <p:spTgt spid="69"/>
                                        </p:tgtEl>
                                        <p:attrNameLst>
                                          <p:attrName>style.visibility</p:attrName>
                                        </p:attrNameLst>
                                      </p:cBhvr>
                                      <p:to>
                                        <p:strVal val="visible"/>
                                      </p:to>
                                    </p:set>
                                    <p:animEffect transition="in" filter="fade">
                                      <p:cBhvr>
                                        <p:cTn id="83" dur="500"/>
                                        <p:tgtEl>
                                          <p:spTgt spid="69"/>
                                        </p:tgtEl>
                                      </p:cBhvr>
                                    </p:animEffect>
                                  </p:childTnLst>
                                </p:cTn>
                              </p:par>
                              <p:par>
                                <p:cTn id="84" presetID="10" presetClass="entr" presetSubtype="0" fill="hold" nodeType="withEffect">
                                  <p:stCondLst>
                                    <p:cond delay="0"/>
                                  </p:stCondLst>
                                  <p:childTnLst>
                                    <p:set>
                                      <p:cBhvr>
                                        <p:cTn id="85" dur="1" fill="hold">
                                          <p:stCondLst>
                                            <p:cond delay="0"/>
                                          </p:stCondLst>
                                        </p:cTn>
                                        <p:tgtEl>
                                          <p:spTgt spid="72"/>
                                        </p:tgtEl>
                                        <p:attrNameLst>
                                          <p:attrName>style.visibility</p:attrName>
                                        </p:attrNameLst>
                                      </p:cBhvr>
                                      <p:to>
                                        <p:strVal val="visible"/>
                                      </p:to>
                                    </p:set>
                                    <p:animEffect transition="in" filter="fade">
                                      <p:cBhvr>
                                        <p:cTn id="86" dur="500"/>
                                        <p:tgtEl>
                                          <p:spTgt spid="72"/>
                                        </p:tgtEl>
                                      </p:cBhvr>
                                    </p:animEffect>
                                  </p:childTnLst>
                                </p:cTn>
                              </p:par>
                              <p:par>
                                <p:cTn id="87" presetID="10" presetClass="entr" presetSubtype="0" fill="hold" nodeType="withEffect">
                                  <p:stCondLst>
                                    <p:cond delay="0"/>
                                  </p:stCondLst>
                                  <p:childTnLst>
                                    <p:set>
                                      <p:cBhvr>
                                        <p:cTn id="88" dur="1" fill="hold">
                                          <p:stCondLst>
                                            <p:cond delay="0"/>
                                          </p:stCondLst>
                                        </p:cTn>
                                        <p:tgtEl>
                                          <p:spTgt spid="75"/>
                                        </p:tgtEl>
                                        <p:attrNameLst>
                                          <p:attrName>style.visibility</p:attrName>
                                        </p:attrNameLst>
                                      </p:cBhvr>
                                      <p:to>
                                        <p:strVal val="visible"/>
                                      </p:to>
                                    </p:set>
                                    <p:animEffect transition="in" filter="fade">
                                      <p:cBhvr>
                                        <p:cTn id="89" dur="500"/>
                                        <p:tgtEl>
                                          <p:spTgt spid="75"/>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78">
                                            <p:txEl>
                                              <p:pRg st="0" end="0"/>
                                            </p:txEl>
                                          </p:spTgt>
                                        </p:tgtEl>
                                        <p:attrNameLst>
                                          <p:attrName>style.visibility</p:attrName>
                                        </p:attrNameLst>
                                      </p:cBhvr>
                                      <p:to>
                                        <p:strVal val="visible"/>
                                      </p:to>
                                    </p:set>
                                    <p:animEffect transition="in" filter="fade">
                                      <p:cBhvr>
                                        <p:cTn id="94" dur="500"/>
                                        <p:tgtEl>
                                          <p:spTgt spid="78">
                                            <p:txEl>
                                              <p:pRg st="0" end="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78">
                                            <p:txEl>
                                              <p:pRg st="1" end="1"/>
                                            </p:txEl>
                                          </p:spTgt>
                                        </p:tgtEl>
                                        <p:attrNameLst>
                                          <p:attrName>style.visibility</p:attrName>
                                        </p:attrNameLst>
                                      </p:cBhvr>
                                      <p:to>
                                        <p:strVal val="visible"/>
                                      </p:to>
                                    </p:set>
                                    <p:animEffect transition="in" filter="fade">
                                      <p:cBhvr>
                                        <p:cTn id="99" dur="500"/>
                                        <p:tgtEl>
                                          <p:spTgt spid="78">
                                            <p:txEl>
                                              <p:pRg st="1" end="1"/>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78">
                                            <p:txEl>
                                              <p:pRg st="2" end="2"/>
                                            </p:txEl>
                                          </p:spTgt>
                                        </p:tgtEl>
                                        <p:attrNameLst>
                                          <p:attrName>style.visibility</p:attrName>
                                        </p:attrNameLst>
                                      </p:cBhvr>
                                      <p:to>
                                        <p:strVal val="visible"/>
                                      </p:to>
                                    </p:set>
                                    <p:animEffect transition="in" filter="fade">
                                      <p:cBhvr>
                                        <p:cTn id="104" dur="500"/>
                                        <p:tgtEl>
                                          <p:spTgt spid="78">
                                            <p:txEl>
                                              <p:pRg st="2" end="2"/>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78">
                                            <p:txEl>
                                              <p:pRg st="3" end="3"/>
                                            </p:txEl>
                                          </p:spTgt>
                                        </p:tgtEl>
                                        <p:attrNameLst>
                                          <p:attrName>style.visibility</p:attrName>
                                        </p:attrNameLst>
                                      </p:cBhvr>
                                      <p:to>
                                        <p:strVal val="visible"/>
                                      </p:to>
                                    </p:set>
                                    <p:animEffect transition="in" filter="fade">
                                      <p:cBhvr>
                                        <p:cTn id="109" dur="500"/>
                                        <p:tgtEl>
                                          <p:spTgt spid="78">
                                            <p:txEl>
                                              <p:pRg st="3" end="3"/>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78">
                                            <p:txEl>
                                              <p:pRg st="4" end="4"/>
                                            </p:txEl>
                                          </p:spTgt>
                                        </p:tgtEl>
                                        <p:attrNameLst>
                                          <p:attrName>style.visibility</p:attrName>
                                        </p:attrNameLst>
                                      </p:cBhvr>
                                      <p:to>
                                        <p:strVal val="visible"/>
                                      </p:to>
                                    </p:set>
                                    <p:animEffect transition="in" filter="fade">
                                      <p:cBhvr>
                                        <p:cTn id="114" dur="500"/>
                                        <p:tgtEl>
                                          <p:spTgt spid="78">
                                            <p:txEl>
                                              <p:pRg st="4" end="4"/>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78">
                                            <p:txEl>
                                              <p:pRg st="5" end="5"/>
                                            </p:txEl>
                                          </p:spTgt>
                                        </p:tgtEl>
                                        <p:attrNameLst>
                                          <p:attrName>style.visibility</p:attrName>
                                        </p:attrNameLst>
                                      </p:cBhvr>
                                      <p:to>
                                        <p:strVal val="visible"/>
                                      </p:to>
                                    </p:set>
                                    <p:animEffect transition="in" filter="fade">
                                      <p:cBhvr>
                                        <p:cTn id="119" dur="500"/>
                                        <p:tgtEl>
                                          <p:spTgt spid="78">
                                            <p:txEl>
                                              <p:pRg st="5" end="5"/>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78">
                                            <p:txEl>
                                              <p:pRg st="6" end="6"/>
                                            </p:txEl>
                                          </p:spTgt>
                                        </p:tgtEl>
                                        <p:attrNameLst>
                                          <p:attrName>style.visibility</p:attrName>
                                        </p:attrNameLst>
                                      </p:cBhvr>
                                      <p:to>
                                        <p:strVal val="visible"/>
                                      </p:to>
                                    </p:set>
                                    <p:animEffect transition="in" filter="fade">
                                      <p:cBhvr>
                                        <p:cTn id="124" dur="500"/>
                                        <p:tgtEl>
                                          <p:spTgt spid="78">
                                            <p:txEl>
                                              <p:pRg st="6" end="6"/>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78">
                                            <p:txEl>
                                              <p:pRg st="7" end="7"/>
                                            </p:txEl>
                                          </p:spTgt>
                                        </p:tgtEl>
                                        <p:attrNameLst>
                                          <p:attrName>style.visibility</p:attrName>
                                        </p:attrNameLst>
                                      </p:cBhvr>
                                      <p:to>
                                        <p:strVal val="visible"/>
                                      </p:to>
                                    </p:set>
                                    <p:animEffect transition="in" filter="fade">
                                      <p:cBhvr>
                                        <p:cTn id="129" dur="500"/>
                                        <p:tgtEl>
                                          <p:spTgt spid="78">
                                            <p:txEl>
                                              <p:pRg st="7" end="7"/>
                                            </p:txEl>
                                          </p:spTgt>
                                        </p:tgtEl>
                                      </p:cBhvr>
                                    </p:animEffect>
                                  </p:childTnLst>
                                </p:cTn>
                              </p:par>
                            </p:childTnLst>
                          </p:cTn>
                        </p:par>
                        <p:par>
                          <p:cTn id="130" fill="hold">
                            <p:stCondLst>
                              <p:cond delay="500"/>
                            </p:stCondLst>
                            <p:childTnLst>
                              <p:par>
                                <p:cTn id="131" presetID="10" presetClass="entr" presetSubtype="0" fill="hold" nodeType="afterEffect">
                                  <p:stCondLst>
                                    <p:cond delay="0"/>
                                  </p:stCondLst>
                                  <p:childTnLst>
                                    <p:set>
                                      <p:cBhvr>
                                        <p:cTn id="132" dur="1" fill="hold">
                                          <p:stCondLst>
                                            <p:cond delay="0"/>
                                          </p:stCondLst>
                                        </p:cTn>
                                        <p:tgtEl>
                                          <p:spTgt spid="80"/>
                                        </p:tgtEl>
                                        <p:attrNameLst>
                                          <p:attrName>style.visibility</p:attrName>
                                        </p:attrNameLst>
                                      </p:cBhvr>
                                      <p:to>
                                        <p:strVal val="visible"/>
                                      </p:to>
                                    </p:set>
                                    <p:animEffect transition="in" filter="fade">
                                      <p:cBhvr>
                                        <p:cTn id="133"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22573D-C8F9-4892-9EC9-AF78BB43187F}"/>
              </a:ext>
            </a:extLst>
          </p:cNvPr>
          <p:cNvSpPr>
            <a:spLocks noGrp="1"/>
          </p:cNvSpPr>
          <p:nvPr>
            <p:ph type="title"/>
          </p:nvPr>
        </p:nvSpPr>
        <p:spPr/>
        <p:txBody>
          <a:bodyPr/>
          <a:lstStyle/>
          <a:p>
            <a:pPr algn="ctr"/>
            <a:r>
              <a:rPr lang="en-US" dirty="0">
                <a:solidFill>
                  <a:schemeClr val="bg1"/>
                </a:solidFill>
              </a:rPr>
              <a:t>Pods</a:t>
            </a:r>
          </a:p>
        </p:txBody>
      </p:sp>
      <p:pic>
        <p:nvPicPr>
          <p:cNvPr id="21" name="Picture 2">
            <a:extLst>
              <a:ext uri="{FF2B5EF4-FFF2-40B4-BE49-F238E27FC236}">
                <a16:creationId xmlns:a16="http://schemas.microsoft.com/office/drawing/2014/main" id="{BE431F05-1D83-4BED-B96A-90A030582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510" y="2148421"/>
            <a:ext cx="2307532" cy="2235421"/>
          </a:xfrm>
          <a:prstGeom prst="rect">
            <a:avLst/>
          </a:prstGeom>
          <a:noFill/>
          <a:extLst>
            <a:ext uri="{909E8E84-426E-40DD-AFC4-6F175D3DCCD1}">
              <a14:hiddenFill xmlns:a14="http://schemas.microsoft.com/office/drawing/2010/main">
                <a:solidFill>
                  <a:srgbClr val="FFFFFF"/>
                </a:solidFill>
              </a14:hiddenFill>
            </a:ext>
          </a:extLst>
        </p:spPr>
      </p:pic>
      <p:sp>
        <p:nvSpPr>
          <p:cNvPr id="102" name="TextBox 101">
            <a:extLst>
              <a:ext uri="{FF2B5EF4-FFF2-40B4-BE49-F238E27FC236}">
                <a16:creationId xmlns:a16="http://schemas.microsoft.com/office/drawing/2014/main" id="{CFD020BE-3316-4B0A-B611-6ECDDA323FD0}"/>
              </a:ext>
            </a:extLst>
          </p:cNvPr>
          <p:cNvSpPr txBox="1"/>
          <p:nvPr/>
        </p:nvSpPr>
        <p:spPr>
          <a:xfrm>
            <a:off x="4537178" y="251496"/>
            <a:ext cx="7654821" cy="1431161"/>
          </a:xfrm>
          <a:prstGeom prst="rect">
            <a:avLst/>
          </a:prstGeom>
          <a:noFill/>
        </p:spPr>
        <p:txBody>
          <a:bodyPr wrap="square">
            <a:spAutoFit/>
          </a:bodyPr>
          <a:lstStyle/>
          <a:p>
            <a:pPr marL="285750" indent="-285750">
              <a:spcBef>
                <a:spcPts val="600"/>
              </a:spcBef>
              <a:spcAft>
                <a:spcPts val="1200"/>
              </a:spcAft>
              <a:buFont typeface="Arial" panose="020B0604020202020204" pitchFamily="34" charset="0"/>
              <a:buChar char="•"/>
            </a:pPr>
            <a:r>
              <a:rPr lang="en-US" sz="2400" dirty="0">
                <a:solidFill>
                  <a:srgbClr val="222222"/>
                </a:solidFill>
              </a:rPr>
              <a:t>In Kubernetes, you never directly run a container, instead you run a </a:t>
            </a:r>
            <a:r>
              <a:rPr lang="en-US" sz="2400" b="1" dirty="0">
                <a:solidFill>
                  <a:srgbClr val="222222"/>
                </a:solidFill>
              </a:rPr>
              <a:t>Pod</a:t>
            </a:r>
            <a:r>
              <a:rPr lang="en-US" sz="2400" dirty="0">
                <a:solidFill>
                  <a:srgbClr val="222222"/>
                </a:solidFill>
              </a:rPr>
              <a:t>.</a:t>
            </a:r>
          </a:p>
          <a:p>
            <a:pPr marL="285750" indent="-285750">
              <a:spcBef>
                <a:spcPts val="600"/>
              </a:spcBef>
              <a:spcAft>
                <a:spcPts val="1200"/>
              </a:spcAft>
              <a:buFont typeface="Arial" panose="020B0604020202020204" pitchFamily="34" charset="0"/>
              <a:buChar char="•"/>
            </a:pPr>
            <a:r>
              <a:rPr lang="en-US" sz="2400" dirty="0">
                <a:solidFill>
                  <a:srgbClr val="222222"/>
                </a:solidFill>
              </a:rPr>
              <a:t>A Pod is a “wrapper” around one or more containers.</a:t>
            </a:r>
          </a:p>
        </p:txBody>
      </p:sp>
      <p:grpSp>
        <p:nvGrpSpPr>
          <p:cNvPr id="49" name="Group 48">
            <a:extLst>
              <a:ext uri="{FF2B5EF4-FFF2-40B4-BE49-F238E27FC236}">
                <a16:creationId xmlns:a16="http://schemas.microsoft.com/office/drawing/2014/main" id="{CEB7146D-0A5B-F3B4-E722-8E6761BD654C}"/>
              </a:ext>
            </a:extLst>
          </p:cNvPr>
          <p:cNvGrpSpPr/>
          <p:nvPr/>
        </p:nvGrpSpPr>
        <p:grpSpPr>
          <a:xfrm>
            <a:off x="5362082" y="2673149"/>
            <a:ext cx="6005012" cy="3421385"/>
            <a:chOff x="5585583" y="1545613"/>
            <a:chExt cx="6005012" cy="3421385"/>
          </a:xfrm>
        </p:grpSpPr>
        <p:sp>
          <p:nvSpPr>
            <p:cNvPr id="50" name="Rectangle: Rounded Corners 28">
              <a:extLst>
                <a:ext uri="{FF2B5EF4-FFF2-40B4-BE49-F238E27FC236}">
                  <a16:creationId xmlns:a16="http://schemas.microsoft.com/office/drawing/2014/main" id="{D42F7AA4-5E69-E339-24F3-BBF2A3561328}"/>
                </a:ext>
              </a:extLst>
            </p:cNvPr>
            <p:cNvSpPr/>
            <p:nvPr/>
          </p:nvSpPr>
          <p:spPr>
            <a:xfrm>
              <a:off x="5586616" y="1545613"/>
              <a:ext cx="6003979" cy="464192"/>
            </a:xfrm>
            <a:prstGeom prst="roundRect">
              <a:avLst>
                <a:gd name="adj" fmla="val 0"/>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60" tIns="47732" rIns="93260" bIns="46630" numCol="1" spcCol="0" rtlCol="0" fromWordArt="0" anchor="ctr" anchorCtr="0" forceAA="0" compatLnSpc="1">
              <a:prstTxWarp prst="textNoShape">
                <a:avLst/>
              </a:prstTxWarp>
              <a:noAutofit/>
            </a:bodyPr>
            <a:lstStyle/>
            <a:p>
              <a:pPr algn="ctr"/>
              <a:r>
                <a:rPr lang="en-GB" sz="1428">
                  <a:solidFill>
                    <a:schemeClr val="tx1"/>
                  </a:solidFill>
                </a:rPr>
                <a:t>Pod</a:t>
              </a:r>
            </a:p>
          </p:txBody>
        </p:sp>
        <p:sp>
          <p:nvSpPr>
            <p:cNvPr id="51" name="Rectangle: Rounded Corners 29">
              <a:extLst>
                <a:ext uri="{FF2B5EF4-FFF2-40B4-BE49-F238E27FC236}">
                  <a16:creationId xmlns:a16="http://schemas.microsoft.com/office/drawing/2014/main" id="{C4D4DD27-8F1D-C083-9453-D9D3B9626B37}"/>
                </a:ext>
              </a:extLst>
            </p:cNvPr>
            <p:cNvSpPr/>
            <p:nvPr/>
          </p:nvSpPr>
          <p:spPr>
            <a:xfrm>
              <a:off x="5585583" y="1545613"/>
              <a:ext cx="6003979" cy="3421385"/>
            </a:xfrm>
            <a:prstGeom prst="roundRect">
              <a:avLst>
                <a:gd name="adj" fmla="val 0"/>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60" tIns="46630" rIns="93260" bIns="46630" numCol="1" spcCol="0" rtlCol="0" fromWordArt="0" anchor="t" anchorCtr="0" forceAA="0" compatLnSpc="1">
              <a:prstTxWarp prst="textNoShape">
                <a:avLst/>
              </a:prstTxWarp>
              <a:noAutofit/>
            </a:bodyPr>
            <a:lstStyle/>
            <a:p>
              <a:pPr algn="ctr"/>
              <a:endParaRPr lang="en-GB" sz="1428">
                <a:solidFill>
                  <a:schemeClr val="tx1"/>
                </a:solidFill>
              </a:endParaRPr>
            </a:p>
          </p:txBody>
        </p:sp>
        <p:sp>
          <p:nvSpPr>
            <p:cNvPr id="52" name="Rectangle 51">
              <a:extLst>
                <a:ext uri="{FF2B5EF4-FFF2-40B4-BE49-F238E27FC236}">
                  <a16:creationId xmlns:a16="http://schemas.microsoft.com/office/drawing/2014/main" id="{CF041A1A-12F5-F4EC-067D-40C231F61066}"/>
                </a:ext>
              </a:extLst>
            </p:cNvPr>
            <p:cNvSpPr/>
            <p:nvPr/>
          </p:nvSpPr>
          <p:spPr>
            <a:xfrm>
              <a:off x="7141761" y="2229893"/>
              <a:ext cx="4067034" cy="380764"/>
            </a:xfrm>
            <a:prstGeom prst="rect">
              <a:avLst/>
            </a:prstGeom>
            <a:solidFill>
              <a:schemeClr val="accent1">
                <a:lumMod val="75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36"/>
                <a:t>Storage</a:t>
              </a:r>
            </a:p>
          </p:txBody>
        </p:sp>
        <p:sp>
          <p:nvSpPr>
            <p:cNvPr id="53" name="Rectangle 52">
              <a:extLst>
                <a:ext uri="{FF2B5EF4-FFF2-40B4-BE49-F238E27FC236}">
                  <a16:creationId xmlns:a16="http://schemas.microsoft.com/office/drawing/2014/main" id="{D3D6B4D6-DB69-42C8-09A2-C6807AA56048}"/>
                </a:ext>
              </a:extLst>
            </p:cNvPr>
            <p:cNvSpPr/>
            <p:nvPr/>
          </p:nvSpPr>
          <p:spPr>
            <a:xfrm>
              <a:off x="7141761" y="4022435"/>
              <a:ext cx="4067034" cy="680602"/>
            </a:xfrm>
            <a:prstGeom prst="rect">
              <a:avLst/>
            </a:prstGeom>
            <a:solidFill>
              <a:schemeClr val="accent1">
                <a:lumMod val="75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60" tIns="46630" rIns="93260" bIns="46630" numCol="1" spcCol="0" rtlCol="0" fromWordArt="0" anchor="ctr" anchorCtr="0" forceAA="0" compatLnSpc="1">
              <a:prstTxWarp prst="textNoShape">
                <a:avLst/>
              </a:prstTxWarp>
              <a:noAutofit/>
            </a:bodyPr>
            <a:lstStyle/>
            <a:p>
              <a:r>
                <a:rPr lang="en-GB" sz="1224"/>
                <a:t>Networking Namespace</a:t>
              </a:r>
            </a:p>
          </p:txBody>
        </p:sp>
        <p:cxnSp>
          <p:nvCxnSpPr>
            <p:cNvPr id="54" name="Straight Connector 53">
              <a:extLst>
                <a:ext uri="{FF2B5EF4-FFF2-40B4-BE49-F238E27FC236}">
                  <a16:creationId xmlns:a16="http://schemas.microsoft.com/office/drawing/2014/main" id="{0CC40CE5-144A-EB47-2626-41AE5B8A61E0}"/>
                </a:ext>
              </a:extLst>
            </p:cNvPr>
            <p:cNvCxnSpPr>
              <a:cxnSpLocks/>
            </p:cNvCxnSpPr>
            <p:nvPr/>
          </p:nvCxnSpPr>
          <p:spPr>
            <a:xfrm flipV="1">
              <a:off x="7141761" y="2229893"/>
              <a:ext cx="0" cy="2473143"/>
            </a:xfrm>
            <a:prstGeom prst="line">
              <a:avLst/>
            </a:prstGeom>
            <a:ln>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92A5BCF-B99D-94A1-C49A-5866F57E0EF8}"/>
                </a:ext>
              </a:extLst>
            </p:cNvPr>
            <p:cNvCxnSpPr>
              <a:cxnSpLocks/>
            </p:cNvCxnSpPr>
            <p:nvPr/>
          </p:nvCxnSpPr>
          <p:spPr>
            <a:xfrm flipV="1">
              <a:off x="11208795" y="2229893"/>
              <a:ext cx="0" cy="2473143"/>
            </a:xfrm>
            <a:prstGeom prst="line">
              <a:avLst/>
            </a:prstGeom>
            <a:ln>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BDB40AF-4B76-F566-299E-0B1C86A8EF67}"/>
                </a:ext>
              </a:extLst>
            </p:cNvPr>
            <p:cNvSpPr txBox="1"/>
            <p:nvPr/>
          </p:nvSpPr>
          <p:spPr>
            <a:xfrm rot="16200000">
              <a:off x="10564280" y="3304855"/>
              <a:ext cx="1602936" cy="318286"/>
            </a:xfrm>
            <a:prstGeom prst="rect">
              <a:avLst/>
            </a:prstGeom>
            <a:noFill/>
          </p:spPr>
          <p:txBody>
            <a:bodyPr wrap="none" rtlCol="0">
              <a:spAutoFit/>
            </a:bodyPr>
            <a:lstStyle/>
            <a:p>
              <a:r>
                <a:rPr lang="en-GB" sz="1428"/>
                <a:t>Pod environment</a:t>
              </a:r>
            </a:p>
          </p:txBody>
        </p:sp>
        <p:grpSp>
          <p:nvGrpSpPr>
            <p:cNvPr id="57" name="Group 56">
              <a:extLst>
                <a:ext uri="{FF2B5EF4-FFF2-40B4-BE49-F238E27FC236}">
                  <a16:creationId xmlns:a16="http://schemas.microsoft.com/office/drawing/2014/main" id="{9AA077C4-7C40-A62A-DFE3-4CFF2A3036A2}"/>
                </a:ext>
              </a:extLst>
            </p:cNvPr>
            <p:cNvGrpSpPr/>
            <p:nvPr/>
          </p:nvGrpSpPr>
          <p:grpSpPr>
            <a:xfrm>
              <a:off x="7518371" y="2676355"/>
              <a:ext cx="1541119" cy="822217"/>
              <a:chOff x="2672862" y="4041756"/>
              <a:chExt cx="1937013" cy="1033434"/>
            </a:xfrm>
          </p:grpSpPr>
          <p:sp>
            <p:nvSpPr>
              <p:cNvPr id="81" name="Rectangle 80">
                <a:extLst>
                  <a:ext uri="{FF2B5EF4-FFF2-40B4-BE49-F238E27FC236}">
                    <a16:creationId xmlns:a16="http://schemas.microsoft.com/office/drawing/2014/main" id="{493FA824-DBF1-A74D-BAD0-FBFAA28C19F7}"/>
                  </a:ext>
                </a:extLst>
              </p:cNvPr>
              <p:cNvSpPr/>
              <p:nvPr/>
            </p:nvSpPr>
            <p:spPr>
              <a:xfrm>
                <a:off x="2672862" y="4041756"/>
                <a:ext cx="1937013" cy="1033434"/>
              </a:xfrm>
              <a:prstGeom prst="rect">
                <a:avLst/>
              </a:prstGeom>
              <a:solidFill>
                <a:srgbClr val="00B0F0"/>
              </a:solidFill>
              <a:ln>
                <a:solidFill>
                  <a:srgbClr val="0070C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2" name="Rectangle 81">
                <a:extLst>
                  <a:ext uri="{FF2B5EF4-FFF2-40B4-BE49-F238E27FC236}">
                    <a16:creationId xmlns:a16="http://schemas.microsoft.com/office/drawing/2014/main" id="{ECC1C930-A4E4-8EAB-E0E7-63C0048A09DD}"/>
                  </a:ext>
                </a:extLst>
              </p:cNvPr>
              <p:cNvSpPr/>
              <p:nvPr/>
            </p:nvSpPr>
            <p:spPr>
              <a:xfrm>
                <a:off x="2787387"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3" name="Rectangle 82">
                <a:extLst>
                  <a:ext uri="{FF2B5EF4-FFF2-40B4-BE49-F238E27FC236}">
                    <a16:creationId xmlns:a16="http://schemas.microsoft.com/office/drawing/2014/main" id="{F37DDEAE-5747-5C7B-8D26-E89C4E1AA4A1}"/>
                  </a:ext>
                </a:extLst>
              </p:cNvPr>
              <p:cNvSpPr/>
              <p:nvPr/>
            </p:nvSpPr>
            <p:spPr>
              <a:xfrm>
                <a:off x="2947451"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4" name="Rectangle 83">
                <a:extLst>
                  <a:ext uri="{FF2B5EF4-FFF2-40B4-BE49-F238E27FC236}">
                    <a16:creationId xmlns:a16="http://schemas.microsoft.com/office/drawing/2014/main" id="{9625C8CA-30AD-16FB-8853-0F6AA12C4552}"/>
                  </a:ext>
                </a:extLst>
              </p:cNvPr>
              <p:cNvSpPr/>
              <p:nvPr/>
            </p:nvSpPr>
            <p:spPr>
              <a:xfrm>
                <a:off x="3107515"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5" name="Rectangle 84">
                <a:extLst>
                  <a:ext uri="{FF2B5EF4-FFF2-40B4-BE49-F238E27FC236}">
                    <a16:creationId xmlns:a16="http://schemas.microsoft.com/office/drawing/2014/main" id="{61447F9F-3A8F-1C4B-E8C2-6C8DECC054ED}"/>
                  </a:ext>
                </a:extLst>
              </p:cNvPr>
              <p:cNvSpPr/>
              <p:nvPr/>
            </p:nvSpPr>
            <p:spPr>
              <a:xfrm>
                <a:off x="3267579"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6" name="Rectangle 85">
                <a:extLst>
                  <a:ext uri="{FF2B5EF4-FFF2-40B4-BE49-F238E27FC236}">
                    <a16:creationId xmlns:a16="http://schemas.microsoft.com/office/drawing/2014/main" id="{929FE818-E20B-A10E-E59E-0A38FE2C2CE5}"/>
                  </a:ext>
                </a:extLst>
              </p:cNvPr>
              <p:cNvSpPr/>
              <p:nvPr/>
            </p:nvSpPr>
            <p:spPr>
              <a:xfrm>
                <a:off x="3435002"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7" name="Rectangle 86">
                <a:extLst>
                  <a:ext uri="{FF2B5EF4-FFF2-40B4-BE49-F238E27FC236}">
                    <a16:creationId xmlns:a16="http://schemas.microsoft.com/office/drawing/2014/main" id="{5E2F7B41-9ED5-E9BC-359E-6B275564C2AF}"/>
                  </a:ext>
                </a:extLst>
              </p:cNvPr>
              <p:cNvSpPr/>
              <p:nvPr/>
            </p:nvSpPr>
            <p:spPr>
              <a:xfrm>
                <a:off x="3595066"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8" name="Rectangle 87">
                <a:extLst>
                  <a:ext uri="{FF2B5EF4-FFF2-40B4-BE49-F238E27FC236}">
                    <a16:creationId xmlns:a16="http://schemas.microsoft.com/office/drawing/2014/main" id="{926B9A0F-2E9E-7F38-25B7-676888B75B29}"/>
                  </a:ext>
                </a:extLst>
              </p:cNvPr>
              <p:cNvSpPr/>
              <p:nvPr/>
            </p:nvSpPr>
            <p:spPr>
              <a:xfrm>
                <a:off x="3755130"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9" name="Rectangle 88">
                <a:extLst>
                  <a:ext uri="{FF2B5EF4-FFF2-40B4-BE49-F238E27FC236}">
                    <a16:creationId xmlns:a16="http://schemas.microsoft.com/office/drawing/2014/main" id="{210050E9-1912-3A74-3E80-3553BA55C1A5}"/>
                  </a:ext>
                </a:extLst>
              </p:cNvPr>
              <p:cNvSpPr/>
              <p:nvPr/>
            </p:nvSpPr>
            <p:spPr>
              <a:xfrm>
                <a:off x="3915194"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90" name="Rectangle 89">
                <a:extLst>
                  <a:ext uri="{FF2B5EF4-FFF2-40B4-BE49-F238E27FC236}">
                    <a16:creationId xmlns:a16="http://schemas.microsoft.com/office/drawing/2014/main" id="{2D6B3587-5E9D-B80D-AA24-3C877087833D}"/>
                  </a:ext>
                </a:extLst>
              </p:cNvPr>
              <p:cNvSpPr/>
              <p:nvPr/>
            </p:nvSpPr>
            <p:spPr>
              <a:xfrm>
                <a:off x="4082617"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91" name="Rectangle 90">
                <a:extLst>
                  <a:ext uri="{FF2B5EF4-FFF2-40B4-BE49-F238E27FC236}">
                    <a16:creationId xmlns:a16="http://schemas.microsoft.com/office/drawing/2014/main" id="{089BE347-6401-FE09-2E70-4E0D11757C1A}"/>
                  </a:ext>
                </a:extLst>
              </p:cNvPr>
              <p:cNvSpPr/>
              <p:nvPr/>
            </p:nvSpPr>
            <p:spPr>
              <a:xfrm>
                <a:off x="4242681"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92" name="Rectangle 91">
                <a:extLst>
                  <a:ext uri="{FF2B5EF4-FFF2-40B4-BE49-F238E27FC236}">
                    <a16:creationId xmlns:a16="http://schemas.microsoft.com/office/drawing/2014/main" id="{9C36CEAF-D401-41AA-3F22-2446F19E9C21}"/>
                  </a:ext>
                </a:extLst>
              </p:cNvPr>
              <p:cNvSpPr/>
              <p:nvPr/>
            </p:nvSpPr>
            <p:spPr>
              <a:xfrm>
                <a:off x="4402745"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grpSp>
        <p:sp>
          <p:nvSpPr>
            <p:cNvPr id="58" name="TextBox 57">
              <a:extLst>
                <a:ext uri="{FF2B5EF4-FFF2-40B4-BE49-F238E27FC236}">
                  <a16:creationId xmlns:a16="http://schemas.microsoft.com/office/drawing/2014/main" id="{F4EC6DE7-F687-6875-C42E-E73C8BCA4679}"/>
                </a:ext>
              </a:extLst>
            </p:cNvPr>
            <p:cNvSpPr txBox="1"/>
            <p:nvPr/>
          </p:nvSpPr>
          <p:spPr>
            <a:xfrm>
              <a:off x="7518370" y="3460136"/>
              <a:ext cx="1540964" cy="286306"/>
            </a:xfrm>
            <a:prstGeom prst="rect">
              <a:avLst/>
            </a:prstGeom>
            <a:noFill/>
          </p:spPr>
          <p:txBody>
            <a:bodyPr wrap="square" rtlCol="0">
              <a:spAutoFit/>
            </a:bodyPr>
            <a:lstStyle/>
            <a:p>
              <a:pPr algn="ctr"/>
              <a:r>
                <a:rPr lang="en-GB" sz="1224">
                  <a:solidFill>
                    <a:srgbClr val="2F75BB"/>
                  </a:solidFill>
                </a:rPr>
                <a:t>Container</a:t>
              </a:r>
            </a:p>
          </p:txBody>
        </p:sp>
        <p:grpSp>
          <p:nvGrpSpPr>
            <p:cNvPr id="59" name="Group 58">
              <a:extLst>
                <a:ext uri="{FF2B5EF4-FFF2-40B4-BE49-F238E27FC236}">
                  <a16:creationId xmlns:a16="http://schemas.microsoft.com/office/drawing/2014/main" id="{24FA86A3-EC48-4D7C-630A-A2FEC9CEAF5E}"/>
                </a:ext>
              </a:extLst>
            </p:cNvPr>
            <p:cNvGrpSpPr/>
            <p:nvPr/>
          </p:nvGrpSpPr>
          <p:grpSpPr>
            <a:xfrm>
              <a:off x="9303450" y="2676355"/>
              <a:ext cx="1541119" cy="822217"/>
              <a:chOff x="2672862" y="4041756"/>
              <a:chExt cx="1937013" cy="1033434"/>
            </a:xfrm>
          </p:grpSpPr>
          <p:sp>
            <p:nvSpPr>
              <p:cNvPr id="69" name="Rectangle 68">
                <a:extLst>
                  <a:ext uri="{FF2B5EF4-FFF2-40B4-BE49-F238E27FC236}">
                    <a16:creationId xmlns:a16="http://schemas.microsoft.com/office/drawing/2014/main" id="{E0E34C98-49D2-F0F1-861D-850912384A8B}"/>
                  </a:ext>
                </a:extLst>
              </p:cNvPr>
              <p:cNvSpPr/>
              <p:nvPr/>
            </p:nvSpPr>
            <p:spPr>
              <a:xfrm>
                <a:off x="2672862" y="4041756"/>
                <a:ext cx="1937013" cy="1033434"/>
              </a:xfrm>
              <a:prstGeom prst="rect">
                <a:avLst/>
              </a:prstGeom>
              <a:solidFill>
                <a:srgbClr val="00B0F0"/>
              </a:solidFill>
              <a:ln>
                <a:solidFill>
                  <a:srgbClr val="0070C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0" name="Rectangle 69">
                <a:extLst>
                  <a:ext uri="{FF2B5EF4-FFF2-40B4-BE49-F238E27FC236}">
                    <a16:creationId xmlns:a16="http://schemas.microsoft.com/office/drawing/2014/main" id="{F223938A-5227-4AEC-32AA-1B63226D9A9B}"/>
                  </a:ext>
                </a:extLst>
              </p:cNvPr>
              <p:cNvSpPr/>
              <p:nvPr/>
            </p:nvSpPr>
            <p:spPr>
              <a:xfrm>
                <a:off x="2787387"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1" name="Rectangle 70">
                <a:extLst>
                  <a:ext uri="{FF2B5EF4-FFF2-40B4-BE49-F238E27FC236}">
                    <a16:creationId xmlns:a16="http://schemas.microsoft.com/office/drawing/2014/main" id="{F262FFA0-B1CB-657E-5DD2-F4B87FF6351E}"/>
                  </a:ext>
                </a:extLst>
              </p:cNvPr>
              <p:cNvSpPr/>
              <p:nvPr/>
            </p:nvSpPr>
            <p:spPr>
              <a:xfrm>
                <a:off x="2947451"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2" name="Rectangle 71">
                <a:extLst>
                  <a:ext uri="{FF2B5EF4-FFF2-40B4-BE49-F238E27FC236}">
                    <a16:creationId xmlns:a16="http://schemas.microsoft.com/office/drawing/2014/main" id="{DBA77C5C-3AF5-B2F3-079C-7E3B285460AF}"/>
                  </a:ext>
                </a:extLst>
              </p:cNvPr>
              <p:cNvSpPr/>
              <p:nvPr/>
            </p:nvSpPr>
            <p:spPr>
              <a:xfrm>
                <a:off x="3107515"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3" name="Rectangle 72">
                <a:extLst>
                  <a:ext uri="{FF2B5EF4-FFF2-40B4-BE49-F238E27FC236}">
                    <a16:creationId xmlns:a16="http://schemas.microsoft.com/office/drawing/2014/main" id="{9C23C4D6-BB3A-DAAF-3BA9-3DCBE4AC0C0C}"/>
                  </a:ext>
                </a:extLst>
              </p:cNvPr>
              <p:cNvSpPr/>
              <p:nvPr/>
            </p:nvSpPr>
            <p:spPr>
              <a:xfrm>
                <a:off x="3267579"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4" name="Rectangle 73">
                <a:extLst>
                  <a:ext uri="{FF2B5EF4-FFF2-40B4-BE49-F238E27FC236}">
                    <a16:creationId xmlns:a16="http://schemas.microsoft.com/office/drawing/2014/main" id="{75C9DCFE-2C11-2625-4004-AEE7845A3F0B}"/>
                  </a:ext>
                </a:extLst>
              </p:cNvPr>
              <p:cNvSpPr/>
              <p:nvPr/>
            </p:nvSpPr>
            <p:spPr>
              <a:xfrm>
                <a:off x="3435002"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5" name="Rectangle 74">
                <a:extLst>
                  <a:ext uri="{FF2B5EF4-FFF2-40B4-BE49-F238E27FC236}">
                    <a16:creationId xmlns:a16="http://schemas.microsoft.com/office/drawing/2014/main" id="{6DAA9782-B36A-BF5D-8FF0-77B2F1E68853}"/>
                  </a:ext>
                </a:extLst>
              </p:cNvPr>
              <p:cNvSpPr/>
              <p:nvPr/>
            </p:nvSpPr>
            <p:spPr>
              <a:xfrm>
                <a:off x="3595066"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6" name="Rectangle 75">
                <a:extLst>
                  <a:ext uri="{FF2B5EF4-FFF2-40B4-BE49-F238E27FC236}">
                    <a16:creationId xmlns:a16="http://schemas.microsoft.com/office/drawing/2014/main" id="{A5A1239C-1A86-B161-8517-BB3A4FB157BE}"/>
                  </a:ext>
                </a:extLst>
              </p:cNvPr>
              <p:cNvSpPr/>
              <p:nvPr/>
            </p:nvSpPr>
            <p:spPr>
              <a:xfrm>
                <a:off x="3755130"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7" name="Rectangle 76">
                <a:extLst>
                  <a:ext uri="{FF2B5EF4-FFF2-40B4-BE49-F238E27FC236}">
                    <a16:creationId xmlns:a16="http://schemas.microsoft.com/office/drawing/2014/main" id="{8F09D730-9350-C1B8-E437-892C58528F0F}"/>
                  </a:ext>
                </a:extLst>
              </p:cNvPr>
              <p:cNvSpPr/>
              <p:nvPr/>
            </p:nvSpPr>
            <p:spPr>
              <a:xfrm>
                <a:off x="3915194"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8" name="Rectangle 77">
                <a:extLst>
                  <a:ext uri="{FF2B5EF4-FFF2-40B4-BE49-F238E27FC236}">
                    <a16:creationId xmlns:a16="http://schemas.microsoft.com/office/drawing/2014/main" id="{4248DD8D-5D1E-BE00-829A-E57BCADEFB95}"/>
                  </a:ext>
                </a:extLst>
              </p:cNvPr>
              <p:cNvSpPr/>
              <p:nvPr/>
            </p:nvSpPr>
            <p:spPr>
              <a:xfrm>
                <a:off x="4082617"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79" name="Rectangle 78">
                <a:extLst>
                  <a:ext uri="{FF2B5EF4-FFF2-40B4-BE49-F238E27FC236}">
                    <a16:creationId xmlns:a16="http://schemas.microsoft.com/office/drawing/2014/main" id="{F4421BD2-900E-EE7B-9C33-A9FA678A01CC}"/>
                  </a:ext>
                </a:extLst>
              </p:cNvPr>
              <p:cNvSpPr/>
              <p:nvPr/>
            </p:nvSpPr>
            <p:spPr>
              <a:xfrm>
                <a:off x="4242681"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sp>
            <p:nvSpPr>
              <p:cNvPr id="80" name="Rectangle 79">
                <a:extLst>
                  <a:ext uri="{FF2B5EF4-FFF2-40B4-BE49-F238E27FC236}">
                    <a16:creationId xmlns:a16="http://schemas.microsoft.com/office/drawing/2014/main" id="{F5FB282C-990D-BA31-8B92-69E0A0A29DFB}"/>
                  </a:ext>
                </a:extLst>
              </p:cNvPr>
              <p:cNvSpPr/>
              <p:nvPr/>
            </p:nvSpPr>
            <p:spPr>
              <a:xfrm>
                <a:off x="4402745" y="4123367"/>
                <a:ext cx="91079" cy="859842"/>
              </a:xfrm>
              <a:prstGeom prst="rect">
                <a:avLst/>
              </a:prstGeom>
              <a:solidFill>
                <a:srgbClr val="B9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36"/>
              </a:p>
            </p:txBody>
          </p:sp>
        </p:grpSp>
        <p:sp>
          <p:nvSpPr>
            <p:cNvPr id="60" name="TextBox 59">
              <a:extLst>
                <a:ext uri="{FF2B5EF4-FFF2-40B4-BE49-F238E27FC236}">
                  <a16:creationId xmlns:a16="http://schemas.microsoft.com/office/drawing/2014/main" id="{2AB8DE37-83E1-0F1F-514D-DEF08EFC4F97}"/>
                </a:ext>
              </a:extLst>
            </p:cNvPr>
            <p:cNvSpPr txBox="1"/>
            <p:nvPr/>
          </p:nvSpPr>
          <p:spPr>
            <a:xfrm>
              <a:off x="9303449" y="3460136"/>
              <a:ext cx="1540964" cy="286306"/>
            </a:xfrm>
            <a:prstGeom prst="rect">
              <a:avLst/>
            </a:prstGeom>
            <a:noFill/>
          </p:spPr>
          <p:txBody>
            <a:bodyPr wrap="square" rtlCol="0">
              <a:spAutoFit/>
            </a:bodyPr>
            <a:lstStyle/>
            <a:p>
              <a:pPr algn="ctr"/>
              <a:r>
                <a:rPr lang="en-GB" sz="1224">
                  <a:solidFill>
                    <a:srgbClr val="2F75BB"/>
                  </a:solidFill>
                </a:rPr>
                <a:t>Container</a:t>
              </a:r>
            </a:p>
          </p:txBody>
        </p:sp>
        <p:sp>
          <p:nvSpPr>
            <p:cNvPr id="61" name="Rectangle 60">
              <a:extLst>
                <a:ext uri="{FF2B5EF4-FFF2-40B4-BE49-F238E27FC236}">
                  <a16:creationId xmlns:a16="http://schemas.microsoft.com/office/drawing/2014/main" id="{CD274230-172A-F26D-B928-437600796E4E}"/>
                </a:ext>
              </a:extLst>
            </p:cNvPr>
            <p:cNvSpPr/>
            <p:nvPr/>
          </p:nvSpPr>
          <p:spPr>
            <a:xfrm>
              <a:off x="8902807" y="4131638"/>
              <a:ext cx="1043743" cy="48012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28"/>
                <a:t>IP Address</a:t>
              </a:r>
            </a:p>
            <a:p>
              <a:pPr algn="ctr"/>
              <a:r>
                <a:rPr lang="en-GB" sz="1428" i="1"/>
                <a:t>10.0.1.1</a:t>
              </a:r>
            </a:p>
          </p:txBody>
        </p:sp>
        <p:sp>
          <p:nvSpPr>
            <p:cNvPr id="62" name="Rectangle 61">
              <a:extLst>
                <a:ext uri="{FF2B5EF4-FFF2-40B4-BE49-F238E27FC236}">
                  <a16:creationId xmlns:a16="http://schemas.microsoft.com/office/drawing/2014/main" id="{28176E1F-1E26-D2C6-4202-2E4872372B51}"/>
                </a:ext>
              </a:extLst>
            </p:cNvPr>
            <p:cNvSpPr/>
            <p:nvPr/>
          </p:nvSpPr>
          <p:spPr>
            <a:xfrm>
              <a:off x="10037170" y="4132802"/>
              <a:ext cx="1111740" cy="48012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28"/>
                <a:t>Port Space</a:t>
              </a:r>
            </a:p>
          </p:txBody>
        </p:sp>
        <p:sp>
          <p:nvSpPr>
            <p:cNvPr id="63" name="TextBox 62">
              <a:extLst>
                <a:ext uri="{FF2B5EF4-FFF2-40B4-BE49-F238E27FC236}">
                  <a16:creationId xmlns:a16="http://schemas.microsoft.com/office/drawing/2014/main" id="{BB19521F-8BEF-0738-056C-15180537AB63}"/>
                </a:ext>
              </a:extLst>
            </p:cNvPr>
            <p:cNvSpPr txBox="1"/>
            <p:nvPr/>
          </p:nvSpPr>
          <p:spPr>
            <a:xfrm>
              <a:off x="8714299" y="3702311"/>
              <a:ext cx="928959" cy="318286"/>
            </a:xfrm>
            <a:prstGeom prst="rect">
              <a:avLst/>
            </a:prstGeom>
            <a:noFill/>
          </p:spPr>
          <p:txBody>
            <a:bodyPr wrap="none" rtlCol="0">
              <a:spAutoFit/>
            </a:bodyPr>
            <a:lstStyle/>
            <a:p>
              <a:r>
                <a:rPr lang="en-GB" sz="1428"/>
                <a:t>localhost</a:t>
              </a:r>
            </a:p>
          </p:txBody>
        </p:sp>
        <p:grpSp>
          <p:nvGrpSpPr>
            <p:cNvPr id="64" name="Group 63">
              <a:extLst>
                <a:ext uri="{FF2B5EF4-FFF2-40B4-BE49-F238E27FC236}">
                  <a16:creationId xmlns:a16="http://schemas.microsoft.com/office/drawing/2014/main" id="{1B90D4B2-FC27-49D4-2522-D43FA2DA3110}"/>
                </a:ext>
              </a:extLst>
            </p:cNvPr>
            <p:cNvGrpSpPr/>
            <p:nvPr/>
          </p:nvGrpSpPr>
          <p:grpSpPr>
            <a:xfrm>
              <a:off x="8288852" y="3746442"/>
              <a:ext cx="1785079" cy="115013"/>
              <a:chOff x="8126199" y="3673316"/>
              <a:chExt cx="1750236" cy="112768"/>
            </a:xfrm>
          </p:grpSpPr>
          <p:cxnSp>
            <p:nvCxnSpPr>
              <p:cNvPr id="67" name="Connector: Elbow 67">
                <a:extLst>
                  <a:ext uri="{FF2B5EF4-FFF2-40B4-BE49-F238E27FC236}">
                    <a16:creationId xmlns:a16="http://schemas.microsoft.com/office/drawing/2014/main" id="{E5B3DC99-B42B-94BD-F66C-4E16839FA422}"/>
                  </a:ext>
                </a:extLst>
              </p:cNvPr>
              <p:cNvCxnSpPr>
                <a:cxnSpLocks/>
                <a:stCxn id="63" idx="3"/>
                <a:endCxn id="60" idx="2"/>
              </p:cNvCxnSpPr>
              <p:nvPr/>
            </p:nvCxnSpPr>
            <p:spPr>
              <a:xfrm flipV="1">
                <a:off x="9454168" y="3673316"/>
                <a:ext cx="422267" cy="112767"/>
              </a:xfrm>
              <a:prstGeom prst="bentConnector2">
                <a:avLst/>
              </a:prstGeom>
              <a:ln w="19050"/>
            </p:spPr>
            <p:style>
              <a:lnRef idx="1">
                <a:schemeClr val="accent1"/>
              </a:lnRef>
              <a:fillRef idx="0">
                <a:schemeClr val="accent1"/>
              </a:fillRef>
              <a:effectRef idx="0">
                <a:schemeClr val="accent1"/>
              </a:effectRef>
              <a:fontRef idx="minor">
                <a:schemeClr val="tx1"/>
              </a:fontRef>
            </p:style>
          </p:cxnSp>
          <p:cxnSp>
            <p:nvCxnSpPr>
              <p:cNvPr id="68" name="Connector: Elbow 68">
                <a:extLst>
                  <a:ext uri="{FF2B5EF4-FFF2-40B4-BE49-F238E27FC236}">
                    <a16:creationId xmlns:a16="http://schemas.microsoft.com/office/drawing/2014/main" id="{D95F56C8-C356-D719-FF83-5376297E7E55}"/>
                  </a:ext>
                </a:extLst>
              </p:cNvPr>
              <p:cNvCxnSpPr>
                <a:cxnSpLocks/>
                <a:stCxn id="63" idx="1"/>
                <a:endCxn id="58" idx="2"/>
              </p:cNvCxnSpPr>
              <p:nvPr/>
            </p:nvCxnSpPr>
            <p:spPr>
              <a:xfrm rot="10800000">
                <a:off x="8126199" y="3673317"/>
                <a:ext cx="417142" cy="112767"/>
              </a:xfrm>
              <a:prstGeom prst="bentConnector2">
                <a:avLst/>
              </a:prstGeom>
              <a:ln w="19050"/>
            </p:spPr>
            <p:style>
              <a:lnRef idx="1">
                <a:schemeClr val="accent1"/>
              </a:lnRef>
              <a:fillRef idx="0">
                <a:schemeClr val="accent1"/>
              </a:fillRef>
              <a:effectRef idx="0">
                <a:schemeClr val="accent1"/>
              </a:effectRef>
              <a:fontRef idx="minor">
                <a:schemeClr val="tx1"/>
              </a:fontRef>
            </p:style>
          </p:cxnSp>
        </p:grpSp>
        <p:sp>
          <p:nvSpPr>
            <p:cNvPr id="65" name="Rectangle: Rounded Corners 69">
              <a:extLst>
                <a:ext uri="{FF2B5EF4-FFF2-40B4-BE49-F238E27FC236}">
                  <a16:creationId xmlns:a16="http://schemas.microsoft.com/office/drawing/2014/main" id="{CB9091D7-FEF7-5CC8-01E9-011536B1CF32}"/>
                </a:ext>
              </a:extLst>
            </p:cNvPr>
            <p:cNvSpPr/>
            <p:nvPr/>
          </p:nvSpPr>
          <p:spPr>
            <a:xfrm>
              <a:off x="5862552" y="3261667"/>
              <a:ext cx="984118" cy="411187"/>
            </a:xfrm>
            <a:prstGeom prst="roundRect">
              <a:avLst>
                <a:gd name="adj" fmla="val 0"/>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60" tIns="47732" rIns="93260" bIns="91792" numCol="1" spcCol="0" rtlCol="0" fromWordArt="0" anchor="b" anchorCtr="0" forceAA="0" compatLnSpc="1">
              <a:prstTxWarp prst="textNoShape">
                <a:avLst/>
              </a:prstTxWarp>
              <a:noAutofit/>
            </a:bodyPr>
            <a:lstStyle/>
            <a:p>
              <a:pPr algn="ctr"/>
              <a:r>
                <a:rPr lang="en-GB" sz="1428">
                  <a:solidFill>
                    <a:schemeClr val="tx1"/>
                  </a:solidFill>
                </a:rPr>
                <a:t>Spec</a:t>
              </a:r>
            </a:p>
          </p:txBody>
        </p:sp>
        <p:pic>
          <p:nvPicPr>
            <p:cNvPr id="66" name="Graphic 65" descr="Document">
              <a:extLst>
                <a:ext uri="{FF2B5EF4-FFF2-40B4-BE49-F238E27FC236}">
                  <a16:creationId xmlns:a16="http://schemas.microsoft.com/office/drawing/2014/main" id="{FD0C334D-151B-5391-F6E1-266B3660BC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2552" y="2324141"/>
              <a:ext cx="1002242" cy="1002242"/>
            </a:xfrm>
            <a:prstGeom prst="rect">
              <a:avLst/>
            </a:prstGeom>
          </p:spPr>
        </p:pic>
      </p:grpSp>
    </p:spTree>
    <p:extLst>
      <p:ext uri="{BB962C8B-B14F-4D97-AF65-F5344CB8AC3E}">
        <p14:creationId xmlns:p14="http://schemas.microsoft.com/office/powerpoint/2010/main" val="20666546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22573D-C8F9-4892-9EC9-AF78BB43187F}"/>
              </a:ext>
            </a:extLst>
          </p:cNvPr>
          <p:cNvSpPr>
            <a:spLocks noGrp="1"/>
          </p:cNvSpPr>
          <p:nvPr>
            <p:ph type="title"/>
          </p:nvPr>
        </p:nvSpPr>
        <p:spPr>
          <a:xfrm>
            <a:off x="588263" y="453708"/>
            <a:ext cx="3182027" cy="575747"/>
          </a:xfrm>
        </p:spPr>
        <p:txBody>
          <a:bodyPr/>
          <a:lstStyle/>
          <a:p>
            <a:pPr algn="ctr"/>
            <a:r>
              <a:rPr lang="en-US" dirty="0">
                <a:solidFill>
                  <a:schemeClr val="bg1"/>
                </a:solidFill>
              </a:rPr>
              <a:t>Deployments</a:t>
            </a:r>
          </a:p>
        </p:txBody>
      </p:sp>
      <p:sp>
        <p:nvSpPr>
          <p:cNvPr id="102" name="TextBox 101">
            <a:extLst>
              <a:ext uri="{FF2B5EF4-FFF2-40B4-BE49-F238E27FC236}">
                <a16:creationId xmlns:a16="http://schemas.microsoft.com/office/drawing/2014/main" id="{CFD020BE-3316-4B0A-B611-6ECDDA323FD0}"/>
              </a:ext>
            </a:extLst>
          </p:cNvPr>
          <p:cNvSpPr txBox="1"/>
          <p:nvPr/>
        </p:nvSpPr>
        <p:spPr>
          <a:xfrm>
            <a:off x="4537178" y="251496"/>
            <a:ext cx="7654821" cy="1569660"/>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400" dirty="0">
                <a:solidFill>
                  <a:srgbClr val="222222"/>
                </a:solidFill>
              </a:rPr>
              <a:t>A </a:t>
            </a:r>
            <a:r>
              <a:rPr lang="en-US" sz="2400" b="1" dirty="0">
                <a:solidFill>
                  <a:srgbClr val="222222"/>
                </a:solidFill>
              </a:rPr>
              <a:t>Deployment</a:t>
            </a:r>
            <a:r>
              <a:rPr lang="en-US" sz="2400" dirty="0">
                <a:solidFill>
                  <a:srgbClr val="222222"/>
                </a:solidFill>
              </a:rPr>
              <a:t> is a higher-level controller that manages </a:t>
            </a:r>
            <a:r>
              <a:rPr lang="en-US" sz="2400" b="1" dirty="0" err="1">
                <a:solidFill>
                  <a:srgbClr val="222222"/>
                </a:solidFill>
              </a:rPr>
              <a:t>ReplicaSets</a:t>
            </a:r>
            <a:r>
              <a:rPr lang="en-US" sz="2400" dirty="0">
                <a:solidFill>
                  <a:srgbClr val="222222"/>
                </a:solidFill>
              </a:rPr>
              <a:t> and provides declarative updates to Pods along with a lot of other useful features.</a:t>
            </a:r>
          </a:p>
        </p:txBody>
      </p:sp>
      <p:pic>
        <p:nvPicPr>
          <p:cNvPr id="2" name="Picture 2">
            <a:extLst>
              <a:ext uri="{FF2B5EF4-FFF2-40B4-BE49-F238E27FC236}">
                <a16:creationId xmlns:a16="http://schemas.microsoft.com/office/drawing/2014/main" id="{829F8F5F-1B57-494F-8427-A54474A5DC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7672" y="5413578"/>
            <a:ext cx="766889" cy="74292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33AE0D3-CD51-4AB2-9C91-A03366E43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532" y="5413578"/>
            <a:ext cx="766889" cy="7429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4957F87-D66E-4DE4-9072-229396D688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8390" y="3978171"/>
            <a:ext cx="865451" cy="83840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31109279-5478-4834-BF82-BDBA14F813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6526" y="1278807"/>
            <a:ext cx="2229177" cy="2159513"/>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nector: Elbow 8">
            <a:extLst>
              <a:ext uri="{FF2B5EF4-FFF2-40B4-BE49-F238E27FC236}">
                <a16:creationId xmlns:a16="http://schemas.microsoft.com/office/drawing/2014/main" id="{FECB9A62-2580-4025-AAB9-2A13E6CFB61A}"/>
              </a:ext>
            </a:extLst>
          </p:cNvPr>
          <p:cNvCxnSpPr>
            <a:cxnSpLocks/>
            <a:stCxn id="5" idx="1"/>
            <a:endCxn id="3" idx="0"/>
          </p:cNvCxnSpPr>
          <p:nvPr/>
        </p:nvCxnSpPr>
        <p:spPr>
          <a:xfrm rot="10800000" flipV="1">
            <a:off x="877978" y="4397374"/>
            <a:ext cx="840413" cy="1016204"/>
          </a:xfrm>
          <a:prstGeom prst="bentConnector2">
            <a:avLst/>
          </a:prstGeom>
          <a:ln w="12700">
            <a:solidFill>
              <a:schemeClr val="bg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78FABFAC-424E-4229-A597-6A87F9A1992C}"/>
              </a:ext>
            </a:extLst>
          </p:cNvPr>
          <p:cNvCxnSpPr>
            <a:cxnSpLocks/>
            <a:stCxn id="5" idx="3"/>
            <a:endCxn id="53" idx="0"/>
          </p:cNvCxnSpPr>
          <p:nvPr/>
        </p:nvCxnSpPr>
        <p:spPr>
          <a:xfrm>
            <a:off x="2583841" y="4397374"/>
            <a:ext cx="878718" cy="1016204"/>
          </a:xfrm>
          <a:prstGeom prst="bentConnector2">
            <a:avLst/>
          </a:prstGeom>
          <a:ln w="12700">
            <a:solidFill>
              <a:schemeClr val="bg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FC21E0A-BB33-4E65-A8F5-4C93854F6806}"/>
              </a:ext>
            </a:extLst>
          </p:cNvPr>
          <p:cNvCxnSpPr>
            <a:cxnSpLocks/>
            <a:stCxn id="7" idx="2"/>
            <a:endCxn id="5" idx="0"/>
          </p:cNvCxnSpPr>
          <p:nvPr/>
        </p:nvCxnSpPr>
        <p:spPr>
          <a:xfrm>
            <a:off x="2151115" y="3438320"/>
            <a:ext cx="1" cy="539851"/>
          </a:xfrm>
          <a:prstGeom prst="straightConnector1">
            <a:avLst/>
          </a:prstGeom>
          <a:ln w="12700">
            <a:solidFill>
              <a:schemeClr val="bg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FBFCAA1-24A9-4B21-9600-9D8AD40DA7FD}"/>
              </a:ext>
            </a:extLst>
          </p:cNvPr>
          <p:cNvCxnSpPr>
            <a:cxnSpLocks/>
            <a:stCxn id="5" idx="2"/>
            <a:endCxn id="2" idx="0"/>
          </p:cNvCxnSpPr>
          <p:nvPr/>
        </p:nvCxnSpPr>
        <p:spPr>
          <a:xfrm>
            <a:off x="2151116" y="4816577"/>
            <a:ext cx="1" cy="597001"/>
          </a:xfrm>
          <a:prstGeom prst="straightConnector1">
            <a:avLst/>
          </a:prstGeom>
          <a:ln>
            <a:solidFill>
              <a:schemeClr val="bg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53" name="Picture 2">
            <a:extLst>
              <a:ext uri="{FF2B5EF4-FFF2-40B4-BE49-F238E27FC236}">
                <a16:creationId xmlns:a16="http://schemas.microsoft.com/office/drawing/2014/main" id="{0E1C035E-840E-4CD3-B730-BF4D359CC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114" y="5413578"/>
            <a:ext cx="766889" cy="74292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Text&#10;&#10;Description automatically generated">
            <a:extLst>
              <a:ext uri="{FF2B5EF4-FFF2-40B4-BE49-F238E27FC236}">
                <a16:creationId xmlns:a16="http://schemas.microsoft.com/office/drawing/2014/main" id="{0588AAE7-51C2-4847-A5EB-C6A98B62E67A}"/>
              </a:ext>
            </a:extLst>
          </p:cNvPr>
          <p:cNvPicPr>
            <a:picLocks noChangeAspect="1"/>
          </p:cNvPicPr>
          <p:nvPr/>
        </p:nvPicPr>
        <p:blipFill>
          <a:blip r:embed="rId6"/>
          <a:stretch>
            <a:fillRect/>
          </a:stretch>
        </p:blipFill>
        <p:spPr>
          <a:xfrm>
            <a:off x="9310708" y="1821156"/>
            <a:ext cx="2676899" cy="4553585"/>
          </a:xfrm>
          <a:prstGeom prst="rect">
            <a:avLst/>
          </a:prstGeom>
        </p:spPr>
      </p:pic>
      <p:sp>
        <p:nvSpPr>
          <p:cNvPr id="16" name="TextBox 15">
            <a:extLst>
              <a:ext uri="{FF2B5EF4-FFF2-40B4-BE49-F238E27FC236}">
                <a16:creationId xmlns:a16="http://schemas.microsoft.com/office/drawing/2014/main" id="{BBA79198-A12A-4189-A551-EFB91B84054F}"/>
              </a:ext>
            </a:extLst>
          </p:cNvPr>
          <p:cNvSpPr txBox="1"/>
          <p:nvPr/>
        </p:nvSpPr>
        <p:spPr>
          <a:xfrm>
            <a:off x="4518589" y="1821156"/>
            <a:ext cx="4587728" cy="4308872"/>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400" dirty="0">
                <a:solidFill>
                  <a:srgbClr val="222222"/>
                </a:solidFill>
              </a:rPr>
              <a:t>You describe a </a:t>
            </a:r>
            <a:r>
              <a:rPr lang="en-US" sz="2400" i="1" u="sng" dirty="0">
                <a:solidFill>
                  <a:srgbClr val="222222"/>
                </a:solidFill>
              </a:rPr>
              <a:t>desired state </a:t>
            </a:r>
            <a:r>
              <a:rPr lang="en-US" sz="2400" dirty="0">
                <a:solidFill>
                  <a:srgbClr val="222222"/>
                </a:solidFill>
              </a:rPr>
              <a:t>in a </a:t>
            </a:r>
            <a:r>
              <a:rPr lang="en-US" sz="2400" b="1" dirty="0">
                <a:solidFill>
                  <a:srgbClr val="222222"/>
                </a:solidFill>
              </a:rPr>
              <a:t>Deployment</a:t>
            </a:r>
            <a:r>
              <a:rPr lang="en-US" sz="2400" dirty="0">
                <a:solidFill>
                  <a:srgbClr val="222222"/>
                </a:solidFill>
              </a:rPr>
              <a:t>, and the Deployment Controller changes the actual state to the desired state at a controlled rate.</a:t>
            </a:r>
          </a:p>
          <a:p>
            <a:pPr marL="285750" indent="-285750">
              <a:spcAft>
                <a:spcPts val="1200"/>
              </a:spcAft>
              <a:buFont typeface="Arial" panose="020B0604020202020204" pitchFamily="34" charset="0"/>
              <a:buChar char="•"/>
            </a:pPr>
            <a:r>
              <a:rPr lang="en-US" sz="2400" dirty="0">
                <a:solidFill>
                  <a:srgbClr val="222222"/>
                </a:solidFill>
              </a:rPr>
              <a:t>Deployments provide fine-grained control over how and when a new pod version is rolled out as well as rolled back to a previous state</a:t>
            </a:r>
          </a:p>
        </p:txBody>
      </p:sp>
    </p:spTree>
    <p:extLst>
      <p:ext uri="{BB962C8B-B14F-4D97-AF65-F5344CB8AC3E}">
        <p14:creationId xmlns:p14="http://schemas.microsoft.com/office/powerpoint/2010/main" val="6666604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4F132C61-53E3-81C6-22CB-D7084A4E4DFD}"/>
              </a:ext>
            </a:extLst>
          </p:cNvPr>
          <p:cNvSpPr/>
          <p:nvPr/>
        </p:nvSpPr>
        <p:spPr bwMode="auto">
          <a:xfrm>
            <a:off x="5671446" y="4199719"/>
            <a:ext cx="2566189" cy="1339694"/>
          </a:xfrm>
          <a:prstGeom prst="roundRect">
            <a:avLst>
              <a:gd name="adj" fmla="val 3125"/>
            </a:avLst>
          </a:prstGeom>
          <a:solidFill>
            <a:schemeClr val="accent1"/>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D947E60B-2FB8-472C-9E3A-2C8B08BBC4A5}"/>
              </a:ext>
            </a:extLst>
          </p:cNvPr>
          <p:cNvSpPr>
            <a:spLocks noGrp="1"/>
          </p:cNvSpPr>
          <p:nvPr>
            <p:ph type="title"/>
          </p:nvPr>
        </p:nvSpPr>
        <p:spPr/>
        <p:txBody>
          <a:bodyPr/>
          <a:lstStyle/>
          <a:p>
            <a:r>
              <a:rPr lang="en-US" dirty="0">
                <a:solidFill>
                  <a:schemeClr val="bg1"/>
                </a:solidFill>
              </a:rPr>
              <a:t>Deployment at Work</a:t>
            </a:r>
          </a:p>
        </p:txBody>
      </p:sp>
      <p:sp>
        <p:nvSpPr>
          <p:cNvPr id="6" name="Title 16">
            <a:extLst>
              <a:ext uri="{FF2B5EF4-FFF2-40B4-BE49-F238E27FC236}">
                <a16:creationId xmlns:a16="http://schemas.microsoft.com/office/drawing/2014/main" id="{370AE869-264B-4B66-A87F-F15713E3713E}"/>
              </a:ext>
            </a:extLst>
          </p:cNvPr>
          <p:cNvSpPr txBox="1">
            <a:spLocks/>
          </p:cNvSpPr>
          <p:nvPr/>
        </p:nvSpPr>
        <p:spPr>
          <a:xfrm>
            <a:off x="376322" y="1458793"/>
            <a:ext cx="5020678" cy="4924425"/>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marL="274320" marR="0" lvl="0" indent="-274320" algn="l" defTabSz="932742" rtl="0" eaLnBrk="1" fontAlgn="auto" latinLnBrk="0" hangingPunct="1">
              <a:lnSpc>
                <a:spcPct val="100000"/>
              </a:lnSpc>
              <a:spcBef>
                <a:spcPct val="0"/>
              </a:spcBef>
              <a:spcAft>
                <a:spcPts val="0"/>
              </a:spcAft>
              <a:buClrTx/>
              <a:buSzTx/>
              <a:buFont typeface="+mj-lt"/>
              <a:buAutoNum type="arabicPeriod"/>
              <a:tabLst/>
              <a:defRPr/>
            </a:pPr>
            <a:r>
              <a:rPr kumimoji="0" lang="en-US" sz="2000" b="0" i="0" u="none" strike="noStrike" kern="1200" cap="none" spc="0" normalizeH="0" baseline="0" noProof="0" dirty="0">
                <a:ln w="3175">
                  <a:noFill/>
                </a:ln>
                <a:solidFill>
                  <a:schemeClr val="tx1"/>
                </a:solidFill>
                <a:effectLst/>
                <a:uLnTx/>
                <a:uFillTx/>
                <a:latin typeface="Segoe UI" panose="020B0502040204020203" pitchFamily="34" charset="0"/>
                <a:ea typeface="+mn-ea"/>
                <a:cs typeface="Segoe UI" pitchFamily="34" charset="0"/>
              </a:rPr>
              <a:t>Let’s say</a:t>
            </a:r>
            <a:r>
              <a:rPr kumimoji="0" lang="en-US" sz="2000" b="0" i="0" u="none" strike="noStrike" kern="1200" cap="none" spc="0" normalizeH="0" noProof="0" dirty="0">
                <a:ln w="3175">
                  <a:noFill/>
                </a:ln>
                <a:solidFill>
                  <a:schemeClr val="tx1"/>
                </a:solidFill>
                <a:effectLst/>
                <a:uLnTx/>
                <a:uFillTx/>
                <a:latin typeface="Segoe UI" panose="020B0502040204020203" pitchFamily="34" charset="0"/>
                <a:ea typeface="+mn-ea"/>
                <a:cs typeface="Segoe UI" pitchFamily="34" charset="0"/>
              </a:rPr>
              <a:t> we are running a deployment with 2 replicas of a pod.  </a:t>
            </a:r>
            <a:r>
              <a:rPr lang="en-US" sz="2000" b="0" spc="0" dirty="0">
                <a:solidFill>
                  <a:schemeClr val="tx1"/>
                </a:solidFill>
                <a:latin typeface="Segoe UI" panose="020B0502040204020203" pitchFamily="34" charset="0"/>
              </a:rPr>
              <a:t>For illustration, </a:t>
            </a:r>
            <a:r>
              <a:rPr kumimoji="0" lang="en-US" sz="2000" b="0" i="0" u="none" strike="noStrike" kern="1200" cap="none" spc="0" normalizeH="0" noProof="0" dirty="0">
                <a:ln w="3175">
                  <a:noFill/>
                </a:ln>
                <a:solidFill>
                  <a:schemeClr val="tx1"/>
                </a:solidFill>
                <a:effectLst/>
                <a:uLnTx/>
                <a:uFillTx/>
                <a:latin typeface="Segoe UI" panose="020B0502040204020203" pitchFamily="34" charset="0"/>
                <a:ea typeface="+mn-ea"/>
                <a:cs typeface="Segoe UI" pitchFamily="34" charset="0"/>
              </a:rPr>
              <a:t>our deployment is designated with a </a:t>
            </a:r>
            <a:r>
              <a:rPr kumimoji="0" lang="en-US" sz="2000" b="0" i="0" u="none" strike="noStrike" kern="1200" cap="none" spc="0" normalizeH="0" noProof="0" dirty="0">
                <a:ln w="3175">
                  <a:noFill/>
                </a:ln>
                <a:solidFill>
                  <a:schemeClr val="tx1"/>
                </a:solidFill>
                <a:effectLst/>
                <a:highlight>
                  <a:srgbClr val="FFFF00"/>
                </a:highlight>
                <a:uLnTx/>
                <a:uFillTx/>
                <a:latin typeface="Segoe UI" panose="020B0502040204020203" pitchFamily="34" charset="0"/>
                <a:ea typeface="+mn-ea"/>
                <a:cs typeface="Segoe UI" pitchFamily="34" charset="0"/>
              </a:rPr>
              <a:t>yellow</a:t>
            </a:r>
            <a:r>
              <a:rPr kumimoji="0" lang="en-US" sz="2000" b="0" i="0" u="none" strike="noStrike" kern="1200" cap="none" spc="0" normalizeH="0" noProof="0" dirty="0">
                <a:ln w="3175">
                  <a:noFill/>
                </a:ln>
                <a:solidFill>
                  <a:schemeClr val="tx1"/>
                </a:solidFill>
                <a:effectLst/>
                <a:uLnTx/>
                <a:uFillTx/>
                <a:latin typeface="Segoe UI" panose="020B0502040204020203" pitchFamily="34" charset="0"/>
                <a:ea typeface="+mn-ea"/>
                <a:cs typeface="Segoe UI" pitchFamily="34" charset="0"/>
              </a:rPr>
              <a:t> background.</a:t>
            </a:r>
          </a:p>
          <a:p>
            <a:pPr marL="274320" indent="-274320">
              <a:buFont typeface="+mj-lt"/>
              <a:buAutoNum type="arabicPeriod"/>
              <a:defRPr/>
            </a:pPr>
            <a:endParaRPr lang="en-US" sz="2000" b="0" spc="0" dirty="0">
              <a:solidFill>
                <a:schemeClr val="tx1"/>
              </a:solidFill>
              <a:latin typeface="Segoe UI" panose="020B0502040204020203" pitchFamily="34" charset="0"/>
            </a:endParaRPr>
          </a:p>
          <a:p>
            <a:pPr marL="274320" indent="-274320">
              <a:buFont typeface="+mj-lt"/>
              <a:buAutoNum type="arabicPeriod"/>
              <a:defRPr/>
            </a:pPr>
            <a:r>
              <a:rPr lang="en-US" sz="2000" b="0" spc="0" dirty="0">
                <a:solidFill>
                  <a:schemeClr val="tx1"/>
                </a:solidFill>
                <a:latin typeface="Segoe UI" panose="020B0502040204020203" pitchFamily="34" charset="0"/>
              </a:rPr>
              <a:t>Developer makes the change to the deployment image tag and to sets the background to </a:t>
            </a:r>
            <a:r>
              <a:rPr lang="en-US" sz="2000" b="0" spc="0" dirty="0">
                <a:solidFill>
                  <a:schemeClr val="tx1"/>
                </a:solidFill>
                <a:highlight>
                  <a:srgbClr val="00FF00"/>
                </a:highlight>
                <a:latin typeface="Segoe UI" panose="020B0502040204020203" pitchFamily="34" charset="0"/>
              </a:rPr>
              <a:t>green</a:t>
            </a:r>
          </a:p>
          <a:p>
            <a:pPr marL="274320" marR="0" lvl="0" indent="-274320" algn="l" defTabSz="932742" rtl="0" eaLnBrk="1" fontAlgn="auto" latinLnBrk="0" hangingPunct="1">
              <a:lnSpc>
                <a:spcPct val="100000"/>
              </a:lnSpc>
              <a:spcBef>
                <a:spcPct val="0"/>
              </a:spcBef>
              <a:spcAft>
                <a:spcPts val="0"/>
              </a:spcAft>
              <a:buClrTx/>
              <a:buSzTx/>
              <a:buFont typeface="+mj-lt"/>
              <a:buAutoNum type="arabicPeriod"/>
              <a:tabLst/>
              <a:defRPr/>
            </a:pPr>
            <a:endParaRPr kumimoji="0" lang="en-US" sz="2000" i="0" u="none" strike="noStrike" kern="1200" cap="none" spc="0" normalizeH="0" baseline="0" noProof="0" dirty="0">
              <a:ln w="3175">
                <a:noFill/>
              </a:ln>
              <a:solidFill>
                <a:schemeClr val="tx1"/>
              </a:solidFill>
              <a:effectLst/>
              <a:uLnTx/>
              <a:uFillTx/>
              <a:latin typeface="Segoe UI" panose="020B0502040204020203" pitchFamily="34" charset="0"/>
              <a:ea typeface="+mn-ea"/>
              <a:cs typeface="Segoe UI" pitchFamily="34" charset="0"/>
            </a:endParaRPr>
          </a:p>
          <a:p>
            <a:pPr marL="274320" indent="-274320">
              <a:buFont typeface="+mj-lt"/>
              <a:buAutoNum type="arabicPeriod"/>
              <a:defRPr/>
            </a:pPr>
            <a:r>
              <a:rPr lang="en-US" sz="2000" b="0" spc="0" dirty="0">
                <a:solidFill>
                  <a:schemeClr val="tx1"/>
                </a:solidFill>
                <a:latin typeface="Segoe UI" panose="020B0502040204020203" pitchFamily="34" charset="0"/>
              </a:rPr>
              <a:t>The Deployment creates a </a:t>
            </a:r>
            <a:r>
              <a:rPr lang="en-US" sz="2000" b="0" spc="0" dirty="0" err="1">
                <a:solidFill>
                  <a:schemeClr val="tx1"/>
                </a:solidFill>
                <a:latin typeface="Segoe UI" panose="020B0502040204020203" pitchFamily="34" charset="0"/>
              </a:rPr>
              <a:t>ReplicaSet</a:t>
            </a:r>
            <a:r>
              <a:rPr lang="en-US" sz="2000" b="0" spc="0" dirty="0">
                <a:solidFill>
                  <a:schemeClr val="tx1"/>
                </a:solidFill>
                <a:latin typeface="Segoe UI" panose="020B0502040204020203" pitchFamily="34" charset="0"/>
              </a:rPr>
              <a:t> v2, which will create 2 new Pods with the updated image.</a:t>
            </a:r>
          </a:p>
          <a:p>
            <a:pPr marL="274320" indent="-274320">
              <a:buFont typeface="+mj-lt"/>
              <a:buAutoNum type="arabicPeriod"/>
              <a:defRPr/>
            </a:pPr>
            <a:endParaRPr lang="en-US" sz="2000" b="0" spc="0" dirty="0">
              <a:solidFill>
                <a:schemeClr val="tx1"/>
              </a:solidFill>
              <a:latin typeface="Segoe UI" panose="020B0502040204020203" pitchFamily="34" charset="0"/>
            </a:endParaRPr>
          </a:p>
          <a:p>
            <a:pPr marL="274320" indent="-274320">
              <a:buFont typeface="+mj-lt"/>
              <a:buAutoNum type="arabicPeriod"/>
              <a:defRPr/>
            </a:pPr>
            <a:r>
              <a:rPr lang="en-US" sz="2000" b="0" spc="0" dirty="0">
                <a:solidFill>
                  <a:schemeClr val="tx1"/>
                </a:solidFill>
                <a:latin typeface="Segoe UI" panose="020B0502040204020203" pitchFamily="34" charset="0"/>
              </a:rPr>
              <a:t>Once the new Pods are up and running, the Pods attached to </a:t>
            </a:r>
            <a:r>
              <a:rPr lang="en-US" sz="2000" b="0" spc="0" dirty="0" err="1">
                <a:solidFill>
                  <a:schemeClr val="tx1"/>
                </a:solidFill>
                <a:latin typeface="Segoe UI" panose="020B0502040204020203" pitchFamily="34" charset="0"/>
              </a:rPr>
              <a:t>ReplicaSet</a:t>
            </a:r>
            <a:r>
              <a:rPr lang="en-US" sz="2000" b="0" spc="0" dirty="0">
                <a:solidFill>
                  <a:schemeClr val="tx1"/>
                </a:solidFill>
                <a:latin typeface="Segoe UI" panose="020B0502040204020203" pitchFamily="34" charset="0"/>
              </a:rPr>
              <a:t> v1 are deleted.</a:t>
            </a:r>
            <a:endParaRPr kumimoji="0" lang="en-US" sz="2000" i="0" u="none" strike="noStrike" kern="1200" cap="none" spc="0" normalizeH="0" baseline="0" noProof="0" dirty="0">
              <a:ln w="3175">
                <a:noFill/>
              </a:ln>
              <a:solidFill>
                <a:schemeClr val="tx1"/>
              </a:solidFill>
              <a:effectLst/>
              <a:uLnTx/>
              <a:uFillTx/>
              <a:latin typeface="Segoe UI" panose="020B0502040204020203" pitchFamily="34" charset="0"/>
              <a:ea typeface="+mn-ea"/>
              <a:cs typeface="Segoe UI" pitchFamily="34" charset="0"/>
            </a:endParaRPr>
          </a:p>
        </p:txBody>
      </p:sp>
      <p:sp>
        <p:nvSpPr>
          <p:cNvPr id="10" name="Rectangle 9">
            <a:extLst>
              <a:ext uri="{FF2B5EF4-FFF2-40B4-BE49-F238E27FC236}">
                <a16:creationId xmlns:a16="http://schemas.microsoft.com/office/drawing/2014/main" id="{5C0E9471-AA14-47C4-8735-ADF7FF41CE5B}"/>
              </a:ext>
            </a:extLst>
          </p:cNvPr>
          <p:cNvSpPr/>
          <p:nvPr/>
        </p:nvSpPr>
        <p:spPr bwMode="auto">
          <a:xfrm>
            <a:off x="7250662" y="3496757"/>
            <a:ext cx="143010" cy="160345"/>
          </a:xfrm>
          <a:prstGeom prst="rect">
            <a:avLst/>
          </a:prstGeom>
          <a:solidFill>
            <a:srgbClr val="FCFD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97FAF351-454F-4C4D-B869-37600926BEAC}"/>
              </a:ext>
            </a:extLst>
          </p:cNvPr>
          <p:cNvSpPr/>
          <p:nvPr/>
        </p:nvSpPr>
        <p:spPr bwMode="auto">
          <a:xfrm>
            <a:off x="10560998" y="3616928"/>
            <a:ext cx="143010" cy="160345"/>
          </a:xfrm>
          <a:prstGeom prst="rect">
            <a:avLst/>
          </a:prstGeom>
          <a:solidFill>
            <a:srgbClr val="F9FA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Title 1">
            <a:extLst>
              <a:ext uri="{FF2B5EF4-FFF2-40B4-BE49-F238E27FC236}">
                <a16:creationId xmlns:a16="http://schemas.microsoft.com/office/drawing/2014/main" id="{7D1C5143-9E83-4D33-9936-0785CFA88A97}"/>
              </a:ext>
            </a:extLst>
          </p:cNvPr>
          <p:cNvSpPr txBox="1">
            <a:spLocks/>
          </p:cNvSpPr>
          <p:nvPr/>
        </p:nvSpPr>
        <p:spPr>
          <a:xfrm>
            <a:off x="5715391" y="5566978"/>
            <a:ext cx="1697171" cy="153888"/>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Worker node 1</a:t>
            </a:r>
          </a:p>
        </p:txBody>
      </p:sp>
      <p:sp>
        <p:nvSpPr>
          <p:cNvPr id="14" name="Rectangle 13">
            <a:extLst>
              <a:ext uri="{FF2B5EF4-FFF2-40B4-BE49-F238E27FC236}">
                <a16:creationId xmlns:a16="http://schemas.microsoft.com/office/drawing/2014/main" id="{39CD82A6-ECB8-4610-9879-BB0EE5C24E8B}"/>
              </a:ext>
            </a:extLst>
          </p:cNvPr>
          <p:cNvSpPr/>
          <p:nvPr/>
        </p:nvSpPr>
        <p:spPr bwMode="auto">
          <a:xfrm>
            <a:off x="6540563" y="3536756"/>
            <a:ext cx="143010" cy="160345"/>
          </a:xfrm>
          <a:prstGeom prst="rect">
            <a:avLst/>
          </a:prstGeom>
          <a:solidFill>
            <a:srgbClr val="FCFD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14">
            <a:extLst>
              <a:ext uri="{FF2B5EF4-FFF2-40B4-BE49-F238E27FC236}">
                <a16:creationId xmlns:a16="http://schemas.microsoft.com/office/drawing/2014/main" id="{3FE2B949-92B2-4260-815B-38A88AC9EDAB}"/>
              </a:ext>
            </a:extLst>
          </p:cNvPr>
          <p:cNvSpPr/>
          <p:nvPr/>
        </p:nvSpPr>
        <p:spPr bwMode="auto">
          <a:xfrm>
            <a:off x="6229262" y="3840834"/>
            <a:ext cx="143010" cy="160345"/>
          </a:xfrm>
          <a:prstGeom prst="rect">
            <a:avLst/>
          </a:prstGeom>
          <a:solidFill>
            <a:srgbClr val="FCFD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Rectangle: Rounded Corners 15">
            <a:extLst>
              <a:ext uri="{FF2B5EF4-FFF2-40B4-BE49-F238E27FC236}">
                <a16:creationId xmlns:a16="http://schemas.microsoft.com/office/drawing/2014/main" id="{C22FDC82-98E1-4A59-BBF0-A0A8BD92C668}"/>
              </a:ext>
            </a:extLst>
          </p:cNvPr>
          <p:cNvSpPr/>
          <p:nvPr/>
        </p:nvSpPr>
        <p:spPr bwMode="auto">
          <a:xfrm>
            <a:off x="5805698" y="4390486"/>
            <a:ext cx="2301114" cy="1009739"/>
          </a:xfrm>
          <a:prstGeom prst="roundRect">
            <a:avLst>
              <a:gd name="adj" fmla="val 3125"/>
            </a:avLst>
          </a:prstGeom>
          <a:solidFill>
            <a:schemeClr val="bg1"/>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17" name="Title 1">
            <a:extLst>
              <a:ext uri="{FF2B5EF4-FFF2-40B4-BE49-F238E27FC236}">
                <a16:creationId xmlns:a16="http://schemas.microsoft.com/office/drawing/2014/main" id="{BA890C61-C8D2-49CD-BB89-9124050848AB}"/>
              </a:ext>
            </a:extLst>
          </p:cNvPr>
          <p:cNvSpPr txBox="1">
            <a:spLocks/>
          </p:cNvSpPr>
          <p:nvPr/>
        </p:nvSpPr>
        <p:spPr>
          <a:xfrm>
            <a:off x="5813083" y="5397553"/>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err="1">
                <a:ln w="3175">
                  <a:noFill/>
                </a:ln>
                <a:solidFill>
                  <a:schemeClr val="bg1"/>
                </a:solidFill>
                <a:effectLst/>
                <a:uLnTx/>
                <a:uFillTx/>
                <a:latin typeface="Segoe UI Semibold" panose="020B0702040204020203" pitchFamily="34" charset="0"/>
                <a:ea typeface="+mn-ea"/>
                <a:cs typeface="Segoe UI Semibold" panose="020B0702040204020203" pitchFamily="34" charset="0"/>
              </a:rPr>
              <a:t>containerd</a:t>
            </a:r>
            <a:endParaRPr kumimoji="0" lang="en-US" sz="800" b="0" i="0" u="none"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endParaRPr>
          </a:p>
        </p:txBody>
      </p:sp>
      <p:sp>
        <p:nvSpPr>
          <p:cNvPr id="18" name="Rectangle: Rounded Corners 17">
            <a:extLst>
              <a:ext uri="{FF2B5EF4-FFF2-40B4-BE49-F238E27FC236}">
                <a16:creationId xmlns:a16="http://schemas.microsoft.com/office/drawing/2014/main" id="{8406358A-BC0E-4B62-92EA-7CAF0B5080F3}"/>
              </a:ext>
            </a:extLst>
          </p:cNvPr>
          <p:cNvSpPr/>
          <p:nvPr/>
        </p:nvSpPr>
        <p:spPr bwMode="auto">
          <a:xfrm>
            <a:off x="5925776" y="4708587"/>
            <a:ext cx="968156" cy="546759"/>
          </a:xfrm>
          <a:prstGeom prst="roundRect">
            <a:avLst>
              <a:gd name="adj" fmla="val 3125"/>
            </a:avLst>
          </a:prstGeom>
          <a:solidFill>
            <a:srgbClr val="FEF000"/>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19" name="Rectangle: Rounded Corners 18">
            <a:extLst>
              <a:ext uri="{FF2B5EF4-FFF2-40B4-BE49-F238E27FC236}">
                <a16:creationId xmlns:a16="http://schemas.microsoft.com/office/drawing/2014/main" id="{190952E3-BB18-4BB3-AF14-D544476D761C}"/>
              </a:ext>
            </a:extLst>
          </p:cNvPr>
          <p:cNvSpPr/>
          <p:nvPr/>
        </p:nvSpPr>
        <p:spPr bwMode="auto">
          <a:xfrm>
            <a:off x="7018579" y="4708587"/>
            <a:ext cx="968156" cy="546759"/>
          </a:xfrm>
          <a:prstGeom prst="roundRect">
            <a:avLst>
              <a:gd name="adj" fmla="val 3125"/>
            </a:avLst>
          </a:prstGeom>
          <a:solidFill>
            <a:srgbClr val="9BF00B"/>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20" name="Title 1">
            <a:extLst>
              <a:ext uri="{FF2B5EF4-FFF2-40B4-BE49-F238E27FC236}">
                <a16:creationId xmlns:a16="http://schemas.microsoft.com/office/drawing/2014/main" id="{63304F73-5FE5-4E9D-82AE-1966680B4653}"/>
              </a:ext>
            </a:extLst>
          </p:cNvPr>
          <p:cNvSpPr txBox="1">
            <a:spLocks/>
          </p:cNvSpPr>
          <p:nvPr/>
        </p:nvSpPr>
        <p:spPr>
          <a:xfrm>
            <a:off x="5925776" y="4535365"/>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Pod</a:t>
            </a:r>
          </a:p>
        </p:txBody>
      </p:sp>
      <p:sp>
        <p:nvSpPr>
          <p:cNvPr id="21" name="Title 1">
            <a:extLst>
              <a:ext uri="{FF2B5EF4-FFF2-40B4-BE49-F238E27FC236}">
                <a16:creationId xmlns:a16="http://schemas.microsoft.com/office/drawing/2014/main" id="{1AC4EF1D-37BF-4C8F-A907-869AF2670F88}"/>
              </a:ext>
            </a:extLst>
          </p:cNvPr>
          <p:cNvSpPr txBox="1">
            <a:spLocks/>
          </p:cNvSpPr>
          <p:nvPr/>
        </p:nvSpPr>
        <p:spPr>
          <a:xfrm>
            <a:off x="7018579" y="4535365"/>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Pod</a:t>
            </a:r>
          </a:p>
        </p:txBody>
      </p:sp>
      <p:sp>
        <p:nvSpPr>
          <p:cNvPr id="22" name="Title 1">
            <a:extLst>
              <a:ext uri="{FF2B5EF4-FFF2-40B4-BE49-F238E27FC236}">
                <a16:creationId xmlns:a16="http://schemas.microsoft.com/office/drawing/2014/main" id="{D8B5AAE8-057F-458E-B7FE-5C2993007A54}"/>
              </a:ext>
            </a:extLst>
          </p:cNvPr>
          <p:cNvSpPr txBox="1">
            <a:spLocks/>
          </p:cNvSpPr>
          <p:nvPr/>
        </p:nvSpPr>
        <p:spPr>
          <a:xfrm>
            <a:off x="6109111" y="4761438"/>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Containers</a:t>
            </a:r>
          </a:p>
        </p:txBody>
      </p:sp>
      <p:sp>
        <p:nvSpPr>
          <p:cNvPr id="23" name="Title 1">
            <a:extLst>
              <a:ext uri="{FF2B5EF4-FFF2-40B4-BE49-F238E27FC236}">
                <a16:creationId xmlns:a16="http://schemas.microsoft.com/office/drawing/2014/main" id="{B084C96C-300E-498B-AF2A-D988F98D9C71}"/>
              </a:ext>
            </a:extLst>
          </p:cNvPr>
          <p:cNvSpPr txBox="1">
            <a:spLocks/>
          </p:cNvSpPr>
          <p:nvPr/>
        </p:nvSpPr>
        <p:spPr>
          <a:xfrm>
            <a:off x="7201914" y="4761438"/>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Containers</a:t>
            </a:r>
          </a:p>
        </p:txBody>
      </p:sp>
      <p:grpSp>
        <p:nvGrpSpPr>
          <p:cNvPr id="24" name="Group 23">
            <a:extLst>
              <a:ext uri="{FF2B5EF4-FFF2-40B4-BE49-F238E27FC236}">
                <a16:creationId xmlns:a16="http://schemas.microsoft.com/office/drawing/2014/main" id="{17E091E1-B774-464D-9131-ED8EA5D88DB6}"/>
              </a:ext>
            </a:extLst>
          </p:cNvPr>
          <p:cNvGrpSpPr/>
          <p:nvPr/>
        </p:nvGrpSpPr>
        <p:grpSpPr>
          <a:xfrm>
            <a:off x="6072846" y="4945536"/>
            <a:ext cx="674025" cy="200439"/>
            <a:chOff x="8773830" y="4177977"/>
            <a:chExt cx="757294" cy="225202"/>
          </a:xfrm>
        </p:grpSpPr>
        <p:sp>
          <p:nvSpPr>
            <p:cNvPr id="25" name="Freeform: Shape 24">
              <a:extLst>
                <a:ext uri="{FF2B5EF4-FFF2-40B4-BE49-F238E27FC236}">
                  <a16:creationId xmlns:a16="http://schemas.microsoft.com/office/drawing/2014/main" id="{459A73A7-CB80-41C7-87BB-DE97880D4789}"/>
                </a:ext>
              </a:extLst>
            </p:cNvPr>
            <p:cNvSpPr/>
            <p:nvPr/>
          </p:nvSpPr>
          <p:spPr>
            <a:xfrm>
              <a:off x="877383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9E1FFC2F-E343-44D0-9667-ED77848408C8}"/>
                </a:ext>
              </a:extLst>
            </p:cNvPr>
            <p:cNvSpPr/>
            <p:nvPr/>
          </p:nvSpPr>
          <p:spPr>
            <a:xfrm>
              <a:off x="904974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6358465E-7890-4E5A-AFA0-A622CD38F5EB}"/>
                </a:ext>
              </a:extLst>
            </p:cNvPr>
            <p:cNvSpPr/>
            <p:nvPr/>
          </p:nvSpPr>
          <p:spPr>
            <a:xfrm>
              <a:off x="932565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8" name="Group 27">
            <a:extLst>
              <a:ext uri="{FF2B5EF4-FFF2-40B4-BE49-F238E27FC236}">
                <a16:creationId xmlns:a16="http://schemas.microsoft.com/office/drawing/2014/main" id="{40D40C37-70F3-4020-9009-D8797F8EC156}"/>
              </a:ext>
            </a:extLst>
          </p:cNvPr>
          <p:cNvGrpSpPr/>
          <p:nvPr/>
        </p:nvGrpSpPr>
        <p:grpSpPr>
          <a:xfrm>
            <a:off x="7165637" y="4945536"/>
            <a:ext cx="674040" cy="200439"/>
            <a:chOff x="8773830" y="4177977"/>
            <a:chExt cx="757312" cy="225202"/>
          </a:xfrm>
        </p:grpSpPr>
        <p:sp>
          <p:nvSpPr>
            <p:cNvPr id="29" name="Freeform: Shape 28">
              <a:extLst>
                <a:ext uri="{FF2B5EF4-FFF2-40B4-BE49-F238E27FC236}">
                  <a16:creationId xmlns:a16="http://schemas.microsoft.com/office/drawing/2014/main" id="{64396088-A5BA-4B46-810D-D82EAA928307}"/>
                </a:ext>
              </a:extLst>
            </p:cNvPr>
            <p:cNvSpPr/>
            <p:nvPr/>
          </p:nvSpPr>
          <p:spPr>
            <a:xfrm>
              <a:off x="877383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FD56F370-D824-4142-8E06-4B9110EE2079}"/>
                </a:ext>
              </a:extLst>
            </p:cNvPr>
            <p:cNvSpPr/>
            <p:nvPr/>
          </p:nvSpPr>
          <p:spPr>
            <a:xfrm>
              <a:off x="904974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F903F81-F30D-4A25-BF77-E8AB6CEDC8D9}"/>
                </a:ext>
              </a:extLst>
            </p:cNvPr>
            <p:cNvSpPr/>
            <p:nvPr/>
          </p:nvSpPr>
          <p:spPr>
            <a:xfrm>
              <a:off x="932565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32" name="Rectangle: Rounded Corners 31">
            <a:extLst>
              <a:ext uri="{FF2B5EF4-FFF2-40B4-BE49-F238E27FC236}">
                <a16:creationId xmlns:a16="http://schemas.microsoft.com/office/drawing/2014/main" id="{76B7F8B4-B6B4-4271-B448-79D8E6F41DBF}"/>
              </a:ext>
            </a:extLst>
          </p:cNvPr>
          <p:cNvSpPr/>
          <p:nvPr/>
        </p:nvSpPr>
        <p:spPr bwMode="auto">
          <a:xfrm>
            <a:off x="8767589" y="4206383"/>
            <a:ext cx="2566189" cy="1339694"/>
          </a:xfrm>
          <a:prstGeom prst="roundRect">
            <a:avLst>
              <a:gd name="adj" fmla="val 3125"/>
            </a:avLst>
          </a:prstGeom>
          <a:solidFill>
            <a:schemeClr val="accent1"/>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33" name="Title 1">
            <a:extLst>
              <a:ext uri="{FF2B5EF4-FFF2-40B4-BE49-F238E27FC236}">
                <a16:creationId xmlns:a16="http://schemas.microsoft.com/office/drawing/2014/main" id="{5703E71A-0FC0-4D47-8D8C-782BFA88F3F6}"/>
              </a:ext>
            </a:extLst>
          </p:cNvPr>
          <p:cNvSpPr txBox="1">
            <a:spLocks/>
          </p:cNvSpPr>
          <p:nvPr/>
        </p:nvSpPr>
        <p:spPr>
          <a:xfrm>
            <a:off x="8809819" y="5564438"/>
            <a:ext cx="1697171" cy="153888"/>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Worker node 2</a:t>
            </a:r>
          </a:p>
        </p:txBody>
      </p:sp>
      <p:sp>
        <p:nvSpPr>
          <p:cNvPr id="34" name="Rectangle 33">
            <a:extLst>
              <a:ext uri="{FF2B5EF4-FFF2-40B4-BE49-F238E27FC236}">
                <a16:creationId xmlns:a16="http://schemas.microsoft.com/office/drawing/2014/main" id="{9A0E35A8-88E7-4544-AE09-234C3571A7F8}"/>
              </a:ext>
            </a:extLst>
          </p:cNvPr>
          <p:cNvSpPr/>
          <p:nvPr/>
        </p:nvSpPr>
        <p:spPr bwMode="auto">
          <a:xfrm>
            <a:off x="9634991" y="3526596"/>
            <a:ext cx="143010" cy="160345"/>
          </a:xfrm>
          <a:prstGeom prst="rect">
            <a:avLst/>
          </a:prstGeom>
          <a:solidFill>
            <a:srgbClr val="F9FA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Rectangle 34">
            <a:extLst>
              <a:ext uri="{FF2B5EF4-FFF2-40B4-BE49-F238E27FC236}">
                <a16:creationId xmlns:a16="http://schemas.microsoft.com/office/drawing/2014/main" id="{81B288BC-EE17-46BD-AFB2-56C692A4D53C}"/>
              </a:ext>
            </a:extLst>
          </p:cNvPr>
          <p:cNvSpPr/>
          <p:nvPr/>
        </p:nvSpPr>
        <p:spPr bwMode="auto">
          <a:xfrm>
            <a:off x="9323690" y="3830674"/>
            <a:ext cx="143010" cy="160345"/>
          </a:xfrm>
          <a:prstGeom prst="rect">
            <a:avLst/>
          </a:prstGeom>
          <a:solidFill>
            <a:srgbClr val="F9FAF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6" name="Rectangle: Rounded Corners 35">
            <a:extLst>
              <a:ext uri="{FF2B5EF4-FFF2-40B4-BE49-F238E27FC236}">
                <a16:creationId xmlns:a16="http://schemas.microsoft.com/office/drawing/2014/main" id="{558F20FB-CD83-43AB-915B-509F7EE09392}"/>
              </a:ext>
            </a:extLst>
          </p:cNvPr>
          <p:cNvSpPr/>
          <p:nvPr/>
        </p:nvSpPr>
        <p:spPr bwMode="auto">
          <a:xfrm>
            <a:off x="8900126" y="4380326"/>
            <a:ext cx="2301114" cy="1009739"/>
          </a:xfrm>
          <a:prstGeom prst="roundRect">
            <a:avLst>
              <a:gd name="adj" fmla="val 3125"/>
            </a:avLst>
          </a:prstGeom>
          <a:solidFill>
            <a:schemeClr val="bg1"/>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37" name="Title 1">
            <a:extLst>
              <a:ext uri="{FF2B5EF4-FFF2-40B4-BE49-F238E27FC236}">
                <a16:creationId xmlns:a16="http://schemas.microsoft.com/office/drawing/2014/main" id="{7E9E7D63-2AB8-4A15-A3E6-9ECD58231858}"/>
              </a:ext>
            </a:extLst>
          </p:cNvPr>
          <p:cNvSpPr txBox="1">
            <a:spLocks/>
          </p:cNvSpPr>
          <p:nvPr/>
        </p:nvSpPr>
        <p:spPr>
          <a:xfrm>
            <a:off x="8907511" y="5393743"/>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err="1">
                <a:ln w="3175">
                  <a:noFill/>
                </a:ln>
                <a:solidFill>
                  <a:schemeClr val="bg1"/>
                </a:solidFill>
                <a:effectLst/>
                <a:uLnTx/>
                <a:uFillTx/>
                <a:latin typeface="Segoe UI Semibold" panose="020B0702040204020203" pitchFamily="34" charset="0"/>
                <a:ea typeface="+mn-ea"/>
                <a:cs typeface="Segoe UI Semibold" panose="020B0702040204020203" pitchFamily="34" charset="0"/>
              </a:rPr>
              <a:t>containerd</a:t>
            </a:r>
            <a:endParaRPr kumimoji="0" lang="en-US" sz="800" b="0" i="0" u="none"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endParaRPr>
          </a:p>
        </p:txBody>
      </p:sp>
      <p:sp>
        <p:nvSpPr>
          <p:cNvPr id="38" name="Rectangle: Rounded Corners 37">
            <a:extLst>
              <a:ext uri="{FF2B5EF4-FFF2-40B4-BE49-F238E27FC236}">
                <a16:creationId xmlns:a16="http://schemas.microsoft.com/office/drawing/2014/main" id="{0B94CFAC-4919-4045-8350-DCB472ED33D1}"/>
              </a:ext>
            </a:extLst>
          </p:cNvPr>
          <p:cNvSpPr/>
          <p:nvPr/>
        </p:nvSpPr>
        <p:spPr bwMode="auto">
          <a:xfrm>
            <a:off x="9020204" y="4698427"/>
            <a:ext cx="968156" cy="546759"/>
          </a:xfrm>
          <a:prstGeom prst="roundRect">
            <a:avLst>
              <a:gd name="adj" fmla="val 3125"/>
            </a:avLst>
          </a:prstGeom>
          <a:solidFill>
            <a:srgbClr val="FEF000"/>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39" name="Rectangle: Rounded Corners 38">
            <a:extLst>
              <a:ext uri="{FF2B5EF4-FFF2-40B4-BE49-F238E27FC236}">
                <a16:creationId xmlns:a16="http://schemas.microsoft.com/office/drawing/2014/main" id="{2D1F33F7-BE63-4216-9555-D1C0E8457019}"/>
              </a:ext>
            </a:extLst>
          </p:cNvPr>
          <p:cNvSpPr/>
          <p:nvPr/>
        </p:nvSpPr>
        <p:spPr bwMode="auto">
          <a:xfrm>
            <a:off x="10113007" y="4698427"/>
            <a:ext cx="968156" cy="546759"/>
          </a:xfrm>
          <a:prstGeom prst="roundRect">
            <a:avLst>
              <a:gd name="adj" fmla="val 3125"/>
            </a:avLst>
          </a:prstGeom>
          <a:solidFill>
            <a:srgbClr val="9BF00B"/>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40" name="Title 1">
            <a:extLst>
              <a:ext uri="{FF2B5EF4-FFF2-40B4-BE49-F238E27FC236}">
                <a16:creationId xmlns:a16="http://schemas.microsoft.com/office/drawing/2014/main" id="{FA7C627B-AE35-4A0A-9299-6F59BDE7FD6F}"/>
              </a:ext>
            </a:extLst>
          </p:cNvPr>
          <p:cNvSpPr txBox="1">
            <a:spLocks/>
          </p:cNvSpPr>
          <p:nvPr/>
        </p:nvSpPr>
        <p:spPr>
          <a:xfrm>
            <a:off x="9020204" y="4525205"/>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Pod</a:t>
            </a:r>
          </a:p>
        </p:txBody>
      </p:sp>
      <p:sp>
        <p:nvSpPr>
          <p:cNvPr id="41" name="Title 1">
            <a:extLst>
              <a:ext uri="{FF2B5EF4-FFF2-40B4-BE49-F238E27FC236}">
                <a16:creationId xmlns:a16="http://schemas.microsoft.com/office/drawing/2014/main" id="{6CFDDADB-BC32-4A91-8843-ACFAD35CA31E}"/>
              </a:ext>
            </a:extLst>
          </p:cNvPr>
          <p:cNvSpPr txBox="1">
            <a:spLocks/>
          </p:cNvSpPr>
          <p:nvPr/>
        </p:nvSpPr>
        <p:spPr>
          <a:xfrm>
            <a:off x="10113007" y="4525205"/>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Pod</a:t>
            </a:r>
          </a:p>
        </p:txBody>
      </p:sp>
      <p:sp>
        <p:nvSpPr>
          <p:cNvPr id="42" name="Title 1">
            <a:extLst>
              <a:ext uri="{FF2B5EF4-FFF2-40B4-BE49-F238E27FC236}">
                <a16:creationId xmlns:a16="http://schemas.microsoft.com/office/drawing/2014/main" id="{9CFE3CA5-1B55-4208-B80A-F8876DC8B8AF}"/>
              </a:ext>
            </a:extLst>
          </p:cNvPr>
          <p:cNvSpPr txBox="1">
            <a:spLocks/>
          </p:cNvSpPr>
          <p:nvPr/>
        </p:nvSpPr>
        <p:spPr>
          <a:xfrm>
            <a:off x="9203539" y="4751278"/>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Containers</a:t>
            </a:r>
          </a:p>
        </p:txBody>
      </p:sp>
      <p:sp>
        <p:nvSpPr>
          <p:cNvPr id="43" name="Title 1">
            <a:extLst>
              <a:ext uri="{FF2B5EF4-FFF2-40B4-BE49-F238E27FC236}">
                <a16:creationId xmlns:a16="http://schemas.microsoft.com/office/drawing/2014/main" id="{C77FDC52-E288-4F12-BFB7-628AB0D859AE}"/>
              </a:ext>
            </a:extLst>
          </p:cNvPr>
          <p:cNvSpPr txBox="1">
            <a:spLocks/>
          </p:cNvSpPr>
          <p:nvPr/>
        </p:nvSpPr>
        <p:spPr>
          <a:xfrm>
            <a:off x="10296342" y="4751278"/>
            <a:ext cx="601487" cy="123111"/>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Containers</a:t>
            </a:r>
          </a:p>
        </p:txBody>
      </p:sp>
      <p:grpSp>
        <p:nvGrpSpPr>
          <p:cNvPr id="44" name="Group 43">
            <a:extLst>
              <a:ext uri="{FF2B5EF4-FFF2-40B4-BE49-F238E27FC236}">
                <a16:creationId xmlns:a16="http://schemas.microsoft.com/office/drawing/2014/main" id="{EBAFEACE-7720-410E-AD02-7B7CBEE5BACF}"/>
              </a:ext>
            </a:extLst>
          </p:cNvPr>
          <p:cNvGrpSpPr/>
          <p:nvPr/>
        </p:nvGrpSpPr>
        <p:grpSpPr>
          <a:xfrm>
            <a:off x="9167262" y="4935376"/>
            <a:ext cx="674040" cy="200439"/>
            <a:chOff x="8773830" y="4177977"/>
            <a:chExt cx="757312" cy="225202"/>
          </a:xfrm>
        </p:grpSpPr>
        <p:sp>
          <p:nvSpPr>
            <p:cNvPr id="45" name="Freeform: Shape 44">
              <a:extLst>
                <a:ext uri="{FF2B5EF4-FFF2-40B4-BE49-F238E27FC236}">
                  <a16:creationId xmlns:a16="http://schemas.microsoft.com/office/drawing/2014/main" id="{B6FBC213-DA18-41F2-97AA-728C53090896}"/>
                </a:ext>
              </a:extLst>
            </p:cNvPr>
            <p:cNvSpPr/>
            <p:nvPr/>
          </p:nvSpPr>
          <p:spPr>
            <a:xfrm>
              <a:off x="877383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46" name="Freeform: Shape 45">
              <a:extLst>
                <a:ext uri="{FF2B5EF4-FFF2-40B4-BE49-F238E27FC236}">
                  <a16:creationId xmlns:a16="http://schemas.microsoft.com/office/drawing/2014/main" id="{606ADACD-E029-4CF3-AF84-154FDDFD147F}"/>
                </a:ext>
              </a:extLst>
            </p:cNvPr>
            <p:cNvSpPr/>
            <p:nvPr/>
          </p:nvSpPr>
          <p:spPr>
            <a:xfrm>
              <a:off x="904974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47" name="Freeform: Shape 46">
              <a:extLst>
                <a:ext uri="{FF2B5EF4-FFF2-40B4-BE49-F238E27FC236}">
                  <a16:creationId xmlns:a16="http://schemas.microsoft.com/office/drawing/2014/main" id="{50E120E3-CC12-42A9-B243-7C40AB9A5F5E}"/>
                </a:ext>
              </a:extLst>
            </p:cNvPr>
            <p:cNvSpPr/>
            <p:nvPr/>
          </p:nvSpPr>
          <p:spPr>
            <a:xfrm>
              <a:off x="932565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8" name="Group 47">
            <a:extLst>
              <a:ext uri="{FF2B5EF4-FFF2-40B4-BE49-F238E27FC236}">
                <a16:creationId xmlns:a16="http://schemas.microsoft.com/office/drawing/2014/main" id="{6114A598-2D5D-409B-B022-ADC4A1039642}"/>
              </a:ext>
            </a:extLst>
          </p:cNvPr>
          <p:cNvGrpSpPr/>
          <p:nvPr/>
        </p:nvGrpSpPr>
        <p:grpSpPr>
          <a:xfrm>
            <a:off x="10260065" y="4935376"/>
            <a:ext cx="674040" cy="200439"/>
            <a:chOff x="8773830" y="4177977"/>
            <a:chExt cx="757312" cy="225202"/>
          </a:xfrm>
        </p:grpSpPr>
        <p:sp>
          <p:nvSpPr>
            <p:cNvPr id="49" name="Freeform: Shape 48">
              <a:extLst>
                <a:ext uri="{FF2B5EF4-FFF2-40B4-BE49-F238E27FC236}">
                  <a16:creationId xmlns:a16="http://schemas.microsoft.com/office/drawing/2014/main" id="{35958A21-A015-45E8-BE55-BD3C5A588657}"/>
                </a:ext>
              </a:extLst>
            </p:cNvPr>
            <p:cNvSpPr/>
            <p:nvPr/>
          </p:nvSpPr>
          <p:spPr>
            <a:xfrm>
              <a:off x="877383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50" name="Freeform: Shape 49">
              <a:extLst>
                <a:ext uri="{FF2B5EF4-FFF2-40B4-BE49-F238E27FC236}">
                  <a16:creationId xmlns:a16="http://schemas.microsoft.com/office/drawing/2014/main" id="{C2B51164-9CA1-410E-BBAF-B48FD37FECE3}"/>
                </a:ext>
              </a:extLst>
            </p:cNvPr>
            <p:cNvSpPr/>
            <p:nvPr/>
          </p:nvSpPr>
          <p:spPr>
            <a:xfrm>
              <a:off x="904974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51" name="Freeform: Shape 50">
              <a:extLst>
                <a:ext uri="{FF2B5EF4-FFF2-40B4-BE49-F238E27FC236}">
                  <a16:creationId xmlns:a16="http://schemas.microsoft.com/office/drawing/2014/main" id="{0C12B41A-C9D9-4503-8A40-0BB87F963103}"/>
                </a:ext>
              </a:extLst>
            </p:cNvPr>
            <p:cNvSpPr/>
            <p:nvPr/>
          </p:nvSpPr>
          <p:spPr>
            <a:xfrm>
              <a:off x="9325650" y="4177977"/>
              <a:ext cx="205492" cy="225202"/>
            </a:xfrm>
            <a:custGeom>
              <a:avLst/>
              <a:gdLst>
                <a:gd name="connsiteX0" fmla="*/ 543418 w 543418"/>
                <a:gd name="connsiteY0" fmla="*/ 149230 h 595539"/>
                <a:gd name="connsiteX1" fmla="*/ 543418 w 543418"/>
                <a:gd name="connsiteY1" fmla="*/ 446971 h 595539"/>
                <a:gd name="connsiteX2" fmla="*/ 271403 w 543418"/>
                <a:gd name="connsiteY2" fmla="*/ 595539 h 595539"/>
                <a:gd name="connsiteX3" fmla="*/ 271403 w 543418"/>
                <a:gd name="connsiteY3" fmla="*/ 297798 h 595539"/>
                <a:gd name="connsiteX4" fmla="*/ 0 w 543418"/>
                <a:gd name="connsiteY4" fmla="*/ 149230 h 595539"/>
                <a:gd name="connsiteX5" fmla="*/ 271403 w 543418"/>
                <a:gd name="connsiteY5" fmla="*/ 297798 h 595539"/>
                <a:gd name="connsiteX6" fmla="*/ 271403 w 543418"/>
                <a:gd name="connsiteY6" fmla="*/ 595539 h 595539"/>
                <a:gd name="connsiteX7" fmla="*/ 0 w 543418"/>
                <a:gd name="connsiteY7" fmla="*/ 446971 h 595539"/>
                <a:gd name="connsiteX8" fmla="*/ 271403 w 543418"/>
                <a:gd name="connsiteY8" fmla="*/ 0 h 595539"/>
                <a:gd name="connsiteX9" fmla="*/ 543418 w 543418"/>
                <a:gd name="connsiteY9" fmla="*/ 148567 h 595539"/>
                <a:gd name="connsiteX10" fmla="*/ 271403 w 543418"/>
                <a:gd name="connsiteY10" fmla="*/ 297134 h 595539"/>
                <a:gd name="connsiteX11" fmla="*/ 0 w 543418"/>
                <a:gd name="connsiteY11" fmla="*/ 148567 h 59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418" h="595539">
                  <a:moveTo>
                    <a:pt x="543418" y="149230"/>
                  </a:moveTo>
                  <a:lnTo>
                    <a:pt x="543418" y="446971"/>
                  </a:lnTo>
                  <a:lnTo>
                    <a:pt x="271403" y="595539"/>
                  </a:lnTo>
                  <a:lnTo>
                    <a:pt x="271403" y="297798"/>
                  </a:lnTo>
                  <a:close/>
                  <a:moveTo>
                    <a:pt x="0" y="149230"/>
                  </a:moveTo>
                  <a:lnTo>
                    <a:pt x="271403" y="297798"/>
                  </a:lnTo>
                  <a:lnTo>
                    <a:pt x="271403" y="595539"/>
                  </a:lnTo>
                  <a:lnTo>
                    <a:pt x="0" y="446971"/>
                  </a:lnTo>
                  <a:close/>
                  <a:moveTo>
                    <a:pt x="271403" y="0"/>
                  </a:moveTo>
                  <a:lnTo>
                    <a:pt x="543418" y="148567"/>
                  </a:lnTo>
                  <a:lnTo>
                    <a:pt x="271403" y="297134"/>
                  </a:lnTo>
                  <a:lnTo>
                    <a:pt x="0" y="148567"/>
                  </a:lnTo>
                  <a:close/>
                </a:path>
              </a:pathLst>
            </a:custGeom>
            <a:noFill/>
            <a:ln w="12700" cap="rnd">
              <a:solidFill>
                <a:srgbClr val="000000"/>
              </a:solidFill>
              <a:prstDash val="solid"/>
              <a:round/>
            </a:ln>
          </p:spPr>
          <p:txBody>
            <a:bodyPr wrap="square">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52" name="Rectangle: Rounded Corners 51">
            <a:extLst>
              <a:ext uri="{FF2B5EF4-FFF2-40B4-BE49-F238E27FC236}">
                <a16:creationId xmlns:a16="http://schemas.microsoft.com/office/drawing/2014/main" id="{00C38CBD-37DE-4699-A681-54E18E518EA8}"/>
              </a:ext>
            </a:extLst>
          </p:cNvPr>
          <p:cNvSpPr/>
          <p:nvPr/>
        </p:nvSpPr>
        <p:spPr bwMode="auto">
          <a:xfrm>
            <a:off x="5805698" y="3202441"/>
            <a:ext cx="2301114" cy="433168"/>
          </a:xfrm>
          <a:prstGeom prst="roundRect">
            <a:avLst>
              <a:gd name="adj" fmla="val 3125"/>
            </a:avLst>
          </a:prstGeom>
          <a:solidFill>
            <a:srgbClr val="FEF000"/>
          </a:solidFill>
          <a:ln w="12700">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53" name="Rectangle: Rounded Corners 52">
            <a:extLst>
              <a:ext uri="{FF2B5EF4-FFF2-40B4-BE49-F238E27FC236}">
                <a16:creationId xmlns:a16="http://schemas.microsoft.com/office/drawing/2014/main" id="{5C3E375E-510D-4F51-9EE3-3D60956A2308}"/>
              </a:ext>
            </a:extLst>
          </p:cNvPr>
          <p:cNvSpPr/>
          <p:nvPr/>
        </p:nvSpPr>
        <p:spPr bwMode="auto">
          <a:xfrm>
            <a:off x="8900126" y="3210228"/>
            <a:ext cx="2301114" cy="428549"/>
          </a:xfrm>
          <a:prstGeom prst="roundRect">
            <a:avLst>
              <a:gd name="adj" fmla="val 3125"/>
            </a:avLst>
          </a:prstGeom>
          <a:solidFill>
            <a:srgbClr val="9BF00B"/>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54" name="Rectangle: Rounded Corners 53">
            <a:extLst>
              <a:ext uri="{FF2B5EF4-FFF2-40B4-BE49-F238E27FC236}">
                <a16:creationId xmlns:a16="http://schemas.microsoft.com/office/drawing/2014/main" id="{25BC3539-F387-40AB-ADDC-1F548F4CA9F8}"/>
              </a:ext>
            </a:extLst>
          </p:cNvPr>
          <p:cNvSpPr/>
          <p:nvPr/>
        </p:nvSpPr>
        <p:spPr bwMode="auto">
          <a:xfrm>
            <a:off x="7270518" y="2150171"/>
            <a:ext cx="2301114" cy="414487"/>
          </a:xfrm>
          <a:prstGeom prst="roundRect">
            <a:avLst>
              <a:gd name="adj" fmla="val 3125"/>
            </a:avLst>
          </a:prstGeom>
          <a:no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55" name="TextBox 54">
            <a:extLst>
              <a:ext uri="{FF2B5EF4-FFF2-40B4-BE49-F238E27FC236}">
                <a16:creationId xmlns:a16="http://schemas.microsoft.com/office/drawing/2014/main" id="{EB389E4F-9F0A-4A0F-A69E-0753C06911F8}"/>
              </a:ext>
            </a:extLst>
          </p:cNvPr>
          <p:cNvSpPr txBox="1"/>
          <p:nvPr/>
        </p:nvSpPr>
        <p:spPr>
          <a:xfrm>
            <a:off x="7695870" y="2150171"/>
            <a:ext cx="1895552" cy="369332"/>
          </a:xfrm>
          <a:prstGeom prst="rect">
            <a:avLst/>
          </a:prstGeom>
          <a:noFill/>
        </p:spPr>
        <p:txBody>
          <a:bodyPr wrap="square">
            <a:spAutoFit/>
          </a:bodyPr>
          <a:lstStyle/>
          <a:p>
            <a:r>
              <a:rPr kumimoji="0" lang="en-US" sz="1800" b="0" i="0" u="none" strike="noStrike" kern="1200" cap="none" spc="0" normalizeH="0" noProof="0" dirty="0">
                <a:ln w="3175">
                  <a:noFill/>
                </a:ln>
                <a:solidFill>
                  <a:schemeClr val="tx1"/>
                </a:solidFill>
                <a:effectLst/>
                <a:uLnTx/>
                <a:uFillTx/>
                <a:latin typeface="+mj-lt"/>
                <a:ea typeface="+mn-ea"/>
                <a:cs typeface="Segoe UI" pitchFamily="34" charset="0"/>
              </a:rPr>
              <a:t>Deployment</a:t>
            </a:r>
            <a:endParaRPr lang="en-US" dirty="0">
              <a:latin typeface="+mj-lt"/>
            </a:endParaRPr>
          </a:p>
        </p:txBody>
      </p:sp>
      <p:sp>
        <p:nvSpPr>
          <p:cNvPr id="56" name="TextBox 55">
            <a:extLst>
              <a:ext uri="{FF2B5EF4-FFF2-40B4-BE49-F238E27FC236}">
                <a16:creationId xmlns:a16="http://schemas.microsoft.com/office/drawing/2014/main" id="{A0178937-D523-47BC-BBF3-18138E5EBFB0}"/>
              </a:ext>
            </a:extLst>
          </p:cNvPr>
          <p:cNvSpPr txBox="1"/>
          <p:nvPr/>
        </p:nvSpPr>
        <p:spPr>
          <a:xfrm>
            <a:off x="6206055" y="3203038"/>
            <a:ext cx="1464945" cy="415498"/>
          </a:xfrm>
          <a:prstGeom prst="rect">
            <a:avLst/>
          </a:prstGeom>
          <a:noFill/>
        </p:spPr>
        <p:txBody>
          <a:bodyPr wrap="square">
            <a:spAutoFit/>
          </a:bodyPr>
          <a:lstStyle/>
          <a:p>
            <a:pPr algn="ctr"/>
            <a:r>
              <a:rPr kumimoji="0" lang="en-US" sz="1200" b="0" i="0" u="none" strike="noStrike" kern="1200" cap="none" spc="0" normalizeH="0" noProof="0" dirty="0" err="1">
                <a:ln w="3175">
                  <a:noFill/>
                </a:ln>
                <a:solidFill>
                  <a:schemeClr val="tx1"/>
                </a:solidFill>
                <a:effectLst/>
                <a:uLnTx/>
                <a:uFillTx/>
                <a:latin typeface="+mj-lt"/>
                <a:ea typeface="+mn-ea"/>
                <a:cs typeface="Segoe UI" pitchFamily="34" charset="0"/>
              </a:rPr>
              <a:t>ReplicaSet</a:t>
            </a:r>
            <a:r>
              <a:rPr kumimoji="0" lang="en-US" sz="1200" b="0" i="0" u="none" strike="noStrike" kern="1200" cap="none" spc="0" normalizeH="0" noProof="0" dirty="0">
                <a:ln w="3175">
                  <a:noFill/>
                </a:ln>
                <a:solidFill>
                  <a:schemeClr val="tx1"/>
                </a:solidFill>
                <a:effectLst/>
                <a:uLnTx/>
                <a:uFillTx/>
                <a:latin typeface="+mj-lt"/>
                <a:ea typeface="+mn-ea"/>
                <a:cs typeface="Segoe UI" pitchFamily="34" charset="0"/>
              </a:rPr>
              <a:t> v1</a:t>
            </a:r>
            <a:br>
              <a:rPr kumimoji="0" lang="en-US" sz="1600" b="0" i="0" u="none" strike="noStrike" kern="1200" cap="none" spc="0" normalizeH="0" noProof="0" dirty="0">
                <a:ln w="3175">
                  <a:noFill/>
                </a:ln>
                <a:solidFill>
                  <a:schemeClr val="tx1"/>
                </a:solidFill>
                <a:effectLst/>
                <a:uLnTx/>
                <a:uFillTx/>
                <a:latin typeface="+mj-lt"/>
                <a:ea typeface="+mn-ea"/>
                <a:cs typeface="Segoe UI" pitchFamily="34" charset="0"/>
              </a:rPr>
            </a:br>
            <a:r>
              <a:rPr kumimoji="0" lang="en-US" sz="900" b="0" i="0" u="none" strike="noStrike" kern="1200" cap="none" spc="0" normalizeH="0" noProof="0" dirty="0">
                <a:ln w="3175">
                  <a:noFill/>
                </a:ln>
                <a:solidFill>
                  <a:schemeClr val="tx1"/>
                </a:solidFill>
                <a:effectLst/>
                <a:uLnTx/>
                <a:uFillTx/>
                <a:latin typeface="+mj-lt"/>
                <a:ea typeface="+mn-ea"/>
                <a:cs typeface="Segoe UI" pitchFamily="34" charset="0"/>
              </a:rPr>
              <a:t>REPLICA COUNT 2</a:t>
            </a:r>
            <a:endParaRPr lang="en-US" dirty="0"/>
          </a:p>
        </p:txBody>
      </p:sp>
      <p:sp>
        <p:nvSpPr>
          <p:cNvPr id="57" name="TextBox 56">
            <a:extLst>
              <a:ext uri="{FF2B5EF4-FFF2-40B4-BE49-F238E27FC236}">
                <a16:creationId xmlns:a16="http://schemas.microsoft.com/office/drawing/2014/main" id="{A2727927-8BFE-4DB1-A434-7F6F80593C72}"/>
              </a:ext>
            </a:extLst>
          </p:cNvPr>
          <p:cNvSpPr txBox="1"/>
          <p:nvPr/>
        </p:nvSpPr>
        <p:spPr>
          <a:xfrm>
            <a:off x="9242263" y="3207860"/>
            <a:ext cx="1583946" cy="415498"/>
          </a:xfrm>
          <a:prstGeom prst="rect">
            <a:avLst/>
          </a:prstGeom>
          <a:noFill/>
        </p:spPr>
        <p:txBody>
          <a:bodyPr wrap="square">
            <a:spAutoFit/>
          </a:bodyPr>
          <a:lstStyle/>
          <a:p>
            <a:pPr algn="ctr"/>
            <a:r>
              <a:rPr kumimoji="0" lang="en-US" sz="1200" b="0" i="0" u="none" strike="noStrike" kern="1200" cap="none" spc="0" normalizeH="0" noProof="0" dirty="0" err="1">
                <a:ln w="3175">
                  <a:noFill/>
                </a:ln>
                <a:solidFill>
                  <a:schemeClr val="tx1"/>
                </a:solidFill>
                <a:effectLst/>
                <a:uLnTx/>
                <a:uFillTx/>
                <a:latin typeface="+mj-lt"/>
                <a:ea typeface="+mn-ea"/>
                <a:cs typeface="Segoe UI" pitchFamily="34" charset="0"/>
              </a:rPr>
              <a:t>ReplicaSet</a:t>
            </a:r>
            <a:r>
              <a:rPr kumimoji="0" lang="en-US" sz="1200" b="0" i="0" u="none" strike="noStrike" kern="1200" cap="none" spc="0" normalizeH="0" noProof="0" dirty="0">
                <a:ln w="3175">
                  <a:noFill/>
                </a:ln>
                <a:solidFill>
                  <a:schemeClr val="tx1"/>
                </a:solidFill>
                <a:effectLst/>
                <a:uLnTx/>
                <a:uFillTx/>
                <a:latin typeface="+mj-lt"/>
                <a:ea typeface="+mn-ea"/>
                <a:cs typeface="Segoe UI" pitchFamily="34" charset="0"/>
              </a:rPr>
              <a:t> v2</a:t>
            </a:r>
            <a:br>
              <a:rPr kumimoji="0" lang="en-US" sz="1600" b="0" i="0" u="none" strike="noStrike" kern="1200" cap="none" spc="0" normalizeH="0" noProof="0" dirty="0">
                <a:ln w="3175">
                  <a:noFill/>
                </a:ln>
                <a:solidFill>
                  <a:schemeClr val="tx1"/>
                </a:solidFill>
                <a:effectLst/>
                <a:uLnTx/>
                <a:uFillTx/>
                <a:latin typeface="+mj-lt"/>
                <a:ea typeface="+mn-ea"/>
                <a:cs typeface="Segoe UI" pitchFamily="34" charset="0"/>
              </a:rPr>
            </a:br>
            <a:r>
              <a:rPr kumimoji="0" lang="en-US" sz="900" b="0" i="0" u="none" strike="noStrike" kern="1200" cap="none" spc="0" normalizeH="0" noProof="0" dirty="0">
                <a:ln w="3175">
                  <a:noFill/>
                </a:ln>
                <a:solidFill>
                  <a:schemeClr val="tx1"/>
                </a:solidFill>
                <a:effectLst/>
                <a:uLnTx/>
                <a:uFillTx/>
                <a:latin typeface="+mj-lt"/>
                <a:ea typeface="+mn-ea"/>
                <a:cs typeface="Segoe UI" pitchFamily="34" charset="0"/>
              </a:rPr>
              <a:t>REPLICA COUNT 2</a:t>
            </a:r>
            <a:endParaRPr lang="en-US" dirty="0"/>
          </a:p>
        </p:txBody>
      </p:sp>
      <p:cxnSp>
        <p:nvCxnSpPr>
          <p:cNvPr id="58" name="Connector: Elbow 57">
            <a:extLst>
              <a:ext uri="{FF2B5EF4-FFF2-40B4-BE49-F238E27FC236}">
                <a16:creationId xmlns:a16="http://schemas.microsoft.com/office/drawing/2014/main" id="{0F9C9332-120C-4307-94F7-08F5E2C954B4}"/>
              </a:ext>
            </a:extLst>
          </p:cNvPr>
          <p:cNvCxnSpPr>
            <a:cxnSpLocks/>
            <a:stCxn id="54" idx="1"/>
            <a:endCxn id="52" idx="0"/>
          </p:cNvCxnSpPr>
          <p:nvPr/>
        </p:nvCxnSpPr>
        <p:spPr>
          <a:xfrm rot="10800000" flipV="1">
            <a:off x="6956256" y="2357415"/>
            <a:ext cx="314263" cy="845026"/>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E65E564E-5601-45AD-B61B-7D547E42123C}"/>
              </a:ext>
            </a:extLst>
          </p:cNvPr>
          <p:cNvCxnSpPr>
            <a:cxnSpLocks/>
            <a:stCxn id="52" idx="2"/>
            <a:endCxn id="18" idx="0"/>
          </p:cNvCxnSpPr>
          <p:nvPr/>
        </p:nvCxnSpPr>
        <p:spPr>
          <a:xfrm rot="5400000">
            <a:off x="6146566" y="3898898"/>
            <a:ext cx="1072978" cy="546401"/>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8530F478-19C1-4541-9ECD-90340AFFF1EF}"/>
              </a:ext>
            </a:extLst>
          </p:cNvPr>
          <p:cNvCxnSpPr>
            <a:cxnSpLocks/>
            <a:stCxn id="52" idx="3"/>
            <a:endCxn id="38" idx="1"/>
          </p:cNvCxnSpPr>
          <p:nvPr/>
        </p:nvCxnSpPr>
        <p:spPr>
          <a:xfrm>
            <a:off x="8106812" y="3419025"/>
            <a:ext cx="913392" cy="1552782"/>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01EA06E4-6E61-4D1B-98F1-EE03835DF561}"/>
              </a:ext>
            </a:extLst>
          </p:cNvPr>
          <p:cNvSpPr/>
          <p:nvPr/>
        </p:nvSpPr>
        <p:spPr bwMode="auto">
          <a:xfrm>
            <a:off x="9167262" y="2219325"/>
            <a:ext cx="334351" cy="281588"/>
          </a:xfrm>
          <a:prstGeom prst="rect">
            <a:avLst/>
          </a:prstGeom>
          <a:solidFill>
            <a:srgbClr val="FEF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62" name="Rectangle 61">
            <a:extLst>
              <a:ext uri="{FF2B5EF4-FFF2-40B4-BE49-F238E27FC236}">
                <a16:creationId xmlns:a16="http://schemas.microsoft.com/office/drawing/2014/main" id="{C1EF5168-6EE7-44CD-99DB-5E21A93E79AA}"/>
              </a:ext>
            </a:extLst>
          </p:cNvPr>
          <p:cNvSpPr/>
          <p:nvPr/>
        </p:nvSpPr>
        <p:spPr bwMode="auto">
          <a:xfrm>
            <a:off x="9167261" y="2219325"/>
            <a:ext cx="334351" cy="281588"/>
          </a:xfrm>
          <a:prstGeom prst="rect">
            <a:avLst/>
          </a:prstGeom>
          <a:solidFill>
            <a:srgbClr val="9BF00B"/>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cxnSp>
        <p:nvCxnSpPr>
          <p:cNvPr id="63" name="Connector: Elbow 62">
            <a:extLst>
              <a:ext uri="{FF2B5EF4-FFF2-40B4-BE49-F238E27FC236}">
                <a16:creationId xmlns:a16="http://schemas.microsoft.com/office/drawing/2014/main" id="{BA4C9A88-A1F5-401B-BE06-C00F7D466343}"/>
              </a:ext>
            </a:extLst>
          </p:cNvPr>
          <p:cNvCxnSpPr>
            <a:cxnSpLocks/>
            <a:stCxn id="55" idx="3"/>
            <a:endCxn id="53" idx="0"/>
          </p:cNvCxnSpPr>
          <p:nvPr/>
        </p:nvCxnSpPr>
        <p:spPr>
          <a:xfrm>
            <a:off x="9591422" y="2334837"/>
            <a:ext cx="459261" cy="875391"/>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3E21E19F-FA29-45B7-88BA-A5AA7EA7CAE6}"/>
              </a:ext>
            </a:extLst>
          </p:cNvPr>
          <p:cNvCxnSpPr>
            <a:cxnSpLocks/>
            <a:stCxn id="53" idx="2"/>
            <a:endCxn id="39" idx="0"/>
          </p:cNvCxnSpPr>
          <p:nvPr/>
        </p:nvCxnSpPr>
        <p:spPr>
          <a:xfrm rot="16200000" flipH="1">
            <a:off x="9794059" y="3895401"/>
            <a:ext cx="1059650" cy="546402"/>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EF7F212E-6B64-43CC-B47B-A5ADCC472314}"/>
              </a:ext>
            </a:extLst>
          </p:cNvPr>
          <p:cNvCxnSpPr>
            <a:cxnSpLocks/>
            <a:stCxn id="53" idx="1"/>
            <a:endCxn id="19" idx="3"/>
          </p:cNvCxnSpPr>
          <p:nvPr/>
        </p:nvCxnSpPr>
        <p:spPr>
          <a:xfrm rot="10800000" flipV="1">
            <a:off x="7986736" y="3424503"/>
            <a:ext cx="913391" cy="1557464"/>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D0DCCCCF-714C-4ED8-8DDC-0FAF0B94E1DA}"/>
              </a:ext>
            </a:extLst>
          </p:cNvPr>
          <p:cNvSpPr txBox="1"/>
          <p:nvPr/>
        </p:nvSpPr>
        <p:spPr>
          <a:xfrm>
            <a:off x="6210252" y="3202256"/>
            <a:ext cx="1454398" cy="415498"/>
          </a:xfrm>
          <a:prstGeom prst="rect">
            <a:avLst/>
          </a:prstGeom>
          <a:noFill/>
        </p:spPr>
        <p:txBody>
          <a:bodyPr wrap="square">
            <a:spAutoFit/>
          </a:bodyPr>
          <a:lstStyle/>
          <a:p>
            <a:pPr algn="ctr"/>
            <a:r>
              <a:rPr kumimoji="0" lang="en-US" sz="1200" b="0" i="0" u="none" strike="noStrike" kern="1200" cap="none" spc="0" normalizeH="0" noProof="0" dirty="0" err="1">
                <a:ln w="3175">
                  <a:noFill/>
                </a:ln>
                <a:solidFill>
                  <a:schemeClr val="tx1"/>
                </a:solidFill>
                <a:effectLst/>
                <a:uLnTx/>
                <a:uFillTx/>
                <a:latin typeface="+mj-lt"/>
                <a:ea typeface="+mn-ea"/>
                <a:cs typeface="Segoe UI" pitchFamily="34" charset="0"/>
              </a:rPr>
              <a:t>ReplicaSet</a:t>
            </a:r>
            <a:r>
              <a:rPr kumimoji="0" lang="en-US" sz="1200" b="0" i="0" u="none" strike="noStrike" kern="1200" cap="none" spc="0" normalizeH="0" noProof="0" dirty="0">
                <a:ln w="3175">
                  <a:noFill/>
                </a:ln>
                <a:solidFill>
                  <a:schemeClr val="tx1"/>
                </a:solidFill>
                <a:effectLst/>
                <a:uLnTx/>
                <a:uFillTx/>
                <a:latin typeface="+mj-lt"/>
                <a:ea typeface="+mn-ea"/>
                <a:cs typeface="Segoe UI" pitchFamily="34" charset="0"/>
              </a:rPr>
              <a:t> v1</a:t>
            </a:r>
            <a:br>
              <a:rPr kumimoji="0" lang="en-US" sz="1600" b="0" i="0" u="none" strike="noStrike" kern="1200" cap="none" spc="0" normalizeH="0" noProof="0" dirty="0">
                <a:ln w="3175">
                  <a:noFill/>
                </a:ln>
                <a:solidFill>
                  <a:schemeClr val="tx1"/>
                </a:solidFill>
                <a:effectLst/>
                <a:uLnTx/>
                <a:uFillTx/>
                <a:latin typeface="+mj-lt"/>
                <a:ea typeface="+mn-ea"/>
                <a:cs typeface="Segoe UI" pitchFamily="34" charset="0"/>
              </a:rPr>
            </a:br>
            <a:r>
              <a:rPr kumimoji="0" lang="en-US" sz="900" b="1" i="0" strike="noStrike" kern="1200" cap="none" spc="0" normalizeH="0" noProof="0" dirty="0">
                <a:ln w="3175">
                  <a:noFill/>
                </a:ln>
                <a:solidFill>
                  <a:schemeClr val="tx1"/>
                </a:solidFill>
                <a:effectLst/>
                <a:uLnTx/>
                <a:uFillTx/>
                <a:latin typeface="+mj-lt"/>
                <a:cs typeface="Segoe UI" pitchFamily="34" charset="0"/>
              </a:rPr>
              <a:t>REPLICA COUNT </a:t>
            </a:r>
            <a:r>
              <a:rPr kumimoji="0" lang="en-US" sz="900" b="1" i="0" strike="noStrike" kern="1200" cap="none" spc="0" normalizeH="0" noProof="0" dirty="0">
                <a:ln w="3175">
                  <a:noFill/>
                </a:ln>
                <a:solidFill>
                  <a:srgbClr val="FF0000"/>
                </a:solidFill>
                <a:effectLst/>
                <a:uLnTx/>
                <a:uFillTx/>
                <a:latin typeface="+mj-lt"/>
                <a:cs typeface="Segoe UI" pitchFamily="34" charset="0"/>
              </a:rPr>
              <a:t>0</a:t>
            </a:r>
            <a:endParaRPr lang="en-US" b="1" dirty="0">
              <a:solidFill>
                <a:srgbClr val="FF0000"/>
              </a:solidFill>
            </a:endParaRPr>
          </a:p>
        </p:txBody>
      </p:sp>
      <p:sp>
        <p:nvSpPr>
          <p:cNvPr id="73" name="Title 16">
            <a:extLst>
              <a:ext uri="{FF2B5EF4-FFF2-40B4-BE49-F238E27FC236}">
                <a16:creationId xmlns:a16="http://schemas.microsoft.com/office/drawing/2014/main" id="{77A1D2EC-94EE-4F04-ACD6-5023D211C241}"/>
              </a:ext>
            </a:extLst>
          </p:cNvPr>
          <p:cNvSpPr txBox="1">
            <a:spLocks/>
          </p:cNvSpPr>
          <p:nvPr/>
        </p:nvSpPr>
        <p:spPr>
          <a:xfrm>
            <a:off x="5674758" y="6134090"/>
            <a:ext cx="4864108" cy="30777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pPr>
              <a:defRPr/>
            </a:pPr>
            <a:r>
              <a:rPr lang="en-US" sz="2000" spc="0" dirty="0">
                <a:solidFill>
                  <a:schemeClr val="tx1"/>
                </a:solidFill>
                <a:latin typeface="Segoe UI" panose="020B0502040204020203" pitchFamily="34" charset="0"/>
              </a:rPr>
              <a:t>NOTE:</a:t>
            </a:r>
            <a:r>
              <a:rPr lang="en-US" sz="2000" b="0" spc="0" dirty="0">
                <a:solidFill>
                  <a:schemeClr val="tx1"/>
                </a:solidFill>
                <a:latin typeface="Segoe UI" panose="020B0502040204020203" pitchFamily="34" charset="0"/>
              </a:rPr>
              <a:t> Notice that </a:t>
            </a:r>
            <a:r>
              <a:rPr lang="en-US" sz="2000" b="0" spc="0" dirty="0" err="1">
                <a:solidFill>
                  <a:schemeClr val="tx1"/>
                </a:solidFill>
                <a:latin typeface="Segoe UI" panose="020B0502040204020203" pitchFamily="34" charset="0"/>
              </a:rPr>
              <a:t>ReplicaSet</a:t>
            </a:r>
            <a:r>
              <a:rPr lang="en-US" sz="2000" b="0" spc="0" dirty="0">
                <a:solidFill>
                  <a:schemeClr val="tx1"/>
                </a:solidFill>
                <a:latin typeface="Segoe UI" panose="020B0502040204020203" pitchFamily="34" charset="0"/>
              </a:rPr>
              <a:t> v1 remains.</a:t>
            </a:r>
          </a:p>
        </p:txBody>
      </p:sp>
    </p:spTree>
    <p:extLst>
      <p:ext uri="{BB962C8B-B14F-4D97-AF65-F5344CB8AC3E}">
        <p14:creationId xmlns:p14="http://schemas.microsoft.com/office/powerpoint/2010/main" val="42380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up)">
                                      <p:cBhvr>
                                        <p:cTn id="7" dur="500"/>
                                        <p:tgtEl>
                                          <p:spTgt spid="5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500"/>
                                        <p:tgtEl>
                                          <p:spTgt spid="5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wipe(up)">
                                      <p:cBhvr>
                                        <p:cTn id="19" dur="500"/>
                                        <p:tgtEl>
                                          <p:spTgt spid="59"/>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par>
                                <p:cTn id="30" presetID="10"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par>
                          <p:cTn id="33" fill="hold">
                            <p:stCondLst>
                              <p:cond delay="2500"/>
                            </p:stCondLst>
                            <p:childTnLst>
                              <p:par>
                                <p:cTn id="34" presetID="22" presetClass="entr" presetSubtype="1" fill="hold" nodeType="after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up)">
                                      <p:cBhvr>
                                        <p:cTn id="36" dur="500"/>
                                        <p:tgtEl>
                                          <p:spTgt spid="60"/>
                                        </p:tgtEl>
                                      </p:cBhvr>
                                    </p:animEffect>
                                  </p:childTnLst>
                                </p:cTn>
                              </p:par>
                            </p:childTnLst>
                          </p:cTn>
                        </p:par>
                        <p:par>
                          <p:cTn id="37" fill="hold">
                            <p:stCondLst>
                              <p:cond delay="3000"/>
                            </p:stCondLst>
                            <p:childTnLst>
                              <p:par>
                                <p:cTn id="38" presetID="10" presetClass="entr" presetSubtype="0" fill="hold" grpId="0" nodeType="after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500"/>
                                        <p:tgtEl>
                                          <p:spTgt spid="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fade">
                                      <p:cBhvr>
                                        <p:cTn id="46" dur="500"/>
                                        <p:tgtEl>
                                          <p:spTgt spid="42"/>
                                        </p:tgtEl>
                                      </p:cBhvr>
                                    </p:animEffect>
                                  </p:childTnLst>
                                </p:cTn>
                              </p:par>
                              <p:par>
                                <p:cTn id="47" presetID="10" presetClass="entr" presetSubtype="0" fill="hold"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500"/>
                                        <p:tgtEl>
                                          <p:spTgt spid="4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2"/>
                                        </p:tgtEl>
                                        <p:attrNameLst>
                                          <p:attrName>style.visibility</p:attrName>
                                        </p:attrNameLst>
                                      </p:cBhvr>
                                      <p:to>
                                        <p:strVal val="visible"/>
                                      </p:to>
                                    </p:set>
                                    <p:animEffect transition="in" filter="fade">
                                      <p:cBhvr>
                                        <p:cTn id="54" dur="500"/>
                                        <p:tgtEl>
                                          <p:spTgt spid="62"/>
                                        </p:tgtEl>
                                      </p:cBhvr>
                                    </p:animEffect>
                                  </p:childTnLst>
                                </p:cTn>
                              </p:par>
                              <p:par>
                                <p:cTn id="55" presetID="10" presetClass="entr" presetSubtype="0" fill="hold" nodeType="with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animEffect transition="in" filter="fade">
                                      <p:cBhvr>
                                        <p:cTn id="57" dur="500"/>
                                        <p:tgtEl>
                                          <p:spTgt spid="6">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wipe(up)">
                                      <p:cBhvr>
                                        <p:cTn id="62" dur="500"/>
                                        <p:tgtEl>
                                          <p:spTgt spid="63"/>
                                        </p:tgtEl>
                                      </p:cBhvr>
                                    </p:animEffect>
                                  </p:childTnLst>
                                </p:cTn>
                              </p:par>
                              <p:par>
                                <p:cTn id="63" presetID="10" presetClass="entr" presetSubtype="0" fill="hold" nodeType="withEffect">
                                  <p:stCondLst>
                                    <p:cond delay="0"/>
                                  </p:stCondLst>
                                  <p:childTnLst>
                                    <p:set>
                                      <p:cBhvr>
                                        <p:cTn id="64" dur="1" fill="hold">
                                          <p:stCondLst>
                                            <p:cond delay="0"/>
                                          </p:stCondLst>
                                        </p:cTn>
                                        <p:tgtEl>
                                          <p:spTgt spid="6">
                                            <p:txEl>
                                              <p:pRg st="4" end="4"/>
                                            </p:txEl>
                                          </p:spTgt>
                                        </p:tgtEl>
                                        <p:attrNameLst>
                                          <p:attrName>style.visibility</p:attrName>
                                        </p:attrNameLst>
                                      </p:cBhvr>
                                      <p:to>
                                        <p:strVal val="visible"/>
                                      </p:to>
                                    </p:set>
                                    <p:animEffect transition="in" filter="fade">
                                      <p:cBhvr>
                                        <p:cTn id="65" dur="500"/>
                                        <p:tgtEl>
                                          <p:spTgt spid="6">
                                            <p:txEl>
                                              <p:pRg st="4" end="4"/>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3"/>
                                        </p:tgtEl>
                                        <p:attrNameLst>
                                          <p:attrName>style.visibility</p:attrName>
                                        </p:attrNameLst>
                                      </p:cBhvr>
                                      <p:to>
                                        <p:strVal val="visible"/>
                                      </p:to>
                                    </p:set>
                                    <p:animEffect transition="in" filter="fade">
                                      <p:cBhvr>
                                        <p:cTn id="68" dur="500"/>
                                        <p:tgtEl>
                                          <p:spTgt spid="53"/>
                                        </p:tgtEl>
                                      </p:cBhvr>
                                    </p:animEffect>
                                  </p:childTnLst>
                                </p:cTn>
                              </p:par>
                            </p:childTnLst>
                          </p:cTn>
                        </p:par>
                        <p:par>
                          <p:cTn id="69" fill="hold">
                            <p:stCondLst>
                              <p:cond delay="500"/>
                            </p:stCondLst>
                            <p:childTnLst>
                              <p:par>
                                <p:cTn id="70" presetID="10" presetClass="entr" presetSubtype="0" fill="hold" grpId="0" nodeType="afterEffect">
                                  <p:stCondLst>
                                    <p:cond delay="0"/>
                                  </p:stCondLst>
                                  <p:childTnLst>
                                    <p:set>
                                      <p:cBhvr>
                                        <p:cTn id="71" dur="1" fill="hold">
                                          <p:stCondLst>
                                            <p:cond delay="0"/>
                                          </p:stCondLst>
                                        </p:cTn>
                                        <p:tgtEl>
                                          <p:spTgt spid="57"/>
                                        </p:tgtEl>
                                        <p:attrNameLst>
                                          <p:attrName>style.visibility</p:attrName>
                                        </p:attrNameLst>
                                      </p:cBhvr>
                                      <p:to>
                                        <p:strVal val="visible"/>
                                      </p:to>
                                    </p:set>
                                    <p:animEffect transition="in" filter="fade">
                                      <p:cBhvr>
                                        <p:cTn id="72" dur="500"/>
                                        <p:tgtEl>
                                          <p:spTgt spid="57"/>
                                        </p:tgtEl>
                                      </p:cBhvr>
                                    </p:animEffect>
                                  </p:childTnLst>
                                </p:cTn>
                              </p:par>
                              <p:par>
                                <p:cTn id="73" presetID="22" presetClass="entr" presetSubtype="1" fill="hold" nodeType="withEffect">
                                  <p:stCondLst>
                                    <p:cond delay="0"/>
                                  </p:stCondLst>
                                  <p:childTnLst>
                                    <p:set>
                                      <p:cBhvr>
                                        <p:cTn id="74" dur="1" fill="hold">
                                          <p:stCondLst>
                                            <p:cond delay="0"/>
                                          </p:stCondLst>
                                        </p:cTn>
                                        <p:tgtEl>
                                          <p:spTgt spid="70"/>
                                        </p:tgtEl>
                                        <p:attrNameLst>
                                          <p:attrName>style.visibility</p:attrName>
                                        </p:attrNameLst>
                                      </p:cBhvr>
                                      <p:to>
                                        <p:strVal val="visible"/>
                                      </p:to>
                                    </p:set>
                                    <p:animEffect transition="in" filter="wipe(up)">
                                      <p:cBhvr>
                                        <p:cTn id="75" dur="500"/>
                                        <p:tgtEl>
                                          <p:spTgt spid="70"/>
                                        </p:tgtEl>
                                      </p:cBhvr>
                                    </p:animEffect>
                                  </p:childTnLst>
                                </p:cTn>
                              </p:par>
                            </p:childTnLst>
                          </p:cTn>
                        </p:par>
                        <p:par>
                          <p:cTn id="76" fill="hold">
                            <p:stCondLst>
                              <p:cond delay="1000"/>
                            </p:stCondLst>
                            <p:childTnLst>
                              <p:par>
                                <p:cTn id="77" presetID="10" presetClass="entr" presetSubtype="0"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childTnLst>
                                </p:cTn>
                              </p:par>
                              <p:par>
                                <p:cTn id="86" presetID="10" presetClass="entr" presetSubtype="0" fill="hold"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par>
                                <p:cTn id="89" presetID="22" presetClass="entr" presetSubtype="1" fill="hold" nodeType="withEffect">
                                  <p:stCondLst>
                                    <p:cond delay="0"/>
                                  </p:stCondLst>
                                  <p:childTnLst>
                                    <p:set>
                                      <p:cBhvr>
                                        <p:cTn id="90" dur="1" fill="hold">
                                          <p:stCondLst>
                                            <p:cond delay="0"/>
                                          </p:stCondLst>
                                        </p:cTn>
                                        <p:tgtEl>
                                          <p:spTgt spid="64"/>
                                        </p:tgtEl>
                                        <p:attrNameLst>
                                          <p:attrName>style.visibility</p:attrName>
                                        </p:attrNameLst>
                                      </p:cBhvr>
                                      <p:to>
                                        <p:strVal val="visible"/>
                                      </p:to>
                                    </p:set>
                                    <p:animEffect transition="in" filter="wipe(up)">
                                      <p:cBhvr>
                                        <p:cTn id="91" dur="500"/>
                                        <p:tgtEl>
                                          <p:spTgt spid="64"/>
                                        </p:tgtEl>
                                      </p:cBhvr>
                                    </p:animEffect>
                                  </p:childTnLst>
                                </p:cTn>
                              </p:par>
                            </p:childTnLst>
                          </p:cTn>
                        </p:par>
                        <p:par>
                          <p:cTn id="92" fill="hold">
                            <p:stCondLst>
                              <p:cond delay="1500"/>
                            </p:stCondLst>
                            <p:childTnLst>
                              <p:par>
                                <p:cTn id="93" presetID="10" presetClass="entr" presetSubtype="0" fill="hold" grpId="0" nodeType="after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500"/>
                                        <p:tgtEl>
                                          <p:spTgt spid="3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fade">
                                      <p:cBhvr>
                                        <p:cTn id="98" dur="500"/>
                                        <p:tgtEl>
                                          <p:spTgt spid="4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fade">
                                      <p:cBhvr>
                                        <p:cTn id="101" dur="500"/>
                                        <p:tgtEl>
                                          <p:spTgt spid="43"/>
                                        </p:tgtEl>
                                      </p:cBhvr>
                                    </p:animEffect>
                                  </p:childTnLst>
                                </p:cTn>
                              </p:par>
                              <p:par>
                                <p:cTn id="102" presetID="10" presetClass="entr" presetSubtype="0" fill="hold" nodeType="withEffect">
                                  <p:stCondLst>
                                    <p:cond delay="0"/>
                                  </p:stCondLst>
                                  <p:childTnLst>
                                    <p:set>
                                      <p:cBhvr>
                                        <p:cTn id="103" dur="1" fill="hold">
                                          <p:stCondLst>
                                            <p:cond delay="0"/>
                                          </p:stCondLst>
                                        </p:cTn>
                                        <p:tgtEl>
                                          <p:spTgt spid="48"/>
                                        </p:tgtEl>
                                        <p:attrNameLst>
                                          <p:attrName>style.visibility</p:attrName>
                                        </p:attrNameLst>
                                      </p:cBhvr>
                                      <p:to>
                                        <p:strVal val="visible"/>
                                      </p:to>
                                    </p:set>
                                    <p:animEffect transition="in" filter="fade">
                                      <p:cBhvr>
                                        <p:cTn id="104" dur="500"/>
                                        <p:tgtEl>
                                          <p:spTgt spid="48"/>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6">
                                            <p:txEl>
                                              <p:pRg st="6" end="6"/>
                                            </p:txEl>
                                          </p:spTgt>
                                        </p:tgtEl>
                                        <p:attrNameLst>
                                          <p:attrName>style.visibility</p:attrName>
                                        </p:attrNameLst>
                                      </p:cBhvr>
                                      <p:to>
                                        <p:strVal val="visible"/>
                                      </p:to>
                                    </p:set>
                                    <p:animEffect transition="in" filter="fade">
                                      <p:cBhvr>
                                        <p:cTn id="109" dur="500"/>
                                        <p:tgtEl>
                                          <p:spTgt spid="6">
                                            <p:txEl>
                                              <p:pRg st="6" end="6"/>
                                            </p:txEl>
                                          </p:spTgt>
                                        </p:tgtEl>
                                      </p:cBhvr>
                                    </p:animEffect>
                                  </p:childTnLst>
                                </p:cTn>
                              </p:par>
                            </p:childTnLst>
                          </p:cTn>
                        </p:par>
                        <p:par>
                          <p:cTn id="110" fill="hold">
                            <p:stCondLst>
                              <p:cond delay="500"/>
                            </p:stCondLst>
                            <p:childTnLst>
                              <p:par>
                                <p:cTn id="111" presetID="10" presetClass="exit" presetSubtype="0" fill="hold" grpId="1" nodeType="afterEffect">
                                  <p:stCondLst>
                                    <p:cond delay="0"/>
                                  </p:stCondLst>
                                  <p:childTnLst>
                                    <p:animEffect transition="out" filter="fade">
                                      <p:cBhvr>
                                        <p:cTn id="112" dur="500"/>
                                        <p:tgtEl>
                                          <p:spTgt spid="56"/>
                                        </p:tgtEl>
                                      </p:cBhvr>
                                    </p:animEffect>
                                    <p:set>
                                      <p:cBhvr>
                                        <p:cTn id="113" dur="1" fill="hold">
                                          <p:stCondLst>
                                            <p:cond delay="499"/>
                                          </p:stCondLst>
                                        </p:cTn>
                                        <p:tgtEl>
                                          <p:spTgt spid="56"/>
                                        </p:tgtEl>
                                        <p:attrNameLst>
                                          <p:attrName>style.visibility</p:attrName>
                                        </p:attrNameLst>
                                      </p:cBhvr>
                                      <p:to>
                                        <p:strVal val="hidden"/>
                                      </p:to>
                                    </p:set>
                                  </p:childTnLst>
                                </p:cTn>
                              </p:par>
                              <p:par>
                                <p:cTn id="114" presetID="53" presetClass="entr" presetSubtype="16" fill="hold" grpId="0" nodeType="withEffect">
                                  <p:stCondLst>
                                    <p:cond delay="0"/>
                                  </p:stCondLst>
                                  <p:childTnLst>
                                    <p:set>
                                      <p:cBhvr>
                                        <p:cTn id="115" dur="1" fill="hold">
                                          <p:stCondLst>
                                            <p:cond delay="0"/>
                                          </p:stCondLst>
                                        </p:cTn>
                                        <p:tgtEl>
                                          <p:spTgt spid="71"/>
                                        </p:tgtEl>
                                        <p:attrNameLst>
                                          <p:attrName>style.visibility</p:attrName>
                                        </p:attrNameLst>
                                      </p:cBhvr>
                                      <p:to>
                                        <p:strVal val="visible"/>
                                      </p:to>
                                    </p:set>
                                    <p:anim calcmode="lin" valueType="num">
                                      <p:cBhvr>
                                        <p:cTn id="116" dur="500" fill="hold"/>
                                        <p:tgtEl>
                                          <p:spTgt spid="71"/>
                                        </p:tgtEl>
                                        <p:attrNameLst>
                                          <p:attrName>ppt_w</p:attrName>
                                        </p:attrNameLst>
                                      </p:cBhvr>
                                      <p:tavLst>
                                        <p:tav tm="0">
                                          <p:val>
                                            <p:fltVal val="0"/>
                                          </p:val>
                                        </p:tav>
                                        <p:tav tm="100000">
                                          <p:val>
                                            <p:strVal val="#ppt_w"/>
                                          </p:val>
                                        </p:tav>
                                      </p:tavLst>
                                    </p:anim>
                                    <p:anim calcmode="lin" valueType="num">
                                      <p:cBhvr>
                                        <p:cTn id="117" dur="500" fill="hold"/>
                                        <p:tgtEl>
                                          <p:spTgt spid="71"/>
                                        </p:tgtEl>
                                        <p:attrNameLst>
                                          <p:attrName>ppt_h</p:attrName>
                                        </p:attrNameLst>
                                      </p:cBhvr>
                                      <p:tavLst>
                                        <p:tav tm="0">
                                          <p:val>
                                            <p:fltVal val="0"/>
                                          </p:val>
                                        </p:tav>
                                        <p:tav tm="100000">
                                          <p:val>
                                            <p:strVal val="#ppt_h"/>
                                          </p:val>
                                        </p:tav>
                                      </p:tavLst>
                                    </p:anim>
                                    <p:animEffect transition="in" filter="fade">
                                      <p:cBhvr>
                                        <p:cTn id="118" dur="500"/>
                                        <p:tgtEl>
                                          <p:spTgt spid="71"/>
                                        </p:tgtEl>
                                      </p:cBhvr>
                                    </p:animEffect>
                                  </p:childTnLst>
                                </p:cTn>
                              </p:par>
                            </p:childTnLst>
                          </p:cTn>
                        </p:par>
                        <p:par>
                          <p:cTn id="119" fill="hold">
                            <p:stCondLst>
                              <p:cond delay="1000"/>
                            </p:stCondLst>
                            <p:childTnLst>
                              <p:par>
                                <p:cTn id="120" presetID="10" presetClass="exit" presetSubtype="0" fill="hold" grpId="1" nodeType="afterEffect">
                                  <p:stCondLst>
                                    <p:cond delay="0"/>
                                  </p:stCondLst>
                                  <p:childTnLst>
                                    <p:animEffect transition="out" filter="fade">
                                      <p:cBhvr>
                                        <p:cTn id="121" dur="500"/>
                                        <p:tgtEl>
                                          <p:spTgt spid="18"/>
                                        </p:tgtEl>
                                      </p:cBhvr>
                                    </p:animEffect>
                                    <p:set>
                                      <p:cBhvr>
                                        <p:cTn id="122" dur="1" fill="hold">
                                          <p:stCondLst>
                                            <p:cond delay="499"/>
                                          </p:stCondLst>
                                        </p:cTn>
                                        <p:tgtEl>
                                          <p:spTgt spid="18"/>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500"/>
                                        <p:tgtEl>
                                          <p:spTgt spid="22"/>
                                        </p:tgtEl>
                                      </p:cBhvr>
                                    </p:animEffect>
                                    <p:set>
                                      <p:cBhvr>
                                        <p:cTn id="125" dur="1" fill="hold">
                                          <p:stCondLst>
                                            <p:cond delay="499"/>
                                          </p:stCondLst>
                                        </p:cTn>
                                        <p:tgtEl>
                                          <p:spTgt spid="22"/>
                                        </p:tgtEl>
                                        <p:attrNameLst>
                                          <p:attrName>style.visibility</p:attrName>
                                        </p:attrNameLst>
                                      </p:cBhvr>
                                      <p:to>
                                        <p:strVal val="hidden"/>
                                      </p:to>
                                    </p:set>
                                  </p:childTnLst>
                                </p:cTn>
                              </p:par>
                              <p:par>
                                <p:cTn id="126" presetID="10" presetClass="exit" presetSubtype="0" fill="hold" nodeType="withEffect">
                                  <p:stCondLst>
                                    <p:cond delay="0"/>
                                  </p:stCondLst>
                                  <p:childTnLst>
                                    <p:animEffect transition="out" filter="fade">
                                      <p:cBhvr>
                                        <p:cTn id="127" dur="500"/>
                                        <p:tgtEl>
                                          <p:spTgt spid="24"/>
                                        </p:tgtEl>
                                      </p:cBhvr>
                                    </p:animEffect>
                                    <p:set>
                                      <p:cBhvr>
                                        <p:cTn id="128" dur="1" fill="hold">
                                          <p:stCondLst>
                                            <p:cond delay="499"/>
                                          </p:stCondLst>
                                        </p:cTn>
                                        <p:tgtEl>
                                          <p:spTgt spid="24"/>
                                        </p:tgtEl>
                                        <p:attrNameLst>
                                          <p:attrName>style.visibility</p:attrName>
                                        </p:attrNameLst>
                                      </p:cBhvr>
                                      <p:to>
                                        <p:strVal val="hidden"/>
                                      </p:to>
                                    </p:set>
                                  </p:childTnLst>
                                </p:cTn>
                              </p:par>
                              <p:par>
                                <p:cTn id="129" presetID="10" presetClass="exit" presetSubtype="0" fill="hold" grpId="1" nodeType="withEffect">
                                  <p:stCondLst>
                                    <p:cond delay="0"/>
                                  </p:stCondLst>
                                  <p:childTnLst>
                                    <p:animEffect transition="out" filter="fade">
                                      <p:cBhvr>
                                        <p:cTn id="130" dur="500"/>
                                        <p:tgtEl>
                                          <p:spTgt spid="20"/>
                                        </p:tgtEl>
                                      </p:cBhvr>
                                    </p:animEffect>
                                    <p:set>
                                      <p:cBhvr>
                                        <p:cTn id="131" dur="1" fill="hold">
                                          <p:stCondLst>
                                            <p:cond delay="499"/>
                                          </p:stCondLst>
                                        </p:cTn>
                                        <p:tgtEl>
                                          <p:spTgt spid="20"/>
                                        </p:tgtEl>
                                        <p:attrNameLst>
                                          <p:attrName>style.visibility</p:attrName>
                                        </p:attrNameLst>
                                      </p:cBhvr>
                                      <p:to>
                                        <p:strVal val="hidden"/>
                                      </p:to>
                                    </p:set>
                                  </p:childTnLst>
                                </p:cTn>
                              </p:par>
                            </p:childTnLst>
                          </p:cTn>
                        </p:par>
                        <p:par>
                          <p:cTn id="132" fill="hold">
                            <p:stCondLst>
                              <p:cond delay="1500"/>
                            </p:stCondLst>
                            <p:childTnLst>
                              <p:par>
                                <p:cTn id="133" presetID="22" presetClass="exit" presetSubtype="4" fill="hold" nodeType="afterEffect">
                                  <p:stCondLst>
                                    <p:cond delay="0"/>
                                  </p:stCondLst>
                                  <p:childTnLst>
                                    <p:animEffect transition="out" filter="wipe(down)">
                                      <p:cBhvr>
                                        <p:cTn id="134" dur="500"/>
                                        <p:tgtEl>
                                          <p:spTgt spid="59"/>
                                        </p:tgtEl>
                                      </p:cBhvr>
                                    </p:animEffect>
                                    <p:set>
                                      <p:cBhvr>
                                        <p:cTn id="135" dur="1" fill="hold">
                                          <p:stCondLst>
                                            <p:cond delay="499"/>
                                          </p:stCondLst>
                                        </p:cTn>
                                        <p:tgtEl>
                                          <p:spTgt spid="59"/>
                                        </p:tgtEl>
                                        <p:attrNameLst>
                                          <p:attrName>style.visibility</p:attrName>
                                        </p:attrNameLst>
                                      </p:cBhvr>
                                      <p:to>
                                        <p:strVal val="hidden"/>
                                      </p:to>
                                    </p:set>
                                  </p:childTnLst>
                                </p:cTn>
                              </p:par>
                            </p:childTnLst>
                          </p:cTn>
                        </p:par>
                        <p:par>
                          <p:cTn id="136" fill="hold">
                            <p:stCondLst>
                              <p:cond delay="2000"/>
                            </p:stCondLst>
                            <p:childTnLst>
                              <p:par>
                                <p:cTn id="137" presetID="10" presetClass="exit" presetSubtype="0" fill="hold" grpId="1" nodeType="afterEffect">
                                  <p:stCondLst>
                                    <p:cond delay="0"/>
                                  </p:stCondLst>
                                  <p:childTnLst>
                                    <p:animEffect transition="out" filter="fade">
                                      <p:cBhvr>
                                        <p:cTn id="138" dur="500"/>
                                        <p:tgtEl>
                                          <p:spTgt spid="38"/>
                                        </p:tgtEl>
                                      </p:cBhvr>
                                    </p:animEffect>
                                    <p:set>
                                      <p:cBhvr>
                                        <p:cTn id="139" dur="1" fill="hold">
                                          <p:stCondLst>
                                            <p:cond delay="499"/>
                                          </p:stCondLst>
                                        </p:cTn>
                                        <p:tgtEl>
                                          <p:spTgt spid="38"/>
                                        </p:tgtEl>
                                        <p:attrNameLst>
                                          <p:attrName>style.visibility</p:attrName>
                                        </p:attrNameLst>
                                      </p:cBhvr>
                                      <p:to>
                                        <p:strVal val="hidden"/>
                                      </p:to>
                                    </p:set>
                                  </p:childTnLst>
                                </p:cTn>
                              </p:par>
                              <p:par>
                                <p:cTn id="140" presetID="10" presetClass="exit" presetSubtype="0" fill="hold" grpId="1" nodeType="withEffect">
                                  <p:stCondLst>
                                    <p:cond delay="0"/>
                                  </p:stCondLst>
                                  <p:childTnLst>
                                    <p:animEffect transition="out" filter="fade">
                                      <p:cBhvr>
                                        <p:cTn id="141" dur="500"/>
                                        <p:tgtEl>
                                          <p:spTgt spid="42"/>
                                        </p:tgtEl>
                                      </p:cBhvr>
                                    </p:animEffect>
                                    <p:set>
                                      <p:cBhvr>
                                        <p:cTn id="142" dur="1" fill="hold">
                                          <p:stCondLst>
                                            <p:cond delay="499"/>
                                          </p:stCondLst>
                                        </p:cTn>
                                        <p:tgtEl>
                                          <p:spTgt spid="42"/>
                                        </p:tgtEl>
                                        <p:attrNameLst>
                                          <p:attrName>style.visibility</p:attrName>
                                        </p:attrNameLst>
                                      </p:cBhvr>
                                      <p:to>
                                        <p:strVal val="hidden"/>
                                      </p:to>
                                    </p:set>
                                  </p:childTnLst>
                                </p:cTn>
                              </p:par>
                              <p:par>
                                <p:cTn id="143" presetID="10" presetClass="exit" presetSubtype="0" fill="hold" nodeType="withEffect">
                                  <p:stCondLst>
                                    <p:cond delay="0"/>
                                  </p:stCondLst>
                                  <p:childTnLst>
                                    <p:animEffect transition="out" filter="fade">
                                      <p:cBhvr>
                                        <p:cTn id="144" dur="500"/>
                                        <p:tgtEl>
                                          <p:spTgt spid="44"/>
                                        </p:tgtEl>
                                      </p:cBhvr>
                                    </p:animEffect>
                                    <p:set>
                                      <p:cBhvr>
                                        <p:cTn id="145" dur="1" fill="hold">
                                          <p:stCondLst>
                                            <p:cond delay="499"/>
                                          </p:stCondLst>
                                        </p:cTn>
                                        <p:tgtEl>
                                          <p:spTgt spid="44"/>
                                        </p:tgtEl>
                                        <p:attrNameLst>
                                          <p:attrName>style.visibility</p:attrName>
                                        </p:attrNameLst>
                                      </p:cBhvr>
                                      <p:to>
                                        <p:strVal val="hidden"/>
                                      </p:to>
                                    </p:set>
                                  </p:childTnLst>
                                </p:cTn>
                              </p:par>
                              <p:par>
                                <p:cTn id="146" presetID="10" presetClass="exit" presetSubtype="0" fill="hold" grpId="1" nodeType="withEffect">
                                  <p:stCondLst>
                                    <p:cond delay="0"/>
                                  </p:stCondLst>
                                  <p:childTnLst>
                                    <p:animEffect transition="out" filter="fade">
                                      <p:cBhvr>
                                        <p:cTn id="147" dur="500"/>
                                        <p:tgtEl>
                                          <p:spTgt spid="40"/>
                                        </p:tgtEl>
                                      </p:cBhvr>
                                    </p:animEffect>
                                    <p:set>
                                      <p:cBhvr>
                                        <p:cTn id="148" dur="1" fill="hold">
                                          <p:stCondLst>
                                            <p:cond delay="499"/>
                                          </p:stCondLst>
                                        </p:cTn>
                                        <p:tgtEl>
                                          <p:spTgt spid="40"/>
                                        </p:tgtEl>
                                        <p:attrNameLst>
                                          <p:attrName>style.visibility</p:attrName>
                                        </p:attrNameLst>
                                      </p:cBhvr>
                                      <p:to>
                                        <p:strVal val="hidden"/>
                                      </p:to>
                                    </p:set>
                                  </p:childTnLst>
                                </p:cTn>
                              </p:par>
                            </p:childTnLst>
                          </p:cTn>
                        </p:par>
                        <p:par>
                          <p:cTn id="149" fill="hold">
                            <p:stCondLst>
                              <p:cond delay="2500"/>
                            </p:stCondLst>
                            <p:childTnLst>
                              <p:par>
                                <p:cTn id="150" presetID="22" presetClass="exit" presetSubtype="4" fill="hold" nodeType="afterEffect">
                                  <p:stCondLst>
                                    <p:cond delay="0"/>
                                  </p:stCondLst>
                                  <p:childTnLst>
                                    <p:animEffect transition="out" filter="wipe(down)">
                                      <p:cBhvr>
                                        <p:cTn id="151" dur="500"/>
                                        <p:tgtEl>
                                          <p:spTgt spid="60"/>
                                        </p:tgtEl>
                                      </p:cBhvr>
                                    </p:animEffect>
                                    <p:set>
                                      <p:cBhvr>
                                        <p:cTn id="152" dur="1" fill="hold">
                                          <p:stCondLst>
                                            <p:cond delay="499"/>
                                          </p:stCondLst>
                                        </p:cTn>
                                        <p:tgtEl>
                                          <p:spTgt spid="60"/>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3"/>
                                        </p:tgtEl>
                                        <p:attrNameLst>
                                          <p:attrName>style.visibility</p:attrName>
                                        </p:attrNameLst>
                                      </p:cBhvr>
                                      <p:to>
                                        <p:strVal val="visible"/>
                                      </p:to>
                                    </p:set>
                                    <p:animEffect transition="in" filter="fade">
                                      <p:cBhvr>
                                        <p:cTn id="15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animBg="1"/>
      <p:bldP spid="18" grpId="1" animBg="1"/>
      <p:bldP spid="19" grpId="0" animBg="1"/>
      <p:bldP spid="20" grpId="0"/>
      <p:bldP spid="20" grpId="1"/>
      <p:bldP spid="21" grpId="0"/>
      <p:bldP spid="22" grpId="0"/>
      <p:bldP spid="22" grpId="1"/>
      <p:bldP spid="23" grpId="0"/>
      <p:bldP spid="38" grpId="0" animBg="1"/>
      <p:bldP spid="38" grpId="1" animBg="1"/>
      <p:bldP spid="39" grpId="0" animBg="1"/>
      <p:bldP spid="40" grpId="0"/>
      <p:bldP spid="40" grpId="1"/>
      <p:bldP spid="41" grpId="0"/>
      <p:bldP spid="42" grpId="0"/>
      <p:bldP spid="42" grpId="1"/>
      <p:bldP spid="43" grpId="0"/>
      <p:bldP spid="52" grpId="0" animBg="1"/>
      <p:bldP spid="53" grpId="0" animBg="1"/>
      <p:bldP spid="56" grpId="0"/>
      <p:bldP spid="56" grpId="1"/>
      <p:bldP spid="57" grpId="0"/>
      <p:bldP spid="62" grpId="0" animBg="1"/>
      <p:bldP spid="71" grpId="0"/>
      <p:bldP spid="7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D827C-BB69-4735-BF02-2AA1C8AD254B}"/>
              </a:ext>
            </a:extLst>
          </p:cNvPr>
          <p:cNvSpPr>
            <a:spLocks noGrp="1"/>
          </p:cNvSpPr>
          <p:nvPr>
            <p:ph type="title"/>
          </p:nvPr>
        </p:nvSpPr>
        <p:spPr/>
        <p:txBody>
          <a:bodyPr/>
          <a:lstStyle/>
          <a:p>
            <a:r>
              <a:rPr lang="en-US" dirty="0">
                <a:solidFill>
                  <a:schemeClr val="bg1"/>
                </a:solidFill>
              </a:rPr>
              <a:t>Natively Supported Deployment Strategies</a:t>
            </a:r>
          </a:p>
        </p:txBody>
      </p:sp>
      <p:sp>
        <p:nvSpPr>
          <p:cNvPr id="3" name="Content Placeholder 2">
            <a:extLst>
              <a:ext uri="{FF2B5EF4-FFF2-40B4-BE49-F238E27FC236}">
                <a16:creationId xmlns:a16="http://schemas.microsoft.com/office/drawing/2014/main" id="{0D9D4807-51AB-42C1-9921-71817C4BDDFA}"/>
              </a:ext>
            </a:extLst>
          </p:cNvPr>
          <p:cNvSpPr>
            <a:spLocks noGrp="1"/>
          </p:cNvSpPr>
          <p:nvPr>
            <p:ph sz="quarter" idx="10"/>
          </p:nvPr>
        </p:nvSpPr>
        <p:spPr>
          <a:xfrm>
            <a:off x="367553" y="1350952"/>
            <a:ext cx="11357087" cy="738664"/>
          </a:xfrm>
        </p:spPr>
        <p:txBody>
          <a:bodyPr/>
          <a:lstStyle/>
          <a:p>
            <a:r>
              <a:rPr lang="en-US" dirty="0"/>
              <a:t>A deployment strategy is a way to change or upgrade an application.  The two directly supported Kubernetes deployment strategies are:</a:t>
            </a:r>
          </a:p>
        </p:txBody>
      </p:sp>
      <p:pic>
        <p:nvPicPr>
          <p:cNvPr id="7" name="Picture 6" descr="Graphical user interface, text, application&#10;&#10;Description automatically generated">
            <a:extLst>
              <a:ext uri="{FF2B5EF4-FFF2-40B4-BE49-F238E27FC236}">
                <a16:creationId xmlns:a16="http://schemas.microsoft.com/office/drawing/2014/main" id="{B3B60853-BDFA-4706-B3C3-2CAABB4AC877}"/>
              </a:ext>
            </a:extLst>
          </p:cNvPr>
          <p:cNvPicPr>
            <a:picLocks noChangeAspect="1"/>
          </p:cNvPicPr>
          <p:nvPr/>
        </p:nvPicPr>
        <p:blipFill>
          <a:blip r:embed="rId2"/>
          <a:stretch>
            <a:fillRect/>
          </a:stretch>
        </p:blipFill>
        <p:spPr>
          <a:xfrm>
            <a:off x="7882212" y="2334611"/>
            <a:ext cx="2387187" cy="948881"/>
          </a:xfrm>
          <a:prstGeom prst="rect">
            <a:avLst/>
          </a:prstGeom>
        </p:spPr>
      </p:pic>
      <p:sp>
        <p:nvSpPr>
          <p:cNvPr id="8" name="Content Placeholder 2">
            <a:extLst>
              <a:ext uri="{FF2B5EF4-FFF2-40B4-BE49-F238E27FC236}">
                <a16:creationId xmlns:a16="http://schemas.microsoft.com/office/drawing/2014/main" id="{6040E05C-949E-4939-A702-74A94D721CA8}"/>
              </a:ext>
            </a:extLst>
          </p:cNvPr>
          <p:cNvSpPr txBox="1">
            <a:spLocks/>
          </p:cNvSpPr>
          <p:nvPr/>
        </p:nvSpPr>
        <p:spPr>
          <a:xfrm>
            <a:off x="372765" y="2264273"/>
            <a:ext cx="5857213" cy="2215991"/>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1200"/>
              </a:spcAft>
              <a:buClrTx/>
              <a:buSzPct val="90000"/>
              <a:buFont typeface="Wingdings" panose="05000000000000000000" pitchFamily="2" charset="2"/>
              <a:buNone/>
              <a:tabLst/>
              <a:defRPr sz="24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u="sng" dirty="0"/>
              <a:t>Rolling Update</a:t>
            </a:r>
            <a:r>
              <a:rPr lang="en-US" dirty="0"/>
              <a:t> - Consists of </a:t>
            </a:r>
            <a:r>
              <a:rPr lang="en-US" i="1" u="sng" dirty="0"/>
              <a:t>slowly</a:t>
            </a:r>
            <a:r>
              <a:rPr lang="en-US" dirty="0"/>
              <a:t> rolling out a new version of an application by replacing instances one after the old version until all the instances are rolled out.  This is the </a:t>
            </a:r>
            <a:r>
              <a:rPr lang="en-US" i="1" u="sng" dirty="0"/>
              <a:t>default</a:t>
            </a:r>
            <a:r>
              <a:rPr lang="en-US" dirty="0"/>
              <a:t> strategy for Kubernetes Deployments when none is specified.</a:t>
            </a:r>
          </a:p>
        </p:txBody>
      </p:sp>
      <p:pic>
        <p:nvPicPr>
          <p:cNvPr id="10" name="Picture 9" descr="Graphical user interface&#10;&#10;Description automatically generated">
            <a:extLst>
              <a:ext uri="{FF2B5EF4-FFF2-40B4-BE49-F238E27FC236}">
                <a16:creationId xmlns:a16="http://schemas.microsoft.com/office/drawing/2014/main" id="{0F01F76F-75C4-4928-9372-4324A12C0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6352" y="3387811"/>
            <a:ext cx="5058908" cy="3357344"/>
          </a:xfrm>
          <a:prstGeom prst="rect">
            <a:avLst/>
          </a:prstGeom>
        </p:spPr>
      </p:pic>
    </p:spTree>
    <p:extLst>
      <p:ext uri="{BB962C8B-B14F-4D97-AF65-F5344CB8AC3E}">
        <p14:creationId xmlns:p14="http://schemas.microsoft.com/office/powerpoint/2010/main" val="3016734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D827C-BB69-4735-BF02-2AA1C8AD254B}"/>
              </a:ext>
            </a:extLst>
          </p:cNvPr>
          <p:cNvSpPr>
            <a:spLocks noGrp="1"/>
          </p:cNvSpPr>
          <p:nvPr>
            <p:ph type="title"/>
          </p:nvPr>
        </p:nvSpPr>
        <p:spPr/>
        <p:txBody>
          <a:bodyPr/>
          <a:lstStyle/>
          <a:p>
            <a:r>
              <a:rPr lang="en-US" dirty="0">
                <a:solidFill>
                  <a:schemeClr val="bg1"/>
                </a:solidFill>
              </a:rPr>
              <a:t>Natively Supported Deployment Strategies</a:t>
            </a:r>
          </a:p>
        </p:txBody>
      </p:sp>
      <p:sp>
        <p:nvSpPr>
          <p:cNvPr id="8" name="Content Placeholder 2">
            <a:extLst>
              <a:ext uri="{FF2B5EF4-FFF2-40B4-BE49-F238E27FC236}">
                <a16:creationId xmlns:a16="http://schemas.microsoft.com/office/drawing/2014/main" id="{6040E05C-949E-4939-A702-74A94D721CA8}"/>
              </a:ext>
            </a:extLst>
          </p:cNvPr>
          <p:cNvSpPr txBox="1">
            <a:spLocks/>
          </p:cNvSpPr>
          <p:nvPr/>
        </p:nvSpPr>
        <p:spPr>
          <a:xfrm>
            <a:off x="367553" y="1516936"/>
            <a:ext cx="5728447" cy="2215991"/>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1200"/>
              </a:spcAft>
              <a:buClrTx/>
              <a:buSzPct val="90000"/>
              <a:buFont typeface="Wingdings" panose="05000000000000000000" pitchFamily="2" charset="2"/>
              <a:buNone/>
              <a:tabLst/>
              <a:defRPr sz="24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u="sng" dirty="0"/>
              <a:t>Recreate</a:t>
            </a:r>
            <a:r>
              <a:rPr lang="en-US" dirty="0"/>
              <a:t> - Consists of </a:t>
            </a:r>
            <a:r>
              <a:rPr lang="en-US" i="1" u="sng" dirty="0"/>
              <a:t>shutting down</a:t>
            </a:r>
            <a:r>
              <a:rPr lang="en-US" dirty="0"/>
              <a:t> all instances of the current version, then deploying the new version. This technique implies downtime of the service that depends on both shutdown and boot duration of the application.  </a:t>
            </a:r>
          </a:p>
        </p:txBody>
      </p:sp>
      <p:pic>
        <p:nvPicPr>
          <p:cNvPr id="12" name="Picture 11" descr="Graphical user interface, text, application&#10;&#10;Description automatically generated">
            <a:extLst>
              <a:ext uri="{FF2B5EF4-FFF2-40B4-BE49-F238E27FC236}">
                <a16:creationId xmlns:a16="http://schemas.microsoft.com/office/drawing/2014/main" id="{CC241E3D-064E-4773-876A-E528D56A1A3D}"/>
              </a:ext>
            </a:extLst>
          </p:cNvPr>
          <p:cNvPicPr>
            <a:picLocks noChangeAspect="1"/>
          </p:cNvPicPr>
          <p:nvPr/>
        </p:nvPicPr>
        <p:blipFill>
          <a:blip r:embed="rId2"/>
          <a:stretch>
            <a:fillRect/>
          </a:stretch>
        </p:blipFill>
        <p:spPr>
          <a:xfrm>
            <a:off x="8034968" y="1596733"/>
            <a:ext cx="2370789" cy="964389"/>
          </a:xfrm>
          <a:prstGeom prst="rect">
            <a:avLst/>
          </a:prstGeom>
        </p:spPr>
      </p:pic>
      <p:pic>
        <p:nvPicPr>
          <p:cNvPr id="14" name="Picture 13" descr="Graphical user interface, application&#10;&#10;Description automatically generated">
            <a:extLst>
              <a:ext uri="{FF2B5EF4-FFF2-40B4-BE49-F238E27FC236}">
                <a16:creationId xmlns:a16="http://schemas.microsoft.com/office/drawing/2014/main" id="{4DE3DAF0-4904-42A7-AAC5-B7AEE6616A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1042" y="2696070"/>
            <a:ext cx="5538643" cy="3675720"/>
          </a:xfrm>
          <a:prstGeom prst="rect">
            <a:avLst/>
          </a:prstGeom>
        </p:spPr>
      </p:pic>
    </p:spTree>
    <p:extLst>
      <p:ext uri="{BB962C8B-B14F-4D97-AF65-F5344CB8AC3E}">
        <p14:creationId xmlns:p14="http://schemas.microsoft.com/office/powerpoint/2010/main" val="5826418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E60B-2FB8-472C-9E3A-2C8B08BBC4A5}"/>
              </a:ext>
            </a:extLst>
          </p:cNvPr>
          <p:cNvSpPr>
            <a:spLocks noGrp="1"/>
          </p:cNvSpPr>
          <p:nvPr>
            <p:ph type="title"/>
          </p:nvPr>
        </p:nvSpPr>
        <p:spPr>
          <a:xfrm>
            <a:off x="586740" y="347349"/>
            <a:ext cx="11018520" cy="553998"/>
          </a:xfrm>
        </p:spPr>
        <p:txBody>
          <a:bodyPr/>
          <a:lstStyle/>
          <a:p>
            <a:r>
              <a:rPr lang="en-US" dirty="0" err="1">
                <a:solidFill>
                  <a:schemeClr val="bg1"/>
                </a:solidFill>
              </a:rPr>
              <a:t>Kubectl</a:t>
            </a:r>
            <a:r>
              <a:rPr lang="en-US" dirty="0">
                <a:solidFill>
                  <a:schemeClr val="bg1"/>
                </a:solidFill>
              </a:rPr>
              <a:t> (“</a:t>
            </a:r>
            <a:r>
              <a:rPr lang="en-US" dirty="0" err="1">
                <a:solidFill>
                  <a:schemeClr val="bg1"/>
                </a:solidFill>
              </a:rPr>
              <a:t>kube</a:t>
            </a:r>
            <a:r>
              <a:rPr lang="en-US" dirty="0">
                <a:solidFill>
                  <a:schemeClr val="bg1"/>
                </a:solidFill>
              </a:rPr>
              <a:t> cuttle” or “</a:t>
            </a:r>
            <a:r>
              <a:rPr lang="en-US" dirty="0" err="1">
                <a:solidFill>
                  <a:schemeClr val="bg1"/>
                </a:solidFill>
              </a:rPr>
              <a:t>kube</a:t>
            </a:r>
            <a:r>
              <a:rPr lang="en-US" dirty="0">
                <a:solidFill>
                  <a:schemeClr val="bg1"/>
                </a:solidFill>
              </a:rPr>
              <a:t> control”)</a:t>
            </a:r>
          </a:p>
        </p:txBody>
      </p:sp>
      <p:sp>
        <p:nvSpPr>
          <p:cNvPr id="3" name="Content Placeholder 2">
            <a:extLst>
              <a:ext uri="{FF2B5EF4-FFF2-40B4-BE49-F238E27FC236}">
                <a16:creationId xmlns:a16="http://schemas.microsoft.com/office/drawing/2014/main" id="{110FD5BC-9C92-45FB-9C65-653C956252C4}"/>
              </a:ext>
            </a:extLst>
          </p:cNvPr>
          <p:cNvSpPr>
            <a:spLocks noGrp="1"/>
          </p:cNvSpPr>
          <p:nvPr>
            <p:ph sz="quarter" idx="10"/>
          </p:nvPr>
        </p:nvSpPr>
        <p:spPr>
          <a:xfrm>
            <a:off x="348225" y="1334798"/>
            <a:ext cx="11257035" cy="5386090"/>
          </a:xfrm>
        </p:spPr>
        <p:txBody>
          <a:bodyPr/>
          <a:lstStyle/>
          <a:p>
            <a:pPr marL="457200" indent="-457200" algn="just">
              <a:spcBef>
                <a:spcPts val="600"/>
              </a:spcBef>
              <a:spcAft>
                <a:spcPts val="0"/>
              </a:spcAft>
              <a:buFont typeface="Arial" panose="020B0604020202020204" pitchFamily="34" charset="0"/>
              <a:buChar char="•"/>
            </a:pPr>
            <a:r>
              <a:rPr lang="en-US" b="1" u="sng" dirty="0" err="1"/>
              <a:t>Kubectl</a:t>
            </a:r>
            <a:r>
              <a:rPr lang="en-US" dirty="0"/>
              <a:t> is the official command line utility used to interact with the Kubernetes cluster and its resources.  </a:t>
            </a:r>
          </a:p>
          <a:p>
            <a:pPr marL="457200" indent="-457200" algn="just">
              <a:spcBef>
                <a:spcPts val="600"/>
              </a:spcBef>
              <a:spcAft>
                <a:spcPts val="0"/>
              </a:spcAft>
              <a:buFont typeface="Arial" panose="020B0604020202020204" pitchFamily="34" charset="0"/>
              <a:buChar char="•"/>
            </a:pPr>
            <a:r>
              <a:rPr lang="en-US" dirty="0"/>
              <a:t>Common commands include:  </a:t>
            </a:r>
          </a:p>
          <a:p>
            <a:pPr marL="914400" lvl="1" indent="-457200" algn="just">
              <a:spcBef>
                <a:spcPts val="600"/>
              </a:spcBef>
              <a:spcAft>
                <a:spcPts val="0"/>
              </a:spcAft>
              <a:buFont typeface="Arial" panose="020B0604020202020204" pitchFamily="34" charset="0"/>
              <a:buChar char="•"/>
            </a:pPr>
            <a:r>
              <a:rPr lang="en-US" b="1" i="1" u="sng" dirty="0"/>
              <a:t>Get</a:t>
            </a:r>
            <a:r>
              <a:rPr lang="en-US" dirty="0"/>
              <a:t> – Returns a list of objects.  Can get all the details for a specific object in </a:t>
            </a:r>
            <a:r>
              <a:rPr lang="en-US" i="1" dirty="0" err="1"/>
              <a:t>yaml</a:t>
            </a:r>
            <a:r>
              <a:rPr lang="en-US" dirty="0"/>
              <a:t> or </a:t>
            </a:r>
            <a:r>
              <a:rPr lang="en-US" i="1" dirty="0" err="1"/>
              <a:t>json</a:t>
            </a:r>
            <a:r>
              <a:rPr lang="en-US" dirty="0"/>
              <a:t> format.</a:t>
            </a:r>
          </a:p>
          <a:p>
            <a:pPr marL="1114425" lvl="2" indent="-457200" algn="just">
              <a:spcBef>
                <a:spcPts val="600"/>
              </a:spcBef>
              <a:spcAft>
                <a:spcPts val="0"/>
              </a:spcAft>
              <a:buFont typeface="Arial" panose="020B0604020202020204" pitchFamily="34" charset="0"/>
              <a:buChar char="•"/>
            </a:pPr>
            <a:r>
              <a:rPr lang="en-US" sz="1800" b="1" dirty="0"/>
              <a:t>Example</a:t>
            </a:r>
            <a:r>
              <a:rPr lang="en-US" sz="1800" dirty="0"/>
              <a:t>: Get a list of Nodes: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get nodes</a:t>
            </a:r>
          </a:p>
          <a:p>
            <a:pPr marL="1114425" lvl="2" indent="-457200" algn="just">
              <a:spcBef>
                <a:spcPts val="600"/>
              </a:spcBef>
              <a:spcAft>
                <a:spcPts val="0"/>
              </a:spcAft>
              <a:buFont typeface="Arial" panose="020B0604020202020204" pitchFamily="34" charset="0"/>
              <a:buChar char="•"/>
            </a:pPr>
            <a:r>
              <a:rPr lang="en-US" sz="1800" b="1" dirty="0"/>
              <a:t>Example</a:t>
            </a:r>
            <a:r>
              <a:rPr lang="en-US" sz="1800" dirty="0"/>
              <a:t>: Retrieve the YAML definition of a Pod from </a:t>
            </a:r>
            <a:r>
              <a:rPr lang="en-US" sz="1800" i="1" dirty="0" err="1"/>
              <a:t>etcd</a:t>
            </a:r>
            <a:r>
              <a:rPr lang="en-US" sz="1800" dirty="0"/>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get pod pod-123 –o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yaml</a:t>
            </a:r>
            <a:endParaRPr lang="en-US" sz="1800" b="1" dirty="0">
              <a:solidFill>
                <a:schemeClr val="accent1"/>
              </a:solidFill>
              <a:latin typeface="Courier New" panose="02070309020205020404" pitchFamily="49" charset="0"/>
              <a:ea typeface="Segoe UI" pitchFamily="34" charset="0"/>
              <a:cs typeface="Courier New" panose="02070309020205020404" pitchFamily="49" charset="0"/>
            </a:endParaRPr>
          </a:p>
          <a:p>
            <a:pPr marL="914400" lvl="1" indent="-457200" algn="just">
              <a:spcBef>
                <a:spcPts val="600"/>
              </a:spcBef>
              <a:spcAft>
                <a:spcPts val="0"/>
              </a:spcAft>
              <a:buFont typeface="Arial" panose="020B0604020202020204" pitchFamily="34" charset="0"/>
              <a:buChar char="•"/>
            </a:pPr>
            <a:r>
              <a:rPr lang="en-US" b="1" i="1" u="sng" dirty="0"/>
              <a:t>Describe</a:t>
            </a:r>
            <a:r>
              <a:rPr lang="en-US" dirty="0"/>
              <a:t> – Displays a detailed description of an object and related information from other objects.</a:t>
            </a:r>
            <a:r>
              <a:rPr lang="en-US" b="1" dirty="0"/>
              <a:t> </a:t>
            </a:r>
          </a:p>
          <a:p>
            <a:pPr marL="1114425" lvl="2" indent="-457200" algn="just">
              <a:spcBef>
                <a:spcPts val="600"/>
              </a:spcBef>
              <a:spcAft>
                <a:spcPts val="0"/>
              </a:spcAft>
              <a:buFont typeface="Arial" panose="020B0604020202020204" pitchFamily="34" charset="0"/>
              <a:buChar char="•"/>
            </a:pPr>
            <a:r>
              <a:rPr lang="en-US" sz="1800" b="1" dirty="0"/>
              <a:t>Example</a:t>
            </a:r>
            <a:r>
              <a:rPr lang="en-US" sz="1800" dirty="0"/>
              <a:t>: Show detailed description of a service: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describe service/</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myservice</a:t>
            </a:r>
            <a:endParaRPr lang="en-US" sz="1800" b="1" dirty="0">
              <a:solidFill>
                <a:schemeClr val="accent1"/>
              </a:solidFill>
              <a:latin typeface="Courier New" panose="02070309020205020404" pitchFamily="49" charset="0"/>
              <a:ea typeface="Segoe UI" pitchFamily="34" charset="0"/>
              <a:cs typeface="Courier New" panose="02070309020205020404" pitchFamily="49" charset="0"/>
            </a:endParaRPr>
          </a:p>
          <a:p>
            <a:pPr marL="914400" lvl="1" indent="-457200" algn="just">
              <a:spcBef>
                <a:spcPts val="600"/>
              </a:spcBef>
              <a:spcAft>
                <a:spcPts val="0"/>
              </a:spcAft>
              <a:buFont typeface="Arial" panose="020B0604020202020204" pitchFamily="34" charset="0"/>
              <a:buChar char="•"/>
            </a:pPr>
            <a:r>
              <a:rPr lang="en-US" b="1" i="1" u="sng" dirty="0"/>
              <a:t>Logs</a:t>
            </a:r>
            <a:r>
              <a:rPr lang="en-US" dirty="0"/>
              <a:t> – Displays the </a:t>
            </a:r>
            <a:r>
              <a:rPr lang="en-US" i="1" dirty="0" err="1"/>
              <a:t>stdout</a:t>
            </a:r>
            <a:r>
              <a:rPr lang="en-US" dirty="0"/>
              <a:t> log from a container in a Pod:</a:t>
            </a:r>
          </a:p>
          <a:p>
            <a:pPr marL="1114425" lvl="2" indent="-457200" algn="just">
              <a:spcBef>
                <a:spcPts val="600"/>
              </a:spcBef>
              <a:spcAft>
                <a:spcPts val="0"/>
              </a:spcAft>
              <a:buFont typeface="Arial" panose="020B0604020202020204" pitchFamily="34" charset="0"/>
              <a:buChar char="•"/>
            </a:pPr>
            <a:r>
              <a:rPr lang="en-US" sz="1800" b="1" dirty="0"/>
              <a:t>Example</a:t>
            </a:r>
            <a:r>
              <a:rPr lang="en-US" sz="1800" dirty="0"/>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logs pod-123 –c nginx</a:t>
            </a:r>
          </a:p>
          <a:p>
            <a:pPr marL="914400" lvl="1" indent="-457200" algn="just">
              <a:spcBef>
                <a:spcPts val="600"/>
              </a:spcBef>
              <a:spcAft>
                <a:spcPts val="0"/>
              </a:spcAft>
              <a:buFont typeface="Arial" panose="020B0604020202020204" pitchFamily="34" charset="0"/>
              <a:buChar char="•"/>
            </a:pPr>
            <a:r>
              <a:rPr lang="en-US" b="1" i="1" u="sng" dirty="0"/>
              <a:t>Exec</a:t>
            </a:r>
            <a:r>
              <a:rPr lang="en-US" dirty="0"/>
              <a:t> – Executes a command in container in a Pod</a:t>
            </a:r>
            <a:r>
              <a:rPr lang="en-US" sz="1600" dirty="0"/>
              <a:t>:  </a:t>
            </a:r>
          </a:p>
          <a:p>
            <a:pPr marL="1114425" lvl="2" indent="-457200" algn="just">
              <a:spcBef>
                <a:spcPts val="600"/>
              </a:spcBef>
              <a:spcAft>
                <a:spcPts val="0"/>
              </a:spcAft>
              <a:buFont typeface="Arial" panose="020B0604020202020204" pitchFamily="34" charset="0"/>
              <a:buChar char="•"/>
            </a:pPr>
            <a:r>
              <a:rPr lang="en-US" sz="1800" b="1" dirty="0"/>
              <a:t>Example</a:t>
            </a:r>
            <a:r>
              <a:rPr lang="en-US" sz="1800"/>
              <a:t>: </a:t>
            </a:r>
            <a:r>
              <a:rPr lang="en-US" sz="1800" b="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exec –it pod-123 –c nginx –- bash</a:t>
            </a:r>
            <a:endParaRPr lang="en-US" b="1" dirty="0">
              <a:solidFill>
                <a:schemeClr val="accent1"/>
              </a:solidFill>
              <a:latin typeface="Courier New" panose="02070309020205020404" pitchFamily="49" charset="0"/>
              <a:ea typeface="Segoe UI" pitchFamily="34" charset="0"/>
              <a:cs typeface="Courier New" panose="02070309020205020404" pitchFamily="49" charset="0"/>
            </a:endParaRPr>
          </a:p>
        </p:txBody>
      </p:sp>
    </p:spTree>
    <p:extLst>
      <p:ext uri="{BB962C8B-B14F-4D97-AF65-F5344CB8AC3E}">
        <p14:creationId xmlns:p14="http://schemas.microsoft.com/office/powerpoint/2010/main" val="6841903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par>
                          <p:cTn id="43" fill="hold">
                            <p:stCondLst>
                              <p:cond delay="500"/>
                            </p:stCondLst>
                            <p:childTnLst>
                              <p:par>
                                <p:cTn id="44" presetID="10" presetClass="entr" presetSubtype="0" fill="hold" nodeType="afterEffect">
                                  <p:stCondLst>
                                    <p:cond delay="0"/>
                                  </p:stCondLst>
                                  <p:childTnLst>
                                    <p:set>
                                      <p:cBhvr>
                                        <p:cTn id="45" dur="1" fill="hold">
                                          <p:stCondLst>
                                            <p:cond delay="0"/>
                                          </p:stCondLst>
                                        </p:cTn>
                                        <p:tgtEl>
                                          <p:spTgt spid="3">
                                            <p:txEl>
                                              <p:pRg st="10" end="10"/>
                                            </p:txEl>
                                          </p:spTgt>
                                        </p:tgtEl>
                                        <p:attrNameLst>
                                          <p:attrName>style.visibility</p:attrName>
                                        </p:attrNameLst>
                                      </p:cBhvr>
                                      <p:to>
                                        <p:strVal val="visible"/>
                                      </p:to>
                                    </p:set>
                                    <p:animEffect transition="in" filter="fade">
                                      <p:cBhvr>
                                        <p:cTn id="4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E60B-2FB8-472C-9E3A-2C8B08BBC4A5}"/>
              </a:ext>
            </a:extLst>
          </p:cNvPr>
          <p:cNvSpPr>
            <a:spLocks noGrp="1"/>
          </p:cNvSpPr>
          <p:nvPr>
            <p:ph type="title"/>
          </p:nvPr>
        </p:nvSpPr>
        <p:spPr>
          <a:xfrm>
            <a:off x="586740" y="347349"/>
            <a:ext cx="11018520" cy="553998"/>
          </a:xfrm>
        </p:spPr>
        <p:txBody>
          <a:bodyPr/>
          <a:lstStyle/>
          <a:p>
            <a:r>
              <a:rPr lang="en-US" dirty="0" err="1">
                <a:solidFill>
                  <a:schemeClr val="bg1"/>
                </a:solidFill>
              </a:rPr>
              <a:t>Kubectl</a:t>
            </a:r>
            <a:r>
              <a:rPr lang="en-US" dirty="0">
                <a:solidFill>
                  <a:schemeClr val="bg1"/>
                </a:solidFill>
              </a:rPr>
              <a:t> Apply and Create Commands</a:t>
            </a:r>
          </a:p>
        </p:txBody>
      </p:sp>
      <p:sp>
        <p:nvSpPr>
          <p:cNvPr id="3" name="Content Placeholder 2">
            <a:extLst>
              <a:ext uri="{FF2B5EF4-FFF2-40B4-BE49-F238E27FC236}">
                <a16:creationId xmlns:a16="http://schemas.microsoft.com/office/drawing/2014/main" id="{110FD5BC-9C92-45FB-9C65-653C956252C4}"/>
              </a:ext>
            </a:extLst>
          </p:cNvPr>
          <p:cNvSpPr>
            <a:spLocks noGrp="1"/>
          </p:cNvSpPr>
          <p:nvPr>
            <p:ph sz="quarter" idx="10"/>
          </p:nvPr>
        </p:nvSpPr>
        <p:spPr>
          <a:xfrm>
            <a:off x="300446" y="1487198"/>
            <a:ext cx="11635620" cy="5432256"/>
          </a:xfrm>
        </p:spPr>
        <p:txBody>
          <a:bodyPr/>
          <a:lstStyle/>
          <a:p>
            <a:pPr marL="457200" indent="-457200" algn="just">
              <a:spcBef>
                <a:spcPts val="600"/>
              </a:spcBef>
              <a:spcAft>
                <a:spcPts val="0"/>
              </a:spcAft>
              <a:buFont typeface="Arial" panose="020B0604020202020204" pitchFamily="34" charset="0"/>
              <a:buChar char="•"/>
            </a:pPr>
            <a:r>
              <a:rPr lang="en-US" b="1" dirty="0" err="1"/>
              <a:t>Kubectl</a:t>
            </a:r>
            <a:r>
              <a:rPr lang="en-US" dirty="0"/>
              <a:t> has two commands for creating objects in its database: </a:t>
            </a:r>
            <a:r>
              <a:rPr lang="en-US" b="1" i="1" dirty="0"/>
              <a:t>Apply</a:t>
            </a:r>
            <a:r>
              <a:rPr lang="en-US" dirty="0"/>
              <a:t> &amp; </a:t>
            </a:r>
            <a:r>
              <a:rPr lang="en-US" b="1" i="1" dirty="0"/>
              <a:t>Create</a:t>
            </a:r>
            <a:r>
              <a:rPr lang="en-US" dirty="0"/>
              <a:t>.</a:t>
            </a:r>
          </a:p>
          <a:p>
            <a:pPr marL="457200" indent="-457200" algn="just">
              <a:spcBef>
                <a:spcPts val="600"/>
              </a:spcBef>
              <a:spcAft>
                <a:spcPts val="0"/>
              </a:spcAft>
              <a:buFont typeface="Arial" panose="020B0604020202020204" pitchFamily="34" charset="0"/>
              <a:buChar char="•"/>
            </a:pPr>
            <a:r>
              <a:rPr lang="en-US" b="1" i="1" u="sng" dirty="0"/>
              <a:t>Apply</a:t>
            </a:r>
            <a:r>
              <a:rPr lang="en-US" dirty="0"/>
              <a:t> creates objects through a </a:t>
            </a:r>
            <a:r>
              <a:rPr lang="en-US" i="1" dirty="0"/>
              <a:t>declarative</a:t>
            </a:r>
            <a:r>
              <a:rPr lang="en-US" dirty="0"/>
              <a:t> syntax.  </a:t>
            </a:r>
          </a:p>
          <a:p>
            <a:pPr marL="914400" lvl="1" indent="-457200" algn="just">
              <a:spcBef>
                <a:spcPts val="600"/>
              </a:spcBef>
              <a:spcAft>
                <a:spcPts val="0"/>
              </a:spcAft>
              <a:buFont typeface="Arial" panose="020B0604020202020204" pitchFamily="34" charset="0"/>
              <a:buChar char="•"/>
            </a:pPr>
            <a:r>
              <a:rPr lang="en-US" sz="1800" b="1" dirty="0"/>
              <a:t>Example</a:t>
            </a:r>
            <a:r>
              <a:rPr lang="en-US" sz="1800" dirty="0"/>
              <a:t>: Create or update any resource defined in a </a:t>
            </a:r>
            <a:r>
              <a:rPr lang="en-US" sz="1800" i="1" dirty="0" err="1"/>
              <a:t>yaml</a:t>
            </a:r>
            <a:r>
              <a:rPr lang="en-US" sz="1800" dirty="0"/>
              <a:t> manifest:</a:t>
            </a:r>
          </a:p>
          <a:p>
            <a:pPr lvl="1" indent="0" algn="just">
              <a:spcBef>
                <a:spcPts val="600"/>
              </a:spcBef>
              <a:spcAft>
                <a:spcPts val="0"/>
              </a:spcAft>
              <a:buNone/>
            </a:pP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apply –f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mydep.yaml</a:t>
            </a:r>
            <a:endParaRPr lang="en-US" sz="1800" b="1" dirty="0">
              <a:solidFill>
                <a:schemeClr val="accent1"/>
              </a:solidFill>
              <a:latin typeface="Courier New" panose="02070309020205020404" pitchFamily="49" charset="0"/>
              <a:ea typeface="Segoe UI" pitchFamily="34" charset="0"/>
              <a:cs typeface="Courier New" panose="02070309020205020404" pitchFamily="49" charset="0"/>
            </a:endParaRPr>
          </a:p>
          <a:p>
            <a:pPr marL="914400" lvl="1" indent="-457200" algn="just">
              <a:spcBef>
                <a:spcPts val="600"/>
              </a:spcBef>
              <a:spcAft>
                <a:spcPts val="0"/>
              </a:spcAft>
              <a:buFont typeface="Arial" panose="020B0604020202020204" pitchFamily="34" charset="0"/>
              <a:buChar char="•"/>
            </a:pPr>
            <a:r>
              <a:rPr lang="en-US" sz="1800" dirty="0"/>
              <a:t>You can edit the manifest file and repeat the </a:t>
            </a:r>
            <a:r>
              <a:rPr lang="en-US" sz="1800" b="1" i="1" dirty="0"/>
              <a:t>apply</a:t>
            </a:r>
            <a:r>
              <a:rPr lang="en-US" sz="1800" dirty="0"/>
              <a:t> command to update the object in the cluster.</a:t>
            </a:r>
          </a:p>
          <a:p>
            <a:pPr marL="457200" indent="-457200" algn="just">
              <a:spcBef>
                <a:spcPts val="600"/>
              </a:spcBef>
              <a:spcAft>
                <a:spcPts val="0"/>
              </a:spcAft>
              <a:buFont typeface="Arial" panose="020B0604020202020204" pitchFamily="34" charset="0"/>
              <a:buChar char="•"/>
            </a:pPr>
            <a:r>
              <a:rPr lang="en-US" b="1" i="1" u="sng" dirty="0"/>
              <a:t>Create</a:t>
            </a:r>
            <a:r>
              <a:rPr lang="en-US" dirty="0"/>
              <a:t> creates objects </a:t>
            </a:r>
            <a:r>
              <a:rPr lang="en-US" i="1" dirty="0"/>
              <a:t>imperatively</a:t>
            </a:r>
            <a:r>
              <a:rPr lang="en-US" dirty="0"/>
              <a:t>. </a:t>
            </a:r>
          </a:p>
          <a:p>
            <a:pPr marL="914400" lvl="1" indent="-457200" algn="just">
              <a:spcBef>
                <a:spcPts val="600"/>
              </a:spcBef>
              <a:spcAft>
                <a:spcPts val="0"/>
              </a:spcAft>
              <a:buFont typeface="Arial" panose="020B0604020202020204" pitchFamily="34" charset="0"/>
              <a:buChar char="•"/>
            </a:pPr>
            <a:r>
              <a:rPr lang="en-US" sz="1800" b="1" dirty="0"/>
              <a:t>Example</a:t>
            </a:r>
            <a:r>
              <a:rPr lang="en-US" sz="1800" dirty="0"/>
              <a:t>: Create a Deployment object imperatively using system defaults:</a:t>
            </a:r>
          </a:p>
          <a:p>
            <a:pPr lvl="1" indent="0" algn="just">
              <a:spcBef>
                <a:spcPts val="600"/>
              </a:spcBef>
              <a:spcAft>
                <a:spcPts val="0"/>
              </a:spcAft>
              <a:buNone/>
            </a:pP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create deployment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--image=nginx --replicas=2</a:t>
            </a:r>
          </a:p>
          <a:p>
            <a:pPr marL="914400" lvl="1" indent="-457200" algn="just">
              <a:spcBef>
                <a:spcPts val="600"/>
              </a:spcBef>
              <a:spcAft>
                <a:spcPts val="0"/>
              </a:spcAft>
              <a:buFont typeface="Arial" panose="020B0604020202020204" pitchFamily="34" charset="0"/>
              <a:buChar char="•"/>
            </a:pPr>
            <a:r>
              <a:rPr lang="en-US" sz="1800" dirty="0"/>
              <a:t>Since there’s no </a:t>
            </a:r>
            <a:r>
              <a:rPr lang="en-US" sz="1800" i="1" dirty="0" err="1"/>
              <a:t>yaml</a:t>
            </a:r>
            <a:r>
              <a:rPr lang="en-US" sz="1800" dirty="0"/>
              <a:t> file to update and reapply, you can update the object using the </a:t>
            </a:r>
            <a:r>
              <a:rPr lang="en-US" sz="1800" b="1" i="1" u="sng" dirty="0"/>
              <a:t>Edit</a:t>
            </a:r>
            <a:r>
              <a:rPr lang="en-US" sz="1800" dirty="0"/>
              <a:t> command. </a:t>
            </a:r>
          </a:p>
          <a:p>
            <a:pPr lvl="1" indent="0" algn="just">
              <a:spcBef>
                <a:spcPts val="600"/>
              </a:spcBef>
              <a:spcAft>
                <a:spcPts val="0"/>
              </a:spcAft>
              <a:buNone/>
            </a:pPr>
            <a:r>
              <a:rPr lang="en-US" sz="16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edit deployment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a:t>
            </a:r>
            <a:endParaRPr lang="en-US" sz="1800" b="1" dirty="0">
              <a:solidFill>
                <a:schemeClr val="accent1"/>
              </a:solidFill>
              <a:latin typeface="Courier New" panose="02070309020205020404" pitchFamily="49" charset="0"/>
              <a:ea typeface="Segoe UI" pitchFamily="34" charset="0"/>
              <a:cs typeface="Courier New" panose="02070309020205020404" pitchFamily="49" charset="0"/>
            </a:endParaRPr>
          </a:p>
          <a:p>
            <a:pPr marL="914400" lvl="1" indent="-457200" algn="just">
              <a:spcBef>
                <a:spcPts val="600"/>
              </a:spcBef>
              <a:spcAft>
                <a:spcPts val="0"/>
              </a:spcAft>
              <a:buFont typeface="Arial" panose="020B0604020202020204" pitchFamily="34" charset="0"/>
              <a:buChar char="•"/>
            </a:pPr>
            <a:r>
              <a:rPr lang="en-US" sz="1800" dirty="0"/>
              <a:t>You can extract an existing object definition into a </a:t>
            </a:r>
            <a:r>
              <a:rPr lang="en-US" sz="1800" i="1" dirty="0" err="1"/>
              <a:t>yaml</a:t>
            </a:r>
            <a:r>
              <a:rPr lang="en-US" sz="1800" dirty="0"/>
              <a:t> file and update it later using the </a:t>
            </a:r>
            <a:r>
              <a:rPr lang="en-US" sz="1800" b="1" i="1" dirty="0"/>
              <a:t>apply</a:t>
            </a:r>
            <a:r>
              <a:rPr lang="en-US" sz="1800" dirty="0"/>
              <a:t> command:</a:t>
            </a:r>
          </a:p>
          <a:p>
            <a:pPr lvl="1" indent="0" algn="just">
              <a:spcBef>
                <a:spcPts val="600"/>
              </a:spcBef>
              <a:spcAft>
                <a:spcPts val="0"/>
              </a:spcAft>
              <a:buNone/>
            </a:pPr>
            <a:r>
              <a:rPr lang="en-US" sz="16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get deployment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-o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yaml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&gt;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mydeployment.yaml</a:t>
            </a:r>
            <a:endParaRPr lang="en-US" sz="1800" b="1" dirty="0">
              <a:solidFill>
                <a:schemeClr val="accent1"/>
              </a:solidFill>
              <a:latin typeface="Courier New" panose="02070309020205020404" pitchFamily="49" charset="0"/>
              <a:ea typeface="Segoe UI" pitchFamily="34" charset="0"/>
              <a:cs typeface="Courier New" panose="02070309020205020404" pitchFamily="49" charset="0"/>
            </a:endParaRPr>
          </a:p>
          <a:p>
            <a:pPr marL="914400" lvl="1" indent="-457200" algn="just">
              <a:spcBef>
                <a:spcPts val="600"/>
              </a:spcBef>
              <a:spcAft>
                <a:spcPts val="0"/>
              </a:spcAft>
              <a:buFont typeface="Arial" panose="020B0604020202020204" pitchFamily="34" charset="0"/>
              <a:buChar char="•"/>
            </a:pPr>
            <a:r>
              <a:rPr lang="en-US" sz="1800" dirty="0"/>
              <a:t>You can also use </a:t>
            </a:r>
            <a:r>
              <a:rPr lang="en-US" sz="1800" b="1" i="1" dirty="0"/>
              <a:t>create</a:t>
            </a:r>
            <a:r>
              <a:rPr lang="en-US" sz="1800" dirty="0"/>
              <a:t> to generate a new </a:t>
            </a:r>
            <a:r>
              <a:rPr lang="en-US" sz="1800" i="1" dirty="0" err="1"/>
              <a:t>yaml</a:t>
            </a:r>
            <a:r>
              <a:rPr lang="en-US" sz="1800" dirty="0"/>
              <a:t> file for you, without creating the object in Kubernetes:</a:t>
            </a:r>
          </a:p>
          <a:p>
            <a:pPr lvl="1" indent="0" algn="just">
              <a:spcBef>
                <a:spcPts val="600"/>
              </a:spcBef>
              <a:spcAft>
                <a:spcPts val="0"/>
              </a:spcAft>
              <a:buNone/>
            </a:pP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kubectl create deployment mydep2 --image=nginx --dry-run</a:t>
            </a:r>
            <a:r>
              <a:rPr lang="en-US" sz="1800" b="1">
                <a:solidFill>
                  <a:schemeClr val="accent1"/>
                </a:solidFill>
                <a:latin typeface="Courier New" panose="02070309020205020404" pitchFamily="49" charset="0"/>
                <a:ea typeface="Segoe UI" pitchFamily="34" charset="0"/>
                <a:cs typeface="Courier New" panose="02070309020205020404" pitchFamily="49" charset="0"/>
              </a:rPr>
              <a:t>=client </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-o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yaml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&gt; mydep2.yaml</a:t>
            </a:r>
          </a:p>
        </p:txBody>
      </p:sp>
    </p:spTree>
    <p:extLst>
      <p:ext uri="{BB962C8B-B14F-4D97-AF65-F5344CB8AC3E}">
        <p14:creationId xmlns:p14="http://schemas.microsoft.com/office/powerpoint/2010/main" val="3614771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par>
                          <p:cTn id="39" fill="hold">
                            <p:stCondLst>
                              <p:cond delay="500"/>
                            </p:stCondLst>
                            <p:childTnLst>
                              <p:par>
                                <p:cTn id="40" presetID="10" presetClass="entr" presetSubtype="0" fill="hold" nodeType="after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Effect transition="in" filter="fade">
                                      <p:cBhvr>
                                        <p:cTn id="51" dur="500"/>
                                        <p:tgtEl>
                                          <p:spTgt spid="3">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12" end="12"/>
                                            </p:txEl>
                                          </p:spTgt>
                                        </p:tgtEl>
                                        <p:attrNameLst>
                                          <p:attrName>style.visibility</p:attrName>
                                        </p:attrNameLst>
                                      </p:cBhvr>
                                      <p:to>
                                        <p:strVal val="visible"/>
                                      </p:to>
                                    </p:set>
                                    <p:animEffect transition="in" filter="fade">
                                      <p:cBhvr>
                                        <p:cTn id="56" dur="500"/>
                                        <p:tgtEl>
                                          <p:spTgt spid="3">
                                            <p:txEl>
                                              <p:pRg st="12" end="12"/>
                                            </p:txEl>
                                          </p:spTgt>
                                        </p:tgtEl>
                                      </p:cBhvr>
                                    </p:animEffect>
                                  </p:childTnLst>
                                </p:cTn>
                              </p:par>
                            </p:childTnLst>
                          </p:cTn>
                        </p:par>
                        <p:par>
                          <p:cTn id="57" fill="hold">
                            <p:stCondLst>
                              <p:cond delay="500"/>
                            </p:stCondLst>
                            <p:childTnLst>
                              <p:par>
                                <p:cTn id="58" presetID="10" presetClass="entr" presetSubtype="0" fill="hold" nodeType="afterEffect">
                                  <p:stCondLst>
                                    <p:cond delay="0"/>
                                  </p:stCondLst>
                                  <p:childTnLst>
                                    <p:set>
                                      <p:cBhvr>
                                        <p:cTn id="59" dur="1" fill="hold">
                                          <p:stCondLst>
                                            <p:cond delay="0"/>
                                          </p:stCondLst>
                                        </p:cTn>
                                        <p:tgtEl>
                                          <p:spTgt spid="3">
                                            <p:txEl>
                                              <p:pRg st="13" end="13"/>
                                            </p:txEl>
                                          </p:spTgt>
                                        </p:tgtEl>
                                        <p:attrNameLst>
                                          <p:attrName>style.visibility</p:attrName>
                                        </p:attrNameLst>
                                      </p:cBhvr>
                                      <p:to>
                                        <p:strVal val="visible"/>
                                      </p:to>
                                    </p:set>
                                    <p:animEffect transition="in" filter="fade">
                                      <p:cBhvr>
                                        <p:cTn id="60"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E60B-2FB8-472C-9E3A-2C8B08BBC4A5}"/>
              </a:ext>
            </a:extLst>
          </p:cNvPr>
          <p:cNvSpPr>
            <a:spLocks noGrp="1"/>
          </p:cNvSpPr>
          <p:nvPr>
            <p:ph type="title"/>
          </p:nvPr>
        </p:nvSpPr>
        <p:spPr>
          <a:xfrm>
            <a:off x="586740" y="347349"/>
            <a:ext cx="11018520" cy="553998"/>
          </a:xfrm>
        </p:spPr>
        <p:txBody>
          <a:bodyPr/>
          <a:lstStyle/>
          <a:p>
            <a:r>
              <a:rPr lang="en-US" dirty="0" err="1">
                <a:solidFill>
                  <a:schemeClr val="bg1"/>
                </a:solidFill>
              </a:rPr>
              <a:t>Kubectl</a:t>
            </a:r>
            <a:r>
              <a:rPr lang="en-US" dirty="0">
                <a:solidFill>
                  <a:schemeClr val="bg1"/>
                </a:solidFill>
              </a:rPr>
              <a:t> Imperative Commands</a:t>
            </a:r>
          </a:p>
        </p:txBody>
      </p:sp>
      <p:sp>
        <p:nvSpPr>
          <p:cNvPr id="3" name="Content Placeholder 2">
            <a:extLst>
              <a:ext uri="{FF2B5EF4-FFF2-40B4-BE49-F238E27FC236}">
                <a16:creationId xmlns:a16="http://schemas.microsoft.com/office/drawing/2014/main" id="{110FD5BC-9C92-45FB-9C65-653C956252C4}"/>
              </a:ext>
            </a:extLst>
          </p:cNvPr>
          <p:cNvSpPr>
            <a:spLocks noGrp="1"/>
          </p:cNvSpPr>
          <p:nvPr>
            <p:ph sz="quarter" idx="10"/>
          </p:nvPr>
        </p:nvSpPr>
        <p:spPr>
          <a:xfrm>
            <a:off x="300446" y="1487198"/>
            <a:ext cx="11635620" cy="5324535"/>
          </a:xfrm>
        </p:spPr>
        <p:txBody>
          <a:bodyPr/>
          <a:lstStyle/>
          <a:p>
            <a:pPr>
              <a:spcBef>
                <a:spcPts val="600"/>
              </a:spcBef>
              <a:spcAft>
                <a:spcPts val="0"/>
              </a:spcAft>
            </a:pPr>
            <a:r>
              <a:rPr lang="en-US" dirty="0"/>
              <a:t>In addition to </a:t>
            </a:r>
            <a:r>
              <a:rPr lang="en-US" i="1" dirty="0"/>
              <a:t>Create</a:t>
            </a:r>
            <a:r>
              <a:rPr lang="en-US" dirty="0"/>
              <a:t>, </a:t>
            </a:r>
            <a:r>
              <a:rPr lang="en-US" b="1" dirty="0" err="1"/>
              <a:t>Kubectl</a:t>
            </a:r>
            <a:r>
              <a:rPr lang="en-US" dirty="0"/>
              <a:t> supports other imperative commands to interact with deployments (and other objects) already in the database.</a:t>
            </a:r>
          </a:p>
          <a:p>
            <a:pPr marL="457200" indent="-457200" algn="just">
              <a:spcBef>
                <a:spcPts val="600"/>
              </a:spcBef>
              <a:spcAft>
                <a:spcPts val="0"/>
              </a:spcAft>
              <a:buFont typeface="Arial" panose="020B0604020202020204" pitchFamily="34" charset="0"/>
              <a:buChar char="•"/>
            </a:pPr>
            <a:r>
              <a:rPr lang="en-US" sz="2200" b="1" dirty="0"/>
              <a:t>Example</a:t>
            </a:r>
            <a:r>
              <a:rPr lang="en-US" sz="2200" dirty="0"/>
              <a:t>: Change the image in a deployment without editing and reapplying the </a:t>
            </a:r>
            <a:r>
              <a:rPr lang="en-US" sz="2200" i="1" dirty="0" err="1"/>
              <a:t>yaml</a:t>
            </a:r>
            <a:r>
              <a:rPr lang="en-US" sz="2200" dirty="0"/>
              <a:t>:</a:t>
            </a:r>
          </a:p>
          <a:p>
            <a:pPr lvl="1" indent="0" algn="just">
              <a:spcBef>
                <a:spcPts val="600"/>
              </a:spcBef>
              <a:spcAft>
                <a:spcPts val="0"/>
              </a:spcAft>
              <a:buNone/>
            </a:pP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set image deployment/</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nginx=nginx:1.18</a:t>
            </a:r>
          </a:p>
          <a:p>
            <a:pPr marL="457200" indent="-457200" algn="just">
              <a:spcBef>
                <a:spcPts val="600"/>
              </a:spcBef>
              <a:spcAft>
                <a:spcPts val="0"/>
              </a:spcAft>
              <a:buFont typeface="Arial" panose="020B0604020202020204" pitchFamily="34" charset="0"/>
              <a:buChar char="•"/>
            </a:pPr>
            <a:r>
              <a:rPr lang="en-US" sz="2200" b="1" dirty="0"/>
              <a:t>Example:</a:t>
            </a:r>
            <a:r>
              <a:rPr lang="en-US" sz="2200" dirty="0"/>
              <a:t> View the deployment rollout history of a deployment:</a:t>
            </a:r>
          </a:p>
          <a:p>
            <a:pPr algn="just">
              <a:spcBef>
                <a:spcPts val="600"/>
              </a:spcBef>
              <a:spcAft>
                <a:spcPts val="0"/>
              </a:spcAft>
            </a:pP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rollout history deployment/</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a:t>
            </a:r>
            <a:endParaRPr lang="en-US" sz="1800" b="1" dirty="0">
              <a:solidFill>
                <a:schemeClr val="accent1"/>
              </a:solidFill>
              <a:latin typeface="Courier New" panose="02070309020205020404" pitchFamily="49" charset="0"/>
              <a:ea typeface="Segoe UI" pitchFamily="34" charset="0"/>
              <a:cs typeface="Courier New" panose="02070309020205020404" pitchFamily="49" charset="0"/>
            </a:endParaRPr>
          </a:p>
          <a:p>
            <a:pPr marL="457200" indent="-457200" algn="just">
              <a:spcBef>
                <a:spcPts val="600"/>
              </a:spcBef>
              <a:spcAft>
                <a:spcPts val="0"/>
              </a:spcAft>
              <a:buFont typeface="Arial" panose="020B0604020202020204" pitchFamily="34" charset="0"/>
              <a:buChar char="•"/>
            </a:pPr>
            <a:r>
              <a:rPr lang="en-US" sz="2200" b="1" dirty="0"/>
              <a:t>Example:</a:t>
            </a:r>
            <a:r>
              <a:rPr lang="en-US" sz="2200" dirty="0"/>
              <a:t> Change the number of replicas of a deployment without editing the </a:t>
            </a:r>
            <a:r>
              <a:rPr lang="en-US" sz="2200" i="1" dirty="0" err="1"/>
              <a:t>yaml</a:t>
            </a:r>
            <a:r>
              <a:rPr lang="en-US" sz="2200" dirty="0"/>
              <a:t>:</a:t>
            </a:r>
          </a:p>
          <a:p>
            <a:pPr algn="just">
              <a:spcBef>
                <a:spcPts val="600"/>
              </a:spcBef>
              <a:spcAft>
                <a:spcPts val="0"/>
              </a:spcAft>
            </a:pP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scale –-replicas=3 deployment/</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a:t>
            </a:r>
            <a:endParaRPr lang="en-US" sz="1800" b="1" dirty="0">
              <a:solidFill>
                <a:schemeClr val="accent1"/>
              </a:solidFill>
              <a:latin typeface="Courier New" panose="02070309020205020404" pitchFamily="49" charset="0"/>
              <a:ea typeface="Segoe UI" pitchFamily="34" charset="0"/>
              <a:cs typeface="Courier New" panose="02070309020205020404" pitchFamily="49" charset="0"/>
            </a:endParaRPr>
          </a:p>
          <a:p>
            <a:pPr marL="457200" indent="-457200" algn="just">
              <a:spcBef>
                <a:spcPts val="600"/>
              </a:spcBef>
              <a:spcAft>
                <a:spcPts val="0"/>
              </a:spcAft>
              <a:buFont typeface="Arial" panose="020B0604020202020204" pitchFamily="34" charset="0"/>
              <a:buChar char="•"/>
            </a:pPr>
            <a:r>
              <a:rPr lang="en-US" sz="2200" b="1" dirty="0"/>
              <a:t>Example:</a:t>
            </a:r>
            <a:r>
              <a:rPr lang="en-US" sz="2200" dirty="0"/>
              <a:t> Add a label to a deployment without editing the </a:t>
            </a:r>
            <a:r>
              <a:rPr lang="en-US" sz="2200" i="1" dirty="0" err="1"/>
              <a:t>yaml</a:t>
            </a:r>
            <a:r>
              <a:rPr lang="en-US" sz="2200" dirty="0"/>
              <a:t>:</a:t>
            </a:r>
          </a:p>
          <a:p>
            <a:pPr algn="just">
              <a:spcBef>
                <a:spcPts val="600"/>
              </a:spcBef>
              <a:spcAft>
                <a:spcPts val="0"/>
              </a:spcAft>
            </a:pP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label deployment/</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mydep</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newlabel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myvalue</a:t>
            </a:r>
            <a:endParaRPr lang="en-US" sz="1800" b="1" dirty="0">
              <a:solidFill>
                <a:schemeClr val="accent1"/>
              </a:solidFill>
              <a:latin typeface="Courier New" panose="02070309020205020404" pitchFamily="49" charset="0"/>
              <a:ea typeface="Segoe UI" pitchFamily="34" charset="0"/>
              <a:cs typeface="Courier New" panose="02070309020205020404" pitchFamily="49" charset="0"/>
            </a:endParaRPr>
          </a:p>
          <a:p>
            <a:pPr marL="457200" indent="-457200" algn="just">
              <a:spcBef>
                <a:spcPts val="600"/>
              </a:spcBef>
              <a:spcAft>
                <a:spcPts val="0"/>
              </a:spcAft>
              <a:buFont typeface="Arial" panose="020B0604020202020204" pitchFamily="34" charset="0"/>
              <a:buChar char="•"/>
            </a:pPr>
            <a:r>
              <a:rPr lang="en-US" sz="2200" b="1" dirty="0"/>
              <a:t>Example:</a:t>
            </a:r>
            <a:r>
              <a:rPr lang="en-US" sz="2200" dirty="0"/>
              <a:t> Listen on port 5000 on the local machine and forward to port 6000 on the Pod:</a:t>
            </a:r>
          </a:p>
          <a:p>
            <a:pPr algn="just">
              <a:spcBef>
                <a:spcPts val="600"/>
              </a:spcBef>
              <a:spcAft>
                <a:spcPts val="0"/>
              </a:spcAft>
            </a:pP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port-forward </a:t>
            </a:r>
            <a:r>
              <a:rPr lang="en-US" sz="1800" b="1" dirty="0" err="1">
                <a:solidFill>
                  <a:schemeClr val="accent1"/>
                </a:solidFill>
                <a:latin typeface="Courier New" panose="02070309020205020404" pitchFamily="49" charset="0"/>
                <a:ea typeface="Segoe UI" pitchFamily="34" charset="0"/>
                <a:cs typeface="Courier New" panose="02070309020205020404" pitchFamily="49" charset="0"/>
              </a:rPr>
              <a:t>mypod</a:t>
            </a:r>
            <a:r>
              <a:rPr lang="en-US" sz="1800" b="1" dirty="0">
                <a:solidFill>
                  <a:schemeClr val="accent1"/>
                </a:solidFill>
                <a:latin typeface="Courier New" panose="02070309020205020404" pitchFamily="49" charset="0"/>
                <a:ea typeface="Segoe UI" pitchFamily="34" charset="0"/>
                <a:cs typeface="Courier New" panose="02070309020205020404" pitchFamily="49" charset="0"/>
              </a:rPr>
              <a:t> 5000:6000</a:t>
            </a:r>
          </a:p>
          <a:p>
            <a:pPr algn="just">
              <a:spcBef>
                <a:spcPts val="600"/>
              </a:spcBef>
              <a:spcAft>
                <a:spcPts val="0"/>
              </a:spcAft>
            </a:pPr>
            <a:endParaRPr lang="en-US" sz="1800" dirty="0"/>
          </a:p>
          <a:p>
            <a:pPr algn="just">
              <a:spcBef>
                <a:spcPts val="600"/>
              </a:spcBef>
              <a:spcAft>
                <a:spcPts val="0"/>
              </a:spcAft>
            </a:pPr>
            <a:r>
              <a:rPr lang="en-US" sz="2000" dirty="0"/>
              <a:t>Additional examples for using the </a:t>
            </a:r>
            <a:r>
              <a:rPr lang="en-US" sz="2000" dirty="0" err="1"/>
              <a:t>Kubectl</a:t>
            </a:r>
            <a:r>
              <a:rPr lang="en-US" sz="2000" dirty="0"/>
              <a:t> command can be found on the </a:t>
            </a:r>
            <a:r>
              <a:rPr lang="en-US" sz="2000" dirty="0" err="1">
                <a:hlinkClick r:id="rId3"/>
              </a:rPr>
              <a:t>Kubectl</a:t>
            </a:r>
            <a:r>
              <a:rPr lang="en-US" sz="2000" dirty="0">
                <a:hlinkClick r:id="rId3"/>
              </a:rPr>
              <a:t> Cheat Sheet</a:t>
            </a:r>
            <a:r>
              <a:rPr lang="en-US" sz="2000" dirty="0"/>
              <a:t>.</a:t>
            </a:r>
            <a:endParaRPr lang="en-US" sz="2000" b="1" dirty="0">
              <a:solidFill>
                <a:schemeClr val="accent1"/>
              </a:solidFill>
              <a:latin typeface="Courier New" panose="02070309020205020404" pitchFamily="49" charset="0"/>
              <a:ea typeface="Segoe UI" pitchFamily="34" charset="0"/>
              <a:cs typeface="Courier New" panose="02070309020205020404" pitchFamily="49" charset="0"/>
            </a:endParaRPr>
          </a:p>
        </p:txBody>
      </p:sp>
    </p:spTree>
    <p:extLst>
      <p:ext uri="{BB962C8B-B14F-4D97-AF65-F5344CB8AC3E}">
        <p14:creationId xmlns:p14="http://schemas.microsoft.com/office/powerpoint/2010/main" val="25372099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EC04C45-C9D9-EC96-08A2-C46347A9DA0B}"/>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BA5A646E-867B-DDDF-3025-21FCAE96749B}"/>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19</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23721466-22DD-F918-71E0-F8A1926A6D2D}"/>
              </a:ext>
            </a:extLst>
          </p:cNvPr>
          <p:cNvSpPr>
            <a:spLocks noGrp="1"/>
          </p:cNvSpPr>
          <p:nvPr>
            <p:ph type="body" sz="quarter" idx="39"/>
          </p:nvPr>
        </p:nvSpPr>
        <p:spPr/>
        <p:txBody>
          <a:bodyPr/>
          <a:lstStyle/>
          <a:p>
            <a:r>
              <a:rPr lang="en-US" dirty="0"/>
              <a:t>Demo 1</a:t>
            </a:r>
          </a:p>
        </p:txBody>
      </p:sp>
      <p:sp>
        <p:nvSpPr>
          <p:cNvPr id="18" name="TextBox 17">
            <a:extLst>
              <a:ext uri="{FF2B5EF4-FFF2-40B4-BE49-F238E27FC236}">
                <a16:creationId xmlns:a16="http://schemas.microsoft.com/office/drawing/2014/main" id="{02F9E10F-6E66-F253-98D7-C0719471929D}"/>
              </a:ext>
            </a:extLst>
          </p:cNvPr>
          <p:cNvSpPr txBox="1"/>
          <p:nvPr/>
        </p:nvSpPr>
        <p:spPr>
          <a:xfrm>
            <a:off x="4845549" y="5063810"/>
            <a:ext cx="6615701" cy="615553"/>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Working with Deployments</a:t>
            </a:r>
          </a:p>
          <a:p>
            <a:pPr marL="342900" indent="-342900" algn="l">
              <a:buFont typeface="Arial" panose="020B0604020202020204" pitchFamily="34" charset="0"/>
              <a:buChar char="•"/>
            </a:pPr>
            <a:r>
              <a:rPr lang="en-US" sz="2000" dirty="0" err="1"/>
              <a:t>Kubectl</a:t>
            </a:r>
            <a:r>
              <a:rPr lang="en-US" sz="2000" dirty="0"/>
              <a:t> demo</a:t>
            </a:r>
          </a:p>
        </p:txBody>
      </p:sp>
      <p:pic>
        <p:nvPicPr>
          <p:cNvPr id="1026" name="Picture 2">
            <a:extLst>
              <a:ext uri="{FF2B5EF4-FFF2-40B4-BE49-F238E27FC236}">
                <a16:creationId xmlns:a16="http://schemas.microsoft.com/office/drawing/2014/main" id="{140114C1-377A-0BD7-91AC-C322E66EE7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503" y="560832"/>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5703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3A6AE-D1AE-40AD-9D05-4AFA3A7B9CB5}"/>
              </a:ext>
            </a:extLst>
          </p:cNvPr>
          <p:cNvSpPr>
            <a:spLocks noGrp="1"/>
          </p:cNvSpPr>
          <p:nvPr>
            <p:ph type="title"/>
          </p:nvPr>
        </p:nvSpPr>
        <p:spPr/>
        <p:txBody>
          <a:bodyPr/>
          <a:lstStyle/>
          <a:p>
            <a:r>
              <a:rPr lang="en-US" dirty="0">
                <a:solidFill>
                  <a:schemeClr val="bg1"/>
                </a:solidFill>
              </a:rPr>
              <a:t>What is a Service?</a:t>
            </a:r>
          </a:p>
        </p:txBody>
      </p:sp>
      <p:sp>
        <p:nvSpPr>
          <p:cNvPr id="3" name="Content Placeholder 2">
            <a:extLst>
              <a:ext uri="{FF2B5EF4-FFF2-40B4-BE49-F238E27FC236}">
                <a16:creationId xmlns:a16="http://schemas.microsoft.com/office/drawing/2014/main" id="{8FD25E85-0910-4377-8E1C-D3CC2C896C26}"/>
              </a:ext>
            </a:extLst>
          </p:cNvPr>
          <p:cNvSpPr>
            <a:spLocks noGrp="1"/>
          </p:cNvSpPr>
          <p:nvPr>
            <p:ph sz="quarter" idx="10"/>
          </p:nvPr>
        </p:nvSpPr>
        <p:spPr>
          <a:xfrm>
            <a:off x="441279" y="1426870"/>
            <a:ext cx="8639826" cy="5155257"/>
          </a:xfrm>
        </p:spPr>
        <p:txBody>
          <a:bodyPr/>
          <a:lstStyle/>
          <a:p>
            <a:pPr marL="342900" indent="-342900">
              <a:spcBef>
                <a:spcPts val="600"/>
              </a:spcBef>
              <a:spcAft>
                <a:spcPts val="0"/>
              </a:spcAft>
              <a:buFont typeface="Arial" panose="020B0604020202020204" pitchFamily="34" charset="0"/>
              <a:buChar char="•"/>
            </a:pPr>
            <a:r>
              <a:rPr lang="en-US" sz="2200" dirty="0"/>
              <a:t>A </a:t>
            </a:r>
            <a:r>
              <a:rPr lang="en-US" sz="2200" b="1" i="1" dirty="0"/>
              <a:t>Service</a:t>
            </a:r>
            <a:r>
              <a:rPr lang="en-US" sz="2200" dirty="0"/>
              <a:t> is an abstraction that defines a logical set of loosely-coupled PODs and a policy by which to access them as a network service.</a:t>
            </a:r>
          </a:p>
          <a:p>
            <a:pPr marL="800100" lvl="1" indent="-342900">
              <a:spcBef>
                <a:spcPts val="600"/>
              </a:spcBef>
              <a:spcAft>
                <a:spcPts val="0"/>
              </a:spcAft>
              <a:buFont typeface="Arial" panose="020B0604020202020204" pitchFamily="34" charset="0"/>
              <a:buChar char="•"/>
            </a:pPr>
            <a:r>
              <a:rPr lang="en-US" dirty="0"/>
              <a:t>Use </a:t>
            </a:r>
            <a:r>
              <a:rPr lang="en-US" i="1" u="sng" dirty="0"/>
              <a:t>selectors</a:t>
            </a:r>
            <a:r>
              <a:rPr lang="en-US" dirty="0"/>
              <a:t> to define which pods to include. </a:t>
            </a:r>
          </a:p>
          <a:p>
            <a:pPr marL="800100" lvl="1" indent="-342900">
              <a:spcBef>
                <a:spcPts val="600"/>
              </a:spcBef>
              <a:spcAft>
                <a:spcPts val="0"/>
              </a:spcAft>
              <a:buFont typeface="Arial" panose="020B0604020202020204" pitchFamily="34" charset="0"/>
              <a:buChar char="•"/>
            </a:pPr>
            <a:r>
              <a:rPr lang="en-US" dirty="0"/>
              <a:t>Services load balance traffic to Pod replicas (Layer 4)</a:t>
            </a:r>
          </a:p>
          <a:p>
            <a:pPr marL="800100" lvl="1" indent="-342900">
              <a:spcBef>
                <a:spcPts val="600"/>
              </a:spcBef>
              <a:spcAft>
                <a:spcPts val="0"/>
              </a:spcAft>
              <a:buFont typeface="Arial" panose="020B0604020202020204" pitchFamily="34" charset="0"/>
              <a:buChar char="•"/>
            </a:pPr>
            <a:r>
              <a:rPr lang="en-US" dirty="0"/>
              <a:t>Maps external ports to target (container) ports</a:t>
            </a:r>
          </a:p>
          <a:p>
            <a:pPr marL="800100" lvl="1" indent="-342900">
              <a:spcBef>
                <a:spcPts val="600"/>
              </a:spcBef>
              <a:spcAft>
                <a:spcPts val="0"/>
              </a:spcAft>
              <a:buFont typeface="Arial" panose="020B0604020202020204" pitchFamily="34" charset="0"/>
              <a:buChar char="•"/>
            </a:pPr>
            <a:r>
              <a:rPr lang="en-US" dirty="0"/>
              <a:t>Exposes Pods to traffic outside the cluster.</a:t>
            </a:r>
          </a:p>
          <a:p>
            <a:pPr marL="342900" indent="-342900">
              <a:spcBef>
                <a:spcPts val="600"/>
              </a:spcBef>
              <a:spcAft>
                <a:spcPts val="0"/>
              </a:spcAft>
              <a:buFont typeface="Arial" panose="020B0604020202020204" pitchFamily="34" charset="0"/>
              <a:buChar char="•"/>
            </a:pPr>
            <a:r>
              <a:rPr lang="en-US" sz="2200" dirty="0"/>
              <a:t>Kubernetes creates an </a:t>
            </a:r>
            <a:r>
              <a:rPr lang="en-US" sz="2200" b="1" i="1" dirty="0"/>
              <a:t>Endpoints</a:t>
            </a:r>
            <a:r>
              <a:rPr lang="en-US" sz="2200" dirty="0"/>
              <a:t> object with the same name as the </a:t>
            </a:r>
            <a:r>
              <a:rPr lang="en-US" sz="2200" b="1" i="1" dirty="0"/>
              <a:t>Service</a:t>
            </a:r>
            <a:r>
              <a:rPr lang="en-US" sz="2200" dirty="0"/>
              <a:t>.</a:t>
            </a:r>
          </a:p>
          <a:p>
            <a:pPr marL="342900" indent="-342900">
              <a:spcBef>
                <a:spcPts val="600"/>
              </a:spcBef>
              <a:spcAft>
                <a:spcPts val="0"/>
              </a:spcAft>
              <a:buFont typeface="Arial" panose="020B0604020202020204" pitchFamily="34" charset="0"/>
              <a:buChar char="•"/>
            </a:pPr>
            <a:r>
              <a:rPr lang="en-US" sz="2200" dirty="0"/>
              <a:t>As Pods are deleted and replaced, the </a:t>
            </a:r>
            <a:r>
              <a:rPr lang="en-US" sz="2200" b="1" i="1" dirty="0"/>
              <a:t>Endpoints</a:t>
            </a:r>
            <a:r>
              <a:rPr lang="en-US" sz="2200" dirty="0"/>
              <a:t> object is automatically updated with the new Pods’ IP addresses, as soon as those Pods go into a </a:t>
            </a:r>
            <a:r>
              <a:rPr lang="en-US" sz="2200" b="1" i="1" dirty="0"/>
              <a:t>Ready (Running)</a:t>
            </a:r>
            <a:r>
              <a:rPr lang="en-US" sz="2200" dirty="0"/>
              <a:t> state.</a:t>
            </a:r>
          </a:p>
          <a:p>
            <a:pPr marL="342900" indent="-342900">
              <a:spcBef>
                <a:spcPts val="600"/>
              </a:spcBef>
              <a:spcAft>
                <a:spcPts val="0"/>
              </a:spcAft>
              <a:buFont typeface="Arial" panose="020B0604020202020204" pitchFamily="34" charset="0"/>
              <a:buChar char="•"/>
            </a:pPr>
            <a:r>
              <a:rPr lang="en-US" sz="2200" dirty="0"/>
              <a:t>This allows the Service’s load balancer to immediately know which Pods it has to choose from when routing incoming traffic.</a:t>
            </a:r>
          </a:p>
        </p:txBody>
      </p:sp>
      <p:pic>
        <p:nvPicPr>
          <p:cNvPr id="6" name="Picture 5">
            <a:extLst>
              <a:ext uri="{FF2B5EF4-FFF2-40B4-BE49-F238E27FC236}">
                <a16:creationId xmlns:a16="http://schemas.microsoft.com/office/drawing/2014/main" id="{92413719-AC76-5021-3AFD-DFA1834F747B}"/>
              </a:ext>
            </a:extLst>
          </p:cNvPr>
          <p:cNvPicPr>
            <a:picLocks noChangeAspect="1"/>
          </p:cNvPicPr>
          <p:nvPr/>
        </p:nvPicPr>
        <p:blipFill>
          <a:blip r:embed="rId2"/>
          <a:stretch>
            <a:fillRect/>
          </a:stretch>
        </p:blipFill>
        <p:spPr>
          <a:xfrm>
            <a:off x="9788984" y="1470965"/>
            <a:ext cx="2089399" cy="2423703"/>
          </a:xfrm>
          <a:prstGeom prst="rect">
            <a:avLst/>
          </a:prstGeom>
        </p:spPr>
      </p:pic>
      <p:pic>
        <p:nvPicPr>
          <p:cNvPr id="8" name="Picture 7">
            <a:extLst>
              <a:ext uri="{FF2B5EF4-FFF2-40B4-BE49-F238E27FC236}">
                <a16:creationId xmlns:a16="http://schemas.microsoft.com/office/drawing/2014/main" id="{EB51695C-87A7-B56B-A033-135772831D09}"/>
              </a:ext>
            </a:extLst>
          </p:cNvPr>
          <p:cNvPicPr>
            <a:picLocks noChangeAspect="1"/>
          </p:cNvPicPr>
          <p:nvPr/>
        </p:nvPicPr>
        <p:blipFill>
          <a:blip r:embed="rId3"/>
          <a:stretch>
            <a:fillRect/>
          </a:stretch>
        </p:blipFill>
        <p:spPr>
          <a:xfrm>
            <a:off x="9477829" y="4305738"/>
            <a:ext cx="2400554" cy="2204913"/>
          </a:xfrm>
          <a:prstGeom prst="rect">
            <a:avLst/>
          </a:prstGeom>
        </p:spPr>
      </p:pic>
    </p:spTree>
    <p:extLst>
      <p:ext uri="{BB962C8B-B14F-4D97-AF65-F5344CB8AC3E}">
        <p14:creationId xmlns:p14="http://schemas.microsoft.com/office/powerpoint/2010/main" val="4705402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3A6AE-D1AE-40AD-9D05-4AFA3A7B9CB5}"/>
              </a:ext>
            </a:extLst>
          </p:cNvPr>
          <p:cNvSpPr>
            <a:spLocks noGrp="1"/>
          </p:cNvSpPr>
          <p:nvPr>
            <p:ph type="title"/>
          </p:nvPr>
        </p:nvSpPr>
        <p:spPr/>
        <p:txBody>
          <a:bodyPr/>
          <a:lstStyle/>
          <a:p>
            <a:r>
              <a:rPr lang="en-US" dirty="0">
                <a:solidFill>
                  <a:schemeClr val="bg1"/>
                </a:solidFill>
              </a:rPr>
              <a:t>Services at work</a:t>
            </a:r>
          </a:p>
        </p:txBody>
      </p:sp>
      <p:sp>
        <p:nvSpPr>
          <p:cNvPr id="3" name="Content Placeholder 2">
            <a:extLst>
              <a:ext uri="{FF2B5EF4-FFF2-40B4-BE49-F238E27FC236}">
                <a16:creationId xmlns:a16="http://schemas.microsoft.com/office/drawing/2014/main" id="{8FD25E85-0910-4377-8E1C-D3CC2C896C26}"/>
              </a:ext>
            </a:extLst>
          </p:cNvPr>
          <p:cNvSpPr>
            <a:spLocks noGrp="1"/>
          </p:cNvSpPr>
          <p:nvPr>
            <p:ph sz="quarter" idx="10"/>
          </p:nvPr>
        </p:nvSpPr>
        <p:spPr>
          <a:xfrm>
            <a:off x="586422" y="1572013"/>
            <a:ext cx="5580914" cy="5133713"/>
          </a:xfrm>
        </p:spPr>
        <p:txBody>
          <a:bodyPr/>
          <a:lstStyle/>
          <a:p>
            <a:pPr marL="342900" indent="-342900">
              <a:buFont typeface="Arial" panose="020B0604020202020204" pitchFamily="34" charset="0"/>
              <a:buChar char="•"/>
            </a:pPr>
            <a:r>
              <a:rPr lang="en-US" dirty="0"/>
              <a:t>You don't need to modify your application to use an unfamiliar service discovery mechanism.</a:t>
            </a:r>
          </a:p>
          <a:p>
            <a:pPr marL="342900" indent="-342900">
              <a:buFont typeface="Arial" panose="020B0604020202020204" pitchFamily="34" charset="0"/>
              <a:buChar char="•"/>
            </a:pPr>
            <a:r>
              <a:rPr lang="en-US" dirty="0"/>
              <a:t>Unlike Pods, Service names/IPs don’t change, so they can be used for reliable routing configurations.</a:t>
            </a:r>
          </a:p>
          <a:p>
            <a:pPr marL="342900" indent="-342900">
              <a:buFont typeface="Arial" panose="020B0604020202020204" pitchFamily="34" charset="0"/>
              <a:buChar char="•"/>
            </a:pPr>
            <a:r>
              <a:rPr lang="en-US" dirty="0"/>
              <a:t>Services Types</a:t>
            </a:r>
          </a:p>
          <a:p>
            <a:pPr marL="800100" lvl="1" indent="-342900">
              <a:buFont typeface="Arial" panose="020B0604020202020204" pitchFamily="34" charset="0"/>
              <a:buChar char="•"/>
            </a:pPr>
            <a:r>
              <a:rPr lang="en-US" b="1" dirty="0" err="1"/>
              <a:t>ClusterIP</a:t>
            </a:r>
            <a:endParaRPr lang="en-US" b="1" dirty="0"/>
          </a:p>
          <a:p>
            <a:pPr marL="800100" lvl="1" indent="-342900">
              <a:buFont typeface="Arial" panose="020B0604020202020204" pitchFamily="34" charset="0"/>
              <a:buChar char="•"/>
            </a:pPr>
            <a:r>
              <a:rPr lang="en-US" dirty="0" err="1"/>
              <a:t>NodePort</a:t>
            </a:r>
            <a:endParaRPr lang="en-US" dirty="0"/>
          </a:p>
          <a:p>
            <a:pPr marL="800100" lvl="1" indent="-342900">
              <a:buFont typeface="Arial" panose="020B0604020202020204" pitchFamily="34" charset="0"/>
              <a:buChar char="•"/>
            </a:pPr>
            <a:r>
              <a:rPr lang="en-US" b="1" dirty="0" err="1"/>
              <a:t>LoadBalancer</a:t>
            </a:r>
            <a:endParaRPr lang="en-US" b="1" dirty="0"/>
          </a:p>
          <a:p>
            <a:pPr marL="800100" lvl="1" indent="-342900">
              <a:buFont typeface="Arial" panose="020B0604020202020204" pitchFamily="34" charset="0"/>
              <a:buChar char="•"/>
            </a:pPr>
            <a:r>
              <a:rPr lang="en-US" dirty="0" err="1"/>
              <a:t>ExternalName</a:t>
            </a:r>
            <a:endParaRPr lang="en-US" dirty="0"/>
          </a:p>
        </p:txBody>
      </p:sp>
      <p:sp>
        <p:nvSpPr>
          <p:cNvPr id="6" name="Rectangle: Rounded Corners 5">
            <a:extLst>
              <a:ext uri="{FF2B5EF4-FFF2-40B4-BE49-F238E27FC236}">
                <a16:creationId xmlns:a16="http://schemas.microsoft.com/office/drawing/2014/main" id="{0FED74C0-EC96-4144-B345-80CBBE48E012}"/>
              </a:ext>
            </a:extLst>
          </p:cNvPr>
          <p:cNvSpPr/>
          <p:nvPr/>
        </p:nvSpPr>
        <p:spPr bwMode="auto">
          <a:xfrm>
            <a:off x="7681609" y="4164513"/>
            <a:ext cx="3407371" cy="2233437"/>
          </a:xfrm>
          <a:prstGeom prst="roundRect">
            <a:avLst>
              <a:gd name="adj" fmla="val 3125"/>
            </a:avLst>
          </a:prstGeom>
          <a:solidFill>
            <a:schemeClr val="bg1">
              <a:lumMod val="95000"/>
            </a:schemeClr>
          </a:solidFill>
          <a:ln w="12700" cap="flat" cmpd="sng" algn="ctr">
            <a:solidFill>
              <a:srgbClr val="0078D4"/>
            </a:solidFill>
            <a:prstDash val="dash"/>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505050"/>
              </a:solidFill>
              <a:effectLst/>
              <a:uLnTx/>
              <a:uFillTx/>
              <a:latin typeface="Segoe UI"/>
              <a:ea typeface="+mn-ea"/>
              <a:cs typeface="Segoe UI" pitchFamily="34" charset="0"/>
            </a:endParaRPr>
          </a:p>
        </p:txBody>
      </p:sp>
      <p:sp>
        <p:nvSpPr>
          <p:cNvPr id="8" name="Rectangle: Rounded Corners 7">
            <a:extLst>
              <a:ext uri="{FF2B5EF4-FFF2-40B4-BE49-F238E27FC236}">
                <a16:creationId xmlns:a16="http://schemas.microsoft.com/office/drawing/2014/main" id="{13E7E7B5-97D1-48CF-A628-7F68172A276D}"/>
              </a:ext>
            </a:extLst>
          </p:cNvPr>
          <p:cNvSpPr/>
          <p:nvPr/>
        </p:nvSpPr>
        <p:spPr bwMode="auto">
          <a:xfrm>
            <a:off x="7977839" y="4526609"/>
            <a:ext cx="1306946" cy="303559"/>
          </a:xfrm>
          <a:prstGeom prst="roundRect">
            <a:avLst>
              <a:gd name="adj" fmla="val 3125"/>
            </a:avLst>
          </a:prstGeom>
          <a:solidFill>
            <a:srgbClr val="FFCC99"/>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742" rtl="0" eaLnBrk="1" fontAlgn="auto" latinLnBrk="0" hangingPunct="1">
              <a:lnSpc>
                <a:spcPct val="100000"/>
              </a:lnSpc>
              <a:spcBef>
                <a:spcPct val="0"/>
              </a:spcBef>
              <a:spcAft>
                <a:spcPts val="0"/>
              </a:spcAft>
              <a:buClrTx/>
              <a:buSzTx/>
              <a:buFontTx/>
              <a:buNone/>
              <a:tabLst/>
              <a:defRPr/>
            </a:pPr>
            <a:r>
              <a:rPr lang="en-US" sz="900" b="1" dirty="0">
                <a:ln w="3175">
                  <a:noFill/>
                </a:ln>
                <a:solidFill>
                  <a:srgbClr val="3C3C41"/>
                </a:solidFill>
                <a:latin typeface="Segoe UI Semibold" panose="020B0702040204020203" pitchFamily="34" charset="0"/>
                <a:cs typeface="Segoe UI Semibold" panose="020B0702040204020203" pitchFamily="34" charset="0"/>
              </a:rPr>
              <a:t>f</a:t>
            </a:r>
            <a:r>
              <a:rPr kumimoji="0" lang="en-US" sz="900" b="1" i="0" u="none" strike="noStrike" kern="1200" cap="none" spc="0" normalizeH="0" baseline="0" noProof="0" dirty="0" err="1">
                <a:ln w="3175">
                  <a:noFill/>
                </a:ln>
                <a:solidFill>
                  <a:srgbClr val="3C3C41"/>
                </a:solidFill>
                <a:effectLst/>
                <a:uLnTx/>
                <a:uFillTx/>
                <a:latin typeface="Segoe UI Semibold" panose="020B0702040204020203" pitchFamily="34" charset="0"/>
                <a:cs typeface="Segoe UI Semibold" panose="020B0702040204020203" pitchFamily="34" charset="0"/>
              </a:rPr>
              <a:t>ront</a:t>
            </a:r>
            <a:r>
              <a:rPr kumimoji="0" lang="en-US" sz="900" b="1" i="0" u="none" strike="noStrike" kern="1200" cap="none" spc="0" normalizeH="0" baseline="0" noProof="0" dirty="0">
                <a:ln w="3175">
                  <a:noFill/>
                </a:ln>
                <a:solidFill>
                  <a:srgbClr val="3C3C41"/>
                </a:solidFill>
                <a:effectLst/>
                <a:uLnTx/>
                <a:uFillTx/>
                <a:latin typeface="Segoe UI Semibold" panose="020B0702040204020203" pitchFamily="34" charset="0"/>
                <a:cs typeface="Segoe UI Semibold" panose="020B0702040204020203" pitchFamily="34" charset="0"/>
              </a:rPr>
              <a:t>-end-service</a:t>
            </a:r>
          </a:p>
        </p:txBody>
      </p:sp>
      <p:grpSp>
        <p:nvGrpSpPr>
          <p:cNvPr id="9" name="Group 8">
            <a:extLst>
              <a:ext uri="{FF2B5EF4-FFF2-40B4-BE49-F238E27FC236}">
                <a16:creationId xmlns:a16="http://schemas.microsoft.com/office/drawing/2014/main" id="{4B5D5614-9C93-4605-BA7B-868BAB62AAEF}"/>
              </a:ext>
            </a:extLst>
          </p:cNvPr>
          <p:cNvGrpSpPr/>
          <p:nvPr/>
        </p:nvGrpSpPr>
        <p:grpSpPr>
          <a:xfrm>
            <a:off x="7757220" y="5281226"/>
            <a:ext cx="2986498" cy="793067"/>
            <a:chOff x="7208702" y="4092593"/>
            <a:chExt cx="2986498" cy="396781"/>
          </a:xfrm>
        </p:grpSpPr>
        <p:sp>
          <p:nvSpPr>
            <p:cNvPr id="10" name="Rectangle: Rounded Corners 9">
              <a:extLst>
                <a:ext uri="{FF2B5EF4-FFF2-40B4-BE49-F238E27FC236}">
                  <a16:creationId xmlns:a16="http://schemas.microsoft.com/office/drawing/2014/main" id="{4BBDB598-F4C1-4F90-A087-1C200DE33A6D}"/>
                </a:ext>
              </a:extLst>
            </p:cNvPr>
            <p:cNvSpPr/>
            <p:nvPr/>
          </p:nvSpPr>
          <p:spPr bwMode="auto">
            <a:xfrm>
              <a:off x="7208702" y="4094602"/>
              <a:ext cx="797449" cy="394772"/>
            </a:xfrm>
            <a:prstGeom prst="roundRect">
              <a:avLst>
                <a:gd name="adj" fmla="val 3125"/>
              </a:avLst>
            </a:prstGeom>
            <a:solidFill>
              <a:srgbClr val="9BF00B"/>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45720" tIns="146304" rIns="45720" bIns="146304" numCol="1" spcCol="0" rtlCol="0" fromWordArt="0" anchor="ctr" anchorCtr="0" forceAA="0" compatLnSpc="1">
              <a:prstTxWarp prst="textNoShape">
                <a:avLst/>
              </a:prstTxWarp>
              <a:noAutofit/>
            </a:bodyPr>
            <a:lstStyle/>
            <a:p>
              <a:pPr marL="0" marR="0" lvl="0" indent="0" algn="ctr" defTabSz="93274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dirty="0">
                  <a:ln w="3175">
                    <a:noFill/>
                  </a:ln>
                  <a:effectLst/>
                  <a:uLnTx/>
                  <a:uFillTx/>
                  <a:latin typeface="Segoe UI Semibold" panose="020B0702040204020203" pitchFamily="34" charset="0"/>
                  <a:ea typeface="+mn-ea"/>
                  <a:cs typeface="Segoe UI Semibold" panose="020B0702040204020203" pitchFamily="34" charset="0"/>
                </a:rPr>
                <a:t>Pod1</a:t>
              </a:r>
              <a:br>
                <a:rPr kumimoji="0" lang="en-US" sz="800" b="0" i="0" u="none" strike="noStrike" kern="1200" cap="none" spc="0" normalizeH="0" baseline="0" noProof="0" dirty="0">
                  <a:ln w="3175">
                    <a:noFill/>
                  </a:ln>
                  <a:effectLst/>
                  <a:uLnTx/>
                  <a:uFillTx/>
                  <a:latin typeface="Segoe UI Semibold" panose="020B0702040204020203" pitchFamily="34" charset="0"/>
                  <a:ea typeface="+mn-ea"/>
                  <a:cs typeface="Segoe UI Semibold" panose="020B0702040204020203" pitchFamily="34" charset="0"/>
                </a:rPr>
              </a:br>
              <a:r>
                <a:rPr lang="en-US" sz="800" dirty="0">
                  <a:ln w="3175">
                    <a:noFill/>
                  </a:ln>
                  <a:latin typeface="Segoe UI Semibold" panose="020B0702040204020203" pitchFamily="34" charset="0"/>
                  <a:cs typeface="Segoe UI Semibold" panose="020B0702040204020203" pitchFamily="34" charset="0"/>
                </a:rPr>
                <a:t>app: front-end</a:t>
              </a:r>
              <a:endParaRPr kumimoji="0" lang="en-US" sz="800" b="0" i="0" u="none" strike="noStrike" kern="1200" cap="none" spc="0" normalizeH="0" baseline="0" noProof="0" dirty="0">
                <a:ln w="3175">
                  <a:noFill/>
                </a:ln>
                <a:effectLst/>
                <a:uLnTx/>
                <a:uFillTx/>
                <a:latin typeface="Segoe UI Semibold" panose="020B0702040204020203" pitchFamily="34" charset="0"/>
                <a:ea typeface="+mn-ea"/>
                <a:cs typeface="Segoe UI Semibold" panose="020B0702040204020203" pitchFamily="34" charset="0"/>
              </a:endParaRPr>
            </a:p>
          </p:txBody>
        </p:sp>
        <p:sp>
          <p:nvSpPr>
            <p:cNvPr id="12" name="Rectangle: Rounded Corners 11">
              <a:extLst>
                <a:ext uri="{FF2B5EF4-FFF2-40B4-BE49-F238E27FC236}">
                  <a16:creationId xmlns:a16="http://schemas.microsoft.com/office/drawing/2014/main" id="{BCF5C7E0-824E-481F-B749-BBFF4CA7CF25}"/>
                </a:ext>
              </a:extLst>
            </p:cNvPr>
            <p:cNvSpPr/>
            <p:nvPr/>
          </p:nvSpPr>
          <p:spPr bwMode="auto">
            <a:xfrm>
              <a:off x="8086379" y="4094602"/>
              <a:ext cx="797449" cy="394772"/>
            </a:xfrm>
            <a:prstGeom prst="roundRect">
              <a:avLst>
                <a:gd name="adj" fmla="val 3125"/>
              </a:avLst>
            </a:prstGeom>
            <a:solidFill>
              <a:srgbClr val="9BF00B"/>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45720" tIns="146304" rIns="45720" bIns="146304" numCol="1" spcCol="0" rtlCol="0" fromWordArt="0" anchor="ctr" anchorCtr="0" forceAA="0" compatLnSpc="1">
              <a:prstTxWarp prst="textNoShape">
                <a:avLst/>
              </a:prstTxWarp>
              <a:noAutofit/>
            </a:bodyPr>
            <a:lstStyle/>
            <a:p>
              <a:pPr marL="0" marR="0" lvl="0" indent="0" algn="ctr" defTabSz="93274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Pod2</a:t>
              </a:r>
              <a:br>
                <a:rPr kumimoji="0" lang="en-US" sz="8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br>
              <a:r>
                <a:rPr kumimoji="0" lang="en-US" sz="8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app: front-end</a:t>
              </a:r>
            </a:p>
          </p:txBody>
        </p:sp>
        <p:sp>
          <p:nvSpPr>
            <p:cNvPr id="13" name="Rectangle: Rounded Corners 12">
              <a:extLst>
                <a:ext uri="{FF2B5EF4-FFF2-40B4-BE49-F238E27FC236}">
                  <a16:creationId xmlns:a16="http://schemas.microsoft.com/office/drawing/2014/main" id="{0CF036A5-0002-4D53-A289-21ECA793456F}"/>
                </a:ext>
              </a:extLst>
            </p:cNvPr>
            <p:cNvSpPr/>
            <p:nvPr/>
          </p:nvSpPr>
          <p:spPr bwMode="auto">
            <a:xfrm>
              <a:off x="9397751" y="4092593"/>
              <a:ext cx="797449" cy="394772"/>
            </a:xfrm>
            <a:prstGeom prst="roundRect">
              <a:avLst>
                <a:gd name="adj" fmla="val 3125"/>
              </a:avLst>
            </a:prstGeom>
            <a:solidFill>
              <a:srgbClr val="FEF000"/>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45720" tIns="146304" rIns="45720" bIns="146304" numCol="1" spcCol="0" rtlCol="0" fromWordArt="0" anchor="ctr" anchorCtr="0" forceAA="0" compatLnSpc="1">
              <a:prstTxWarp prst="textNoShape">
                <a:avLst/>
              </a:prstTxWarp>
              <a:noAutofit/>
            </a:bodyPr>
            <a:lstStyle/>
            <a:p>
              <a:pPr marL="0" marR="0" lvl="0" indent="0" algn="ctr" defTabSz="93274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Pod3</a:t>
              </a:r>
              <a:br>
                <a:rPr kumimoji="0" lang="en-US" sz="8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br>
              <a:r>
                <a:rPr kumimoji="0" lang="en-US" sz="8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app: back-end</a:t>
              </a:r>
            </a:p>
          </p:txBody>
        </p:sp>
      </p:grpSp>
      <p:cxnSp>
        <p:nvCxnSpPr>
          <p:cNvPr id="14" name="Connector: Elbow 13">
            <a:extLst>
              <a:ext uri="{FF2B5EF4-FFF2-40B4-BE49-F238E27FC236}">
                <a16:creationId xmlns:a16="http://schemas.microsoft.com/office/drawing/2014/main" id="{D9556E97-93CD-465C-8000-E67879897C51}"/>
              </a:ext>
            </a:extLst>
          </p:cNvPr>
          <p:cNvCxnSpPr>
            <a:cxnSpLocks/>
            <a:stCxn id="8" idx="2"/>
            <a:endCxn id="10" idx="0"/>
          </p:cNvCxnSpPr>
          <p:nvPr/>
        </p:nvCxnSpPr>
        <p:spPr>
          <a:xfrm rot="5400000">
            <a:off x="8166090" y="4820024"/>
            <a:ext cx="455079" cy="475367"/>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AB372FCB-9120-49E0-96D7-650B360A1919}"/>
              </a:ext>
            </a:extLst>
          </p:cNvPr>
          <p:cNvCxnSpPr>
            <a:cxnSpLocks/>
            <a:stCxn id="8" idx="2"/>
          </p:cNvCxnSpPr>
          <p:nvPr/>
        </p:nvCxnSpPr>
        <p:spPr>
          <a:xfrm rot="16200000" flipH="1">
            <a:off x="8615424" y="4846055"/>
            <a:ext cx="455076" cy="423301"/>
          </a:xfrm>
          <a:prstGeom prst="bentConnector3">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0CE72F0B-96DC-41DC-889F-8E2C332783C6}"/>
              </a:ext>
            </a:extLst>
          </p:cNvPr>
          <p:cNvSpPr/>
          <p:nvPr/>
        </p:nvSpPr>
        <p:spPr bwMode="auto">
          <a:xfrm>
            <a:off x="9692775" y="4531360"/>
            <a:ext cx="1306946" cy="303558"/>
          </a:xfrm>
          <a:prstGeom prst="roundRect">
            <a:avLst>
              <a:gd name="adj" fmla="val 3125"/>
            </a:avLst>
          </a:prstGeom>
          <a:solidFill>
            <a:srgbClr val="FFCC99"/>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742" rtl="0" eaLnBrk="1" fontAlgn="auto" latinLnBrk="0" hangingPunct="1">
              <a:lnSpc>
                <a:spcPct val="100000"/>
              </a:lnSpc>
              <a:spcBef>
                <a:spcPct val="0"/>
              </a:spcBef>
              <a:spcAft>
                <a:spcPts val="0"/>
              </a:spcAft>
              <a:buClrTx/>
              <a:buSzTx/>
              <a:buFontTx/>
              <a:buNone/>
              <a:tabLst/>
              <a:defRPr/>
            </a:pPr>
            <a:r>
              <a:rPr kumimoji="0" lang="en-US" sz="900" b="1"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back-end-service</a:t>
            </a:r>
            <a:endParaRPr kumimoji="0" lang="en-US" sz="800" b="1"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endParaRPr>
          </a:p>
        </p:txBody>
      </p:sp>
      <p:cxnSp>
        <p:nvCxnSpPr>
          <p:cNvPr id="17" name="Connector: Elbow 16">
            <a:extLst>
              <a:ext uri="{FF2B5EF4-FFF2-40B4-BE49-F238E27FC236}">
                <a16:creationId xmlns:a16="http://schemas.microsoft.com/office/drawing/2014/main" id="{BD11C47F-08D6-4ADD-BB52-C4DE1C69A432}"/>
              </a:ext>
            </a:extLst>
          </p:cNvPr>
          <p:cNvCxnSpPr>
            <a:cxnSpLocks/>
            <a:stCxn id="16" idx="2"/>
            <a:endCxn id="13" idx="0"/>
          </p:cNvCxnSpPr>
          <p:nvPr/>
        </p:nvCxnSpPr>
        <p:spPr>
          <a:xfrm rot="5400000">
            <a:off x="10122467" y="5057445"/>
            <a:ext cx="446308" cy="1254"/>
          </a:xfrm>
          <a:prstGeom prst="bentConnector3">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18" name="Picture 17" descr="Text&#10;&#10;Description automatically generated with medium confidence">
            <a:extLst>
              <a:ext uri="{FF2B5EF4-FFF2-40B4-BE49-F238E27FC236}">
                <a16:creationId xmlns:a16="http://schemas.microsoft.com/office/drawing/2014/main" id="{67D7F7D4-EADF-45CE-BD8E-0273A8588AFA}"/>
              </a:ext>
            </a:extLst>
          </p:cNvPr>
          <p:cNvPicPr>
            <a:picLocks noChangeAspect="1"/>
          </p:cNvPicPr>
          <p:nvPr/>
        </p:nvPicPr>
        <p:blipFill>
          <a:blip r:embed="rId3"/>
          <a:stretch>
            <a:fillRect/>
          </a:stretch>
        </p:blipFill>
        <p:spPr>
          <a:xfrm>
            <a:off x="6654337" y="1460049"/>
            <a:ext cx="2600688" cy="2276793"/>
          </a:xfrm>
          <a:prstGeom prst="rect">
            <a:avLst/>
          </a:prstGeom>
        </p:spPr>
      </p:pic>
      <p:cxnSp>
        <p:nvCxnSpPr>
          <p:cNvPr id="24" name="Connector: Elbow 23">
            <a:extLst>
              <a:ext uri="{FF2B5EF4-FFF2-40B4-BE49-F238E27FC236}">
                <a16:creationId xmlns:a16="http://schemas.microsoft.com/office/drawing/2014/main" id="{3FE709A5-3C7B-41EA-B116-E9A628E305C2}"/>
              </a:ext>
            </a:extLst>
          </p:cNvPr>
          <p:cNvCxnSpPr>
            <a:cxnSpLocks/>
            <a:stCxn id="12" idx="3"/>
            <a:endCxn id="16" idx="0"/>
          </p:cNvCxnSpPr>
          <p:nvPr/>
        </p:nvCxnSpPr>
        <p:spPr>
          <a:xfrm flipV="1">
            <a:off x="9432346" y="4531360"/>
            <a:ext cx="913902" cy="1148407"/>
          </a:xfrm>
          <a:prstGeom prst="bentConnector4">
            <a:avLst>
              <a:gd name="adj1" fmla="val 14248"/>
              <a:gd name="adj2" fmla="val 119906"/>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30" name="Picture 29" descr="Text&#10;&#10;Description automatically generated with low confidence">
            <a:extLst>
              <a:ext uri="{FF2B5EF4-FFF2-40B4-BE49-F238E27FC236}">
                <a16:creationId xmlns:a16="http://schemas.microsoft.com/office/drawing/2014/main" id="{E367FB91-AF90-41DD-B5AD-0E2A098712F0}"/>
              </a:ext>
            </a:extLst>
          </p:cNvPr>
          <p:cNvPicPr>
            <a:picLocks noChangeAspect="1"/>
          </p:cNvPicPr>
          <p:nvPr/>
        </p:nvPicPr>
        <p:blipFill>
          <a:blip r:embed="rId4"/>
          <a:stretch>
            <a:fillRect/>
          </a:stretch>
        </p:blipFill>
        <p:spPr>
          <a:xfrm>
            <a:off x="9514821" y="1460049"/>
            <a:ext cx="2457793" cy="2262503"/>
          </a:xfrm>
          <a:prstGeom prst="rect">
            <a:avLst/>
          </a:prstGeom>
        </p:spPr>
      </p:pic>
      <p:cxnSp>
        <p:nvCxnSpPr>
          <p:cNvPr id="31" name="Connector: Elbow 30">
            <a:extLst>
              <a:ext uri="{FF2B5EF4-FFF2-40B4-BE49-F238E27FC236}">
                <a16:creationId xmlns:a16="http://schemas.microsoft.com/office/drawing/2014/main" id="{34FBF005-3955-4CD4-B22B-B4588177A4D3}"/>
              </a:ext>
            </a:extLst>
          </p:cNvPr>
          <p:cNvCxnSpPr>
            <a:cxnSpLocks/>
            <a:endCxn id="8" idx="0"/>
          </p:cNvCxnSpPr>
          <p:nvPr/>
        </p:nvCxnSpPr>
        <p:spPr>
          <a:xfrm rot="16200000" flipH="1">
            <a:off x="8346668" y="4241965"/>
            <a:ext cx="569286" cy="1"/>
          </a:xfrm>
          <a:prstGeom prst="bentConnector3">
            <a:avLst/>
          </a:prstGeom>
          <a:ln w="127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018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22" presetClass="entr" presetSubtype="1"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up)">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22" presetClass="entr" presetSubtype="1"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par>
                                <p:cTn id="23" presetID="22" presetClass="entr" presetSubtype="1"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up)">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down)">
                                      <p:cBhvr>
                                        <p:cTn id="30" dur="500"/>
                                        <p:tgtEl>
                                          <p:spTgt spid="24"/>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up)">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fade">
                                      <p:cBhvr>
                                        <p:cTn id="39" dur="500"/>
                                        <p:tgtEl>
                                          <p:spTgt spid="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2" end="2"/>
                                            </p:txEl>
                                          </p:spTgt>
                                        </p:tgtEl>
                                        <p:attrNameLst>
                                          <p:attrName>style.visibility</p:attrName>
                                        </p:attrNameLst>
                                      </p:cBhvr>
                                      <p:to>
                                        <p:strVal val="visible"/>
                                      </p:to>
                                    </p:set>
                                    <p:animEffect transition="in" filter="fade">
                                      <p:cBhvr>
                                        <p:cTn id="44" dur="5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Effect transition="in" filter="fade">
                                      <p:cBhvr>
                                        <p:cTn id="49" dur="500"/>
                                        <p:tgtEl>
                                          <p:spTgt spid="3">
                                            <p:txEl>
                                              <p:pRg st="3" end="3"/>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animEffect transition="in" filter="fade">
                                      <p:cBhvr>
                                        <p:cTn id="54" dur="500"/>
                                        <p:tgtEl>
                                          <p:spTgt spid="3">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animEffect transition="in" filter="fade">
                                      <p:cBhvr>
                                        <p:cTn id="59" dur="500"/>
                                        <p:tgtEl>
                                          <p:spTgt spid="3">
                                            <p:txEl>
                                              <p:pRg st="5" end="5"/>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6" end="6"/>
                                            </p:txEl>
                                          </p:spTgt>
                                        </p:tgtEl>
                                        <p:attrNameLst>
                                          <p:attrName>style.visibility</p:attrName>
                                        </p:attrNameLst>
                                      </p:cBhvr>
                                      <p:to>
                                        <p:strVal val="visible"/>
                                      </p:to>
                                    </p:set>
                                    <p:animEffect transition="in" filter="fade">
                                      <p:cBhvr>
                                        <p:cTn id="6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3A6AE-D1AE-40AD-9D05-4AFA3A7B9CB5}"/>
              </a:ext>
            </a:extLst>
          </p:cNvPr>
          <p:cNvSpPr>
            <a:spLocks noGrp="1"/>
          </p:cNvSpPr>
          <p:nvPr>
            <p:ph type="title"/>
          </p:nvPr>
        </p:nvSpPr>
        <p:spPr/>
        <p:txBody>
          <a:bodyPr/>
          <a:lstStyle/>
          <a:p>
            <a:r>
              <a:rPr lang="en-US" dirty="0">
                <a:solidFill>
                  <a:schemeClr val="bg1"/>
                </a:solidFill>
              </a:rPr>
              <a:t>Service Types – </a:t>
            </a:r>
            <a:r>
              <a:rPr lang="en-US" dirty="0" err="1">
                <a:solidFill>
                  <a:schemeClr val="bg1"/>
                </a:solidFill>
              </a:rPr>
              <a:t>ClusterIP</a:t>
            </a:r>
            <a:endParaRPr lang="en-US" dirty="0">
              <a:solidFill>
                <a:schemeClr val="bg1"/>
              </a:solidFill>
            </a:endParaRPr>
          </a:p>
        </p:txBody>
      </p:sp>
      <p:sp>
        <p:nvSpPr>
          <p:cNvPr id="3" name="Content Placeholder 2">
            <a:extLst>
              <a:ext uri="{FF2B5EF4-FFF2-40B4-BE49-F238E27FC236}">
                <a16:creationId xmlns:a16="http://schemas.microsoft.com/office/drawing/2014/main" id="{8FD25E85-0910-4377-8E1C-D3CC2C896C26}"/>
              </a:ext>
            </a:extLst>
          </p:cNvPr>
          <p:cNvSpPr>
            <a:spLocks noGrp="1"/>
          </p:cNvSpPr>
          <p:nvPr>
            <p:ph sz="quarter" idx="10"/>
          </p:nvPr>
        </p:nvSpPr>
        <p:spPr>
          <a:xfrm>
            <a:off x="531703" y="1481049"/>
            <a:ext cx="5436419" cy="2369880"/>
          </a:xfrm>
        </p:spPr>
        <p:txBody>
          <a:bodyPr/>
          <a:lstStyle/>
          <a:p>
            <a:pPr marL="342900" indent="-342900">
              <a:spcBef>
                <a:spcPts val="600"/>
              </a:spcBef>
              <a:spcAft>
                <a:spcPts val="0"/>
              </a:spcAft>
              <a:buFont typeface="Arial" panose="020B0604020202020204" pitchFamily="34" charset="0"/>
              <a:buChar char="•"/>
            </a:pPr>
            <a:r>
              <a:rPr lang="en-US" b="1" u="sng" dirty="0" err="1"/>
              <a:t>ClusterIP</a:t>
            </a:r>
            <a:r>
              <a:rPr lang="en-US" dirty="0"/>
              <a:t> – An internal IP address for use within the Kubernetes cluster.</a:t>
            </a:r>
          </a:p>
          <a:p>
            <a:pPr marL="342900" indent="-342900">
              <a:spcBef>
                <a:spcPts val="600"/>
              </a:spcBef>
              <a:spcAft>
                <a:spcPts val="0"/>
              </a:spcAft>
              <a:buFont typeface="Arial" panose="020B0604020202020204" pitchFamily="34" charset="0"/>
              <a:buChar char="•"/>
            </a:pPr>
            <a:r>
              <a:rPr lang="en-US" dirty="0"/>
              <a:t>Used for internal communications between workloads within the cluster.</a:t>
            </a:r>
          </a:p>
          <a:p>
            <a:pPr marL="342900" indent="-342900">
              <a:spcBef>
                <a:spcPts val="600"/>
              </a:spcBef>
              <a:spcAft>
                <a:spcPts val="0"/>
              </a:spcAft>
              <a:buFont typeface="Arial" panose="020B0604020202020204" pitchFamily="34" charset="0"/>
              <a:buChar char="•"/>
            </a:pPr>
            <a:r>
              <a:rPr lang="en-US" dirty="0"/>
              <a:t>Default service type when one is not specified.</a:t>
            </a:r>
          </a:p>
        </p:txBody>
      </p:sp>
      <p:sp>
        <p:nvSpPr>
          <p:cNvPr id="106" name="Rectangle: Rounded Corners 105">
            <a:extLst>
              <a:ext uri="{FF2B5EF4-FFF2-40B4-BE49-F238E27FC236}">
                <a16:creationId xmlns:a16="http://schemas.microsoft.com/office/drawing/2014/main" id="{ED02D624-27BE-4A93-A9AC-0E77D10EF73C}"/>
              </a:ext>
            </a:extLst>
          </p:cNvPr>
          <p:cNvSpPr/>
          <p:nvPr/>
        </p:nvSpPr>
        <p:spPr bwMode="auto">
          <a:xfrm>
            <a:off x="6723618" y="1481049"/>
            <a:ext cx="5127172" cy="4386942"/>
          </a:xfrm>
          <a:prstGeom prst="roundRect">
            <a:avLst/>
          </a:prstGeom>
          <a:solidFill>
            <a:schemeClr val="bg1">
              <a:lumMod val="85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solidFill>
                  <a:srgbClr val="FFFFFF"/>
                </a:solidFill>
                <a:ea typeface="Segoe UI" pitchFamily="34" charset="0"/>
                <a:cs typeface="Segoe UI" pitchFamily="34" charset="0"/>
              </a:rPr>
              <a:t>Traffic</a:t>
            </a:r>
          </a:p>
        </p:txBody>
      </p:sp>
      <p:pic>
        <p:nvPicPr>
          <p:cNvPr id="107" name="Picture 106" descr="A picture containing text, sign, stop, outdoor&#10;&#10;Description automatically generated">
            <a:extLst>
              <a:ext uri="{FF2B5EF4-FFF2-40B4-BE49-F238E27FC236}">
                <a16:creationId xmlns:a16="http://schemas.microsoft.com/office/drawing/2014/main" id="{6D941732-B759-48C5-8D39-E7613AE32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4583" y="2226770"/>
            <a:ext cx="1251663" cy="1251663"/>
          </a:xfrm>
          <a:prstGeom prst="rect">
            <a:avLst/>
          </a:prstGeom>
        </p:spPr>
      </p:pic>
      <p:pic>
        <p:nvPicPr>
          <p:cNvPr id="108" name="Picture 107" descr="A picture containing text, sign, stop, outdoor&#10;&#10;Description automatically generated">
            <a:extLst>
              <a:ext uri="{FF2B5EF4-FFF2-40B4-BE49-F238E27FC236}">
                <a16:creationId xmlns:a16="http://schemas.microsoft.com/office/drawing/2014/main" id="{5D35E0B9-337D-478E-8599-13BADDF513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4566" y="4373605"/>
            <a:ext cx="1271696" cy="1271696"/>
          </a:xfrm>
          <a:prstGeom prst="rect">
            <a:avLst/>
          </a:prstGeom>
        </p:spPr>
      </p:pic>
      <p:pic>
        <p:nvPicPr>
          <p:cNvPr id="109" name="Picture 108" descr="A picture containing text, sign, stop, outdoor&#10;&#10;Description automatically generated">
            <a:extLst>
              <a:ext uri="{FF2B5EF4-FFF2-40B4-BE49-F238E27FC236}">
                <a16:creationId xmlns:a16="http://schemas.microsoft.com/office/drawing/2014/main" id="{BB72DD67-54E3-4829-8881-DCBD58C16A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6702" y="4385762"/>
            <a:ext cx="1271696" cy="1271696"/>
          </a:xfrm>
          <a:prstGeom prst="rect">
            <a:avLst/>
          </a:prstGeom>
        </p:spPr>
      </p:pic>
      <p:pic>
        <p:nvPicPr>
          <p:cNvPr id="110" name="Picture 109" descr="A picture containing text, sign, stop, outdoor&#10;&#10;Description automatically generated">
            <a:extLst>
              <a:ext uri="{FF2B5EF4-FFF2-40B4-BE49-F238E27FC236}">
                <a16:creationId xmlns:a16="http://schemas.microsoft.com/office/drawing/2014/main" id="{75C063A1-DF8E-45E5-AB2A-EBA5CCED3F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4780" y="4385762"/>
            <a:ext cx="1271696" cy="1271696"/>
          </a:xfrm>
          <a:prstGeom prst="rect">
            <a:avLst/>
          </a:prstGeom>
        </p:spPr>
      </p:pic>
      <p:cxnSp>
        <p:nvCxnSpPr>
          <p:cNvPr id="111" name="Connector: Elbow 110">
            <a:extLst>
              <a:ext uri="{FF2B5EF4-FFF2-40B4-BE49-F238E27FC236}">
                <a16:creationId xmlns:a16="http://schemas.microsoft.com/office/drawing/2014/main" id="{9BEBB4CE-9171-42A5-85C0-7925439E60FA}"/>
              </a:ext>
            </a:extLst>
          </p:cNvPr>
          <p:cNvCxnSpPr>
            <a:cxnSpLocks/>
            <a:stCxn id="107" idx="2"/>
            <a:endCxn id="108" idx="0"/>
          </p:cNvCxnSpPr>
          <p:nvPr/>
        </p:nvCxnSpPr>
        <p:spPr>
          <a:xfrm rot="5400000">
            <a:off x="8932829" y="3926019"/>
            <a:ext cx="895172" cy="1"/>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92102995-9C86-4B0B-A777-220D7D8A0056}"/>
              </a:ext>
            </a:extLst>
          </p:cNvPr>
          <p:cNvCxnSpPr>
            <a:cxnSpLocks/>
            <a:stCxn id="107" idx="2"/>
            <a:endCxn id="109" idx="0"/>
          </p:cNvCxnSpPr>
          <p:nvPr/>
        </p:nvCxnSpPr>
        <p:spPr>
          <a:xfrm rot="16200000" flipH="1">
            <a:off x="9662818" y="3196029"/>
            <a:ext cx="907329" cy="1472135"/>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2895501F-52D1-4630-B312-A14DDDC13808}"/>
              </a:ext>
            </a:extLst>
          </p:cNvPr>
          <p:cNvCxnSpPr>
            <a:cxnSpLocks/>
            <a:stCxn id="107" idx="2"/>
            <a:endCxn id="110" idx="0"/>
          </p:cNvCxnSpPr>
          <p:nvPr/>
        </p:nvCxnSpPr>
        <p:spPr>
          <a:xfrm rot="5400000">
            <a:off x="8121858" y="3127204"/>
            <a:ext cx="907329" cy="1609787"/>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2BAAEA15-645E-4EE2-A9F3-1FD40F91B305}"/>
              </a:ext>
            </a:extLst>
          </p:cNvPr>
          <p:cNvCxnSpPr>
            <a:cxnSpLocks/>
            <a:endCxn id="107" idx="0"/>
          </p:cNvCxnSpPr>
          <p:nvPr/>
        </p:nvCxnSpPr>
        <p:spPr>
          <a:xfrm>
            <a:off x="9380415" y="1670986"/>
            <a:ext cx="0" cy="555784"/>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496541B9-828F-4878-8A4C-DA61C8422866}"/>
              </a:ext>
            </a:extLst>
          </p:cNvPr>
          <p:cNvSpPr txBox="1"/>
          <p:nvPr/>
        </p:nvSpPr>
        <p:spPr>
          <a:xfrm>
            <a:off x="9526696" y="1647915"/>
            <a:ext cx="1438022" cy="276999"/>
          </a:xfrm>
          <a:prstGeom prst="rect">
            <a:avLst/>
          </a:prstGeom>
          <a:noFill/>
        </p:spPr>
        <p:txBody>
          <a:bodyPr wrap="none" lIns="0" tIns="0" rIns="0" bIns="0" rtlCol="0">
            <a:spAutoFit/>
          </a:bodyPr>
          <a:lstStyle/>
          <a:p>
            <a:pPr algn="l"/>
            <a:r>
              <a:rPr lang="en-US" dirty="0"/>
              <a:t>Internal Traffic</a:t>
            </a:r>
          </a:p>
        </p:txBody>
      </p:sp>
      <p:pic>
        <p:nvPicPr>
          <p:cNvPr id="117" name="Graphic 116">
            <a:extLst>
              <a:ext uri="{FF2B5EF4-FFF2-40B4-BE49-F238E27FC236}">
                <a16:creationId xmlns:a16="http://schemas.microsoft.com/office/drawing/2014/main" id="{726C5987-67CC-4883-84C8-DC37051C45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49145" y="1663775"/>
            <a:ext cx="907329" cy="907329"/>
          </a:xfrm>
          <a:prstGeom prst="rect">
            <a:avLst/>
          </a:prstGeom>
        </p:spPr>
      </p:pic>
      <p:sp>
        <p:nvSpPr>
          <p:cNvPr id="16" name="TextBox 15">
            <a:extLst>
              <a:ext uri="{FF2B5EF4-FFF2-40B4-BE49-F238E27FC236}">
                <a16:creationId xmlns:a16="http://schemas.microsoft.com/office/drawing/2014/main" id="{6E569130-DCD8-A37F-150C-8F3A762E87ED}"/>
              </a:ext>
            </a:extLst>
          </p:cNvPr>
          <p:cNvSpPr txBox="1"/>
          <p:nvPr/>
        </p:nvSpPr>
        <p:spPr>
          <a:xfrm>
            <a:off x="7978063" y="3981343"/>
            <a:ext cx="1309141" cy="246221"/>
          </a:xfrm>
          <a:prstGeom prst="rect">
            <a:avLst/>
          </a:prstGeom>
          <a:noFill/>
        </p:spPr>
        <p:txBody>
          <a:bodyPr wrap="none" lIns="0" tIns="0" rIns="0" bIns="0" rtlCol="0">
            <a:spAutoFit/>
          </a:bodyPr>
          <a:lstStyle/>
          <a:p>
            <a:pPr algn="l"/>
            <a:r>
              <a:rPr lang="en-US" sz="1600" dirty="0"/>
              <a:t>Target Port: 80</a:t>
            </a:r>
          </a:p>
        </p:txBody>
      </p:sp>
      <p:sp>
        <p:nvSpPr>
          <p:cNvPr id="18" name="TextBox 17">
            <a:extLst>
              <a:ext uri="{FF2B5EF4-FFF2-40B4-BE49-F238E27FC236}">
                <a16:creationId xmlns:a16="http://schemas.microsoft.com/office/drawing/2014/main" id="{0FB2F604-1C11-17BF-BA7A-C8D0C2F7AF3B}"/>
              </a:ext>
            </a:extLst>
          </p:cNvPr>
          <p:cNvSpPr txBox="1"/>
          <p:nvPr/>
        </p:nvSpPr>
        <p:spPr>
          <a:xfrm>
            <a:off x="8368811" y="1880969"/>
            <a:ext cx="918393" cy="246221"/>
          </a:xfrm>
          <a:prstGeom prst="rect">
            <a:avLst/>
          </a:prstGeom>
          <a:noFill/>
        </p:spPr>
        <p:txBody>
          <a:bodyPr wrap="none" lIns="0" tIns="0" rIns="0" bIns="0" rtlCol="0">
            <a:spAutoFit/>
          </a:bodyPr>
          <a:lstStyle/>
          <a:p>
            <a:pPr algn="l"/>
            <a:r>
              <a:rPr lang="en-US" sz="1600" dirty="0"/>
              <a:t>Port: 8080</a:t>
            </a:r>
          </a:p>
        </p:txBody>
      </p:sp>
      <p:sp>
        <p:nvSpPr>
          <p:cNvPr id="19" name="TextBox 18">
            <a:extLst>
              <a:ext uri="{FF2B5EF4-FFF2-40B4-BE49-F238E27FC236}">
                <a16:creationId xmlns:a16="http://schemas.microsoft.com/office/drawing/2014/main" id="{12748F6F-19B3-4D9E-5AC4-17F4D4998FD2}"/>
              </a:ext>
            </a:extLst>
          </p:cNvPr>
          <p:cNvSpPr txBox="1"/>
          <p:nvPr/>
        </p:nvSpPr>
        <p:spPr>
          <a:xfrm>
            <a:off x="9577659" y="3465939"/>
            <a:ext cx="1740506" cy="276999"/>
          </a:xfrm>
          <a:prstGeom prst="rect">
            <a:avLst/>
          </a:prstGeom>
          <a:noFill/>
        </p:spPr>
        <p:txBody>
          <a:bodyPr wrap="square" lIns="0" tIns="0" rIns="0" bIns="0" rtlCol="0">
            <a:spAutoFit/>
          </a:bodyPr>
          <a:lstStyle/>
          <a:p>
            <a:pPr algn="l"/>
            <a:r>
              <a:rPr lang="en-US" dirty="0"/>
              <a:t>Load Balancer</a:t>
            </a:r>
          </a:p>
        </p:txBody>
      </p:sp>
      <p:pic>
        <p:nvPicPr>
          <p:cNvPr id="6" name="Picture 5">
            <a:extLst>
              <a:ext uri="{FF2B5EF4-FFF2-40B4-BE49-F238E27FC236}">
                <a16:creationId xmlns:a16="http://schemas.microsoft.com/office/drawing/2014/main" id="{ACB20D2B-09D7-B7D7-99BB-2179133CED7C}"/>
              </a:ext>
            </a:extLst>
          </p:cNvPr>
          <p:cNvPicPr>
            <a:picLocks noChangeAspect="1"/>
          </p:cNvPicPr>
          <p:nvPr/>
        </p:nvPicPr>
        <p:blipFill>
          <a:blip r:embed="rId5"/>
          <a:stretch>
            <a:fillRect/>
          </a:stretch>
        </p:blipFill>
        <p:spPr>
          <a:xfrm>
            <a:off x="3944720" y="4373605"/>
            <a:ext cx="2143050" cy="1972882"/>
          </a:xfrm>
          <a:prstGeom prst="rect">
            <a:avLst/>
          </a:prstGeom>
        </p:spPr>
      </p:pic>
    </p:spTree>
    <p:extLst>
      <p:ext uri="{BB962C8B-B14F-4D97-AF65-F5344CB8AC3E}">
        <p14:creationId xmlns:p14="http://schemas.microsoft.com/office/powerpoint/2010/main" val="29822597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500"/>
                                        <p:tgtEl>
                                          <p:spTgt spid="11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4"/>
                                        </p:tgtEl>
                                        <p:attrNameLst>
                                          <p:attrName>style.visibility</p:attrName>
                                        </p:attrNameLst>
                                      </p:cBhvr>
                                      <p:to>
                                        <p:strVal val="visible"/>
                                      </p:to>
                                    </p:set>
                                    <p:animEffect transition="in" filter="wipe(up)">
                                      <p:cBhvr>
                                        <p:cTn id="11" dur="500"/>
                                        <p:tgtEl>
                                          <p:spTgt spid="11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7"/>
                                        </p:tgtEl>
                                        <p:attrNameLst>
                                          <p:attrName>style.visibility</p:attrName>
                                        </p:attrNameLst>
                                      </p:cBhvr>
                                      <p:to>
                                        <p:strVal val="visible"/>
                                      </p:to>
                                    </p:set>
                                    <p:animEffect transition="in" filter="fade">
                                      <p:cBhvr>
                                        <p:cTn id="19" dur="500"/>
                                        <p:tgtEl>
                                          <p:spTgt spid="10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12"/>
                                        </p:tgtEl>
                                        <p:attrNameLst>
                                          <p:attrName>style.visibility</p:attrName>
                                        </p:attrNameLst>
                                      </p:cBhvr>
                                      <p:to>
                                        <p:strVal val="visible"/>
                                      </p:to>
                                    </p:set>
                                    <p:animEffect transition="in" filter="wipe(up)">
                                      <p:cBhvr>
                                        <p:cTn id="23" dur="500"/>
                                        <p:tgtEl>
                                          <p:spTgt spid="112"/>
                                        </p:tgtEl>
                                      </p:cBhvr>
                                    </p:animEffect>
                                  </p:childTnLst>
                                </p:cTn>
                              </p:par>
                              <p:par>
                                <p:cTn id="24" presetID="22" presetClass="entr" presetSubtype="1" fill="hold" nodeType="withEffect">
                                  <p:stCondLst>
                                    <p:cond delay="0"/>
                                  </p:stCondLst>
                                  <p:childTnLst>
                                    <p:set>
                                      <p:cBhvr>
                                        <p:cTn id="25" dur="1" fill="hold">
                                          <p:stCondLst>
                                            <p:cond delay="0"/>
                                          </p:stCondLst>
                                        </p:cTn>
                                        <p:tgtEl>
                                          <p:spTgt spid="113"/>
                                        </p:tgtEl>
                                        <p:attrNameLst>
                                          <p:attrName>style.visibility</p:attrName>
                                        </p:attrNameLst>
                                      </p:cBhvr>
                                      <p:to>
                                        <p:strVal val="visible"/>
                                      </p:to>
                                    </p:set>
                                    <p:animEffect transition="in" filter="wipe(up)">
                                      <p:cBhvr>
                                        <p:cTn id="26" dur="500"/>
                                        <p:tgtEl>
                                          <p:spTgt spid="113"/>
                                        </p:tgtEl>
                                      </p:cBhvr>
                                    </p:animEffect>
                                  </p:childTnLst>
                                </p:cTn>
                              </p:par>
                              <p:par>
                                <p:cTn id="27" presetID="22" presetClass="entr" presetSubtype="1" fill="hold" nodeType="with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wipe(up)">
                                      <p:cBhvr>
                                        <p:cTn id="29" dur="500"/>
                                        <p:tgtEl>
                                          <p:spTgt spid="1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par>
                          <p:cTn id="36" fill="hold">
                            <p:stCondLst>
                              <p:cond delay="2500"/>
                            </p:stCondLst>
                            <p:childTnLst>
                              <p:par>
                                <p:cTn id="37" presetID="10" presetClass="entr" presetSubtype="0" fill="hold" nodeType="afterEffect">
                                  <p:stCondLst>
                                    <p:cond delay="0"/>
                                  </p:stCondLst>
                                  <p:childTnLst>
                                    <p:set>
                                      <p:cBhvr>
                                        <p:cTn id="38" dur="1" fill="hold">
                                          <p:stCondLst>
                                            <p:cond delay="0"/>
                                          </p:stCondLst>
                                        </p:cTn>
                                        <p:tgtEl>
                                          <p:spTgt spid="110"/>
                                        </p:tgtEl>
                                        <p:attrNameLst>
                                          <p:attrName>style.visibility</p:attrName>
                                        </p:attrNameLst>
                                      </p:cBhvr>
                                      <p:to>
                                        <p:strVal val="visible"/>
                                      </p:to>
                                    </p:set>
                                    <p:animEffect transition="in" filter="fade">
                                      <p:cBhvr>
                                        <p:cTn id="39" dur="500"/>
                                        <p:tgtEl>
                                          <p:spTgt spid="110"/>
                                        </p:tgtEl>
                                      </p:cBhvr>
                                    </p:animEffect>
                                  </p:childTnLst>
                                </p:cTn>
                              </p:par>
                              <p:par>
                                <p:cTn id="40" presetID="10" presetClass="entr" presetSubtype="0" fill="hold" nodeType="with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fade">
                                      <p:cBhvr>
                                        <p:cTn id="42" dur="500"/>
                                        <p:tgtEl>
                                          <p:spTgt spid="108"/>
                                        </p:tgtEl>
                                      </p:cBhvr>
                                    </p:animEffect>
                                  </p:childTnLst>
                                </p:cTn>
                              </p:par>
                              <p:par>
                                <p:cTn id="43" presetID="10" presetClass="entr" presetSubtype="0" fill="hold" nodeType="withEffect">
                                  <p:stCondLst>
                                    <p:cond delay="0"/>
                                  </p:stCondLst>
                                  <p:childTnLst>
                                    <p:set>
                                      <p:cBhvr>
                                        <p:cTn id="44" dur="1" fill="hold">
                                          <p:stCondLst>
                                            <p:cond delay="0"/>
                                          </p:stCondLst>
                                        </p:cTn>
                                        <p:tgtEl>
                                          <p:spTgt spid="109"/>
                                        </p:tgtEl>
                                        <p:attrNameLst>
                                          <p:attrName>style.visibility</p:attrName>
                                        </p:attrNameLst>
                                      </p:cBhvr>
                                      <p:to>
                                        <p:strVal val="visible"/>
                                      </p:to>
                                    </p:set>
                                    <p:animEffect transition="in" filter="fade">
                                      <p:cBhvr>
                                        <p:cTn id="45" dur="500"/>
                                        <p:tgtEl>
                                          <p:spTgt spid="10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 end="1"/>
                                            </p:txEl>
                                          </p:spTgt>
                                        </p:tgtEl>
                                        <p:attrNameLst>
                                          <p:attrName>style.visibility</p:attrName>
                                        </p:attrNameLst>
                                      </p:cBhvr>
                                      <p:to>
                                        <p:strVal val="visible"/>
                                      </p:to>
                                    </p:set>
                                    <p:animEffect transition="in" filter="fade">
                                      <p:cBhvr>
                                        <p:cTn id="50" dur="500"/>
                                        <p:tgtEl>
                                          <p:spTgt spid="3">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visible"/>
                                      </p:to>
                                    </p:set>
                                    <p:animEffect transition="in" filter="fade">
                                      <p:cBhvr>
                                        <p:cTn id="55" dur="500"/>
                                        <p:tgtEl>
                                          <p:spTgt spid="3">
                                            <p:txEl>
                                              <p:pRg st="2" end="2"/>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fade">
                                      <p:cBhvr>
                                        <p:cTn id="5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5" grpId="0"/>
      <p:bldP spid="16" grpId="0"/>
      <p:bldP spid="18" grpId="0"/>
      <p:bldP spid="19"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D25E85-0910-4377-8E1C-D3CC2C896C26}"/>
              </a:ext>
            </a:extLst>
          </p:cNvPr>
          <p:cNvSpPr>
            <a:spLocks noGrp="1"/>
          </p:cNvSpPr>
          <p:nvPr>
            <p:ph sz="quarter" idx="10"/>
          </p:nvPr>
        </p:nvSpPr>
        <p:spPr>
          <a:xfrm>
            <a:off x="586740" y="1468999"/>
            <a:ext cx="5438060" cy="4570482"/>
          </a:xfrm>
        </p:spPr>
        <p:txBody>
          <a:bodyPr/>
          <a:lstStyle/>
          <a:p>
            <a:pPr marL="342900" indent="-342900">
              <a:spcBef>
                <a:spcPts val="600"/>
              </a:spcBef>
              <a:spcAft>
                <a:spcPts val="0"/>
              </a:spcAft>
              <a:buFont typeface="Arial" panose="020B0604020202020204" pitchFamily="34" charset="0"/>
              <a:buChar char="•"/>
            </a:pPr>
            <a:r>
              <a:rPr lang="en-US" sz="2200" b="1" u="sng" dirty="0" err="1"/>
              <a:t>NodePort</a:t>
            </a:r>
            <a:r>
              <a:rPr lang="en-US" sz="2200" dirty="0"/>
              <a:t> - Creates a port mapping to the underlying Node, which allows external access directly to Pods by using the Node IP address (any Node’s IP) and the Node Port.</a:t>
            </a:r>
          </a:p>
          <a:p>
            <a:pPr marL="342900" indent="-342900">
              <a:spcBef>
                <a:spcPts val="600"/>
              </a:spcBef>
              <a:spcAft>
                <a:spcPts val="0"/>
              </a:spcAft>
              <a:buFont typeface="Arial" panose="020B0604020202020204" pitchFamily="34" charset="0"/>
              <a:buChar char="•"/>
            </a:pPr>
            <a:r>
              <a:rPr lang="en-US" sz="2200" dirty="0"/>
              <a:t>Used in on-premise Kubernetes clusters to expose services for external access.</a:t>
            </a:r>
          </a:p>
          <a:p>
            <a:pPr marL="342900" indent="-342900">
              <a:spcBef>
                <a:spcPts val="600"/>
              </a:spcBef>
              <a:spcAft>
                <a:spcPts val="0"/>
              </a:spcAft>
              <a:buFont typeface="Arial" panose="020B0604020202020204" pitchFamily="34" charset="0"/>
              <a:buChar char="•"/>
            </a:pPr>
            <a:r>
              <a:rPr lang="en-US" sz="2200" dirty="0"/>
              <a:t>Only practical in AKS clusters when the Nodes’ IP addresses are externally accessible, such as for Game Servers.  Can be configured during cluster creation using this parameter:</a:t>
            </a:r>
          </a:p>
          <a:p>
            <a:pPr lvl="1" indent="0">
              <a:spcBef>
                <a:spcPts val="600"/>
              </a:spcBef>
              <a:spcAft>
                <a:spcPts val="0"/>
              </a:spcAft>
              <a:buNone/>
            </a:pPr>
            <a:r>
              <a:rPr lang="en-US" b="1" dirty="0">
                <a:solidFill>
                  <a:schemeClr val="accent1"/>
                </a:solidFill>
                <a:latin typeface="Courier New" panose="02070309020205020404" pitchFamily="49" charset="0"/>
                <a:ea typeface="Segoe UI" pitchFamily="34" charset="0"/>
                <a:cs typeface="Courier New" panose="02070309020205020404" pitchFamily="49" charset="0"/>
              </a:rPr>
              <a:t>--enable-node-public-</a:t>
            </a:r>
            <a:r>
              <a:rPr lang="en-US" b="1" dirty="0" err="1">
                <a:solidFill>
                  <a:schemeClr val="accent1"/>
                </a:solidFill>
                <a:latin typeface="Courier New" panose="02070309020205020404" pitchFamily="49" charset="0"/>
                <a:ea typeface="Segoe UI" pitchFamily="34" charset="0"/>
                <a:cs typeface="Courier New" panose="02070309020205020404" pitchFamily="49" charset="0"/>
              </a:rPr>
              <a:t>ip</a:t>
            </a:r>
            <a:endParaRPr lang="en-US" b="1" dirty="0">
              <a:solidFill>
                <a:schemeClr val="accent1"/>
              </a:solidFill>
              <a:latin typeface="Courier New" panose="02070309020205020404" pitchFamily="49" charset="0"/>
              <a:ea typeface="Segoe UI" pitchFamily="34" charset="0"/>
              <a:cs typeface="Courier New" panose="02070309020205020404" pitchFamily="49" charset="0"/>
            </a:endParaRPr>
          </a:p>
        </p:txBody>
      </p:sp>
      <p:sp>
        <p:nvSpPr>
          <p:cNvPr id="2" name="Title 1">
            <a:extLst>
              <a:ext uri="{FF2B5EF4-FFF2-40B4-BE49-F238E27FC236}">
                <a16:creationId xmlns:a16="http://schemas.microsoft.com/office/drawing/2014/main" id="{FAB3A6AE-D1AE-40AD-9D05-4AFA3A7B9CB5}"/>
              </a:ext>
            </a:extLst>
          </p:cNvPr>
          <p:cNvSpPr>
            <a:spLocks noGrp="1"/>
          </p:cNvSpPr>
          <p:nvPr>
            <p:ph type="title"/>
          </p:nvPr>
        </p:nvSpPr>
        <p:spPr/>
        <p:txBody>
          <a:bodyPr/>
          <a:lstStyle/>
          <a:p>
            <a:r>
              <a:rPr lang="en-US" dirty="0">
                <a:solidFill>
                  <a:schemeClr val="bg1"/>
                </a:solidFill>
              </a:rPr>
              <a:t>Service Types – </a:t>
            </a:r>
            <a:r>
              <a:rPr lang="en-US" dirty="0" err="1">
                <a:solidFill>
                  <a:schemeClr val="bg1"/>
                </a:solidFill>
              </a:rPr>
              <a:t>NodePort</a:t>
            </a:r>
            <a:endParaRPr lang="en-US" dirty="0">
              <a:solidFill>
                <a:schemeClr val="bg1"/>
              </a:solidFill>
            </a:endParaRPr>
          </a:p>
        </p:txBody>
      </p:sp>
      <p:sp>
        <p:nvSpPr>
          <p:cNvPr id="71" name="Rectangle: Rounded Corners 70">
            <a:extLst>
              <a:ext uri="{FF2B5EF4-FFF2-40B4-BE49-F238E27FC236}">
                <a16:creationId xmlns:a16="http://schemas.microsoft.com/office/drawing/2014/main" id="{9E36C05B-3CC2-4530-8595-CAE0BE209AB2}"/>
              </a:ext>
            </a:extLst>
          </p:cNvPr>
          <p:cNvSpPr/>
          <p:nvPr/>
        </p:nvSpPr>
        <p:spPr bwMode="auto">
          <a:xfrm>
            <a:off x="6650630" y="1799772"/>
            <a:ext cx="5127172" cy="4642288"/>
          </a:xfrm>
          <a:prstGeom prst="roundRect">
            <a:avLst/>
          </a:prstGeom>
          <a:solidFill>
            <a:schemeClr val="bg1">
              <a:lumMod val="85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pic>
        <p:nvPicPr>
          <p:cNvPr id="72" name="Picture 71" descr="A picture containing text, sign, stop, outdoor&#10;&#10;Description automatically generated">
            <a:extLst>
              <a:ext uri="{FF2B5EF4-FFF2-40B4-BE49-F238E27FC236}">
                <a16:creationId xmlns:a16="http://schemas.microsoft.com/office/drawing/2014/main" id="{98597FC7-F2AA-4A85-8BE2-8ED430A748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4583" y="3273252"/>
            <a:ext cx="1251663" cy="1251663"/>
          </a:xfrm>
          <a:prstGeom prst="rect">
            <a:avLst/>
          </a:prstGeom>
        </p:spPr>
      </p:pic>
      <p:pic>
        <p:nvPicPr>
          <p:cNvPr id="73" name="Picture 72" descr="A picture containing text, sign, stop, outdoor&#10;&#10;Description automatically generated">
            <a:extLst>
              <a:ext uri="{FF2B5EF4-FFF2-40B4-BE49-F238E27FC236}">
                <a16:creationId xmlns:a16="http://schemas.microsoft.com/office/drawing/2014/main" id="{F77F2881-4EB6-4DE7-BB90-E930E646B0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0646" y="5140730"/>
            <a:ext cx="1271696" cy="1271696"/>
          </a:xfrm>
          <a:prstGeom prst="rect">
            <a:avLst/>
          </a:prstGeom>
        </p:spPr>
      </p:pic>
      <p:pic>
        <p:nvPicPr>
          <p:cNvPr id="74" name="Picture 73" descr="A picture containing text, sign, stop, outdoor&#10;&#10;Description automatically generated">
            <a:extLst>
              <a:ext uri="{FF2B5EF4-FFF2-40B4-BE49-F238E27FC236}">
                <a16:creationId xmlns:a16="http://schemas.microsoft.com/office/drawing/2014/main" id="{E394DEE3-2698-4D5B-859C-8470AC1116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78075" y="5140730"/>
            <a:ext cx="1271696" cy="1271696"/>
          </a:xfrm>
          <a:prstGeom prst="rect">
            <a:avLst/>
          </a:prstGeom>
        </p:spPr>
      </p:pic>
      <p:pic>
        <p:nvPicPr>
          <p:cNvPr id="75" name="Picture 74" descr="A picture containing text, sign, stop, outdoor&#10;&#10;Description automatically generated">
            <a:extLst>
              <a:ext uri="{FF2B5EF4-FFF2-40B4-BE49-F238E27FC236}">
                <a16:creationId xmlns:a16="http://schemas.microsoft.com/office/drawing/2014/main" id="{DBBD55D0-FD26-4630-BCDC-E5FD54FCA6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4265" y="5140730"/>
            <a:ext cx="1271696" cy="1271696"/>
          </a:xfrm>
          <a:prstGeom prst="rect">
            <a:avLst/>
          </a:prstGeom>
        </p:spPr>
      </p:pic>
      <p:cxnSp>
        <p:nvCxnSpPr>
          <p:cNvPr id="76" name="Connector: Elbow 75">
            <a:extLst>
              <a:ext uri="{FF2B5EF4-FFF2-40B4-BE49-F238E27FC236}">
                <a16:creationId xmlns:a16="http://schemas.microsoft.com/office/drawing/2014/main" id="{2749CF42-A80E-4B2E-8627-C64597BC483D}"/>
              </a:ext>
            </a:extLst>
          </p:cNvPr>
          <p:cNvCxnSpPr>
            <a:cxnSpLocks/>
            <a:stCxn id="72" idx="2"/>
            <a:endCxn id="73" idx="0"/>
          </p:cNvCxnSpPr>
          <p:nvPr/>
        </p:nvCxnSpPr>
        <p:spPr>
          <a:xfrm rot="5400000">
            <a:off x="9070548" y="4830862"/>
            <a:ext cx="615815" cy="3921"/>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06448F0B-A9A3-4599-BC40-8ECD60F9A7B7}"/>
              </a:ext>
            </a:extLst>
          </p:cNvPr>
          <p:cNvCxnSpPr>
            <a:cxnSpLocks/>
            <a:stCxn id="72" idx="2"/>
            <a:endCxn id="74" idx="0"/>
          </p:cNvCxnSpPr>
          <p:nvPr/>
        </p:nvCxnSpPr>
        <p:spPr>
          <a:xfrm rot="16200000" flipH="1">
            <a:off x="9839262" y="4066068"/>
            <a:ext cx="615815" cy="1533508"/>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1612BC15-8C70-4E15-8E92-1C71E4E3E983}"/>
              </a:ext>
            </a:extLst>
          </p:cNvPr>
          <p:cNvCxnSpPr>
            <a:cxnSpLocks/>
            <a:stCxn id="72" idx="2"/>
            <a:endCxn id="75" idx="0"/>
          </p:cNvCxnSpPr>
          <p:nvPr/>
        </p:nvCxnSpPr>
        <p:spPr>
          <a:xfrm rot="5400000">
            <a:off x="8247357" y="4007671"/>
            <a:ext cx="615815" cy="1650302"/>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D89FCAE8-7E6B-4ABC-92B2-190ADD599D4E}"/>
              </a:ext>
            </a:extLst>
          </p:cNvPr>
          <p:cNvSpPr txBox="1"/>
          <p:nvPr/>
        </p:nvSpPr>
        <p:spPr>
          <a:xfrm>
            <a:off x="8585881" y="1387908"/>
            <a:ext cx="1470082" cy="276999"/>
          </a:xfrm>
          <a:prstGeom prst="rect">
            <a:avLst/>
          </a:prstGeom>
          <a:noFill/>
        </p:spPr>
        <p:txBody>
          <a:bodyPr wrap="none" lIns="0" tIns="0" rIns="0" bIns="0" rtlCol="0">
            <a:spAutoFit/>
          </a:bodyPr>
          <a:lstStyle/>
          <a:p>
            <a:pPr algn="l"/>
            <a:r>
              <a:rPr lang="en-US" dirty="0"/>
              <a:t>External Traffic</a:t>
            </a:r>
          </a:p>
        </p:txBody>
      </p:sp>
      <p:pic>
        <p:nvPicPr>
          <p:cNvPr id="80" name="Picture 79" descr="A picture containing text, sign, stop, outdoor&#10;&#10;Description automatically generated">
            <a:extLst>
              <a:ext uri="{FF2B5EF4-FFF2-40B4-BE49-F238E27FC236}">
                <a16:creationId xmlns:a16="http://schemas.microsoft.com/office/drawing/2014/main" id="{7DBF20EB-4AB3-4503-B095-FFBD66422C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16744" y="2221539"/>
            <a:ext cx="1271694" cy="1271694"/>
          </a:xfrm>
          <a:prstGeom prst="rect">
            <a:avLst/>
          </a:prstGeom>
        </p:spPr>
      </p:pic>
      <p:pic>
        <p:nvPicPr>
          <p:cNvPr id="81" name="Picture 80" descr="A picture containing text, sign, stop, outdoor&#10;&#10;Description automatically generated">
            <a:extLst>
              <a:ext uri="{FF2B5EF4-FFF2-40B4-BE49-F238E27FC236}">
                <a16:creationId xmlns:a16="http://schemas.microsoft.com/office/drawing/2014/main" id="{66C70F76-42D1-4BAD-A783-B801EB8A4B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3602" y="2225540"/>
            <a:ext cx="1271694" cy="1271694"/>
          </a:xfrm>
          <a:prstGeom prst="rect">
            <a:avLst/>
          </a:prstGeom>
        </p:spPr>
      </p:pic>
      <p:cxnSp>
        <p:nvCxnSpPr>
          <p:cNvPr id="82" name="Connector: Elbow 81">
            <a:extLst>
              <a:ext uri="{FF2B5EF4-FFF2-40B4-BE49-F238E27FC236}">
                <a16:creationId xmlns:a16="http://schemas.microsoft.com/office/drawing/2014/main" id="{4F421308-1FC5-40CD-89CA-638DDE8B0299}"/>
              </a:ext>
            </a:extLst>
          </p:cNvPr>
          <p:cNvCxnSpPr>
            <a:cxnSpLocks/>
            <a:endCxn id="81" idx="0"/>
          </p:cNvCxnSpPr>
          <p:nvPr/>
        </p:nvCxnSpPr>
        <p:spPr>
          <a:xfrm rot="16200000" flipH="1">
            <a:off x="10084601" y="1850691"/>
            <a:ext cx="602651" cy="147046"/>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3" name="Connector: Elbow 82">
            <a:extLst>
              <a:ext uri="{FF2B5EF4-FFF2-40B4-BE49-F238E27FC236}">
                <a16:creationId xmlns:a16="http://schemas.microsoft.com/office/drawing/2014/main" id="{C56D5816-DE3C-48B4-9C4E-EEE113DE4DC8}"/>
              </a:ext>
            </a:extLst>
          </p:cNvPr>
          <p:cNvCxnSpPr>
            <a:cxnSpLocks/>
            <a:endCxn id="80" idx="0"/>
          </p:cNvCxnSpPr>
          <p:nvPr/>
        </p:nvCxnSpPr>
        <p:spPr>
          <a:xfrm rot="5400000">
            <a:off x="8048451" y="1827029"/>
            <a:ext cx="598651" cy="190369"/>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0A544B22-E296-445C-93EE-240751B65EC0}"/>
              </a:ext>
            </a:extLst>
          </p:cNvPr>
          <p:cNvCxnSpPr>
            <a:cxnSpLocks/>
            <a:stCxn id="80" idx="2"/>
            <a:endCxn id="72" idx="1"/>
          </p:cNvCxnSpPr>
          <p:nvPr/>
        </p:nvCxnSpPr>
        <p:spPr>
          <a:xfrm rot="16200000" flipH="1">
            <a:off x="8300662" y="3445162"/>
            <a:ext cx="405851" cy="501992"/>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C669321E-B938-4425-B416-7DD430E65A23}"/>
              </a:ext>
            </a:extLst>
          </p:cNvPr>
          <p:cNvCxnSpPr>
            <a:cxnSpLocks/>
            <a:stCxn id="81" idx="2"/>
            <a:endCxn id="72" idx="3"/>
          </p:cNvCxnSpPr>
          <p:nvPr/>
        </p:nvCxnSpPr>
        <p:spPr>
          <a:xfrm rot="5400000">
            <a:off x="10031923" y="3471558"/>
            <a:ext cx="401850" cy="453203"/>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C4362B2F-5B76-4F2B-A88A-87D477FC000C}"/>
              </a:ext>
            </a:extLst>
          </p:cNvPr>
          <p:cNvSpPr txBox="1"/>
          <p:nvPr/>
        </p:nvSpPr>
        <p:spPr>
          <a:xfrm>
            <a:off x="10877497" y="2331560"/>
            <a:ext cx="727763" cy="246221"/>
          </a:xfrm>
          <a:prstGeom prst="rect">
            <a:avLst/>
          </a:prstGeom>
          <a:noFill/>
        </p:spPr>
        <p:txBody>
          <a:bodyPr wrap="none" lIns="0" tIns="0" rIns="0" bIns="0" rtlCol="0">
            <a:spAutoFit/>
          </a:bodyPr>
          <a:lstStyle/>
          <a:p>
            <a:pPr algn="l"/>
            <a:r>
              <a:rPr lang="en-US" sz="1600" dirty="0"/>
              <a:t>Node IP</a:t>
            </a:r>
          </a:p>
        </p:txBody>
      </p:sp>
      <p:sp>
        <p:nvSpPr>
          <p:cNvPr id="87" name="TextBox 86">
            <a:extLst>
              <a:ext uri="{FF2B5EF4-FFF2-40B4-BE49-F238E27FC236}">
                <a16:creationId xmlns:a16="http://schemas.microsoft.com/office/drawing/2014/main" id="{8F2514BA-A547-4AB6-88BD-07E5FFB3F86D}"/>
              </a:ext>
            </a:extLst>
          </p:cNvPr>
          <p:cNvSpPr txBox="1"/>
          <p:nvPr/>
        </p:nvSpPr>
        <p:spPr>
          <a:xfrm>
            <a:off x="6990318" y="2335394"/>
            <a:ext cx="727763" cy="246221"/>
          </a:xfrm>
          <a:prstGeom prst="rect">
            <a:avLst/>
          </a:prstGeom>
          <a:noFill/>
        </p:spPr>
        <p:txBody>
          <a:bodyPr wrap="none" lIns="0" tIns="0" rIns="0" bIns="0" rtlCol="0">
            <a:spAutoFit/>
          </a:bodyPr>
          <a:lstStyle/>
          <a:p>
            <a:pPr algn="l"/>
            <a:r>
              <a:rPr lang="en-US" sz="1600" dirty="0"/>
              <a:t>Node IP</a:t>
            </a:r>
          </a:p>
        </p:txBody>
      </p:sp>
      <p:pic>
        <p:nvPicPr>
          <p:cNvPr id="11" name="Graphic 10">
            <a:extLst>
              <a:ext uri="{FF2B5EF4-FFF2-40B4-BE49-F238E27FC236}">
                <a16:creationId xmlns:a16="http://schemas.microsoft.com/office/drawing/2014/main" id="{DCCCD45A-67FA-4597-A19F-FAE0ACAF5B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60674" y="3780982"/>
            <a:ext cx="907329" cy="907329"/>
          </a:xfrm>
          <a:prstGeom prst="rect">
            <a:avLst/>
          </a:prstGeom>
        </p:spPr>
      </p:pic>
      <p:sp>
        <p:nvSpPr>
          <p:cNvPr id="24" name="TextBox 23">
            <a:extLst>
              <a:ext uri="{FF2B5EF4-FFF2-40B4-BE49-F238E27FC236}">
                <a16:creationId xmlns:a16="http://schemas.microsoft.com/office/drawing/2014/main" id="{AADD9FAC-D8A9-72CB-6E36-75C3488E20E0}"/>
              </a:ext>
            </a:extLst>
          </p:cNvPr>
          <p:cNvSpPr txBox="1"/>
          <p:nvPr/>
        </p:nvSpPr>
        <p:spPr>
          <a:xfrm>
            <a:off x="7996237" y="4832822"/>
            <a:ext cx="1309141" cy="246221"/>
          </a:xfrm>
          <a:prstGeom prst="rect">
            <a:avLst/>
          </a:prstGeom>
          <a:noFill/>
        </p:spPr>
        <p:txBody>
          <a:bodyPr wrap="none" lIns="0" tIns="0" rIns="0" bIns="0" rtlCol="0">
            <a:spAutoFit/>
          </a:bodyPr>
          <a:lstStyle/>
          <a:p>
            <a:pPr algn="l"/>
            <a:r>
              <a:rPr lang="en-US" sz="1600" dirty="0"/>
              <a:t>Target Port: 80</a:t>
            </a:r>
          </a:p>
        </p:txBody>
      </p:sp>
      <p:sp>
        <p:nvSpPr>
          <p:cNvPr id="25" name="TextBox 24">
            <a:extLst>
              <a:ext uri="{FF2B5EF4-FFF2-40B4-BE49-F238E27FC236}">
                <a16:creationId xmlns:a16="http://schemas.microsoft.com/office/drawing/2014/main" id="{EF530F64-5F40-3EAA-700F-05AAB43A7317}"/>
              </a:ext>
            </a:extLst>
          </p:cNvPr>
          <p:cNvSpPr txBox="1"/>
          <p:nvPr/>
        </p:nvSpPr>
        <p:spPr>
          <a:xfrm>
            <a:off x="7281160" y="3528879"/>
            <a:ext cx="918393" cy="246221"/>
          </a:xfrm>
          <a:prstGeom prst="rect">
            <a:avLst/>
          </a:prstGeom>
          <a:noFill/>
        </p:spPr>
        <p:txBody>
          <a:bodyPr wrap="none" lIns="0" tIns="0" rIns="0" bIns="0" rtlCol="0">
            <a:spAutoFit/>
          </a:bodyPr>
          <a:lstStyle/>
          <a:p>
            <a:pPr algn="l"/>
            <a:r>
              <a:rPr lang="en-US" sz="1600" dirty="0"/>
              <a:t>Port: 8080</a:t>
            </a:r>
          </a:p>
        </p:txBody>
      </p:sp>
      <p:sp>
        <p:nvSpPr>
          <p:cNvPr id="26" name="TextBox 25">
            <a:extLst>
              <a:ext uri="{FF2B5EF4-FFF2-40B4-BE49-F238E27FC236}">
                <a16:creationId xmlns:a16="http://schemas.microsoft.com/office/drawing/2014/main" id="{FA108040-705D-F735-2980-BC7EFCA9E680}"/>
              </a:ext>
            </a:extLst>
          </p:cNvPr>
          <p:cNvSpPr txBox="1"/>
          <p:nvPr/>
        </p:nvSpPr>
        <p:spPr>
          <a:xfrm>
            <a:off x="10549132" y="3528879"/>
            <a:ext cx="918393" cy="246221"/>
          </a:xfrm>
          <a:prstGeom prst="rect">
            <a:avLst/>
          </a:prstGeom>
          <a:noFill/>
        </p:spPr>
        <p:txBody>
          <a:bodyPr wrap="none" lIns="0" tIns="0" rIns="0" bIns="0" rtlCol="0">
            <a:spAutoFit/>
          </a:bodyPr>
          <a:lstStyle/>
          <a:p>
            <a:pPr algn="l"/>
            <a:r>
              <a:rPr lang="en-US" sz="1600" dirty="0"/>
              <a:t>Port: 8080</a:t>
            </a:r>
          </a:p>
        </p:txBody>
      </p:sp>
      <p:sp>
        <p:nvSpPr>
          <p:cNvPr id="28" name="TextBox 27">
            <a:extLst>
              <a:ext uri="{FF2B5EF4-FFF2-40B4-BE49-F238E27FC236}">
                <a16:creationId xmlns:a16="http://schemas.microsoft.com/office/drawing/2014/main" id="{BF7E8460-156C-3006-5EF6-80476A287D4B}"/>
              </a:ext>
            </a:extLst>
          </p:cNvPr>
          <p:cNvSpPr txBox="1"/>
          <p:nvPr/>
        </p:nvSpPr>
        <p:spPr>
          <a:xfrm>
            <a:off x="8547514" y="1942409"/>
            <a:ext cx="1586845" cy="246221"/>
          </a:xfrm>
          <a:prstGeom prst="rect">
            <a:avLst/>
          </a:prstGeom>
          <a:noFill/>
        </p:spPr>
        <p:txBody>
          <a:bodyPr wrap="none" lIns="0" tIns="0" rIns="0" bIns="0" rtlCol="0">
            <a:spAutoFit/>
          </a:bodyPr>
          <a:lstStyle/>
          <a:p>
            <a:pPr algn="l"/>
            <a:r>
              <a:rPr lang="en-US" sz="1600" dirty="0"/>
              <a:t>Node Port: 31000</a:t>
            </a:r>
          </a:p>
        </p:txBody>
      </p:sp>
    </p:spTree>
    <p:extLst>
      <p:ext uri="{BB962C8B-B14F-4D97-AF65-F5344CB8AC3E}">
        <p14:creationId xmlns:p14="http://schemas.microsoft.com/office/powerpoint/2010/main" val="2477813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82"/>
                                        </p:tgtEl>
                                        <p:attrNameLst>
                                          <p:attrName>style.visibility</p:attrName>
                                        </p:attrNameLst>
                                      </p:cBhvr>
                                      <p:to>
                                        <p:strVal val="visible"/>
                                      </p:to>
                                    </p:set>
                                    <p:animEffect transition="in" filter="wipe(up)">
                                      <p:cBhvr>
                                        <p:cTn id="11" dur="500"/>
                                        <p:tgtEl>
                                          <p:spTgt spid="82"/>
                                        </p:tgtEl>
                                      </p:cBhvr>
                                    </p:animEffect>
                                  </p:childTnLst>
                                </p:cTn>
                              </p:par>
                              <p:par>
                                <p:cTn id="12" presetID="22" presetClass="entr" presetSubtype="1" fill="hold" nodeType="withEffect">
                                  <p:stCondLst>
                                    <p:cond delay="0"/>
                                  </p:stCondLst>
                                  <p:childTnLst>
                                    <p:set>
                                      <p:cBhvr>
                                        <p:cTn id="13" dur="1" fill="hold">
                                          <p:stCondLst>
                                            <p:cond delay="0"/>
                                          </p:stCondLst>
                                        </p:cTn>
                                        <p:tgtEl>
                                          <p:spTgt spid="83"/>
                                        </p:tgtEl>
                                        <p:attrNameLst>
                                          <p:attrName>style.visibility</p:attrName>
                                        </p:attrNameLst>
                                      </p:cBhvr>
                                      <p:to>
                                        <p:strVal val="visible"/>
                                      </p:to>
                                    </p:set>
                                    <p:animEffect transition="in" filter="wipe(up)">
                                      <p:cBhvr>
                                        <p:cTn id="14" dur="500"/>
                                        <p:tgtEl>
                                          <p:spTgt spid="8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6"/>
                                        </p:tgtEl>
                                        <p:attrNameLst>
                                          <p:attrName>style.visibility</p:attrName>
                                        </p:attrNameLst>
                                      </p:cBhvr>
                                      <p:to>
                                        <p:strVal val="visible"/>
                                      </p:to>
                                    </p:set>
                                    <p:animEffect transition="in" filter="fade">
                                      <p:cBhvr>
                                        <p:cTn id="20" dur="500"/>
                                        <p:tgtEl>
                                          <p:spTgt spid="8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7"/>
                                        </p:tgtEl>
                                        <p:attrNameLst>
                                          <p:attrName>style.visibility</p:attrName>
                                        </p:attrNameLst>
                                      </p:cBhvr>
                                      <p:to>
                                        <p:strVal val="visible"/>
                                      </p:to>
                                    </p:set>
                                    <p:animEffect transition="in" filter="fade">
                                      <p:cBhvr>
                                        <p:cTn id="23" dur="500"/>
                                        <p:tgtEl>
                                          <p:spTgt spid="87"/>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500"/>
                                        <p:tgtEl>
                                          <p:spTgt spid="80"/>
                                        </p:tgtEl>
                                      </p:cBhvr>
                                    </p:animEffect>
                                  </p:childTnLst>
                                </p:cTn>
                              </p:par>
                              <p:par>
                                <p:cTn id="28" presetID="10" presetClass="entr" presetSubtype="0" fill="hold" nodeType="withEffect">
                                  <p:stCondLst>
                                    <p:cond delay="0"/>
                                  </p:stCondLst>
                                  <p:childTnLst>
                                    <p:set>
                                      <p:cBhvr>
                                        <p:cTn id="29" dur="1" fill="hold">
                                          <p:stCondLst>
                                            <p:cond delay="0"/>
                                          </p:stCondLst>
                                        </p:cTn>
                                        <p:tgtEl>
                                          <p:spTgt spid="81"/>
                                        </p:tgtEl>
                                        <p:attrNameLst>
                                          <p:attrName>style.visibility</p:attrName>
                                        </p:attrNameLst>
                                      </p:cBhvr>
                                      <p:to>
                                        <p:strVal val="visible"/>
                                      </p:to>
                                    </p:set>
                                    <p:animEffect transition="in" filter="fade">
                                      <p:cBhvr>
                                        <p:cTn id="30" dur="500"/>
                                        <p:tgtEl>
                                          <p:spTgt spid="81"/>
                                        </p:tgtEl>
                                      </p:cBhvr>
                                    </p:animEffect>
                                  </p:childTnLst>
                                </p:cTn>
                              </p:par>
                            </p:childTnLst>
                          </p:cTn>
                        </p:par>
                        <p:par>
                          <p:cTn id="31" fill="hold">
                            <p:stCondLst>
                              <p:cond delay="1500"/>
                            </p:stCondLst>
                            <p:childTnLst>
                              <p:par>
                                <p:cTn id="32" presetID="22" presetClass="entr" presetSubtype="1" fill="hold" nodeType="afterEffect">
                                  <p:stCondLst>
                                    <p:cond delay="0"/>
                                  </p:stCondLst>
                                  <p:childTnLst>
                                    <p:set>
                                      <p:cBhvr>
                                        <p:cTn id="33" dur="1" fill="hold">
                                          <p:stCondLst>
                                            <p:cond delay="0"/>
                                          </p:stCondLst>
                                        </p:cTn>
                                        <p:tgtEl>
                                          <p:spTgt spid="84"/>
                                        </p:tgtEl>
                                        <p:attrNameLst>
                                          <p:attrName>style.visibility</p:attrName>
                                        </p:attrNameLst>
                                      </p:cBhvr>
                                      <p:to>
                                        <p:strVal val="visible"/>
                                      </p:to>
                                    </p:set>
                                    <p:animEffect transition="in" filter="wipe(up)">
                                      <p:cBhvr>
                                        <p:cTn id="34" dur="500"/>
                                        <p:tgtEl>
                                          <p:spTgt spid="84"/>
                                        </p:tgtEl>
                                      </p:cBhvr>
                                    </p:animEffect>
                                  </p:childTnLst>
                                </p:cTn>
                              </p:par>
                              <p:par>
                                <p:cTn id="35" presetID="22" presetClass="entr" presetSubtype="1" fill="hold" nodeType="withEffect">
                                  <p:stCondLst>
                                    <p:cond delay="0"/>
                                  </p:stCondLst>
                                  <p:childTnLst>
                                    <p:set>
                                      <p:cBhvr>
                                        <p:cTn id="36" dur="1" fill="hold">
                                          <p:stCondLst>
                                            <p:cond delay="0"/>
                                          </p:stCondLst>
                                        </p:cTn>
                                        <p:tgtEl>
                                          <p:spTgt spid="85"/>
                                        </p:tgtEl>
                                        <p:attrNameLst>
                                          <p:attrName>style.visibility</p:attrName>
                                        </p:attrNameLst>
                                      </p:cBhvr>
                                      <p:to>
                                        <p:strVal val="visible"/>
                                      </p:to>
                                    </p:set>
                                    <p:animEffect transition="in" filter="wipe(up)">
                                      <p:cBhvr>
                                        <p:cTn id="37" dur="500"/>
                                        <p:tgtEl>
                                          <p:spTgt spid="8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72"/>
                                        </p:tgtEl>
                                        <p:attrNameLst>
                                          <p:attrName>style.visibility</p:attrName>
                                        </p:attrNameLst>
                                      </p:cBhvr>
                                      <p:to>
                                        <p:strVal val="visible"/>
                                      </p:to>
                                    </p:set>
                                    <p:animEffect transition="in" filter="fade">
                                      <p:cBhvr>
                                        <p:cTn id="47" dur="500"/>
                                        <p:tgtEl>
                                          <p:spTgt spid="72"/>
                                        </p:tgtEl>
                                      </p:cBhvr>
                                    </p:animEffect>
                                  </p:childTnLst>
                                </p:cTn>
                              </p:par>
                            </p:childTnLst>
                          </p:cTn>
                        </p:par>
                        <p:par>
                          <p:cTn id="48" fill="hold">
                            <p:stCondLst>
                              <p:cond delay="2500"/>
                            </p:stCondLst>
                            <p:childTnLst>
                              <p:par>
                                <p:cTn id="49" presetID="22" presetClass="entr" presetSubtype="1" fill="hold" nodeType="afterEffect">
                                  <p:stCondLst>
                                    <p:cond delay="0"/>
                                  </p:stCondLst>
                                  <p:childTnLst>
                                    <p:set>
                                      <p:cBhvr>
                                        <p:cTn id="50" dur="1" fill="hold">
                                          <p:stCondLst>
                                            <p:cond delay="0"/>
                                          </p:stCondLst>
                                        </p:cTn>
                                        <p:tgtEl>
                                          <p:spTgt spid="77"/>
                                        </p:tgtEl>
                                        <p:attrNameLst>
                                          <p:attrName>style.visibility</p:attrName>
                                        </p:attrNameLst>
                                      </p:cBhvr>
                                      <p:to>
                                        <p:strVal val="visible"/>
                                      </p:to>
                                    </p:set>
                                    <p:animEffect transition="in" filter="wipe(up)">
                                      <p:cBhvr>
                                        <p:cTn id="51" dur="500"/>
                                        <p:tgtEl>
                                          <p:spTgt spid="77"/>
                                        </p:tgtEl>
                                      </p:cBhvr>
                                    </p:animEffect>
                                  </p:childTnLst>
                                </p:cTn>
                              </p:par>
                              <p:par>
                                <p:cTn id="52" presetID="22" presetClass="entr" presetSubtype="1" fill="hold" nodeType="with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wipe(up)">
                                      <p:cBhvr>
                                        <p:cTn id="54" dur="500"/>
                                        <p:tgtEl>
                                          <p:spTgt spid="78"/>
                                        </p:tgtEl>
                                      </p:cBhvr>
                                    </p:animEffect>
                                  </p:childTnLst>
                                </p:cTn>
                              </p:par>
                              <p:par>
                                <p:cTn id="55" presetID="22" presetClass="entr" presetSubtype="1"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animEffect transition="in" filter="wipe(up)">
                                      <p:cBhvr>
                                        <p:cTn id="57" dur="500"/>
                                        <p:tgtEl>
                                          <p:spTgt spid="7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childTnLst>
                          </p:cTn>
                        </p:par>
                        <p:par>
                          <p:cTn id="61" fill="hold">
                            <p:stCondLst>
                              <p:cond delay="3000"/>
                            </p:stCondLst>
                            <p:childTnLst>
                              <p:par>
                                <p:cTn id="62" presetID="10" presetClass="entr" presetSubtype="0" fill="hold" nodeType="afterEffect">
                                  <p:stCondLst>
                                    <p:cond delay="0"/>
                                  </p:stCondLst>
                                  <p:childTnLst>
                                    <p:set>
                                      <p:cBhvr>
                                        <p:cTn id="63" dur="1" fill="hold">
                                          <p:stCondLst>
                                            <p:cond delay="0"/>
                                          </p:stCondLst>
                                        </p:cTn>
                                        <p:tgtEl>
                                          <p:spTgt spid="75"/>
                                        </p:tgtEl>
                                        <p:attrNameLst>
                                          <p:attrName>style.visibility</p:attrName>
                                        </p:attrNameLst>
                                      </p:cBhvr>
                                      <p:to>
                                        <p:strVal val="visible"/>
                                      </p:to>
                                    </p:set>
                                    <p:animEffect transition="in" filter="fade">
                                      <p:cBhvr>
                                        <p:cTn id="64" dur="500"/>
                                        <p:tgtEl>
                                          <p:spTgt spid="75"/>
                                        </p:tgtEl>
                                      </p:cBhvr>
                                    </p:animEffect>
                                  </p:childTnLst>
                                </p:cTn>
                              </p:par>
                              <p:par>
                                <p:cTn id="65" presetID="10" presetClass="entr" presetSubtype="0" fill="hold" nodeType="withEffect">
                                  <p:stCondLst>
                                    <p:cond delay="0"/>
                                  </p:stCondLst>
                                  <p:childTnLst>
                                    <p:set>
                                      <p:cBhvr>
                                        <p:cTn id="66" dur="1" fill="hold">
                                          <p:stCondLst>
                                            <p:cond delay="0"/>
                                          </p:stCondLst>
                                        </p:cTn>
                                        <p:tgtEl>
                                          <p:spTgt spid="73"/>
                                        </p:tgtEl>
                                        <p:attrNameLst>
                                          <p:attrName>style.visibility</p:attrName>
                                        </p:attrNameLst>
                                      </p:cBhvr>
                                      <p:to>
                                        <p:strVal val="visible"/>
                                      </p:to>
                                    </p:set>
                                    <p:animEffect transition="in" filter="fade">
                                      <p:cBhvr>
                                        <p:cTn id="67" dur="500"/>
                                        <p:tgtEl>
                                          <p:spTgt spid="73"/>
                                        </p:tgtEl>
                                      </p:cBhvr>
                                    </p:animEffect>
                                  </p:childTnLst>
                                </p:cTn>
                              </p:par>
                              <p:par>
                                <p:cTn id="68" presetID="10" presetClass="entr" presetSubtype="0" fill="hold" nodeType="withEffect">
                                  <p:stCondLst>
                                    <p:cond delay="0"/>
                                  </p:stCondLst>
                                  <p:childTnLst>
                                    <p:set>
                                      <p:cBhvr>
                                        <p:cTn id="69" dur="1" fill="hold">
                                          <p:stCondLst>
                                            <p:cond delay="0"/>
                                          </p:stCondLst>
                                        </p:cTn>
                                        <p:tgtEl>
                                          <p:spTgt spid="74"/>
                                        </p:tgtEl>
                                        <p:attrNameLst>
                                          <p:attrName>style.visibility</p:attrName>
                                        </p:attrNameLst>
                                      </p:cBhvr>
                                      <p:to>
                                        <p:strVal val="visible"/>
                                      </p:to>
                                    </p:set>
                                    <p:animEffect transition="in" filter="fade">
                                      <p:cBhvr>
                                        <p:cTn id="70" dur="500"/>
                                        <p:tgtEl>
                                          <p:spTgt spid="7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
                                            <p:txEl>
                                              <p:pRg st="1" end="1"/>
                                            </p:txEl>
                                          </p:spTgt>
                                        </p:tgtEl>
                                        <p:attrNameLst>
                                          <p:attrName>style.visibility</p:attrName>
                                        </p:attrNameLst>
                                      </p:cBhvr>
                                      <p:to>
                                        <p:strVal val="visible"/>
                                      </p:to>
                                    </p:set>
                                    <p:animEffect transition="in" filter="fade">
                                      <p:cBhvr>
                                        <p:cTn id="75" dur="500"/>
                                        <p:tgtEl>
                                          <p:spTgt spid="3">
                                            <p:txEl>
                                              <p:pRg st="1" end="1"/>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
                                            <p:txEl>
                                              <p:pRg st="2" end="2"/>
                                            </p:txEl>
                                          </p:spTgt>
                                        </p:tgtEl>
                                        <p:attrNameLst>
                                          <p:attrName>style.visibility</p:attrName>
                                        </p:attrNameLst>
                                      </p:cBhvr>
                                      <p:to>
                                        <p:strVal val="visible"/>
                                      </p:to>
                                    </p:set>
                                    <p:animEffect transition="in" filter="fade">
                                      <p:cBhvr>
                                        <p:cTn id="80" dur="500"/>
                                        <p:tgtEl>
                                          <p:spTgt spid="3">
                                            <p:txEl>
                                              <p:pRg st="2" end="2"/>
                                            </p:txEl>
                                          </p:spTgt>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
                                            <p:txEl>
                                              <p:pRg st="3" end="3"/>
                                            </p:txEl>
                                          </p:spTgt>
                                        </p:tgtEl>
                                        <p:attrNameLst>
                                          <p:attrName>style.visibility</p:attrName>
                                        </p:attrNameLst>
                                      </p:cBhvr>
                                      <p:to>
                                        <p:strVal val="visible"/>
                                      </p:to>
                                    </p:set>
                                    <p:animEffect transition="in" filter="fade">
                                      <p:cBhvr>
                                        <p:cTn id="8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9" grpId="0"/>
      <p:bldP spid="86" grpId="0"/>
      <p:bldP spid="87" grpId="0"/>
      <p:bldP spid="24" grpId="0"/>
      <p:bldP spid="25" grpId="0"/>
      <p:bldP spid="26" grpId="0"/>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3A6AE-D1AE-40AD-9D05-4AFA3A7B9CB5}"/>
              </a:ext>
            </a:extLst>
          </p:cNvPr>
          <p:cNvSpPr>
            <a:spLocks noGrp="1"/>
          </p:cNvSpPr>
          <p:nvPr>
            <p:ph type="title"/>
          </p:nvPr>
        </p:nvSpPr>
        <p:spPr/>
        <p:txBody>
          <a:bodyPr/>
          <a:lstStyle/>
          <a:p>
            <a:r>
              <a:rPr lang="en-US" dirty="0">
                <a:solidFill>
                  <a:schemeClr val="bg1"/>
                </a:solidFill>
              </a:rPr>
              <a:t>Service Types – </a:t>
            </a:r>
            <a:r>
              <a:rPr lang="en-US" dirty="0" err="1">
                <a:solidFill>
                  <a:schemeClr val="bg1"/>
                </a:solidFill>
              </a:rPr>
              <a:t>LoadBalancer</a:t>
            </a:r>
            <a:endParaRPr lang="en-US" dirty="0">
              <a:solidFill>
                <a:schemeClr val="bg1"/>
              </a:solidFill>
            </a:endParaRPr>
          </a:p>
        </p:txBody>
      </p:sp>
      <p:sp>
        <p:nvSpPr>
          <p:cNvPr id="3" name="Content Placeholder 2">
            <a:extLst>
              <a:ext uri="{FF2B5EF4-FFF2-40B4-BE49-F238E27FC236}">
                <a16:creationId xmlns:a16="http://schemas.microsoft.com/office/drawing/2014/main" id="{8FD25E85-0910-4377-8E1C-D3CC2C896C26}"/>
              </a:ext>
            </a:extLst>
          </p:cNvPr>
          <p:cNvSpPr>
            <a:spLocks noGrp="1"/>
          </p:cNvSpPr>
          <p:nvPr>
            <p:ph sz="quarter" idx="10"/>
          </p:nvPr>
        </p:nvSpPr>
        <p:spPr>
          <a:xfrm>
            <a:off x="383248" y="1468999"/>
            <a:ext cx="5902843" cy="2739211"/>
          </a:xfrm>
        </p:spPr>
        <p:txBody>
          <a:bodyPr/>
          <a:lstStyle/>
          <a:p>
            <a:pPr marL="342900" indent="-342900">
              <a:spcBef>
                <a:spcPts val="600"/>
              </a:spcBef>
              <a:spcAft>
                <a:spcPts val="0"/>
              </a:spcAft>
              <a:buFont typeface="Arial" panose="020B0604020202020204" pitchFamily="34" charset="0"/>
              <a:buChar char="•"/>
            </a:pPr>
            <a:r>
              <a:rPr lang="en-US" b="1" u="sng" dirty="0" err="1"/>
              <a:t>LoadBalancer</a:t>
            </a:r>
            <a:r>
              <a:rPr lang="en-US" dirty="0"/>
              <a:t> – Requests an external IP address (public by default) from the Azure Load Balancer.  </a:t>
            </a:r>
          </a:p>
          <a:p>
            <a:pPr marL="342900" indent="-342900">
              <a:spcBef>
                <a:spcPts val="600"/>
              </a:spcBef>
              <a:spcAft>
                <a:spcPts val="0"/>
              </a:spcAft>
              <a:buFont typeface="Arial" panose="020B0604020202020204" pitchFamily="34" charset="0"/>
              <a:buChar char="•"/>
            </a:pPr>
            <a:r>
              <a:rPr lang="en-US" dirty="0"/>
              <a:t>Azure creates an IP Address resource and adds it to the load balancer backend pool.  </a:t>
            </a:r>
          </a:p>
          <a:p>
            <a:pPr marL="342900" indent="-342900">
              <a:spcBef>
                <a:spcPts val="600"/>
              </a:spcBef>
              <a:spcAft>
                <a:spcPts val="0"/>
              </a:spcAft>
              <a:buFont typeface="Arial" panose="020B0604020202020204" pitchFamily="34" charset="0"/>
              <a:buChar char="•"/>
            </a:pPr>
            <a:r>
              <a:rPr lang="en-US" dirty="0"/>
              <a:t>Allow external traffic to reach Pods in the cluster.</a:t>
            </a:r>
            <a:endParaRPr lang="en-US" sz="800" dirty="0"/>
          </a:p>
        </p:txBody>
      </p:sp>
      <p:sp>
        <p:nvSpPr>
          <p:cNvPr id="52" name="Rectangle: Rounded Corners 51">
            <a:extLst>
              <a:ext uri="{FF2B5EF4-FFF2-40B4-BE49-F238E27FC236}">
                <a16:creationId xmlns:a16="http://schemas.microsoft.com/office/drawing/2014/main" id="{117BBF8A-28D7-4513-84C4-2847BC9A9DAF}"/>
              </a:ext>
            </a:extLst>
          </p:cNvPr>
          <p:cNvSpPr/>
          <p:nvPr/>
        </p:nvSpPr>
        <p:spPr bwMode="auto">
          <a:xfrm>
            <a:off x="6681580" y="2906728"/>
            <a:ext cx="5127172" cy="3779496"/>
          </a:xfrm>
          <a:prstGeom prst="roundRect">
            <a:avLst/>
          </a:prstGeom>
          <a:solidFill>
            <a:schemeClr val="bg1">
              <a:lumMod val="85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solidFill>
                  <a:srgbClr val="FFFFFF"/>
                </a:solidFill>
                <a:ea typeface="Segoe UI" pitchFamily="34" charset="0"/>
                <a:cs typeface="Segoe UI" pitchFamily="34" charset="0"/>
              </a:rPr>
              <a:t>Traffic</a:t>
            </a:r>
          </a:p>
        </p:txBody>
      </p:sp>
      <p:pic>
        <p:nvPicPr>
          <p:cNvPr id="53" name="Picture 52" descr="A picture containing text, sign, stop, outdoor&#10;&#10;Description automatically generated">
            <a:extLst>
              <a:ext uri="{FF2B5EF4-FFF2-40B4-BE49-F238E27FC236}">
                <a16:creationId xmlns:a16="http://schemas.microsoft.com/office/drawing/2014/main" id="{0485D8FF-7FFF-4D01-89C0-29DE7C8DB4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9882" y="4230094"/>
            <a:ext cx="892935" cy="892935"/>
          </a:xfrm>
          <a:prstGeom prst="rect">
            <a:avLst/>
          </a:prstGeom>
        </p:spPr>
      </p:pic>
      <p:pic>
        <p:nvPicPr>
          <p:cNvPr id="54" name="Picture 53" descr="A picture containing text, sign, stop, outdoor&#10;&#10;Description automatically generated">
            <a:extLst>
              <a:ext uri="{FF2B5EF4-FFF2-40B4-BE49-F238E27FC236}">
                <a16:creationId xmlns:a16="http://schemas.microsoft.com/office/drawing/2014/main" id="{CCC08FCE-D02B-4E67-B1BF-E08C1A6B59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29882" y="5723409"/>
            <a:ext cx="892934" cy="892934"/>
          </a:xfrm>
          <a:prstGeom prst="rect">
            <a:avLst/>
          </a:prstGeom>
        </p:spPr>
      </p:pic>
      <p:pic>
        <p:nvPicPr>
          <p:cNvPr id="55" name="Picture 54" descr="A picture containing text, sign, stop, outdoor&#10;&#10;Description automatically generated">
            <a:extLst>
              <a:ext uri="{FF2B5EF4-FFF2-40B4-BE49-F238E27FC236}">
                <a16:creationId xmlns:a16="http://schemas.microsoft.com/office/drawing/2014/main" id="{2261500E-AD7C-435C-903A-A8733F7093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36956" y="5725614"/>
            <a:ext cx="892934" cy="892934"/>
          </a:xfrm>
          <a:prstGeom prst="rect">
            <a:avLst/>
          </a:prstGeom>
        </p:spPr>
      </p:pic>
      <p:pic>
        <p:nvPicPr>
          <p:cNvPr id="56" name="Picture 55" descr="A picture containing text, sign, stop, outdoor&#10;&#10;Description automatically generated">
            <a:extLst>
              <a:ext uri="{FF2B5EF4-FFF2-40B4-BE49-F238E27FC236}">
                <a16:creationId xmlns:a16="http://schemas.microsoft.com/office/drawing/2014/main" id="{93246CDB-A4F4-49F6-8F43-D1F440E18D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2373" y="5725614"/>
            <a:ext cx="892934" cy="892934"/>
          </a:xfrm>
          <a:prstGeom prst="rect">
            <a:avLst/>
          </a:prstGeom>
        </p:spPr>
      </p:pic>
      <p:cxnSp>
        <p:nvCxnSpPr>
          <p:cNvPr id="57" name="Connector: Elbow 56">
            <a:extLst>
              <a:ext uri="{FF2B5EF4-FFF2-40B4-BE49-F238E27FC236}">
                <a16:creationId xmlns:a16="http://schemas.microsoft.com/office/drawing/2014/main" id="{022FEF17-7263-4DA6-BFD0-1127B505B2DA}"/>
              </a:ext>
            </a:extLst>
          </p:cNvPr>
          <p:cNvCxnSpPr>
            <a:cxnSpLocks/>
            <a:stCxn id="53" idx="2"/>
            <a:endCxn id="54" idx="0"/>
          </p:cNvCxnSpPr>
          <p:nvPr/>
        </p:nvCxnSpPr>
        <p:spPr>
          <a:xfrm rot="5400000">
            <a:off x="9076160" y="5423219"/>
            <a:ext cx="600380" cy="1"/>
          </a:xfrm>
          <a:prstGeom prst="bentConnector3">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EE643D38-E039-46C1-AB3D-E6DF79F5DDB1}"/>
              </a:ext>
            </a:extLst>
          </p:cNvPr>
          <p:cNvCxnSpPr>
            <a:cxnSpLocks/>
            <a:stCxn id="53" idx="2"/>
            <a:endCxn id="55" idx="0"/>
          </p:cNvCxnSpPr>
          <p:nvPr/>
        </p:nvCxnSpPr>
        <p:spPr>
          <a:xfrm rot="16200000" flipH="1">
            <a:off x="9778594" y="4720784"/>
            <a:ext cx="602585" cy="1407073"/>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590ED132-EF87-4FE3-82C3-3D3C5A530619}"/>
              </a:ext>
            </a:extLst>
          </p:cNvPr>
          <p:cNvCxnSpPr>
            <a:cxnSpLocks/>
            <a:stCxn id="53" idx="2"/>
            <a:endCxn id="56" idx="0"/>
          </p:cNvCxnSpPr>
          <p:nvPr/>
        </p:nvCxnSpPr>
        <p:spPr>
          <a:xfrm rot="5400000">
            <a:off x="8381303" y="4730566"/>
            <a:ext cx="602585" cy="1387510"/>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E96B89D-F190-4BC7-8D75-7C0E73C8E825}"/>
              </a:ext>
            </a:extLst>
          </p:cNvPr>
          <p:cNvSpPr txBox="1"/>
          <p:nvPr/>
        </p:nvSpPr>
        <p:spPr>
          <a:xfrm>
            <a:off x="8712405" y="1409278"/>
            <a:ext cx="605102" cy="276999"/>
          </a:xfrm>
          <a:prstGeom prst="rect">
            <a:avLst/>
          </a:prstGeom>
          <a:noFill/>
        </p:spPr>
        <p:txBody>
          <a:bodyPr wrap="none" lIns="0" tIns="0" rIns="0" bIns="0" rtlCol="0">
            <a:spAutoFit/>
          </a:bodyPr>
          <a:lstStyle/>
          <a:p>
            <a:pPr algn="l"/>
            <a:r>
              <a:rPr lang="en-US" dirty="0"/>
              <a:t>Traffic</a:t>
            </a:r>
          </a:p>
        </p:txBody>
      </p:sp>
      <p:cxnSp>
        <p:nvCxnSpPr>
          <p:cNvPr id="63" name="Connector: Elbow 62">
            <a:extLst>
              <a:ext uri="{FF2B5EF4-FFF2-40B4-BE49-F238E27FC236}">
                <a16:creationId xmlns:a16="http://schemas.microsoft.com/office/drawing/2014/main" id="{206546C6-254F-4398-AB45-9CD1095CBCBE}"/>
              </a:ext>
            </a:extLst>
          </p:cNvPr>
          <p:cNvCxnSpPr>
            <a:cxnSpLocks/>
            <a:endCxn id="5" idx="0"/>
          </p:cNvCxnSpPr>
          <p:nvPr/>
        </p:nvCxnSpPr>
        <p:spPr>
          <a:xfrm rot="5400000">
            <a:off x="9118705" y="1689602"/>
            <a:ext cx="515296" cy="2"/>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A50E3062-49E4-4368-88E4-B38A2A791C91}"/>
              </a:ext>
            </a:extLst>
          </p:cNvPr>
          <p:cNvCxnSpPr>
            <a:cxnSpLocks/>
            <a:stCxn id="5" idx="2"/>
            <a:endCxn id="21" idx="0"/>
          </p:cNvCxnSpPr>
          <p:nvPr/>
        </p:nvCxnSpPr>
        <p:spPr>
          <a:xfrm rot="5400000">
            <a:off x="9221898" y="2891698"/>
            <a:ext cx="308909" cy="1"/>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EC2A72BB-B152-401E-BFC2-8241FC4715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81355" y="1947251"/>
            <a:ext cx="789993" cy="789993"/>
          </a:xfrm>
          <a:prstGeom prst="rect">
            <a:avLst/>
          </a:prstGeom>
        </p:spPr>
      </p:pic>
      <p:sp>
        <p:nvSpPr>
          <p:cNvPr id="100" name="TextBox 99">
            <a:extLst>
              <a:ext uri="{FF2B5EF4-FFF2-40B4-BE49-F238E27FC236}">
                <a16:creationId xmlns:a16="http://schemas.microsoft.com/office/drawing/2014/main" id="{0DAFA722-91B5-4C18-95DD-F8C8308C1936}"/>
              </a:ext>
            </a:extLst>
          </p:cNvPr>
          <p:cNvSpPr txBox="1"/>
          <p:nvPr/>
        </p:nvSpPr>
        <p:spPr>
          <a:xfrm>
            <a:off x="6817865" y="2185467"/>
            <a:ext cx="2060244" cy="276999"/>
          </a:xfrm>
          <a:prstGeom prst="rect">
            <a:avLst/>
          </a:prstGeom>
          <a:noFill/>
        </p:spPr>
        <p:txBody>
          <a:bodyPr wrap="none" lIns="0" tIns="0" rIns="0" bIns="0" rtlCol="0">
            <a:spAutoFit/>
          </a:bodyPr>
          <a:lstStyle/>
          <a:p>
            <a:pPr algn="l"/>
            <a:r>
              <a:rPr lang="en-US" dirty="0"/>
              <a:t>Azure Load Balancer</a:t>
            </a:r>
          </a:p>
        </p:txBody>
      </p:sp>
      <p:pic>
        <p:nvPicPr>
          <p:cNvPr id="14" name="Graphic 13">
            <a:extLst>
              <a:ext uri="{FF2B5EF4-FFF2-40B4-BE49-F238E27FC236}">
                <a16:creationId xmlns:a16="http://schemas.microsoft.com/office/drawing/2014/main" id="{223C57C3-6DEA-479C-8BB7-E1BB81027C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43949" y="3042055"/>
            <a:ext cx="773889" cy="773889"/>
          </a:xfrm>
          <a:prstGeom prst="rect">
            <a:avLst/>
          </a:prstGeom>
        </p:spPr>
      </p:pic>
      <p:pic>
        <p:nvPicPr>
          <p:cNvPr id="6" name="Picture 5">
            <a:extLst>
              <a:ext uri="{FF2B5EF4-FFF2-40B4-BE49-F238E27FC236}">
                <a16:creationId xmlns:a16="http://schemas.microsoft.com/office/drawing/2014/main" id="{01302C33-2B30-24AD-4EFD-B74A80E9DA07}"/>
              </a:ext>
            </a:extLst>
          </p:cNvPr>
          <p:cNvPicPr>
            <a:picLocks noChangeAspect="1"/>
          </p:cNvPicPr>
          <p:nvPr/>
        </p:nvPicPr>
        <p:blipFill>
          <a:blip r:embed="rId7"/>
          <a:stretch>
            <a:fillRect/>
          </a:stretch>
        </p:blipFill>
        <p:spPr>
          <a:xfrm>
            <a:off x="3962767" y="4651952"/>
            <a:ext cx="2323324" cy="2034272"/>
          </a:xfrm>
          <a:prstGeom prst="rect">
            <a:avLst/>
          </a:prstGeom>
        </p:spPr>
      </p:pic>
      <p:pic>
        <p:nvPicPr>
          <p:cNvPr id="21" name="Picture 20" descr="A picture containing text, sign, stop, outdoor&#10;&#10;Description automatically generated">
            <a:extLst>
              <a:ext uri="{FF2B5EF4-FFF2-40B4-BE49-F238E27FC236}">
                <a16:creationId xmlns:a16="http://schemas.microsoft.com/office/drawing/2014/main" id="{25B625E6-324D-CF65-1279-353FFFEA98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29883" y="3046153"/>
            <a:ext cx="892935" cy="892935"/>
          </a:xfrm>
          <a:prstGeom prst="rect">
            <a:avLst/>
          </a:prstGeom>
        </p:spPr>
      </p:pic>
      <p:sp>
        <p:nvSpPr>
          <p:cNvPr id="22" name="TextBox 21">
            <a:extLst>
              <a:ext uri="{FF2B5EF4-FFF2-40B4-BE49-F238E27FC236}">
                <a16:creationId xmlns:a16="http://schemas.microsoft.com/office/drawing/2014/main" id="{2B80F20E-AED8-3A2D-2D48-D318D94B0DEE}"/>
              </a:ext>
            </a:extLst>
          </p:cNvPr>
          <p:cNvSpPr txBox="1"/>
          <p:nvPr/>
        </p:nvSpPr>
        <p:spPr>
          <a:xfrm>
            <a:off x="9609193" y="2935285"/>
            <a:ext cx="727763" cy="246221"/>
          </a:xfrm>
          <a:prstGeom prst="rect">
            <a:avLst/>
          </a:prstGeom>
          <a:noFill/>
        </p:spPr>
        <p:txBody>
          <a:bodyPr wrap="none" lIns="0" tIns="0" rIns="0" bIns="0" rtlCol="0">
            <a:spAutoFit/>
          </a:bodyPr>
          <a:lstStyle/>
          <a:p>
            <a:pPr algn="l"/>
            <a:r>
              <a:rPr lang="en-US" sz="1600" dirty="0"/>
              <a:t>Node IP</a:t>
            </a:r>
          </a:p>
        </p:txBody>
      </p:sp>
      <p:sp>
        <p:nvSpPr>
          <p:cNvPr id="23" name="TextBox 22">
            <a:extLst>
              <a:ext uri="{FF2B5EF4-FFF2-40B4-BE49-F238E27FC236}">
                <a16:creationId xmlns:a16="http://schemas.microsoft.com/office/drawing/2014/main" id="{8F921918-D3A6-C314-B043-D00286F0B6E1}"/>
              </a:ext>
            </a:extLst>
          </p:cNvPr>
          <p:cNvSpPr txBox="1"/>
          <p:nvPr/>
        </p:nvSpPr>
        <p:spPr>
          <a:xfrm>
            <a:off x="7110364" y="5093527"/>
            <a:ext cx="2207143" cy="276999"/>
          </a:xfrm>
          <a:prstGeom prst="rect">
            <a:avLst/>
          </a:prstGeom>
          <a:noFill/>
        </p:spPr>
        <p:txBody>
          <a:bodyPr wrap="none" lIns="0" tIns="0" rIns="0" bIns="0" rtlCol="0">
            <a:spAutoFit/>
          </a:bodyPr>
          <a:lstStyle/>
          <a:p>
            <a:pPr algn="l"/>
            <a:r>
              <a:rPr lang="en-US" dirty="0"/>
              <a:t>Service Load Balancer</a:t>
            </a:r>
          </a:p>
        </p:txBody>
      </p:sp>
      <p:cxnSp>
        <p:nvCxnSpPr>
          <p:cNvPr id="35" name="Connector: Elbow 34">
            <a:extLst>
              <a:ext uri="{FF2B5EF4-FFF2-40B4-BE49-F238E27FC236}">
                <a16:creationId xmlns:a16="http://schemas.microsoft.com/office/drawing/2014/main" id="{4B842A34-6C1D-BA59-2171-A3E01FE69762}"/>
              </a:ext>
            </a:extLst>
          </p:cNvPr>
          <p:cNvCxnSpPr>
            <a:cxnSpLocks/>
          </p:cNvCxnSpPr>
          <p:nvPr/>
        </p:nvCxnSpPr>
        <p:spPr>
          <a:xfrm rot="5400000">
            <a:off x="9230848" y="4084592"/>
            <a:ext cx="291006" cy="1"/>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9526240-2FC6-B559-983E-BBD2BAD95DE7}"/>
              </a:ext>
            </a:extLst>
          </p:cNvPr>
          <p:cNvSpPr txBox="1"/>
          <p:nvPr/>
        </p:nvSpPr>
        <p:spPr>
          <a:xfrm>
            <a:off x="9609193" y="1719640"/>
            <a:ext cx="1055738" cy="276999"/>
          </a:xfrm>
          <a:prstGeom prst="rect">
            <a:avLst/>
          </a:prstGeom>
          <a:noFill/>
        </p:spPr>
        <p:txBody>
          <a:bodyPr wrap="none" lIns="0" tIns="0" rIns="0" bIns="0" rtlCol="0">
            <a:spAutoFit/>
          </a:bodyPr>
          <a:lstStyle/>
          <a:p>
            <a:pPr algn="l"/>
            <a:r>
              <a:rPr lang="en-US" dirty="0"/>
              <a:t>External IP</a:t>
            </a:r>
          </a:p>
        </p:txBody>
      </p:sp>
    </p:spTree>
    <p:extLst>
      <p:ext uri="{BB962C8B-B14F-4D97-AF65-F5344CB8AC3E}">
        <p14:creationId xmlns:p14="http://schemas.microsoft.com/office/powerpoint/2010/main" val="1229456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wipe(up)">
                                      <p:cBhvr>
                                        <p:cTn id="11" dur="500"/>
                                        <p:tgtEl>
                                          <p:spTgt spid="6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0"/>
                                        </p:tgtEl>
                                        <p:attrNameLst>
                                          <p:attrName>style.visibility</p:attrName>
                                        </p:attrNameLst>
                                      </p:cBhvr>
                                      <p:to>
                                        <p:strVal val="visible"/>
                                      </p:to>
                                    </p:set>
                                    <p:animEffect transition="in" filter="fade">
                                      <p:cBhvr>
                                        <p:cTn id="15" dur="500"/>
                                        <p:tgtEl>
                                          <p:spTgt spid="100"/>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22" presetClass="entr" presetSubtype="1" fill="hold" nodeType="withEffect">
                                  <p:stCondLst>
                                    <p:cond delay="0"/>
                                  </p:stCondLst>
                                  <p:childTnLst>
                                    <p:set>
                                      <p:cBhvr>
                                        <p:cTn id="20" dur="1" fill="hold">
                                          <p:stCondLst>
                                            <p:cond delay="0"/>
                                          </p:stCondLst>
                                        </p:cTn>
                                        <p:tgtEl>
                                          <p:spTgt spid="66"/>
                                        </p:tgtEl>
                                        <p:attrNameLst>
                                          <p:attrName>style.visibility</p:attrName>
                                        </p:attrNameLst>
                                      </p:cBhvr>
                                      <p:to>
                                        <p:strVal val="visible"/>
                                      </p:to>
                                    </p:set>
                                    <p:animEffect transition="in" filter="wipe(up)">
                                      <p:cBhvr>
                                        <p:cTn id="21" dur="500"/>
                                        <p:tgtEl>
                                          <p:spTgt spid="66"/>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22" presetClass="entr" presetSubtype="1"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up)">
                                      <p:cBhvr>
                                        <p:cTn id="31" dur="500"/>
                                        <p:tgtEl>
                                          <p:spTgt spid="35"/>
                                        </p:tgtEl>
                                      </p:cBhvr>
                                    </p:animEffect>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500"/>
                                        <p:tgtEl>
                                          <p:spTgt spid="53"/>
                                        </p:tgtEl>
                                      </p:cBhvr>
                                    </p:animEffect>
                                  </p:childTnLst>
                                </p:cTn>
                              </p:par>
                            </p:childTnLst>
                          </p:cTn>
                        </p:par>
                        <p:par>
                          <p:cTn id="36" fill="hold">
                            <p:stCondLst>
                              <p:cond delay="2500"/>
                            </p:stCondLst>
                            <p:childTnLst>
                              <p:par>
                                <p:cTn id="37" presetID="10" presetClass="entr" presetSubtype="0"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par>
                          <p:cTn id="40" fill="hold">
                            <p:stCondLst>
                              <p:cond delay="3000"/>
                            </p:stCondLst>
                            <p:childTnLst>
                              <p:par>
                                <p:cTn id="41" presetID="22" presetClass="entr" presetSubtype="1" fill="hold" nodeType="afterEffect">
                                  <p:stCondLst>
                                    <p:cond delay="0"/>
                                  </p:stCondLst>
                                  <p:childTnLst>
                                    <p:set>
                                      <p:cBhvr>
                                        <p:cTn id="42" dur="1" fill="hold">
                                          <p:stCondLst>
                                            <p:cond delay="0"/>
                                          </p:stCondLst>
                                        </p:cTn>
                                        <p:tgtEl>
                                          <p:spTgt spid="58"/>
                                        </p:tgtEl>
                                        <p:attrNameLst>
                                          <p:attrName>style.visibility</p:attrName>
                                        </p:attrNameLst>
                                      </p:cBhvr>
                                      <p:to>
                                        <p:strVal val="visible"/>
                                      </p:to>
                                    </p:set>
                                    <p:animEffect transition="in" filter="wipe(up)">
                                      <p:cBhvr>
                                        <p:cTn id="43" dur="500"/>
                                        <p:tgtEl>
                                          <p:spTgt spid="58"/>
                                        </p:tgtEl>
                                      </p:cBhvr>
                                    </p:animEffect>
                                  </p:childTnLst>
                                </p:cTn>
                              </p:par>
                              <p:par>
                                <p:cTn id="44" presetID="22" presetClass="entr" presetSubtype="1" fill="hold" nodeType="with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wipe(up)">
                                      <p:cBhvr>
                                        <p:cTn id="46" dur="500"/>
                                        <p:tgtEl>
                                          <p:spTgt spid="59"/>
                                        </p:tgtEl>
                                      </p:cBhvr>
                                    </p:animEffect>
                                  </p:childTnLst>
                                </p:cTn>
                              </p:par>
                              <p:par>
                                <p:cTn id="47" presetID="22" presetClass="entr" presetSubtype="1" fill="hold"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wipe(up)">
                                      <p:cBhvr>
                                        <p:cTn id="49" dur="500"/>
                                        <p:tgtEl>
                                          <p:spTgt spid="57"/>
                                        </p:tgtEl>
                                      </p:cBhvr>
                                    </p:animEffect>
                                  </p:childTnLst>
                                </p:cTn>
                              </p:par>
                            </p:childTnLst>
                          </p:cTn>
                        </p:par>
                        <p:par>
                          <p:cTn id="50" fill="hold">
                            <p:stCondLst>
                              <p:cond delay="3500"/>
                            </p:stCondLst>
                            <p:childTnLst>
                              <p:par>
                                <p:cTn id="51" presetID="10" presetClass="entr" presetSubtype="0" fill="hold" nodeType="afterEffect">
                                  <p:stCondLst>
                                    <p:cond delay="0"/>
                                  </p:stCondLst>
                                  <p:childTnLst>
                                    <p:set>
                                      <p:cBhvr>
                                        <p:cTn id="52" dur="1" fill="hold">
                                          <p:stCondLst>
                                            <p:cond delay="0"/>
                                          </p:stCondLst>
                                        </p:cTn>
                                        <p:tgtEl>
                                          <p:spTgt spid="56"/>
                                        </p:tgtEl>
                                        <p:attrNameLst>
                                          <p:attrName>style.visibility</p:attrName>
                                        </p:attrNameLst>
                                      </p:cBhvr>
                                      <p:to>
                                        <p:strVal val="visible"/>
                                      </p:to>
                                    </p:set>
                                    <p:animEffect transition="in" filter="fade">
                                      <p:cBhvr>
                                        <p:cTn id="53" dur="500"/>
                                        <p:tgtEl>
                                          <p:spTgt spid="56"/>
                                        </p:tgtEl>
                                      </p:cBhvr>
                                    </p:animEffect>
                                  </p:childTnLst>
                                </p:cTn>
                              </p:par>
                              <p:par>
                                <p:cTn id="54" presetID="10" presetClass="entr" presetSubtype="0" fill="hold" nodeType="withEffect">
                                  <p:stCondLst>
                                    <p:cond delay="0"/>
                                  </p:stCondLst>
                                  <p:childTnLst>
                                    <p:set>
                                      <p:cBhvr>
                                        <p:cTn id="55" dur="1" fill="hold">
                                          <p:stCondLst>
                                            <p:cond delay="0"/>
                                          </p:stCondLst>
                                        </p:cTn>
                                        <p:tgtEl>
                                          <p:spTgt spid="54"/>
                                        </p:tgtEl>
                                        <p:attrNameLst>
                                          <p:attrName>style.visibility</p:attrName>
                                        </p:attrNameLst>
                                      </p:cBhvr>
                                      <p:to>
                                        <p:strVal val="visible"/>
                                      </p:to>
                                    </p:set>
                                    <p:animEffect transition="in" filter="fade">
                                      <p:cBhvr>
                                        <p:cTn id="56" dur="500"/>
                                        <p:tgtEl>
                                          <p:spTgt spid="54"/>
                                        </p:tgtEl>
                                      </p:cBhvr>
                                    </p:animEffect>
                                  </p:childTnLst>
                                </p:cTn>
                              </p:par>
                              <p:par>
                                <p:cTn id="57" presetID="10" presetClass="entr" presetSubtype="0" fill="hold" nodeType="withEffect">
                                  <p:stCondLst>
                                    <p:cond delay="0"/>
                                  </p:stCondLst>
                                  <p:childTnLst>
                                    <p:set>
                                      <p:cBhvr>
                                        <p:cTn id="58" dur="1" fill="hold">
                                          <p:stCondLst>
                                            <p:cond delay="0"/>
                                          </p:stCondLst>
                                        </p:cTn>
                                        <p:tgtEl>
                                          <p:spTgt spid="55"/>
                                        </p:tgtEl>
                                        <p:attrNameLst>
                                          <p:attrName>style.visibility</p:attrName>
                                        </p:attrNameLst>
                                      </p:cBhvr>
                                      <p:to>
                                        <p:strVal val="visible"/>
                                      </p:to>
                                    </p:set>
                                    <p:animEffect transition="in" filter="fade">
                                      <p:cBhvr>
                                        <p:cTn id="59" dur="500"/>
                                        <p:tgtEl>
                                          <p:spTgt spid="5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3">
                                            <p:txEl>
                                              <p:pRg st="1" end="1"/>
                                            </p:txEl>
                                          </p:spTgt>
                                        </p:tgtEl>
                                        <p:attrNameLst>
                                          <p:attrName>style.visibility</p:attrName>
                                        </p:attrNameLst>
                                      </p:cBhvr>
                                      <p:to>
                                        <p:strVal val="visible"/>
                                      </p:to>
                                    </p:set>
                                    <p:animEffect transition="in" filter="fade">
                                      <p:cBhvr>
                                        <p:cTn id="64" dur="500"/>
                                        <p:tgtEl>
                                          <p:spTgt spid="3">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
                                            <p:txEl>
                                              <p:pRg st="2" end="2"/>
                                            </p:txEl>
                                          </p:spTgt>
                                        </p:tgtEl>
                                        <p:attrNameLst>
                                          <p:attrName>style.visibility</p:attrName>
                                        </p:attrNameLst>
                                      </p:cBhvr>
                                      <p:to>
                                        <p:strVal val="visible"/>
                                      </p:to>
                                    </p:set>
                                    <p:animEffect transition="in" filter="fade">
                                      <p:cBhvr>
                                        <p:cTn id="69" dur="500"/>
                                        <p:tgtEl>
                                          <p:spTgt spid="3">
                                            <p:txEl>
                                              <p:pRg st="2" end="2"/>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fade">
                                      <p:cBhvr>
                                        <p:cTn id="72" dur="500"/>
                                        <p:tgtEl>
                                          <p:spTgt spid="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0" grpId="0"/>
      <p:bldP spid="100" grpId="0"/>
      <p:bldP spid="22" grpId="0"/>
      <p:bldP spid="23"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3A6AE-D1AE-40AD-9D05-4AFA3A7B9CB5}"/>
              </a:ext>
            </a:extLst>
          </p:cNvPr>
          <p:cNvSpPr>
            <a:spLocks noGrp="1"/>
          </p:cNvSpPr>
          <p:nvPr>
            <p:ph type="title"/>
          </p:nvPr>
        </p:nvSpPr>
        <p:spPr/>
        <p:txBody>
          <a:bodyPr/>
          <a:lstStyle/>
          <a:p>
            <a:r>
              <a:rPr lang="en-US" dirty="0">
                <a:solidFill>
                  <a:schemeClr val="bg1"/>
                </a:solidFill>
              </a:rPr>
              <a:t>Service Types – </a:t>
            </a:r>
            <a:r>
              <a:rPr lang="en-US" dirty="0" err="1">
                <a:solidFill>
                  <a:schemeClr val="bg1"/>
                </a:solidFill>
              </a:rPr>
              <a:t>ExternalName</a:t>
            </a:r>
            <a:endParaRPr lang="en-US" dirty="0">
              <a:solidFill>
                <a:schemeClr val="bg1"/>
              </a:solidFill>
            </a:endParaRPr>
          </a:p>
        </p:txBody>
      </p:sp>
      <p:sp>
        <p:nvSpPr>
          <p:cNvPr id="3" name="Content Placeholder 2">
            <a:extLst>
              <a:ext uri="{FF2B5EF4-FFF2-40B4-BE49-F238E27FC236}">
                <a16:creationId xmlns:a16="http://schemas.microsoft.com/office/drawing/2014/main" id="{8FD25E85-0910-4377-8E1C-D3CC2C896C26}"/>
              </a:ext>
            </a:extLst>
          </p:cNvPr>
          <p:cNvSpPr>
            <a:spLocks noGrp="1"/>
          </p:cNvSpPr>
          <p:nvPr>
            <p:ph sz="quarter" idx="10"/>
          </p:nvPr>
        </p:nvSpPr>
        <p:spPr>
          <a:xfrm>
            <a:off x="586740" y="1647144"/>
            <a:ext cx="5326698" cy="2662267"/>
          </a:xfrm>
        </p:spPr>
        <p:txBody>
          <a:bodyPr/>
          <a:lstStyle/>
          <a:p>
            <a:pPr marL="342900" indent="-342900">
              <a:spcBef>
                <a:spcPts val="600"/>
              </a:spcBef>
              <a:spcAft>
                <a:spcPts val="0"/>
              </a:spcAft>
              <a:buFont typeface="Arial" panose="020B0604020202020204" pitchFamily="34" charset="0"/>
              <a:buChar char="•"/>
            </a:pPr>
            <a:r>
              <a:rPr lang="en-US" b="1" u="sng" dirty="0" err="1"/>
              <a:t>ExternalName</a:t>
            </a:r>
            <a:r>
              <a:rPr lang="en-US" dirty="0"/>
              <a:t> – A special case of Service that does not have selectors, because it’s used for external access.</a:t>
            </a:r>
          </a:p>
          <a:p>
            <a:pPr marL="342900" indent="-342900">
              <a:spcBef>
                <a:spcPts val="600"/>
              </a:spcBef>
              <a:spcAft>
                <a:spcPts val="0"/>
              </a:spcAft>
              <a:buFont typeface="Arial" panose="020B0604020202020204" pitchFamily="34" charset="0"/>
              <a:buChar char="•"/>
            </a:pPr>
            <a:r>
              <a:rPr lang="en-US" dirty="0"/>
              <a:t>An </a:t>
            </a:r>
            <a:r>
              <a:rPr lang="en-US" b="1" dirty="0" err="1"/>
              <a:t>ExternalName</a:t>
            </a:r>
            <a:r>
              <a:rPr lang="en-US" dirty="0"/>
              <a:t> maps a Service to a DNS name, for Pods to have consistent routes to external resources.</a:t>
            </a:r>
          </a:p>
        </p:txBody>
      </p:sp>
      <p:sp>
        <p:nvSpPr>
          <p:cNvPr id="52" name="Rectangle: Rounded Corners 51">
            <a:extLst>
              <a:ext uri="{FF2B5EF4-FFF2-40B4-BE49-F238E27FC236}">
                <a16:creationId xmlns:a16="http://schemas.microsoft.com/office/drawing/2014/main" id="{117BBF8A-28D7-4513-84C4-2847BC9A9DAF}"/>
              </a:ext>
            </a:extLst>
          </p:cNvPr>
          <p:cNvSpPr/>
          <p:nvPr/>
        </p:nvSpPr>
        <p:spPr bwMode="auto">
          <a:xfrm>
            <a:off x="6681580" y="2541731"/>
            <a:ext cx="5127172" cy="3214844"/>
          </a:xfrm>
          <a:prstGeom prst="roundRect">
            <a:avLst/>
          </a:prstGeom>
          <a:solidFill>
            <a:schemeClr val="bg1">
              <a:lumMod val="85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solidFill>
                <a:srgbClr val="FFFFFF"/>
              </a:solidFill>
              <a:ea typeface="Segoe UI" pitchFamily="34" charset="0"/>
              <a:cs typeface="Segoe UI" pitchFamily="34" charset="0"/>
            </a:endParaRPr>
          </a:p>
        </p:txBody>
      </p:sp>
      <p:pic>
        <p:nvPicPr>
          <p:cNvPr id="53" name="Picture 52" descr="A picture containing text, sign, stop, outdoor&#10;&#10;Description automatically generated">
            <a:extLst>
              <a:ext uri="{FF2B5EF4-FFF2-40B4-BE49-F238E27FC236}">
                <a16:creationId xmlns:a16="http://schemas.microsoft.com/office/drawing/2014/main" id="{0485D8FF-7FFF-4D01-89C0-29DE7C8DB4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0519" y="2734772"/>
            <a:ext cx="1251663" cy="1251663"/>
          </a:xfrm>
          <a:prstGeom prst="rect">
            <a:avLst/>
          </a:prstGeom>
        </p:spPr>
      </p:pic>
      <p:pic>
        <p:nvPicPr>
          <p:cNvPr id="54" name="Picture 53" descr="A picture containing text, sign, stop, outdoor&#10;&#10;Description automatically generated">
            <a:extLst>
              <a:ext uri="{FF2B5EF4-FFF2-40B4-BE49-F238E27FC236}">
                <a16:creationId xmlns:a16="http://schemas.microsoft.com/office/drawing/2014/main" id="{CCC08FCE-D02B-4E67-B1BF-E08C1A6B59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40646" y="4409210"/>
            <a:ext cx="1271696" cy="1271696"/>
          </a:xfrm>
          <a:prstGeom prst="rect">
            <a:avLst/>
          </a:prstGeom>
        </p:spPr>
      </p:pic>
      <p:pic>
        <p:nvPicPr>
          <p:cNvPr id="55" name="Picture 54" descr="A picture containing text, sign, stop, outdoor&#10;&#10;Description automatically generated">
            <a:extLst>
              <a:ext uri="{FF2B5EF4-FFF2-40B4-BE49-F238E27FC236}">
                <a16:creationId xmlns:a16="http://schemas.microsoft.com/office/drawing/2014/main" id="{2261500E-AD7C-435C-903A-A8733F7093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5829" y="4409210"/>
            <a:ext cx="1271696" cy="1271696"/>
          </a:xfrm>
          <a:prstGeom prst="rect">
            <a:avLst/>
          </a:prstGeom>
        </p:spPr>
      </p:pic>
      <p:pic>
        <p:nvPicPr>
          <p:cNvPr id="56" name="Picture 55" descr="A picture containing text, sign, stop, outdoor&#10;&#10;Description automatically generated">
            <a:extLst>
              <a:ext uri="{FF2B5EF4-FFF2-40B4-BE49-F238E27FC236}">
                <a16:creationId xmlns:a16="http://schemas.microsoft.com/office/drawing/2014/main" id="{93246CDB-A4F4-49F6-8F43-D1F440E18D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3271" y="4409210"/>
            <a:ext cx="1271696" cy="1271696"/>
          </a:xfrm>
          <a:prstGeom prst="rect">
            <a:avLst/>
          </a:prstGeom>
        </p:spPr>
      </p:pic>
      <p:cxnSp>
        <p:nvCxnSpPr>
          <p:cNvPr id="57" name="Connector: Elbow 56">
            <a:extLst>
              <a:ext uri="{FF2B5EF4-FFF2-40B4-BE49-F238E27FC236}">
                <a16:creationId xmlns:a16="http://schemas.microsoft.com/office/drawing/2014/main" id="{022FEF17-7263-4DA6-BFD0-1127B505B2DA}"/>
              </a:ext>
            </a:extLst>
          </p:cNvPr>
          <p:cNvCxnSpPr>
            <a:cxnSpLocks/>
            <a:stCxn id="54" idx="0"/>
            <a:endCxn id="53" idx="2"/>
          </p:cNvCxnSpPr>
          <p:nvPr/>
        </p:nvCxnSpPr>
        <p:spPr>
          <a:xfrm rot="16200000" flipV="1">
            <a:off x="9165036" y="4197751"/>
            <a:ext cx="422775" cy="143"/>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EE643D38-E039-46C1-AB3D-E6DF79F5DDB1}"/>
              </a:ext>
            </a:extLst>
          </p:cNvPr>
          <p:cNvCxnSpPr>
            <a:cxnSpLocks/>
            <a:stCxn id="55" idx="0"/>
            <a:endCxn id="53" idx="2"/>
          </p:cNvCxnSpPr>
          <p:nvPr/>
        </p:nvCxnSpPr>
        <p:spPr>
          <a:xfrm rot="16200000" flipV="1">
            <a:off x="9892627" y="3470160"/>
            <a:ext cx="422775" cy="1455326"/>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590ED132-EF87-4FE3-82C3-3D3C5A530619}"/>
              </a:ext>
            </a:extLst>
          </p:cNvPr>
          <p:cNvCxnSpPr>
            <a:cxnSpLocks/>
            <a:stCxn id="56" idx="0"/>
            <a:endCxn id="53" idx="2"/>
          </p:cNvCxnSpPr>
          <p:nvPr/>
        </p:nvCxnSpPr>
        <p:spPr>
          <a:xfrm rot="5400000" flipH="1" flipV="1">
            <a:off x="8431348" y="3464207"/>
            <a:ext cx="422775" cy="1467232"/>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E96B89D-F190-4BC7-8D75-7C0E73C8E825}"/>
              </a:ext>
            </a:extLst>
          </p:cNvPr>
          <p:cNvSpPr txBox="1"/>
          <p:nvPr/>
        </p:nvSpPr>
        <p:spPr>
          <a:xfrm>
            <a:off x="9582468" y="2129103"/>
            <a:ext cx="673389" cy="307777"/>
          </a:xfrm>
          <a:prstGeom prst="rect">
            <a:avLst/>
          </a:prstGeom>
          <a:noFill/>
        </p:spPr>
        <p:txBody>
          <a:bodyPr wrap="none" lIns="0" tIns="0" rIns="0" bIns="0" rtlCol="0">
            <a:spAutoFit/>
          </a:bodyPr>
          <a:lstStyle/>
          <a:p>
            <a:pPr algn="l"/>
            <a:r>
              <a:rPr lang="en-US" sz="2000" dirty="0"/>
              <a:t>Traffic</a:t>
            </a:r>
          </a:p>
        </p:txBody>
      </p:sp>
      <p:cxnSp>
        <p:nvCxnSpPr>
          <p:cNvPr id="66" name="Connector: Elbow 65">
            <a:extLst>
              <a:ext uri="{FF2B5EF4-FFF2-40B4-BE49-F238E27FC236}">
                <a16:creationId xmlns:a16="http://schemas.microsoft.com/office/drawing/2014/main" id="{A50E3062-49E4-4368-88E4-B38A2A791C91}"/>
              </a:ext>
            </a:extLst>
          </p:cNvPr>
          <p:cNvCxnSpPr>
            <a:cxnSpLocks/>
            <a:stCxn id="53" idx="0"/>
            <a:endCxn id="100" idx="2"/>
          </p:cNvCxnSpPr>
          <p:nvPr/>
        </p:nvCxnSpPr>
        <p:spPr>
          <a:xfrm rot="16200000" flipV="1">
            <a:off x="8986426" y="2344846"/>
            <a:ext cx="779851" cy="1"/>
          </a:xfrm>
          <a:prstGeom prst="bentConnector3">
            <a:avLst>
              <a:gd name="adj1" fmla="val 50000"/>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0DAFA722-91B5-4C18-95DD-F8C8308C1936}"/>
              </a:ext>
            </a:extLst>
          </p:cNvPr>
          <p:cNvSpPr txBox="1"/>
          <p:nvPr/>
        </p:nvSpPr>
        <p:spPr>
          <a:xfrm>
            <a:off x="8418683" y="1647144"/>
            <a:ext cx="1915333" cy="30777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lIns="0" tIns="0" rIns="0" bIns="0" rtlCol="0">
            <a:spAutoFit/>
          </a:bodyPr>
          <a:lstStyle/>
          <a:p>
            <a:pPr algn="l"/>
            <a:r>
              <a:rPr lang="en-US" sz="2000" dirty="0"/>
              <a:t> External Service </a:t>
            </a:r>
          </a:p>
        </p:txBody>
      </p:sp>
      <p:pic>
        <p:nvPicPr>
          <p:cNvPr id="14" name="Graphic 13">
            <a:extLst>
              <a:ext uri="{FF2B5EF4-FFF2-40B4-BE49-F238E27FC236}">
                <a16:creationId xmlns:a16="http://schemas.microsoft.com/office/drawing/2014/main" id="{223C57C3-6DEA-479C-8BB7-E1BB81027C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28014" y="2714738"/>
            <a:ext cx="907329" cy="907329"/>
          </a:xfrm>
          <a:prstGeom prst="rect">
            <a:avLst/>
          </a:prstGeom>
        </p:spPr>
      </p:pic>
    </p:spTree>
    <p:extLst>
      <p:ext uri="{BB962C8B-B14F-4D97-AF65-F5344CB8AC3E}">
        <p14:creationId xmlns:p14="http://schemas.microsoft.com/office/powerpoint/2010/main" val="6785583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par>
                                <p:cTn id="8" presetID="10" presetClass="entr" presetSubtype="0"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par>
                                <p:cTn id="11" presetID="10"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500"/>
                                        <p:tgtEl>
                                          <p:spTgt spid="55"/>
                                        </p:tgtEl>
                                      </p:cBhvr>
                                    </p:animEffect>
                                  </p:childTnLst>
                                </p:cTn>
                              </p:par>
                            </p:childTnLst>
                          </p:cTn>
                        </p:par>
                        <p:par>
                          <p:cTn id="14" fill="hold">
                            <p:stCondLst>
                              <p:cond delay="500"/>
                            </p:stCondLst>
                            <p:childTnLst>
                              <p:par>
                                <p:cTn id="15" presetID="22" presetClass="entr" presetSubtype="4" fill="hold" nodeType="after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wipe(down)">
                                      <p:cBhvr>
                                        <p:cTn id="17" dur="500"/>
                                        <p:tgtEl>
                                          <p:spTgt spid="58"/>
                                        </p:tgtEl>
                                      </p:cBhvr>
                                    </p:animEffect>
                                  </p:childTnLst>
                                </p:cTn>
                              </p:par>
                              <p:par>
                                <p:cTn id="18" presetID="22" presetClass="entr" presetSubtype="4" fill="hold" nodeType="with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wipe(down)">
                                      <p:cBhvr>
                                        <p:cTn id="20" dur="500"/>
                                        <p:tgtEl>
                                          <p:spTgt spid="59"/>
                                        </p:tgtEl>
                                      </p:cBhvr>
                                    </p:animEffect>
                                  </p:childTnLst>
                                </p:cTn>
                              </p:par>
                              <p:par>
                                <p:cTn id="21" presetID="22" presetClass="entr" presetSubtype="4"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wipe(down)">
                                      <p:cBhvr>
                                        <p:cTn id="23" dur="500"/>
                                        <p:tgtEl>
                                          <p:spTgt spid="57"/>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childTnLst>
                          </p:cTn>
                        </p:par>
                        <p:par>
                          <p:cTn id="28" fill="hold">
                            <p:stCondLst>
                              <p:cond delay="1500"/>
                            </p:stCondLst>
                            <p:childTnLst>
                              <p:par>
                                <p:cTn id="29" presetID="22" presetClass="entr" presetSubtype="4" fill="hold" nodeType="after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ipe(down)">
                                      <p:cBhvr>
                                        <p:cTn id="31" dur="500"/>
                                        <p:tgtEl>
                                          <p:spTgt spid="6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fade">
                                      <p:cBhvr>
                                        <p:cTn id="34" dur="500"/>
                                        <p:tgtEl>
                                          <p:spTgt spid="60"/>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100"/>
                                        </p:tgtEl>
                                        <p:attrNameLst>
                                          <p:attrName>style.visibility</p:attrName>
                                        </p:attrNameLst>
                                      </p:cBhvr>
                                      <p:to>
                                        <p:strVal val="visible"/>
                                      </p:to>
                                    </p:set>
                                    <p:animEffect transition="in" filter="fade">
                                      <p:cBhvr>
                                        <p:cTn id="38" dur="500"/>
                                        <p:tgtEl>
                                          <p:spTgt spid="10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animEffect transition="in" filter="fade">
                                      <p:cBhvr>
                                        <p:cTn id="4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10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aphical user interface, application&#10;&#10;Description automatically generated">
            <a:extLst>
              <a:ext uri="{FF2B5EF4-FFF2-40B4-BE49-F238E27FC236}">
                <a16:creationId xmlns:a16="http://schemas.microsoft.com/office/drawing/2014/main" id="{399FE7F8-07B1-4C7C-ADF6-E9B52FB18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846" y="3594793"/>
            <a:ext cx="4748354" cy="3151246"/>
          </a:xfrm>
          <a:prstGeom prst="rect">
            <a:avLst/>
          </a:prstGeom>
        </p:spPr>
      </p:pic>
      <p:sp>
        <p:nvSpPr>
          <p:cNvPr id="2" name="Title 1">
            <a:extLst>
              <a:ext uri="{FF2B5EF4-FFF2-40B4-BE49-F238E27FC236}">
                <a16:creationId xmlns:a16="http://schemas.microsoft.com/office/drawing/2014/main" id="{DCED827C-BB69-4735-BF02-2AA1C8AD254B}"/>
              </a:ext>
            </a:extLst>
          </p:cNvPr>
          <p:cNvSpPr>
            <a:spLocks noGrp="1"/>
          </p:cNvSpPr>
          <p:nvPr>
            <p:ph type="title"/>
          </p:nvPr>
        </p:nvSpPr>
        <p:spPr/>
        <p:txBody>
          <a:bodyPr/>
          <a:lstStyle/>
          <a:p>
            <a:r>
              <a:rPr lang="en-US" dirty="0"/>
              <a:t>Advanced Deployment Strategies</a:t>
            </a:r>
          </a:p>
        </p:txBody>
      </p:sp>
      <p:sp>
        <p:nvSpPr>
          <p:cNvPr id="3" name="Content Placeholder 2">
            <a:extLst>
              <a:ext uri="{FF2B5EF4-FFF2-40B4-BE49-F238E27FC236}">
                <a16:creationId xmlns:a16="http://schemas.microsoft.com/office/drawing/2014/main" id="{0D9D4807-51AB-42C1-9921-71817C4BDDFA}"/>
              </a:ext>
            </a:extLst>
          </p:cNvPr>
          <p:cNvSpPr>
            <a:spLocks noGrp="1"/>
          </p:cNvSpPr>
          <p:nvPr>
            <p:ph sz="quarter" idx="10"/>
          </p:nvPr>
        </p:nvSpPr>
        <p:spPr>
          <a:xfrm>
            <a:off x="367554" y="1350952"/>
            <a:ext cx="11519646" cy="2813078"/>
          </a:xfrm>
        </p:spPr>
        <p:txBody>
          <a:bodyPr/>
          <a:lstStyle/>
          <a:p>
            <a:r>
              <a:rPr lang="en-US" dirty="0"/>
              <a:t>You can also use advanced deployment strategies by combining multiple deployments and additional networking resources:</a:t>
            </a:r>
          </a:p>
          <a:p>
            <a:r>
              <a:rPr lang="en-US" b="1" u="sng" dirty="0"/>
              <a:t>Blue/Green</a:t>
            </a:r>
            <a:r>
              <a:rPr lang="en-US" dirty="0"/>
              <a:t> – Consists of deploying the new version (</a:t>
            </a:r>
            <a:r>
              <a:rPr lang="en-US" dirty="0">
                <a:highlight>
                  <a:srgbClr val="00FF00"/>
                </a:highlight>
              </a:rPr>
              <a:t>green</a:t>
            </a:r>
            <a:r>
              <a:rPr lang="en-US" dirty="0"/>
              <a:t>) </a:t>
            </a:r>
            <a:r>
              <a:rPr lang="en-US" i="1" u="sng" dirty="0"/>
              <a:t>alongside</a:t>
            </a:r>
            <a:r>
              <a:rPr lang="en-US" dirty="0"/>
              <a:t> the current version (</a:t>
            </a:r>
            <a:r>
              <a:rPr lang="en-US" dirty="0">
                <a:solidFill>
                  <a:schemeClr val="bg1"/>
                </a:solidFill>
                <a:highlight>
                  <a:srgbClr val="0000FF"/>
                </a:highlight>
              </a:rPr>
              <a:t>blue</a:t>
            </a:r>
            <a:r>
              <a:rPr lang="en-US" dirty="0"/>
              <a:t>) with the same number of instances. After testing that the new version meets all the requirements, the traffic is switched from old to new version at the load balancer.  This requires using </a:t>
            </a:r>
            <a:r>
              <a:rPr lang="en-US" i="1" u="sng" dirty="0"/>
              <a:t>two</a:t>
            </a:r>
            <a:r>
              <a:rPr lang="en-US" dirty="0"/>
              <a:t> Kubernetes Deployments and at least one Kubernetes Service.</a:t>
            </a:r>
          </a:p>
        </p:txBody>
      </p:sp>
    </p:spTree>
    <p:extLst>
      <p:ext uri="{BB962C8B-B14F-4D97-AF65-F5344CB8AC3E}">
        <p14:creationId xmlns:p14="http://schemas.microsoft.com/office/powerpoint/2010/main" val="15629355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D827C-BB69-4735-BF02-2AA1C8AD254B}"/>
              </a:ext>
            </a:extLst>
          </p:cNvPr>
          <p:cNvSpPr>
            <a:spLocks noGrp="1"/>
          </p:cNvSpPr>
          <p:nvPr>
            <p:ph type="title"/>
          </p:nvPr>
        </p:nvSpPr>
        <p:spPr/>
        <p:txBody>
          <a:bodyPr/>
          <a:lstStyle/>
          <a:p>
            <a:r>
              <a:rPr lang="en-US" dirty="0"/>
              <a:t>Advanced Deployment Strategies</a:t>
            </a:r>
          </a:p>
        </p:txBody>
      </p:sp>
      <p:sp>
        <p:nvSpPr>
          <p:cNvPr id="3" name="Content Placeholder 2">
            <a:extLst>
              <a:ext uri="{FF2B5EF4-FFF2-40B4-BE49-F238E27FC236}">
                <a16:creationId xmlns:a16="http://schemas.microsoft.com/office/drawing/2014/main" id="{0D9D4807-51AB-42C1-9921-71817C4BDDFA}"/>
              </a:ext>
            </a:extLst>
          </p:cNvPr>
          <p:cNvSpPr>
            <a:spLocks noGrp="1"/>
          </p:cNvSpPr>
          <p:nvPr>
            <p:ph sz="quarter" idx="10"/>
          </p:nvPr>
        </p:nvSpPr>
        <p:spPr>
          <a:xfrm>
            <a:off x="367554" y="1443717"/>
            <a:ext cx="11585904" cy="1477328"/>
          </a:xfrm>
        </p:spPr>
        <p:txBody>
          <a:bodyPr/>
          <a:lstStyle/>
          <a:p>
            <a:r>
              <a:rPr lang="en-US" b="1" u="sng" dirty="0"/>
              <a:t>Canary</a:t>
            </a:r>
            <a:r>
              <a:rPr lang="en-US" dirty="0"/>
              <a:t> – Consists of </a:t>
            </a:r>
            <a:r>
              <a:rPr lang="en-US" i="1" u="sng" dirty="0"/>
              <a:t>gradually shifting</a:t>
            </a:r>
            <a:r>
              <a:rPr lang="en-US" dirty="0"/>
              <a:t> production traffic from old to new version. Usually, the traffic is split based on weight.  While this strategy can be “simulated” using a single Kubernetes Service, it’s often implemented using a 3</a:t>
            </a:r>
            <a:r>
              <a:rPr lang="en-US" baseline="30000" dirty="0"/>
              <a:t>rd</a:t>
            </a:r>
            <a:r>
              <a:rPr lang="en-US" dirty="0"/>
              <a:t> party Ingress Controller.</a:t>
            </a:r>
          </a:p>
        </p:txBody>
      </p:sp>
      <p:pic>
        <p:nvPicPr>
          <p:cNvPr id="7" name="Picture 6" descr="Graphical user interface&#10;&#10;Description automatically generated">
            <a:extLst>
              <a:ext uri="{FF2B5EF4-FFF2-40B4-BE49-F238E27FC236}">
                <a16:creationId xmlns:a16="http://schemas.microsoft.com/office/drawing/2014/main" id="{575445A8-C2D3-4EE4-9B1F-517CDB431E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5206" y="2661976"/>
            <a:ext cx="4698252" cy="3117995"/>
          </a:xfrm>
          <a:prstGeom prst="rect">
            <a:avLst/>
          </a:prstGeom>
        </p:spPr>
      </p:pic>
      <p:sp>
        <p:nvSpPr>
          <p:cNvPr id="5" name="Content Placeholder 2">
            <a:extLst>
              <a:ext uri="{FF2B5EF4-FFF2-40B4-BE49-F238E27FC236}">
                <a16:creationId xmlns:a16="http://schemas.microsoft.com/office/drawing/2014/main" id="{AECA463E-A079-767C-6AEB-9AE58FE51CFA}"/>
              </a:ext>
            </a:extLst>
          </p:cNvPr>
          <p:cNvSpPr txBox="1">
            <a:spLocks/>
          </p:cNvSpPr>
          <p:nvPr/>
        </p:nvSpPr>
        <p:spPr>
          <a:xfrm>
            <a:off x="367554" y="5936605"/>
            <a:ext cx="11585904" cy="369332"/>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1200"/>
              </a:spcAft>
              <a:buClrTx/>
              <a:buSzPct val="90000"/>
              <a:buFont typeface="Wingdings" panose="05000000000000000000" pitchFamily="2" charset="2"/>
              <a:buNone/>
              <a:tabLst/>
              <a:defRPr sz="24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For more details, review </a:t>
            </a:r>
            <a:r>
              <a:rPr lang="en-US" dirty="0">
                <a:hlinkClick r:id="rId4"/>
              </a:rPr>
              <a:t>Deployment Strategies on Kubernetes</a:t>
            </a:r>
            <a:endParaRPr lang="en-US" dirty="0"/>
          </a:p>
        </p:txBody>
      </p:sp>
    </p:spTree>
    <p:extLst>
      <p:ext uri="{BB962C8B-B14F-4D97-AF65-F5344CB8AC3E}">
        <p14:creationId xmlns:p14="http://schemas.microsoft.com/office/powerpoint/2010/main" val="12567635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3E49E-337B-E64A-2A26-C38CC0641CD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4CA4233-A4D5-D294-B259-3E17CF4C8299}"/>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1BF6311F-C3DE-D619-1932-5B9A483F13B4}"/>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28</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1D9494A0-3406-0A7E-D427-1672722F9E42}"/>
              </a:ext>
            </a:extLst>
          </p:cNvPr>
          <p:cNvSpPr>
            <a:spLocks noGrp="1"/>
          </p:cNvSpPr>
          <p:nvPr>
            <p:ph type="body" sz="quarter" idx="39"/>
          </p:nvPr>
        </p:nvSpPr>
        <p:spPr/>
        <p:txBody>
          <a:bodyPr/>
          <a:lstStyle/>
          <a:p>
            <a:r>
              <a:rPr lang="en-US" dirty="0"/>
              <a:t>Demo 2</a:t>
            </a:r>
          </a:p>
        </p:txBody>
      </p:sp>
      <p:sp>
        <p:nvSpPr>
          <p:cNvPr id="18" name="TextBox 17">
            <a:extLst>
              <a:ext uri="{FF2B5EF4-FFF2-40B4-BE49-F238E27FC236}">
                <a16:creationId xmlns:a16="http://schemas.microsoft.com/office/drawing/2014/main" id="{72F7A678-64E4-71B7-A357-BC4732DABF3A}"/>
              </a:ext>
            </a:extLst>
          </p:cNvPr>
          <p:cNvSpPr txBox="1"/>
          <p:nvPr/>
        </p:nvSpPr>
        <p:spPr>
          <a:xfrm>
            <a:off x="4845549" y="5063810"/>
            <a:ext cx="6615701" cy="615553"/>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Services Demo</a:t>
            </a:r>
          </a:p>
          <a:p>
            <a:pPr marL="342900" indent="-342900" algn="l">
              <a:buFont typeface="Arial" panose="020B0604020202020204" pitchFamily="34" charset="0"/>
              <a:buChar char="•"/>
            </a:pPr>
            <a:r>
              <a:rPr lang="en-US" sz="2000"/>
              <a:t>Advanced Deployments</a:t>
            </a:r>
            <a:endParaRPr lang="en-US" sz="2000" dirty="0"/>
          </a:p>
        </p:txBody>
      </p:sp>
      <p:pic>
        <p:nvPicPr>
          <p:cNvPr id="1026" name="Picture 2">
            <a:extLst>
              <a:ext uri="{FF2B5EF4-FFF2-40B4-BE49-F238E27FC236}">
                <a16:creationId xmlns:a16="http://schemas.microsoft.com/office/drawing/2014/main" id="{D8B0A9C5-A2A2-C896-6945-9B311BC767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503" y="560832"/>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38195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5CFFE4-9668-4179-AB5E-010FD487F649}"/>
              </a:ext>
            </a:extLst>
          </p:cNvPr>
          <p:cNvSpPr>
            <a:spLocks noGrp="1"/>
          </p:cNvSpPr>
          <p:nvPr>
            <p:ph type="title"/>
          </p:nvPr>
        </p:nvSpPr>
        <p:spPr/>
        <p:txBody>
          <a:bodyPr/>
          <a:lstStyle/>
          <a:p>
            <a:r>
              <a:rPr lang="en-US" dirty="0"/>
              <a:t>Pod Environment Variables</a:t>
            </a:r>
          </a:p>
        </p:txBody>
      </p:sp>
      <p:sp>
        <p:nvSpPr>
          <p:cNvPr id="2" name="TextBox 1">
            <a:extLst>
              <a:ext uri="{FF2B5EF4-FFF2-40B4-BE49-F238E27FC236}">
                <a16:creationId xmlns:a16="http://schemas.microsoft.com/office/drawing/2014/main" id="{9BF1A16A-8C25-A45F-1E94-746FB5B56E45}"/>
              </a:ext>
            </a:extLst>
          </p:cNvPr>
          <p:cNvSpPr txBox="1"/>
          <p:nvPr/>
        </p:nvSpPr>
        <p:spPr>
          <a:xfrm>
            <a:off x="239498" y="1684056"/>
            <a:ext cx="11541022" cy="126188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400" dirty="0">
                <a:solidFill>
                  <a:srgbClr val="222222"/>
                </a:solidFill>
              </a:rPr>
              <a:t>When working with containers in Docker, you can define environment variables when you create your containers, either individually or by specifying a file:</a:t>
            </a:r>
          </a:p>
          <a:p>
            <a:pPr>
              <a:spcAft>
                <a:spcPts val="1200"/>
              </a:spcAft>
            </a:pPr>
            <a:r>
              <a:rPr lang="en-US" b="1" dirty="0">
                <a:solidFill>
                  <a:schemeClr val="accent1"/>
                </a:solidFill>
                <a:latin typeface="Courier New" panose="02070309020205020404" pitchFamily="49" charset="0"/>
                <a:ea typeface="Segoe UI" pitchFamily="34" charset="0"/>
                <a:cs typeface="Courier New" panose="02070309020205020404" pitchFamily="49" charset="0"/>
              </a:rPr>
              <a:t>	docker run -e MYVAR1 --env MYVAR2=foo --env-file ./</a:t>
            </a:r>
            <a:r>
              <a:rPr lang="en-US" b="1" dirty="0" err="1">
                <a:solidFill>
                  <a:schemeClr val="accent1"/>
                </a:solidFill>
                <a:latin typeface="Courier New" panose="02070309020205020404" pitchFamily="49" charset="0"/>
                <a:ea typeface="Segoe UI" pitchFamily="34" charset="0"/>
                <a:cs typeface="Courier New" panose="02070309020205020404" pitchFamily="49" charset="0"/>
              </a:rPr>
              <a:t>env.list</a:t>
            </a:r>
            <a:r>
              <a:rPr lang="en-US" b="1" dirty="0">
                <a:solidFill>
                  <a:schemeClr val="accent1"/>
                </a:solidFill>
                <a:latin typeface="Courier New" panose="02070309020205020404" pitchFamily="49" charset="0"/>
                <a:ea typeface="Segoe UI" pitchFamily="34" charset="0"/>
                <a:cs typeface="Courier New" panose="02070309020205020404" pitchFamily="49" charset="0"/>
              </a:rPr>
              <a:t> ubuntu</a:t>
            </a:r>
            <a:endParaRPr lang="en-US" dirty="0">
              <a:solidFill>
                <a:srgbClr val="222222"/>
              </a:solidFill>
            </a:endParaRPr>
          </a:p>
        </p:txBody>
      </p:sp>
      <p:pic>
        <p:nvPicPr>
          <p:cNvPr id="23" name="Picture 22">
            <a:extLst>
              <a:ext uri="{FF2B5EF4-FFF2-40B4-BE49-F238E27FC236}">
                <a16:creationId xmlns:a16="http://schemas.microsoft.com/office/drawing/2014/main" id="{8717717D-AB30-7DA5-F031-84ED1E40CF54}"/>
              </a:ext>
            </a:extLst>
          </p:cNvPr>
          <p:cNvPicPr>
            <a:picLocks noChangeAspect="1"/>
          </p:cNvPicPr>
          <p:nvPr/>
        </p:nvPicPr>
        <p:blipFill>
          <a:blip r:embed="rId2"/>
          <a:stretch>
            <a:fillRect/>
          </a:stretch>
        </p:blipFill>
        <p:spPr>
          <a:xfrm>
            <a:off x="9418355" y="3111010"/>
            <a:ext cx="2498308" cy="2598713"/>
          </a:xfrm>
          <a:prstGeom prst="rect">
            <a:avLst/>
          </a:prstGeom>
        </p:spPr>
      </p:pic>
      <p:sp>
        <p:nvSpPr>
          <p:cNvPr id="24" name="TextBox 23">
            <a:extLst>
              <a:ext uri="{FF2B5EF4-FFF2-40B4-BE49-F238E27FC236}">
                <a16:creationId xmlns:a16="http://schemas.microsoft.com/office/drawing/2014/main" id="{362F2B24-84F5-33B0-7974-0AC0A9E52034}"/>
              </a:ext>
            </a:extLst>
          </p:cNvPr>
          <p:cNvSpPr txBox="1"/>
          <p:nvPr/>
        </p:nvSpPr>
        <p:spPr>
          <a:xfrm>
            <a:off x="239498" y="3072940"/>
            <a:ext cx="8782582" cy="2092881"/>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400" dirty="0">
                <a:solidFill>
                  <a:srgbClr val="222222"/>
                </a:solidFill>
              </a:rPr>
              <a:t>When creating Pods, you can specify environment variables as a list of </a:t>
            </a:r>
            <a:r>
              <a:rPr lang="en-US" sz="2400" i="1" dirty="0">
                <a:solidFill>
                  <a:srgbClr val="222222"/>
                </a:solidFill>
              </a:rPr>
              <a:t>name/value </a:t>
            </a:r>
            <a:r>
              <a:rPr lang="en-US" sz="2400" dirty="0">
                <a:solidFill>
                  <a:srgbClr val="222222"/>
                </a:solidFill>
              </a:rPr>
              <a:t>pairs in the container’s specification.</a:t>
            </a:r>
          </a:p>
          <a:p>
            <a:pPr marL="285750" indent="-285750">
              <a:spcAft>
                <a:spcPts val="1200"/>
              </a:spcAft>
              <a:buFont typeface="Arial" panose="020B0604020202020204" pitchFamily="34" charset="0"/>
              <a:buChar char="•"/>
            </a:pPr>
            <a:r>
              <a:rPr lang="en-US" sz="2400" dirty="0">
                <a:solidFill>
                  <a:srgbClr val="222222"/>
                </a:solidFill>
              </a:rPr>
              <a:t>If you want to use an entire file full of environment variables, you can create a </a:t>
            </a:r>
            <a:r>
              <a:rPr lang="en-US" sz="2400" b="1" i="1" dirty="0" err="1">
                <a:solidFill>
                  <a:srgbClr val="222222"/>
                </a:solidFill>
              </a:rPr>
              <a:t>ConfigMap</a:t>
            </a:r>
            <a:r>
              <a:rPr lang="en-US" sz="2400" dirty="0">
                <a:solidFill>
                  <a:srgbClr val="222222"/>
                </a:solidFill>
              </a:rPr>
              <a:t> and reference all or part of it in the container’s specification. </a:t>
            </a:r>
          </a:p>
        </p:txBody>
      </p:sp>
    </p:spTree>
    <p:extLst>
      <p:ext uri="{BB962C8B-B14F-4D97-AF65-F5344CB8AC3E}">
        <p14:creationId xmlns:p14="http://schemas.microsoft.com/office/powerpoint/2010/main" val="2524181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500"/>
                                        <p:tgtEl>
                                          <p:spTgt spid="2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
                                            <p:txEl>
                                              <p:pRg st="1" end="1"/>
                                            </p:txEl>
                                          </p:spTgt>
                                        </p:tgtEl>
                                        <p:attrNameLst>
                                          <p:attrName>style.visibility</p:attrName>
                                        </p:attrNameLst>
                                      </p:cBhvr>
                                      <p:to>
                                        <p:strVal val="visible"/>
                                      </p:to>
                                    </p:set>
                                    <p:animEffect transition="in" filter="fade">
                                      <p:cBhvr>
                                        <p:cTn id="15" dur="500"/>
                                        <p:tgtEl>
                                          <p:spTgt spid="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22573D-C8F9-4892-9EC9-AF78BB43187F}"/>
              </a:ext>
            </a:extLst>
          </p:cNvPr>
          <p:cNvSpPr>
            <a:spLocks noGrp="1"/>
          </p:cNvSpPr>
          <p:nvPr>
            <p:ph type="title"/>
          </p:nvPr>
        </p:nvSpPr>
        <p:spPr/>
        <p:txBody>
          <a:bodyPr/>
          <a:lstStyle/>
          <a:p>
            <a:pPr algn="ctr"/>
            <a:r>
              <a:rPr lang="en-US" dirty="0"/>
              <a:t>Config Maps</a:t>
            </a:r>
          </a:p>
        </p:txBody>
      </p:sp>
      <p:sp>
        <p:nvSpPr>
          <p:cNvPr id="102" name="TextBox 101">
            <a:extLst>
              <a:ext uri="{FF2B5EF4-FFF2-40B4-BE49-F238E27FC236}">
                <a16:creationId xmlns:a16="http://schemas.microsoft.com/office/drawing/2014/main" id="{CFD020BE-3316-4B0A-B611-6ECDDA323FD0}"/>
              </a:ext>
            </a:extLst>
          </p:cNvPr>
          <p:cNvSpPr txBox="1"/>
          <p:nvPr/>
        </p:nvSpPr>
        <p:spPr>
          <a:xfrm>
            <a:off x="4537178" y="251496"/>
            <a:ext cx="7654821" cy="830997"/>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400" dirty="0">
                <a:solidFill>
                  <a:srgbClr val="222222"/>
                </a:solidFill>
              </a:rPr>
              <a:t>A </a:t>
            </a:r>
            <a:r>
              <a:rPr lang="en-US" sz="2400" b="1" i="1" dirty="0" err="1">
                <a:solidFill>
                  <a:srgbClr val="222222"/>
                </a:solidFill>
              </a:rPr>
              <a:t>ConfigMap</a:t>
            </a:r>
            <a:r>
              <a:rPr lang="en-US" sz="2400" dirty="0">
                <a:solidFill>
                  <a:srgbClr val="222222"/>
                </a:solidFill>
              </a:rPr>
              <a:t> is used to store non-confidential data as key-value pairs. </a:t>
            </a:r>
          </a:p>
        </p:txBody>
      </p:sp>
      <p:pic>
        <p:nvPicPr>
          <p:cNvPr id="6" name="Picture 2" descr="A picture containing text, sign, stop, outdoor&#10;&#10;Description automatically generated">
            <a:extLst>
              <a:ext uri="{FF2B5EF4-FFF2-40B4-BE49-F238E27FC236}">
                <a16:creationId xmlns:a16="http://schemas.microsoft.com/office/drawing/2014/main" id="{85206974-755A-41DD-8547-3ADDA56D5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621" y="1825918"/>
            <a:ext cx="2757309" cy="267114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Text&#10;&#10;Description automatically generated">
            <a:extLst>
              <a:ext uri="{FF2B5EF4-FFF2-40B4-BE49-F238E27FC236}">
                <a16:creationId xmlns:a16="http://schemas.microsoft.com/office/drawing/2014/main" id="{69DF1A1F-C609-46A8-8DB4-6FA378B14B1C}"/>
              </a:ext>
            </a:extLst>
          </p:cNvPr>
          <p:cNvPicPr>
            <a:picLocks noChangeAspect="1"/>
          </p:cNvPicPr>
          <p:nvPr/>
        </p:nvPicPr>
        <p:blipFill>
          <a:blip r:embed="rId4"/>
          <a:stretch>
            <a:fillRect/>
          </a:stretch>
        </p:blipFill>
        <p:spPr>
          <a:xfrm>
            <a:off x="8943271" y="1279991"/>
            <a:ext cx="2896004" cy="2067213"/>
          </a:xfrm>
          <a:prstGeom prst="rect">
            <a:avLst/>
          </a:prstGeom>
        </p:spPr>
      </p:pic>
      <p:pic>
        <p:nvPicPr>
          <p:cNvPr id="22" name="Picture 21" descr="Text&#10;&#10;Description automatically generated">
            <a:extLst>
              <a:ext uri="{FF2B5EF4-FFF2-40B4-BE49-F238E27FC236}">
                <a16:creationId xmlns:a16="http://schemas.microsoft.com/office/drawing/2014/main" id="{3C2C7FC3-EB7C-4BC3-B153-4DE3A6CEB161}"/>
              </a:ext>
            </a:extLst>
          </p:cNvPr>
          <p:cNvPicPr>
            <a:picLocks noChangeAspect="1"/>
          </p:cNvPicPr>
          <p:nvPr/>
        </p:nvPicPr>
        <p:blipFill>
          <a:blip r:embed="rId5"/>
          <a:stretch>
            <a:fillRect/>
          </a:stretch>
        </p:blipFill>
        <p:spPr>
          <a:xfrm>
            <a:off x="8418603" y="3571239"/>
            <a:ext cx="3420672" cy="2883005"/>
          </a:xfrm>
          <a:prstGeom prst="rect">
            <a:avLst/>
          </a:prstGeom>
        </p:spPr>
      </p:pic>
      <p:sp>
        <p:nvSpPr>
          <p:cNvPr id="25" name="TextBox 24">
            <a:extLst>
              <a:ext uri="{FF2B5EF4-FFF2-40B4-BE49-F238E27FC236}">
                <a16:creationId xmlns:a16="http://schemas.microsoft.com/office/drawing/2014/main" id="{B10308ED-D80D-4FAC-928B-1A65E8EB921D}"/>
              </a:ext>
            </a:extLst>
          </p:cNvPr>
          <p:cNvSpPr txBox="1"/>
          <p:nvPr/>
        </p:nvSpPr>
        <p:spPr>
          <a:xfrm>
            <a:off x="4537178" y="1161535"/>
            <a:ext cx="3727982" cy="5293757"/>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200" dirty="0">
                <a:solidFill>
                  <a:srgbClr val="222222"/>
                </a:solidFill>
              </a:rPr>
              <a:t>They allows you to decouple environment-specific configuration from container instances.</a:t>
            </a:r>
          </a:p>
          <a:p>
            <a:pPr marL="285750" indent="-285750">
              <a:spcAft>
                <a:spcPts val="1200"/>
              </a:spcAft>
              <a:buFont typeface="Arial" panose="020B0604020202020204" pitchFamily="34" charset="0"/>
              <a:buChar char="•"/>
            </a:pPr>
            <a:r>
              <a:rPr lang="en-US" sz="2200" dirty="0">
                <a:solidFill>
                  <a:srgbClr val="222222"/>
                </a:solidFill>
              </a:rPr>
              <a:t>Containers can consume </a:t>
            </a:r>
            <a:r>
              <a:rPr lang="en-US" sz="2200" b="1" i="1" dirty="0" err="1">
                <a:solidFill>
                  <a:srgbClr val="222222"/>
                </a:solidFill>
              </a:rPr>
              <a:t>ConfigMaps</a:t>
            </a:r>
            <a:r>
              <a:rPr lang="en-US" sz="2200" dirty="0">
                <a:solidFill>
                  <a:srgbClr val="222222"/>
                </a:solidFill>
              </a:rPr>
              <a:t> as environment variables.</a:t>
            </a:r>
          </a:p>
          <a:p>
            <a:pPr marL="285750" indent="-285750">
              <a:spcAft>
                <a:spcPts val="1200"/>
              </a:spcAft>
              <a:buFont typeface="Arial" panose="020B0604020202020204" pitchFamily="34" charset="0"/>
              <a:buChar char="•"/>
            </a:pPr>
            <a:r>
              <a:rPr lang="en-US" sz="2200" dirty="0">
                <a:solidFill>
                  <a:srgbClr val="222222"/>
                </a:solidFill>
              </a:rPr>
              <a:t>Containers can use an entire </a:t>
            </a:r>
            <a:r>
              <a:rPr lang="en-US" sz="2200" b="1" i="1" dirty="0" err="1">
                <a:solidFill>
                  <a:srgbClr val="222222"/>
                </a:solidFill>
              </a:rPr>
              <a:t>ConfigMap</a:t>
            </a:r>
            <a:r>
              <a:rPr lang="en-US" sz="2200" dirty="0">
                <a:solidFill>
                  <a:srgbClr val="222222"/>
                </a:solidFill>
              </a:rPr>
              <a:t> or only selected values. </a:t>
            </a:r>
          </a:p>
          <a:p>
            <a:pPr marL="285750" indent="-285750">
              <a:spcAft>
                <a:spcPts val="1200"/>
              </a:spcAft>
              <a:buFont typeface="Arial" panose="020B0604020202020204" pitchFamily="34" charset="0"/>
              <a:buChar char="•"/>
            </a:pPr>
            <a:r>
              <a:rPr lang="en-US" sz="2200" b="1" i="1" dirty="0" err="1">
                <a:solidFill>
                  <a:srgbClr val="222222"/>
                </a:solidFill>
              </a:rPr>
              <a:t>ConfigMaps</a:t>
            </a:r>
            <a:r>
              <a:rPr lang="en-US" sz="2200" dirty="0">
                <a:solidFill>
                  <a:srgbClr val="222222"/>
                </a:solidFill>
              </a:rPr>
              <a:t> can be referenced by multiple Containers in different Pods.</a:t>
            </a:r>
          </a:p>
        </p:txBody>
      </p:sp>
    </p:spTree>
    <p:extLst>
      <p:ext uri="{BB962C8B-B14F-4D97-AF65-F5344CB8AC3E}">
        <p14:creationId xmlns:p14="http://schemas.microsoft.com/office/powerpoint/2010/main" val="22362715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 presetClass="entr" presetSubtype="0" fill="hold"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5">
                                            <p:txEl>
                                              <p:pRg st="1" end="1"/>
                                            </p:txEl>
                                          </p:spTgt>
                                        </p:tgtEl>
                                        <p:attrNameLst>
                                          <p:attrName>style.visibility</p:attrName>
                                        </p:attrNameLst>
                                      </p:cBhvr>
                                      <p:to>
                                        <p:strVal val="visible"/>
                                      </p:to>
                                    </p:se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5CFFE4-9668-4179-AB5E-010FD487F649}"/>
              </a:ext>
            </a:extLst>
          </p:cNvPr>
          <p:cNvSpPr>
            <a:spLocks noGrp="1"/>
          </p:cNvSpPr>
          <p:nvPr>
            <p:ph type="title"/>
          </p:nvPr>
        </p:nvSpPr>
        <p:spPr/>
        <p:txBody>
          <a:bodyPr/>
          <a:lstStyle/>
          <a:p>
            <a:r>
              <a:rPr lang="en-US" dirty="0" err="1"/>
              <a:t>ConfigMaps</a:t>
            </a:r>
            <a:r>
              <a:rPr lang="en-US" dirty="0"/>
              <a:t> Mounted as Volumes</a:t>
            </a:r>
          </a:p>
        </p:txBody>
      </p:sp>
      <p:sp>
        <p:nvSpPr>
          <p:cNvPr id="2" name="TextBox 1">
            <a:extLst>
              <a:ext uri="{FF2B5EF4-FFF2-40B4-BE49-F238E27FC236}">
                <a16:creationId xmlns:a16="http://schemas.microsoft.com/office/drawing/2014/main" id="{9BF1A16A-8C25-A45F-1E94-746FB5B56E45}"/>
              </a:ext>
            </a:extLst>
          </p:cNvPr>
          <p:cNvSpPr txBox="1"/>
          <p:nvPr/>
        </p:nvSpPr>
        <p:spPr>
          <a:xfrm>
            <a:off x="239498" y="1684056"/>
            <a:ext cx="8416822" cy="3139321"/>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400" b="1" i="1" dirty="0" err="1">
                <a:solidFill>
                  <a:srgbClr val="222222"/>
                </a:solidFill>
              </a:rPr>
              <a:t>ConfigMaps</a:t>
            </a:r>
            <a:r>
              <a:rPr lang="en-US" sz="2400" dirty="0">
                <a:solidFill>
                  <a:srgbClr val="222222"/>
                </a:solidFill>
              </a:rPr>
              <a:t> can also contain entire file definitions.</a:t>
            </a:r>
          </a:p>
          <a:p>
            <a:pPr marL="285750" indent="-285750">
              <a:spcAft>
                <a:spcPts val="1200"/>
              </a:spcAft>
              <a:buFont typeface="Arial" panose="020B0604020202020204" pitchFamily="34" charset="0"/>
              <a:buChar char="•"/>
            </a:pPr>
            <a:r>
              <a:rPr lang="en-US" sz="2400" dirty="0">
                <a:solidFill>
                  <a:srgbClr val="222222"/>
                </a:solidFill>
              </a:rPr>
              <a:t>These </a:t>
            </a:r>
            <a:r>
              <a:rPr lang="en-US" sz="2400" b="1" i="1" dirty="0" err="1">
                <a:solidFill>
                  <a:srgbClr val="222222"/>
                </a:solidFill>
              </a:rPr>
              <a:t>ConfigMaps</a:t>
            </a:r>
            <a:r>
              <a:rPr lang="en-US" sz="2400" dirty="0">
                <a:solidFill>
                  <a:srgbClr val="222222"/>
                </a:solidFill>
              </a:rPr>
              <a:t> can be attached as Volumes in a Pods and mounted as </a:t>
            </a:r>
            <a:r>
              <a:rPr lang="en-US" sz="2400" i="1" dirty="0">
                <a:solidFill>
                  <a:srgbClr val="222222"/>
                </a:solidFill>
              </a:rPr>
              <a:t>read-only</a:t>
            </a:r>
            <a:r>
              <a:rPr lang="en-US" sz="2400" dirty="0">
                <a:solidFill>
                  <a:srgbClr val="222222"/>
                </a:solidFill>
              </a:rPr>
              <a:t> folders in containers.</a:t>
            </a:r>
          </a:p>
          <a:p>
            <a:pPr marL="285750" indent="-285750">
              <a:spcAft>
                <a:spcPts val="1200"/>
              </a:spcAft>
              <a:buFont typeface="Arial" panose="020B0604020202020204" pitchFamily="34" charset="0"/>
              <a:buChar char="•"/>
            </a:pPr>
            <a:r>
              <a:rPr lang="en-US" sz="2400" dirty="0">
                <a:solidFill>
                  <a:srgbClr val="222222"/>
                </a:solidFill>
              </a:rPr>
              <a:t>Each entry in a </a:t>
            </a:r>
            <a:r>
              <a:rPr lang="en-US" sz="2400" b="1" i="1" dirty="0" err="1">
                <a:solidFill>
                  <a:srgbClr val="222222"/>
                </a:solidFill>
              </a:rPr>
              <a:t>ConfigMaps</a:t>
            </a:r>
            <a:r>
              <a:rPr lang="en-US" sz="2400" b="1" i="1" dirty="0">
                <a:solidFill>
                  <a:srgbClr val="222222"/>
                </a:solidFill>
              </a:rPr>
              <a:t> </a:t>
            </a:r>
            <a:r>
              <a:rPr lang="en-US" sz="2400" dirty="0">
                <a:solidFill>
                  <a:srgbClr val="222222"/>
                </a:solidFill>
              </a:rPr>
              <a:t>is mounted as a separate file.</a:t>
            </a:r>
          </a:p>
          <a:p>
            <a:pPr marL="285750" indent="-285750">
              <a:spcAft>
                <a:spcPts val="1200"/>
              </a:spcAft>
              <a:buFont typeface="Arial" panose="020B0604020202020204" pitchFamily="34" charset="0"/>
              <a:buChar char="•"/>
            </a:pPr>
            <a:r>
              <a:rPr lang="en-US" sz="2400" dirty="0">
                <a:solidFill>
                  <a:srgbClr val="222222"/>
                </a:solidFill>
              </a:rPr>
              <a:t>If scripts are defined in </a:t>
            </a:r>
            <a:r>
              <a:rPr lang="en-US" sz="2400" b="1" i="1" dirty="0" err="1">
                <a:solidFill>
                  <a:srgbClr val="222222"/>
                </a:solidFill>
              </a:rPr>
              <a:t>ConfigMaps</a:t>
            </a:r>
            <a:r>
              <a:rPr lang="en-US" sz="2400" dirty="0">
                <a:solidFill>
                  <a:srgbClr val="222222"/>
                </a:solidFill>
              </a:rPr>
              <a:t>, they can be automatically mounted with executable permissions, using the </a:t>
            </a:r>
            <a:r>
              <a:rPr lang="en-US" sz="2400" b="1" u="sng" dirty="0" err="1">
                <a:solidFill>
                  <a:srgbClr val="222222"/>
                </a:solidFill>
              </a:rPr>
              <a:t>defaultMode</a:t>
            </a:r>
            <a:r>
              <a:rPr lang="en-US" sz="2400" dirty="0">
                <a:solidFill>
                  <a:srgbClr val="222222"/>
                </a:solidFill>
              </a:rPr>
              <a:t> setting.</a:t>
            </a:r>
          </a:p>
        </p:txBody>
      </p:sp>
      <p:pic>
        <p:nvPicPr>
          <p:cNvPr id="7" name="Picture 6">
            <a:extLst>
              <a:ext uri="{FF2B5EF4-FFF2-40B4-BE49-F238E27FC236}">
                <a16:creationId xmlns:a16="http://schemas.microsoft.com/office/drawing/2014/main" id="{8CAC3F8E-FDE4-AA82-7B98-64782B6C61C8}"/>
              </a:ext>
            </a:extLst>
          </p:cNvPr>
          <p:cNvPicPr>
            <a:picLocks noChangeAspect="1"/>
          </p:cNvPicPr>
          <p:nvPr/>
        </p:nvPicPr>
        <p:blipFill>
          <a:blip r:embed="rId2"/>
          <a:stretch>
            <a:fillRect/>
          </a:stretch>
        </p:blipFill>
        <p:spPr>
          <a:xfrm>
            <a:off x="8914711" y="4754880"/>
            <a:ext cx="3037791" cy="1713963"/>
          </a:xfrm>
          <a:prstGeom prst="rect">
            <a:avLst/>
          </a:prstGeom>
        </p:spPr>
      </p:pic>
      <p:pic>
        <p:nvPicPr>
          <p:cNvPr id="9" name="Picture 8">
            <a:extLst>
              <a:ext uri="{FF2B5EF4-FFF2-40B4-BE49-F238E27FC236}">
                <a16:creationId xmlns:a16="http://schemas.microsoft.com/office/drawing/2014/main" id="{2F34E84F-BC53-367F-471C-7FEF4CA7089F}"/>
              </a:ext>
            </a:extLst>
          </p:cNvPr>
          <p:cNvPicPr>
            <a:picLocks noChangeAspect="1"/>
          </p:cNvPicPr>
          <p:nvPr/>
        </p:nvPicPr>
        <p:blipFill>
          <a:blip r:embed="rId3"/>
          <a:stretch>
            <a:fillRect/>
          </a:stretch>
        </p:blipFill>
        <p:spPr>
          <a:xfrm>
            <a:off x="9273906" y="1684056"/>
            <a:ext cx="2678596" cy="2738120"/>
          </a:xfrm>
          <a:prstGeom prst="rect">
            <a:avLst/>
          </a:prstGeom>
        </p:spPr>
      </p:pic>
      <p:pic>
        <p:nvPicPr>
          <p:cNvPr id="11" name="Picture 10">
            <a:extLst>
              <a:ext uri="{FF2B5EF4-FFF2-40B4-BE49-F238E27FC236}">
                <a16:creationId xmlns:a16="http://schemas.microsoft.com/office/drawing/2014/main" id="{D0B217A5-C63B-53BF-851A-A2CB35CD4D24}"/>
              </a:ext>
            </a:extLst>
          </p:cNvPr>
          <p:cNvPicPr>
            <a:picLocks noChangeAspect="1"/>
          </p:cNvPicPr>
          <p:nvPr/>
        </p:nvPicPr>
        <p:blipFill>
          <a:blip r:embed="rId4"/>
          <a:stretch>
            <a:fillRect/>
          </a:stretch>
        </p:blipFill>
        <p:spPr>
          <a:xfrm>
            <a:off x="650239" y="5040016"/>
            <a:ext cx="6762653" cy="1057987"/>
          </a:xfrm>
          <a:prstGeom prst="rect">
            <a:avLst/>
          </a:prstGeom>
        </p:spPr>
      </p:pic>
    </p:spTree>
    <p:extLst>
      <p:ext uri="{BB962C8B-B14F-4D97-AF65-F5344CB8AC3E}">
        <p14:creationId xmlns:p14="http://schemas.microsoft.com/office/powerpoint/2010/main" val="22085772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22573D-C8F9-4892-9EC9-AF78BB43187F}"/>
              </a:ext>
            </a:extLst>
          </p:cNvPr>
          <p:cNvSpPr>
            <a:spLocks noGrp="1"/>
          </p:cNvSpPr>
          <p:nvPr>
            <p:ph type="title"/>
          </p:nvPr>
        </p:nvSpPr>
        <p:spPr/>
        <p:txBody>
          <a:bodyPr/>
          <a:lstStyle/>
          <a:p>
            <a:pPr algn="ctr"/>
            <a:r>
              <a:rPr lang="en-US" dirty="0"/>
              <a:t>Secrets</a:t>
            </a:r>
          </a:p>
        </p:txBody>
      </p:sp>
      <p:sp>
        <p:nvSpPr>
          <p:cNvPr id="102" name="TextBox 101">
            <a:extLst>
              <a:ext uri="{FF2B5EF4-FFF2-40B4-BE49-F238E27FC236}">
                <a16:creationId xmlns:a16="http://schemas.microsoft.com/office/drawing/2014/main" id="{CFD020BE-3316-4B0A-B611-6ECDDA323FD0}"/>
              </a:ext>
            </a:extLst>
          </p:cNvPr>
          <p:cNvSpPr txBox="1"/>
          <p:nvPr/>
        </p:nvSpPr>
        <p:spPr>
          <a:xfrm>
            <a:off x="4537178" y="251496"/>
            <a:ext cx="7654821" cy="830997"/>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400" b="1" i="1" dirty="0">
                <a:solidFill>
                  <a:srgbClr val="222222"/>
                </a:solidFill>
              </a:rPr>
              <a:t>Secrets</a:t>
            </a:r>
            <a:r>
              <a:rPr lang="en-US" sz="2400" dirty="0">
                <a:solidFill>
                  <a:srgbClr val="222222"/>
                </a:solidFill>
              </a:rPr>
              <a:t> are the same as </a:t>
            </a:r>
            <a:r>
              <a:rPr lang="en-US" sz="2400" b="1" i="1" dirty="0" err="1">
                <a:solidFill>
                  <a:srgbClr val="222222"/>
                </a:solidFill>
              </a:rPr>
              <a:t>ConfigMaps</a:t>
            </a:r>
            <a:r>
              <a:rPr lang="en-US" sz="2400" dirty="0">
                <a:solidFill>
                  <a:srgbClr val="222222"/>
                </a:solidFill>
              </a:rPr>
              <a:t>, except the data/files they hold is </a:t>
            </a:r>
            <a:r>
              <a:rPr lang="en-US" sz="2400" b="1" i="1" dirty="0">
                <a:solidFill>
                  <a:srgbClr val="222222"/>
                </a:solidFill>
              </a:rPr>
              <a:t>encoded not Encrypted</a:t>
            </a:r>
            <a:endParaRPr lang="en-US" sz="2400" b="1" dirty="0">
              <a:solidFill>
                <a:srgbClr val="222222"/>
              </a:solidFill>
            </a:endParaRPr>
          </a:p>
        </p:txBody>
      </p:sp>
      <p:sp>
        <p:nvSpPr>
          <p:cNvPr id="16" name="TextBox 15">
            <a:extLst>
              <a:ext uri="{FF2B5EF4-FFF2-40B4-BE49-F238E27FC236}">
                <a16:creationId xmlns:a16="http://schemas.microsoft.com/office/drawing/2014/main" id="{BBA79198-A12A-4189-A551-EFB91B84054F}"/>
              </a:ext>
            </a:extLst>
          </p:cNvPr>
          <p:cNvSpPr txBox="1"/>
          <p:nvPr/>
        </p:nvSpPr>
        <p:spPr>
          <a:xfrm>
            <a:off x="4537179" y="1127156"/>
            <a:ext cx="4455686" cy="5293757"/>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2200" dirty="0">
                <a:solidFill>
                  <a:srgbClr val="222222"/>
                </a:solidFill>
              </a:rPr>
              <a:t>They can be used to store and manage sensitive information, such as passwords, OAuth tokens, and </a:t>
            </a:r>
            <a:r>
              <a:rPr lang="en-US" sz="2200" i="1" dirty="0" err="1">
                <a:solidFill>
                  <a:srgbClr val="222222"/>
                </a:solidFill>
              </a:rPr>
              <a:t>ssh</a:t>
            </a:r>
            <a:r>
              <a:rPr lang="en-US" sz="2200" dirty="0">
                <a:solidFill>
                  <a:srgbClr val="222222"/>
                </a:solidFill>
              </a:rPr>
              <a:t> keys. </a:t>
            </a:r>
          </a:p>
          <a:p>
            <a:pPr marL="285750" indent="-285750">
              <a:spcAft>
                <a:spcPts val="1200"/>
              </a:spcAft>
              <a:buFont typeface="Arial" panose="020B0604020202020204" pitchFamily="34" charset="0"/>
              <a:buChar char="•"/>
            </a:pPr>
            <a:r>
              <a:rPr lang="en-US" sz="2200" dirty="0">
                <a:solidFill>
                  <a:srgbClr val="222222"/>
                </a:solidFill>
              </a:rPr>
              <a:t>Storing confidential information in a Secret is safer and more flexible than setting it verbatim in a Pod definition or in a container image.</a:t>
            </a:r>
          </a:p>
          <a:p>
            <a:pPr marL="285750" indent="-285750">
              <a:spcAft>
                <a:spcPts val="1200"/>
              </a:spcAft>
              <a:buFont typeface="Arial" panose="020B0604020202020204" pitchFamily="34" charset="0"/>
              <a:buChar char="•"/>
            </a:pPr>
            <a:r>
              <a:rPr lang="en-US" sz="2200" dirty="0">
                <a:solidFill>
                  <a:srgbClr val="222222"/>
                </a:solidFill>
              </a:rPr>
              <a:t>Other Kubernetes resources, like  </a:t>
            </a:r>
            <a:r>
              <a:rPr lang="en-US" sz="2200" b="1" i="1" dirty="0">
                <a:solidFill>
                  <a:srgbClr val="222222"/>
                </a:solidFill>
              </a:rPr>
              <a:t>Ingresses</a:t>
            </a:r>
            <a:r>
              <a:rPr lang="en-US" sz="2200" dirty="0">
                <a:solidFill>
                  <a:srgbClr val="222222"/>
                </a:solidFill>
              </a:rPr>
              <a:t> and </a:t>
            </a:r>
            <a:r>
              <a:rPr lang="en-US" sz="2200" b="1" i="1" dirty="0">
                <a:solidFill>
                  <a:srgbClr val="222222"/>
                </a:solidFill>
              </a:rPr>
              <a:t>Persistent Volumes</a:t>
            </a:r>
            <a:r>
              <a:rPr lang="en-US" sz="2200" dirty="0">
                <a:solidFill>
                  <a:srgbClr val="222222"/>
                </a:solidFill>
              </a:rPr>
              <a:t>, also use </a:t>
            </a:r>
            <a:r>
              <a:rPr lang="en-US" sz="2200" b="1" i="1" dirty="0">
                <a:solidFill>
                  <a:srgbClr val="222222"/>
                </a:solidFill>
              </a:rPr>
              <a:t>Secrets</a:t>
            </a:r>
            <a:r>
              <a:rPr lang="en-US" sz="2200" dirty="0">
                <a:solidFill>
                  <a:srgbClr val="222222"/>
                </a:solidFill>
              </a:rPr>
              <a:t> as part of their configuration.</a:t>
            </a:r>
          </a:p>
          <a:p>
            <a:pPr marL="285750" indent="-285750">
              <a:spcAft>
                <a:spcPts val="1200"/>
              </a:spcAft>
              <a:buFont typeface="Arial" panose="020B0604020202020204" pitchFamily="34" charset="0"/>
              <a:buChar char="•"/>
            </a:pPr>
            <a:r>
              <a:rPr lang="en-US" sz="2200" dirty="0">
                <a:solidFill>
                  <a:srgbClr val="222222"/>
                </a:solidFill>
              </a:rPr>
              <a:t>How can we protect secrets?</a:t>
            </a:r>
          </a:p>
        </p:txBody>
      </p:sp>
      <p:pic>
        <p:nvPicPr>
          <p:cNvPr id="2" name="Picture 2" descr="Icon&#10;&#10;Description automatically generated">
            <a:extLst>
              <a:ext uri="{FF2B5EF4-FFF2-40B4-BE49-F238E27FC236}">
                <a16:creationId xmlns:a16="http://schemas.microsoft.com/office/drawing/2014/main" id="{E7C32999-A7FE-4FB7-8C30-EF3506A968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622" y="1903112"/>
            <a:ext cx="2757308" cy="26711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ext&#10;&#10;Description automatically generated with medium confidence">
            <a:extLst>
              <a:ext uri="{FF2B5EF4-FFF2-40B4-BE49-F238E27FC236}">
                <a16:creationId xmlns:a16="http://schemas.microsoft.com/office/drawing/2014/main" id="{E329B1B6-2F41-4FE4-95EE-17425F57C819}"/>
              </a:ext>
            </a:extLst>
          </p:cNvPr>
          <p:cNvPicPr>
            <a:picLocks noChangeAspect="1"/>
          </p:cNvPicPr>
          <p:nvPr/>
        </p:nvPicPr>
        <p:blipFill>
          <a:blip r:embed="rId4"/>
          <a:stretch>
            <a:fillRect/>
          </a:stretch>
        </p:blipFill>
        <p:spPr>
          <a:xfrm>
            <a:off x="9721516" y="1161535"/>
            <a:ext cx="2137028" cy="1852091"/>
          </a:xfrm>
          <a:prstGeom prst="rect">
            <a:avLst/>
          </a:prstGeom>
        </p:spPr>
      </p:pic>
      <p:pic>
        <p:nvPicPr>
          <p:cNvPr id="9" name="Picture 8" descr="Text&#10;&#10;Description automatically generated">
            <a:extLst>
              <a:ext uri="{FF2B5EF4-FFF2-40B4-BE49-F238E27FC236}">
                <a16:creationId xmlns:a16="http://schemas.microsoft.com/office/drawing/2014/main" id="{A7A57401-D748-4E41-A153-2BC3CEE17ED3}"/>
              </a:ext>
            </a:extLst>
          </p:cNvPr>
          <p:cNvPicPr>
            <a:picLocks noChangeAspect="1"/>
          </p:cNvPicPr>
          <p:nvPr/>
        </p:nvPicPr>
        <p:blipFill>
          <a:blip r:embed="rId5"/>
          <a:stretch>
            <a:fillRect/>
          </a:stretch>
        </p:blipFill>
        <p:spPr>
          <a:xfrm>
            <a:off x="9103356" y="3368040"/>
            <a:ext cx="2755188" cy="3225586"/>
          </a:xfrm>
          <a:prstGeom prst="rect">
            <a:avLst/>
          </a:prstGeom>
        </p:spPr>
      </p:pic>
    </p:spTree>
    <p:extLst>
      <p:ext uri="{BB962C8B-B14F-4D97-AF65-F5344CB8AC3E}">
        <p14:creationId xmlns:p14="http://schemas.microsoft.com/office/powerpoint/2010/main" val="12252819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xEl>
                                              <p:pRg st="1" end="1"/>
                                            </p:txEl>
                                          </p:spTgt>
                                        </p:tgtEl>
                                        <p:attrNameLst>
                                          <p:attrName>style.visibility</p:attrName>
                                        </p:attrNameLst>
                                      </p:cBhvr>
                                      <p:to>
                                        <p:strVal val="visible"/>
                                      </p:to>
                                    </p:set>
                                    <p:animEffect transition="in" filter="fade">
                                      <p:cBhvr>
                                        <p:cTn id="15" dur="500"/>
                                        <p:tgtEl>
                                          <p:spTgt spid="16">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xEl>
                                              <p:pRg st="2" end="2"/>
                                            </p:txEl>
                                          </p:spTgt>
                                        </p:tgtEl>
                                        <p:attrNameLst>
                                          <p:attrName>style.visibility</p:attrName>
                                        </p:attrNameLst>
                                      </p:cBhvr>
                                      <p:to>
                                        <p:strVal val="visible"/>
                                      </p:to>
                                    </p:set>
                                    <p:animEffect transition="in" filter="fade">
                                      <p:cBhvr>
                                        <p:cTn id="23" dur="500"/>
                                        <p:tgtEl>
                                          <p:spTgt spid="1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6">
                                            <p:txEl>
                                              <p:pRg st="3" end="3"/>
                                            </p:txEl>
                                          </p:spTgt>
                                        </p:tgtEl>
                                        <p:attrNameLst>
                                          <p:attrName>style.visibility</p:attrName>
                                        </p:attrNameLst>
                                      </p:cBhvr>
                                      <p:to>
                                        <p:strVal val="visible"/>
                                      </p:to>
                                    </p:set>
                                    <p:animEffect transition="in" filter="fade">
                                      <p:cBhvr>
                                        <p:cTn id="28"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dirty="0"/>
              <a:t>Namespaces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391886" y="1528010"/>
            <a:ext cx="11440048" cy="5330690"/>
          </a:xfrm>
        </p:spPr>
        <p:txBody>
          <a:bodyPr/>
          <a:lstStyle/>
          <a:p>
            <a:pPr marL="342900" indent="-342900">
              <a:buFont typeface="Arial" panose="020B0604020202020204" pitchFamily="34" charset="0"/>
              <a:buChar char="•"/>
            </a:pPr>
            <a:r>
              <a:rPr lang="en-US" dirty="0"/>
              <a:t>Namespaces be used to logically segment resources by:</a:t>
            </a:r>
          </a:p>
          <a:p>
            <a:pPr lvl="1">
              <a:spcAft>
                <a:spcPts val="600"/>
              </a:spcAft>
            </a:pPr>
            <a:r>
              <a:rPr lang="en-US" sz="2200" b="1" u="sng" dirty="0"/>
              <a:t>Environments</a:t>
            </a:r>
            <a:r>
              <a:rPr lang="en-US" sz="2200" dirty="0"/>
              <a:t> – Ex: </a:t>
            </a:r>
            <a:r>
              <a:rPr lang="en-US" sz="2200" i="1" dirty="0"/>
              <a:t>Development</a:t>
            </a:r>
            <a:r>
              <a:rPr lang="en-US" sz="2200" dirty="0"/>
              <a:t> resources can be in one namespace, </a:t>
            </a:r>
            <a:r>
              <a:rPr lang="en-US" sz="2200" i="1" dirty="0"/>
              <a:t>Staging</a:t>
            </a:r>
            <a:r>
              <a:rPr lang="en-US" sz="2200" dirty="0"/>
              <a:t> in another</a:t>
            </a:r>
          </a:p>
          <a:p>
            <a:pPr lvl="1">
              <a:spcAft>
                <a:spcPts val="600"/>
              </a:spcAft>
            </a:pPr>
            <a:r>
              <a:rPr lang="en-US" sz="2200" b="1" u="sng" dirty="0"/>
              <a:t>Applications</a:t>
            </a:r>
            <a:r>
              <a:rPr lang="en-US" sz="2200" dirty="0"/>
              <a:t> – Ex: </a:t>
            </a:r>
            <a:r>
              <a:rPr lang="en-US" sz="2200" i="1" dirty="0"/>
              <a:t>Shopping</a:t>
            </a:r>
            <a:r>
              <a:rPr lang="en-US" sz="2200" dirty="0"/>
              <a:t> cart microservices in one namespace, </a:t>
            </a:r>
            <a:r>
              <a:rPr lang="en-US" sz="2200" i="1" dirty="0"/>
              <a:t>Marketing</a:t>
            </a:r>
            <a:r>
              <a:rPr lang="en-US" sz="2200" dirty="0"/>
              <a:t> in another</a:t>
            </a:r>
          </a:p>
          <a:p>
            <a:pPr lvl="1">
              <a:spcAft>
                <a:spcPts val="600"/>
              </a:spcAft>
            </a:pPr>
            <a:r>
              <a:rPr lang="en-US" sz="2200" b="1" u="sng" dirty="0"/>
              <a:t>Developers</a:t>
            </a:r>
            <a:r>
              <a:rPr lang="en-US" sz="2200" dirty="0"/>
              <a:t> – Ex: Each developer can have their own, isolated workspace.  </a:t>
            </a:r>
          </a:p>
          <a:p>
            <a:pPr lvl="2">
              <a:spcAft>
                <a:spcPts val="600"/>
              </a:spcAft>
            </a:pPr>
            <a:r>
              <a:rPr lang="en-US" sz="2000" dirty="0"/>
              <a:t>User permissions/resources can be limited by namespace.</a:t>
            </a:r>
            <a:endParaRPr lang="en-US" dirty="0"/>
          </a:p>
          <a:p>
            <a:pPr marL="342900" indent="-342900">
              <a:buFont typeface="Arial" panose="020B0604020202020204" pitchFamily="34" charset="0"/>
              <a:buChar char="•"/>
            </a:pPr>
            <a:r>
              <a:rPr lang="en-US" dirty="0"/>
              <a:t>To access resources across namespaces, use their FDQN:</a:t>
            </a:r>
          </a:p>
          <a:p>
            <a:pPr lvl="1"/>
            <a:r>
              <a:rPr lang="en-US" dirty="0" err="1"/>
              <a:t>Mysql.connect</a:t>
            </a:r>
            <a:r>
              <a:rPr lang="en-US" dirty="0"/>
              <a:t>(“</a:t>
            </a:r>
            <a:r>
              <a:rPr lang="en-US" dirty="0" err="1"/>
              <a:t>db-service.</a:t>
            </a:r>
            <a:r>
              <a:rPr lang="en-US" b="1" dirty="0" err="1"/>
              <a:t>othernamespace</a:t>
            </a:r>
            <a:r>
              <a:rPr lang="en-US" dirty="0" err="1"/>
              <a:t>.svc.cluster.local</a:t>
            </a:r>
            <a:r>
              <a:rPr lang="en-US" dirty="0"/>
              <a:t>”)</a:t>
            </a:r>
          </a:p>
          <a:p>
            <a:pPr marL="342900" indent="-342900">
              <a:buFont typeface="Arial" panose="020B0604020202020204" pitchFamily="34" charset="0"/>
              <a:buChar char="•"/>
            </a:pPr>
            <a:r>
              <a:rPr lang="en-US" dirty="0"/>
              <a:t>Querying namespaces</a:t>
            </a:r>
          </a:p>
          <a:p>
            <a:pPr marL="1000125" lvl="2" indent="-342900">
              <a:buFont typeface="Arial" panose="020B0604020202020204" pitchFamily="34" charset="0"/>
              <a:buChar char="•"/>
            </a:pPr>
            <a:r>
              <a:rPr lang="en-US"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b="1" dirty="0">
                <a:solidFill>
                  <a:schemeClr val="accent1"/>
                </a:solidFill>
                <a:latin typeface="Courier New" panose="02070309020205020404" pitchFamily="49" charset="0"/>
                <a:ea typeface="Segoe UI" pitchFamily="34" charset="0"/>
                <a:cs typeface="Courier New" panose="02070309020205020404" pitchFamily="49" charset="0"/>
              </a:rPr>
              <a:t> get namespaces (Gets all namespaces in the cluster)</a:t>
            </a:r>
            <a:endParaRPr lang="en-US" dirty="0"/>
          </a:p>
          <a:p>
            <a:pPr marL="1000125" lvl="2" indent="-342900">
              <a:buFont typeface="Arial" panose="020B0604020202020204" pitchFamily="34" charset="0"/>
              <a:buChar char="•"/>
            </a:pPr>
            <a:r>
              <a:rPr lang="en-US" b="1" dirty="0" err="1">
                <a:solidFill>
                  <a:schemeClr val="accent1"/>
                </a:solidFill>
                <a:latin typeface="Courier New" panose="02070309020205020404" pitchFamily="49" charset="0"/>
                <a:ea typeface="Segoe UI" pitchFamily="34" charset="0"/>
                <a:cs typeface="Courier New" panose="02070309020205020404" pitchFamily="49" charset="0"/>
              </a:rPr>
              <a:t>kubectl</a:t>
            </a:r>
            <a:r>
              <a:rPr lang="en-US" b="1" dirty="0">
                <a:solidFill>
                  <a:schemeClr val="accent1"/>
                </a:solidFill>
                <a:latin typeface="Courier New" panose="02070309020205020404" pitchFamily="49" charset="0"/>
                <a:ea typeface="Segoe UI" pitchFamily="34" charset="0"/>
                <a:cs typeface="Courier New" panose="02070309020205020404" pitchFamily="49" charset="0"/>
              </a:rPr>
              <a:t> get pods –n </a:t>
            </a:r>
            <a:r>
              <a:rPr lang="en-US" b="1" dirty="0" err="1">
                <a:solidFill>
                  <a:schemeClr val="accent1"/>
                </a:solidFill>
                <a:latin typeface="Courier New" panose="02070309020205020404" pitchFamily="49" charset="0"/>
                <a:ea typeface="Segoe UI" pitchFamily="34" charset="0"/>
                <a:cs typeface="Courier New" panose="02070309020205020404" pitchFamily="49" charset="0"/>
              </a:rPr>
              <a:t>mynamespace</a:t>
            </a:r>
            <a:r>
              <a:rPr lang="en-US" b="1" dirty="0">
                <a:solidFill>
                  <a:schemeClr val="accent1"/>
                </a:solidFill>
                <a:latin typeface="Courier New" panose="02070309020205020404" pitchFamily="49" charset="0"/>
                <a:ea typeface="Segoe UI" pitchFamily="34" charset="0"/>
                <a:cs typeface="Courier New" panose="02070309020205020404" pitchFamily="49" charset="0"/>
              </a:rPr>
              <a:t> (Gets all pods in selected namespace)</a:t>
            </a:r>
          </a:p>
          <a:p>
            <a:pPr marL="1000125" lvl="2" indent="-342900">
              <a:buFont typeface="Arial" panose="020B0604020202020204" pitchFamily="34" charset="0"/>
              <a:buChar char="•"/>
            </a:pPr>
            <a:r>
              <a:rPr lang="en-US" b="1" dirty="0" err="1">
                <a:solidFill>
                  <a:schemeClr val="accent1"/>
                </a:solidFill>
                <a:latin typeface="Courier New" panose="02070309020205020404" pitchFamily="49" charset="0"/>
                <a:cs typeface="Courier New" panose="02070309020205020404" pitchFamily="49" charset="0"/>
              </a:rPr>
              <a:t>Kubectl</a:t>
            </a:r>
            <a:r>
              <a:rPr lang="en-US" b="1" dirty="0">
                <a:solidFill>
                  <a:schemeClr val="accent1"/>
                </a:solidFill>
                <a:latin typeface="Courier New" panose="02070309020205020404" pitchFamily="49" charset="0"/>
                <a:cs typeface="Courier New" panose="02070309020205020404" pitchFamily="49" charset="0"/>
              </a:rPr>
              <a:t> </a:t>
            </a:r>
            <a:r>
              <a:rPr lang="en-US" b="1" dirty="0" err="1">
                <a:solidFill>
                  <a:schemeClr val="accent1"/>
                </a:solidFill>
                <a:latin typeface="Courier New" panose="02070309020205020404" pitchFamily="49" charset="0"/>
                <a:cs typeface="Courier New" panose="02070309020205020404" pitchFamily="49" charset="0"/>
              </a:rPr>
              <a:t>api</a:t>
            </a:r>
            <a:r>
              <a:rPr lang="en-US" b="1" dirty="0">
                <a:solidFill>
                  <a:schemeClr val="accent1"/>
                </a:solidFill>
                <a:latin typeface="Courier New" panose="02070309020205020404" pitchFamily="49" charset="0"/>
                <a:cs typeface="Courier New" panose="02070309020205020404" pitchFamily="49" charset="0"/>
              </a:rPr>
              <a:t>-resources (lists all available resources and cluster scoped resources)</a:t>
            </a:r>
            <a:endParaRPr lang="en-US" dirty="0"/>
          </a:p>
        </p:txBody>
      </p:sp>
    </p:spTree>
    <p:extLst>
      <p:ext uri="{BB962C8B-B14F-4D97-AF65-F5344CB8AC3E}">
        <p14:creationId xmlns:p14="http://schemas.microsoft.com/office/powerpoint/2010/main" val="36487575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10" end="10"/>
                                            </p:txEl>
                                          </p:spTgt>
                                        </p:tgtEl>
                                        <p:attrNameLst>
                                          <p:attrName>style.visibility</p:attrName>
                                        </p:attrNameLst>
                                      </p:cBhvr>
                                      <p:to>
                                        <p:strVal val="visible"/>
                                      </p:to>
                                    </p:set>
                                    <p:animEffect transition="in" filter="fade">
                                      <p:cBhvr>
                                        <p:cTn id="4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7CED-23A0-A681-8A1C-97301539ED3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A11A2C-0F88-BF22-0723-9D2F3E2B2F0B}"/>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A9DF90F5-BC55-56B7-9102-C5C7BA54BA7F}"/>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34</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42C13637-134B-2CF3-60B7-07EC1BD36FBF}"/>
              </a:ext>
            </a:extLst>
          </p:cNvPr>
          <p:cNvSpPr>
            <a:spLocks noGrp="1"/>
          </p:cNvSpPr>
          <p:nvPr>
            <p:ph type="body" sz="quarter" idx="39"/>
          </p:nvPr>
        </p:nvSpPr>
        <p:spPr/>
        <p:txBody>
          <a:bodyPr/>
          <a:lstStyle/>
          <a:p>
            <a:r>
              <a:rPr lang="en-US" dirty="0"/>
              <a:t>Demo 3</a:t>
            </a:r>
          </a:p>
        </p:txBody>
      </p:sp>
      <p:sp>
        <p:nvSpPr>
          <p:cNvPr id="18" name="TextBox 17">
            <a:extLst>
              <a:ext uri="{FF2B5EF4-FFF2-40B4-BE49-F238E27FC236}">
                <a16:creationId xmlns:a16="http://schemas.microsoft.com/office/drawing/2014/main" id="{9E06C9C0-6E7F-4153-8C3E-5CE759FAAE64}"/>
              </a:ext>
            </a:extLst>
          </p:cNvPr>
          <p:cNvSpPr txBox="1"/>
          <p:nvPr/>
        </p:nvSpPr>
        <p:spPr>
          <a:xfrm>
            <a:off x="4845549" y="5063810"/>
            <a:ext cx="6615701" cy="615553"/>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Config maps Demo</a:t>
            </a:r>
          </a:p>
          <a:p>
            <a:pPr marL="342900" indent="-342900" algn="l">
              <a:buFont typeface="Arial" panose="020B0604020202020204" pitchFamily="34" charset="0"/>
              <a:buChar char="•"/>
            </a:pPr>
            <a:r>
              <a:rPr lang="en-US" sz="2000" dirty="0"/>
              <a:t>Secrets Demo</a:t>
            </a:r>
          </a:p>
        </p:txBody>
      </p:sp>
      <p:pic>
        <p:nvPicPr>
          <p:cNvPr id="1026" name="Picture 2">
            <a:extLst>
              <a:ext uri="{FF2B5EF4-FFF2-40B4-BE49-F238E27FC236}">
                <a16:creationId xmlns:a16="http://schemas.microsoft.com/office/drawing/2014/main" id="{2214F812-5730-647F-0080-12E3D6614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503" y="560832"/>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4188100"/>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B3D5-E0AD-4265-A7B4-7D96FFA8AF4A}"/>
              </a:ext>
            </a:extLst>
          </p:cNvPr>
          <p:cNvSpPr>
            <a:spLocks noGrp="1"/>
          </p:cNvSpPr>
          <p:nvPr>
            <p:ph type="title"/>
          </p:nvPr>
        </p:nvSpPr>
        <p:spPr/>
        <p:txBody>
          <a:bodyPr/>
          <a:lstStyle/>
          <a:p>
            <a:pPr algn="ctr"/>
            <a:r>
              <a:rPr lang="en-US" dirty="0"/>
              <a:t>Ephemeral Volumes</a:t>
            </a:r>
          </a:p>
        </p:txBody>
      </p:sp>
      <p:pic>
        <p:nvPicPr>
          <p:cNvPr id="5" name="Picture 2" descr="Icon&#10;&#10;Description automatically generated">
            <a:extLst>
              <a:ext uri="{FF2B5EF4-FFF2-40B4-BE49-F238E27FC236}">
                <a16:creationId xmlns:a16="http://schemas.microsoft.com/office/drawing/2014/main" id="{4D8A09AB-480C-4B60-AEC3-D48F9021D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076" y="2875574"/>
            <a:ext cx="2438400" cy="23622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E7CBA8F8-3A29-4833-AD8F-DA5180CACC0C}"/>
              </a:ext>
            </a:extLst>
          </p:cNvPr>
          <p:cNvSpPr txBox="1">
            <a:spLocks/>
          </p:cNvSpPr>
          <p:nvPr/>
        </p:nvSpPr>
        <p:spPr>
          <a:xfrm>
            <a:off x="4504465" y="232625"/>
            <a:ext cx="7216589" cy="3564721"/>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n-US" sz="2400" i="1" u="sng" dirty="0"/>
              <a:t>Ephemeral</a:t>
            </a:r>
            <a:r>
              <a:rPr lang="en-US" sz="2400" dirty="0"/>
              <a:t> volume types have a lifetime of a pod. Ephemeral volumes include:</a:t>
            </a:r>
          </a:p>
          <a:p>
            <a:pPr marL="342900" indent="-342900">
              <a:buFont typeface="Arial" panose="020B0604020202020204" pitchFamily="34" charset="0"/>
              <a:buChar char="•"/>
            </a:pPr>
            <a:r>
              <a:rPr lang="en-US" sz="2400" b="1" u="sng" dirty="0"/>
              <a:t>Empty Dir</a:t>
            </a:r>
            <a:r>
              <a:rPr lang="en-US" sz="2400" dirty="0"/>
              <a:t> – A temporary folder for all containers within a Pod to read/write to.  </a:t>
            </a:r>
          </a:p>
          <a:p>
            <a:pPr marL="342900" indent="-342900">
              <a:buFont typeface="Arial" panose="020B0604020202020204" pitchFamily="34" charset="0"/>
              <a:buChar char="•"/>
            </a:pPr>
            <a:endParaRPr lang="en-US" sz="2400" dirty="0"/>
          </a:p>
        </p:txBody>
      </p:sp>
      <p:pic>
        <p:nvPicPr>
          <p:cNvPr id="6" name="Picture 5" descr="Text&#10;&#10;Description automatically generated">
            <a:extLst>
              <a:ext uri="{FF2B5EF4-FFF2-40B4-BE49-F238E27FC236}">
                <a16:creationId xmlns:a16="http://schemas.microsoft.com/office/drawing/2014/main" id="{9E2AEC41-AE4C-48F7-B3D7-ACEEC445B790}"/>
              </a:ext>
            </a:extLst>
          </p:cNvPr>
          <p:cNvPicPr>
            <a:picLocks noChangeAspect="1"/>
          </p:cNvPicPr>
          <p:nvPr/>
        </p:nvPicPr>
        <p:blipFill>
          <a:blip r:embed="rId3"/>
          <a:stretch>
            <a:fillRect/>
          </a:stretch>
        </p:blipFill>
        <p:spPr>
          <a:xfrm>
            <a:off x="8368861" y="2014985"/>
            <a:ext cx="3581900" cy="3896269"/>
          </a:xfrm>
          <a:prstGeom prst="rect">
            <a:avLst/>
          </a:prstGeom>
        </p:spPr>
      </p:pic>
      <p:sp>
        <p:nvSpPr>
          <p:cNvPr id="7" name="Content Placeholder 2">
            <a:extLst>
              <a:ext uri="{FF2B5EF4-FFF2-40B4-BE49-F238E27FC236}">
                <a16:creationId xmlns:a16="http://schemas.microsoft.com/office/drawing/2014/main" id="{F12A6FB7-8C66-49DF-939F-235C4BBC75CF}"/>
              </a:ext>
            </a:extLst>
          </p:cNvPr>
          <p:cNvSpPr txBox="1">
            <a:spLocks/>
          </p:cNvSpPr>
          <p:nvPr/>
        </p:nvSpPr>
        <p:spPr>
          <a:xfrm>
            <a:off x="4274758" y="1878355"/>
            <a:ext cx="3765656" cy="3564721"/>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0" lvl="1" indent="-342900">
              <a:buFont typeface="Arial" panose="020B0604020202020204" pitchFamily="34" charset="0"/>
              <a:buChar char="•"/>
            </a:pPr>
            <a:r>
              <a:rPr lang="en-US" sz="2400" b="1" u="sng" dirty="0"/>
              <a:t>Host Path</a:t>
            </a:r>
            <a:r>
              <a:rPr lang="en-US" sz="2400" dirty="0"/>
              <a:t> – Mounts a file or directory from the host node's filesystem into your Pod. Not practical in a multi-node cluster.</a:t>
            </a:r>
            <a:endParaRPr lang="en-US" sz="2400" b="1" u="sng" dirty="0"/>
          </a:p>
          <a:p>
            <a:pPr marL="571500" lvl="1" indent="-342900">
              <a:buFont typeface="Arial" panose="020B0604020202020204" pitchFamily="34" charset="0"/>
              <a:buChar char="•"/>
            </a:pPr>
            <a:r>
              <a:rPr lang="en-US" sz="2400" b="1" u="sng" dirty="0"/>
              <a:t>Config Map/Secret</a:t>
            </a:r>
            <a:r>
              <a:rPr lang="en-US" sz="2400" dirty="0"/>
              <a:t> – A Read-only folder that provides a way to inject configuration data into pods.  </a:t>
            </a:r>
          </a:p>
        </p:txBody>
      </p:sp>
    </p:spTree>
    <p:extLst>
      <p:ext uri="{BB962C8B-B14F-4D97-AF65-F5344CB8AC3E}">
        <p14:creationId xmlns:p14="http://schemas.microsoft.com/office/powerpoint/2010/main" val="11062999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5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fade">
                                      <p:cBhvr>
                                        <p:cTn id="2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B3D5-E0AD-4265-A7B4-7D96FFA8AF4A}"/>
              </a:ext>
            </a:extLst>
          </p:cNvPr>
          <p:cNvSpPr>
            <a:spLocks noGrp="1"/>
          </p:cNvSpPr>
          <p:nvPr>
            <p:ph type="title"/>
          </p:nvPr>
        </p:nvSpPr>
        <p:spPr/>
        <p:txBody>
          <a:bodyPr/>
          <a:lstStyle/>
          <a:p>
            <a:pPr algn="ctr"/>
            <a:r>
              <a:rPr lang="en-US" dirty="0"/>
              <a:t>Persistent Volumes</a:t>
            </a:r>
          </a:p>
        </p:txBody>
      </p:sp>
      <p:pic>
        <p:nvPicPr>
          <p:cNvPr id="5" name="Picture 2" descr="Icon&#10;&#10;Description automatically generated">
            <a:extLst>
              <a:ext uri="{FF2B5EF4-FFF2-40B4-BE49-F238E27FC236}">
                <a16:creationId xmlns:a16="http://schemas.microsoft.com/office/drawing/2014/main" id="{4D8A09AB-480C-4B60-AEC3-D48F9021D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076" y="2784134"/>
            <a:ext cx="2438400" cy="23622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E7CBA8F8-3A29-4833-AD8F-DA5180CACC0C}"/>
              </a:ext>
            </a:extLst>
          </p:cNvPr>
          <p:cNvSpPr txBox="1">
            <a:spLocks/>
          </p:cNvSpPr>
          <p:nvPr/>
        </p:nvSpPr>
        <p:spPr>
          <a:xfrm>
            <a:off x="4476787" y="285919"/>
            <a:ext cx="7216589" cy="87561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n-US" sz="2400" i="1" u="sng" dirty="0"/>
              <a:t>Persistent</a:t>
            </a:r>
            <a:r>
              <a:rPr lang="en-US" sz="2400" dirty="0"/>
              <a:t> volumes exist beyond the lifetime of a pod. Persistent volumes include: </a:t>
            </a:r>
            <a:endParaRPr lang="en-US" dirty="0"/>
          </a:p>
        </p:txBody>
      </p:sp>
      <p:sp>
        <p:nvSpPr>
          <p:cNvPr id="8" name="Content Placeholder 2">
            <a:extLst>
              <a:ext uri="{FF2B5EF4-FFF2-40B4-BE49-F238E27FC236}">
                <a16:creationId xmlns:a16="http://schemas.microsoft.com/office/drawing/2014/main" id="{6031E718-7732-4157-9FAF-E54595E4D1CF}"/>
              </a:ext>
            </a:extLst>
          </p:cNvPr>
          <p:cNvSpPr txBox="1">
            <a:spLocks/>
          </p:cNvSpPr>
          <p:nvPr/>
        </p:nvSpPr>
        <p:spPr>
          <a:xfrm>
            <a:off x="4242930" y="1161534"/>
            <a:ext cx="7450445" cy="569646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0" lvl="1" indent="-342900">
              <a:buFont typeface="Arial" panose="020B0604020202020204" pitchFamily="34" charset="0"/>
              <a:buChar char="•"/>
            </a:pPr>
            <a:r>
              <a:rPr lang="en-US" sz="2400" b="1" u="sng" dirty="0"/>
              <a:t>Persistent Volume Claim</a:t>
            </a:r>
            <a:r>
              <a:rPr lang="en-US" sz="2400" dirty="0"/>
              <a:t> - A way for users to "claim" durable storage without knowing the details of the cloud environment.</a:t>
            </a:r>
          </a:p>
          <a:p>
            <a:pPr marL="571500" lvl="1" indent="-342900">
              <a:buFont typeface="Arial" panose="020B0604020202020204" pitchFamily="34" charset="0"/>
              <a:buChar char="•"/>
            </a:pPr>
            <a:r>
              <a:rPr lang="en-US" sz="2400" dirty="0"/>
              <a:t>A </a:t>
            </a:r>
            <a:r>
              <a:rPr lang="en-US" sz="2400" b="1" u="sng" dirty="0" err="1"/>
              <a:t>PersistentVolume</a:t>
            </a:r>
            <a:r>
              <a:rPr lang="en-US" sz="2400" dirty="0"/>
              <a:t> (PV) resource is a piece of storage in the cluster that has been provisioned by an administrator or dynamically provisioned using </a:t>
            </a:r>
            <a:r>
              <a:rPr lang="en-US" sz="2400" b="1" u="sng" dirty="0"/>
              <a:t>Storage Classes</a:t>
            </a:r>
          </a:p>
          <a:p>
            <a:pPr marL="342900" indent="-342900">
              <a:spcAft>
                <a:spcPts val="1200"/>
              </a:spcAft>
              <a:buFont typeface="Arial" panose="020B0604020202020204" pitchFamily="34" charset="0"/>
              <a:buChar char="•"/>
            </a:pPr>
            <a:r>
              <a:rPr lang="en-US" sz="2400" dirty="0"/>
              <a:t>There are two ways PVs may be provisioned:</a:t>
            </a:r>
          </a:p>
          <a:p>
            <a:pPr marL="800100" lvl="1" indent="-342900">
              <a:buFont typeface="Arial" panose="020B0604020202020204" pitchFamily="34" charset="0"/>
              <a:buChar char="•"/>
            </a:pPr>
            <a:r>
              <a:rPr lang="en-US" b="1" u="sng" dirty="0"/>
              <a:t>Statically</a:t>
            </a:r>
            <a:r>
              <a:rPr lang="en-US" dirty="0"/>
              <a:t> - A cluster administrator creates multiple PVs that carry the details of the real storage, which is available for use by cluster users.</a:t>
            </a:r>
          </a:p>
          <a:p>
            <a:pPr marL="800100" lvl="1" indent="-342900">
              <a:buFont typeface="Arial" panose="020B0604020202020204" pitchFamily="34" charset="0"/>
              <a:buChar char="•"/>
            </a:pPr>
            <a:r>
              <a:rPr lang="en-US" b="1" u="sng" dirty="0"/>
              <a:t>Dynamically</a:t>
            </a:r>
            <a:r>
              <a:rPr lang="en-US" dirty="0"/>
              <a:t> - When none of the available static PVs match a user's Persistent Volume Claim, the cluster will try to dynamically provision a volume specially for the PVC, based on a specified Storage Classes.</a:t>
            </a:r>
          </a:p>
          <a:p>
            <a:pPr marL="571500" lvl="1" indent="-342900">
              <a:buFont typeface="Arial" panose="020B0604020202020204" pitchFamily="34" charset="0"/>
              <a:buChar char="•"/>
            </a:pPr>
            <a:endParaRPr lang="en-US" sz="2400" dirty="0"/>
          </a:p>
          <a:p>
            <a:pPr marL="571500" lvl="1"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1613830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dirty="0"/>
              <a:t>Static Persistent Volume Claims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418820" y="1528010"/>
            <a:ext cx="11186440" cy="4918269"/>
          </a:xfrm>
        </p:spPr>
        <p:txBody>
          <a:bodyPr/>
          <a:lstStyle/>
          <a:p>
            <a:pPr marL="342900" indent="-342900">
              <a:buFont typeface="Arial" panose="020B0604020202020204" pitchFamily="34" charset="0"/>
              <a:buChar char="•"/>
            </a:pPr>
            <a:r>
              <a:rPr lang="en-US" dirty="0"/>
              <a:t>Once a </a:t>
            </a:r>
            <a:r>
              <a:rPr lang="en-US" b="1" u="sng" dirty="0" err="1"/>
              <a:t>PersistentVolume</a:t>
            </a:r>
            <a:r>
              <a:rPr lang="en-US" dirty="0"/>
              <a:t> has been created, it can be claimed by a </a:t>
            </a:r>
            <a:r>
              <a:rPr lang="en-US" b="1" u="sng" dirty="0" err="1"/>
              <a:t>PersistentVolumeClaim</a:t>
            </a:r>
            <a:r>
              <a:rPr lang="en-US" b="1" i="1" dirty="0"/>
              <a:t>. </a:t>
            </a:r>
            <a:r>
              <a:rPr lang="en-US" dirty="0"/>
              <a:t>The PVC can then be mounted as a volume in the Pod.</a:t>
            </a:r>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r>
              <a:rPr lang="en-US" dirty="0"/>
              <a:t>This is an example of a </a:t>
            </a:r>
            <a:r>
              <a:rPr lang="en-US" i="1" u="sng" dirty="0"/>
              <a:t>Statically</a:t>
            </a:r>
            <a:r>
              <a:rPr lang="en-US" dirty="0"/>
              <a:t> provisioned </a:t>
            </a:r>
            <a:r>
              <a:rPr lang="en-US" b="1" u="sng" dirty="0" err="1"/>
              <a:t>PersistentVolumeClaim</a:t>
            </a:r>
            <a:r>
              <a:rPr lang="en-US" dirty="0"/>
              <a:t>.</a:t>
            </a:r>
          </a:p>
        </p:txBody>
      </p:sp>
      <p:pic>
        <p:nvPicPr>
          <p:cNvPr id="11" name="Picture 10" descr="Text&#10;&#10;Description automatically generated">
            <a:extLst>
              <a:ext uri="{FF2B5EF4-FFF2-40B4-BE49-F238E27FC236}">
                <a16:creationId xmlns:a16="http://schemas.microsoft.com/office/drawing/2014/main" id="{7A7EC643-F4E2-4DD4-91EC-D0D953902F5B}"/>
              </a:ext>
            </a:extLst>
          </p:cNvPr>
          <p:cNvPicPr>
            <a:picLocks noChangeAspect="1"/>
          </p:cNvPicPr>
          <p:nvPr/>
        </p:nvPicPr>
        <p:blipFill>
          <a:blip r:embed="rId2"/>
          <a:stretch>
            <a:fillRect/>
          </a:stretch>
        </p:blipFill>
        <p:spPr>
          <a:xfrm>
            <a:off x="4553238" y="2445411"/>
            <a:ext cx="2805349" cy="3353414"/>
          </a:xfrm>
          <a:prstGeom prst="rect">
            <a:avLst/>
          </a:prstGeom>
        </p:spPr>
      </p:pic>
      <p:pic>
        <p:nvPicPr>
          <p:cNvPr id="13" name="Picture 12" descr="Text&#10;&#10;Description automatically generated">
            <a:extLst>
              <a:ext uri="{FF2B5EF4-FFF2-40B4-BE49-F238E27FC236}">
                <a16:creationId xmlns:a16="http://schemas.microsoft.com/office/drawing/2014/main" id="{D6FEC2D6-696D-411B-921D-EAD26A0BA718}"/>
              </a:ext>
            </a:extLst>
          </p:cNvPr>
          <p:cNvPicPr>
            <a:picLocks noChangeAspect="1"/>
          </p:cNvPicPr>
          <p:nvPr/>
        </p:nvPicPr>
        <p:blipFill>
          <a:blip r:embed="rId3"/>
          <a:stretch>
            <a:fillRect/>
          </a:stretch>
        </p:blipFill>
        <p:spPr>
          <a:xfrm>
            <a:off x="7874107" y="2445411"/>
            <a:ext cx="3781953" cy="2734057"/>
          </a:xfrm>
          <a:prstGeom prst="rect">
            <a:avLst/>
          </a:prstGeom>
        </p:spPr>
      </p:pic>
      <p:pic>
        <p:nvPicPr>
          <p:cNvPr id="15" name="Picture 14" descr="Text&#10;&#10;Description automatically generated">
            <a:extLst>
              <a:ext uri="{FF2B5EF4-FFF2-40B4-BE49-F238E27FC236}">
                <a16:creationId xmlns:a16="http://schemas.microsoft.com/office/drawing/2014/main" id="{F3942E97-7103-4255-9311-CBFFEBEA973B}"/>
              </a:ext>
            </a:extLst>
          </p:cNvPr>
          <p:cNvPicPr>
            <a:picLocks noChangeAspect="1"/>
          </p:cNvPicPr>
          <p:nvPr/>
        </p:nvPicPr>
        <p:blipFill>
          <a:blip r:embed="rId4"/>
          <a:stretch>
            <a:fillRect/>
          </a:stretch>
        </p:blipFill>
        <p:spPr>
          <a:xfrm>
            <a:off x="525780" y="2445412"/>
            <a:ext cx="3511939" cy="3353414"/>
          </a:xfrm>
          <a:prstGeom prst="rect">
            <a:avLst/>
          </a:prstGeom>
        </p:spPr>
      </p:pic>
      <p:sp>
        <p:nvSpPr>
          <p:cNvPr id="16" name="Arrow: Right 15">
            <a:extLst>
              <a:ext uri="{FF2B5EF4-FFF2-40B4-BE49-F238E27FC236}">
                <a16:creationId xmlns:a16="http://schemas.microsoft.com/office/drawing/2014/main" id="{04BDA3D0-DAFE-4883-A4A9-F24B8015BB68}"/>
              </a:ext>
            </a:extLst>
          </p:cNvPr>
          <p:cNvSpPr/>
          <p:nvPr/>
        </p:nvSpPr>
        <p:spPr bwMode="auto">
          <a:xfrm>
            <a:off x="4114369" y="3831439"/>
            <a:ext cx="388069" cy="311409"/>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17" name="Arrow: Right 16">
            <a:extLst>
              <a:ext uri="{FF2B5EF4-FFF2-40B4-BE49-F238E27FC236}">
                <a16:creationId xmlns:a16="http://schemas.microsoft.com/office/drawing/2014/main" id="{DC37F6D6-9EF5-4F50-A64A-1F996EA76A50}"/>
              </a:ext>
            </a:extLst>
          </p:cNvPr>
          <p:cNvSpPr/>
          <p:nvPr/>
        </p:nvSpPr>
        <p:spPr bwMode="auto">
          <a:xfrm>
            <a:off x="7435238" y="3793933"/>
            <a:ext cx="388069" cy="311409"/>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0799938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40" y="347349"/>
            <a:ext cx="11018520" cy="553998"/>
          </a:xfrm>
        </p:spPr>
        <p:txBody>
          <a:bodyPr/>
          <a:lstStyle/>
          <a:p>
            <a:r>
              <a:rPr lang="en-US" dirty="0"/>
              <a:t>Dynamic Persistent Volume Claims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418820" y="1528010"/>
            <a:ext cx="11186440" cy="5109091"/>
          </a:xfrm>
        </p:spPr>
        <p:txBody>
          <a:bodyPr/>
          <a:lstStyle/>
          <a:p>
            <a:pPr marL="342900" indent="-342900">
              <a:buFont typeface="Arial" panose="020B0604020202020204" pitchFamily="34" charset="0"/>
              <a:buChar char="•"/>
            </a:pPr>
            <a:r>
              <a:rPr lang="en-US" dirty="0"/>
              <a:t>A </a:t>
            </a:r>
            <a:r>
              <a:rPr lang="en-US" b="1" u="sng" dirty="0" err="1"/>
              <a:t>PersistentVolumeClaim</a:t>
            </a:r>
            <a:r>
              <a:rPr lang="en-US" dirty="0"/>
              <a:t> can also be</a:t>
            </a:r>
            <a:r>
              <a:rPr lang="en-US" b="1" i="1" dirty="0"/>
              <a:t> </a:t>
            </a:r>
            <a:r>
              <a:rPr lang="en-US" dirty="0"/>
              <a:t>provisioned dynamically by specifying the </a:t>
            </a:r>
            <a:r>
              <a:rPr lang="en-US" b="1" u="sng" dirty="0" err="1"/>
              <a:t>StorageClass</a:t>
            </a:r>
            <a:r>
              <a:rPr lang="en-US" dirty="0"/>
              <a:t> (wrapper around driver) to use when creating the PVC.</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endParaRPr lang="en-US" i="1" dirty="0"/>
          </a:p>
          <a:p>
            <a:pPr marL="342900" indent="-342900">
              <a:buFont typeface="Arial" panose="020B0604020202020204" pitchFamily="34" charset="0"/>
              <a:buChar char="•"/>
            </a:pPr>
            <a:endParaRPr lang="en-US" sz="1600" i="1" dirty="0"/>
          </a:p>
          <a:p>
            <a:pPr marL="342900" indent="-342900">
              <a:spcBef>
                <a:spcPts val="0"/>
              </a:spcBef>
              <a:spcAft>
                <a:spcPts val="0"/>
              </a:spcAft>
              <a:buFont typeface="Arial" panose="020B0604020202020204" pitchFamily="34" charset="0"/>
              <a:buChar char="•"/>
            </a:pPr>
            <a:r>
              <a:rPr lang="en-US" sz="2000" dirty="0"/>
              <a:t>A storage account is automatically created in the </a:t>
            </a:r>
            <a:r>
              <a:rPr lang="en-US" sz="2000" i="1" u="sng" dirty="0"/>
              <a:t>infrastructure resource group</a:t>
            </a:r>
            <a:r>
              <a:rPr lang="en-US" sz="2000" dirty="0"/>
              <a:t> for use with the storage class to hold the Azure file shares.</a:t>
            </a:r>
          </a:p>
          <a:p>
            <a:pPr marL="342900" indent="-342900">
              <a:spcBef>
                <a:spcPts val="600"/>
              </a:spcBef>
              <a:spcAft>
                <a:spcPts val="0"/>
              </a:spcAft>
              <a:buFont typeface="Arial" panose="020B0604020202020204" pitchFamily="34" charset="0"/>
              <a:buChar char="•"/>
            </a:pPr>
            <a:r>
              <a:rPr lang="en-US" sz="2000" b="1" u="sng" dirty="0"/>
              <a:t>NOTE:</a:t>
            </a:r>
            <a:r>
              <a:rPr lang="en-US" sz="2000" dirty="0"/>
              <a:t> If the cluster is deleted (like cattle), all the resources in the </a:t>
            </a:r>
            <a:r>
              <a:rPr lang="en-US" sz="2000" i="1" u="sng" dirty="0"/>
              <a:t>infrastructure resource group</a:t>
            </a:r>
            <a:r>
              <a:rPr lang="en-US" sz="2000" dirty="0"/>
              <a:t>, including dynamically provisioned file shares and disks, will also be deleted.</a:t>
            </a:r>
          </a:p>
        </p:txBody>
      </p:sp>
      <p:pic>
        <p:nvPicPr>
          <p:cNvPr id="13" name="Picture 12" descr="Text&#10;&#10;Description automatically generated">
            <a:extLst>
              <a:ext uri="{FF2B5EF4-FFF2-40B4-BE49-F238E27FC236}">
                <a16:creationId xmlns:a16="http://schemas.microsoft.com/office/drawing/2014/main" id="{D6FEC2D6-696D-411B-921D-EAD26A0BA718}"/>
              </a:ext>
            </a:extLst>
          </p:cNvPr>
          <p:cNvPicPr>
            <a:picLocks noChangeAspect="1"/>
          </p:cNvPicPr>
          <p:nvPr/>
        </p:nvPicPr>
        <p:blipFill>
          <a:blip r:embed="rId2"/>
          <a:stretch>
            <a:fillRect/>
          </a:stretch>
        </p:blipFill>
        <p:spPr>
          <a:xfrm>
            <a:off x="6543147" y="2488035"/>
            <a:ext cx="3540289" cy="2559353"/>
          </a:xfrm>
          <a:prstGeom prst="rect">
            <a:avLst/>
          </a:prstGeom>
        </p:spPr>
      </p:pic>
      <p:pic>
        <p:nvPicPr>
          <p:cNvPr id="6" name="Picture 5" descr="Text&#10;&#10;Description automatically generated">
            <a:extLst>
              <a:ext uri="{FF2B5EF4-FFF2-40B4-BE49-F238E27FC236}">
                <a16:creationId xmlns:a16="http://schemas.microsoft.com/office/drawing/2014/main" id="{549BB728-3171-4F03-BB38-70DF1493F540}"/>
              </a:ext>
            </a:extLst>
          </p:cNvPr>
          <p:cNvPicPr>
            <a:picLocks noChangeAspect="1"/>
          </p:cNvPicPr>
          <p:nvPr/>
        </p:nvPicPr>
        <p:blipFill>
          <a:blip r:embed="rId3"/>
          <a:stretch>
            <a:fillRect/>
          </a:stretch>
        </p:blipFill>
        <p:spPr>
          <a:xfrm>
            <a:off x="2220621" y="2484805"/>
            <a:ext cx="3600953" cy="2562583"/>
          </a:xfrm>
          <a:prstGeom prst="rect">
            <a:avLst/>
          </a:prstGeom>
        </p:spPr>
      </p:pic>
      <p:sp>
        <p:nvSpPr>
          <p:cNvPr id="9" name="Arrow: Right 8">
            <a:extLst>
              <a:ext uri="{FF2B5EF4-FFF2-40B4-BE49-F238E27FC236}">
                <a16:creationId xmlns:a16="http://schemas.microsoft.com/office/drawing/2014/main" id="{E1E50D35-5021-472F-B6DA-993B0635A4C6}"/>
              </a:ext>
            </a:extLst>
          </p:cNvPr>
          <p:cNvSpPr/>
          <p:nvPr/>
        </p:nvSpPr>
        <p:spPr bwMode="auto">
          <a:xfrm>
            <a:off x="6012040" y="3610391"/>
            <a:ext cx="388069" cy="311409"/>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78855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2C9DF055-A069-48D5-AEB1-9BDA99DE91EF}"/>
              </a:ext>
            </a:extLst>
          </p:cNvPr>
          <p:cNvSpPr/>
          <p:nvPr/>
        </p:nvSpPr>
        <p:spPr bwMode="auto">
          <a:xfrm>
            <a:off x="1674620" y="2309178"/>
            <a:ext cx="2294044" cy="3881413"/>
          </a:xfrm>
          <a:prstGeom prst="roundRect">
            <a:avLst>
              <a:gd name="adj" fmla="val 3125"/>
            </a:avLst>
          </a:prstGeom>
          <a:solidFill>
            <a:srgbClr val="CCFFFF"/>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22" name="Rectangle: Rounded Corners 21">
            <a:extLst>
              <a:ext uri="{FF2B5EF4-FFF2-40B4-BE49-F238E27FC236}">
                <a16:creationId xmlns:a16="http://schemas.microsoft.com/office/drawing/2014/main" id="{ABB574DF-CD57-4A7E-A393-6D56BF99ACC0}"/>
              </a:ext>
            </a:extLst>
          </p:cNvPr>
          <p:cNvSpPr/>
          <p:nvPr/>
        </p:nvSpPr>
        <p:spPr bwMode="auto">
          <a:xfrm>
            <a:off x="4787430" y="2309178"/>
            <a:ext cx="6540970" cy="3881415"/>
          </a:xfrm>
          <a:prstGeom prst="roundRect">
            <a:avLst>
              <a:gd name="adj" fmla="val 3125"/>
            </a:avLst>
          </a:prstGeom>
          <a:solidFill>
            <a:schemeClr val="bg1">
              <a:lumMod val="95000"/>
            </a:schemeClr>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dirty="0">
              <a:ln>
                <a:noFill/>
              </a:ln>
              <a:solidFill>
                <a:srgbClr val="505050"/>
              </a:solidFill>
              <a:effectLst/>
              <a:uLnTx/>
              <a:uFillTx/>
              <a:latin typeface="Segoe UI"/>
              <a:ea typeface="+mn-ea"/>
              <a:cs typeface="Segoe UI" pitchFamily="34" charset="0"/>
            </a:endParaRPr>
          </a:p>
        </p:txBody>
      </p:sp>
      <p:sp>
        <p:nvSpPr>
          <p:cNvPr id="27" name="Rectangle: Rounded Corners 26">
            <a:extLst>
              <a:ext uri="{FF2B5EF4-FFF2-40B4-BE49-F238E27FC236}">
                <a16:creationId xmlns:a16="http://schemas.microsoft.com/office/drawing/2014/main" id="{AF62BA7B-A560-4F79-B5F8-2D0CC087D378}"/>
              </a:ext>
            </a:extLst>
          </p:cNvPr>
          <p:cNvSpPr/>
          <p:nvPr/>
        </p:nvSpPr>
        <p:spPr bwMode="auto">
          <a:xfrm>
            <a:off x="6053348" y="2862333"/>
            <a:ext cx="5031212" cy="3090041"/>
          </a:xfrm>
          <a:prstGeom prst="roundRect">
            <a:avLst>
              <a:gd name="adj" fmla="val 3125"/>
            </a:avLst>
          </a:prstGeom>
          <a:solidFill>
            <a:srgbClr val="FFCC99"/>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25" name="Rectangle: Rounded Corners 24">
            <a:extLst>
              <a:ext uri="{FF2B5EF4-FFF2-40B4-BE49-F238E27FC236}">
                <a16:creationId xmlns:a16="http://schemas.microsoft.com/office/drawing/2014/main" id="{58F6B00D-CA6D-4A1B-9BD2-F6E9B451F18C}"/>
              </a:ext>
            </a:extLst>
          </p:cNvPr>
          <p:cNvSpPr/>
          <p:nvPr/>
        </p:nvSpPr>
        <p:spPr bwMode="auto">
          <a:xfrm>
            <a:off x="7990209" y="3200110"/>
            <a:ext cx="2876265" cy="2538537"/>
          </a:xfrm>
          <a:prstGeom prst="roundRect">
            <a:avLst>
              <a:gd name="adj" fmla="val 3125"/>
            </a:avLst>
          </a:prstGeom>
          <a:solidFill>
            <a:schemeClr val="accent3">
              <a:lumMod val="20000"/>
              <a:lumOff val="80000"/>
            </a:schemeClr>
          </a:solidFill>
          <a:ln w="12700">
            <a:solidFill>
              <a:srgbClr val="000000"/>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en-US" sz="1176" b="0" i="0" u="none" strike="noStrike" kern="1200" cap="none" spc="0" normalizeH="0" baseline="0" noProof="0">
              <a:ln>
                <a:noFill/>
              </a:ln>
              <a:solidFill>
                <a:srgbClr val="505050"/>
              </a:solidFill>
              <a:effectLst/>
              <a:uLnTx/>
              <a:uFillTx/>
              <a:latin typeface="Segoe UI"/>
              <a:ea typeface="+mn-ea"/>
              <a:cs typeface="Segoe UI" pitchFamily="34" charset="0"/>
            </a:endParaRPr>
          </a:p>
        </p:txBody>
      </p:sp>
      <p:sp>
        <p:nvSpPr>
          <p:cNvPr id="26" name="Title 1">
            <a:extLst>
              <a:ext uri="{FF2B5EF4-FFF2-40B4-BE49-F238E27FC236}">
                <a16:creationId xmlns:a16="http://schemas.microsoft.com/office/drawing/2014/main" id="{437E37AA-4F4B-4EDD-AE38-A83AF848345E}"/>
              </a:ext>
            </a:extLst>
          </p:cNvPr>
          <p:cNvSpPr txBox="1">
            <a:spLocks/>
          </p:cNvSpPr>
          <p:nvPr/>
        </p:nvSpPr>
        <p:spPr>
          <a:xfrm>
            <a:off x="8161994" y="3283015"/>
            <a:ext cx="85756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Node</a:t>
            </a:r>
          </a:p>
        </p:txBody>
      </p:sp>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dirty="0"/>
              <a:t>Overview of Kubernetes Volumes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586422" y="1528010"/>
            <a:ext cx="11018838" cy="369332"/>
          </a:xfrm>
        </p:spPr>
        <p:txBody>
          <a:bodyPr/>
          <a:lstStyle/>
          <a:p>
            <a:r>
              <a:rPr lang="en-US" dirty="0"/>
              <a:t>Kubernetes offers many flexible options for mounting volumes into Pods.</a:t>
            </a:r>
          </a:p>
        </p:txBody>
      </p:sp>
      <p:sp>
        <p:nvSpPr>
          <p:cNvPr id="4" name="Rectangle: Rounded Corners 3">
            <a:extLst>
              <a:ext uri="{FF2B5EF4-FFF2-40B4-BE49-F238E27FC236}">
                <a16:creationId xmlns:a16="http://schemas.microsoft.com/office/drawing/2014/main" id="{72FAE200-E7AA-4672-A13E-11957AC8FF9D}"/>
              </a:ext>
            </a:extLst>
          </p:cNvPr>
          <p:cNvSpPr/>
          <p:nvPr/>
        </p:nvSpPr>
        <p:spPr bwMode="auto">
          <a:xfrm>
            <a:off x="8345197" y="3531744"/>
            <a:ext cx="1245843" cy="1859280"/>
          </a:xfrm>
          <a:prstGeom prst="roundRect">
            <a:avLst>
              <a:gd name="adj" fmla="val 3125"/>
            </a:avLst>
          </a:prstGeom>
          <a:solidFill>
            <a:srgbClr val="326CE5"/>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505050"/>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431815CE-95B1-462F-A6AF-2E39948E8F03}"/>
              </a:ext>
            </a:extLst>
          </p:cNvPr>
          <p:cNvSpPr/>
          <p:nvPr/>
        </p:nvSpPr>
        <p:spPr bwMode="auto">
          <a:xfrm>
            <a:off x="8515165" y="4022795"/>
            <a:ext cx="892996" cy="234846"/>
          </a:xfrm>
          <a:prstGeom prst="roundRect">
            <a:avLst>
              <a:gd name="adj" fmla="val 0"/>
            </a:avLst>
          </a:prstGeom>
          <a:solidFill>
            <a:srgbClr val="E6E6E6"/>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742" rtl="0" eaLnBrk="1" fontAlgn="auto" latinLnBrk="0" hangingPunct="1">
              <a:lnSpc>
                <a:spcPct val="100000"/>
              </a:lnSpc>
              <a:spcBef>
                <a:spcPct val="0"/>
              </a:spcBef>
              <a:spcAft>
                <a:spcPts val="0"/>
              </a:spcAft>
              <a:buClrTx/>
              <a:buSzTx/>
              <a:buFontTx/>
              <a:buNone/>
              <a:tabLst/>
              <a:defRPr/>
            </a:pPr>
            <a:r>
              <a:rPr lang="en-US" sz="900" b="1" dirty="0">
                <a:ln w="3175">
                  <a:noFill/>
                </a:ln>
                <a:solidFill>
                  <a:srgbClr val="3C3C41"/>
                </a:solidFill>
                <a:latin typeface="Segoe UI Semibold" panose="020B0702040204020203" pitchFamily="34" charset="0"/>
                <a:cs typeface="Segoe UI Semibold" panose="020B0702040204020203" pitchFamily="34" charset="0"/>
              </a:rPr>
              <a:t>Volumes</a:t>
            </a:r>
            <a:endParaRPr kumimoji="0" lang="en-US" sz="900" b="1" i="0" u="none" strike="noStrike" kern="1200" cap="none" spc="0" normalizeH="0" baseline="0" noProof="0" dirty="0">
              <a:ln w="3175">
                <a:noFill/>
              </a:ln>
              <a:solidFill>
                <a:srgbClr val="3C3C41"/>
              </a:solidFill>
              <a:effectLst/>
              <a:uLnTx/>
              <a:uFillTx/>
              <a:latin typeface="Segoe UI Semibold" panose="020B0702040204020203" pitchFamily="34" charset="0"/>
              <a:cs typeface="Segoe UI Semibold" panose="020B0702040204020203" pitchFamily="34" charset="0"/>
            </a:endParaRPr>
          </a:p>
        </p:txBody>
      </p:sp>
      <p:sp>
        <p:nvSpPr>
          <p:cNvPr id="7" name="Rectangle: Rounded Corners 6">
            <a:extLst>
              <a:ext uri="{FF2B5EF4-FFF2-40B4-BE49-F238E27FC236}">
                <a16:creationId xmlns:a16="http://schemas.microsoft.com/office/drawing/2014/main" id="{E7E87380-68D8-4B1A-9D85-C60E1AE69B89}"/>
              </a:ext>
            </a:extLst>
          </p:cNvPr>
          <p:cNvSpPr/>
          <p:nvPr/>
        </p:nvSpPr>
        <p:spPr bwMode="auto">
          <a:xfrm>
            <a:off x="8562937" y="4624572"/>
            <a:ext cx="797449" cy="582684"/>
          </a:xfrm>
          <a:prstGeom prst="roundRect">
            <a:avLst>
              <a:gd name="adj" fmla="val 3125"/>
            </a:avLst>
          </a:prstGeom>
          <a:solidFill>
            <a:srgbClr val="9BF00B"/>
          </a:solidFill>
          <a:ln w="12700" cap="flat" cmpd="sng" algn="ctr">
            <a:solidFill>
              <a:schemeClr val="tx1"/>
            </a:solidFill>
            <a:prstDash val="solid"/>
            <a:headEnd type="none" w="med" len="med"/>
            <a:tailEnd type="none" w="med" len="med"/>
          </a:ln>
          <a:effectLst/>
        </p:spPr>
        <p:txBody>
          <a:bodyPr rot="0" spcFirstLastPara="0" vertOverflow="overflow" horzOverflow="overflow" vert="horz" wrap="square" lIns="45720" tIns="146304" rIns="45720" bIns="146304" numCol="1" spcCol="0" rtlCol="0" fromWordArt="0" anchor="ctr" anchorCtr="0" forceAA="0" compatLnSpc="1">
            <a:prstTxWarp prst="textNoShape">
              <a:avLst/>
            </a:prstTxWarp>
            <a:noAutofit/>
          </a:bodyPr>
          <a:lstStyle/>
          <a:p>
            <a:pPr marL="0" marR="0" lvl="0" indent="0" algn="ctr" defTabSz="932742" rtl="0" eaLnBrk="1" fontAlgn="base" latinLnBrk="0" hangingPunct="1">
              <a:lnSpc>
                <a:spcPct val="90000"/>
              </a:lnSpc>
              <a:spcBef>
                <a:spcPct val="0"/>
              </a:spcBef>
              <a:spcAft>
                <a:spcPct val="0"/>
              </a:spcAft>
              <a:buClrTx/>
              <a:buSzTx/>
              <a:buFontTx/>
              <a:buNone/>
              <a:tabLst/>
              <a:defRPr/>
            </a:pPr>
            <a:r>
              <a:rPr kumimoji="0" lang="en-US" sz="800" b="0" i="0" u="none" strike="noStrike" kern="1200" cap="none" spc="0" normalizeH="0" baseline="0" noProof="0" dirty="0">
                <a:ln w="3175">
                  <a:noFill/>
                </a:ln>
                <a:effectLst/>
                <a:uLnTx/>
                <a:uFillTx/>
                <a:latin typeface="Segoe UI Semibold" panose="020B0702040204020203" pitchFamily="34" charset="0"/>
                <a:ea typeface="+mn-ea"/>
                <a:cs typeface="Segoe UI Semibold" panose="020B0702040204020203" pitchFamily="34" charset="0"/>
              </a:rPr>
              <a:t>Containers</a:t>
            </a:r>
          </a:p>
        </p:txBody>
      </p:sp>
      <p:cxnSp>
        <p:nvCxnSpPr>
          <p:cNvPr id="9" name="Connector: Elbow 8">
            <a:extLst>
              <a:ext uri="{FF2B5EF4-FFF2-40B4-BE49-F238E27FC236}">
                <a16:creationId xmlns:a16="http://schemas.microsoft.com/office/drawing/2014/main" id="{2F593D96-2938-49F0-AA5C-CAE4C8C39745}"/>
              </a:ext>
            </a:extLst>
          </p:cNvPr>
          <p:cNvCxnSpPr>
            <a:cxnSpLocks/>
            <a:stCxn id="7" idx="0"/>
            <a:endCxn id="5" idx="2"/>
          </p:cNvCxnSpPr>
          <p:nvPr/>
        </p:nvCxnSpPr>
        <p:spPr>
          <a:xfrm rot="5400000" flipH="1" flipV="1">
            <a:off x="8778197" y="4441107"/>
            <a:ext cx="366931" cy="1"/>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4FA8122E-F437-4DDF-BA7D-28C2A1A0C2E1}"/>
              </a:ext>
            </a:extLst>
          </p:cNvPr>
          <p:cNvSpPr txBox="1">
            <a:spLocks/>
          </p:cNvSpPr>
          <p:nvPr/>
        </p:nvSpPr>
        <p:spPr>
          <a:xfrm>
            <a:off x="8397873" y="3558428"/>
            <a:ext cx="331443"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chemeClr val="bg1"/>
                </a:solidFill>
                <a:effectLst/>
                <a:uLnTx/>
                <a:uFillTx/>
                <a:latin typeface="Segoe UI Semibold" panose="020B0702040204020203" pitchFamily="34" charset="0"/>
                <a:ea typeface="+mn-ea"/>
                <a:cs typeface="Segoe UI Semibold" panose="020B0702040204020203" pitchFamily="34" charset="0"/>
              </a:rPr>
              <a:t>Pod</a:t>
            </a:r>
          </a:p>
        </p:txBody>
      </p:sp>
      <p:sp>
        <p:nvSpPr>
          <p:cNvPr id="23" name="Title 1">
            <a:extLst>
              <a:ext uri="{FF2B5EF4-FFF2-40B4-BE49-F238E27FC236}">
                <a16:creationId xmlns:a16="http://schemas.microsoft.com/office/drawing/2014/main" id="{E01A0F52-50F7-4109-96CB-C6ADD2C5B84E}"/>
              </a:ext>
            </a:extLst>
          </p:cNvPr>
          <p:cNvSpPr txBox="1">
            <a:spLocks/>
          </p:cNvSpPr>
          <p:nvPr/>
        </p:nvSpPr>
        <p:spPr>
          <a:xfrm>
            <a:off x="4884887" y="2346756"/>
            <a:ext cx="131728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Cluster</a:t>
            </a:r>
          </a:p>
        </p:txBody>
      </p:sp>
      <p:pic>
        <p:nvPicPr>
          <p:cNvPr id="3074" name="Picture 2" descr="Icon&#10;&#10;Description automatically generated">
            <a:extLst>
              <a:ext uri="{FF2B5EF4-FFF2-40B4-BE49-F238E27FC236}">
                <a16:creationId xmlns:a16="http://schemas.microsoft.com/office/drawing/2014/main" id="{E4813C55-F904-41BB-B7BC-878C8314CA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3796" y="3279606"/>
            <a:ext cx="771525" cy="962025"/>
          </a:xfrm>
          <a:prstGeom prst="rect">
            <a:avLst/>
          </a:prstGeom>
          <a:noFill/>
        </p:spPr>
      </p:pic>
      <p:cxnSp>
        <p:nvCxnSpPr>
          <p:cNvPr id="19" name="Connector: Elbow 18">
            <a:extLst>
              <a:ext uri="{FF2B5EF4-FFF2-40B4-BE49-F238E27FC236}">
                <a16:creationId xmlns:a16="http://schemas.microsoft.com/office/drawing/2014/main" id="{8F3DD3C3-A025-46A7-A4C9-C22EA698B852}"/>
              </a:ext>
            </a:extLst>
          </p:cNvPr>
          <p:cNvCxnSpPr>
            <a:cxnSpLocks/>
            <a:stCxn id="5" idx="3"/>
            <a:endCxn id="3074" idx="1"/>
          </p:cNvCxnSpPr>
          <p:nvPr/>
        </p:nvCxnSpPr>
        <p:spPr>
          <a:xfrm flipV="1">
            <a:off x="9408161" y="3760619"/>
            <a:ext cx="575635" cy="37959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2" descr="Icon&#10;&#10;Description automatically generated">
            <a:extLst>
              <a:ext uri="{FF2B5EF4-FFF2-40B4-BE49-F238E27FC236}">
                <a16:creationId xmlns:a16="http://schemas.microsoft.com/office/drawing/2014/main" id="{ACAF4776-146C-4BA1-B9A6-AE5BCB059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4907" y="3203967"/>
            <a:ext cx="818766" cy="79318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Icon&#10;&#10;Description automatically generated">
            <a:extLst>
              <a:ext uri="{FF2B5EF4-FFF2-40B4-BE49-F238E27FC236}">
                <a16:creationId xmlns:a16="http://schemas.microsoft.com/office/drawing/2014/main" id="{D72E01FF-9F53-4BD2-BEC2-3368D553BE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9154" y="3203832"/>
            <a:ext cx="818767" cy="79318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con&#10;&#10;Description automatically generated">
            <a:extLst>
              <a:ext uri="{FF2B5EF4-FFF2-40B4-BE49-F238E27FC236}">
                <a16:creationId xmlns:a16="http://schemas.microsoft.com/office/drawing/2014/main" id="{76C2C326-A1FB-417D-B601-F77DFD1FA3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4085" y="2885711"/>
            <a:ext cx="1114425" cy="962025"/>
          </a:xfrm>
          <a:prstGeom prst="rect">
            <a:avLst/>
          </a:prstGeom>
          <a:noFill/>
        </p:spPr>
      </p:pic>
      <p:pic>
        <p:nvPicPr>
          <p:cNvPr id="5122" name="Picture 2" descr="Graphical user interface, icon&#10;&#10;Description automatically generated with medium confidence">
            <a:extLst>
              <a:ext uri="{FF2B5EF4-FFF2-40B4-BE49-F238E27FC236}">
                <a16:creationId xmlns:a16="http://schemas.microsoft.com/office/drawing/2014/main" id="{70DE3148-42B7-4907-92C7-72915E4F70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0572" y="4355756"/>
            <a:ext cx="1114425" cy="962025"/>
          </a:xfrm>
          <a:prstGeom prst="rect">
            <a:avLst/>
          </a:prstGeom>
          <a:noFill/>
        </p:spPr>
      </p:pic>
      <p:sp>
        <p:nvSpPr>
          <p:cNvPr id="21" name="Title 1">
            <a:extLst>
              <a:ext uri="{FF2B5EF4-FFF2-40B4-BE49-F238E27FC236}">
                <a16:creationId xmlns:a16="http://schemas.microsoft.com/office/drawing/2014/main" id="{D7E51CCE-F1D6-4355-87E0-3831019DA29B}"/>
              </a:ext>
            </a:extLst>
          </p:cNvPr>
          <p:cNvSpPr txBox="1">
            <a:spLocks/>
          </p:cNvSpPr>
          <p:nvPr/>
        </p:nvSpPr>
        <p:spPr>
          <a:xfrm>
            <a:off x="2507922" y="3782461"/>
            <a:ext cx="85756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Azure Disk</a:t>
            </a:r>
          </a:p>
        </p:txBody>
      </p:sp>
      <p:sp>
        <p:nvSpPr>
          <p:cNvPr id="24" name="Title 1">
            <a:extLst>
              <a:ext uri="{FF2B5EF4-FFF2-40B4-BE49-F238E27FC236}">
                <a16:creationId xmlns:a16="http://schemas.microsoft.com/office/drawing/2014/main" id="{69310102-BCD5-4814-84B4-67B7B95499D8}"/>
              </a:ext>
            </a:extLst>
          </p:cNvPr>
          <p:cNvSpPr txBox="1">
            <a:spLocks/>
          </p:cNvSpPr>
          <p:nvPr/>
        </p:nvSpPr>
        <p:spPr>
          <a:xfrm>
            <a:off x="2300571" y="5265483"/>
            <a:ext cx="110902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Azure File Share</a:t>
            </a:r>
          </a:p>
        </p:txBody>
      </p:sp>
      <p:sp>
        <p:nvSpPr>
          <p:cNvPr id="28" name="Title 1">
            <a:extLst>
              <a:ext uri="{FF2B5EF4-FFF2-40B4-BE49-F238E27FC236}">
                <a16:creationId xmlns:a16="http://schemas.microsoft.com/office/drawing/2014/main" id="{01AE6D99-D8C4-4A8E-B5C7-8DE09068C80C}"/>
              </a:ext>
            </a:extLst>
          </p:cNvPr>
          <p:cNvSpPr txBox="1">
            <a:spLocks/>
          </p:cNvSpPr>
          <p:nvPr/>
        </p:nvSpPr>
        <p:spPr>
          <a:xfrm>
            <a:off x="6202174" y="2926417"/>
            <a:ext cx="85756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Namespace</a:t>
            </a:r>
          </a:p>
        </p:txBody>
      </p:sp>
      <p:cxnSp>
        <p:nvCxnSpPr>
          <p:cNvPr id="29" name="Connector: Elbow 28">
            <a:extLst>
              <a:ext uri="{FF2B5EF4-FFF2-40B4-BE49-F238E27FC236}">
                <a16:creationId xmlns:a16="http://schemas.microsoft.com/office/drawing/2014/main" id="{660ED895-190F-4D42-8FF3-9CF15A6AA3C3}"/>
              </a:ext>
            </a:extLst>
          </p:cNvPr>
          <p:cNvCxnSpPr>
            <a:cxnSpLocks/>
            <a:stCxn id="5" idx="1"/>
            <a:endCxn id="16" idx="3"/>
          </p:cNvCxnSpPr>
          <p:nvPr/>
        </p:nvCxnSpPr>
        <p:spPr>
          <a:xfrm rot="10800000">
            <a:off x="7133673" y="3600558"/>
            <a:ext cx="1381492" cy="539661"/>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85A383A8-E2DA-4FD9-8959-64977D11AAA2}"/>
              </a:ext>
            </a:extLst>
          </p:cNvPr>
          <p:cNvCxnSpPr>
            <a:cxnSpLocks/>
            <a:stCxn id="16" idx="1"/>
            <a:endCxn id="17" idx="3"/>
          </p:cNvCxnSpPr>
          <p:nvPr/>
        </p:nvCxnSpPr>
        <p:spPr>
          <a:xfrm rot="10800000">
            <a:off x="5837921" y="3600423"/>
            <a:ext cx="476986" cy="13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A137DE46-ACE2-42CC-8975-5435C8E30BE1}"/>
              </a:ext>
            </a:extLst>
          </p:cNvPr>
          <p:cNvCxnSpPr>
            <a:cxnSpLocks/>
            <a:stCxn id="16" idx="2"/>
            <a:endCxn id="8" idx="3"/>
          </p:cNvCxnSpPr>
          <p:nvPr/>
        </p:nvCxnSpPr>
        <p:spPr>
          <a:xfrm rot="5400000">
            <a:off x="5866586" y="3976103"/>
            <a:ext cx="836660" cy="878749"/>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2F2BEBD7-BD08-4037-BBB6-F8AC777D848E}"/>
              </a:ext>
            </a:extLst>
          </p:cNvPr>
          <p:cNvCxnSpPr>
            <a:cxnSpLocks/>
            <a:stCxn id="17" idx="1"/>
            <a:endCxn id="4098" idx="3"/>
          </p:cNvCxnSpPr>
          <p:nvPr/>
        </p:nvCxnSpPr>
        <p:spPr>
          <a:xfrm rot="10800000">
            <a:off x="3408510" y="3366724"/>
            <a:ext cx="1610644" cy="233698"/>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D71E4D78-5461-4CF0-9D2E-A002558B2D14}"/>
              </a:ext>
            </a:extLst>
          </p:cNvPr>
          <p:cNvCxnSpPr>
            <a:cxnSpLocks/>
            <a:stCxn id="8" idx="0"/>
            <a:endCxn id="17" idx="2"/>
          </p:cNvCxnSpPr>
          <p:nvPr/>
        </p:nvCxnSpPr>
        <p:spPr>
          <a:xfrm rot="5400000" flipH="1" flipV="1">
            <a:off x="5220621" y="4204401"/>
            <a:ext cx="415305" cy="52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descr="Icon&#10;&#10;Description automatically generated">
            <a:extLst>
              <a:ext uri="{FF2B5EF4-FFF2-40B4-BE49-F238E27FC236}">
                <a16:creationId xmlns:a16="http://schemas.microsoft.com/office/drawing/2014/main" id="{5ED4A1DD-232A-4FF3-B46D-D6AD2A72215E}"/>
              </a:ext>
            </a:extLst>
          </p:cNvPr>
          <p:cNvPicPr>
            <a:picLocks noChangeAspect="1"/>
          </p:cNvPicPr>
          <p:nvPr/>
        </p:nvPicPr>
        <p:blipFill>
          <a:blip r:embed="rId7"/>
          <a:stretch>
            <a:fillRect/>
          </a:stretch>
        </p:blipFill>
        <p:spPr>
          <a:xfrm>
            <a:off x="5010476" y="4412317"/>
            <a:ext cx="835065" cy="842980"/>
          </a:xfrm>
          <a:prstGeom prst="rect">
            <a:avLst/>
          </a:prstGeom>
        </p:spPr>
      </p:pic>
      <p:sp>
        <p:nvSpPr>
          <p:cNvPr id="44" name="Title 1">
            <a:extLst>
              <a:ext uri="{FF2B5EF4-FFF2-40B4-BE49-F238E27FC236}">
                <a16:creationId xmlns:a16="http://schemas.microsoft.com/office/drawing/2014/main" id="{88376472-2FD4-4A97-8DE1-C5BAEB2978FC}"/>
              </a:ext>
            </a:extLst>
          </p:cNvPr>
          <p:cNvSpPr txBox="1">
            <a:spLocks/>
          </p:cNvSpPr>
          <p:nvPr/>
        </p:nvSpPr>
        <p:spPr>
          <a:xfrm>
            <a:off x="10025666" y="4181189"/>
            <a:ext cx="857567"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Host Path</a:t>
            </a:r>
          </a:p>
        </p:txBody>
      </p:sp>
      <p:pic>
        <p:nvPicPr>
          <p:cNvPr id="39" name="Picture 38" descr="Logo&#10;&#10;Description automatically generated with low confidence">
            <a:extLst>
              <a:ext uri="{FF2B5EF4-FFF2-40B4-BE49-F238E27FC236}">
                <a16:creationId xmlns:a16="http://schemas.microsoft.com/office/drawing/2014/main" id="{6712E737-41D8-45EA-9A6D-737FE38613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78021" y="5685989"/>
            <a:ext cx="1287241" cy="372093"/>
          </a:xfrm>
          <a:prstGeom prst="rect">
            <a:avLst/>
          </a:prstGeom>
        </p:spPr>
      </p:pic>
      <p:pic>
        <p:nvPicPr>
          <p:cNvPr id="8194" name="Picture 2" descr="A picture containing text, envelope, stationary&#10;&#10;Description automatically generated">
            <a:extLst>
              <a:ext uri="{FF2B5EF4-FFF2-40B4-BE49-F238E27FC236}">
                <a16:creationId xmlns:a16="http://schemas.microsoft.com/office/drawing/2014/main" id="{98906A6B-62C7-4279-95BB-C4F78EB71F8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85152" y="4546877"/>
            <a:ext cx="797803" cy="698697"/>
          </a:xfrm>
          <a:prstGeom prst="rect">
            <a:avLst/>
          </a:prstGeom>
          <a:noFill/>
        </p:spPr>
      </p:pic>
      <p:sp>
        <p:nvSpPr>
          <p:cNvPr id="36" name="Title 1">
            <a:extLst>
              <a:ext uri="{FF2B5EF4-FFF2-40B4-BE49-F238E27FC236}">
                <a16:creationId xmlns:a16="http://schemas.microsoft.com/office/drawing/2014/main" id="{71808653-A0B3-4146-9C36-1F3B2A2CB91A}"/>
              </a:ext>
            </a:extLst>
          </p:cNvPr>
          <p:cNvSpPr txBox="1">
            <a:spLocks/>
          </p:cNvSpPr>
          <p:nvPr/>
        </p:nvSpPr>
        <p:spPr>
          <a:xfrm>
            <a:off x="10018492" y="5265220"/>
            <a:ext cx="733983"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1419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Empty Dir</a:t>
            </a:r>
          </a:p>
        </p:txBody>
      </p:sp>
      <p:cxnSp>
        <p:nvCxnSpPr>
          <p:cNvPr id="37" name="Connector: Elbow 36">
            <a:extLst>
              <a:ext uri="{FF2B5EF4-FFF2-40B4-BE49-F238E27FC236}">
                <a16:creationId xmlns:a16="http://schemas.microsoft.com/office/drawing/2014/main" id="{DA7938F7-A065-4BD7-AED2-B2715F0DFCD5}"/>
              </a:ext>
            </a:extLst>
          </p:cNvPr>
          <p:cNvCxnSpPr>
            <a:cxnSpLocks/>
            <a:stCxn id="5" idx="3"/>
            <a:endCxn id="8194" idx="1"/>
          </p:cNvCxnSpPr>
          <p:nvPr/>
        </p:nvCxnSpPr>
        <p:spPr>
          <a:xfrm>
            <a:off x="9408161" y="4140218"/>
            <a:ext cx="576991" cy="756008"/>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2" descr="A picture containing text, sign, stop, outdoor&#10;&#10;Description automatically generated">
            <a:extLst>
              <a:ext uri="{FF2B5EF4-FFF2-40B4-BE49-F238E27FC236}">
                <a16:creationId xmlns:a16="http://schemas.microsoft.com/office/drawing/2014/main" id="{A99058BA-AB44-4C80-9C60-226D592E7E5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2797" y="4056771"/>
            <a:ext cx="788907" cy="76425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Icon&#10;&#10;Description automatically generated">
            <a:extLst>
              <a:ext uri="{FF2B5EF4-FFF2-40B4-BE49-F238E27FC236}">
                <a16:creationId xmlns:a16="http://schemas.microsoft.com/office/drawing/2014/main" id="{179DAC2F-6922-4CFF-898E-8F5B88D2463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54123" y="4947863"/>
            <a:ext cx="788907" cy="764254"/>
          </a:xfrm>
          <a:prstGeom prst="rect">
            <a:avLst/>
          </a:prstGeom>
          <a:noFill/>
          <a:extLst>
            <a:ext uri="{909E8E84-426E-40DD-AFC4-6F175D3DCCD1}">
              <a14:hiddenFill xmlns:a14="http://schemas.microsoft.com/office/drawing/2010/main">
                <a:solidFill>
                  <a:srgbClr val="FFFFFF"/>
                </a:solidFill>
              </a14:hiddenFill>
            </a:ext>
          </a:extLst>
        </p:spPr>
      </p:pic>
      <p:cxnSp>
        <p:nvCxnSpPr>
          <p:cNvPr id="50" name="Connector: Elbow 49">
            <a:extLst>
              <a:ext uri="{FF2B5EF4-FFF2-40B4-BE49-F238E27FC236}">
                <a16:creationId xmlns:a16="http://schemas.microsoft.com/office/drawing/2014/main" id="{B4AE1F42-2C88-413D-9057-9DCFF048960D}"/>
              </a:ext>
            </a:extLst>
          </p:cNvPr>
          <p:cNvCxnSpPr>
            <a:cxnSpLocks/>
            <a:stCxn id="5" idx="1"/>
            <a:endCxn id="20" idx="3"/>
          </p:cNvCxnSpPr>
          <p:nvPr/>
        </p:nvCxnSpPr>
        <p:spPr>
          <a:xfrm rot="10800000" flipV="1">
            <a:off x="7641705" y="4140218"/>
            <a:ext cx="873461" cy="298680"/>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FBBD3F5B-E344-4AD5-9BEB-D4620C76D2E9}"/>
              </a:ext>
            </a:extLst>
          </p:cNvPr>
          <p:cNvCxnSpPr>
            <a:cxnSpLocks/>
            <a:stCxn id="5" idx="1"/>
            <a:endCxn id="30" idx="3"/>
          </p:cNvCxnSpPr>
          <p:nvPr/>
        </p:nvCxnSpPr>
        <p:spPr>
          <a:xfrm rot="10800000" flipV="1">
            <a:off x="7843031" y="4140218"/>
            <a:ext cx="672135" cy="1189772"/>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D2249F5B-4603-495E-BA20-540E3BDFA3C6}"/>
              </a:ext>
            </a:extLst>
          </p:cNvPr>
          <p:cNvCxnSpPr>
            <a:cxnSpLocks/>
            <a:stCxn id="5" idx="0"/>
            <a:endCxn id="4098" idx="0"/>
          </p:cNvCxnSpPr>
          <p:nvPr/>
        </p:nvCxnSpPr>
        <p:spPr>
          <a:xfrm rot="16200000" flipV="1">
            <a:off x="5337939" y="399070"/>
            <a:ext cx="1137084" cy="6110365"/>
          </a:xfrm>
          <a:prstGeom prst="bentConnector3">
            <a:avLst>
              <a:gd name="adj1" fmla="val 120104"/>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0127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5122"/>
                                        </p:tgtEl>
                                        <p:attrNameLst>
                                          <p:attrName>style.visibility</p:attrName>
                                        </p:attrNameLst>
                                      </p:cBhvr>
                                      <p:to>
                                        <p:strVal val="visible"/>
                                      </p:to>
                                    </p:set>
                                    <p:animEffect transition="in" filter="fade">
                                      <p:cBhvr>
                                        <p:cTn id="19" dur="500"/>
                                        <p:tgtEl>
                                          <p:spTgt spid="51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22" presetClass="entr" presetSubtype="2" fill="hold"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right)">
                                      <p:cBhvr>
                                        <p:cTn id="36" dur="500"/>
                                        <p:tgtEl>
                                          <p:spTgt spid="3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par>
                                <p:cTn id="42" presetID="22" presetClass="entr" presetSubtype="2" fill="hold"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wipe(right)">
                                      <p:cBhvr>
                                        <p:cTn id="44" dur="500"/>
                                        <p:tgtEl>
                                          <p:spTgt spid="47"/>
                                        </p:tgtEl>
                                      </p:cBhvr>
                                    </p:animEffect>
                                  </p:childTnLst>
                                </p:cTn>
                              </p:par>
                              <p:par>
                                <p:cTn id="45" presetID="10" presetClass="entr" presetSubtype="0" fill="hold"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1" presetID="10"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par>
                                <p:cTn id="54" presetID="22" presetClass="entr" presetSubtype="2" fill="hold"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wipe(right)">
                                      <p:cBhvr>
                                        <p:cTn id="56" dur="500"/>
                                        <p:tgtEl>
                                          <p:spTgt spid="32"/>
                                        </p:tgtEl>
                                      </p:cBhvr>
                                    </p:animEffect>
                                  </p:childTnLst>
                                </p:cTn>
                              </p:par>
                              <p:par>
                                <p:cTn id="57" presetID="22" presetClass="entr" presetSubtype="2"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right)">
                                      <p:cBhvr>
                                        <p:cTn id="59" dur="500"/>
                                        <p:tgtEl>
                                          <p:spTgt spid="3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3074"/>
                                        </p:tgtEl>
                                        <p:attrNameLst>
                                          <p:attrName>style.visibility</p:attrName>
                                        </p:attrNameLst>
                                      </p:cBhvr>
                                      <p:to>
                                        <p:strVal val="visible"/>
                                      </p:to>
                                    </p:set>
                                    <p:animEffect transition="in" filter="fade">
                                      <p:cBhvr>
                                        <p:cTn id="70" dur="500"/>
                                        <p:tgtEl>
                                          <p:spTgt spid="307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4"/>
                                        </p:tgtEl>
                                        <p:attrNameLst>
                                          <p:attrName>style.visibility</p:attrName>
                                        </p:attrNameLst>
                                      </p:cBhvr>
                                      <p:to>
                                        <p:strVal val="visible"/>
                                      </p:to>
                                    </p:set>
                                    <p:animEffect transition="in" filter="fade">
                                      <p:cBhvr>
                                        <p:cTn id="73" dur="500"/>
                                        <p:tgtEl>
                                          <p:spTgt spid="44"/>
                                        </p:tgtEl>
                                      </p:cBhvr>
                                    </p:animEffect>
                                  </p:childTnLst>
                                </p:cTn>
                              </p:par>
                              <p:par>
                                <p:cTn id="74" presetID="10" presetClass="entr" presetSubtype="0" fill="hold"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4"/>
                                        </p:tgtEl>
                                        <p:attrNameLst>
                                          <p:attrName>style.visibility</p:attrName>
                                        </p:attrNameLst>
                                      </p:cBhvr>
                                      <p:to>
                                        <p:strVal val="visible"/>
                                      </p:to>
                                    </p:set>
                                    <p:animEffect transition="in" filter="fade">
                                      <p:cBhvr>
                                        <p:cTn id="84" dur="500"/>
                                        <p:tgtEl>
                                          <p:spTgt spid="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
                                        </p:tgtEl>
                                        <p:attrNameLst>
                                          <p:attrName>style.visibility</p:attrName>
                                        </p:attrNameLst>
                                      </p:cBhvr>
                                      <p:to>
                                        <p:strVal val="visible"/>
                                      </p:to>
                                    </p:set>
                                    <p:animEffect transition="in" filter="fade">
                                      <p:cBhvr>
                                        <p:cTn id="87" dur="500"/>
                                        <p:tgtEl>
                                          <p:spTgt spid="5"/>
                                        </p:tgtEl>
                                      </p:cBhvr>
                                    </p:animEffect>
                                  </p:childTnLst>
                                </p:cTn>
                              </p:par>
                              <p:par>
                                <p:cTn id="88" presetID="22" presetClass="entr" presetSubtype="4" fill="hold" nodeType="with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wipe(down)">
                                      <p:cBhvr>
                                        <p:cTn id="90" dur="500"/>
                                        <p:tgtEl>
                                          <p:spTgt spid="9"/>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animEffect transition="in" filter="fade">
                                      <p:cBhvr>
                                        <p:cTn id="93" dur="500"/>
                                        <p:tgtEl>
                                          <p:spTgt spid="13"/>
                                        </p:tgtEl>
                                      </p:cBhvr>
                                    </p:animEffect>
                                  </p:childTnLst>
                                </p:cTn>
                              </p:par>
                              <p:par>
                                <p:cTn id="94" presetID="22" presetClass="entr" presetSubtype="8" fill="hold"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wipe(left)">
                                      <p:cBhvr>
                                        <p:cTn id="96" dur="500"/>
                                        <p:tgtEl>
                                          <p:spTgt spid="19"/>
                                        </p:tgtEl>
                                      </p:cBhvr>
                                    </p:animEffect>
                                  </p:childTnLst>
                                </p:cTn>
                              </p:par>
                              <p:par>
                                <p:cTn id="97" presetID="22" presetClass="entr" presetSubtype="2" fill="hold" nodeType="with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wipe(right)">
                                      <p:cBhvr>
                                        <p:cTn id="99" dur="500"/>
                                        <p:tgtEl>
                                          <p:spTgt spid="2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7"/>
                                        </p:tgtEl>
                                        <p:attrNameLst>
                                          <p:attrName>style.visibility</p:attrName>
                                        </p:attrNameLst>
                                      </p:cBhvr>
                                      <p:to>
                                        <p:strVal val="visible"/>
                                      </p:to>
                                    </p:set>
                                    <p:animEffect transition="in" filter="fade">
                                      <p:cBhvr>
                                        <p:cTn id="102" dur="500"/>
                                        <p:tgtEl>
                                          <p:spTgt spid="7"/>
                                        </p:tgtEl>
                                      </p:cBhvr>
                                    </p:animEffect>
                                  </p:childTnLst>
                                </p:cTn>
                              </p:par>
                              <p:par>
                                <p:cTn id="103" presetID="10" presetClass="entr" presetSubtype="0" fill="hold" nodeType="withEffect">
                                  <p:stCondLst>
                                    <p:cond delay="0"/>
                                  </p:stCondLst>
                                  <p:childTnLst>
                                    <p:set>
                                      <p:cBhvr>
                                        <p:cTn id="104" dur="1" fill="hold">
                                          <p:stCondLst>
                                            <p:cond delay="0"/>
                                          </p:stCondLst>
                                        </p:cTn>
                                        <p:tgtEl>
                                          <p:spTgt spid="8194"/>
                                        </p:tgtEl>
                                        <p:attrNameLst>
                                          <p:attrName>style.visibility</p:attrName>
                                        </p:attrNameLst>
                                      </p:cBhvr>
                                      <p:to>
                                        <p:strVal val="visible"/>
                                      </p:to>
                                    </p:set>
                                    <p:animEffect transition="in" filter="fade">
                                      <p:cBhvr>
                                        <p:cTn id="105" dur="500"/>
                                        <p:tgtEl>
                                          <p:spTgt spid="8194"/>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500"/>
                                        <p:tgtEl>
                                          <p:spTgt spid="36"/>
                                        </p:tgtEl>
                                      </p:cBhvr>
                                    </p:animEffect>
                                  </p:childTnLst>
                                </p:cTn>
                              </p:par>
                              <p:par>
                                <p:cTn id="109" presetID="22" presetClass="entr" presetSubtype="8" fill="hold"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wipe(left)">
                                      <p:cBhvr>
                                        <p:cTn id="111" dur="500"/>
                                        <p:tgtEl>
                                          <p:spTgt spid="37"/>
                                        </p:tgtEl>
                                      </p:cBhvr>
                                    </p:animEffect>
                                  </p:childTnLst>
                                </p:cTn>
                              </p:par>
                              <p:par>
                                <p:cTn id="112" presetID="22" presetClass="entr" presetSubtype="2" fill="hold" nodeType="withEffect">
                                  <p:stCondLst>
                                    <p:cond delay="0"/>
                                  </p:stCondLst>
                                  <p:childTnLst>
                                    <p:set>
                                      <p:cBhvr>
                                        <p:cTn id="113" dur="1" fill="hold">
                                          <p:stCondLst>
                                            <p:cond delay="0"/>
                                          </p:stCondLst>
                                        </p:cTn>
                                        <p:tgtEl>
                                          <p:spTgt spid="50"/>
                                        </p:tgtEl>
                                        <p:attrNameLst>
                                          <p:attrName>style.visibility</p:attrName>
                                        </p:attrNameLst>
                                      </p:cBhvr>
                                      <p:to>
                                        <p:strVal val="visible"/>
                                      </p:to>
                                    </p:set>
                                    <p:animEffect transition="in" filter="wipe(right)">
                                      <p:cBhvr>
                                        <p:cTn id="114" dur="500"/>
                                        <p:tgtEl>
                                          <p:spTgt spid="50"/>
                                        </p:tgtEl>
                                      </p:cBhvr>
                                    </p:animEffect>
                                  </p:childTnLst>
                                </p:cTn>
                              </p:par>
                              <p:par>
                                <p:cTn id="115" presetID="22" presetClass="entr" presetSubtype="2" fill="hold" nodeType="withEffect">
                                  <p:stCondLst>
                                    <p:cond delay="0"/>
                                  </p:stCondLst>
                                  <p:childTnLst>
                                    <p:set>
                                      <p:cBhvr>
                                        <p:cTn id="116" dur="1" fill="hold">
                                          <p:stCondLst>
                                            <p:cond delay="0"/>
                                          </p:stCondLst>
                                        </p:cTn>
                                        <p:tgtEl>
                                          <p:spTgt spid="53"/>
                                        </p:tgtEl>
                                        <p:attrNameLst>
                                          <p:attrName>style.visibility</p:attrName>
                                        </p:attrNameLst>
                                      </p:cBhvr>
                                      <p:to>
                                        <p:strVal val="visible"/>
                                      </p:to>
                                    </p:set>
                                    <p:animEffect transition="in" filter="wipe(right)">
                                      <p:cBhvr>
                                        <p:cTn id="117" dur="500"/>
                                        <p:tgtEl>
                                          <p:spTgt spid="53"/>
                                        </p:tgtEl>
                                      </p:cBhvr>
                                    </p:animEffect>
                                  </p:childTnLst>
                                </p:cTn>
                              </p:par>
                              <p:par>
                                <p:cTn id="118" presetID="22" presetClass="entr" presetSubtype="2" fill="hold"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wipe(right)">
                                      <p:cBhvr>
                                        <p:cTn id="12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22" grpId="0" animBg="1"/>
      <p:bldP spid="27" grpId="0" animBg="1"/>
      <p:bldP spid="25" grpId="0" animBg="1"/>
      <p:bldP spid="26" grpId="0"/>
      <p:bldP spid="4" grpId="0" animBg="1"/>
      <p:bldP spid="5" grpId="0" animBg="1"/>
      <p:bldP spid="7" grpId="0" animBg="1"/>
      <p:bldP spid="13" grpId="0"/>
      <p:bldP spid="23" grpId="0"/>
      <p:bldP spid="21" grpId="0"/>
      <p:bldP spid="24" grpId="0"/>
      <p:bldP spid="28" grpId="0"/>
      <p:bldP spid="44" grpId="0"/>
      <p:bldP spid="3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5F0F9-A4EE-4E04-7D02-BBED6EDC8D2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48CE634-B836-D193-33DE-7D50A6CA4751}"/>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1834B8C2-9F02-B991-1BDE-5CFA90245EE9}"/>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40</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77A02F22-27B9-FB8E-FC32-D719879FC143}"/>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E9F280EC-BED7-7493-FFC5-A762A5598D8B}"/>
              </a:ext>
            </a:extLst>
          </p:cNvPr>
          <p:cNvSpPr txBox="1"/>
          <p:nvPr/>
        </p:nvSpPr>
        <p:spPr>
          <a:xfrm>
            <a:off x="4845549" y="5063810"/>
            <a:ext cx="6615701" cy="615553"/>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Working with Volumes</a:t>
            </a:r>
          </a:p>
          <a:p>
            <a:pPr marL="342900" indent="-342900" algn="l">
              <a:buFont typeface="Arial" panose="020B0604020202020204" pitchFamily="34" charset="0"/>
              <a:buChar char="•"/>
            </a:pPr>
            <a:r>
              <a:rPr lang="en-US" sz="2000" dirty="0"/>
              <a:t>Advanced Volumes</a:t>
            </a:r>
          </a:p>
        </p:txBody>
      </p:sp>
      <p:pic>
        <p:nvPicPr>
          <p:cNvPr id="1026" name="Picture 2">
            <a:extLst>
              <a:ext uri="{FF2B5EF4-FFF2-40B4-BE49-F238E27FC236}">
                <a16:creationId xmlns:a16="http://schemas.microsoft.com/office/drawing/2014/main" id="{E193BCB1-782B-05E7-50A4-4752AB699D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503" y="560832"/>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6750027"/>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t>Health Checks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586422" y="1644259"/>
            <a:ext cx="11018838" cy="3853363"/>
          </a:xfrm>
        </p:spPr>
        <p:txBody>
          <a:bodyPr/>
          <a:lstStyle/>
          <a:p>
            <a:pPr marL="342900" indent="-342900">
              <a:buFont typeface="Arial" panose="020B0604020202020204" pitchFamily="34" charset="0"/>
              <a:buChar char="•"/>
            </a:pPr>
            <a:r>
              <a:rPr lang="en-US" sz="2400" dirty="0"/>
              <a:t>How do you know if a container has completed its start up sequence and is ready to accept requests?</a:t>
            </a:r>
          </a:p>
          <a:p>
            <a:pPr marL="342900" indent="-342900">
              <a:buFont typeface="Arial" panose="020B0604020202020204" pitchFamily="34" charset="0"/>
              <a:buChar char="•"/>
            </a:pPr>
            <a:r>
              <a:rPr lang="en-US" sz="2400" dirty="0"/>
              <a:t>What if a container is “running” but not functioning correctly?</a:t>
            </a:r>
          </a:p>
          <a:p>
            <a:pPr marL="800100" lvl="1" indent="-342900">
              <a:buFont typeface="Arial" panose="020B0604020202020204" pitchFamily="34" charset="0"/>
              <a:buChar char="•"/>
            </a:pPr>
            <a:r>
              <a:rPr lang="en-US" dirty="0"/>
              <a:t>For example, a webserver not receiving/processing requests</a:t>
            </a:r>
          </a:p>
          <a:p>
            <a:pPr marL="342900" indent="-342900">
              <a:buFont typeface="Arial" panose="020B0604020202020204" pitchFamily="34" charset="0"/>
              <a:buChar char="•"/>
            </a:pPr>
            <a:r>
              <a:rPr lang="en-US" sz="2400" dirty="0" err="1"/>
              <a:t>Kubelet</a:t>
            </a:r>
            <a:r>
              <a:rPr lang="en-US" sz="2400" dirty="0"/>
              <a:t> uses </a:t>
            </a:r>
            <a:r>
              <a:rPr lang="en-US" sz="2400" b="1" i="1" dirty="0"/>
              <a:t>probes</a:t>
            </a:r>
            <a:r>
              <a:rPr lang="en-US" sz="2400" dirty="0"/>
              <a:t> to monitor running containers and determine if they’re running and/or can receive traffic from services.</a:t>
            </a:r>
          </a:p>
          <a:p>
            <a:pPr marL="342900" indent="-342900">
              <a:buFont typeface="Arial" panose="020B0604020202020204" pitchFamily="34" charset="0"/>
              <a:buChar char="•"/>
            </a:pPr>
            <a:r>
              <a:rPr lang="en-US" sz="2400" dirty="0"/>
              <a:t>Based on information it receives from probes, a </a:t>
            </a:r>
            <a:r>
              <a:rPr lang="en-US" sz="2400" dirty="0" err="1"/>
              <a:t>Kubelet</a:t>
            </a:r>
            <a:r>
              <a:rPr lang="en-US" sz="2400" dirty="0"/>
              <a:t> can restart containers or notify </a:t>
            </a:r>
            <a:r>
              <a:rPr lang="en-US" sz="2400" dirty="0" err="1"/>
              <a:t>Kube</a:t>
            </a:r>
            <a:r>
              <a:rPr lang="en-US" sz="2400" dirty="0"/>
              <a:t>-proxy to update its Endpoints and take Pods out of a service’s load balancer rotation.</a:t>
            </a:r>
          </a:p>
        </p:txBody>
      </p:sp>
    </p:spTree>
    <p:extLst>
      <p:ext uri="{BB962C8B-B14F-4D97-AF65-F5344CB8AC3E}">
        <p14:creationId xmlns:p14="http://schemas.microsoft.com/office/powerpoint/2010/main" val="755018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t>Startup, Liveness and Readiness Probes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428264" y="1585111"/>
            <a:ext cx="8413476" cy="4955203"/>
          </a:xfrm>
        </p:spPr>
        <p:txBody>
          <a:bodyPr/>
          <a:lstStyle/>
          <a:p>
            <a:pPr marL="342900" indent="-342900">
              <a:buFont typeface="Arial" panose="020B0604020202020204" pitchFamily="34" charset="0"/>
              <a:buChar char="•"/>
            </a:pPr>
            <a:r>
              <a:rPr lang="en-US" sz="2400" dirty="0"/>
              <a:t>There are three different types of probes available to attach to containers:</a:t>
            </a:r>
          </a:p>
          <a:p>
            <a:pPr marL="800100" lvl="1" indent="-342900">
              <a:spcBef>
                <a:spcPts val="0"/>
              </a:spcBef>
              <a:buFont typeface="Arial" panose="020B0604020202020204" pitchFamily="34" charset="0"/>
              <a:buChar char="•"/>
            </a:pPr>
            <a:r>
              <a:rPr lang="en-US" b="1" u="sng" dirty="0"/>
              <a:t>Startup Probe</a:t>
            </a:r>
            <a:r>
              <a:rPr lang="en-US" dirty="0"/>
              <a:t> – Detects when an application has started.  Some applications, like messaging servers, have extended startup sequences.  Startup probes delay other probes from inadvertently telling the </a:t>
            </a:r>
            <a:r>
              <a:rPr lang="en-US" i="1" dirty="0" err="1"/>
              <a:t>Kubelet</a:t>
            </a:r>
            <a:r>
              <a:rPr lang="en-US" dirty="0"/>
              <a:t> restart the container for being unresponsive.</a:t>
            </a:r>
          </a:p>
          <a:p>
            <a:pPr marL="800100" lvl="1" indent="-342900">
              <a:spcBef>
                <a:spcPts val="0"/>
              </a:spcBef>
              <a:buFont typeface="Arial" panose="020B0604020202020204" pitchFamily="34" charset="0"/>
              <a:buChar char="•"/>
            </a:pPr>
            <a:r>
              <a:rPr lang="en-US" b="1" u="sng" dirty="0"/>
              <a:t>Liveness Probe</a:t>
            </a:r>
            <a:r>
              <a:rPr lang="en-US" dirty="0"/>
              <a:t> – Once the application has started, a liveness probe monitors it periodically to ensure it’s still running and tell the </a:t>
            </a:r>
            <a:r>
              <a:rPr lang="en-US" i="1" dirty="0" err="1"/>
              <a:t>Kubelet</a:t>
            </a:r>
            <a:r>
              <a:rPr lang="en-US" dirty="0"/>
              <a:t> to restart the container if it doesn’t get a response.</a:t>
            </a:r>
          </a:p>
          <a:p>
            <a:pPr marL="800100" lvl="1" indent="-342900">
              <a:spcBef>
                <a:spcPts val="0"/>
              </a:spcBef>
              <a:buFont typeface="Arial" panose="020B0604020202020204" pitchFamily="34" charset="0"/>
              <a:buChar char="•"/>
            </a:pPr>
            <a:r>
              <a:rPr lang="en-US" b="1" u="sng" dirty="0"/>
              <a:t>Readiness Probe</a:t>
            </a:r>
            <a:r>
              <a:rPr lang="en-US" dirty="0"/>
              <a:t> – Applications which service external requests, through a Service, can be monitored to ensure they are still receiving those requests.  When they stop receiving requests, Readiness Probes can tell the </a:t>
            </a:r>
            <a:r>
              <a:rPr lang="en-US" i="1" dirty="0" err="1"/>
              <a:t>Kubelet</a:t>
            </a:r>
            <a:r>
              <a:rPr lang="en-US" dirty="0"/>
              <a:t> to exclude those pods from the service’s load balancer rotation.</a:t>
            </a:r>
            <a:endParaRPr lang="en-US" sz="1800" dirty="0"/>
          </a:p>
        </p:txBody>
      </p:sp>
      <p:pic>
        <p:nvPicPr>
          <p:cNvPr id="6" name="Picture 5" descr="Text&#10;&#10;Description automatically generated">
            <a:extLst>
              <a:ext uri="{FF2B5EF4-FFF2-40B4-BE49-F238E27FC236}">
                <a16:creationId xmlns:a16="http://schemas.microsoft.com/office/drawing/2014/main" id="{975490BC-07A9-4B4C-9CD7-0DF695A38A96}"/>
              </a:ext>
            </a:extLst>
          </p:cNvPr>
          <p:cNvPicPr>
            <a:picLocks noChangeAspect="1"/>
          </p:cNvPicPr>
          <p:nvPr/>
        </p:nvPicPr>
        <p:blipFill>
          <a:blip r:embed="rId3"/>
          <a:stretch>
            <a:fillRect/>
          </a:stretch>
        </p:blipFill>
        <p:spPr>
          <a:xfrm>
            <a:off x="9101151" y="1585111"/>
            <a:ext cx="2762636" cy="4763165"/>
          </a:xfrm>
          <a:prstGeom prst="rect">
            <a:avLst/>
          </a:prstGeom>
        </p:spPr>
      </p:pic>
    </p:spTree>
    <p:extLst>
      <p:ext uri="{BB962C8B-B14F-4D97-AF65-F5344CB8AC3E}">
        <p14:creationId xmlns:p14="http://schemas.microsoft.com/office/powerpoint/2010/main" val="18740410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0275A-0D90-2006-00AE-B61CA3F07FC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99585A3-8A38-794C-2D57-4D89C3BFE667}"/>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625FC68E-AEE3-48E8-D89C-6E071DCF7358}"/>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43</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97064A8D-874A-DE26-CC0B-55F10735CB3B}"/>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24E72913-7091-76EA-DDF5-551B79417E3F}"/>
              </a:ext>
            </a:extLst>
          </p:cNvPr>
          <p:cNvSpPr txBox="1"/>
          <p:nvPr/>
        </p:nvSpPr>
        <p:spPr>
          <a:xfrm>
            <a:off x="4845549" y="5063810"/>
            <a:ext cx="6615701" cy="307777"/>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Health Probes Demo</a:t>
            </a:r>
          </a:p>
        </p:txBody>
      </p:sp>
      <p:pic>
        <p:nvPicPr>
          <p:cNvPr id="1026" name="Picture 2">
            <a:extLst>
              <a:ext uri="{FF2B5EF4-FFF2-40B4-BE49-F238E27FC236}">
                <a16:creationId xmlns:a16="http://schemas.microsoft.com/office/drawing/2014/main" id="{AFFFDC69-A6AA-F419-30C4-CB7256FE6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503" y="560832"/>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617579"/>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t>Kubernetes Load Balancer vs Ingress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371628" y="1350307"/>
            <a:ext cx="11662267" cy="4401205"/>
          </a:xfrm>
        </p:spPr>
        <p:txBody>
          <a:bodyPr/>
          <a:lstStyle/>
          <a:p>
            <a:pPr>
              <a:spcBef>
                <a:spcPts val="0"/>
              </a:spcBef>
            </a:pPr>
            <a:r>
              <a:rPr lang="en-US" sz="2400" dirty="0"/>
              <a:t>A Kubernetes Load Balancer maps an external IP to a single service endpoint inside the cluster.</a:t>
            </a:r>
          </a:p>
          <a:p>
            <a:pPr>
              <a:spcBef>
                <a:spcPts val="0"/>
              </a:spcBef>
            </a:pPr>
            <a:endParaRPr lang="en-US" dirty="0"/>
          </a:p>
          <a:p>
            <a:pPr>
              <a:spcBef>
                <a:spcPts val="0"/>
              </a:spcBef>
            </a:pPr>
            <a:endParaRPr lang="en-US" sz="2400" dirty="0"/>
          </a:p>
          <a:p>
            <a:pPr marL="342900" indent="-342900">
              <a:spcBef>
                <a:spcPts val="0"/>
              </a:spcBef>
              <a:buFont typeface="Arial" panose="020B0604020202020204" pitchFamily="34" charset="0"/>
              <a:buChar char="•"/>
            </a:pPr>
            <a:endParaRPr lang="en-US" dirty="0"/>
          </a:p>
          <a:p>
            <a:pPr marL="342900" indent="-342900">
              <a:spcBef>
                <a:spcPts val="0"/>
              </a:spcBef>
              <a:buFont typeface="Arial" panose="020B0604020202020204" pitchFamily="34" charset="0"/>
              <a:buChar char="•"/>
            </a:pPr>
            <a:endParaRPr lang="en-US" dirty="0"/>
          </a:p>
          <a:p>
            <a:pPr marL="342900" indent="-342900">
              <a:spcBef>
                <a:spcPts val="0"/>
              </a:spcBef>
              <a:buFont typeface="Arial" panose="020B0604020202020204" pitchFamily="34" charset="0"/>
              <a:buChar char="•"/>
            </a:pPr>
            <a:r>
              <a:rPr lang="en-US" dirty="0"/>
              <a:t>Each Kubernetes Load Balancer service requests an external IP address from Azure.</a:t>
            </a:r>
          </a:p>
          <a:p>
            <a:pPr marL="342900" indent="-342900">
              <a:spcBef>
                <a:spcPts val="0"/>
              </a:spcBef>
              <a:buFont typeface="Arial" panose="020B0604020202020204" pitchFamily="34" charset="0"/>
              <a:buChar char="•"/>
            </a:pPr>
            <a:r>
              <a:rPr lang="en-US" dirty="0"/>
              <a:t>For multiple service endpoints, you need to create multiple Load Balancers and IPs.</a:t>
            </a:r>
          </a:p>
          <a:p>
            <a:pPr marL="342900" indent="-342900">
              <a:spcBef>
                <a:spcPts val="0"/>
              </a:spcBef>
              <a:buFont typeface="Arial" panose="020B0604020202020204" pitchFamily="34" charset="0"/>
              <a:buChar char="•"/>
            </a:pPr>
            <a:r>
              <a:rPr lang="en-US" dirty="0"/>
              <a:t>If you expose dozens or hundreds of endpoints, this approach doesn’t scale well.  </a:t>
            </a:r>
          </a:p>
        </p:txBody>
      </p:sp>
      <p:sp>
        <p:nvSpPr>
          <p:cNvPr id="48" name="Rectangle: Rounded Corners 47">
            <a:extLst>
              <a:ext uri="{FF2B5EF4-FFF2-40B4-BE49-F238E27FC236}">
                <a16:creationId xmlns:a16="http://schemas.microsoft.com/office/drawing/2014/main" id="{BDAB9CD1-8817-4B23-9BE3-013C6885BD49}"/>
              </a:ext>
            </a:extLst>
          </p:cNvPr>
          <p:cNvSpPr/>
          <p:nvPr/>
        </p:nvSpPr>
        <p:spPr bwMode="auto">
          <a:xfrm>
            <a:off x="5543936" y="2105493"/>
            <a:ext cx="5498517" cy="2019431"/>
          </a:xfrm>
          <a:prstGeom prst="roundRect">
            <a:avLst>
              <a:gd name="adj" fmla="val 3125"/>
            </a:avLst>
          </a:prstGeom>
          <a:solidFill>
            <a:schemeClr val="bg1">
              <a:lumMod val="85000"/>
            </a:schemeClr>
          </a:solidFill>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a:solidFill>
                <a:schemeClr val="tx1"/>
              </a:solidFill>
              <a:cs typeface="Segoe UI" pitchFamily="34" charset="0"/>
            </a:endParaRPr>
          </a:p>
        </p:txBody>
      </p:sp>
      <p:grpSp>
        <p:nvGrpSpPr>
          <p:cNvPr id="100" name="Group 99">
            <a:extLst>
              <a:ext uri="{FF2B5EF4-FFF2-40B4-BE49-F238E27FC236}">
                <a16:creationId xmlns:a16="http://schemas.microsoft.com/office/drawing/2014/main" id="{025B7394-F40C-4452-A3C5-826A0A109942}"/>
              </a:ext>
            </a:extLst>
          </p:cNvPr>
          <p:cNvGrpSpPr/>
          <p:nvPr/>
        </p:nvGrpSpPr>
        <p:grpSpPr>
          <a:xfrm>
            <a:off x="6899941" y="2285430"/>
            <a:ext cx="970863" cy="384548"/>
            <a:chOff x="5833631" y="4528084"/>
            <a:chExt cx="906547" cy="540048"/>
          </a:xfrm>
          <a:solidFill>
            <a:schemeClr val="accent1">
              <a:lumMod val="40000"/>
              <a:lumOff val="60000"/>
            </a:schemeClr>
          </a:solidFill>
        </p:grpSpPr>
        <p:sp>
          <p:nvSpPr>
            <p:cNvPr id="52" name="Rectangle 51">
              <a:extLst>
                <a:ext uri="{FF2B5EF4-FFF2-40B4-BE49-F238E27FC236}">
                  <a16:creationId xmlns:a16="http://schemas.microsoft.com/office/drawing/2014/main" id="{E29B23B9-8337-4C8D-8118-DB6246445878}"/>
                </a:ext>
              </a:extLst>
            </p:cNvPr>
            <p:cNvSpPr/>
            <p:nvPr/>
          </p:nvSpPr>
          <p:spPr bwMode="auto">
            <a:xfrm>
              <a:off x="5833631" y="4528084"/>
              <a:ext cx="906547" cy="540048"/>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err="1">
                <a:solidFill>
                  <a:srgbClr val="FFFFFF"/>
                </a:solidFill>
                <a:ea typeface="Segoe UI" pitchFamily="34" charset="0"/>
                <a:cs typeface="Segoe UI" pitchFamily="34" charset="0"/>
              </a:endParaRPr>
            </a:p>
          </p:txBody>
        </p:sp>
        <p:sp>
          <p:nvSpPr>
            <p:cNvPr id="62" name="TextBox 61">
              <a:extLst>
                <a:ext uri="{FF2B5EF4-FFF2-40B4-BE49-F238E27FC236}">
                  <a16:creationId xmlns:a16="http://schemas.microsoft.com/office/drawing/2014/main" id="{D5435608-2278-457C-9D63-2951A649ADB4}"/>
                </a:ext>
              </a:extLst>
            </p:cNvPr>
            <p:cNvSpPr txBox="1"/>
            <p:nvPr/>
          </p:nvSpPr>
          <p:spPr>
            <a:xfrm>
              <a:off x="5838050" y="4528084"/>
              <a:ext cx="897708" cy="397032"/>
            </a:xfrm>
            <a:prstGeom prst="rect">
              <a:avLst/>
            </a:prstGeom>
            <a:noFill/>
          </p:spPr>
          <p:txBody>
            <a:bodyPr wrap="square">
              <a:spAutoFit/>
            </a:bodyPr>
            <a:lstStyle/>
            <a:p>
              <a:pPr algn="ctr" defTabSz="932472" fontAlgn="base">
                <a:lnSpc>
                  <a:spcPct val="90000"/>
                </a:lnSpc>
                <a:spcBef>
                  <a:spcPct val="0"/>
                </a:spcBef>
                <a:spcAft>
                  <a:spcPct val="0"/>
                </a:spcAft>
              </a:pPr>
              <a:r>
                <a:rPr lang="en-US" sz="1100" dirty="0">
                  <a:ln w="3175">
                    <a:noFill/>
                  </a:ln>
                  <a:solidFill>
                    <a:srgbClr val="000000"/>
                  </a:solidFill>
                  <a:latin typeface="Segoe UI Semibold" panose="020B0702040204020203" pitchFamily="34" charset="0"/>
                  <a:cs typeface="Segoe UI Semibold" panose="020B0702040204020203" pitchFamily="34" charset="0"/>
                </a:rPr>
                <a:t>Node</a:t>
              </a:r>
              <a:r>
                <a:rPr kumimoji="0" lang="en-US" sz="11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Port 31300</a:t>
              </a:r>
              <a:endParaRPr lang="en-US" sz="1100" dirty="0">
                <a:solidFill>
                  <a:schemeClr val="tx1"/>
                </a:solidFill>
                <a:cs typeface="Segoe UI" pitchFamily="34" charset="0"/>
              </a:endParaRPr>
            </a:p>
          </p:txBody>
        </p:sp>
      </p:grpSp>
      <p:sp>
        <p:nvSpPr>
          <p:cNvPr id="64" name="Freeform 13" title="Icon of a cloud">
            <a:extLst>
              <a:ext uri="{FF2B5EF4-FFF2-40B4-BE49-F238E27FC236}">
                <a16:creationId xmlns:a16="http://schemas.microsoft.com/office/drawing/2014/main" id="{2CD47B3C-EEF4-4BAC-8ECE-A52E82B8FA77}"/>
              </a:ext>
            </a:extLst>
          </p:cNvPr>
          <p:cNvSpPr>
            <a:spLocks noChangeAspect="1"/>
          </p:cNvSpPr>
          <p:nvPr/>
        </p:nvSpPr>
        <p:spPr bwMode="auto">
          <a:xfrm>
            <a:off x="964092" y="2786623"/>
            <a:ext cx="1066702" cy="585151"/>
          </a:xfrm>
          <a:custGeom>
            <a:avLst/>
            <a:gdLst>
              <a:gd name="T0" fmla="*/ 384 w 771"/>
              <a:gd name="T1" fmla="*/ 0 h 422"/>
              <a:gd name="T2" fmla="*/ 549 w 771"/>
              <a:gd name="T3" fmla="*/ 110 h 422"/>
              <a:gd name="T4" fmla="*/ 551 w 771"/>
              <a:gd name="T5" fmla="*/ 115 h 422"/>
              <a:gd name="T6" fmla="*/ 565 w 771"/>
              <a:gd name="T7" fmla="*/ 110 h 422"/>
              <a:gd name="T8" fmla="*/ 612 w 771"/>
              <a:gd name="T9" fmla="*/ 103 h 422"/>
              <a:gd name="T10" fmla="*/ 771 w 771"/>
              <a:gd name="T11" fmla="*/ 262 h 422"/>
              <a:gd name="T12" fmla="*/ 628 w 771"/>
              <a:gd name="T13" fmla="*/ 420 h 422"/>
              <a:gd name="T14" fmla="*/ 616 w 771"/>
              <a:gd name="T15" fmla="*/ 421 h 422"/>
              <a:gd name="T16" fmla="*/ 610 w 771"/>
              <a:gd name="T17" fmla="*/ 421 h 422"/>
              <a:gd name="T18" fmla="*/ 98 w 771"/>
              <a:gd name="T19" fmla="*/ 421 h 422"/>
              <a:gd name="T20" fmla="*/ 91 w 771"/>
              <a:gd name="T21" fmla="*/ 422 h 422"/>
              <a:gd name="T22" fmla="*/ 74 w 771"/>
              <a:gd name="T23" fmla="*/ 419 h 422"/>
              <a:gd name="T24" fmla="*/ 12 w 771"/>
              <a:gd name="T25" fmla="*/ 312 h 422"/>
              <a:gd name="T26" fmla="*/ 101 w 771"/>
              <a:gd name="T27" fmla="*/ 247 h 422"/>
              <a:gd name="T28" fmla="*/ 108 w 771"/>
              <a:gd name="T29" fmla="*/ 249 h 422"/>
              <a:gd name="T30" fmla="*/ 106 w 771"/>
              <a:gd name="T31" fmla="*/ 238 h 422"/>
              <a:gd name="T32" fmla="*/ 119 w 771"/>
              <a:gd name="T33" fmla="*/ 179 h 422"/>
              <a:gd name="T34" fmla="*/ 201 w 771"/>
              <a:gd name="T35" fmla="*/ 128 h 422"/>
              <a:gd name="T36" fmla="*/ 213 w 771"/>
              <a:gd name="T37" fmla="*/ 128 h 422"/>
              <a:gd name="T38" fmla="*/ 213 w 771"/>
              <a:gd name="T39" fmla="*/ 127 h 422"/>
              <a:gd name="T40" fmla="*/ 384 w 771"/>
              <a:gd name="T41"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1" h="422">
                <a:moveTo>
                  <a:pt x="384" y="0"/>
                </a:moveTo>
                <a:cubicBezTo>
                  <a:pt x="458" y="0"/>
                  <a:pt x="522" y="46"/>
                  <a:pt x="549" y="110"/>
                </a:cubicBezTo>
                <a:cubicBezTo>
                  <a:pt x="551" y="115"/>
                  <a:pt x="551" y="115"/>
                  <a:pt x="551" y="115"/>
                </a:cubicBezTo>
                <a:cubicBezTo>
                  <a:pt x="565" y="110"/>
                  <a:pt x="565" y="110"/>
                  <a:pt x="565" y="110"/>
                </a:cubicBezTo>
                <a:cubicBezTo>
                  <a:pt x="580" y="105"/>
                  <a:pt x="596" y="103"/>
                  <a:pt x="612" y="103"/>
                </a:cubicBezTo>
                <a:cubicBezTo>
                  <a:pt x="700" y="103"/>
                  <a:pt x="771" y="174"/>
                  <a:pt x="771" y="262"/>
                </a:cubicBezTo>
                <a:cubicBezTo>
                  <a:pt x="771" y="344"/>
                  <a:pt x="708" y="412"/>
                  <a:pt x="628" y="420"/>
                </a:cubicBezTo>
                <a:cubicBezTo>
                  <a:pt x="616" y="421"/>
                  <a:pt x="616" y="421"/>
                  <a:pt x="616" y="421"/>
                </a:cubicBezTo>
                <a:cubicBezTo>
                  <a:pt x="610" y="421"/>
                  <a:pt x="610" y="421"/>
                  <a:pt x="610" y="421"/>
                </a:cubicBezTo>
                <a:cubicBezTo>
                  <a:pt x="98" y="421"/>
                  <a:pt x="98" y="421"/>
                  <a:pt x="98" y="421"/>
                </a:cubicBezTo>
                <a:cubicBezTo>
                  <a:pt x="91" y="422"/>
                  <a:pt x="91" y="422"/>
                  <a:pt x="91" y="422"/>
                </a:cubicBezTo>
                <a:cubicBezTo>
                  <a:pt x="85" y="421"/>
                  <a:pt x="79" y="420"/>
                  <a:pt x="74" y="419"/>
                </a:cubicBezTo>
                <a:cubicBezTo>
                  <a:pt x="27" y="406"/>
                  <a:pt x="0" y="359"/>
                  <a:pt x="12" y="312"/>
                </a:cubicBezTo>
                <a:cubicBezTo>
                  <a:pt x="23" y="271"/>
                  <a:pt x="61" y="245"/>
                  <a:pt x="101" y="247"/>
                </a:cubicBezTo>
                <a:cubicBezTo>
                  <a:pt x="108" y="249"/>
                  <a:pt x="108" y="249"/>
                  <a:pt x="108" y="249"/>
                </a:cubicBezTo>
                <a:cubicBezTo>
                  <a:pt x="106" y="238"/>
                  <a:pt x="106" y="238"/>
                  <a:pt x="106" y="238"/>
                </a:cubicBezTo>
                <a:cubicBezTo>
                  <a:pt x="105" y="218"/>
                  <a:pt x="109" y="198"/>
                  <a:pt x="119" y="179"/>
                </a:cubicBezTo>
                <a:cubicBezTo>
                  <a:pt x="137" y="148"/>
                  <a:pt x="168" y="130"/>
                  <a:pt x="201" y="128"/>
                </a:cubicBezTo>
                <a:cubicBezTo>
                  <a:pt x="213" y="128"/>
                  <a:pt x="213" y="128"/>
                  <a:pt x="213" y="128"/>
                </a:cubicBezTo>
                <a:cubicBezTo>
                  <a:pt x="213" y="127"/>
                  <a:pt x="213" y="127"/>
                  <a:pt x="213" y="127"/>
                </a:cubicBezTo>
                <a:cubicBezTo>
                  <a:pt x="236" y="53"/>
                  <a:pt x="304" y="0"/>
                  <a:pt x="384" y="0"/>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Calibri" panose="020F0502020204030204"/>
              <a:ea typeface="+mn-ea"/>
              <a:cs typeface="+mn-cs"/>
            </a:endParaRPr>
          </a:p>
        </p:txBody>
      </p:sp>
      <p:cxnSp>
        <p:nvCxnSpPr>
          <p:cNvPr id="65" name="Straight Arrow Connector 64">
            <a:extLst>
              <a:ext uri="{FF2B5EF4-FFF2-40B4-BE49-F238E27FC236}">
                <a16:creationId xmlns:a16="http://schemas.microsoft.com/office/drawing/2014/main" id="{AF62CA00-680D-4AD8-84FF-56EA1A47C7F1}"/>
              </a:ext>
            </a:extLst>
          </p:cNvPr>
          <p:cNvCxnSpPr>
            <a:cxnSpLocks/>
            <a:stCxn id="64" idx="5"/>
            <a:endCxn id="103" idx="1"/>
          </p:cNvCxnSpPr>
          <p:nvPr/>
        </p:nvCxnSpPr>
        <p:spPr>
          <a:xfrm>
            <a:off x="2030794" y="3149916"/>
            <a:ext cx="4853023" cy="65"/>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91" name="Picture 90" descr="Icon&#10;&#10;Description automatically generated">
            <a:extLst>
              <a:ext uri="{FF2B5EF4-FFF2-40B4-BE49-F238E27FC236}">
                <a16:creationId xmlns:a16="http://schemas.microsoft.com/office/drawing/2014/main" id="{60AA7089-F3D8-440F-9E97-94BC458EC3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7329" y="2793592"/>
            <a:ext cx="712648" cy="712648"/>
          </a:xfrm>
          <a:prstGeom prst="rect">
            <a:avLst/>
          </a:prstGeom>
        </p:spPr>
      </p:pic>
      <p:cxnSp>
        <p:nvCxnSpPr>
          <p:cNvPr id="92" name="Connector: Elbow 91">
            <a:extLst>
              <a:ext uri="{FF2B5EF4-FFF2-40B4-BE49-F238E27FC236}">
                <a16:creationId xmlns:a16="http://schemas.microsoft.com/office/drawing/2014/main" id="{CEC85D30-256F-498E-BE48-8675511EF194}"/>
              </a:ext>
            </a:extLst>
          </p:cNvPr>
          <p:cNvCxnSpPr>
            <a:cxnSpLocks/>
            <a:stCxn id="91" idx="2"/>
            <a:endCxn id="106" idx="1"/>
          </p:cNvCxnSpPr>
          <p:nvPr/>
        </p:nvCxnSpPr>
        <p:spPr>
          <a:xfrm rot="16200000" flipH="1">
            <a:off x="4823169" y="1756724"/>
            <a:ext cx="303101" cy="3802132"/>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8298F1EE-2200-4C14-93B0-1D23282DED8D}"/>
              </a:ext>
            </a:extLst>
          </p:cNvPr>
          <p:cNvCxnSpPr>
            <a:cxnSpLocks/>
            <a:stCxn id="91" idx="0"/>
            <a:endCxn id="52" idx="1"/>
          </p:cNvCxnSpPr>
          <p:nvPr/>
        </p:nvCxnSpPr>
        <p:spPr>
          <a:xfrm rot="5400000" flipH="1" flipV="1">
            <a:off x="4828853" y="722504"/>
            <a:ext cx="315888" cy="3826288"/>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94" name="Title 1">
            <a:extLst>
              <a:ext uri="{FF2B5EF4-FFF2-40B4-BE49-F238E27FC236}">
                <a16:creationId xmlns:a16="http://schemas.microsoft.com/office/drawing/2014/main" id="{423F4C89-9693-42D3-A49E-3116B416F660}"/>
              </a:ext>
            </a:extLst>
          </p:cNvPr>
          <p:cNvSpPr txBox="1">
            <a:spLocks/>
          </p:cNvSpPr>
          <p:nvPr/>
        </p:nvSpPr>
        <p:spPr>
          <a:xfrm>
            <a:off x="3472676" y="2292242"/>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External IP</a:t>
            </a:r>
          </a:p>
        </p:txBody>
      </p:sp>
      <p:sp>
        <p:nvSpPr>
          <p:cNvPr id="95" name="Title 1">
            <a:extLst>
              <a:ext uri="{FF2B5EF4-FFF2-40B4-BE49-F238E27FC236}">
                <a16:creationId xmlns:a16="http://schemas.microsoft.com/office/drawing/2014/main" id="{01F7D3B6-D11F-4D36-939F-DE8A868D513B}"/>
              </a:ext>
            </a:extLst>
          </p:cNvPr>
          <p:cNvSpPr txBox="1">
            <a:spLocks/>
          </p:cNvSpPr>
          <p:nvPr/>
        </p:nvSpPr>
        <p:spPr>
          <a:xfrm>
            <a:off x="3472676" y="3628149"/>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External IP</a:t>
            </a:r>
          </a:p>
        </p:txBody>
      </p:sp>
      <p:sp>
        <p:nvSpPr>
          <p:cNvPr id="96" name="Title 1">
            <a:extLst>
              <a:ext uri="{FF2B5EF4-FFF2-40B4-BE49-F238E27FC236}">
                <a16:creationId xmlns:a16="http://schemas.microsoft.com/office/drawing/2014/main" id="{13CAB8D9-A73E-465D-9FAF-73936552D2BD}"/>
              </a:ext>
            </a:extLst>
          </p:cNvPr>
          <p:cNvSpPr txBox="1">
            <a:spLocks/>
          </p:cNvSpPr>
          <p:nvPr/>
        </p:nvSpPr>
        <p:spPr>
          <a:xfrm>
            <a:off x="3472676" y="2971305"/>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External IP</a:t>
            </a:r>
          </a:p>
        </p:txBody>
      </p:sp>
      <p:cxnSp>
        <p:nvCxnSpPr>
          <p:cNvPr id="117" name="Straight Arrow Connector 116">
            <a:extLst>
              <a:ext uri="{FF2B5EF4-FFF2-40B4-BE49-F238E27FC236}">
                <a16:creationId xmlns:a16="http://schemas.microsoft.com/office/drawing/2014/main" id="{8B5AFA5B-4783-4112-AB03-F424DF5FA98B}"/>
              </a:ext>
            </a:extLst>
          </p:cNvPr>
          <p:cNvCxnSpPr>
            <a:cxnSpLocks/>
            <a:stCxn id="52" idx="3"/>
            <a:endCxn id="5" idx="1"/>
          </p:cNvCxnSpPr>
          <p:nvPr/>
        </p:nvCxnSpPr>
        <p:spPr>
          <a:xfrm>
            <a:off x="7870804" y="2477704"/>
            <a:ext cx="800203" cy="134"/>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2FDB0F3-2B2C-4278-BEDE-91B93169E784}"/>
              </a:ext>
            </a:extLst>
          </p:cNvPr>
          <p:cNvCxnSpPr>
            <a:cxnSpLocks/>
            <a:stCxn id="99" idx="3"/>
            <a:endCxn id="74" idx="1"/>
          </p:cNvCxnSpPr>
          <p:nvPr/>
        </p:nvCxnSpPr>
        <p:spPr>
          <a:xfrm>
            <a:off x="7849947" y="3141834"/>
            <a:ext cx="827681" cy="668"/>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FB231FD6-7EE2-4230-A869-31914F1DE7E8}"/>
              </a:ext>
            </a:extLst>
          </p:cNvPr>
          <p:cNvCxnSpPr>
            <a:cxnSpLocks/>
            <a:stCxn id="106" idx="3"/>
            <a:endCxn id="75" idx="1"/>
          </p:cNvCxnSpPr>
          <p:nvPr/>
        </p:nvCxnSpPr>
        <p:spPr>
          <a:xfrm>
            <a:off x="7837182" y="3809341"/>
            <a:ext cx="83356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C819D8F2-1F5D-410D-BD4F-FE0CA13472D0}"/>
              </a:ext>
            </a:extLst>
          </p:cNvPr>
          <p:cNvCxnSpPr>
            <a:cxnSpLocks/>
            <a:stCxn id="5" idx="3"/>
            <a:endCxn id="7" idx="1"/>
          </p:cNvCxnSpPr>
          <p:nvPr/>
        </p:nvCxnSpPr>
        <p:spPr>
          <a:xfrm>
            <a:off x="9311404" y="2477838"/>
            <a:ext cx="897206" cy="213"/>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34A7632D-A0C4-4A39-AF03-15925A8FEA55}"/>
              </a:ext>
            </a:extLst>
          </p:cNvPr>
          <p:cNvCxnSpPr>
            <a:cxnSpLocks/>
            <a:stCxn id="74" idx="3"/>
            <a:endCxn id="58" idx="1"/>
          </p:cNvCxnSpPr>
          <p:nvPr/>
        </p:nvCxnSpPr>
        <p:spPr>
          <a:xfrm>
            <a:off x="9296939" y="3142502"/>
            <a:ext cx="903833" cy="214"/>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AEABD96A-9037-443C-A1F7-9335EBA6B4EF}"/>
              </a:ext>
            </a:extLst>
          </p:cNvPr>
          <p:cNvCxnSpPr>
            <a:cxnSpLocks/>
            <a:stCxn id="75" idx="3"/>
            <a:endCxn id="66" idx="1"/>
          </p:cNvCxnSpPr>
          <p:nvPr/>
        </p:nvCxnSpPr>
        <p:spPr>
          <a:xfrm>
            <a:off x="9290055" y="3809341"/>
            <a:ext cx="909716" cy="152"/>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 sign, stop, outdoor&#10;&#10;Description automatically generated">
            <a:extLst>
              <a:ext uri="{FF2B5EF4-FFF2-40B4-BE49-F238E27FC236}">
                <a16:creationId xmlns:a16="http://schemas.microsoft.com/office/drawing/2014/main" id="{200F701E-C468-4CF8-B302-59EC0F3954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1007" y="2157639"/>
            <a:ext cx="640397" cy="640397"/>
          </a:xfrm>
          <a:prstGeom prst="rect">
            <a:avLst/>
          </a:prstGeom>
        </p:spPr>
      </p:pic>
      <p:pic>
        <p:nvPicPr>
          <p:cNvPr id="7" name="Picture 6" descr="A picture containing text, sign, stop, outdoor&#10;&#10;Description automatically generated">
            <a:extLst>
              <a:ext uri="{FF2B5EF4-FFF2-40B4-BE49-F238E27FC236}">
                <a16:creationId xmlns:a16="http://schemas.microsoft.com/office/drawing/2014/main" id="{1066F2DB-521F-488F-B38B-0AD62E35F6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08610" y="2157852"/>
            <a:ext cx="640397" cy="640397"/>
          </a:xfrm>
          <a:prstGeom prst="rect">
            <a:avLst/>
          </a:prstGeom>
        </p:spPr>
      </p:pic>
      <p:pic>
        <p:nvPicPr>
          <p:cNvPr id="58" name="Picture 57" descr="A picture containing text, sign, stop, outdoor&#10;&#10;Description automatically generated">
            <a:extLst>
              <a:ext uri="{FF2B5EF4-FFF2-40B4-BE49-F238E27FC236}">
                <a16:creationId xmlns:a16="http://schemas.microsoft.com/office/drawing/2014/main" id="{92B87AA1-4E5E-42DF-8746-D5A92E1809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00772" y="2822517"/>
            <a:ext cx="640397" cy="640397"/>
          </a:xfrm>
          <a:prstGeom prst="rect">
            <a:avLst/>
          </a:prstGeom>
        </p:spPr>
      </p:pic>
      <p:pic>
        <p:nvPicPr>
          <p:cNvPr id="66" name="Picture 65" descr="A picture containing text, sign, stop, outdoor&#10;&#10;Description automatically generated">
            <a:extLst>
              <a:ext uri="{FF2B5EF4-FFF2-40B4-BE49-F238E27FC236}">
                <a16:creationId xmlns:a16="http://schemas.microsoft.com/office/drawing/2014/main" id="{EB639D22-3972-4F20-8AA9-79629BF217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9771" y="3489294"/>
            <a:ext cx="640397" cy="640397"/>
          </a:xfrm>
          <a:prstGeom prst="rect">
            <a:avLst/>
          </a:prstGeom>
        </p:spPr>
      </p:pic>
      <p:pic>
        <p:nvPicPr>
          <p:cNvPr id="74" name="Picture 73" descr="A picture containing text, sign, stop, outdoor&#10;&#10;Description automatically generated">
            <a:extLst>
              <a:ext uri="{FF2B5EF4-FFF2-40B4-BE49-F238E27FC236}">
                <a16:creationId xmlns:a16="http://schemas.microsoft.com/office/drawing/2014/main" id="{5C647308-9731-496D-8878-3400E05A89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7628" y="2832846"/>
            <a:ext cx="619311" cy="619311"/>
          </a:xfrm>
          <a:prstGeom prst="rect">
            <a:avLst/>
          </a:prstGeom>
        </p:spPr>
      </p:pic>
      <p:pic>
        <p:nvPicPr>
          <p:cNvPr id="75" name="Picture 74" descr="A picture containing text, sign, stop, outdoor&#10;&#10;Description automatically generated">
            <a:extLst>
              <a:ext uri="{FF2B5EF4-FFF2-40B4-BE49-F238E27FC236}">
                <a16:creationId xmlns:a16="http://schemas.microsoft.com/office/drawing/2014/main" id="{5EDE9905-A6A3-4533-A9F0-B9E9CFDEF3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70745" y="3499686"/>
            <a:ext cx="619310" cy="619310"/>
          </a:xfrm>
          <a:prstGeom prst="rect">
            <a:avLst/>
          </a:prstGeom>
        </p:spPr>
      </p:pic>
      <p:grpSp>
        <p:nvGrpSpPr>
          <p:cNvPr id="98" name="Group 97">
            <a:extLst>
              <a:ext uri="{FF2B5EF4-FFF2-40B4-BE49-F238E27FC236}">
                <a16:creationId xmlns:a16="http://schemas.microsoft.com/office/drawing/2014/main" id="{CE7DF88B-8F00-52F1-EB54-B9F3B9CDCE77}"/>
              </a:ext>
            </a:extLst>
          </p:cNvPr>
          <p:cNvGrpSpPr/>
          <p:nvPr/>
        </p:nvGrpSpPr>
        <p:grpSpPr>
          <a:xfrm>
            <a:off x="6879084" y="2949560"/>
            <a:ext cx="970863" cy="398937"/>
            <a:chOff x="5833631" y="4528084"/>
            <a:chExt cx="906547" cy="560255"/>
          </a:xfrm>
          <a:solidFill>
            <a:schemeClr val="accent1">
              <a:lumMod val="40000"/>
              <a:lumOff val="60000"/>
            </a:schemeClr>
          </a:solidFill>
        </p:grpSpPr>
        <p:sp>
          <p:nvSpPr>
            <p:cNvPr id="99" name="Rectangle 98">
              <a:extLst>
                <a:ext uri="{FF2B5EF4-FFF2-40B4-BE49-F238E27FC236}">
                  <a16:creationId xmlns:a16="http://schemas.microsoft.com/office/drawing/2014/main" id="{5EA5EE5F-2672-6D87-F36C-77E406815C59}"/>
                </a:ext>
              </a:extLst>
            </p:cNvPr>
            <p:cNvSpPr/>
            <p:nvPr/>
          </p:nvSpPr>
          <p:spPr bwMode="auto">
            <a:xfrm>
              <a:off x="5833631" y="4528084"/>
              <a:ext cx="906547" cy="540048"/>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err="1">
                <a:solidFill>
                  <a:srgbClr val="FFFFFF"/>
                </a:solidFill>
                <a:ea typeface="Segoe UI" pitchFamily="34" charset="0"/>
                <a:cs typeface="Segoe UI" pitchFamily="34" charset="0"/>
              </a:endParaRPr>
            </a:p>
          </p:txBody>
        </p:sp>
        <p:sp>
          <p:nvSpPr>
            <p:cNvPr id="103" name="TextBox 102">
              <a:extLst>
                <a:ext uri="{FF2B5EF4-FFF2-40B4-BE49-F238E27FC236}">
                  <a16:creationId xmlns:a16="http://schemas.microsoft.com/office/drawing/2014/main" id="{38A4B7C6-16B6-4E77-A69A-9F7E9FDCD860}"/>
                </a:ext>
              </a:extLst>
            </p:cNvPr>
            <p:cNvSpPr txBox="1"/>
            <p:nvPr/>
          </p:nvSpPr>
          <p:spPr>
            <a:xfrm>
              <a:off x="5838050" y="4530759"/>
              <a:ext cx="897708" cy="557580"/>
            </a:xfrm>
            <a:prstGeom prst="rect">
              <a:avLst/>
            </a:prstGeom>
            <a:noFill/>
          </p:spPr>
          <p:txBody>
            <a:bodyPr wrap="square">
              <a:spAutoFit/>
            </a:bodyPr>
            <a:lstStyle/>
            <a:p>
              <a:pPr algn="ctr" defTabSz="932472" fontAlgn="base">
                <a:lnSpc>
                  <a:spcPct val="90000"/>
                </a:lnSpc>
                <a:spcBef>
                  <a:spcPct val="0"/>
                </a:spcBef>
                <a:spcAft>
                  <a:spcPct val="0"/>
                </a:spcAft>
              </a:pPr>
              <a:r>
                <a:rPr lang="en-US" sz="1100" dirty="0">
                  <a:ln w="3175">
                    <a:noFill/>
                  </a:ln>
                  <a:solidFill>
                    <a:srgbClr val="000000"/>
                  </a:solidFill>
                  <a:latin typeface="Segoe UI Semibold" panose="020B0702040204020203" pitchFamily="34" charset="0"/>
                  <a:cs typeface="Segoe UI Semibold" panose="020B0702040204020203" pitchFamily="34" charset="0"/>
                </a:rPr>
                <a:t>Node</a:t>
              </a:r>
              <a:r>
                <a:rPr kumimoji="0" lang="en-US" sz="11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Port 31400</a:t>
              </a:r>
              <a:endParaRPr lang="en-US" sz="1100" dirty="0">
                <a:solidFill>
                  <a:schemeClr val="tx1"/>
                </a:solidFill>
                <a:cs typeface="Segoe UI" pitchFamily="34" charset="0"/>
              </a:endParaRPr>
            </a:p>
          </p:txBody>
        </p:sp>
      </p:grpSp>
      <p:grpSp>
        <p:nvGrpSpPr>
          <p:cNvPr id="104" name="Group 103">
            <a:extLst>
              <a:ext uri="{FF2B5EF4-FFF2-40B4-BE49-F238E27FC236}">
                <a16:creationId xmlns:a16="http://schemas.microsoft.com/office/drawing/2014/main" id="{1888ABE9-ABE6-7FDC-E994-0F845C4F0381}"/>
              </a:ext>
            </a:extLst>
          </p:cNvPr>
          <p:cNvGrpSpPr/>
          <p:nvPr/>
        </p:nvGrpSpPr>
        <p:grpSpPr>
          <a:xfrm>
            <a:off x="6871052" y="3608920"/>
            <a:ext cx="970863" cy="398937"/>
            <a:chOff x="5833631" y="4528084"/>
            <a:chExt cx="906547" cy="560255"/>
          </a:xfrm>
          <a:solidFill>
            <a:schemeClr val="accent1">
              <a:lumMod val="40000"/>
              <a:lumOff val="60000"/>
            </a:schemeClr>
          </a:solidFill>
        </p:grpSpPr>
        <p:sp>
          <p:nvSpPr>
            <p:cNvPr id="105" name="Rectangle 104">
              <a:extLst>
                <a:ext uri="{FF2B5EF4-FFF2-40B4-BE49-F238E27FC236}">
                  <a16:creationId xmlns:a16="http://schemas.microsoft.com/office/drawing/2014/main" id="{EC32B284-EE8E-AA43-59E8-7398C5D6C4BF}"/>
                </a:ext>
              </a:extLst>
            </p:cNvPr>
            <p:cNvSpPr/>
            <p:nvPr/>
          </p:nvSpPr>
          <p:spPr bwMode="auto">
            <a:xfrm>
              <a:off x="5833631" y="4528084"/>
              <a:ext cx="906547" cy="540048"/>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err="1">
                <a:solidFill>
                  <a:srgbClr val="FFFFFF"/>
                </a:solidFill>
                <a:ea typeface="Segoe UI" pitchFamily="34" charset="0"/>
                <a:cs typeface="Segoe UI" pitchFamily="34" charset="0"/>
              </a:endParaRPr>
            </a:p>
          </p:txBody>
        </p:sp>
        <p:sp>
          <p:nvSpPr>
            <p:cNvPr id="106" name="TextBox 105">
              <a:extLst>
                <a:ext uri="{FF2B5EF4-FFF2-40B4-BE49-F238E27FC236}">
                  <a16:creationId xmlns:a16="http://schemas.microsoft.com/office/drawing/2014/main" id="{AB7573E9-D0B4-1869-6807-88610D2090E6}"/>
                </a:ext>
              </a:extLst>
            </p:cNvPr>
            <p:cNvSpPr txBox="1"/>
            <p:nvPr/>
          </p:nvSpPr>
          <p:spPr>
            <a:xfrm>
              <a:off x="5838050" y="4530759"/>
              <a:ext cx="897708" cy="557580"/>
            </a:xfrm>
            <a:prstGeom prst="rect">
              <a:avLst/>
            </a:prstGeom>
            <a:noFill/>
          </p:spPr>
          <p:txBody>
            <a:bodyPr wrap="square">
              <a:spAutoFit/>
            </a:bodyPr>
            <a:lstStyle/>
            <a:p>
              <a:pPr algn="ctr" defTabSz="932472" fontAlgn="base">
                <a:lnSpc>
                  <a:spcPct val="90000"/>
                </a:lnSpc>
                <a:spcBef>
                  <a:spcPct val="0"/>
                </a:spcBef>
                <a:spcAft>
                  <a:spcPct val="0"/>
                </a:spcAft>
              </a:pPr>
              <a:r>
                <a:rPr lang="en-US" sz="1100" dirty="0">
                  <a:ln w="3175">
                    <a:noFill/>
                  </a:ln>
                  <a:solidFill>
                    <a:srgbClr val="000000"/>
                  </a:solidFill>
                  <a:latin typeface="Segoe UI Semibold" panose="020B0702040204020203" pitchFamily="34" charset="0"/>
                  <a:cs typeface="Segoe UI Semibold" panose="020B0702040204020203" pitchFamily="34" charset="0"/>
                </a:rPr>
                <a:t>Node</a:t>
              </a:r>
              <a:r>
                <a:rPr kumimoji="0" lang="en-US" sz="11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Port 31500</a:t>
              </a:r>
              <a:endParaRPr lang="en-US" sz="1100" dirty="0">
                <a:solidFill>
                  <a:schemeClr val="tx1"/>
                </a:solidFill>
                <a:cs typeface="Segoe UI" pitchFamily="34" charset="0"/>
              </a:endParaRPr>
            </a:p>
          </p:txBody>
        </p:sp>
      </p:grpSp>
      <p:sp>
        <p:nvSpPr>
          <p:cNvPr id="160" name="Title 1">
            <a:extLst>
              <a:ext uri="{FF2B5EF4-FFF2-40B4-BE49-F238E27FC236}">
                <a16:creationId xmlns:a16="http://schemas.microsoft.com/office/drawing/2014/main" id="{E568D7A1-8A9F-1CFA-71A5-10F57010B56D}"/>
              </a:ext>
            </a:extLst>
          </p:cNvPr>
          <p:cNvSpPr txBox="1">
            <a:spLocks/>
          </p:cNvSpPr>
          <p:nvPr/>
        </p:nvSpPr>
        <p:spPr>
          <a:xfrm>
            <a:off x="5604004" y="2135165"/>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Cluster</a:t>
            </a:r>
          </a:p>
        </p:txBody>
      </p:sp>
    </p:spTree>
    <p:extLst>
      <p:ext uri="{BB962C8B-B14F-4D97-AF65-F5344CB8AC3E}">
        <p14:creationId xmlns:p14="http://schemas.microsoft.com/office/powerpoint/2010/main" val="9742932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4"/>
                                        </p:tgtEl>
                                        <p:attrNameLst>
                                          <p:attrName>style.visibility</p:attrName>
                                        </p:attrNameLst>
                                      </p:cBhvr>
                                      <p:to>
                                        <p:strVal val="visible"/>
                                      </p:to>
                                    </p:set>
                                    <p:animEffect transition="in" filter="fade">
                                      <p:cBhvr>
                                        <p:cTn id="10" dur="500"/>
                                        <p:tgtEl>
                                          <p:spTgt spid="64"/>
                                        </p:tgtEl>
                                      </p:cBhvr>
                                    </p:animEffect>
                                  </p:childTnLst>
                                </p:cTn>
                              </p:par>
                              <p:par>
                                <p:cTn id="11" presetID="10" presetClass="entr" presetSubtype="0" fill="hold" nodeType="withEffect">
                                  <p:stCondLst>
                                    <p:cond delay="0"/>
                                  </p:stCondLst>
                                  <p:childTnLst>
                                    <p:set>
                                      <p:cBhvr>
                                        <p:cTn id="12" dur="1" fill="hold">
                                          <p:stCondLst>
                                            <p:cond delay="0"/>
                                          </p:stCondLst>
                                        </p:cTn>
                                        <p:tgtEl>
                                          <p:spTgt spid="91"/>
                                        </p:tgtEl>
                                        <p:attrNameLst>
                                          <p:attrName>style.visibility</p:attrName>
                                        </p:attrNameLst>
                                      </p:cBhvr>
                                      <p:to>
                                        <p:strVal val="visible"/>
                                      </p:to>
                                    </p:set>
                                    <p:animEffect transition="in" filter="fade">
                                      <p:cBhvr>
                                        <p:cTn id="13" dur="500"/>
                                        <p:tgtEl>
                                          <p:spTgt spid="91"/>
                                        </p:tgtEl>
                                      </p:cBhvr>
                                    </p:animEffect>
                                  </p:childTnLst>
                                </p:cTn>
                              </p:par>
                              <p:par>
                                <p:cTn id="14" presetID="22" presetClass="entr" presetSubtype="8" fill="hold" nodeType="withEffect">
                                  <p:stCondLst>
                                    <p:cond delay="0"/>
                                  </p:stCondLst>
                                  <p:childTnLst>
                                    <p:set>
                                      <p:cBhvr>
                                        <p:cTn id="15" dur="1" fill="hold">
                                          <p:stCondLst>
                                            <p:cond delay="0"/>
                                          </p:stCondLst>
                                        </p:cTn>
                                        <p:tgtEl>
                                          <p:spTgt spid="92"/>
                                        </p:tgtEl>
                                        <p:attrNameLst>
                                          <p:attrName>style.visibility</p:attrName>
                                        </p:attrNameLst>
                                      </p:cBhvr>
                                      <p:to>
                                        <p:strVal val="visible"/>
                                      </p:to>
                                    </p:set>
                                    <p:animEffect transition="in" filter="wipe(left)">
                                      <p:cBhvr>
                                        <p:cTn id="16" dur="500"/>
                                        <p:tgtEl>
                                          <p:spTgt spid="92"/>
                                        </p:tgtEl>
                                      </p:cBhvr>
                                    </p:animEffect>
                                  </p:childTnLst>
                                </p:cTn>
                              </p:par>
                              <p:par>
                                <p:cTn id="17" presetID="22" presetClass="entr" presetSubtype="8" fill="hold" nodeType="withEffect">
                                  <p:stCondLst>
                                    <p:cond delay="0"/>
                                  </p:stCondLst>
                                  <p:childTnLst>
                                    <p:set>
                                      <p:cBhvr>
                                        <p:cTn id="18" dur="1" fill="hold">
                                          <p:stCondLst>
                                            <p:cond delay="0"/>
                                          </p:stCondLst>
                                        </p:cTn>
                                        <p:tgtEl>
                                          <p:spTgt spid="93"/>
                                        </p:tgtEl>
                                        <p:attrNameLst>
                                          <p:attrName>style.visibility</p:attrName>
                                        </p:attrNameLst>
                                      </p:cBhvr>
                                      <p:to>
                                        <p:strVal val="visible"/>
                                      </p:to>
                                    </p:set>
                                    <p:animEffect transition="in" filter="wipe(left)">
                                      <p:cBhvr>
                                        <p:cTn id="19" dur="500"/>
                                        <p:tgtEl>
                                          <p:spTgt spid="93"/>
                                        </p:tgtEl>
                                      </p:cBhvr>
                                    </p:animEffect>
                                  </p:childTnLst>
                                </p:cTn>
                              </p:par>
                              <p:par>
                                <p:cTn id="20" presetID="10" presetClass="entr" presetSubtype="0" fill="hold" nodeType="with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fade">
                                      <p:cBhvr>
                                        <p:cTn id="22" dur="500"/>
                                        <p:tgtEl>
                                          <p:spTgt spid="100"/>
                                        </p:tgtEl>
                                      </p:cBhvr>
                                    </p:animEffect>
                                  </p:childTnLst>
                                </p:cTn>
                              </p:par>
                              <p:par>
                                <p:cTn id="23" presetID="22" presetClass="entr" presetSubtype="8" fill="hold" nodeType="withEffect">
                                  <p:stCondLst>
                                    <p:cond delay="0"/>
                                  </p:stCondLst>
                                  <p:childTnLst>
                                    <p:set>
                                      <p:cBhvr>
                                        <p:cTn id="24" dur="1" fill="hold">
                                          <p:stCondLst>
                                            <p:cond delay="0"/>
                                          </p:stCondLst>
                                        </p:cTn>
                                        <p:tgtEl>
                                          <p:spTgt spid="117"/>
                                        </p:tgtEl>
                                        <p:attrNameLst>
                                          <p:attrName>style.visibility</p:attrName>
                                        </p:attrNameLst>
                                      </p:cBhvr>
                                      <p:to>
                                        <p:strVal val="visible"/>
                                      </p:to>
                                    </p:set>
                                    <p:animEffect transition="in" filter="wipe(left)">
                                      <p:cBhvr>
                                        <p:cTn id="25" dur="500"/>
                                        <p:tgtEl>
                                          <p:spTgt spid="117"/>
                                        </p:tgtEl>
                                      </p:cBhvr>
                                    </p:animEffect>
                                  </p:childTnLst>
                                </p:cTn>
                              </p:par>
                              <p:par>
                                <p:cTn id="26" presetID="22" presetClass="entr" presetSubtype="8" fill="hold" nodeType="withEffect">
                                  <p:stCondLst>
                                    <p:cond delay="0"/>
                                  </p:stCondLst>
                                  <p:childTnLst>
                                    <p:set>
                                      <p:cBhvr>
                                        <p:cTn id="27" dur="1" fill="hold">
                                          <p:stCondLst>
                                            <p:cond delay="0"/>
                                          </p:stCondLst>
                                        </p:cTn>
                                        <p:tgtEl>
                                          <p:spTgt spid="126"/>
                                        </p:tgtEl>
                                        <p:attrNameLst>
                                          <p:attrName>style.visibility</p:attrName>
                                        </p:attrNameLst>
                                      </p:cBhvr>
                                      <p:to>
                                        <p:strVal val="visible"/>
                                      </p:to>
                                    </p:set>
                                    <p:animEffect transition="in" filter="wipe(left)">
                                      <p:cBhvr>
                                        <p:cTn id="28" dur="500"/>
                                        <p:tgtEl>
                                          <p:spTgt spid="126"/>
                                        </p:tgtEl>
                                      </p:cBhvr>
                                    </p:animEffect>
                                  </p:childTnLst>
                                </p:cTn>
                              </p:par>
                              <p:par>
                                <p:cTn id="29" presetID="22" presetClass="entr" presetSubtype="8" fill="hold" nodeType="with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wipe(left)">
                                      <p:cBhvr>
                                        <p:cTn id="31" dur="500"/>
                                        <p:tgtEl>
                                          <p:spTgt spid="6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94"/>
                                        </p:tgtEl>
                                        <p:attrNameLst>
                                          <p:attrName>style.visibility</p:attrName>
                                        </p:attrNameLst>
                                      </p:cBhvr>
                                      <p:to>
                                        <p:strVal val="visible"/>
                                      </p:to>
                                    </p:set>
                                    <p:animEffect transition="in" filter="wipe(down)">
                                      <p:cBhvr>
                                        <p:cTn id="34" dur="500"/>
                                        <p:tgtEl>
                                          <p:spTgt spid="94"/>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95"/>
                                        </p:tgtEl>
                                        <p:attrNameLst>
                                          <p:attrName>style.visibility</p:attrName>
                                        </p:attrNameLst>
                                      </p:cBhvr>
                                      <p:to>
                                        <p:strVal val="visible"/>
                                      </p:to>
                                    </p:set>
                                    <p:animEffect transition="in" filter="wipe(down)">
                                      <p:cBhvr>
                                        <p:cTn id="37" dur="500"/>
                                        <p:tgtEl>
                                          <p:spTgt spid="95"/>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96"/>
                                        </p:tgtEl>
                                        <p:attrNameLst>
                                          <p:attrName>style.visibility</p:attrName>
                                        </p:attrNameLst>
                                      </p:cBhvr>
                                      <p:to>
                                        <p:strVal val="visible"/>
                                      </p:to>
                                    </p:set>
                                    <p:animEffect transition="in" filter="wipe(down)">
                                      <p:cBhvr>
                                        <p:cTn id="40" dur="500"/>
                                        <p:tgtEl>
                                          <p:spTgt spid="96"/>
                                        </p:tgtEl>
                                      </p:cBhvr>
                                    </p:animEffect>
                                  </p:childTnLst>
                                </p:cTn>
                              </p:par>
                              <p:par>
                                <p:cTn id="41" presetID="22" presetClass="entr" presetSubtype="8" fill="hold" nodeType="withEffect">
                                  <p:stCondLst>
                                    <p:cond delay="0"/>
                                  </p:stCondLst>
                                  <p:childTnLst>
                                    <p:set>
                                      <p:cBhvr>
                                        <p:cTn id="42" dur="1" fill="hold">
                                          <p:stCondLst>
                                            <p:cond delay="0"/>
                                          </p:stCondLst>
                                        </p:cTn>
                                        <p:tgtEl>
                                          <p:spTgt spid="120"/>
                                        </p:tgtEl>
                                        <p:attrNameLst>
                                          <p:attrName>style.visibility</p:attrName>
                                        </p:attrNameLst>
                                      </p:cBhvr>
                                      <p:to>
                                        <p:strVal val="visible"/>
                                      </p:to>
                                    </p:set>
                                    <p:animEffect transition="in" filter="wipe(left)">
                                      <p:cBhvr>
                                        <p:cTn id="43" dur="500"/>
                                        <p:tgtEl>
                                          <p:spTgt spid="120"/>
                                        </p:tgtEl>
                                      </p:cBhvr>
                                    </p:animEffect>
                                  </p:childTnLst>
                                </p:cTn>
                              </p:par>
                              <p:par>
                                <p:cTn id="44" presetID="22" presetClass="entr" presetSubtype="8" fill="hold" nodeType="withEffect">
                                  <p:stCondLst>
                                    <p:cond delay="0"/>
                                  </p:stCondLst>
                                  <p:childTnLst>
                                    <p:set>
                                      <p:cBhvr>
                                        <p:cTn id="45" dur="1" fill="hold">
                                          <p:stCondLst>
                                            <p:cond delay="0"/>
                                          </p:stCondLst>
                                        </p:cTn>
                                        <p:tgtEl>
                                          <p:spTgt spid="123"/>
                                        </p:tgtEl>
                                        <p:attrNameLst>
                                          <p:attrName>style.visibility</p:attrName>
                                        </p:attrNameLst>
                                      </p:cBhvr>
                                      <p:to>
                                        <p:strVal val="visible"/>
                                      </p:to>
                                    </p:set>
                                    <p:animEffect transition="in" filter="wipe(left)">
                                      <p:cBhvr>
                                        <p:cTn id="46" dur="500"/>
                                        <p:tgtEl>
                                          <p:spTgt spid="123"/>
                                        </p:tgtEl>
                                      </p:cBhvr>
                                    </p:animEffect>
                                  </p:childTnLst>
                                </p:cTn>
                              </p:par>
                              <p:par>
                                <p:cTn id="47" presetID="22" presetClass="entr" presetSubtype="8" fill="hold" nodeType="withEffect">
                                  <p:stCondLst>
                                    <p:cond delay="0"/>
                                  </p:stCondLst>
                                  <p:childTnLst>
                                    <p:set>
                                      <p:cBhvr>
                                        <p:cTn id="48" dur="1" fill="hold">
                                          <p:stCondLst>
                                            <p:cond delay="0"/>
                                          </p:stCondLst>
                                        </p:cTn>
                                        <p:tgtEl>
                                          <p:spTgt spid="129"/>
                                        </p:tgtEl>
                                        <p:attrNameLst>
                                          <p:attrName>style.visibility</p:attrName>
                                        </p:attrNameLst>
                                      </p:cBhvr>
                                      <p:to>
                                        <p:strVal val="visible"/>
                                      </p:to>
                                    </p:set>
                                    <p:animEffect transition="in" filter="wipe(left)">
                                      <p:cBhvr>
                                        <p:cTn id="49" dur="500"/>
                                        <p:tgtEl>
                                          <p:spTgt spid="129"/>
                                        </p:tgtEl>
                                      </p:cBhvr>
                                    </p:animEffect>
                                  </p:childTnLst>
                                </p:cTn>
                              </p:par>
                              <p:par>
                                <p:cTn id="50" presetID="22" presetClass="entr" presetSubtype="8" fill="hold" nodeType="withEffect">
                                  <p:stCondLst>
                                    <p:cond delay="0"/>
                                  </p:stCondLst>
                                  <p:childTnLst>
                                    <p:set>
                                      <p:cBhvr>
                                        <p:cTn id="51" dur="1" fill="hold">
                                          <p:stCondLst>
                                            <p:cond delay="0"/>
                                          </p:stCondLst>
                                        </p:cTn>
                                        <p:tgtEl>
                                          <p:spTgt spid="132"/>
                                        </p:tgtEl>
                                        <p:attrNameLst>
                                          <p:attrName>style.visibility</p:attrName>
                                        </p:attrNameLst>
                                      </p:cBhvr>
                                      <p:to>
                                        <p:strVal val="visible"/>
                                      </p:to>
                                    </p:set>
                                    <p:animEffect transition="in" filter="wipe(left)">
                                      <p:cBhvr>
                                        <p:cTn id="52" dur="500"/>
                                        <p:tgtEl>
                                          <p:spTgt spid="132"/>
                                        </p:tgtEl>
                                      </p:cBhvr>
                                    </p:animEffect>
                                  </p:childTnLst>
                                </p:cTn>
                              </p:par>
                              <p:par>
                                <p:cTn id="53" presetID="10" presetClass="entr" presetSubtype="0" fill="hold"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500"/>
                                        <p:tgtEl>
                                          <p:spTgt spid="5"/>
                                        </p:tgtEl>
                                      </p:cBhvr>
                                    </p:animEffect>
                                  </p:childTnLst>
                                </p:cTn>
                              </p:par>
                              <p:par>
                                <p:cTn id="56" presetID="10" presetClass="entr" presetSubtype="0" fill="hold" nodeType="withEffect">
                                  <p:stCondLst>
                                    <p:cond delay="0"/>
                                  </p:stCondLst>
                                  <p:childTnLst>
                                    <p:set>
                                      <p:cBhvr>
                                        <p:cTn id="57" dur="1" fill="hold">
                                          <p:stCondLst>
                                            <p:cond delay="0"/>
                                          </p:stCondLst>
                                        </p:cTn>
                                        <p:tgtEl>
                                          <p:spTgt spid="74"/>
                                        </p:tgtEl>
                                        <p:attrNameLst>
                                          <p:attrName>style.visibility</p:attrName>
                                        </p:attrNameLst>
                                      </p:cBhvr>
                                      <p:to>
                                        <p:strVal val="visible"/>
                                      </p:to>
                                    </p:set>
                                    <p:animEffect transition="in" filter="fade">
                                      <p:cBhvr>
                                        <p:cTn id="58" dur="500"/>
                                        <p:tgtEl>
                                          <p:spTgt spid="74"/>
                                        </p:tgtEl>
                                      </p:cBhvr>
                                    </p:animEffect>
                                  </p:childTnLst>
                                </p:cTn>
                              </p:par>
                              <p:par>
                                <p:cTn id="59" presetID="10" presetClass="entr" presetSubtype="0" fill="hold" nodeType="withEffect">
                                  <p:stCondLst>
                                    <p:cond delay="0"/>
                                  </p:stCondLst>
                                  <p:childTnLst>
                                    <p:set>
                                      <p:cBhvr>
                                        <p:cTn id="60" dur="1" fill="hold">
                                          <p:stCondLst>
                                            <p:cond delay="0"/>
                                          </p:stCondLst>
                                        </p:cTn>
                                        <p:tgtEl>
                                          <p:spTgt spid="75"/>
                                        </p:tgtEl>
                                        <p:attrNameLst>
                                          <p:attrName>style.visibility</p:attrName>
                                        </p:attrNameLst>
                                      </p:cBhvr>
                                      <p:to>
                                        <p:strVal val="visible"/>
                                      </p:to>
                                    </p:set>
                                    <p:animEffect transition="in" filter="fade">
                                      <p:cBhvr>
                                        <p:cTn id="61" dur="500"/>
                                        <p:tgtEl>
                                          <p:spTgt spid="75"/>
                                        </p:tgtEl>
                                      </p:cBhvr>
                                    </p:animEffect>
                                  </p:childTnLst>
                                </p:cTn>
                              </p:par>
                              <p:par>
                                <p:cTn id="62" presetID="10" presetClass="entr" presetSubtype="0" fill="hold" nodeType="with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par>
                                <p:cTn id="65" presetID="10" presetClass="entr" presetSubtype="0" fill="hold" nodeType="with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500"/>
                                        <p:tgtEl>
                                          <p:spTgt spid="58"/>
                                        </p:tgtEl>
                                      </p:cBhvr>
                                    </p:animEffect>
                                  </p:childTnLst>
                                </p:cTn>
                              </p:par>
                              <p:par>
                                <p:cTn id="68" presetID="10" presetClass="entr" presetSubtype="0" fill="hold" nodeType="withEffect">
                                  <p:stCondLst>
                                    <p:cond delay="0"/>
                                  </p:stCondLst>
                                  <p:childTnLst>
                                    <p:set>
                                      <p:cBhvr>
                                        <p:cTn id="69" dur="1" fill="hold">
                                          <p:stCondLst>
                                            <p:cond delay="0"/>
                                          </p:stCondLst>
                                        </p:cTn>
                                        <p:tgtEl>
                                          <p:spTgt spid="66"/>
                                        </p:tgtEl>
                                        <p:attrNameLst>
                                          <p:attrName>style.visibility</p:attrName>
                                        </p:attrNameLst>
                                      </p:cBhvr>
                                      <p:to>
                                        <p:strVal val="visible"/>
                                      </p:to>
                                    </p:set>
                                    <p:animEffect transition="in" filter="fade">
                                      <p:cBhvr>
                                        <p:cTn id="70" dur="500"/>
                                        <p:tgtEl>
                                          <p:spTgt spid="66"/>
                                        </p:tgtEl>
                                      </p:cBhvr>
                                    </p:animEffect>
                                  </p:childTnLst>
                                </p:cTn>
                              </p:par>
                              <p:par>
                                <p:cTn id="71" presetID="10" presetClass="entr" presetSubtype="0" fill="hold" nodeType="withEffect">
                                  <p:stCondLst>
                                    <p:cond delay="0"/>
                                  </p:stCondLst>
                                  <p:childTnLst>
                                    <p:set>
                                      <p:cBhvr>
                                        <p:cTn id="72" dur="1" fill="hold">
                                          <p:stCondLst>
                                            <p:cond delay="0"/>
                                          </p:stCondLst>
                                        </p:cTn>
                                        <p:tgtEl>
                                          <p:spTgt spid="98"/>
                                        </p:tgtEl>
                                        <p:attrNameLst>
                                          <p:attrName>style.visibility</p:attrName>
                                        </p:attrNameLst>
                                      </p:cBhvr>
                                      <p:to>
                                        <p:strVal val="visible"/>
                                      </p:to>
                                    </p:set>
                                    <p:animEffect transition="in" filter="fade">
                                      <p:cBhvr>
                                        <p:cTn id="73" dur="500"/>
                                        <p:tgtEl>
                                          <p:spTgt spid="98"/>
                                        </p:tgtEl>
                                      </p:cBhvr>
                                    </p:animEffect>
                                  </p:childTnLst>
                                </p:cTn>
                              </p:par>
                              <p:par>
                                <p:cTn id="74" presetID="10" presetClass="entr" presetSubtype="0" fill="hold" nodeType="withEffect">
                                  <p:stCondLst>
                                    <p:cond delay="0"/>
                                  </p:stCondLst>
                                  <p:childTnLst>
                                    <p:set>
                                      <p:cBhvr>
                                        <p:cTn id="75" dur="1" fill="hold">
                                          <p:stCondLst>
                                            <p:cond delay="0"/>
                                          </p:stCondLst>
                                        </p:cTn>
                                        <p:tgtEl>
                                          <p:spTgt spid="104"/>
                                        </p:tgtEl>
                                        <p:attrNameLst>
                                          <p:attrName>style.visibility</p:attrName>
                                        </p:attrNameLst>
                                      </p:cBhvr>
                                      <p:to>
                                        <p:strVal val="visible"/>
                                      </p:to>
                                    </p:set>
                                    <p:animEffect transition="in" filter="fade">
                                      <p:cBhvr>
                                        <p:cTn id="76" dur="500"/>
                                        <p:tgtEl>
                                          <p:spTgt spid="104"/>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160"/>
                                        </p:tgtEl>
                                        <p:attrNameLst>
                                          <p:attrName>style.visibility</p:attrName>
                                        </p:attrNameLst>
                                      </p:cBhvr>
                                      <p:to>
                                        <p:strVal val="visible"/>
                                      </p:to>
                                    </p:set>
                                    <p:animEffect transition="in" filter="wipe(down)">
                                      <p:cBhvr>
                                        <p:cTn id="79" dur="500"/>
                                        <p:tgtEl>
                                          <p:spTgt spid="160"/>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
                                            <p:txEl>
                                              <p:pRg st="5" end="5"/>
                                            </p:txEl>
                                          </p:spTgt>
                                        </p:tgtEl>
                                        <p:attrNameLst>
                                          <p:attrName>style.visibility</p:attrName>
                                        </p:attrNameLst>
                                      </p:cBhvr>
                                      <p:to>
                                        <p:strVal val="visible"/>
                                      </p:to>
                                    </p:set>
                                    <p:animEffect transition="in" filter="fade">
                                      <p:cBhvr>
                                        <p:cTn id="84" dur="500"/>
                                        <p:tgtEl>
                                          <p:spTgt spid="3">
                                            <p:txEl>
                                              <p:pRg st="5" end="5"/>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
                                            <p:txEl>
                                              <p:pRg st="6" end="6"/>
                                            </p:txEl>
                                          </p:spTgt>
                                        </p:tgtEl>
                                        <p:attrNameLst>
                                          <p:attrName>style.visibility</p:attrName>
                                        </p:attrNameLst>
                                      </p:cBhvr>
                                      <p:to>
                                        <p:strVal val="visible"/>
                                      </p:to>
                                    </p:set>
                                    <p:animEffect transition="in" filter="fade">
                                      <p:cBhvr>
                                        <p:cTn id="89" dur="500"/>
                                        <p:tgtEl>
                                          <p:spTgt spid="3">
                                            <p:txEl>
                                              <p:pRg st="6" end="6"/>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
                                            <p:txEl>
                                              <p:pRg st="7" end="7"/>
                                            </p:txEl>
                                          </p:spTgt>
                                        </p:tgtEl>
                                        <p:attrNameLst>
                                          <p:attrName>style.visibility</p:attrName>
                                        </p:attrNameLst>
                                      </p:cBhvr>
                                      <p:to>
                                        <p:strVal val="visible"/>
                                      </p:to>
                                    </p:set>
                                    <p:animEffect transition="in" filter="fade">
                                      <p:cBhvr>
                                        <p:cTn id="9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64" grpId="0" animBg="1"/>
      <p:bldP spid="94" grpId="0"/>
      <p:bldP spid="95" grpId="0"/>
      <p:bldP spid="96" grpId="0"/>
      <p:bldP spid="16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t>Kubernetes Load Balancer vs Ingress</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352068" y="1350307"/>
            <a:ext cx="11569361" cy="338554"/>
          </a:xfrm>
        </p:spPr>
        <p:txBody>
          <a:bodyPr/>
          <a:lstStyle/>
          <a:p>
            <a:pPr>
              <a:spcBef>
                <a:spcPts val="0"/>
              </a:spcBef>
            </a:pPr>
            <a:r>
              <a:rPr lang="en-US" sz="2200" dirty="0"/>
              <a:t>An </a:t>
            </a:r>
            <a:r>
              <a:rPr lang="en-US" sz="2200" b="1" i="1" dirty="0"/>
              <a:t>Ingress</a:t>
            </a:r>
            <a:r>
              <a:rPr lang="en-US" sz="2200" dirty="0"/>
              <a:t> Resource enables routing to internal traffic through a single external endpoint.</a:t>
            </a:r>
          </a:p>
        </p:txBody>
      </p:sp>
      <p:sp>
        <p:nvSpPr>
          <p:cNvPr id="107" name="Rectangle: Rounded Corners 106">
            <a:extLst>
              <a:ext uri="{FF2B5EF4-FFF2-40B4-BE49-F238E27FC236}">
                <a16:creationId xmlns:a16="http://schemas.microsoft.com/office/drawing/2014/main" id="{9A55FD06-8787-99B1-083A-578E0616AC28}"/>
              </a:ext>
            </a:extLst>
          </p:cNvPr>
          <p:cNvSpPr/>
          <p:nvPr/>
        </p:nvSpPr>
        <p:spPr bwMode="auto">
          <a:xfrm>
            <a:off x="3948826" y="1821671"/>
            <a:ext cx="7220637" cy="2019431"/>
          </a:xfrm>
          <a:prstGeom prst="roundRect">
            <a:avLst>
              <a:gd name="adj" fmla="val 3125"/>
            </a:avLst>
          </a:prstGeom>
          <a:solidFill>
            <a:schemeClr val="bg1">
              <a:lumMod val="85000"/>
            </a:schemeClr>
          </a:solidFill>
          <a:ln>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lang="en-US" sz="1200" dirty="0">
              <a:solidFill>
                <a:schemeClr val="tx1"/>
              </a:solidFill>
              <a:cs typeface="Segoe UI" pitchFamily="34" charset="0"/>
            </a:endParaRPr>
          </a:p>
        </p:txBody>
      </p:sp>
      <p:sp>
        <p:nvSpPr>
          <p:cNvPr id="112" name="Freeform 13" title="Icon of a cloud">
            <a:extLst>
              <a:ext uri="{FF2B5EF4-FFF2-40B4-BE49-F238E27FC236}">
                <a16:creationId xmlns:a16="http://schemas.microsoft.com/office/drawing/2014/main" id="{8979493D-0006-CA57-995D-FC2F0CD42E27}"/>
              </a:ext>
            </a:extLst>
          </p:cNvPr>
          <p:cNvSpPr>
            <a:spLocks noChangeAspect="1"/>
          </p:cNvSpPr>
          <p:nvPr/>
        </p:nvSpPr>
        <p:spPr bwMode="auto">
          <a:xfrm>
            <a:off x="1091101" y="2495181"/>
            <a:ext cx="1066702" cy="585151"/>
          </a:xfrm>
          <a:custGeom>
            <a:avLst/>
            <a:gdLst>
              <a:gd name="T0" fmla="*/ 384 w 771"/>
              <a:gd name="T1" fmla="*/ 0 h 422"/>
              <a:gd name="T2" fmla="*/ 549 w 771"/>
              <a:gd name="T3" fmla="*/ 110 h 422"/>
              <a:gd name="T4" fmla="*/ 551 w 771"/>
              <a:gd name="T5" fmla="*/ 115 h 422"/>
              <a:gd name="T6" fmla="*/ 565 w 771"/>
              <a:gd name="T7" fmla="*/ 110 h 422"/>
              <a:gd name="T8" fmla="*/ 612 w 771"/>
              <a:gd name="T9" fmla="*/ 103 h 422"/>
              <a:gd name="T10" fmla="*/ 771 w 771"/>
              <a:gd name="T11" fmla="*/ 262 h 422"/>
              <a:gd name="T12" fmla="*/ 628 w 771"/>
              <a:gd name="T13" fmla="*/ 420 h 422"/>
              <a:gd name="T14" fmla="*/ 616 w 771"/>
              <a:gd name="T15" fmla="*/ 421 h 422"/>
              <a:gd name="T16" fmla="*/ 610 w 771"/>
              <a:gd name="T17" fmla="*/ 421 h 422"/>
              <a:gd name="T18" fmla="*/ 98 w 771"/>
              <a:gd name="T19" fmla="*/ 421 h 422"/>
              <a:gd name="T20" fmla="*/ 91 w 771"/>
              <a:gd name="T21" fmla="*/ 422 h 422"/>
              <a:gd name="T22" fmla="*/ 74 w 771"/>
              <a:gd name="T23" fmla="*/ 419 h 422"/>
              <a:gd name="T24" fmla="*/ 12 w 771"/>
              <a:gd name="T25" fmla="*/ 312 h 422"/>
              <a:gd name="T26" fmla="*/ 101 w 771"/>
              <a:gd name="T27" fmla="*/ 247 h 422"/>
              <a:gd name="T28" fmla="*/ 108 w 771"/>
              <a:gd name="T29" fmla="*/ 249 h 422"/>
              <a:gd name="T30" fmla="*/ 106 w 771"/>
              <a:gd name="T31" fmla="*/ 238 h 422"/>
              <a:gd name="T32" fmla="*/ 119 w 771"/>
              <a:gd name="T33" fmla="*/ 179 h 422"/>
              <a:gd name="T34" fmla="*/ 201 w 771"/>
              <a:gd name="T35" fmla="*/ 128 h 422"/>
              <a:gd name="T36" fmla="*/ 213 w 771"/>
              <a:gd name="T37" fmla="*/ 128 h 422"/>
              <a:gd name="T38" fmla="*/ 213 w 771"/>
              <a:gd name="T39" fmla="*/ 127 h 422"/>
              <a:gd name="T40" fmla="*/ 384 w 771"/>
              <a:gd name="T41"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1" h="422">
                <a:moveTo>
                  <a:pt x="384" y="0"/>
                </a:moveTo>
                <a:cubicBezTo>
                  <a:pt x="458" y="0"/>
                  <a:pt x="522" y="46"/>
                  <a:pt x="549" y="110"/>
                </a:cubicBezTo>
                <a:cubicBezTo>
                  <a:pt x="551" y="115"/>
                  <a:pt x="551" y="115"/>
                  <a:pt x="551" y="115"/>
                </a:cubicBezTo>
                <a:cubicBezTo>
                  <a:pt x="565" y="110"/>
                  <a:pt x="565" y="110"/>
                  <a:pt x="565" y="110"/>
                </a:cubicBezTo>
                <a:cubicBezTo>
                  <a:pt x="580" y="105"/>
                  <a:pt x="596" y="103"/>
                  <a:pt x="612" y="103"/>
                </a:cubicBezTo>
                <a:cubicBezTo>
                  <a:pt x="700" y="103"/>
                  <a:pt x="771" y="174"/>
                  <a:pt x="771" y="262"/>
                </a:cubicBezTo>
                <a:cubicBezTo>
                  <a:pt x="771" y="344"/>
                  <a:pt x="708" y="412"/>
                  <a:pt x="628" y="420"/>
                </a:cubicBezTo>
                <a:cubicBezTo>
                  <a:pt x="616" y="421"/>
                  <a:pt x="616" y="421"/>
                  <a:pt x="616" y="421"/>
                </a:cubicBezTo>
                <a:cubicBezTo>
                  <a:pt x="610" y="421"/>
                  <a:pt x="610" y="421"/>
                  <a:pt x="610" y="421"/>
                </a:cubicBezTo>
                <a:cubicBezTo>
                  <a:pt x="98" y="421"/>
                  <a:pt x="98" y="421"/>
                  <a:pt x="98" y="421"/>
                </a:cubicBezTo>
                <a:cubicBezTo>
                  <a:pt x="91" y="422"/>
                  <a:pt x="91" y="422"/>
                  <a:pt x="91" y="422"/>
                </a:cubicBezTo>
                <a:cubicBezTo>
                  <a:pt x="85" y="421"/>
                  <a:pt x="79" y="420"/>
                  <a:pt x="74" y="419"/>
                </a:cubicBezTo>
                <a:cubicBezTo>
                  <a:pt x="27" y="406"/>
                  <a:pt x="0" y="359"/>
                  <a:pt x="12" y="312"/>
                </a:cubicBezTo>
                <a:cubicBezTo>
                  <a:pt x="23" y="271"/>
                  <a:pt x="61" y="245"/>
                  <a:pt x="101" y="247"/>
                </a:cubicBezTo>
                <a:cubicBezTo>
                  <a:pt x="108" y="249"/>
                  <a:pt x="108" y="249"/>
                  <a:pt x="108" y="249"/>
                </a:cubicBezTo>
                <a:cubicBezTo>
                  <a:pt x="106" y="238"/>
                  <a:pt x="106" y="238"/>
                  <a:pt x="106" y="238"/>
                </a:cubicBezTo>
                <a:cubicBezTo>
                  <a:pt x="105" y="218"/>
                  <a:pt x="109" y="198"/>
                  <a:pt x="119" y="179"/>
                </a:cubicBezTo>
                <a:cubicBezTo>
                  <a:pt x="137" y="148"/>
                  <a:pt x="168" y="130"/>
                  <a:pt x="201" y="128"/>
                </a:cubicBezTo>
                <a:cubicBezTo>
                  <a:pt x="213" y="128"/>
                  <a:pt x="213" y="128"/>
                  <a:pt x="213" y="128"/>
                </a:cubicBezTo>
                <a:cubicBezTo>
                  <a:pt x="213" y="127"/>
                  <a:pt x="213" y="127"/>
                  <a:pt x="213" y="127"/>
                </a:cubicBezTo>
                <a:cubicBezTo>
                  <a:pt x="236" y="53"/>
                  <a:pt x="304" y="0"/>
                  <a:pt x="384" y="0"/>
                </a:cubicBezTo>
                <a:close/>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Calibri" panose="020F0502020204030204"/>
              <a:ea typeface="+mn-ea"/>
              <a:cs typeface="+mn-cs"/>
            </a:endParaRPr>
          </a:p>
        </p:txBody>
      </p:sp>
      <p:cxnSp>
        <p:nvCxnSpPr>
          <p:cNvPr id="113" name="Straight Arrow Connector 112">
            <a:extLst>
              <a:ext uri="{FF2B5EF4-FFF2-40B4-BE49-F238E27FC236}">
                <a16:creationId xmlns:a16="http://schemas.microsoft.com/office/drawing/2014/main" id="{10FB103D-3498-E713-7DD7-4EEFB6236145}"/>
              </a:ext>
            </a:extLst>
          </p:cNvPr>
          <p:cNvCxnSpPr>
            <a:cxnSpLocks/>
            <a:stCxn id="112" idx="5"/>
            <a:endCxn id="140" idx="1"/>
          </p:cNvCxnSpPr>
          <p:nvPr/>
        </p:nvCxnSpPr>
        <p:spPr>
          <a:xfrm>
            <a:off x="2157803" y="2858474"/>
            <a:ext cx="2101125" cy="953"/>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114" name="Picture 113" descr="Icon&#10;&#10;Description automatically generated">
            <a:extLst>
              <a:ext uri="{FF2B5EF4-FFF2-40B4-BE49-F238E27FC236}">
                <a16:creationId xmlns:a16="http://schemas.microsoft.com/office/drawing/2014/main" id="{C4A194A9-8876-80AE-409A-1E9BC9155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4338" y="2505960"/>
            <a:ext cx="712648" cy="712648"/>
          </a:xfrm>
          <a:prstGeom prst="rect">
            <a:avLst/>
          </a:prstGeom>
        </p:spPr>
      </p:pic>
      <p:sp>
        <p:nvSpPr>
          <p:cNvPr id="118" name="Title 1">
            <a:extLst>
              <a:ext uri="{FF2B5EF4-FFF2-40B4-BE49-F238E27FC236}">
                <a16:creationId xmlns:a16="http://schemas.microsoft.com/office/drawing/2014/main" id="{7387ABCD-21A1-C3A1-3631-347DE004B051}"/>
              </a:ext>
            </a:extLst>
          </p:cNvPr>
          <p:cNvSpPr txBox="1">
            <a:spLocks/>
          </p:cNvSpPr>
          <p:nvPr/>
        </p:nvSpPr>
        <p:spPr>
          <a:xfrm>
            <a:off x="2661482" y="2228544"/>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External IP</a:t>
            </a:r>
          </a:p>
        </p:txBody>
      </p:sp>
      <p:cxnSp>
        <p:nvCxnSpPr>
          <p:cNvPr id="127" name="Straight Arrow Connector 126">
            <a:extLst>
              <a:ext uri="{FF2B5EF4-FFF2-40B4-BE49-F238E27FC236}">
                <a16:creationId xmlns:a16="http://schemas.microsoft.com/office/drawing/2014/main" id="{E9CFC51C-B659-0852-4B99-5F228E652B13}"/>
              </a:ext>
            </a:extLst>
          </p:cNvPr>
          <p:cNvCxnSpPr>
            <a:cxnSpLocks/>
            <a:stCxn id="131" idx="3"/>
            <a:endCxn id="133" idx="1"/>
          </p:cNvCxnSpPr>
          <p:nvPr/>
        </p:nvCxnSpPr>
        <p:spPr>
          <a:xfrm>
            <a:off x="9426766" y="2194229"/>
            <a:ext cx="908853" cy="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FC9AB35D-45F2-BC86-69A8-9AEC027B27F2}"/>
              </a:ext>
            </a:extLst>
          </p:cNvPr>
          <p:cNvCxnSpPr>
            <a:cxnSpLocks/>
            <a:stCxn id="136" idx="3"/>
            <a:endCxn id="134" idx="1"/>
          </p:cNvCxnSpPr>
          <p:nvPr/>
        </p:nvCxnSpPr>
        <p:spPr>
          <a:xfrm>
            <a:off x="9412301" y="2858893"/>
            <a:ext cx="915480" cy="1"/>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177B5D7F-4DBF-AF51-7C00-2D6BB743A27C}"/>
              </a:ext>
            </a:extLst>
          </p:cNvPr>
          <p:cNvCxnSpPr>
            <a:cxnSpLocks/>
            <a:stCxn id="137" idx="3"/>
            <a:endCxn id="135" idx="1"/>
          </p:cNvCxnSpPr>
          <p:nvPr/>
        </p:nvCxnSpPr>
        <p:spPr>
          <a:xfrm flipV="1">
            <a:off x="9405417" y="3525671"/>
            <a:ext cx="921363" cy="61"/>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131" name="Picture 130" descr="A picture containing text, sign, stop, outdoor&#10;&#10;Description automatically generated">
            <a:extLst>
              <a:ext uri="{FF2B5EF4-FFF2-40B4-BE49-F238E27FC236}">
                <a16:creationId xmlns:a16="http://schemas.microsoft.com/office/drawing/2014/main" id="{BCA1CEEF-E102-ED20-C4A5-2DB4FA520B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86369" y="1874030"/>
            <a:ext cx="640397" cy="640397"/>
          </a:xfrm>
          <a:prstGeom prst="rect">
            <a:avLst/>
          </a:prstGeom>
        </p:spPr>
      </p:pic>
      <p:pic>
        <p:nvPicPr>
          <p:cNvPr id="133" name="Picture 132" descr="A picture containing text, sign, stop, outdoor&#10;&#10;Description automatically generated">
            <a:extLst>
              <a:ext uri="{FF2B5EF4-FFF2-40B4-BE49-F238E27FC236}">
                <a16:creationId xmlns:a16="http://schemas.microsoft.com/office/drawing/2014/main" id="{D7E5D312-8EDE-43DB-33CC-9939F4E560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35619" y="1874030"/>
            <a:ext cx="640397" cy="640397"/>
          </a:xfrm>
          <a:prstGeom prst="rect">
            <a:avLst/>
          </a:prstGeom>
        </p:spPr>
      </p:pic>
      <p:pic>
        <p:nvPicPr>
          <p:cNvPr id="134" name="Picture 133" descr="A picture containing text, sign, stop, outdoor&#10;&#10;Description automatically generated">
            <a:extLst>
              <a:ext uri="{FF2B5EF4-FFF2-40B4-BE49-F238E27FC236}">
                <a16:creationId xmlns:a16="http://schemas.microsoft.com/office/drawing/2014/main" id="{06F05832-A458-1770-BA73-7068914BD6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7781" y="2538695"/>
            <a:ext cx="640397" cy="640397"/>
          </a:xfrm>
          <a:prstGeom prst="rect">
            <a:avLst/>
          </a:prstGeom>
        </p:spPr>
      </p:pic>
      <p:pic>
        <p:nvPicPr>
          <p:cNvPr id="135" name="Picture 134" descr="A picture containing text, sign, stop, outdoor&#10;&#10;Description automatically generated">
            <a:extLst>
              <a:ext uri="{FF2B5EF4-FFF2-40B4-BE49-F238E27FC236}">
                <a16:creationId xmlns:a16="http://schemas.microsoft.com/office/drawing/2014/main" id="{16EB836E-97EE-FF15-5455-B3BCC71F8A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6780" y="3205472"/>
            <a:ext cx="640397" cy="640397"/>
          </a:xfrm>
          <a:prstGeom prst="rect">
            <a:avLst/>
          </a:prstGeom>
        </p:spPr>
      </p:pic>
      <p:pic>
        <p:nvPicPr>
          <p:cNvPr id="136" name="Picture 135" descr="A picture containing text, sign, stop, outdoor&#10;&#10;Description automatically generated">
            <a:extLst>
              <a:ext uri="{FF2B5EF4-FFF2-40B4-BE49-F238E27FC236}">
                <a16:creationId xmlns:a16="http://schemas.microsoft.com/office/drawing/2014/main" id="{9EE1C623-A2EB-724F-97B6-F2C790554A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92990" y="2549237"/>
            <a:ext cx="619311" cy="619311"/>
          </a:xfrm>
          <a:prstGeom prst="rect">
            <a:avLst/>
          </a:prstGeom>
        </p:spPr>
      </p:pic>
      <p:pic>
        <p:nvPicPr>
          <p:cNvPr id="137" name="Picture 136" descr="A picture containing text, sign, stop, outdoor&#10;&#10;Description automatically generated">
            <a:extLst>
              <a:ext uri="{FF2B5EF4-FFF2-40B4-BE49-F238E27FC236}">
                <a16:creationId xmlns:a16="http://schemas.microsoft.com/office/drawing/2014/main" id="{FC6C6DD0-5601-5049-4A10-672A02B422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86107" y="3216077"/>
            <a:ext cx="619310" cy="619310"/>
          </a:xfrm>
          <a:prstGeom prst="rect">
            <a:avLst/>
          </a:prstGeom>
        </p:spPr>
      </p:pic>
      <p:grpSp>
        <p:nvGrpSpPr>
          <p:cNvPr id="138" name="Group 137">
            <a:extLst>
              <a:ext uri="{FF2B5EF4-FFF2-40B4-BE49-F238E27FC236}">
                <a16:creationId xmlns:a16="http://schemas.microsoft.com/office/drawing/2014/main" id="{08276F3B-53EF-E189-7C64-F100BCB9F62D}"/>
              </a:ext>
            </a:extLst>
          </p:cNvPr>
          <p:cNvGrpSpPr/>
          <p:nvPr/>
        </p:nvGrpSpPr>
        <p:grpSpPr>
          <a:xfrm>
            <a:off x="4254195" y="2659006"/>
            <a:ext cx="970863" cy="398936"/>
            <a:chOff x="5833631" y="4528084"/>
            <a:chExt cx="906547" cy="560254"/>
          </a:xfrm>
          <a:solidFill>
            <a:schemeClr val="accent1">
              <a:lumMod val="40000"/>
              <a:lumOff val="60000"/>
            </a:schemeClr>
          </a:solidFill>
        </p:grpSpPr>
        <p:sp>
          <p:nvSpPr>
            <p:cNvPr id="139" name="Rectangle 138">
              <a:extLst>
                <a:ext uri="{FF2B5EF4-FFF2-40B4-BE49-F238E27FC236}">
                  <a16:creationId xmlns:a16="http://schemas.microsoft.com/office/drawing/2014/main" id="{F58B869A-F80D-61B8-E53F-301AA0D2F698}"/>
                </a:ext>
              </a:extLst>
            </p:cNvPr>
            <p:cNvSpPr/>
            <p:nvPr/>
          </p:nvSpPr>
          <p:spPr bwMode="auto">
            <a:xfrm>
              <a:off x="5833631" y="4528084"/>
              <a:ext cx="906547" cy="540048"/>
            </a:xfrm>
            <a:prstGeom prst="rect">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100" dirty="0" err="1">
                <a:solidFill>
                  <a:srgbClr val="FFFFFF"/>
                </a:solidFill>
                <a:ea typeface="Segoe UI" pitchFamily="34" charset="0"/>
                <a:cs typeface="Segoe UI" pitchFamily="34" charset="0"/>
              </a:endParaRPr>
            </a:p>
          </p:txBody>
        </p:sp>
        <p:sp>
          <p:nvSpPr>
            <p:cNvPr id="140" name="TextBox 139">
              <a:extLst>
                <a:ext uri="{FF2B5EF4-FFF2-40B4-BE49-F238E27FC236}">
                  <a16:creationId xmlns:a16="http://schemas.microsoft.com/office/drawing/2014/main" id="{E2CBEC4B-164D-5778-FF26-C9C743361941}"/>
                </a:ext>
              </a:extLst>
            </p:cNvPr>
            <p:cNvSpPr txBox="1"/>
            <p:nvPr/>
          </p:nvSpPr>
          <p:spPr>
            <a:xfrm>
              <a:off x="5838050" y="4530759"/>
              <a:ext cx="897708" cy="557579"/>
            </a:xfrm>
            <a:prstGeom prst="rect">
              <a:avLst/>
            </a:prstGeom>
            <a:noFill/>
          </p:spPr>
          <p:txBody>
            <a:bodyPr wrap="square">
              <a:spAutoFit/>
            </a:bodyPr>
            <a:lstStyle/>
            <a:p>
              <a:pPr algn="ctr" defTabSz="932472" fontAlgn="base">
                <a:lnSpc>
                  <a:spcPct val="90000"/>
                </a:lnSpc>
                <a:spcBef>
                  <a:spcPct val="0"/>
                </a:spcBef>
                <a:spcAft>
                  <a:spcPct val="0"/>
                </a:spcAft>
              </a:pPr>
              <a:r>
                <a:rPr lang="en-US" sz="1100" dirty="0">
                  <a:ln w="3175">
                    <a:noFill/>
                  </a:ln>
                  <a:solidFill>
                    <a:srgbClr val="000000"/>
                  </a:solidFill>
                  <a:latin typeface="Segoe UI Semibold" panose="020B0702040204020203" pitchFamily="34" charset="0"/>
                  <a:cs typeface="Segoe UI Semibold" panose="020B0702040204020203" pitchFamily="34" charset="0"/>
                </a:rPr>
                <a:t>Node</a:t>
              </a:r>
              <a:r>
                <a:rPr kumimoji="0" lang="en-US" sz="1100" b="0" i="0" u="none" strike="noStrike" kern="1200" cap="none" spc="0" normalizeH="0" baseline="0" noProof="0" dirty="0">
                  <a:ln w="3175">
                    <a:noFill/>
                  </a:ln>
                  <a:solidFill>
                    <a:srgbClr val="000000"/>
                  </a:solidFill>
                  <a:effectLst/>
                  <a:uLnTx/>
                  <a:uFillTx/>
                  <a:latin typeface="Segoe UI Semibold" panose="020B0702040204020203" pitchFamily="34" charset="0"/>
                  <a:ea typeface="+mn-ea"/>
                  <a:cs typeface="Segoe UI Semibold" panose="020B0702040204020203" pitchFamily="34" charset="0"/>
                </a:rPr>
                <a:t>Port 31400</a:t>
              </a:r>
              <a:endParaRPr lang="en-US" sz="1100" dirty="0">
                <a:solidFill>
                  <a:schemeClr val="tx1"/>
                </a:solidFill>
                <a:cs typeface="Segoe UI" pitchFamily="34" charset="0"/>
              </a:endParaRPr>
            </a:p>
          </p:txBody>
        </p:sp>
      </p:grpSp>
      <p:pic>
        <p:nvPicPr>
          <p:cNvPr id="144" name="Picture 143" descr="A close up of a sign&#10;&#10;Description automatically generated">
            <a:extLst>
              <a:ext uri="{FF2B5EF4-FFF2-40B4-BE49-F238E27FC236}">
                <a16:creationId xmlns:a16="http://schemas.microsoft.com/office/drawing/2014/main" id="{43D69AA8-ABA9-6D32-AC93-26AA9451D5F7}"/>
              </a:ext>
            </a:extLst>
          </p:cNvPr>
          <p:cNvPicPr>
            <a:picLocks noChangeAspect="1"/>
          </p:cNvPicPr>
          <p:nvPr/>
        </p:nvPicPr>
        <p:blipFill>
          <a:blip r:embed="rId6"/>
          <a:stretch>
            <a:fillRect/>
          </a:stretch>
        </p:blipFill>
        <p:spPr>
          <a:xfrm>
            <a:off x="7019032" y="2485229"/>
            <a:ext cx="651848" cy="748418"/>
          </a:xfrm>
          <a:prstGeom prst="rect">
            <a:avLst/>
          </a:prstGeom>
        </p:spPr>
      </p:pic>
      <p:cxnSp>
        <p:nvCxnSpPr>
          <p:cNvPr id="145" name="Connector: Elbow 144">
            <a:extLst>
              <a:ext uri="{FF2B5EF4-FFF2-40B4-BE49-F238E27FC236}">
                <a16:creationId xmlns:a16="http://schemas.microsoft.com/office/drawing/2014/main" id="{5602E9FE-877C-69AC-885D-0C77F3802CE4}"/>
              </a:ext>
            </a:extLst>
          </p:cNvPr>
          <p:cNvCxnSpPr>
            <a:cxnSpLocks/>
            <a:stCxn id="144" idx="0"/>
            <a:endCxn id="131" idx="1"/>
          </p:cNvCxnSpPr>
          <p:nvPr/>
        </p:nvCxnSpPr>
        <p:spPr>
          <a:xfrm rot="5400000" flipH="1" flipV="1">
            <a:off x="7920162" y="1619023"/>
            <a:ext cx="291000" cy="1441413"/>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6" name="Connector: Elbow 145">
            <a:extLst>
              <a:ext uri="{FF2B5EF4-FFF2-40B4-BE49-F238E27FC236}">
                <a16:creationId xmlns:a16="http://schemas.microsoft.com/office/drawing/2014/main" id="{DB02D137-40B6-E4F8-48DC-0B4807F25713}"/>
              </a:ext>
            </a:extLst>
          </p:cNvPr>
          <p:cNvCxnSpPr>
            <a:cxnSpLocks/>
            <a:stCxn id="144" idx="2"/>
            <a:endCxn id="137" idx="1"/>
          </p:cNvCxnSpPr>
          <p:nvPr/>
        </p:nvCxnSpPr>
        <p:spPr>
          <a:xfrm rot="16200000" flipH="1">
            <a:off x="7919489" y="2659113"/>
            <a:ext cx="292085" cy="1441151"/>
          </a:xfrm>
          <a:prstGeom prst="bentConnector2">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70F6BB97-0F5B-E270-A5E2-42D5F21A325B}"/>
              </a:ext>
            </a:extLst>
          </p:cNvPr>
          <p:cNvCxnSpPr>
            <a:cxnSpLocks/>
            <a:stCxn id="151" idx="3"/>
            <a:endCxn id="144" idx="1"/>
          </p:cNvCxnSpPr>
          <p:nvPr/>
        </p:nvCxnSpPr>
        <p:spPr>
          <a:xfrm>
            <a:off x="6407665" y="2858811"/>
            <a:ext cx="611367" cy="627"/>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147">
            <a:extLst>
              <a:ext uri="{FF2B5EF4-FFF2-40B4-BE49-F238E27FC236}">
                <a16:creationId xmlns:a16="http://schemas.microsoft.com/office/drawing/2014/main" id="{605BDF01-DE0A-5D3D-0F61-12044CFEA8FC}"/>
              </a:ext>
            </a:extLst>
          </p:cNvPr>
          <p:cNvCxnSpPr>
            <a:cxnSpLocks/>
            <a:stCxn id="144" idx="3"/>
            <a:endCxn id="136" idx="1"/>
          </p:cNvCxnSpPr>
          <p:nvPr/>
        </p:nvCxnSpPr>
        <p:spPr>
          <a:xfrm flipV="1">
            <a:off x="7670880" y="2858893"/>
            <a:ext cx="1122110" cy="545"/>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49" name="Title 1">
            <a:extLst>
              <a:ext uri="{FF2B5EF4-FFF2-40B4-BE49-F238E27FC236}">
                <a16:creationId xmlns:a16="http://schemas.microsoft.com/office/drawing/2014/main" id="{ECBC8984-FB57-EB17-C69B-F0094A00CFD0}"/>
              </a:ext>
            </a:extLst>
          </p:cNvPr>
          <p:cNvSpPr txBox="1">
            <a:spLocks/>
          </p:cNvSpPr>
          <p:nvPr/>
        </p:nvSpPr>
        <p:spPr>
          <a:xfrm>
            <a:off x="7676387" y="2005701"/>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Rule</a:t>
            </a:r>
          </a:p>
        </p:txBody>
      </p:sp>
      <p:sp>
        <p:nvSpPr>
          <p:cNvPr id="150" name="Title 1">
            <a:extLst>
              <a:ext uri="{FF2B5EF4-FFF2-40B4-BE49-F238E27FC236}">
                <a16:creationId xmlns:a16="http://schemas.microsoft.com/office/drawing/2014/main" id="{7893681D-9964-D1D8-95C3-DC9731D4BFF9}"/>
              </a:ext>
            </a:extLst>
          </p:cNvPr>
          <p:cNvSpPr txBox="1">
            <a:spLocks/>
          </p:cNvSpPr>
          <p:nvPr/>
        </p:nvSpPr>
        <p:spPr>
          <a:xfrm>
            <a:off x="7671770" y="3347098"/>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Rule</a:t>
            </a:r>
          </a:p>
        </p:txBody>
      </p:sp>
      <p:pic>
        <p:nvPicPr>
          <p:cNvPr id="151" name="Picture 150" descr="A picture containing text, sign, stop, outdoor&#10;&#10;Description automatically generated">
            <a:extLst>
              <a:ext uri="{FF2B5EF4-FFF2-40B4-BE49-F238E27FC236}">
                <a16:creationId xmlns:a16="http://schemas.microsoft.com/office/drawing/2014/main" id="{018683AE-0344-AD81-9E6F-3108A79C2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0523" y="2470240"/>
            <a:ext cx="777142" cy="777142"/>
          </a:xfrm>
          <a:prstGeom prst="rect">
            <a:avLst/>
          </a:prstGeom>
        </p:spPr>
      </p:pic>
      <p:sp>
        <p:nvSpPr>
          <p:cNvPr id="152" name="Title 1">
            <a:extLst>
              <a:ext uri="{FF2B5EF4-FFF2-40B4-BE49-F238E27FC236}">
                <a16:creationId xmlns:a16="http://schemas.microsoft.com/office/drawing/2014/main" id="{4E2DA5AF-846C-EFEB-5FC5-DFF3ED5C0BDD}"/>
              </a:ext>
            </a:extLst>
          </p:cNvPr>
          <p:cNvSpPr txBox="1">
            <a:spLocks/>
          </p:cNvSpPr>
          <p:nvPr/>
        </p:nvSpPr>
        <p:spPr>
          <a:xfrm>
            <a:off x="7671770" y="2666626"/>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Rule</a:t>
            </a:r>
          </a:p>
        </p:txBody>
      </p:sp>
      <p:cxnSp>
        <p:nvCxnSpPr>
          <p:cNvPr id="153" name="Straight Arrow Connector 152">
            <a:extLst>
              <a:ext uri="{FF2B5EF4-FFF2-40B4-BE49-F238E27FC236}">
                <a16:creationId xmlns:a16="http://schemas.microsoft.com/office/drawing/2014/main" id="{D654C268-3151-CA38-90A5-923638599EC6}"/>
              </a:ext>
            </a:extLst>
          </p:cNvPr>
          <p:cNvCxnSpPr>
            <a:cxnSpLocks/>
            <a:stCxn id="140" idx="3"/>
            <a:endCxn id="151" idx="1"/>
          </p:cNvCxnSpPr>
          <p:nvPr/>
        </p:nvCxnSpPr>
        <p:spPr>
          <a:xfrm flipV="1">
            <a:off x="5220325" y="2858811"/>
            <a:ext cx="410198" cy="616"/>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1" name="Title 1">
            <a:extLst>
              <a:ext uri="{FF2B5EF4-FFF2-40B4-BE49-F238E27FC236}">
                <a16:creationId xmlns:a16="http://schemas.microsoft.com/office/drawing/2014/main" id="{05A342F8-739A-E8D2-4CC6-09EAD0104C8F}"/>
              </a:ext>
            </a:extLst>
          </p:cNvPr>
          <p:cNvSpPr txBox="1">
            <a:spLocks/>
          </p:cNvSpPr>
          <p:nvPr/>
        </p:nvSpPr>
        <p:spPr>
          <a:xfrm>
            <a:off x="4026812" y="1858858"/>
            <a:ext cx="987098" cy="184666"/>
          </a:xfrm>
          <a:prstGeom prst="rect">
            <a:avLst/>
          </a:prstGeom>
        </p:spPr>
        <p:txBody>
          <a:bodyPr vert="horz" wrap="square" lIns="0" tIns="0" rIns="0" bIns="0" rtlCol="0" anchor="b">
            <a:spAutoFit/>
          </a:bodyPr>
          <a:lstStyle>
            <a:lvl1pPr algn="l" defTabSz="932742" rtl="0" eaLnBrk="1" latinLnBrk="0" hangingPunct="1">
              <a:lnSpc>
                <a:spcPct val="90000"/>
              </a:lnSpc>
              <a:spcBef>
                <a:spcPct val="0"/>
              </a:spcBef>
              <a:buNone/>
              <a:defRPr lang="en-US" sz="5400" b="0" kern="1200" cap="none" spc="-102" baseline="0">
                <a:ln w="3175">
                  <a:noFill/>
                </a:ln>
                <a:gradFill>
                  <a:gsLst>
                    <a:gs pos="2655">
                      <a:schemeClr val="tx1"/>
                    </a:gs>
                    <a:gs pos="31000">
                      <a:schemeClr val="tx1"/>
                    </a:gs>
                  </a:gsLst>
                  <a:lin ang="5400000" scaled="0"/>
                </a:gradFill>
                <a:effectLst/>
                <a:latin typeface="+mj-lt"/>
                <a:ea typeface="+mn-ea"/>
                <a:cs typeface="Segoe UI" pitchFamily="34" charset="0"/>
              </a:defRPr>
            </a:lvl1pPr>
          </a:lstStyle>
          <a:p>
            <a:pPr marL="0" marR="0" lvl="0" indent="0"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w="3175">
                  <a:noFill/>
                </a:ln>
                <a:solidFill>
                  <a:srgbClr val="3C3C41"/>
                </a:solidFill>
                <a:effectLst/>
                <a:uLnTx/>
                <a:uFillTx/>
                <a:latin typeface="Segoe UI Semibold" panose="020B0702040204020203" pitchFamily="34" charset="0"/>
                <a:ea typeface="+mn-ea"/>
                <a:cs typeface="Segoe UI Semibold" panose="020B0702040204020203" pitchFamily="34" charset="0"/>
              </a:rPr>
              <a:t>Cluster</a:t>
            </a:r>
          </a:p>
        </p:txBody>
      </p:sp>
      <p:pic>
        <p:nvPicPr>
          <p:cNvPr id="6" name="Picture 5">
            <a:extLst>
              <a:ext uri="{FF2B5EF4-FFF2-40B4-BE49-F238E27FC236}">
                <a16:creationId xmlns:a16="http://schemas.microsoft.com/office/drawing/2014/main" id="{392CAF8D-9584-632C-F31D-EE5A586AAE3D}"/>
              </a:ext>
            </a:extLst>
          </p:cNvPr>
          <p:cNvPicPr>
            <a:picLocks noChangeAspect="1"/>
          </p:cNvPicPr>
          <p:nvPr/>
        </p:nvPicPr>
        <p:blipFill>
          <a:blip r:embed="rId7"/>
          <a:stretch>
            <a:fillRect/>
          </a:stretch>
        </p:blipFill>
        <p:spPr>
          <a:xfrm>
            <a:off x="9046203" y="4026671"/>
            <a:ext cx="2971114" cy="2684468"/>
          </a:xfrm>
          <a:prstGeom prst="rect">
            <a:avLst/>
          </a:prstGeom>
        </p:spPr>
      </p:pic>
      <p:sp>
        <p:nvSpPr>
          <p:cNvPr id="67" name="Content Placeholder 2">
            <a:extLst>
              <a:ext uri="{FF2B5EF4-FFF2-40B4-BE49-F238E27FC236}">
                <a16:creationId xmlns:a16="http://schemas.microsoft.com/office/drawing/2014/main" id="{0DC1E271-C11B-A0EE-2B61-B22E77ABCF0A}"/>
              </a:ext>
            </a:extLst>
          </p:cNvPr>
          <p:cNvSpPr txBox="1">
            <a:spLocks/>
          </p:cNvSpPr>
          <p:nvPr/>
        </p:nvSpPr>
        <p:spPr>
          <a:xfrm>
            <a:off x="352068" y="4037757"/>
            <a:ext cx="8411092" cy="252376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1200"/>
              </a:spcAft>
              <a:buClrTx/>
              <a:buSzPct val="90000"/>
              <a:buFont typeface="Wingdings" panose="05000000000000000000" pitchFamily="2" charset="2"/>
              <a:buNone/>
              <a:tabLst/>
              <a:defRPr sz="24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120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spcBef>
                <a:spcPts val="0"/>
              </a:spcBef>
              <a:buFont typeface="Arial" panose="020B0604020202020204" pitchFamily="34" charset="0"/>
              <a:buChar char="•"/>
            </a:pPr>
            <a:r>
              <a:rPr lang="en-US" dirty="0"/>
              <a:t>Routing rules are defined in </a:t>
            </a:r>
            <a:r>
              <a:rPr lang="en-US" b="1" i="1" dirty="0"/>
              <a:t>Ingresses</a:t>
            </a:r>
            <a:r>
              <a:rPr lang="en-US" dirty="0"/>
              <a:t> in each namespace.</a:t>
            </a:r>
          </a:p>
          <a:p>
            <a:pPr marL="342900" indent="-342900">
              <a:spcBef>
                <a:spcPts val="0"/>
              </a:spcBef>
              <a:buFont typeface="Arial" panose="020B0604020202020204" pitchFamily="34" charset="0"/>
              <a:buChar char="•"/>
            </a:pPr>
            <a:r>
              <a:rPr lang="en-US" dirty="0"/>
              <a:t>A single </a:t>
            </a:r>
            <a:r>
              <a:rPr lang="en-US" b="1" i="1" dirty="0"/>
              <a:t>Ingress Controller</a:t>
            </a:r>
            <a:r>
              <a:rPr lang="en-US" dirty="0"/>
              <a:t> combines Ingress rules across all namespaces and routes external HTTP and HTTPS (layer 7 only) traffic to internal </a:t>
            </a:r>
            <a:r>
              <a:rPr lang="en-US" b="1" i="1" dirty="0"/>
              <a:t>Cluster IP </a:t>
            </a:r>
            <a:r>
              <a:rPr lang="en-US" dirty="0"/>
              <a:t>services.</a:t>
            </a:r>
          </a:p>
          <a:p>
            <a:pPr marL="342900" indent="-342900">
              <a:spcBef>
                <a:spcPts val="0"/>
              </a:spcBef>
              <a:buFont typeface="Arial" panose="020B0604020202020204" pitchFamily="34" charset="0"/>
              <a:buChar char="•"/>
            </a:pPr>
            <a:r>
              <a:rPr lang="en-US" dirty="0"/>
              <a:t>Kubernetes does not provide a concrete implementation of an </a:t>
            </a:r>
            <a:r>
              <a:rPr lang="en-US" b="1" i="1" dirty="0"/>
              <a:t>Ingress Controller</a:t>
            </a:r>
            <a:r>
              <a:rPr lang="en-US" dirty="0"/>
              <a:t> to perform this routing.</a:t>
            </a:r>
          </a:p>
        </p:txBody>
      </p:sp>
    </p:spTree>
    <p:extLst>
      <p:ext uri="{BB962C8B-B14F-4D97-AF65-F5344CB8AC3E}">
        <p14:creationId xmlns:p14="http://schemas.microsoft.com/office/powerpoint/2010/main" val="2430555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wipe(down)">
                                      <p:cBhvr>
                                        <p:cTn id="7" dur="500"/>
                                        <p:tgtEl>
                                          <p:spTgt spid="1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7"/>
                                        </p:tgtEl>
                                        <p:attrNameLst>
                                          <p:attrName>style.visibility</p:attrName>
                                        </p:attrNameLst>
                                      </p:cBhvr>
                                      <p:to>
                                        <p:strVal val="visible"/>
                                      </p:to>
                                    </p:set>
                                    <p:animEffect transition="in" filter="fade">
                                      <p:cBhvr>
                                        <p:cTn id="10" dur="500"/>
                                        <p:tgtEl>
                                          <p:spTgt spid="10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2"/>
                                        </p:tgtEl>
                                        <p:attrNameLst>
                                          <p:attrName>style.visibility</p:attrName>
                                        </p:attrNameLst>
                                      </p:cBhvr>
                                      <p:to>
                                        <p:strVal val="visible"/>
                                      </p:to>
                                    </p:set>
                                    <p:animEffect transition="in" filter="fade">
                                      <p:cBhvr>
                                        <p:cTn id="13" dur="500"/>
                                        <p:tgtEl>
                                          <p:spTgt spid="112"/>
                                        </p:tgtEl>
                                      </p:cBhvr>
                                    </p:animEffect>
                                  </p:childTnLst>
                                </p:cTn>
                              </p:par>
                              <p:par>
                                <p:cTn id="14" presetID="10" presetClass="entr" presetSubtype="0" fill="hold" nodeType="withEffect">
                                  <p:stCondLst>
                                    <p:cond delay="0"/>
                                  </p:stCondLst>
                                  <p:childTnLst>
                                    <p:set>
                                      <p:cBhvr>
                                        <p:cTn id="15" dur="1" fill="hold">
                                          <p:stCondLst>
                                            <p:cond delay="0"/>
                                          </p:stCondLst>
                                        </p:cTn>
                                        <p:tgtEl>
                                          <p:spTgt spid="114"/>
                                        </p:tgtEl>
                                        <p:attrNameLst>
                                          <p:attrName>style.visibility</p:attrName>
                                        </p:attrNameLst>
                                      </p:cBhvr>
                                      <p:to>
                                        <p:strVal val="visible"/>
                                      </p:to>
                                    </p:set>
                                    <p:animEffect transition="in" filter="fade">
                                      <p:cBhvr>
                                        <p:cTn id="16" dur="500"/>
                                        <p:tgtEl>
                                          <p:spTgt spid="114"/>
                                        </p:tgtEl>
                                      </p:cBhvr>
                                    </p:animEffect>
                                  </p:childTnLst>
                                </p:cTn>
                              </p:par>
                              <p:par>
                                <p:cTn id="17" presetID="22" presetClass="entr" presetSubtype="8" fill="hold" nodeType="withEffect">
                                  <p:stCondLst>
                                    <p:cond delay="0"/>
                                  </p:stCondLst>
                                  <p:childTnLst>
                                    <p:set>
                                      <p:cBhvr>
                                        <p:cTn id="18" dur="1" fill="hold">
                                          <p:stCondLst>
                                            <p:cond delay="0"/>
                                          </p:stCondLst>
                                        </p:cTn>
                                        <p:tgtEl>
                                          <p:spTgt spid="127"/>
                                        </p:tgtEl>
                                        <p:attrNameLst>
                                          <p:attrName>style.visibility</p:attrName>
                                        </p:attrNameLst>
                                      </p:cBhvr>
                                      <p:to>
                                        <p:strVal val="visible"/>
                                      </p:to>
                                    </p:set>
                                    <p:animEffect transition="in" filter="wipe(left)">
                                      <p:cBhvr>
                                        <p:cTn id="19" dur="500"/>
                                        <p:tgtEl>
                                          <p:spTgt spid="127"/>
                                        </p:tgtEl>
                                      </p:cBhvr>
                                    </p:animEffect>
                                  </p:childTnLst>
                                </p:cTn>
                              </p:par>
                              <p:par>
                                <p:cTn id="20" presetID="22" presetClass="entr" presetSubtype="8" fill="hold" nodeType="withEffect">
                                  <p:stCondLst>
                                    <p:cond delay="0"/>
                                  </p:stCondLst>
                                  <p:childTnLst>
                                    <p:set>
                                      <p:cBhvr>
                                        <p:cTn id="21" dur="1" fill="hold">
                                          <p:stCondLst>
                                            <p:cond delay="0"/>
                                          </p:stCondLst>
                                        </p:cTn>
                                        <p:tgtEl>
                                          <p:spTgt spid="113"/>
                                        </p:tgtEl>
                                        <p:attrNameLst>
                                          <p:attrName>style.visibility</p:attrName>
                                        </p:attrNameLst>
                                      </p:cBhvr>
                                      <p:to>
                                        <p:strVal val="visible"/>
                                      </p:to>
                                    </p:set>
                                    <p:animEffect transition="in" filter="wipe(left)">
                                      <p:cBhvr>
                                        <p:cTn id="22" dur="500"/>
                                        <p:tgtEl>
                                          <p:spTgt spid="11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18"/>
                                        </p:tgtEl>
                                        <p:attrNameLst>
                                          <p:attrName>style.visibility</p:attrName>
                                        </p:attrNameLst>
                                      </p:cBhvr>
                                      <p:to>
                                        <p:strVal val="visible"/>
                                      </p:to>
                                    </p:set>
                                    <p:animEffect transition="in" filter="wipe(down)">
                                      <p:cBhvr>
                                        <p:cTn id="25" dur="500"/>
                                        <p:tgtEl>
                                          <p:spTgt spid="118"/>
                                        </p:tgtEl>
                                      </p:cBhvr>
                                    </p:animEffect>
                                  </p:childTnLst>
                                </p:cTn>
                              </p:par>
                              <p:par>
                                <p:cTn id="26" presetID="22" presetClass="entr" presetSubtype="8" fill="hold" nodeType="withEffect">
                                  <p:stCondLst>
                                    <p:cond delay="0"/>
                                  </p:stCondLst>
                                  <p:childTnLst>
                                    <p:set>
                                      <p:cBhvr>
                                        <p:cTn id="27" dur="1" fill="hold">
                                          <p:stCondLst>
                                            <p:cond delay="0"/>
                                          </p:stCondLst>
                                        </p:cTn>
                                        <p:tgtEl>
                                          <p:spTgt spid="128"/>
                                        </p:tgtEl>
                                        <p:attrNameLst>
                                          <p:attrName>style.visibility</p:attrName>
                                        </p:attrNameLst>
                                      </p:cBhvr>
                                      <p:to>
                                        <p:strVal val="visible"/>
                                      </p:to>
                                    </p:set>
                                    <p:animEffect transition="in" filter="wipe(left)">
                                      <p:cBhvr>
                                        <p:cTn id="28" dur="500"/>
                                        <p:tgtEl>
                                          <p:spTgt spid="128"/>
                                        </p:tgtEl>
                                      </p:cBhvr>
                                    </p:animEffect>
                                  </p:childTnLst>
                                </p:cTn>
                              </p:par>
                              <p:par>
                                <p:cTn id="29" presetID="22" presetClass="entr" presetSubtype="8" fill="hold" nodeType="withEffect">
                                  <p:stCondLst>
                                    <p:cond delay="0"/>
                                  </p:stCondLst>
                                  <p:childTnLst>
                                    <p:set>
                                      <p:cBhvr>
                                        <p:cTn id="30" dur="1" fill="hold">
                                          <p:stCondLst>
                                            <p:cond delay="0"/>
                                          </p:stCondLst>
                                        </p:cTn>
                                        <p:tgtEl>
                                          <p:spTgt spid="130"/>
                                        </p:tgtEl>
                                        <p:attrNameLst>
                                          <p:attrName>style.visibility</p:attrName>
                                        </p:attrNameLst>
                                      </p:cBhvr>
                                      <p:to>
                                        <p:strVal val="visible"/>
                                      </p:to>
                                    </p:set>
                                    <p:animEffect transition="in" filter="wipe(left)">
                                      <p:cBhvr>
                                        <p:cTn id="31" dur="500"/>
                                        <p:tgtEl>
                                          <p:spTgt spid="130"/>
                                        </p:tgtEl>
                                      </p:cBhvr>
                                    </p:animEffect>
                                  </p:childTnLst>
                                </p:cTn>
                              </p:par>
                              <p:par>
                                <p:cTn id="32" presetID="10" presetClass="entr" presetSubtype="0" fill="hold" nodeType="withEffect">
                                  <p:stCondLst>
                                    <p:cond delay="0"/>
                                  </p:stCondLst>
                                  <p:childTnLst>
                                    <p:set>
                                      <p:cBhvr>
                                        <p:cTn id="33" dur="1" fill="hold">
                                          <p:stCondLst>
                                            <p:cond delay="0"/>
                                          </p:stCondLst>
                                        </p:cTn>
                                        <p:tgtEl>
                                          <p:spTgt spid="131"/>
                                        </p:tgtEl>
                                        <p:attrNameLst>
                                          <p:attrName>style.visibility</p:attrName>
                                        </p:attrNameLst>
                                      </p:cBhvr>
                                      <p:to>
                                        <p:strVal val="visible"/>
                                      </p:to>
                                    </p:set>
                                    <p:animEffect transition="in" filter="fade">
                                      <p:cBhvr>
                                        <p:cTn id="34" dur="500"/>
                                        <p:tgtEl>
                                          <p:spTgt spid="131"/>
                                        </p:tgtEl>
                                      </p:cBhvr>
                                    </p:animEffect>
                                  </p:childTnLst>
                                </p:cTn>
                              </p:par>
                              <p:par>
                                <p:cTn id="35" presetID="10" presetClass="entr" presetSubtype="0" fill="hold" nodeType="withEffect">
                                  <p:stCondLst>
                                    <p:cond delay="0"/>
                                  </p:stCondLst>
                                  <p:childTnLst>
                                    <p:set>
                                      <p:cBhvr>
                                        <p:cTn id="36" dur="1" fill="hold">
                                          <p:stCondLst>
                                            <p:cond delay="0"/>
                                          </p:stCondLst>
                                        </p:cTn>
                                        <p:tgtEl>
                                          <p:spTgt spid="136"/>
                                        </p:tgtEl>
                                        <p:attrNameLst>
                                          <p:attrName>style.visibility</p:attrName>
                                        </p:attrNameLst>
                                      </p:cBhvr>
                                      <p:to>
                                        <p:strVal val="visible"/>
                                      </p:to>
                                    </p:set>
                                    <p:animEffect transition="in" filter="fade">
                                      <p:cBhvr>
                                        <p:cTn id="37" dur="500"/>
                                        <p:tgtEl>
                                          <p:spTgt spid="136"/>
                                        </p:tgtEl>
                                      </p:cBhvr>
                                    </p:animEffect>
                                  </p:childTnLst>
                                </p:cTn>
                              </p:par>
                              <p:par>
                                <p:cTn id="38" presetID="10" presetClass="entr" presetSubtype="0" fill="hold" nodeType="withEffect">
                                  <p:stCondLst>
                                    <p:cond delay="0"/>
                                  </p:stCondLst>
                                  <p:childTnLst>
                                    <p:set>
                                      <p:cBhvr>
                                        <p:cTn id="39" dur="1" fill="hold">
                                          <p:stCondLst>
                                            <p:cond delay="0"/>
                                          </p:stCondLst>
                                        </p:cTn>
                                        <p:tgtEl>
                                          <p:spTgt spid="137"/>
                                        </p:tgtEl>
                                        <p:attrNameLst>
                                          <p:attrName>style.visibility</p:attrName>
                                        </p:attrNameLst>
                                      </p:cBhvr>
                                      <p:to>
                                        <p:strVal val="visible"/>
                                      </p:to>
                                    </p:set>
                                    <p:animEffect transition="in" filter="fade">
                                      <p:cBhvr>
                                        <p:cTn id="40" dur="500"/>
                                        <p:tgtEl>
                                          <p:spTgt spid="137"/>
                                        </p:tgtEl>
                                      </p:cBhvr>
                                    </p:animEffect>
                                  </p:childTnLst>
                                </p:cTn>
                              </p:par>
                              <p:par>
                                <p:cTn id="41" presetID="10" presetClass="entr" presetSubtype="0" fill="hold" nodeType="withEffect">
                                  <p:stCondLst>
                                    <p:cond delay="0"/>
                                  </p:stCondLst>
                                  <p:childTnLst>
                                    <p:set>
                                      <p:cBhvr>
                                        <p:cTn id="42" dur="1" fill="hold">
                                          <p:stCondLst>
                                            <p:cond delay="0"/>
                                          </p:stCondLst>
                                        </p:cTn>
                                        <p:tgtEl>
                                          <p:spTgt spid="133"/>
                                        </p:tgtEl>
                                        <p:attrNameLst>
                                          <p:attrName>style.visibility</p:attrName>
                                        </p:attrNameLst>
                                      </p:cBhvr>
                                      <p:to>
                                        <p:strVal val="visible"/>
                                      </p:to>
                                    </p:set>
                                    <p:animEffect transition="in" filter="fade">
                                      <p:cBhvr>
                                        <p:cTn id="43" dur="500"/>
                                        <p:tgtEl>
                                          <p:spTgt spid="133"/>
                                        </p:tgtEl>
                                      </p:cBhvr>
                                    </p:animEffect>
                                  </p:childTnLst>
                                </p:cTn>
                              </p:par>
                              <p:par>
                                <p:cTn id="44" presetID="10" presetClass="entr" presetSubtype="0" fill="hold" nodeType="withEffect">
                                  <p:stCondLst>
                                    <p:cond delay="0"/>
                                  </p:stCondLst>
                                  <p:childTnLst>
                                    <p:set>
                                      <p:cBhvr>
                                        <p:cTn id="45" dur="1" fill="hold">
                                          <p:stCondLst>
                                            <p:cond delay="0"/>
                                          </p:stCondLst>
                                        </p:cTn>
                                        <p:tgtEl>
                                          <p:spTgt spid="134"/>
                                        </p:tgtEl>
                                        <p:attrNameLst>
                                          <p:attrName>style.visibility</p:attrName>
                                        </p:attrNameLst>
                                      </p:cBhvr>
                                      <p:to>
                                        <p:strVal val="visible"/>
                                      </p:to>
                                    </p:set>
                                    <p:animEffect transition="in" filter="fade">
                                      <p:cBhvr>
                                        <p:cTn id="46" dur="500"/>
                                        <p:tgtEl>
                                          <p:spTgt spid="134"/>
                                        </p:tgtEl>
                                      </p:cBhvr>
                                    </p:animEffect>
                                  </p:childTnLst>
                                </p:cTn>
                              </p:par>
                              <p:par>
                                <p:cTn id="47" presetID="10" presetClass="entr" presetSubtype="0" fill="hold" nodeType="withEffect">
                                  <p:stCondLst>
                                    <p:cond delay="0"/>
                                  </p:stCondLst>
                                  <p:childTnLst>
                                    <p:set>
                                      <p:cBhvr>
                                        <p:cTn id="48" dur="1" fill="hold">
                                          <p:stCondLst>
                                            <p:cond delay="0"/>
                                          </p:stCondLst>
                                        </p:cTn>
                                        <p:tgtEl>
                                          <p:spTgt spid="135"/>
                                        </p:tgtEl>
                                        <p:attrNameLst>
                                          <p:attrName>style.visibility</p:attrName>
                                        </p:attrNameLst>
                                      </p:cBhvr>
                                      <p:to>
                                        <p:strVal val="visible"/>
                                      </p:to>
                                    </p:set>
                                    <p:animEffect transition="in" filter="fade">
                                      <p:cBhvr>
                                        <p:cTn id="49" dur="500"/>
                                        <p:tgtEl>
                                          <p:spTgt spid="135"/>
                                        </p:tgtEl>
                                      </p:cBhvr>
                                    </p:animEffect>
                                  </p:childTnLst>
                                </p:cTn>
                              </p:par>
                              <p:par>
                                <p:cTn id="50" presetID="10" presetClass="entr" presetSubtype="0" fill="hold" nodeType="withEffect">
                                  <p:stCondLst>
                                    <p:cond delay="0"/>
                                  </p:stCondLst>
                                  <p:childTnLst>
                                    <p:set>
                                      <p:cBhvr>
                                        <p:cTn id="51" dur="1" fill="hold">
                                          <p:stCondLst>
                                            <p:cond delay="0"/>
                                          </p:stCondLst>
                                        </p:cTn>
                                        <p:tgtEl>
                                          <p:spTgt spid="138"/>
                                        </p:tgtEl>
                                        <p:attrNameLst>
                                          <p:attrName>style.visibility</p:attrName>
                                        </p:attrNameLst>
                                      </p:cBhvr>
                                      <p:to>
                                        <p:strVal val="visible"/>
                                      </p:to>
                                    </p:set>
                                    <p:animEffect transition="in" filter="fade">
                                      <p:cBhvr>
                                        <p:cTn id="52" dur="500"/>
                                        <p:tgtEl>
                                          <p:spTgt spid="138"/>
                                        </p:tgtEl>
                                      </p:cBhvr>
                                    </p:animEffect>
                                  </p:childTnLst>
                                </p:cTn>
                              </p:par>
                              <p:par>
                                <p:cTn id="53" presetID="22" presetClass="entr" presetSubtype="8" fill="hold" nodeType="withEffect">
                                  <p:stCondLst>
                                    <p:cond delay="0"/>
                                  </p:stCondLst>
                                  <p:childTnLst>
                                    <p:set>
                                      <p:cBhvr>
                                        <p:cTn id="54" dur="1" fill="hold">
                                          <p:stCondLst>
                                            <p:cond delay="0"/>
                                          </p:stCondLst>
                                        </p:cTn>
                                        <p:tgtEl>
                                          <p:spTgt spid="147"/>
                                        </p:tgtEl>
                                        <p:attrNameLst>
                                          <p:attrName>style.visibility</p:attrName>
                                        </p:attrNameLst>
                                      </p:cBhvr>
                                      <p:to>
                                        <p:strVal val="visible"/>
                                      </p:to>
                                    </p:set>
                                    <p:animEffect transition="in" filter="wipe(left)">
                                      <p:cBhvr>
                                        <p:cTn id="55" dur="500"/>
                                        <p:tgtEl>
                                          <p:spTgt spid="147"/>
                                        </p:tgtEl>
                                      </p:cBhvr>
                                    </p:animEffect>
                                  </p:childTnLst>
                                </p:cTn>
                              </p:par>
                              <p:par>
                                <p:cTn id="56" presetID="22" presetClass="entr" presetSubtype="8" fill="hold" nodeType="withEffect">
                                  <p:stCondLst>
                                    <p:cond delay="0"/>
                                  </p:stCondLst>
                                  <p:childTnLst>
                                    <p:set>
                                      <p:cBhvr>
                                        <p:cTn id="57" dur="1" fill="hold">
                                          <p:stCondLst>
                                            <p:cond delay="0"/>
                                          </p:stCondLst>
                                        </p:cTn>
                                        <p:tgtEl>
                                          <p:spTgt spid="148"/>
                                        </p:tgtEl>
                                        <p:attrNameLst>
                                          <p:attrName>style.visibility</p:attrName>
                                        </p:attrNameLst>
                                      </p:cBhvr>
                                      <p:to>
                                        <p:strVal val="visible"/>
                                      </p:to>
                                    </p:set>
                                    <p:animEffect transition="in" filter="wipe(left)">
                                      <p:cBhvr>
                                        <p:cTn id="58" dur="500"/>
                                        <p:tgtEl>
                                          <p:spTgt spid="148"/>
                                        </p:tgtEl>
                                      </p:cBhvr>
                                    </p:animEffect>
                                  </p:childTnLst>
                                </p:cTn>
                              </p:par>
                              <p:par>
                                <p:cTn id="59" presetID="10" presetClass="entr" presetSubtype="0" fill="hold" nodeType="withEffect">
                                  <p:stCondLst>
                                    <p:cond delay="0"/>
                                  </p:stCondLst>
                                  <p:childTnLst>
                                    <p:set>
                                      <p:cBhvr>
                                        <p:cTn id="60" dur="1" fill="hold">
                                          <p:stCondLst>
                                            <p:cond delay="0"/>
                                          </p:stCondLst>
                                        </p:cTn>
                                        <p:tgtEl>
                                          <p:spTgt spid="145"/>
                                        </p:tgtEl>
                                        <p:attrNameLst>
                                          <p:attrName>style.visibility</p:attrName>
                                        </p:attrNameLst>
                                      </p:cBhvr>
                                      <p:to>
                                        <p:strVal val="visible"/>
                                      </p:to>
                                    </p:set>
                                    <p:animEffect transition="in" filter="fade">
                                      <p:cBhvr>
                                        <p:cTn id="61" dur="500"/>
                                        <p:tgtEl>
                                          <p:spTgt spid="145"/>
                                        </p:tgtEl>
                                      </p:cBhvr>
                                    </p:animEffect>
                                  </p:childTnLst>
                                </p:cTn>
                              </p:par>
                              <p:par>
                                <p:cTn id="62" presetID="10" presetClass="entr" presetSubtype="0" fill="hold" nodeType="withEffect">
                                  <p:stCondLst>
                                    <p:cond delay="0"/>
                                  </p:stCondLst>
                                  <p:childTnLst>
                                    <p:set>
                                      <p:cBhvr>
                                        <p:cTn id="63" dur="1" fill="hold">
                                          <p:stCondLst>
                                            <p:cond delay="0"/>
                                          </p:stCondLst>
                                        </p:cTn>
                                        <p:tgtEl>
                                          <p:spTgt spid="146"/>
                                        </p:tgtEl>
                                        <p:attrNameLst>
                                          <p:attrName>style.visibility</p:attrName>
                                        </p:attrNameLst>
                                      </p:cBhvr>
                                      <p:to>
                                        <p:strVal val="visible"/>
                                      </p:to>
                                    </p:set>
                                    <p:animEffect transition="in" filter="fade">
                                      <p:cBhvr>
                                        <p:cTn id="64" dur="500"/>
                                        <p:tgtEl>
                                          <p:spTgt spid="146"/>
                                        </p:tgtEl>
                                      </p:cBhvr>
                                    </p:animEffect>
                                  </p:childTnLst>
                                </p:cTn>
                              </p:par>
                              <p:par>
                                <p:cTn id="65" presetID="10" presetClass="entr" presetSubtype="0" fill="hold" nodeType="withEffect">
                                  <p:stCondLst>
                                    <p:cond delay="0"/>
                                  </p:stCondLst>
                                  <p:childTnLst>
                                    <p:set>
                                      <p:cBhvr>
                                        <p:cTn id="66" dur="1" fill="hold">
                                          <p:stCondLst>
                                            <p:cond delay="0"/>
                                          </p:stCondLst>
                                        </p:cTn>
                                        <p:tgtEl>
                                          <p:spTgt spid="144"/>
                                        </p:tgtEl>
                                        <p:attrNameLst>
                                          <p:attrName>style.visibility</p:attrName>
                                        </p:attrNameLst>
                                      </p:cBhvr>
                                      <p:to>
                                        <p:strVal val="visible"/>
                                      </p:to>
                                    </p:set>
                                    <p:animEffect transition="in" filter="fade">
                                      <p:cBhvr>
                                        <p:cTn id="67" dur="500"/>
                                        <p:tgtEl>
                                          <p:spTgt spid="144"/>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149"/>
                                        </p:tgtEl>
                                        <p:attrNameLst>
                                          <p:attrName>style.visibility</p:attrName>
                                        </p:attrNameLst>
                                      </p:cBhvr>
                                      <p:to>
                                        <p:strVal val="visible"/>
                                      </p:to>
                                    </p:set>
                                    <p:animEffect transition="in" filter="wipe(down)">
                                      <p:cBhvr>
                                        <p:cTn id="70" dur="500"/>
                                        <p:tgtEl>
                                          <p:spTgt spid="149"/>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150"/>
                                        </p:tgtEl>
                                        <p:attrNameLst>
                                          <p:attrName>style.visibility</p:attrName>
                                        </p:attrNameLst>
                                      </p:cBhvr>
                                      <p:to>
                                        <p:strVal val="visible"/>
                                      </p:to>
                                    </p:set>
                                    <p:animEffect transition="in" filter="wipe(down)">
                                      <p:cBhvr>
                                        <p:cTn id="73" dur="500"/>
                                        <p:tgtEl>
                                          <p:spTgt spid="150"/>
                                        </p:tgtEl>
                                      </p:cBhvr>
                                    </p:animEffect>
                                  </p:childTnLst>
                                </p:cTn>
                              </p:par>
                              <p:par>
                                <p:cTn id="74" presetID="10" presetClass="entr" presetSubtype="0" fill="hold" nodeType="withEffect">
                                  <p:stCondLst>
                                    <p:cond delay="0"/>
                                  </p:stCondLst>
                                  <p:childTnLst>
                                    <p:set>
                                      <p:cBhvr>
                                        <p:cTn id="75" dur="1" fill="hold">
                                          <p:stCondLst>
                                            <p:cond delay="0"/>
                                          </p:stCondLst>
                                        </p:cTn>
                                        <p:tgtEl>
                                          <p:spTgt spid="151"/>
                                        </p:tgtEl>
                                        <p:attrNameLst>
                                          <p:attrName>style.visibility</p:attrName>
                                        </p:attrNameLst>
                                      </p:cBhvr>
                                      <p:to>
                                        <p:strVal val="visible"/>
                                      </p:to>
                                    </p:set>
                                    <p:animEffect transition="in" filter="fade">
                                      <p:cBhvr>
                                        <p:cTn id="76" dur="500"/>
                                        <p:tgtEl>
                                          <p:spTgt spid="151"/>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152"/>
                                        </p:tgtEl>
                                        <p:attrNameLst>
                                          <p:attrName>style.visibility</p:attrName>
                                        </p:attrNameLst>
                                      </p:cBhvr>
                                      <p:to>
                                        <p:strVal val="visible"/>
                                      </p:to>
                                    </p:set>
                                    <p:animEffect transition="in" filter="wipe(down)">
                                      <p:cBhvr>
                                        <p:cTn id="79" dur="500"/>
                                        <p:tgtEl>
                                          <p:spTgt spid="152"/>
                                        </p:tgtEl>
                                      </p:cBhvr>
                                    </p:animEffect>
                                  </p:childTnLst>
                                </p:cTn>
                              </p:par>
                              <p:par>
                                <p:cTn id="80" presetID="22" presetClass="entr" presetSubtype="8" fill="hold" nodeType="withEffect">
                                  <p:stCondLst>
                                    <p:cond delay="0"/>
                                  </p:stCondLst>
                                  <p:childTnLst>
                                    <p:set>
                                      <p:cBhvr>
                                        <p:cTn id="81" dur="1" fill="hold">
                                          <p:stCondLst>
                                            <p:cond delay="0"/>
                                          </p:stCondLst>
                                        </p:cTn>
                                        <p:tgtEl>
                                          <p:spTgt spid="153"/>
                                        </p:tgtEl>
                                        <p:attrNameLst>
                                          <p:attrName>style.visibility</p:attrName>
                                        </p:attrNameLst>
                                      </p:cBhvr>
                                      <p:to>
                                        <p:strVal val="visible"/>
                                      </p:to>
                                    </p:set>
                                    <p:animEffect transition="in" filter="wipe(left)">
                                      <p:cBhvr>
                                        <p:cTn id="82" dur="500"/>
                                        <p:tgtEl>
                                          <p:spTgt spid="15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67">
                                            <p:txEl>
                                              <p:pRg st="0" end="0"/>
                                            </p:txEl>
                                          </p:spTgt>
                                        </p:tgtEl>
                                        <p:attrNameLst>
                                          <p:attrName>style.visibility</p:attrName>
                                        </p:attrNameLst>
                                      </p:cBhvr>
                                      <p:to>
                                        <p:strVal val="visible"/>
                                      </p:to>
                                    </p:set>
                                    <p:animEffect transition="in" filter="fade">
                                      <p:cBhvr>
                                        <p:cTn id="87" dur="500"/>
                                        <p:tgtEl>
                                          <p:spTgt spid="67">
                                            <p:txEl>
                                              <p:pRg st="0" end="0"/>
                                            </p:txEl>
                                          </p:spTgt>
                                        </p:tgtEl>
                                      </p:cBhvr>
                                    </p:animEffect>
                                  </p:childTnLst>
                                </p:cTn>
                              </p:par>
                              <p:par>
                                <p:cTn id="88" presetID="10" presetClass="entr" presetSubtype="0" fill="hold" nodeType="withEffect">
                                  <p:stCondLst>
                                    <p:cond delay="0"/>
                                  </p:stCondLst>
                                  <p:childTnLst>
                                    <p:set>
                                      <p:cBhvr>
                                        <p:cTn id="89" dur="1" fill="hold">
                                          <p:stCondLst>
                                            <p:cond delay="0"/>
                                          </p:stCondLst>
                                        </p:cTn>
                                        <p:tgtEl>
                                          <p:spTgt spid="6"/>
                                        </p:tgtEl>
                                        <p:attrNameLst>
                                          <p:attrName>style.visibility</p:attrName>
                                        </p:attrNameLst>
                                      </p:cBhvr>
                                      <p:to>
                                        <p:strVal val="visible"/>
                                      </p:to>
                                    </p:set>
                                    <p:animEffect transition="in" filter="fade">
                                      <p:cBhvr>
                                        <p:cTn id="90" dur="500"/>
                                        <p:tgtEl>
                                          <p:spTgt spid="6"/>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67">
                                            <p:txEl>
                                              <p:pRg st="1" end="1"/>
                                            </p:txEl>
                                          </p:spTgt>
                                        </p:tgtEl>
                                        <p:attrNameLst>
                                          <p:attrName>style.visibility</p:attrName>
                                        </p:attrNameLst>
                                      </p:cBhvr>
                                      <p:to>
                                        <p:strVal val="visible"/>
                                      </p:to>
                                    </p:set>
                                    <p:animEffect transition="in" filter="fade">
                                      <p:cBhvr>
                                        <p:cTn id="95" dur="500"/>
                                        <p:tgtEl>
                                          <p:spTgt spid="67">
                                            <p:txEl>
                                              <p:pRg st="1" end="1"/>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67">
                                            <p:txEl>
                                              <p:pRg st="2" end="2"/>
                                            </p:txEl>
                                          </p:spTgt>
                                        </p:tgtEl>
                                        <p:attrNameLst>
                                          <p:attrName>style.visibility</p:attrName>
                                        </p:attrNameLst>
                                      </p:cBhvr>
                                      <p:to>
                                        <p:strVal val="visible"/>
                                      </p:to>
                                    </p:set>
                                    <p:animEffect transition="in" filter="fade">
                                      <p:cBhvr>
                                        <p:cTn id="100" dur="500"/>
                                        <p:tgtEl>
                                          <p:spTgt spid="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12" grpId="0" animBg="1"/>
      <p:bldP spid="118" grpId="0"/>
      <p:bldP spid="149" grpId="0"/>
      <p:bldP spid="150" grpId="0"/>
      <p:bldP spid="152" grpId="0"/>
      <p:bldP spid="16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2697-7945-49AF-A643-2E2ED4DF7AA2}"/>
              </a:ext>
            </a:extLst>
          </p:cNvPr>
          <p:cNvSpPr>
            <a:spLocks noGrp="1"/>
          </p:cNvSpPr>
          <p:nvPr>
            <p:ph type="title"/>
          </p:nvPr>
        </p:nvSpPr>
        <p:spPr/>
        <p:txBody>
          <a:bodyPr/>
          <a:lstStyle/>
          <a:p>
            <a:r>
              <a:rPr lang="en-US" dirty="0"/>
              <a:t>3</a:t>
            </a:r>
            <a:r>
              <a:rPr lang="en-US" baseline="30000" dirty="0"/>
              <a:t>rd</a:t>
            </a:r>
            <a:r>
              <a:rPr lang="en-US" dirty="0"/>
              <a:t> Party Ingress Controller</a:t>
            </a:r>
          </a:p>
        </p:txBody>
      </p:sp>
      <p:sp>
        <p:nvSpPr>
          <p:cNvPr id="3" name="Content Placeholder 2">
            <a:extLst>
              <a:ext uri="{FF2B5EF4-FFF2-40B4-BE49-F238E27FC236}">
                <a16:creationId xmlns:a16="http://schemas.microsoft.com/office/drawing/2014/main" id="{AE740AC0-F07E-4783-A13B-7EC82933B9B6}"/>
              </a:ext>
            </a:extLst>
          </p:cNvPr>
          <p:cNvSpPr>
            <a:spLocks noGrp="1"/>
          </p:cNvSpPr>
          <p:nvPr>
            <p:ph sz="quarter" idx="10"/>
          </p:nvPr>
        </p:nvSpPr>
        <p:spPr>
          <a:xfrm>
            <a:off x="492370" y="1593911"/>
            <a:ext cx="11291464" cy="4093428"/>
          </a:xfrm>
        </p:spPr>
        <p:txBody>
          <a:bodyPr/>
          <a:lstStyle/>
          <a:p>
            <a:pPr marL="342900" indent="-342900">
              <a:spcBef>
                <a:spcPts val="0"/>
              </a:spcBef>
              <a:buFont typeface="Arial" panose="020B0604020202020204" pitchFamily="34" charset="0"/>
              <a:buChar char="•"/>
            </a:pPr>
            <a:r>
              <a:rPr lang="en-US" dirty="0"/>
              <a:t>To support </a:t>
            </a:r>
            <a:r>
              <a:rPr lang="en-US" b="1" i="1" dirty="0"/>
              <a:t>Ingress</a:t>
            </a:r>
            <a:r>
              <a:rPr lang="en-US" dirty="0"/>
              <a:t> resources, you must install a 3</a:t>
            </a:r>
            <a:r>
              <a:rPr lang="en-US" baseline="30000" dirty="0"/>
              <a:t>rd</a:t>
            </a:r>
            <a:r>
              <a:rPr lang="en-US" dirty="0"/>
              <a:t> party </a:t>
            </a:r>
            <a:r>
              <a:rPr lang="en-US" b="1" i="1" dirty="0"/>
              <a:t>Ingress Controller</a:t>
            </a:r>
            <a:r>
              <a:rPr lang="en-US" dirty="0"/>
              <a:t>.</a:t>
            </a:r>
          </a:p>
          <a:p>
            <a:pPr marL="342900" indent="-342900">
              <a:spcBef>
                <a:spcPts val="0"/>
              </a:spcBef>
              <a:buFont typeface="Arial" panose="020B0604020202020204" pitchFamily="34" charset="0"/>
              <a:buChar char="•"/>
            </a:pPr>
            <a:r>
              <a:rPr lang="en-US" dirty="0"/>
              <a:t>Kubernetes supports the following popular Ingress Controllers:  </a:t>
            </a:r>
          </a:p>
          <a:p>
            <a:pPr marL="800100" lvl="1" indent="-342900">
              <a:spcBef>
                <a:spcPts val="0"/>
              </a:spcBef>
              <a:buFont typeface="Arial" panose="020B0604020202020204" pitchFamily="34" charset="0"/>
              <a:buChar char="•"/>
            </a:pPr>
            <a:r>
              <a:rPr lang="en-US" sz="2400" dirty="0"/>
              <a:t>The </a:t>
            </a:r>
            <a:r>
              <a:rPr lang="en-US" sz="2400" dirty="0">
                <a:hlinkClick r:id="rId3"/>
              </a:rPr>
              <a:t>NGINX Ingress Controller for Kubernetes</a:t>
            </a:r>
            <a:r>
              <a:rPr lang="en-US" sz="2400" dirty="0"/>
              <a:t> works with the </a:t>
            </a:r>
            <a:r>
              <a:rPr lang="en-US" sz="2400" dirty="0">
                <a:hlinkClick r:id="rId4"/>
              </a:rPr>
              <a:t>NGINX</a:t>
            </a:r>
            <a:r>
              <a:rPr lang="en-US" sz="2400" dirty="0"/>
              <a:t> webserver (as a proxy).</a:t>
            </a:r>
          </a:p>
          <a:p>
            <a:pPr marL="800100" lvl="1" indent="-342900">
              <a:spcBef>
                <a:spcPts val="0"/>
              </a:spcBef>
              <a:buFont typeface="Arial" panose="020B0604020202020204" pitchFamily="34" charset="0"/>
              <a:buChar char="•"/>
            </a:pPr>
            <a:r>
              <a:rPr lang="en-US" sz="2400" dirty="0"/>
              <a:t>The </a:t>
            </a:r>
            <a:r>
              <a:rPr lang="en-US" sz="2400" dirty="0" err="1">
                <a:hlinkClick r:id="rId5"/>
              </a:rPr>
              <a:t>Traefik</a:t>
            </a:r>
            <a:r>
              <a:rPr lang="en-US" sz="2400" dirty="0">
                <a:hlinkClick r:id="rId5"/>
              </a:rPr>
              <a:t> Kubernetes Ingress provider</a:t>
            </a:r>
            <a:r>
              <a:rPr lang="en-US" sz="2400" dirty="0"/>
              <a:t> is an ingress controller for the </a:t>
            </a:r>
            <a:r>
              <a:rPr lang="en-US" sz="2400" dirty="0" err="1">
                <a:hlinkClick r:id="rId6"/>
              </a:rPr>
              <a:t>Traefik</a:t>
            </a:r>
            <a:r>
              <a:rPr lang="en-US" sz="2400" dirty="0"/>
              <a:t> proxy.</a:t>
            </a:r>
          </a:p>
          <a:p>
            <a:pPr marL="800100" lvl="1" indent="-342900">
              <a:spcBef>
                <a:spcPts val="0"/>
              </a:spcBef>
              <a:buFont typeface="Arial" panose="020B0604020202020204" pitchFamily="34" charset="0"/>
              <a:buChar char="•"/>
            </a:pPr>
            <a:r>
              <a:rPr lang="en-US" sz="2400" dirty="0"/>
              <a:t>The </a:t>
            </a:r>
            <a:r>
              <a:rPr lang="en-US" sz="2400" dirty="0">
                <a:hlinkClick r:id="rId7"/>
              </a:rPr>
              <a:t>AKS Application Gateway Ingress Controller</a:t>
            </a:r>
            <a:r>
              <a:rPr lang="en-US" sz="2400" dirty="0"/>
              <a:t> is an ingress controller that configures the </a:t>
            </a:r>
            <a:r>
              <a:rPr lang="en-US" sz="2400" dirty="0">
                <a:hlinkClick r:id="rId8"/>
              </a:rPr>
              <a:t>Azure Application Gateway</a:t>
            </a:r>
            <a:r>
              <a:rPr lang="en-US" sz="2400" dirty="0"/>
              <a:t>.</a:t>
            </a:r>
          </a:p>
          <a:p>
            <a:pPr marL="800100" lvl="1" indent="-342900">
              <a:spcBef>
                <a:spcPts val="0"/>
              </a:spcBef>
              <a:buFont typeface="Arial" panose="020B0604020202020204" pitchFamily="34" charset="0"/>
              <a:buChar char="•"/>
            </a:pPr>
            <a:endParaRPr lang="en-US" sz="2400" dirty="0"/>
          </a:p>
        </p:txBody>
      </p:sp>
    </p:spTree>
    <p:extLst>
      <p:ext uri="{BB962C8B-B14F-4D97-AF65-F5344CB8AC3E}">
        <p14:creationId xmlns:p14="http://schemas.microsoft.com/office/powerpoint/2010/main" val="38421978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FE1C4-EB00-0AC6-8E7C-5B013FCB05A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7DB4F5B-F48A-CBE2-B90C-23FE9CE66933}"/>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F929EC41-9859-E6F6-1A2D-F7889335C6D1}"/>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47</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C43FBF6B-4168-6FEF-7BDF-4EDE0AE1C1B3}"/>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984083F8-D258-8CF7-9E44-0D5744176425}"/>
              </a:ext>
            </a:extLst>
          </p:cNvPr>
          <p:cNvSpPr txBox="1"/>
          <p:nvPr/>
        </p:nvSpPr>
        <p:spPr>
          <a:xfrm>
            <a:off x="4845549" y="5063810"/>
            <a:ext cx="6615701" cy="307777"/>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Ingress Controller Demo</a:t>
            </a:r>
          </a:p>
        </p:txBody>
      </p:sp>
      <p:pic>
        <p:nvPicPr>
          <p:cNvPr id="1026" name="Picture 2">
            <a:extLst>
              <a:ext uri="{FF2B5EF4-FFF2-40B4-BE49-F238E27FC236}">
                <a16:creationId xmlns:a16="http://schemas.microsoft.com/office/drawing/2014/main" id="{67677E43-188B-2E71-954D-C9FD37ED8D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1571" y="530852"/>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797061"/>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1276FD-915A-CB6C-0816-A79F6D1754A5}"/>
              </a:ext>
            </a:extLst>
          </p:cNvPr>
          <p:cNvSpPr>
            <a:spLocks noGrp="1"/>
          </p:cNvSpPr>
          <p:nvPr>
            <p:ph type="title"/>
          </p:nvPr>
        </p:nvSpPr>
        <p:spPr/>
        <p:txBody>
          <a:bodyPr wrap="square" anchor="ctr">
            <a:normAutofit/>
          </a:bodyPr>
          <a:lstStyle/>
          <a:p>
            <a:r>
              <a:rPr lang="en-US" dirty="0">
                <a:solidFill>
                  <a:schemeClr val="accent3"/>
                </a:solidFill>
                <a:latin typeface="+mn-lt"/>
              </a:rPr>
              <a:t>What is Gateway API?</a:t>
            </a:r>
          </a:p>
        </p:txBody>
      </p:sp>
      <p:sp>
        <p:nvSpPr>
          <p:cNvPr id="5" name="Content Placeholder 4">
            <a:extLst>
              <a:ext uri="{FF2B5EF4-FFF2-40B4-BE49-F238E27FC236}">
                <a16:creationId xmlns:a16="http://schemas.microsoft.com/office/drawing/2014/main" id="{116D4367-506A-B63D-E8FB-D27FB9B2EE0E}"/>
              </a:ext>
            </a:extLst>
          </p:cNvPr>
          <p:cNvSpPr>
            <a:spLocks noGrp="1"/>
          </p:cNvSpPr>
          <p:nvPr>
            <p:ph sz="quarter" idx="4294967295"/>
          </p:nvPr>
        </p:nvSpPr>
        <p:spPr>
          <a:xfrm>
            <a:off x="259080" y="1831340"/>
            <a:ext cx="5211763" cy="4833938"/>
          </a:xfrm>
        </p:spPr>
        <p:txBody>
          <a:bodyPr wrap="square">
            <a:normAutofit/>
          </a:bodyPr>
          <a:lstStyle/>
          <a:p>
            <a:pPr marL="342900" indent="-342900">
              <a:buFont typeface="Arial" panose="020B0604020202020204" pitchFamily="34" charset="0"/>
              <a:buChar char="•"/>
            </a:pPr>
            <a:r>
              <a:rPr lang="en-US" dirty="0"/>
              <a:t>Next gen of Kubernetes Ingress, Load Balancing, and Service Mesh APIs</a:t>
            </a:r>
          </a:p>
          <a:p>
            <a:pPr marL="342900" indent="-342900">
              <a:buFont typeface="Arial" panose="020B0604020202020204" pitchFamily="34" charset="0"/>
              <a:buChar char="•"/>
            </a:pPr>
            <a:r>
              <a:rPr lang="en-US" dirty="0"/>
              <a:t>Generic, Expressive, Role Oriented</a:t>
            </a:r>
          </a:p>
          <a:p>
            <a:pPr marL="342900" indent="-342900">
              <a:buFont typeface="Arial" panose="020B0604020202020204" pitchFamily="34" charset="0"/>
              <a:buChar char="•"/>
            </a:pPr>
            <a:r>
              <a:rPr lang="en-US" dirty="0"/>
              <a:t>Gateway API for Ingress</a:t>
            </a:r>
          </a:p>
          <a:p>
            <a:pPr marL="342900" indent="-342900">
              <a:buFont typeface="Arial" panose="020B0604020202020204" pitchFamily="34" charset="0"/>
              <a:buChar char="•"/>
            </a:pPr>
            <a:r>
              <a:rPr lang="en-US" dirty="0"/>
              <a:t>Gateway API for Service Mesh</a:t>
            </a:r>
          </a:p>
        </p:txBody>
      </p:sp>
      <p:pic>
        <p:nvPicPr>
          <p:cNvPr id="1026" name="Picture 2">
            <a:extLst>
              <a:ext uri="{FF2B5EF4-FFF2-40B4-BE49-F238E27FC236}">
                <a16:creationId xmlns:a16="http://schemas.microsoft.com/office/drawing/2014/main" id="{488B2B33-D14F-98E5-A37E-CD90F0D77AF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74301" y="1831340"/>
            <a:ext cx="5219700" cy="4567236"/>
          </a:xfrm>
          <a:prstGeom prst="rect">
            <a:avLst/>
          </a:prstGeom>
          <a:solidFill>
            <a:srgbClr val="FFFFFF"/>
          </a:solidFill>
        </p:spPr>
      </p:pic>
    </p:spTree>
    <p:extLst>
      <p:ext uri="{BB962C8B-B14F-4D97-AF65-F5344CB8AC3E}">
        <p14:creationId xmlns:p14="http://schemas.microsoft.com/office/powerpoint/2010/main" val="1493549661"/>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D942F34-8851-DCCF-D7AB-F78E0F3E93CF}"/>
              </a:ext>
            </a:extLst>
          </p:cNvPr>
          <p:cNvSpPr>
            <a:spLocks noGrp="1"/>
          </p:cNvSpPr>
          <p:nvPr>
            <p:ph type="title"/>
          </p:nvPr>
        </p:nvSpPr>
        <p:spPr/>
        <p:txBody>
          <a:bodyPr/>
          <a:lstStyle/>
          <a:p>
            <a:r>
              <a:rPr lang="en-US" dirty="0">
                <a:solidFill>
                  <a:schemeClr val="accent3"/>
                </a:solidFill>
                <a:latin typeface="+mn-lt"/>
              </a:rPr>
              <a:t>Gateway API Concepts</a:t>
            </a:r>
          </a:p>
        </p:txBody>
      </p:sp>
      <p:sp>
        <p:nvSpPr>
          <p:cNvPr id="8" name="Content Placeholder 7">
            <a:extLst>
              <a:ext uri="{FF2B5EF4-FFF2-40B4-BE49-F238E27FC236}">
                <a16:creationId xmlns:a16="http://schemas.microsoft.com/office/drawing/2014/main" id="{C52F67A7-D5B4-874C-21CD-5742B33E9841}"/>
              </a:ext>
            </a:extLst>
          </p:cNvPr>
          <p:cNvSpPr>
            <a:spLocks noGrp="1"/>
          </p:cNvSpPr>
          <p:nvPr>
            <p:ph sz="quarter" idx="4294967295"/>
          </p:nvPr>
        </p:nvSpPr>
        <p:spPr>
          <a:xfrm>
            <a:off x="243840" y="2120900"/>
            <a:ext cx="11018838" cy="3902075"/>
          </a:xfrm>
        </p:spPr>
        <p:txBody>
          <a:bodyPr/>
          <a:lstStyle/>
          <a:p>
            <a:r>
              <a:rPr lang="en-US" dirty="0"/>
              <a:t>Design Goals</a:t>
            </a:r>
          </a:p>
          <a:p>
            <a:pPr lvl="1"/>
            <a:r>
              <a:rPr lang="en-US" dirty="0"/>
              <a:t>Role-oriented</a:t>
            </a:r>
          </a:p>
          <a:p>
            <a:pPr lvl="1"/>
            <a:r>
              <a:rPr lang="en-US" dirty="0"/>
              <a:t>Portable</a:t>
            </a:r>
          </a:p>
          <a:p>
            <a:pPr lvl="1"/>
            <a:r>
              <a:rPr lang="en-US" dirty="0"/>
              <a:t>Expressive</a:t>
            </a:r>
          </a:p>
          <a:p>
            <a:pPr lvl="1"/>
            <a:r>
              <a:rPr lang="en-US" dirty="0"/>
              <a:t>Extensible</a:t>
            </a:r>
          </a:p>
          <a:p>
            <a:r>
              <a:rPr lang="en-US" dirty="0"/>
              <a:t>Capabilities</a:t>
            </a:r>
          </a:p>
          <a:p>
            <a:pPr lvl="1"/>
            <a:r>
              <a:rPr lang="en-US" dirty="0" err="1"/>
              <a:t>GatewayClasses</a:t>
            </a:r>
            <a:endParaRPr lang="en-US" dirty="0"/>
          </a:p>
          <a:p>
            <a:pPr lvl="1"/>
            <a:r>
              <a:rPr lang="en-US" dirty="0"/>
              <a:t>Share Gateways and Cross- Namespace Support</a:t>
            </a:r>
          </a:p>
          <a:p>
            <a:pPr lvl="1"/>
            <a:r>
              <a:rPr lang="en-US" dirty="0"/>
              <a:t>Type Routes and typed backends</a:t>
            </a:r>
          </a:p>
          <a:p>
            <a:pPr lvl="1"/>
            <a:r>
              <a:rPr lang="en-US" dirty="0"/>
              <a:t>Experimental Service Mesh support via GAMMA Initiative </a:t>
            </a:r>
          </a:p>
        </p:txBody>
      </p:sp>
    </p:spTree>
    <p:extLst>
      <p:ext uri="{BB962C8B-B14F-4D97-AF65-F5344CB8AC3E}">
        <p14:creationId xmlns:p14="http://schemas.microsoft.com/office/powerpoint/2010/main" val="2320260300"/>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D942F34-8851-DCCF-D7AB-F78E0F3E93CF}"/>
              </a:ext>
            </a:extLst>
          </p:cNvPr>
          <p:cNvSpPr>
            <a:spLocks noGrp="1"/>
          </p:cNvSpPr>
          <p:nvPr>
            <p:ph type="title"/>
          </p:nvPr>
        </p:nvSpPr>
        <p:spPr/>
        <p:txBody>
          <a:bodyPr wrap="square" anchor="ctr">
            <a:normAutofit/>
          </a:bodyPr>
          <a:lstStyle/>
          <a:p>
            <a:r>
              <a:rPr lang="en-US" dirty="0">
                <a:solidFill>
                  <a:schemeClr val="accent3"/>
                </a:solidFill>
                <a:latin typeface="+mn-lt"/>
              </a:rPr>
              <a:t>Gateway API Concepts</a:t>
            </a:r>
          </a:p>
        </p:txBody>
      </p:sp>
      <p:sp>
        <p:nvSpPr>
          <p:cNvPr id="8" name="Content Placeholder 7">
            <a:extLst>
              <a:ext uri="{FF2B5EF4-FFF2-40B4-BE49-F238E27FC236}">
                <a16:creationId xmlns:a16="http://schemas.microsoft.com/office/drawing/2014/main" id="{C52F67A7-D5B4-874C-21CD-5742B33E9841}"/>
              </a:ext>
            </a:extLst>
          </p:cNvPr>
          <p:cNvSpPr>
            <a:spLocks noGrp="1"/>
          </p:cNvSpPr>
          <p:nvPr>
            <p:ph sz="quarter" idx="4294967295"/>
          </p:nvPr>
        </p:nvSpPr>
        <p:spPr>
          <a:xfrm>
            <a:off x="311149" y="1800860"/>
            <a:ext cx="5211763" cy="4833938"/>
          </a:xfrm>
        </p:spPr>
        <p:txBody>
          <a:bodyPr wrap="square">
            <a:normAutofit fontScale="92500" lnSpcReduction="10000"/>
          </a:bodyPr>
          <a:lstStyle/>
          <a:p>
            <a:r>
              <a:rPr lang="en-US" dirty="0"/>
              <a:t>Gateways</a:t>
            </a:r>
          </a:p>
          <a:p>
            <a:pPr lvl="1"/>
            <a:r>
              <a:rPr lang="en-US" sz="2800" dirty="0"/>
              <a:t>Describe</a:t>
            </a:r>
          </a:p>
          <a:p>
            <a:pPr lvl="1"/>
            <a:r>
              <a:rPr lang="en-US" sz="2800" dirty="0"/>
              <a:t> how traffic is translated to services in the cluster</a:t>
            </a:r>
          </a:p>
          <a:p>
            <a:r>
              <a:rPr lang="en-US" dirty="0"/>
              <a:t>Routes</a:t>
            </a:r>
          </a:p>
          <a:p>
            <a:pPr lvl="1"/>
            <a:r>
              <a:rPr lang="en-US" dirty="0" err="1"/>
              <a:t>HTTPRoute</a:t>
            </a:r>
            <a:endParaRPr lang="en-US" dirty="0"/>
          </a:p>
          <a:p>
            <a:pPr lvl="1"/>
            <a:r>
              <a:rPr lang="en-US" dirty="0" err="1"/>
              <a:t>TLSRoute</a:t>
            </a:r>
            <a:endParaRPr lang="en-US" dirty="0"/>
          </a:p>
          <a:p>
            <a:pPr lvl="1"/>
            <a:r>
              <a:rPr lang="en-US" dirty="0" err="1"/>
              <a:t>TCPRoute</a:t>
            </a:r>
            <a:r>
              <a:rPr lang="en-US" dirty="0"/>
              <a:t> / </a:t>
            </a:r>
            <a:r>
              <a:rPr lang="en-US" dirty="0" err="1"/>
              <a:t>UDPRoute</a:t>
            </a:r>
            <a:endParaRPr lang="en-US" dirty="0"/>
          </a:p>
          <a:p>
            <a:pPr lvl="1"/>
            <a:r>
              <a:rPr lang="en-US" dirty="0" err="1"/>
              <a:t>GRPCRoute</a:t>
            </a:r>
            <a:endParaRPr lang="en-US" dirty="0"/>
          </a:p>
          <a:p>
            <a:r>
              <a:rPr lang="en-US" dirty="0"/>
              <a:t>Gateway to Routes</a:t>
            </a:r>
          </a:p>
          <a:p>
            <a:pPr lvl="1"/>
            <a:r>
              <a:rPr lang="en-US" dirty="0"/>
              <a:t>One to One</a:t>
            </a:r>
          </a:p>
          <a:p>
            <a:pPr lvl="1"/>
            <a:r>
              <a:rPr lang="en-US" dirty="0"/>
              <a:t>One to Many</a:t>
            </a:r>
          </a:p>
          <a:p>
            <a:pPr lvl="1"/>
            <a:r>
              <a:rPr lang="en-US" dirty="0"/>
              <a:t>Many to One</a:t>
            </a:r>
          </a:p>
        </p:txBody>
      </p:sp>
      <p:pic>
        <p:nvPicPr>
          <p:cNvPr id="4098" name="Picture 2" descr="route binding">
            <a:extLst>
              <a:ext uri="{FF2B5EF4-FFF2-40B4-BE49-F238E27FC236}">
                <a16:creationId xmlns:a16="http://schemas.microsoft.com/office/drawing/2014/main" id="{A5351CB9-B248-CF1E-BB54-74DC72A1E6E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795963" y="2409781"/>
            <a:ext cx="6084888" cy="2038437"/>
          </a:xfrm>
          <a:prstGeom prst="rect">
            <a:avLst/>
          </a:prstGeom>
          <a:solidFill>
            <a:srgbClr val="FFFFFF"/>
          </a:solidFill>
        </p:spPr>
      </p:pic>
    </p:spTree>
    <p:extLst>
      <p:ext uri="{BB962C8B-B14F-4D97-AF65-F5344CB8AC3E}">
        <p14:creationId xmlns:p14="http://schemas.microsoft.com/office/powerpoint/2010/main" val="2721060931"/>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BEA7-E3BE-58A8-08EA-987891E1E2F0}"/>
              </a:ext>
            </a:extLst>
          </p:cNvPr>
          <p:cNvSpPr>
            <a:spLocks noGrp="1"/>
          </p:cNvSpPr>
          <p:nvPr>
            <p:ph type="title"/>
          </p:nvPr>
        </p:nvSpPr>
        <p:spPr/>
        <p:txBody>
          <a:bodyPr wrap="square" anchor="ctr">
            <a:normAutofit/>
          </a:bodyPr>
          <a:lstStyle/>
          <a:p>
            <a:r>
              <a:rPr lang="en-US" dirty="0">
                <a:solidFill>
                  <a:schemeClr val="accent3"/>
                </a:solidFill>
                <a:latin typeface="+mn-lt"/>
              </a:rPr>
              <a:t>Application Gateway for Containers</a:t>
            </a:r>
          </a:p>
        </p:txBody>
      </p:sp>
      <p:sp>
        <p:nvSpPr>
          <p:cNvPr id="3" name="Content Placeholder 2">
            <a:extLst>
              <a:ext uri="{FF2B5EF4-FFF2-40B4-BE49-F238E27FC236}">
                <a16:creationId xmlns:a16="http://schemas.microsoft.com/office/drawing/2014/main" id="{963C17C7-1110-B589-B3BE-95EC90B60961}"/>
              </a:ext>
            </a:extLst>
          </p:cNvPr>
          <p:cNvSpPr>
            <a:spLocks noGrp="1"/>
          </p:cNvSpPr>
          <p:nvPr>
            <p:ph sz="quarter" idx="4294967295"/>
          </p:nvPr>
        </p:nvSpPr>
        <p:spPr>
          <a:xfrm>
            <a:off x="381000" y="1738090"/>
            <a:ext cx="5211763" cy="4833938"/>
          </a:xfrm>
        </p:spPr>
        <p:txBody>
          <a:bodyPr wrap="square">
            <a:normAutofit/>
          </a:bodyPr>
          <a:lstStyle/>
          <a:p>
            <a:r>
              <a:rPr lang="en-US" dirty="0"/>
              <a:t>Application Load balancing and traffic management</a:t>
            </a:r>
          </a:p>
          <a:p>
            <a:r>
              <a:rPr lang="en-US" dirty="0"/>
              <a:t>Exists under App gateway</a:t>
            </a:r>
          </a:p>
          <a:p>
            <a:r>
              <a:rPr lang="en-US" dirty="0"/>
              <a:t>3 Components</a:t>
            </a:r>
          </a:p>
          <a:p>
            <a:pPr lvl="1"/>
            <a:r>
              <a:rPr lang="en-US" dirty="0"/>
              <a:t>Application Gateway for containers</a:t>
            </a:r>
          </a:p>
          <a:p>
            <a:pPr lvl="1"/>
            <a:r>
              <a:rPr lang="en-US" dirty="0"/>
              <a:t>Frontends</a:t>
            </a:r>
          </a:p>
          <a:p>
            <a:pPr lvl="1"/>
            <a:r>
              <a:rPr lang="en-US" dirty="0"/>
              <a:t>Associations</a:t>
            </a:r>
          </a:p>
          <a:p>
            <a:r>
              <a:rPr lang="en-US" dirty="0"/>
              <a:t>Features</a:t>
            </a:r>
          </a:p>
          <a:p>
            <a:pPr lvl="1"/>
            <a:r>
              <a:rPr lang="en-US" dirty="0"/>
              <a:t>Traffic splitting/ Weighted round robin</a:t>
            </a:r>
          </a:p>
          <a:p>
            <a:pPr lvl="1"/>
            <a:r>
              <a:rPr lang="en-US" dirty="0"/>
              <a:t>Mutual Auth to backend target</a:t>
            </a:r>
          </a:p>
          <a:p>
            <a:pPr lvl="1"/>
            <a:r>
              <a:rPr lang="en-US" dirty="0"/>
              <a:t>K8s support for Ingress and Gateway API</a:t>
            </a:r>
          </a:p>
        </p:txBody>
      </p:sp>
      <p:pic>
        <p:nvPicPr>
          <p:cNvPr id="2050" name="Picture 2" descr="Diagram depicting traffic from the Internet ingressing into Application Gateway for Containers and being sent to backend pods in AKS.">
            <a:extLst>
              <a:ext uri="{FF2B5EF4-FFF2-40B4-BE49-F238E27FC236}">
                <a16:creationId xmlns:a16="http://schemas.microsoft.com/office/drawing/2014/main" id="{A9B5C318-6FF9-2BBC-3D0F-3F03BEA5FA1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89688" y="1738090"/>
            <a:ext cx="5219700" cy="4227956"/>
          </a:xfrm>
          <a:prstGeom prst="rect">
            <a:avLst/>
          </a:prstGeom>
          <a:solidFill>
            <a:srgbClr val="FFFFFF"/>
          </a:solidFill>
        </p:spPr>
      </p:pic>
    </p:spTree>
    <p:extLst>
      <p:ext uri="{BB962C8B-B14F-4D97-AF65-F5344CB8AC3E}">
        <p14:creationId xmlns:p14="http://schemas.microsoft.com/office/powerpoint/2010/main" val="302165506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D942F34-8851-DCCF-D7AB-F78E0F3E93CF}"/>
              </a:ext>
            </a:extLst>
          </p:cNvPr>
          <p:cNvSpPr>
            <a:spLocks noGrp="1"/>
          </p:cNvSpPr>
          <p:nvPr>
            <p:ph type="title"/>
          </p:nvPr>
        </p:nvSpPr>
        <p:spPr/>
        <p:txBody>
          <a:bodyPr/>
          <a:lstStyle/>
          <a:p>
            <a:r>
              <a:rPr lang="en-US" dirty="0">
                <a:solidFill>
                  <a:schemeClr val="accent3"/>
                </a:solidFill>
                <a:latin typeface="+mn-lt"/>
              </a:rPr>
              <a:t>Gateway API Concepts - Examples</a:t>
            </a:r>
          </a:p>
        </p:txBody>
      </p:sp>
      <p:pic>
        <p:nvPicPr>
          <p:cNvPr id="5" name="Picture 4">
            <a:extLst>
              <a:ext uri="{FF2B5EF4-FFF2-40B4-BE49-F238E27FC236}">
                <a16:creationId xmlns:a16="http://schemas.microsoft.com/office/drawing/2014/main" id="{B526DDB1-E229-20EC-7253-67A9F3CDC7D9}"/>
              </a:ext>
            </a:extLst>
          </p:cNvPr>
          <p:cNvPicPr>
            <a:picLocks noChangeAspect="1"/>
          </p:cNvPicPr>
          <p:nvPr/>
        </p:nvPicPr>
        <p:blipFill>
          <a:blip r:embed="rId3"/>
          <a:stretch>
            <a:fillRect/>
          </a:stretch>
        </p:blipFill>
        <p:spPr>
          <a:xfrm>
            <a:off x="597999" y="1590661"/>
            <a:ext cx="4286848" cy="5220429"/>
          </a:xfrm>
          <a:prstGeom prst="rect">
            <a:avLst/>
          </a:prstGeom>
        </p:spPr>
      </p:pic>
      <p:pic>
        <p:nvPicPr>
          <p:cNvPr id="9" name="Picture 8">
            <a:extLst>
              <a:ext uri="{FF2B5EF4-FFF2-40B4-BE49-F238E27FC236}">
                <a16:creationId xmlns:a16="http://schemas.microsoft.com/office/drawing/2014/main" id="{295E4EF8-CAFF-FAA0-7AC1-68D3D80A9AB6}"/>
              </a:ext>
            </a:extLst>
          </p:cNvPr>
          <p:cNvPicPr>
            <a:picLocks noChangeAspect="1"/>
          </p:cNvPicPr>
          <p:nvPr/>
        </p:nvPicPr>
        <p:blipFill>
          <a:blip r:embed="rId4"/>
          <a:stretch>
            <a:fillRect/>
          </a:stretch>
        </p:blipFill>
        <p:spPr>
          <a:xfrm>
            <a:off x="4951992" y="1180372"/>
            <a:ext cx="2953162" cy="2695951"/>
          </a:xfrm>
          <a:prstGeom prst="rect">
            <a:avLst/>
          </a:prstGeom>
        </p:spPr>
      </p:pic>
      <p:pic>
        <p:nvPicPr>
          <p:cNvPr id="11" name="Picture 10">
            <a:extLst>
              <a:ext uri="{FF2B5EF4-FFF2-40B4-BE49-F238E27FC236}">
                <a16:creationId xmlns:a16="http://schemas.microsoft.com/office/drawing/2014/main" id="{9118DC94-A576-FBAF-9724-B018A8F42A42}"/>
              </a:ext>
            </a:extLst>
          </p:cNvPr>
          <p:cNvPicPr>
            <a:picLocks noChangeAspect="1"/>
          </p:cNvPicPr>
          <p:nvPr/>
        </p:nvPicPr>
        <p:blipFill>
          <a:blip r:embed="rId5"/>
          <a:stretch>
            <a:fillRect/>
          </a:stretch>
        </p:blipFill>
        <p:spPr>
          <a:xfrm>
            <a:off x="4951992" y="3876322"/>
            <a:ext cx="2953162" cy="2981678"/>
          </a:xfrm>
          <a:prstGeom prst="rect">
            <a:avLst/>
          </a:prstGeom>
        </p:spPr>
      </p:pic>
      <p:pic>
        <p:nvPicPr>
          <p:cNvPr id="13" name="Picture 12">
            <a:extLst>
              <a:ext uri="{FF2B5EF4-FFF2-40B4-BE49-F238E27FC236}">
                <a16:creationId xmlns:a16="http://schemas.microsoft.com/office/drawing/2014/main" id="{F08B46FD-3547-F65E-11FE-D591E3597BC3}"/>
              </a:ext>
            </a:extLst>
          </p:cNvPr>
          <p:cNvPicPr>
            <a:picLocks noChangeAspect="1"/>
          </p:cNvPicPr>
          <p:nvPr/>
        </p:nvPicPr>
        <p:blipFill>
          <a:blip r:embed="rId6"/>
          <a:stretch>
            <a:fillRect/>
          </a:stretch>
        </p:blipFill>
        <p:spPr>
          <a:xfrm>
            <a:off x="7972299" y="1866924"/>
            <a:ext cx="3372321" cy="4667901"/>
          </a:xfrm>
          <a:prstGeom prst="rect">
            <a:avLst/>
          </a:prstGeom>
        </p:spPr>
      </p:pic>
    </p:spTree>
    <p:extLst>
      <p:ext uri="{BB962C8B-B14F-4D97-AF65-F5344CB8AC3E}">
        <p14:creationId xmlns:p14="http://schemas.microsoft.com/office/powerpoint/2010/main" val="1826807880"/>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EFBDDC-8184-042F-2BD2-39AD3D2D6B4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FEB19D9-C1DC-BF3C-D16A-D48FF81EEE31}"/>
              </a:ext>
            </a:extLst>
          </p:cNvPr>
          <p:cNvSpPr>
            <a:spLocks noGrp="1"/>
          </p:cNvSpPr>
          <p:nvPr>
            <p:ph type="ftr" sz="quarter" idx="3"/>
          </p:nvPr>
        </p:nvSpPr>
        <p:spPr/>
        <p:txBody>
          <a:bodyPr anchor="ctr">
            <a:normAutofit/>
          </a:bodyPr>
          <a:lstStyle/>
          <a:p>
            <a:pPr marL="0" marR="0" lvl="0" indent="0" defTabSz="914400" rtl="0" eaLnBrk="1" fontAlgn="auto" latinLnBrk="0" hangingPunct="1">
              <a:spcBef>
                <a:spcPts val="0"/>
              </a:spcBef>
              <a:spcAft>
                <a:spcPts val="600"/>
              </a:spcAft>
              <a:buClrTx/>
              <a:buSzTx/>
              <a:buFontTx/>
              <a:buNone/>
              <a:tabLst/>
              <a:defRPr/>
            </a:pPr>
            <a:r>
              <a:rPr kumimoji="0" lang="en-US" b="0" i="0" u="none" strike="noStrike" kern="1200" cap="none" spc="0" normalizeH="0" baseline="0" noProof="0">
                <a:ln>
                  <a:noFill/>
                </a:ln>
                <a:solidFill>
                  <a:srgbClr val="000000"/>
                </a:solidFill>
                <a:effectLst/>
                <a:uLnTx/>
                <a:uFillTx/>
              </a:rPr>
              <a:t>Microsoft Confidential</a:t>
            </a:r>
          </a:p>
        </p:txBody>
      </p:sp>
      <p:sp>
        <p:nvSpPr>
          <p:cNvPr id="4" name="Slide Number Placeholder 3">
            <a:extLst>
              <a:ext uri="{FF2B5EF4-FFF2-40B4-BE49-F238E27FC236}">
                <a16:creationId xmlns:a16="http://schemas.microsoft.com/office/drawing/2014/main" id="{CE9B0EE5-7F10-0DC5-E7E8-D2D113D2EF5B}"/>
              </a:ext>
            </a:extLst>
          </p:cNvPr>
          <p:cNvSpPr>
            <a:spLocks noGrp="1"/>
          </p:cNvSpPr>
          <p:nvPr>
            <p:ph type="sldNum" sz="quarter" idx="4"/>
          </p:nvPr>
        </p:nvSpPr>
        <p:spPr/>
        <p:txBody>
          <a:bodyPr wrap="square" anchor="ctr">
            <a:normAutofit/>
          </a:bodyPr>
          <a:lstStyle/>
          <a:p>
            <a:pPr marL="0" marR="0" lvl="0" indent="0" defTabSz="914400" rtl="0" eaLnBrk="1" fontAlgn="auto" latinLnBrk="0" hangingPunct="1">
              <a:spcBef>
                <a:spcPts val="0"/>
              </a:spcBef>
              <a:spcAft>
                <a:spcPts val="600"/>
              </a:spcAft>
              <a:buClrTx/>
              <a:buSzTx/>
              <a:buFontTx/>
              <a:buNone/>
              <a:tabLst/>
              <a:defRPr/>
            </a:pPr>
            <a:fld id="{8F881BB8-5469-4299-99B9-578BE3320A80}" type="slidenum">
              <a:rPr kumimoji="0" lang="en-US" b="0" i="0" u="none" strike="noStrike" kern="1200" cap="none" spc="0" normalizeH="0" baseline="0" noProof="0" smtClean="0">
                <a:ln>
                  <a:noFill/>
                </a:ln>
                <a:solidFill>
                  <a:srgbClr val="000000"/>
                </a:solidFill>
                <a:effectLst/>
                <a:uLnTx/>
                <a:uFillTx/>
              </a:rPr>
              <a:pPr marL="0" marR="0" lvl="0" indent="0" defTabSz="914400" rtl="0" eaLnBrk="1" fontAlgn="auto" latinLnBrk="0" hangingPunct="1">
                <a:spcBef>
                  <a:spcPts val="0"/>
                </a:spcBef>
                <a:spcAft>
                  <a:spcPts val="600"/>
                </a:spcAft>
                <a:buClrTx/>
                <a:buSzTx/>
                <a:buFontTx/>
                <a:buNone/>
                <a:tabLst/>
                <a:defRPr/>
              </a:pPr>
              <a:t>53</a:t>
            </a:fld>
            <a:endParaRPr kumimoji="0" lang="en-US" b="0" i="0" u="none" strike="noStrike" kern="1200" cap="none" spc="0" normalizeH="0" baseline="0" noProof="0">
              <a:ln>
                <a:noFill/>
              </a:ln>
              <a:solidFill>
                <a:srgbClr val="000000"/>
              </a:solidFill>
              <a:effectLst/>
              <a:uLnTx/>
              <a:uFillTx/>
            </a:endParaRPr>
          </a:p>
        </p:txBody>
      </p:sp>
      <p:sp>
        <p:nvSpPr>
          <p:cNvPr id="17" name="Text Placeholder 16">
            <a:extLst>
              <a:ext uri="{FF2B5EF4-FFF2-40B4-BE49-F238E27FC236}">
                <a16:creationId xmlns:a16="http://schemas.microsoft.com/office/drawing/2014/main" id="{972A82CE-F039-D1AB-CEC1-C950615497CD}"/>
              </a:ext>
            </a:extLst>
          </p:cNvPr>
          <p:cNvSpPr>
            <a:spLocks noGrp="1"/>
          </p:cNvSpPr>
          <p:nvPr>
            <p:ph type="body" sz="quarter" idx="39"/>
          </p:nvPr>
        </p:nvSpPr>
        <p:spPr/>
        <p:txBody>
          <a:bodyPr/>
          <a:lstStyle/>
          <a:p>
            <a:r>
              <a:rPr lang="en-US" dirty="0"/>
              <a:t>Demo</a:t>
            </a:r>
          </a:p>
        </p:txBody>
      </p:sp>
      <p:sp>
        <p:nvSpPr>
          <p:cNvPr id="18" name="TextBox 17">
            <a:extLst>
              <a:ext uri="{FF2B5EF4-FFF2-40B4-BE49-F238E27FC236}">
                <a16:creationId xmlns:a16="http://schemas.microsoft.com/office/drawing/2014/main" id="{01D88980-E91B-0F2A-DD9B-05B1118B589B}"/>
              </a:ext>
            </a:extLst>
          </p:cNvPr>
          <p:cNvSpPr txBox="1"/>
          <p:nvPr/>
        </p:nvSpPr>
        <p:spPr>
          <a:xfrm>
            <a:off x="4845549" y="5063810"/>
            <a:ext cx="6615701" cy="307777"/>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dirty="0"/>
              <a:t>Gateway API on AGC</a:t>
            </a:r>
          </a:p>
        </p:txBody>
      </p:sp>
      <p:pic>
        <p:nvPicPr>
          <p:cNvPr id="1026" name="Picture 2">
            <a:extLst>
              <a:ext uri="{FF2B5EF4-FFF2-40B4-BE49-F238E27FC236}">
                <a16:creationId xmlns:a16="http://schemas.microsoft.com/office/drawing/2014/main" id="{EBCA9709-2F7A-37AF-5989-A55D625F1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1571" y="530852"/>
            <a:ext cx="4353791" cy="382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740303"/>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54</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9d9e1da7-2723-4f69-b69f-21b1693715c5"/>
  <p:tag name="MIO_EKGUID" val="54ade1c1-5b04-4aab-863d-fd2e000d0565"/>
  <p:tag name="MIO_UPDATE" val="True"/>
  <p:tag name="MIO_VERSION" val="30.03.2020 15:44:05"/>
  <p:tag name="MIO_DBID" val="12b0c59e-2253-4124-a5e9-470adf4cb168"/>
  <p:tag name="MIO_LASTDOWNLOADED" val="30.03.2020 15:44:51"/>
  <p:tag name="MIO_OBJECTNAME" val="Learning 1"/>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0bc2a4e-b359-41fd-8d02-f26205a8e61a"/>
  <p:tag name="MIO_UPDATE" val="True"/>
  <p:tag name="MIO_VERSION" val="30.03.2020 15:44:05"/>
  <p:tag name="MIO_DBID" val="12b0c59e-2253-4124-a5e9-470adf4cb168"/>
  <p:tag name="MIO_LASTDOWNLOADED" val="30.03.2020 15:44:52"/>
  <p:tag name="MIO_OBJECTNAME" val="Questions?"/>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item1.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6.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13.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8.xml><?xml version="1.0" encoding="utf-8"?>
<?mso-contentType ?>
<FormTemplates xmlns="http://schemas.microsoft.com/sharepoint/v3/contenttype/forms">
  <Display>DocumentLibraryForm</Display>
  <Edit>DocumentLibraryForm</Edit>
  <New>DocumentLibraryForm</New>
</FormTemplates>
</file>

<file path=customXml/item2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E7EBEF02-C69B-46E0-B38A-E51611CE5254}">
  <ds:schemaRefs>
    <ds:schemaRef ds:uri="Strauss.PersonalizationDefinition"/>
  </ds:schemaRefs>
</ds:datastoreItem>
</file>

<file path=customXml/itemProps2.xml><?xml version="1.0" encoding="utf-8"?>
<ds:datastoreItem xmlns:ds="http://schemas.openxmlformats.org/officeDocument/2006/customXml" ds:itemID="{406127A5-B8F7-4F8A-95A9-8E20F72EA129}">
  <ds:schemaRefs>
    <ds:schemaRef ds:uri="Strauss.PersonalizationDefinition"/>
  </ds:schemaRefs>
</ds:datastoreItem>
</file>

<file path=customXml/itemProps3.xml><?xml version="1.0" encoding="utf-8"?>
<ds:datastoreItem xmlns:ds="http://schemas.openxmlformats.org/officeDocument/2006/customXml" ds:itemID="{B09E3EAE-66CA-4A91-A5FE-A34A70B099ED}">
  <ds:schemaRefs>
    <ds:schemaRef ds:uri="Strauss.PersonalizationDefinition"/>
  </ds:schemaRefs>
</ds:datastoreItem>
</file>

<file path=customXml/itemProps4.xml><?xml version="1.0" encoding="utf-8"?>
<ds:datastoreItem xmlns:ds="http://schemas.openxmlformats.org/officeDocument/2006/customXml" ds:itemID="{712108F3-86F2-4B95-AF2D-FE4E45965FCC}">
  <ds:schemaRefs>
    <ds:schemaRef ds:uri="Strauss.PersonalizationDefinition"/>
  </ds:schemaRefs>
</ds:datastoreItem>
</file>

<file path=customXml/itemProps5.xml><?xml version="1.0" encoding="utf-8"?>
<ds:datastoreItem xmlns:ds="http://schemas.openxmlformats.org/officeDocument/2006/customXml" ds:itemID="{82C716E8-B770-4139-99B0-F35B9C64B90F}">
  <ds:schemaRefs>
    <ds:schemaRef ds:uri="Strauss.PersonalizationDefinition"/>
  </ds:schemaRefs>
</ds:datastoreItem>
</file>

<file path=customXml/itemProps6.xml><?xml version="1.0" encoding="utf-8"?>
<ds:datastoreItem xmlns:ds="http://schemas.openxmlformats.org/officeDocument/2006/customXml" ds:itemID="{996A88C2-5FCC-469B-B0D8-7806C9F3B6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e7a4c3d-94ce-45db-961b-252eaa2a09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7.xml><?xml version="1.0" encoding="utf-8"?>
<ds:datastoreItem xmlns:ds="http://schemas.openxmlformats.org/officeDocument/2006/customXml" ds:itemID="{103AB8E4-C30A-4895-9606-8D77F2E70F19}">
  <ds:schemaRefs>
    <ds:schemaRef ds:uri="Strauss.PersonalizationDefinition"/>
  </ds:schemaRefs>
</ds:datastoreItem>
</file>

<file path=customXml/itemProps8.xml><?xml version="1.0" encoding="utf-8"?>
<ds:datastoreItem xmlns:ds="http://schemas.openxmlformats.org/officeDocument/2006/customXml" ds:itemID="{2BCFCE7B-4A43-491B-887D-365E2A1C50B2}">
  <ds:schemaRefs>
    <ds:schemaRef ds:uri="Strauss.PersonalizationDefinition"/>
  </ds:schemaRefs>
</ds:datastoreItem>
</file>

<file path=customXml/itemProps9.xml><?xml version="1.0" encoding="utf-8"?>
<ds:datastoreItem xmlns:ds="http://schemas.openxmlformats.org/officeDocument/2006/customXml" ds:itemID="{EF4AA5EB-A638-4D3A-B852-E71E18ED4953}">
  <ds:schemaRefs>
    <ds:schemaRef ds:uri="Strauss.PersonalizationDefinition"/>
  </ds:schemaRefs>
</ds:datastoreItem>
</file>

<file path=customXml/itemProps10.xml><?xml version="1.0" encoding="utf-8"?>
<ds:datastoreItem xmlns:ds="http://schemas.openxmlformats.org/officeDocument/2006/customXml" ds:itemID="{FC25CD5D-A9DA-407F-9106-47BDA14BCED9}">
  <ds:schemaRefs>
    <ds:schemaRef ds:uri="Strauss.PersonalizationDefinition"/>
  </ds:schemaRefs>
</ds:datastoreItem>
</file>

<file path=customXml/itemProps11.xml><?xml version="1.0" encoding="utf-8"?>
<ds:datastoreItem xmlns:ds="http://schemas.openxmlformats.org/officeDocument/2006/customXml" ds:itemID="{D55AC15F-0A03-4D96-AA43-65FC3DCE2717}">
  <ds:schemaRefs>
    <ds:schemaRef ds:uri="Strauss.PersonalizationDefinition"/>
  </ds:schemaRefs>
</ds:datastoreItem>
</file>

<file path=customXml/itemProps12.xml><?xml version="1.0" encoding="utf-8"?>
<ds:datastoreItem xmlns:ds="http://schemas.openxmlformats.org/officeDocument/2006/customXml" ds:itemID="{AC7687D8-5695-4F99-A8BA-1D247B418C22}">
  <ds:schemaRefs>
    <ds:schemaRef ds:uri="http://www.w3.org/XML/1998/namespace"/>
    <ds:schemaRef ds:uri="fb9ea31f-0ab8-44ff-80d1-5777f6d9d945"/>
    <ds:schemaRef ds:uri="http://schemas.microsoft.com/sharepoint/v3"/>
    <ds:schemaRef ds:uri="http://schemas.microsoft.com/office/2006/metadata/properties"/>
    <ds:schemaRef ds:uri="http://purl.org/dc/terms/"/>
    <ds:schemaRef ds:uri="cea7764e-6bf9-427d-be15-e74097e0a61c"/>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230e9df3-be65-4c73-a93b-d1236ebd677e"/>
    <ds:schemaRef ds:uri="http://purl.org/dc/elements/1.1/"/>
    <ds:schemaRef ds:uri="fe7a4c3d-94ce-45db-961b-252eaa2a0914"/>
  </ds:schemaRefs>
</ds:datastoreItem>
</file>

<file path=customXml/itemProps13.xml><?xml version="1.0" encoding="utf-8"?>
<ds:datastoreItem xmlns:ds="http://schemas.openxmlformats.org/officeDocument/2006/customXml" ds:itemID="{541D4602-AC17-4CBD-B95E-D5B3D757BC54}">
  <ds:schemaRefs>
    <ds:schemaRef ds:uri="Strauss.PersonalizationDefinition"/>
  </ds:schemaRefs>
</ds:datastoreItem>
</file>

<file path=customXml/itemProps14.xml><?xml version="1.0" encoding="utf-8"?>
<ds:datastoreItem xmlns:ds="http://schemas.openxmlformats.org/officeDocument/2006/customXml" ds:itemID="{DE0DC7DC-A960-4E6E-BF1B-D3D906B081A2}">
  <ds:schemaRefs>
    <ds:schemaRef ds:uri="Strauss.PersonalizationDefinition"/>
  </ds:schemaRefs>
</ds:datastoreItem>
</file>

<file path=customXml/itemProps15.xml><?xml version="1.0" encoding="utf-8"?>
<ds:datastoreItem xmlns:ds="http://schemas.openxmlformats.org/officeDocument/2006/customXml" ds:itemID="{32920470-F086-4197-B6FE-12027DE25DCC}">
  <ds:schemaRefs>
    <ds:schemaRef ds:uri="Strauss.PersonalizationDefinition"/>
  </ds:schemaRefs>
</ds:datastoreItem>
</file>

<file path=customXml/itemProps16.xml><?xml version="1.0" encoding="utf-8"?>
<ds:datastoreItem xmlns:ds="http://schemas.openxmlformats.org/officeDocument/2006/customXml" ds:itemID="{DF333A1B-0A9C-4DA8-ADAB-4378B69FDC48}">
  <ds:schemaRefs>
    <ds:schemaRef ds:uri="Strauss.PersonalizationDefinition"/>
  </ds:schemaRefs>
</ds:datastoreItem>
</file>

<file path=customXml/itemProps17.xml><?xml version="1.0" encoding="utf-8"?>
<ds:datastoreItem xmlns:ds="http://schemas.openxmlformats.org/officeDocument/2006/customXml" ds:itemID="{4A3F169F-E27D-4A25-888C-4C5D83BAC082}">
  <ds:schemaRefs>
    <ds:schemaRef ds:uri="Strauss.PersonalizationDefinition"/>
  </ds:schemaRefs>
</ds:datastoreItem>
</file>

<file path=customXml/itemProps18.xml><?xml version="1.0" encoding="utf-8"?>
<ds:datastoreItem xmlns:ds="http://schemas.openxmlformats.org/officeDocument/2006/customXml" ds:itemID="{4EA01338-72BB-48B6-B6A4-05B31FE21105}">
  <ds:schemaRefs>
    <ds:schemaRef ds:uri="Strauss.PersonalizationDefinition"/>
  </ds:schemaRefs>
</ds:datastoreItem>
</file>

<file path=customXml/itemProps19.xml><?xml version="1.0" encoding="utf-8"?>
<ds:datastoreItem xmlns:ds="http://schemas.openxmlformats.org/officeDocument/2006/customXml" ds:itemID="{7BE5F28F-50CA-40F1-A02E-E794FE33362D}">
  <ds:schemaRefs>
    <ds:schemaRef ds:uri="Strauss.PersonalizationDefinition"/>
  </ds:schemaRefs>
</ds:datastoreItem>
</file>

<file path=customXml/itemProps20.xml><?xml version="1.0" encoding="utf-8"?>
<ds:datastoreItem xmlns:ds="http://schemas.openxmlformats.org/officeDocument/2006/customXml" ds:itemID="{10F6B247-1ABB-4F29-B0EB-5835FED214AB}">
  <ds:schemaRefs>
    <ds:schemaRef ds:uri="Strauss.PersonalizationDefinition"/>
  </ds:schemaRefs>
</ds:datastoreItem>
</file>

<file path=customXml/itemProps21.xml><?xml version="1.0" encoding="utf-8"?>
<ds:datastoreItem xmlns:ds="http://schemas.openxmlformats.org/officeDocument/2006/customXml" ds:itemID="{6552B3D2-5F72-49FB-8B35-AFE12BF36804}">
  <ds:schemaRefs>
    <ds:schemaRef ds:uri="Strauss.PersonalizationDefinition"/>
  </ds:schemaRefs>
</ds:datastoreItem>
</file>

<file path=customXml/itemProps22.xml><?xml version="1.0" encoding="utf-8"?>
<ds:datastoreItem xmlns:ds="http://schemas.openxmlformats.org/officeDocument/2006/customXml" ds:itemID="{68BE9F8F-073F-46B7-B2D0-86DC8E2E9DCE}">
  <ds:schemaRefs>
    <ds:schemaRef ds:uri="Strauss.PersonalizationDefinition"/>
  </ds:schemaRefs>
</ds:datastoreItem>
</file>

<file path=customXml/itemProps23.xml><?xml version="1.0" encoding="utf-8"?>
<ds:datastoreItem xmlns:ds="http://schemas.openxmlformats.org/officeDocument/2006/customXml" ds:itemID="{D7FDC28F-4CBD-40ED-9D33-0A1360D5DEC4}">
  <ds:schemaRefs>
    <ds:schemaRef ds:uri="Strauss.PersonalizationDefinition"/>
  </ds:schemaRefs>
</ds:datastoreItem>
</file>

<file path=customXml/itemProps24.xml><?xml version="1.0" encoding="utf-8"?>
<ds:datastoreItem xmlns:ds="http://schemas.openxmlformats.org/officeDocument/2006/customXml" ds:itemID="{FBC13881-F2DC-4AA3-88C8-97C40CA1EBC7}">
  <ds:schemaRefs>
    <ds:schemaRef ds:uri="Strauss.PersonalizationDefinition"/>
  </ds:schemaRefs>
</ds:datastoreItem>
</file>

<file path=customXml/itemProps25.xml><?xml version="1.0" encoding="utf-8"?>
<ds:datastoreItem xmlns:ds="http://schemas.openxmlformats.org/officeDocument/2006/customXml" ds:itemID="{08068EAD-DA6C-4DC8-843E-9CB0982D15F3}">
  <ds:schemaRefs>
    <ds:schemaRef ds:uri="Strauss.PersonalizationDefinition"/>
  </ds:schemaRefs>
</ds:datastoreItem>
</file>

<file path=customXml/itemProps26.xml><?xml version="1.0" encoding="utf-8"?>
<ds:datastoreItem xmlns:ds="http://schemas.openxmlformats.org/officeDocument/2006/customXml" ds:itemID="{ECCE7DC3-F525-4E76-8812-56FCA2D21E50}">
  <ds:schemaRefs>
    <ds:schemaRef ds:uri="Strauss.PersonalizationDefinition"/>
  </ds:schemaRefs>
</ds:datastoreItem>
</file>

<file path=customXml/itemProps27.xml><?xml version="1.0" encoding="utf-8"?>
<ds:datastoreItem xmlns:ds="http://schemas.openxmlformats.org/officeDocument/2006/customXml" ds:itemID="{13A5538B-5199-4900-941A-B01E377F2065}">
  <ds:schemaRefs>
    <ds:schemaRef ds:uri="Strauss.PersonalizationDefinition"/>
  </ds:schemaRefs>
</ds:datastoreItem>
</file>

<file path=customXml/itemProps28.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29.xml><?xml version="1.0" encoding="utf-8"?>
<ds:datastoreItem xmlns:ds="http://schemas.openxmlformats.org/officeDocument/2006/customXml" ds:itemID="{734F6CED-B619-41E0-BEDE-58B64D5F5EB2}">
  <ds:schemaRefs>
    <ds:schemaRef ds:uri="Strauss.PersonalizationDefinition"/>
  </ds:schemaRefs>
</ds:datastoreItem>
</file>

<file path=customXml/itemProps30.xml><?xml version="1.0" encoding="utf-8"?>
<ds:datastoreItem xmlns:ds="http://schemas.openxmlformats.org/officeDocument/2006/customXml" ds:itemID="{6F485757-9F3C-4A1E-9E86-E1C1551910BA}">
  <ds:schemaRefs>
    <ds:schemaRef ds:uri="Strauss.PersonalizationDefinition"/>
  </ds:schemaRefs>
</ds:datastoreItem>
</file>

<file path=customXml/itemProps31.xml><?xml version="1.0" encoding="utf-8"?>
<ds:datastoreItem xmlns:ds="http://schemas.openxmlformats.org/officeDocument/2006/customXml" ds:itemID="{A09B3D8F-A36C-4B6D-871D-C53F61DFD219}">
  <ds:schemaRefs>
    <ds:schemaRef ds:uri="Strauss.PersonalizationDefinition"/>
  </ds:schemaRefs>
</ds:datastoreItem>
</file>

<file path=customXml/itemProps32.xml><?xml version="1.0" encoding="utf-8"?>
<ds:datastoreItem xmlns:ds="http://schemas.openxmlformats.org/officeDocument/2006/customXml" ds:itemID="{C1060A51-5976-4775-97EE-ABE1B1E4972A}">
  <ds:schemaRefs>
    <ds:schemaRef ds:uri="Strauss.PersonalizationDefinition"/>
  </ds:schemaRefs>
</ds:datastoreItem>
</file>

<file path=customXml/itemProps33.xml><?xml version="1.0" encoding="utf-8"?>
<ds:datastoreItem xmlns:ds="http://schemas.openxmlformats.org/officeDocument/2006/customXml" ds:itemID="{BC268A45-186B-46A3-937F-0E016CEA70C1}">
  <ds:schemaRefs>
    <ds:schemaRef ds:uri="Strauss.PersonalizationDefinition"/>
  </ds:schemaRefs>
</ds:datastoreItem>
</file>

<file path=customXml/itemProps34.xml><?xml version="1.0" encoding="utf-8"?>
<ds:datastoreItem xmlns:ds="http://schemas.openxmlformats.org/officeDocument/2006/customXml" ds:itemID="{628127A0-F2C3-45C3-BB9F-5B29A6B848BE}">
  <ds:schemaRefs>
    <ds:schemaRef ds:uri="Strauss.PersonalizationDefinition"/>
  </ds:schemaRefs>
</ds:datastoreItem>
</file>

<file path=customXml/itemProps35.xml><?xml version="1.0" encoding="utf-8"?>
<ds:datastoreItem xmlns:ds="http://schemas.openxmlformats.org/officeDocument/2006/customXml" ds:itemID="{F56EB5D8-3CD5-48EE-9536-13CF2B9AC25D}">
  <ds:schemaRefs>
    <ds:schemaRef ds:uri="Strauss.PersonalizationDefinition"/>
  </ds:schemaRefs>
</ds:datastoreItem>
</file>

<file path=customXml/itemProps36.xml><?xml version="1.0" encoding="utf-8"?>
<ds:datastoreItem xmlns:ds="http://schemas.openxmlformats.org/officeDocument/2006/customXml" ds:itemID="{11767EAE-0FC6-472D-9D35-EB3533243F22}">
  <ds:schemaRefs>
    <ds:schemaRef ds:uri="Strauss.PersonalizationDefinition"/>
  </ds:schemaRefs>
</ds:datastoreItem>
</file>

<file path=customXml/itemProps37.xml><?xml version="1.0" encoding="utf-8"?>
<ds:datastoreItem xmlns:ds="http://schemas.openxmlformats.org/officeDocument/2006/customXml" ds:itemID="{4C485A9E-99A8-4277-BE90-E837A967DB2E}">
  <ds:schemaRefs>
    <ds:schemaRef ds:uri="Strauss.PersonalizationDefinition"/>
  </ds:schemaRefs>
</ds:datastoreItem>
</file>

<file path=customXml/itemProps38.xml><?xml version="1.0" encoding="utf-8"?>
<ds:datastoreItem xmlns:ds="http://schemas.openxmlformats.org/officeDocument/2006/customXml" ds:itemID="{D76C1D54-C31A-41C7-8796-37E3A885C9B9}">
  <ds:schemaRefs>
    <ds:schemaRef ds:uri="Strauss.PersonalizationDefinition"/>
  </ds:schemaRefs>
</ds:datastoreItem>
</file>

<file path=customXml/itemProps39.xml><?xml version="1.0" encoding="utf-8"?>
<ds:datastoreItem xmlns:ds="http://schemas.openxmlformats.org/officeDocument/2006/customXml" ds:itemID="{EDFBA6C8-3A38-44F0-B645-B6B0034983DA}">
  <ds:schemaRefs>
    <ds:schemaRef ds:uri="Strauss.PersonalizationDefinition"/>
  </ds:schemaRefs>
</ds:datastoreItem>
</file>

<file path=customXml/itemProps40.xml><?xml version="1.0" encoding="utf-8"?>
<ds:datastoreItem xmlns:ds="http://schemas.openxmlformats.org/officeDocument/2006/customXml" ds:itemID="{5C919DC8-E31E-42F0-9621-B916C2E029BA}">
  <ds:schemaRefs>
    <ds:schemaRef ds:uri="Strauss.PersonalizationDefinition"/>
  </ds:schemaRefs>
</ds:datastoreItem>
</file>

<file path=customXml/itemProps41.xml><?xml version="1.0" encoding="utf-8"?>
<ds:datastoreItem xmlns:ds="http://schemas.openxmlformats.org/officeDocument/2006/customXml" ds:itemID="{07BD0BEF-2AC3-4A6C-8B20-510CA6159FDD}">
  <ds:schemaRefs>
    <ds:schemaRef ds:uri="Strauss.PersonalizationDefinition"/>
  </ds:schemaRefs>
</ds:datastoreItem>
</file>

<file path=customXml/itemProps42.xml><?xml version="1.0" encoding="utf-8"?>
<ds:datastoreItem xmlns:ds="http://schemas.openxmlformats.org/officeDocument/2006/customXml" ds:itemID="{B228D3F7-8445-4CE7-92DC-AC7FE2D5A2AF}">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6697</Words>
  <Application>Microsoft Office PowerPoint</Application>
  <PresentationFormat>Widescreen</PresentationFormat>
  <Paragraphs>699</Paragraphs>
  <Slides>54</Slides>
  <Notes>41</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Calibri</vt:lpstr>
      <vt:lpstr>Courier New</vt:lpstr>
      <vt:lpstr>Roboto</vt:lpstr>
      <vt:lpstr>Segoe UI</vt:lpstr>
      <vt:lpstr>Segoe UI Semibold</vt:lpstr>
      <vt:lpstr>Segoe UI Semilight</vt:lpstr>
      <vt:lpstr>Wingdings</vt:lpstr>
      <vt:lpstr>White Template</vt:lpstr>
      <vt:lpstr>Kubernetes Fundamentals – Part 1</vt:lpstr>
      <vt:lpstr>Conditions and terms of use</vt:lpstr>
      <vt:lpstr>Topics</vt:lpstr>
      <vt:lpstr>What is Kubernetes</vt:lpstr>
      <vt:lpstr>What is Kubernetes?</vt:lpstr>
      <vt:lpstr>What’s behind the growth?</vt:lpstr>
      <vt:lpstr>Cluster Components</vt:lpstr>
      <vt:lpstr>Cluster Components</vt:lpstr>
      <vt:lpstr>Basic Kubernetes Objects</vt:lpstr>
      <vt:lpstr>Overview of basic Kubernetes resources</vt:lpstr>
      <vt:lpstr>Pods</vt:lpstr>
      <vt:lpstr>Deployments</vt:lpstr>
      <vt:lpstr>Deployment at Work</vt:lpstr>
      <vt:lpstr>Natively Supported Deployment Strategies</vt:lpstr>
      <vt:lpstr>Natively Supported Deployment Strategies</vt:lpstr>
      <vt:lpstr>Kubectl (“kube cuttle” or “kube control”)</vt:lpstr>
      <vt:lpstr>Kubectl Apply and Create Commands</vt:lpstr>
      <vt:lpstr>Kubectl Imperative Commands</vt:lpstr>
      <vt:lpstr>PowerPoint Presentation</vt:lpstr>
      <vt:lpstr>What is a Service?</vt:lpstr>
      <vt:lpstr>Services at work</vt:lpstr>
      <vt:lpstr>Service Types – ClusterIP</vt:lpstr>
      <vt:lpstr>Service Types – NodePort</vt:lpstr>
      <vt:lpstr>Service Types – LoadBalancer</vt:lpstr>
      <vt:lpstr>Service Types – ExternalName</vt:lpstr>
      <vt:lpstr>Advanced Deployment Strategies</vt:lpstr>
      <vt:lpstr>Advanced Deployment Strategies</vt:lpstr>
      <vt:lpstr>PowerPoint Presentation</vt:lpstr>
      <vt:lpstr>Pod Environment Variables</vt:lpstr>
      <vt:lpstr>Config Maps</vt:lpstr>
      <vt:lpstr>ConfigMaps Mounted as Volumes</vt:lpstr>
      <vt:lpstr>Secrets</vt:lpstr>
      <vt:lpstr>Namespaces</vt:lpstr>
      <vt:lpstr>PowerPoint Presentation</vt:lpstr>
      <vt:lpstr>Ephemeral Volumes</vt:lpstr>
      <vt:lpstr>Persistent Volumes</vt:lpstr>
      <vt:lpstr>Static Persistent Volume Claims</vt:lpstr>
      <vt:lpstr>Dynamic Persistent Volume Claims</vt:lpstr>
      <vt:lpstr>Overview of Kubernetes Volumes</vt:lpstr>
      <vt:lpstr>PowerPoint Presentation</vt:lpstr>
      <vt:lpstr>Health Checks</vt:lpstr>
      <vt:lpstr>Startup, Liveness and Readiness Probes</vt:lpstr>
      <vt:lpstr>PowerPoint Presentation</vt:lpstr>
      <vt:lpstr>Kubernetes Load Balancer vs Ingress</vt:lpstr>
      <vt:lpstr>Kubernetes Load Balancer vs Ingress</vt:lpstr>
      <vt:lpstr>3rd Party Ingress Controller</vt:lpstr>
      <vt:lpstr>PowerPoint Presentation</vt:lpstr>
      <vt:lpstr>What is Gateway API?</vt:lpstr>
      <vt:lpstr>Gateway API Concepts</vt:lpstr>
      <vt:lpstr>Gateway API Concepts</vt:lpstr>
      <vt:lpstr>Application Gateway for Containers</vt:lpstr>
      <vt:lpstr>Gateway API Concepts - Examples</vt:lpstr>
      <vt:lpstr>PowerPoint Presentation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Ore Akin-Odidi</cp:lastModifiedBy>
  <cp:revision>20</cp:revision>
  <dcterms:created xsi:type="dcterms:W3CDTF">2019-02-08T20:09:46Z</dcterms:created>
  <dcterms:modified xsi:type="dcterms:W3CDTF">2026-07-30T10:44:43Z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25242900</vt:r8>
  </property>
  <property fmtid="{D5CDD505-2E9C-101B-9397-08002B2CF9AE}" pid="21" name="Lead Signoff">
    <vt:bool>false</vt:bool>
  </property>
  <property fmtid="{D5CDD505-2E9C-101B-9397-08002B2CF9AE}" pid="22" name="Title URL">
    <vt:lpwstr>, </vt:lpwstr>
  </property>
  <property fmtid="{D5CDD505-2E9C-101B-9397-08002B2CF9AE}" pid="23" name="xd_Signature">
    <vt:bool>false</vt:bool>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State">
    <vt:lpwstr>Open</vt:lpwstr>
  </property>
  <property fmtid="{D5CDD505-2E9C-101B-9397-08002B2CF9AE}" pid="30" name="_ExtendedDescription">
    <vt:lpwstr/>
  </property>
  <property fmtid="{D5CDD505-2E9C-101B-9397-08002B2CF9AE}" pid="31" name="TriggerFlowInfo">
    <vt:lpwstr/>
  </property>
  <property fmtid="{D5CDD505-2E9C-101B-9397-08002B2CF9AE}" pid="32" name="Mail Sent">
    <vt:bool>false</vt:bool>
  </property>
</Properties>
</file>