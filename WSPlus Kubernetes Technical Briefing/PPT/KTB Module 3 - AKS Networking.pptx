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7.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8.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9.xml" ContentType="application/vnd.openxmlformats-officedocument.presentationml.tags+xml"/>
  <Override PartName="/ppt/notesSlides/notesSlide23.xml" ContentType="application/vnd.openxmlformats-officedocument.presentationml.notesSlide+xml"/>
  <Override PartName="/ppt/tags/tag10.xml" ContentType="application/vnd.openxmlformats-officedocument.presentationml.tags+xml"/>
  <Override PartName="/ppt/notesSlides/notesSlide24.xml" ContentType="application/vnd.openxmlformats-officedocument.presentationml.notesSlide+xml"/>
  <Override PartName="/ppt/tags/tag11.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12.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13.xml" ContentType="application/vnd.openxmlformats-officedocument.presentationml.tags+xml"/>
  <Override PartName="/ppt/notesSlides/notesSlide29.xml" ContentType="application/vnd.openxmlformats-officedocument.presentationml.notesSlide+xml"/>
  <Override PartName="/ppt/tags/tag14.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15.xml" ContentType="application/vnd.openxmlformats-officedocument.presentationml.tags+xml"/>
  <Override PartName="/ppt/notesSlides/notesSlide35.xml" ContentType="application/vnd.openxmlformats-officedocument.presentationml.notesSlide+xml"/>
  <Override PartName="/ppt/tags/tag16.xml" ContentType="application/vnd.openxmlformats-officedocument.presentationml.tags+xml"/>
  <Override PartName="/ppt/notesSlides/notesSlide36.xml" ContentType="application/vnd.openxmlformats-officedocument.presentationml.notesSlide+xml"/>
  <Override PartName="/ppt/tags/tag17.xml" ContentType="application/vnd.openxmlformats-officedocument.presentationml.tags+xml"/>
  <Override PartName="/ppt/notesSlides/notesSlide3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8" r:id="rId48"/>
  </p:sldMasterIdLst>
  <p:notesMasterIdLst>
    <p:notesMasterId r:id="rId87"/>
  </p:notesMasterIdLst>
  <p:sldIdLst>
    <p:sldId id="256" r:id="rId49"/>
    <p:sldId id="257" r:id="rId50"/>
    <p:sldId id="2147469892" r:id="rId51"/>
    <p:sldId id="2147469902" r:id="rId52"/>
    <p:sldId id="2147469960" r:id="rId53"/>
    <p:sldId id="262" r:id="rId54"/>
    <p:sldId id="2147469944" r:id="rId55"/>
    <p:sldId id="2147469961" r:id="rId56"/>
    <p:sldId id="2147469965" r:id="rId57"/>
    <p:sldId id="2147469964" r:id="rId58"/>
    <p:sldId id="2147469966" r:id="rId59"/>
    <p:sldId id="2147469914" r:id="rId60"/>
    <p:sldId id="2147469915" r:id="rId61"/>
    <p:sldId id="2147469916" r:id="rId62"/>
    <p:sldId id="2147469917" r:id="rId63"/>
    <p:sldId id="2147469918" r:id="rId64"/>
    <p:sldId id="2147469920" r:id="rId65"/>
    <p:sldId id="2147469921" r:id="rId66"/>
    <p:sldId id="2147469922" r:id="rId67"/>
    <p:sldId id="2147469923" r:id="rId68"/>
    <p:sldId id="2147469924" r:id="rId69"/>
    <p:sldId id="2147469925" r:id="rId70"/>
    <p:sldId id="2147469929" r:id="rId71"/>
    <p:sldId id="2147469930" r:id="rId72"/>
    <p:sldId id="2147469931" r:id="rId73"/>
    <p:sldId id="2147469939" r:id="rId74"/>
    <p:sldId id="2147469955" r:id="rId75"/>
    <p:sldId id="2147469952" r:id="rId76"/>
    <p:sldId id="2147469941" r:id="rId77"/>
    <p:sldId id="2147469934" r:id="rId78"/>
    <p:sldId id="2147469932" r:id="rId79"/>
    <p:sldId id="2147469935" r:id="rId80"/>
    <p:sldId id="2147469936" r:id="rId81"/>
    <p:sldId id="2147469938" r:id="rId82"/>
    <p:sldId id="2147469953" r:id="rId83"/>
    <p:sldId id="2147469933" r:id="rId84"/>
    <p:sldId id="2147469954" r:id="rId85"/>
    <p:sldId id="2147469919" r:id="rId86"/>
  </p:sldIdLst>
  <p:sldSz cx="12192000" cy="6858000"/>
  <p:notesSz cx="6858000" cy="9144000"/>
  <p:custDataLst>
    <p:tags r:id="rId8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1A0BCBD-A8C6-4D80-B38B-F66D741576AC}">
          <p14:sldIdLst>
            <p14:sldId id="256"/>
            <p14:sldId id="257"/>
            <p14:sldId id="2147469892"/>
            <p14:sldId id="2147469902"/>
            <p14:sldId id="2147469960"/>
          </p14:sldIdLst>
        </p14:section>
        <p14:section name="AKS Network Architecture" id="{1C672B49-F79B-4DEF-B4AB-F2C7A289E113}">
          <p14:sldIdLst>
            <p14:sldId id="262"/>
            <p14:sldId id="2147469944"/>
            <p14:sldId id="2147469961"/>
            <p14:sldId id="2147469965"/>
            <p14:sldId id="2147469964"/>
            <p14:sldId id="2147469966"/>
            <p14:sldId id="2147469914"/>
            <p14:sldId id="2147469915"/>
            <p14:sldId id="2147469916"/>
            <p14:sldId id="2147469917"/>
            <p14:sldId id="2147469918"/>
            <p14:sldId id="2147469920"/>
            <p14:sldId id="2147469921"/>
            <p14:sldId id="2147469922"/>
          </p14:sldIdLst>
        </p14:section>
        <p14:section name="AKS Ingress" id="{87598E4D-0007-4211-B46B-39F773A679B8}">
          <p14:sldIdLst>
            <p14:sldId id="2147469923"/>
            <p14:sldId id="2147469924"/>
            <p14:sldId id="2147469925"/>
            <p14:sldId id="2147469929"/>
            <p14:sldId id="2147469930"/>
          </p14:sldIdLst>
        </p14:section>
        <p14:section name="AKS Egress" id="{5D17AA8A-3AEC-4B08-9ACC-28CE3F65AFCE}">
          <p14:sldIdLst>
            <p14:sldId id="2147469931"/>
            <p14:sldId id="2147469939"/>
            <p14:sldId id="2147469955"/>
            <p14:sldId id="2147469952"/>
            <p14:sldId id="2147469941"/>
            <p14:sldId id="2147469934"/>
          </p14:sldIdLst>
        </p14:section>
        <p14:section name="ACNS" id="{40E864B0-D95A-4890-94B5-E31608657A77}">
          <p14:sldIdLst>
            <p14:sldId id="2147469932"/>
            <p14:sldId id="2147469935"/>
            <p14:sldId id="2147469936"/>
            <p14:sldId id="2147469938"/>
            <p14:sldId id="2147469953"/>
            <p14:sldId id="2147469933"/>
          </p14:sldIdLst>
        </p14:section>
        <p14:section name="Hands-On Labs" id="{1BDF7856-75FE-4136-90BE-ADE954933AF4}">
          <p14:sldIdLst>
            <p14:sldId id="2147469954"/>
            <p14:sldId id="2147469919"/>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AA2690C-DAF2-FE5F-D13F-42FF3D10F374}" name="Brianna Farah" initials="BF" userId="S::brianna@audienz.com::f1856917-c2d4-49a7-94e9-7f0e47fabbfc" providerId="AD"/>
  <p188:author id="{EF32DA53-2C03-03EE-2EEA-AE2457C9B68C}" name="Tessa Berkley" initials="TB" userId="S::tessab@audienz.com::29198474-64f9-4b67-b7f5-57f0013c624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essa Berkley" initials="TB" lastIdx="18" clrIdx="0">
    <p:extLst>
      <p:ext uri="{19B8F6BF-5375-455C-9EA6-DF929625EA0E}">
        <p15:presenceInfo xmlns:p15="http://schemas.microsoft.com/office/powerpoint/2012/main" userId="S::TessaB@audienz.com::29198474-64f9-4b67-b7f5-57f0013c6244" providerId="AD"/>
      </p:ext>
    </p:extLst>
  </p:cmAuthor>
  <p:cmAuthor id="2" name="Brianna Farah" initials="BF" lastIdx="6" clrIdx="1">
    <p:extLst>
      <p:ext uri="{19B8F6BF-5375-455C-9EA6-DF929625EA0E}">
        <p15:presenceInfo xmlns:p15="http://schemas.microsoft.com/office/powerpoint/2012/main" userId="S::brianna@audienz.com::f1856917-c2d4-49a7-94e9-7f0e47fabbf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D3D3"/>
    <a:srgbClr val="6089B4"/>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39E4A8-F7CC-DBDA-6CA6-270E559EC93C}" v="2" dt="2025-08-11T15:15:03.619"/>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8000" autoAdjust="0"/>
  </p:normalViewPr>
  <p:slideViewPr>
    <p:cSldViewPr snapToGrid="0">
      <p:cViewPr varScale="1">
        <p:scale>
          <a:sx n="75" d="100"/>
          <a:sy n="75" d="100"/>
        </p:scale>
        <p:origin x="1140"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customXml" Target="../customXml/item26.xml"/><Relationship Id="rId21" Type="http://schemas.openxmlformats.org/officeDocument/2006/relationships/customXml" Target="../customXml/item21.xml"/><Relationship Id="rId42" Type="http://schemas.openxmlformats.org/officeDocument/2006/relationships/customXml" Target="../customXml/item42.xml"/><Relationship Id="rId47" Type="http://schemas.openxmlformats.org/officeDocument/2006/relationships/customXml" Target="../customXml/item47.xml"/><Relationship Id="rId63" Type="http://schemas.openxmlformats.org/officeDocument/2006/relationships/slide" Target="slides/slide15.xml"/><Relationship Id="rId68" Type="http://schemas.openxmlformats.org/officeDocument/2006/relationships/slide" Target="slides/slide20.xml"/><Relationship Id="rId84" Type="http://schemas.openxmlformats.org/officeDocument/2006/relationships/slide" Target="slides/slide36.xml"/><Relationship Id="rId89" Type="http://schemas.openxmlformats.org/officeDocument/2006/relationships/commentAuthors" Target="commentAuthors.xml"/><Relationship Id="rId16" Type="http://schemas.openxmlformats.org/officeDocument/2006/relationships/customXml" Target="../customXml/item16.xml"/><Relationship Id="rId11" Type="http://schemas.openxmlformats.org/officeDocument/2006/relationships/customXml" Target="../customXml/item11.xml"/><Relationship Id="rId32" Type="http://schemas.openxmlformats.org/officeDocument/2006/relationships/customXml" Target="../customXml/item32.xml"/><Relationship Id="rId37" Type="http://schemas.openxmlformats.org/officeDocument/2006/relationships/customXml" Target="../customXml/item37.xml"/><Relationship Id="rId53" Type="http://schemas.openxmlformats.org/officeDocument/2006/relationships/slide" Target="slides/slide5.xml"/><Relationship Id="rId58" Type="http://schemas.openxmlformats.org/officeDocument/2006/relationships/slide" Target="slides/slide10.xml"/><Relationship Id="rId74" Type="http://schemas.openxmlformats.org/officeDocument/2006/relationships/slide" Target="slides/slide26.xml"/><Relationship Id="rId79" Type="http://schemas.openxmlformats.org/officeDocument/2006/relationships/slide" Target="slides/slide31.xml"/><Relationship Id="rId5" Type="http://schemas.openxmlformats.org/officeDocument/2006/relationships/customXml" Target="../customXml/item5.xml"/><Relationship Id="rId90" Type="http://schemas.openxmlformats.org/officeDocument/2006/relationships/presProps" Target="presProps.xml"/><Relationship Id="rId95" Type="http://schemas.microsoft.com/office/2015/10/relationships/revisionInfo" Target="revisionInfo.xml"/><Relationship Id="rId22" Type="http://schemas.openxmlformats.org/officeDocument/2006/relationships/customXml" Target="../customXml/item22.xml"/><Relationship Id="rId27" Type="http://schemas.openxmlformats.org/officeDocument/2006/relationships/customXml" Target="../customXml/item27.xml"/><Relationship Id="rId43" Type="http://schemas.openxmlformats.org/officeDocument/2006/relationships/customXml" Target="../customXml/item43.xml"/><Relationship Id="rId48" Type="http://schemas.openxmlformats.org/officeDocument/2006/relationships/slideMaster" Target="slideMasters/slideMaster1.xml"/><Relationship Id="rId64" Type="http://schemas.openxmlformats.org/officeDocument/2006/relationships/slide" Target="slides/slide16.xml"/><Relationship Id="rId69" Type="http://schemas.openxmlformats.org/officeDocument/2006/relationships/slide" Target="slides/slide21.xml"/><Relationship Id="rId8" Type="http://schemas.openxmlformats.org/officeDocument/2006/relationships/customXml" Target="../customXml/item8.xml"/><Relationship Id="rId51" Type="http://schemas.openxmlformats.org/officeDocument/2006/relationships/slide" Target="slides/slide3.xml"/><Relationship Id="rId72" Type="http://schemas.openxmlformats.org/officeDocument/2006/relationships/slide" Target="slides/slide24.xml"/><Relationship Id="rId80" Type="http://schemas.openxmlformats.org/officeDocument/2006/relationships/slide" Target="slides/slide32.xml"/><Relationship Id="rId85" Type="http://schemas.openxmlformats.org/officeDocument/2006/relationships/slide" Target="slides/slide37.xml"/><Relationship Id="rId93"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customXml" Target="../customXml/item33.xml"/><Relationship Id="rId38" Type="http://schemas.openxmlformats.org/officeDocument/2006/relationships/customXml" Target="../customXml/item38.xml"/><Relationship Id="rId46" Type="http://schemas.openxmlformats.org/officeDocument/2006/relationships/customXml" Target="../customXml/item46.xml"/><Relationship Id="rId59" Type="http://schemas.openxmlformats.org/officeDocument/2006/relationships/slide" Target="slides/slide11.xml"/><Relationship Id="rId67" Type="http://schemas.openxmlformats.org/officeDocument/2006/relationships/slide" Target="slides/slide19.xml"/><Relationship Id="rId20" Type="http://schemas.openxmlformats.org/officeDocument/2006/relationships/customXml" Target="../customXml/item20.xml"/><Relationship Id="rId41" Type="http://schemas.openxmlformats.org/officeDocument/2006/relationships/customXml" Target="../customXml/item41.xml"/><Relationship Id="rId54" Type="http://schemas.openxmlformats.org/officeDocument/2006/relationships/slide" Target="slides/slide6.xml"/><Relationship Id="rId62" Type="http://schemas.openxmlformats.org/officeDocument/2006/relationships/slide" Target="slides/slide14.xml"/><Relationship Id="rId70" Type="http://schemas.openxmlformats.org/officeDocument/2006/relationships/slide" Target="slides/slide22.xml"/><Relationship Id="rId75" Type="http://schemas.openxmlformats.org/officeDocument/2006/relationships/slide" Target="slides/slide27.xml"/><Relationship Id="rId83" Type="http://schemas.openxmlformats.org/officeDocument/2006/relationships/slide" Target="slides/slide35.xml"/><Relationship Id="rId88" Type="http://schemas.openxmlformats.org/officeDocument/2006/relationships/tags" Target="tags/tag1.xml"/><Relationship Id="rId91" Type="http://schemas.openxmlformats.org/officeDocument/2006/relationships/viewProps" Target="viewProps.xml"/><Relationship Id="rId96" Type="http://schemas.microsoft.com/office/2018/10/relationships/authors" Target="authors.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customXml" Target="../customXml/item36.xml"/><Relationship Id="rId49" Type="http://schemas.openxmlformats.org/officeDocument/2006/relationships/slide" Target="slides/slide1.xml"/><Relationship Id="rId57" Type="http://schemas.openxmlformats.org/officeDocument/2006/relationships/slide" Target="slides/slide9.xml"/><Relationship Id="rId10" Type="http://schemas.openxmlformats.org/officeDocument/2006/relationships/customXml" Target="../customXml/item10.xml"/><Relationship Id="rId31" Type="http://schemas.openxmlformats.org/officeDocument/2006/relationships/customXml" Target="../customXml/item31.xml"/><Relationship Id="rId44" Type="http://schemas.openxmlformats.org/officeDocument/2006/relationships/customXml" Target="../customXml/item44.xml"/><Relationship Id="rId52" Type="http://schemas.openxmlformats.org/officeDocument/2006/relationships/slide" Target="slides/slide4.xml"/><Relationship Id="rId60" Type="http://schemas.openxmlformats.org/officeDocument/2006/relationships/slide" Target="slides/slide12.xml"/><Relationship Id="rId65" Type="http://schemas.openxmlformats.org/officeDocument/2006/relationships/slide" Target="slides/slide17.xml"/><Relationship Id="rId73" Type="http://schemas.openxmlformats.org/officeDocument/2006/relationships/slide" Target="slides/slide25.xml"/><Relationship Id="rId78" Type="http://schemas.openxmlformats.org/officeDocument/2006/relationships/slide" Target="slides/slide30.xml"/><Relationship Id="rId81" Type="http://schemas.openxmlformats.org/officeDocument/2006/relationships/slide" Target="slides/slide33.xml"/><Relationship Id="rId86" Type="http://schemas.openxmlformats.org/officeDocument/2006/relationships/slide" Target="slides/slide38.xml"/><Relationship Id="rId94" Type="http://schemas.microsoft.com/office/2016/11/relationships/changesInfo" Target="changesInfos/changesInfo1.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34" Type="http://schemas.openxmlformats.org/officeDocument/2006/relationships/customXml" Target="../customXml/item34.xml"/><Relationship Id="rId50" Type="http://schemas.openxmlformats.org/officeDocument/2006/relationships/slide" Target="slides/slide2.xml"/><Relationship Id="rId55" Type="http://schemas.openxmlformats.org/officeDocument/2006/relationships/slide" Target="slides/slide7.xml"/><Relationship Id="rId76" Type="http://schemas.openxmlformats.org/officeDocument/2006/relationships/slide" Target="slides/slide28.xml"/><Relationship Id="rId7" Type="http://schemas.openxmlformats.org/officeDocument/2006/relationships/customXml" Target="../customXml/item7.xml"/><Relationship Id="rId71" Type="http://schemas.openxmlformats.org/officeDocument/2006/relationships/slide" Target="slides/slide23.xml"/><Relationship Id="rId92" Type="http://schemas.openxmlformats.org/officeDocument/2006/relationships/theme" Target="theme/theme1.xml"/><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customXml" Target="../customXml/item40.xml"/><Relationship Id="rId45" Type="http://schemas.openxmlformats.org/officeDocument/2006/relationships/customXml" Target="../customXml/item45.xml"/><Relationship Id="rId66" Type="http://schemas.openxmlformats.org/officeDocument/2006/relationships/slide" Target="slides/slide18.xml"/><Relationship Id="rId87" Type="http://schemas.openxmlformats.org/officeDocument/2006/relationships/notesMaster" Target="notesMasters/notesMaster1.xml"/><Relationship Id="rId61" Type="http://schemas.openxmlformats.org/officeDocument/2006/relationships/slide" Target="slides/slide13.xml"/><Relationship Id="rId82" Type="http://schemas.openxmlformats.org/officeDocument/2006/relationships/slide" Target="slides/slide34.xml"/><Relationship Id="rId19" Type="http://schemas.openxmlformats.org/officeDocument/2006/relationships/customXml" Target="../customXml/item19.xml"/><Relationship Id="rId14" Type="http://schemas.openxmlformats.org/officeDocument/2006/relationships/customXml" Target="../customXml/item14.xml"/><Relationship Id="rId30" Type="http://schemas.openxmlformats.org/officeDocument/2006/relationships/customXml" Target="../customXml/item30.xml"/><Relationship Id="rId35" Type="http://schemas.openxmlformats.org/officeDocument/2006/relationships/customXml" Target="../customXml/item35.xml"/><Relationship Id="rId56" Type="http://schemas.openxmlformats.org/officeDocument/2006/relationships/slide" Target="slides/slide8.xml"/><Relationship Id="rId77" Type="http://schemas.openxmlformats.org/officeDocument/2006/relationships/slide" Target="slides/slide2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purva Thomas" userId="S::apthomas@microsoft.com::ebacdfd8-ef6b-4ed5-b4c7-fc8792b4219f" providerId="AD" clId="Web-{4D39E4A8-F7CC-DBDA-6CA6-270E559EC93C}"/>
    <pc:docChg chg="sldOrd">
      <pc:chgData name="Apurva Thomas" userId="S::apthomas@microsoft.com::ebacdfd8-ef6b-4ed5-b4c7-fc8792b4219f" providerId="AD" clId="Web-{4D39E4A8-F7CC-DBDA-6CA6-270E559EC93C}" dt="2025-08-11T15:15:03.619" v="1"/>
      <pc:docMkLst>
        <pc:docMk/>
      </pc:docMkLst>
      <pc:sldChg chg="ord">
        <pc:chgData name="Apurva Thomas" userId="S::apthomas@microsoft.com::ebacdfd8-ef6b-4ed5-b4c7-fc8792b4219f" providerId="AD" clId="Web-{4D39E4A8-F7CC-DBDA-6CA6-270E559EC93C}" dt="2025-08-11T15:15:03.619" v="1"/>
        <pc:sldMkLst>
          <pc:docMk/>
          <pc:sldMk cId="2475418583" sldId="2147469918"/>
        </pc:sldMkLst>
      </pc:sldChg>
      <pc:sldChg chg="ord">
        <pc:chgData name="Apurva Thomas" userId="S::apthomas@microsoft.com::ebacdfd8-ef6b-4ed5-b4c7-fc8792b4219f" providerId="AD" clId="Web-{4D39E4A8-F7CC-DBDA-6CA6-270E559EC93C}" dt="2025-08-11T15:14:39.510" v="0"/>
        <pc:sldMkLst>
          <pc:docMk/>
          <pc:sldMk cId="207531738" sldId="2147469966"/>
        </pc:sldMkLst>
      </pc:sldChg>
    </pc:docChg>
  </pc:docChgLst>
  <pc:docChgLst>
    <pc:chgData name="Andrew Albers" userId="S::andrewalbers@microsoft.com::05a0db6f-a93d-4086-9310-e241c2ed23ed" providerId="AD" clId="Web-{3C822424-C8F3-F87F-FD18-5E2F38E9838B}"/>
    <pc:docChg chg="modSld">
      <pc:chgData name="Andrew Albers" userId="S::andrewalbers@microsoft.com::05a0db6f-a93d-4086-9310-e241c2ed23ed" providerId="AD" clId="Web-{3C822424-C8F3-F87F-FD18-5E2F38E9838B}" dt="2025-07-17T17:04:00" v="56" actId="20577"/>
      <pc:docMkLst>
        <pc:docMk/>
      </pc:docMkLst>
      <pc:sldChg chg="modSp">
        <pc:chgData name="Andrew Albers" userId="S::andrewalbers@microsoft.com::05a0db6f-a93d-4086-9310-e241c2ed23ed" providerId="AD" clId="Web-{3C822424-C8F3-F87F-FD18-5E2F38E9838B}" dt="2025-07-17T17:04:00" v="56" actId="20577"/>
        <pc:sldMkLst>
          <pc:docMk/>
          <pc:sldMk cId="2181956486" sldId="256"/>
        </pc:sldMkLst>
        <pc:spChg chg="mod">
          <ac:chgData name="Andrew Albers" userId="S::andrewalbers@microsoft.com::05a0db6f-a93d-4086-9310-e241c2ed23ed" providerId="AD" clId="Web-{3C822424-C8F3-F87F-FD18-5E2F38E9838B}" dt="2025-07-17T17:04:00" v="56" actId="20577"/>
          <ac:spMkLst>
            <pc:docMk/>
            <pc:sldMk cId="2181956486" sldId="256"/>
            <ac:spMk id="4" creationId="{00000000-0000-0000-0000-000000000000}"/>
          </ac:spMkLst>
        </pc:spChg>
        <pc:spChg chg="mod">
          <ac:chgData name="Andrew Albers" userId="S::andrewalbers@microsoft.com::05a0db6f-a93d-4086-9310-e241c2ed23ed" providerId="AD" clId="Web-{3C822424-C8F3-F87F-FD18-5E2F38E9838B}" dt="2025-07-17T17:03:53.391" v="49" actId="14100"/>
          <ac:spMkLst>
            <pc:docMk/>
            <pc:sldMk cId="2181956486" sldId="256"/>
            <ac:spMk id="6" creationId="{12808BD5-6BEE-4164-9264-E55A823F2E3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4A134-D1E1-48C7-8D52-300A0775AF83}" type="datetimeFigureOut">
              <a:rPr lang="en-US"/>
              <a:t>7/30/2026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09229F-6F41-4CC3-A51C-EB832A3392C5}" type="slidenum">
              <a:rPr lang="en-US"/>
              <a:t>‹#›</a:t>
            </a:fld>
            <a:endParaRPr lang="en-US"/>
          </a:p>
        </p:txBody>
      </p:sp>
    </p:spTree>
    <p:extLst>
      <p:ext uri="{BB962C8B-B14F-4D97-AF65-F5344CB8AC3E}">
        <p14:creationId xmlns:p14="http://schemas.microsoft.com/office/powerpoint/2010/main" val="4223892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learn.microsoft.com/en-us/azure/aks/egress-outboundtype"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learn.microsoft.com/en-us/azure/aks/container-network-observability-logs"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dev.to/hkhelil/understanding-ebpf-and-its-application-in-modern-cloud-environments-3f99"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learn.microsoft.com/en-us/azure/aks/container-network-observability-logs"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a:t>
            </a:fld>
            <a:endParaRPr lang="en-US"/>
          </a:p>
        </p:txBody>
      </p:sp>
      <p:sp>
        <p:nvSpPr>
          <p:cNvPr id="3" name="Date Placeholder 2">
            <a:extLst>
              <a:ext uri="{FF2B5EF4-FFF2-40B4-BE49-F238E27FC236}">
                <a16:creationId xmlns:a16="http://schemas.microsoft.com/office/drawing/2014/main" id="{82C0C817-6383-40C6-A619-A7F43126961B}"/>
              </a:ext>
            </a:extLst>
          </p:cNvPr>
          <p:cNvSpPr>
            <a:spLocks noGrp="1"/>
          </p:cNvSpPr>
          <p:nvPr>
            <p:ph type="dt" idx="12"/>
          </p:nvPr>
        </p:nvSpPr>
        <p:spPr/>
        <p:txBody>
          <a:bodyPr/>
          <a:lstStyle/>
          <a:p>
            <a:fld id="{93F0BA74-B6B0-4726-B93D-848B68F9209C}" type="datetime1">
              <a:rPr lang="en-US"/>
              <a:t>7/30/2026</a:t>
            </a:fld>
            <a:endParaRPr lang="en-US"/>
          </a:p>
        </p:txBody>
      </p:sp>
      <p:sp>
        <p:nvSpPr>
          <p:cNvPr id="8" name="Slide Image Placeholder 7">
            <a:extLst>
              <a:ext uri="{FF2B5EF4-FFF2-40B4-BE49-F238E27FC236}">
                <a16:creationId xmlns:a16="http://schemas.microsoft.com/office/drawing/2014/main" id="{F98C1305-7F63-4C5E-9604-A0FF494BE45D}"/>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9BFE94D2-9DA0-437E-8011-0DB757A5E8DD}"/>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A24C5275-F675-4BEB-AAB5-B95AC3507DD6}"/>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090206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67087899-B757-42DD-BFAC-FD8FB9602085}"/>
              </a:ext>
            </a:extLst>
          </p:cNvPr>
          <p:cNvSpPr>
            <a:spLocks noGrp="1"/>
          </p:cNvSpPr>
          <p:nvPr>
            <p:ph type="sldNum" sz="quarter" idx="10"/>
          </p:nvPr>
        </p:nvSpPr>
        <p:spPr/>
        <p:txBody>
          <a:bodyPr/>
          <a:lstStyle/>
          <a:p>
            <a:fld id="{F475C4C8-7DEA-455A-9336-A4C7DB3AE516}" type="slidenum">
              <a:rPr lang="en-US"/>
              <a:pPr/>
              <a:t>2</a:t>
            </a:fld>
            <a:endParaRPr lang="en-US"/>
          </a:p>
        </p:txBody>
      </p:sp>
      <p:sp>
        <p:nvSpPr>
          <p:cNvPr id="3" name="Date Placeholder 2">
            <a:extLst>
              <a:ext uri="{FF2B5EF4-FFF2-40B4-BE49-F238E27FC236}">
                <a16:creationId xmlns:a16="http://schemas.microsoft.com/office/drawing/2014/main" id="{2A3279EF-EF08-4E77-A509-F922EC61A8AC}"/>
              </a:ext>
            </a:extLst>
          </p:cNvPr>
          <p:cNvSpPr>
            <a:spLocks noGrp="1"/>
          </p:cNvSpPr>
          <p:nvPr>
            <p:ph type="dt" idx="12"/>
          </p:nvPr>
        </p:nvSpPr>
        <p:spPr/>
        <p:txBody>
          <a:bodyPr/>
          <a:lstStyle/>
          <a:p>
            <a:fld id="{DB0F5A79-03C7-4F04-B936-1D8348BF7B8D}" type="datetime1">
              <a:rPr lang="en-US"/>
              <a:t>7/30/2026</a:t>
            </a:fld>
            <a:endParaRPr lang="en-US"/>
          </a:p>
        </p:txBody>
      </p:sp>
      <p:sp>
        <p:nvSpPr>
          <p:cNvPr id="10" name="Slide Image Placeholder 9">
            <a:extLst>
              <a:ext uri="{FF2B5EF4-FFF2-40B4-BE49-F238E27FC236}">
                <a16:creationId xmlns:a16="http://schemas.microsoft.com/office/drawing/2014/main" id="{71623331-4C35-4EFF-9868-F85DF8DB4AAA}"/>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D4BB9EA6-88F5-449F-9E36-08AD1C866DB2}"/>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Header Placeholder 3">
            <a:extLst>
              <a:ext uri="{FF2B5EF4-FFF2-40B4-BE49-F238E27FC236}">
                <a16:creationId xmlns:a16="http://schemas.microsoft.com/office/drawing/2014/main" id="{1B5D50AE-A09E-4DDD-9B13-A2619C0E3244}"/>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31613028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3</a:t>
            </a:fld>
            <a:endParaRPr lang="en-US"/>
          </a:p>
        </p:txBody>
      </p:sp>
      <p:sp>
        <p:nvSpPr>
          <p:cNvPr id="6" name="Date Placeholder 5">
            <a:extLst>
              <a:ext uri="{FF2B5EF4-FFF2-40B4-BE49-F238E27FC236}">
                <a16:creationId xmlns:a16="http://schemas.microsoft.com/office/drawing/2014/main" id="{B5F0A125-1411-481C-8C57-BA8508D6EF94}"/>
              </a:ext>
            </a:extLst>
          </p:cNvPr>
          <p:cNvSpPr>
            <a:spLocks noGrp="1"/>
          </p:cNvSpPr>
          <p:nvPr>
            <p:ph type="dt" idx="12"/>
          </p:nvPr>
        </p:nvSpPr>
        <p:spPr/>
        <p:txBody>
          <a:bodyPr/>
          <a:lstStyle/>
          <a:p>
            <a:fld id="{520EDEF9-34DC-43EF-A96E-E4BC67A143AE}" type="datetime1">
              <a:rPr lang="en-US"/>
              <a:t>7/30/2026</a:t>
            </a:fld>
            <a:endParaRPr lang="en-US"/>
          </a:p>
        </p:txBody>
      </p:sp>
      <p:sp>
        <p:nvSpPr>
          <p:cNvPr id="10" name="Slide Image Placeholder 9">
            <a:extLst>
              <a:ext uri="{FF2B5EF4-FFF2-40B4-BE49-F238E27FC236}">
                <a16:creationId xmlns:a16="http://schemas.microsoft.com/office/drawing/2014/main" id="{E2E78E2F-5A11-492B-863A-333FCB8BF99A}"/>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F562AF71-297A-4E14-905B-9BC87AF9311A}"/>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2" name="Header Placeholder 1">
            <a:extLst>
              <a:ext uri="{FF2B5EF4-FFF2-40B4-BE49-F238E27FC236}">
                <a16:creationId xmlns:a16="http://schemas.microsoft.com/office/drawing/2014/main" id="{EE816882-27D1-47C1-B2DF-390182831B42}"/>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37801992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pPr lvl="0"/>
            <a:fld id="{8B263312-38AA-4E1E-B2B5-0F8F122B24FE}" type="slidenum">
              <a:rPr lang="en-US" noProof="0" smtClean="0"/>
              <a:pPr lvl="0"/>
              <a:t>4</a:t>
            </a:fld>
            <a:endParaRPr lang="en-US" noProof="0"/>
          </a:p>
        </p:txBody>
      </p:sp>
      <p:sp>
        <p:nvSpPr>
          <p:cNvPr id="3" name="Date Placeholder 2">
            <a:extLst>
              <a:ext uri="{FF2B5EF4-FFF2-40B4-BE49-F238E27FC236}">
                <a16:creationId xmlns:a16="http://schemas.microsoft.com/office/drawing/2014/main" id="{AADD9822-205E-411A-98E8-614EE76611C1}"/>
              </a:ext>
            </a:extLst>
          </p:cNvPr>
          <p:cNvSpPr>
            <a:spLocks noGrp="1"/>
          </p:cNvSpPr>
          <p:nvPr>
            <p:ph type="dt" idx="14"/>
          </p:nvPr>
        </p:nvSpPr>
        <p:spPr/>
        <p:txBody>
          <a:bodyPr/>
          <a:lstStyle/>
          <a:p>
            <a:fld id="{C6C9641A-9089-4752-A056-B1CBB82B5AD3}" type="datetime1">
              <a:rPr lang="en-US" smtClean="0"/>
              <a:t>7/30/2026</a:t>
            </a:fld>
            <a:endParaRPr lang="en-US"/>
          </a:p>
        </p:txBody>
      </p:sp>
      <p:sp>
        <p:nvSpPr>
          <p:cNvPr id="8" name="Slide Image Placeholder 7">
            <a:extLst>
              <a:ext uri="{FF2B5EF4-FFF2-40B4-BE49-F238E27FC236}">
                <a16:creationId xmlns:a16="http://schemas.microsoft.com/office/drawing/2014/main" id="{93D79A44-A14C-46C2-9D88-AA4F08A12BF7}"/>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A6027BF1-B3D5-47B5-BC6F-966DC5AB1C5A}"/>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Header Placeholder 3">
            <a:extLst>
              <a:ext uri="{FF2B5EF4-FFF2-40B4-BE49-F238E27FC236}">
                <a16:creationId xmlns:a16="http://schemas.microsoft.com/office/drawing/2014/main" id="{024AF13D-BB1E-4F4A-BD0B-2ACA4B636AC1}"/>
              </a:ext>
            </a:extLst>
          </p:cNvPr>
          <p:cNvSpPr>
            <a:spLocks noGrp="1"/>
          </p:cNvSpPr>
          <p:nvPr>
            <p:ph type="hdr" sz="quarter" idx="15"/>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6746433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A66CC-4474-6DA4-C77F-D94FDDB5BE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C9FA1F-8E4E-CDCE-6BDF-8B1881BEA3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F0DB1A-4A25-D189-3974-031296F78DF9}"/>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1A21CE2A-249B-C335-AFF1-F99F8CE594D6}"/>
              </a:ext>
            </a:extLst>
          </p:cNvPr>
          <p:cNvSpPr>
            <a:spLocks noGrp="1"/>
          </p:cNvSpPr>
          <p:nvPr>
            <p:ph type="sldNum" sz="quarter" idx="5"/>
          </p:nvPr>
        </p:nvSpPr>
        <p:spPr/>
        <p:txBody>
          <a:bodyPr/>
          <a:lstStyle/>
          <a:p>
            <a:fld id="{1D09229F-6F41-4CC3-A51C-EB832A3392C5}" type="slidenum">
              <a:rPr lang="en-US" smtClean="0"/>
              <a:t>5</a:t>
            </a:fld>
            <a:endParaRPr lang="en-US"/>
          </a:p>
        </p:txBody>
      </p:sp>
    </p:spTree>
    <p:extLst>
      <p:ext uri="{BB962C8B-B14F-4D97-AF65-F5344CB8AC3E}">
        <p14:creationId xmlns:p14="http://schemas.microsoft.com/office/powerpoint/2010/main" val="25260542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6</a:t>
            </a:fld>
            <a:endParaRPr lang="en-US"/>
          </a:p>
        </p:txBody>
      </p:sp>
      <p:sp>
        <p:nvSpPr>
          <p:cNvPr id="3" name="Date Placeholder 2">
            <a:extLst>
              <a:ext uri="{FF2B5EF4-FFF2-40B4-BE49-F238E27FC236}">
                <a16:creationId xmlns:a16="http://schemas.microsoft.com/office/drawing/2014/main" id="{1A0B76F9-3F92-4745-AA72-2039D73104F8}"/>
              </a:ext>
            </a:extLst>
          </p:cNvPr>
          <p:cNvSpPr>
            <a:spLocks noGrp="1"/>
          </p:cNvSpPr>
          <p:nvPr>
            <p:ph type="dt" idx="12"/>
          </p:nvPr>
        </p:nvSpPr>
        <p:spPr/>
        <p:txBody>
          <a:bodyPr/>
          <a:lstStyle/>
          <a:p>
            <a:fld id="{98343A3E-C65B-474B-B284-72A2415C99C0}" type="datetime1">
              <a:rPr lang="en-US"/>
              <a:t>7/30/2026</a:t>
            </a:fld>
            <a:endParaRPr lang="en-US"/>
          </a:p>
        </p:txBody>
      </p:sp>
      <p:sp>
        <p:nvSpPr>
          <p:cNvPr id="10" name="Slide Image Placeholder 9">
            <a:extLst>
              <a:ext uri="{FF2B5EF4-FFF2-40B4-BE49-F238E27FC236}">
                <a16:creationId xmlns:a16="http://schemas.microsoft.com/office/drawing/2014/main" id="{B080087F-9B63-4FCC-87C0-CC79C9FF5FED}"/>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79EF5BC6-BB55-444F-AE42-1679207E5163}"/>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29186FA5-7D91-4142-B389-05BC0ADD7EE6}"/>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38439650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about the general baseline architecture:</a:t>
            </a:r>
          </a:p>
          <a:p>
            <a:endParaRPr lang="en-US" dirty="0"/>
          </a:p>
          <a:p>
            <a:pPr marL="171450" indent="-171450">
              <a:buFontTx/>
              <a:buChar char="-"/>
            </a:pPr>
            <a:r>
              <a:rPr lang="en-US" dirty="0" err="1"/>
              <a:t>Nodepools</a:t>
            </a:r>
            <a:r>
              <a:rPr lang="en-US" dirty="0"/>
              <a:t> on Cluster nodes subnet.</a:t>
            </a:r>
          </a:p>
          <a:p>
            <a:pPr marL="171450" indent="-171450">
              <a:buFontTx/>
              <a:buChar char="-"/>
            </a:pPr>
            <a:r>
              <a:rPr lang="en-US" dirty="0"/>
              <a:t>Pods potentially on another subnet</a:t>
            </a:r>
          </a:p>
          <a:p>
            <a:pPr marL="171450" indent="-171450">
              <a:buFontTx/>
              <a:buChar char="-"/>
            </a:pPr>
            <a:r>
              <a:rPr lang="en-US" dirty="0"/>
              <a:t>Subnets for Ingress Resources / Private links.</a:t>
            </a:r>
          </a:p>
          <a:p>
            <a:pPr marL="171450" indent="-171450">
              <a:buFontTx/>
              <a:buChar char="-"/>
            </a:pPr>
            <a:r>
              <a:rPr lang="en-US" dirty="0"/>
              <a:t>Potential Egress through the Azure Firewall or on-premises connectivity</a:t>
            </a:r>
          </a:p>
          <a:p>
            <a:pPr marL="171450" indent="-171450">
              <a:buFontTx/>
              <a:buChar char="-"/>
            </a:pPr>
            <a:r>
              <a:rPr lang="en-US" dirty="0"/>
              <a:t>Need for IP address planning, as many resources will be deployed across the different subnets in the AKS </a:t>
            </a:r>
            <a:r>
              <a:rPr lang="en-US" dirty="0" err="1"/>
              <a:t>vnet</a:t>
            </a:r>
            <a:endParaRPr lang="en-NL" dirty="0"/>
          </a:p>
        </p:txBody>
      </p:sp>
      <p:sp>
        <p:nvSpPr>
          <p:cNvPr id="4" name="Slide Number Placeholder 3"/>
          <p:cNvSpPr>
            <a:spLocks noGrp="1"/>
          </p:cNvSpPr>
          <p:nvPr>
            <p:ph type="sldNum" sz="quarter" idx="5"/>
          </p:nvPr>
        </p:nvSpPr>
        <p:spPr/>
        <p:txBody>
          <a:bodyPr/>
          <a:lstStyle/>
          <a:p>
            <a:fld id="{1D09229F-6F41-4CC3-A51C-EB832A3392C5}" type="slidenum">
              <a:rPr lang="en-US" smtClean="0"/>
              <a:t>7</a:t>
            </a:fld>
            <a:endParaRPr lang="en-US"/>
          </a:p>
        </p:txBody>
      </p:sp>
    </p:spTree>
    <p:extLst>
      <p:ext uri="{BB962C8B-B14F-4D97-AF65-F5344CB8AC3E}">
        <p14:creationId xmlns:p14="http://schemas.microsoft.com/office/powerpoint/2010/main" val="28575245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A8A50-11EC-442C-B2F3-0F041465F0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7AD0F0-4E78-4463-6A10-CCBD917630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BBAE19-E018-5118-0DCD-AC010C8BFC2A}"/>
              </a:ext>
            </a:extLst>
          </p:cNvPr>
          <p:cNvSpPr>
            <a:spLocks noGrp="1"/>
          </p:cNvSpPr>
          <p:nvPr>
            <p:ph type="body" idx="1"/>
          </p:nvPr>
        </p:nvSpPr>
        <p:spPr/>
        <p:txBody>
          <a:bodyPr/>
          <a:lstStyle/>
          <a:p>
            <a:r>
              <a:rPr lang="es-ES" dirty="0" err="1"/>
              <a:t>By</a:t>
            </a:r>
            <a:r>
              <a:rPr lang="es-ES" dirty="0"/>
              <a:t> default, </a:t>
            </a:r>
            <a:r>
              <a:rPr lang="es-ES" dirty="0" err="1"/>
              <a:t>the</a:t>
            </a:r>
            <a:r>
              <a:rPr lang="es-ES" dirty="0"/>
              <a:t> control plane </a:t>
            </a:r>
            <a:r>
              <a:rPr lang="es-ES" dirty="0" err="1"/>
              <a:t>receives</a:t>
            </a:r>
            <a:r>
              <a:rPr lang="es-ES" dirty="0"/>
              <a:t> a </a:t>
            </a:r>
            <a:r>
              <a:rPr lang="es-ES" dirty="0" err="1"/>
              <a:t>public</a:t>
            </a:r>
            <a:r>
              <a:rPr lang="es-ES" dirty="0"/>
              <a:t> IP </a:t>
            </a:r>
            <a:r>
              <a:rPr lang="es-ES" dirty="0" err="1"/>
              <a:t>address</a:t>
            </a:r>
            <a:endParaRPr lang="es-ES" dirty="0"/>
          </a:p>
          <a:p>
            <a:endParaRPr lang="es-ES" dirty="0"/>
          </a:p>
          <a:p>
            <a:r>
              <a:rPr lang="es-ES" dirty="0" err="1"/>
              <a:t>There</a:t>
            </a:r>
            <a:r>
              <a:rPr lang="es-ES" dirty="0"/>
              <a:t> </a:t>
            </a:r>
            <a:r>
              <a:rPr lang="es-ES" dirty="0" err="1"/>
              <a:t>is</a:t>
            </a:r>
            <a:r>
              <a:rPr lang="es-ES" dirty="0"/>
              <a:t> a </a:t>
            </a:r>
            <a:r>
              <a:rPr lang="es-ES" dirty="0" err="1"/>
              <a:t>kind</a:t>
            </a:r>
            <a:r>
              <a:rPr lang="es-ES" dirty="0"/>
              <a:t> </a:t>
            </a:r>
            <a:r>
              <a:rPr lang="es-ES" dirty="0" err="1"/>
              <a:t>of</a:t>
            </a:r>
            <a:r>
              <a:rPr lang="es-ES" dirty="0"/>
              <a:t> Firewall </a:t>
            </a:r>
            <a:r>
              <a:rPr lang="es-ES" dirty="0" err="1"/>
              <a:t>applied</a:t>
            </a:r>
            <a:r>
              <a:rPr lang="es-ES" dirty="0"/>
              <a:t> </a:t>
            </a:r>
            <a:r>
              <a:rPr lang="es-ES" dirty="0" err="1"/>
              <a:t>to</a:t>
            </a:r>
            <a:r>
              <a:rPr lang="es-ES" dirty="0"/>
              <a:t> </a:t>
            </a:r>
            <a:r>
              <a:rPr lang="es-ES" dirty="0" err="1"/>
              <a:t>the</a:t>
            </a:r>
            <a:r>
              <a:rPr lang="es-ES" dirty="0"/>
              <a:t> </a:t>
            </a:r>
            <a:r>
              <a:rPr lang="es-ES" dirty="0" err="1"/>
              <a:t>controlplane</a:t>
            </a:r>
            <a:r>
              <a:rPr lang="es-ES" dirty="0"/>
              <a:t>, </a:t>
            </a:r>
            <a:r>
              <a:rPr lang="es-ES" dirty="0" err="1"/>
              <a:t>which</a:t>
            </a:r>
            <a:r>
              <a:rPr lang="es-ES" dirty="0"/>
              <a:t> can be </a:t>
            </a:r>
            <a:r>
              <a:rPr lang="es-ES" dirty="0" err="1"/>
              <a:t>used</a:t>
            </a:r>
            <a:r>
              <a:rPr lang="es-ES" dirty="0"/>
              <a:t> </a:t>
            </a:r>
            <a:r>
              <a:rPr lang="es-ES" dirty="0" err="1"/>
              <a:t>to</a:t>
            </a:r>
            <a:r>
              <a:rPr lang="es-ES" dirty="0"/>
              <a:t> </a:t>
            </a:r>
            <a:r>
              <a:rPr lang="es-ES" dirty="0" err="1"/>
              <a:t>allow</a:t>
            </a:r>
            <a:r>
              <a:rPr lang="es-ES" dirty="0"/>
              <a:t> Access </a:t>
            </a:r>
            <a:r>
              <a:rPr lang="es-ES" dirty="0" err="1"/>
              <a:t>from</a:t>
            </a:r>
            <a:r>
              <a:rPr lang="es-ES" dirty="0"/>
              <a:t> </a:t>
            </a:r>
            <a:r>
              <a:rPr lang="es-ES" dirty="0" err="1"/>
              <a:t>explicit</a:t>
            </a:r>
            <a:r>
              <a:rPr lang="es-ES" dirty="0"/>
              <a:t> IP </a:t>
            </a:r>
            <a:r>
              <a:rPr lang="es-ES" dirty="0" err="1"/>
              <a:t>address</a:t>
            </a:r>
            <a:r>
              <a:rPr lang="es-ES" dirty="0"/>
              <a:t> </a:t>
            </a:r>
            <a:r>
              <a:rPr lang="en-GB" dirty="0"/>
              <a:t>(ranges)</a:t>
            </a:r>
          </a:p>
          <a:p>
            <a:endParaRPr lang="en-GB" dirty="0"/>
          </a:p>
          <a:p>
            <a:endParaRPr lang="en-NL" dirty="0"/>
          </a:p>
        </p:txBody>
      </p:sp>
      <p:sp>
        <p:nvSpPr>
          <p:cNvPr id="4" name="Slide Number Placeholder 3">
            <a:extLst>
              <a:ext uri="{FF2B5EF4-FFF2-40B4-BE49-F238E27FC236}">
                <a16:creationId xmlns:a16="http://schemas.microsoft.com/office/drawing/2014/main" id="{C8E31200-E628-98DE-204B-67B91BCD09EC}"/>
              </a:ext>
            </a:extLst>
          </p:cNvPr>
          <p:cNvSpPr>
            <a:spLocks noGrp="1"/>
          </p:cNvSpPr>
          <p:nvPr>
            <p:ph type="sldNum" sz="quarter" idx="5"/>
          </p:nvPr>
        </p:nvSpPr>
        <p:spPr/>
        <p:txBody>
          <a:bodyPr/>
          <a:lstStyle/>
          <a:p>
            <a:fld id="{1D09229F-6F41-4CC3-A51C-EB832A3392C5}" type="slidenum">
              <a:rPr lang="en-US" smtClean="0"/>
              <a:t>8</a:t>
            </a:fld>
            <a:endParaRPr lang="en-US"/>
          </a:p>
        </p:txBody>
      </p:sp>
    </p:spTree>
    <p:extLst>
      <p:ext uri="{BB962C8B-B14F-4D97-AF65-F5344CB8AC3E}">
        <p14:creationId xmlns:p14="http://schemas.microsoft.com/office/powerpoint/2010/main" val="423747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851DD-2B99-C1D6-316E-CD74CEDDFC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5BD160-B54E-FC55-6A4D-0B520AB124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EA59E1-E905-18BA-B70E-B60E27B654C7}"/>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An Azure Kubernetes Service (AKS) cluster configured with API Server </a:t>
            </a:r>
            <a:r>
              <a:rPr lang="en-US" sz="1200" b="0" i="0" kern="1200" dirty="0" err="1">
                <a:solidFill>
                  <a:schemeClr val="tx1"/>
                </a:solidFill>
                <a:effectLst/>
                <a:latin typeface="+mn-lt"/>
                <a:ea typeface="+mn-ea"/>
                <a:cs typeface="+mn-cs"/>
              </a:rPr>
              <a:t>VNet</a:t>
            </a:r>
            <a:r>
              <a:rPr lang="en-US" sz="1200" b="0" i="0" kern="1200" dirty="0">
                <a:solidFill>
                  <a:schemeClr val="tx1"/>
                </a:solidFill>
                <a:effectLst/>
                <a:latin typeface="+mn-lt"/>
                <a:ea typeface="+mn-ea"/>
                <a:cs typeface="+mn-cs"/>
              </a:rPr>
              <a:t> Integration projects the API server endpoint directly into a delegated subnet in the </a:t>
            </a:r>
            <a:r>
              <a:rPr lang="en-US" sz="1200" b="0" i="0" kern="1200" dirty="0" err="1">
                <a:solidFill>
                  <a:schemeClr val="tx1"/>
                </a:solidFill>
                <a:effectLst/>
                <a:latin typeface="+mn-lt"/>
                <a:ea typeface="+mn-ea"/>
                <a:cs typeface="+mn-cs"/>
              </a:rPr>
              <a:t>VNet</a:t>
            </a:r>
            <a:r>
              <a:rPr lang="en-US" sz="1200" b="0" i="0" kern="1200" dirty="0">
                <a:solidFill>
                  <a:schemeClr val="tx1"/>
                </a:solidFill>
                <a:effectLst/>
                <a:latin typeface="+mn-lt"/>
                <a:ea typeface="+mn-ea"/>
                <a:cs typeface="+mn-cs"/>
              </a:rPr>
              <a:t> where AKS is deployed. API Server </a:t>
            </a:r>
            <a:r>
              <a:rPr lang="en-US" sz="1200" b="0" i="0" kern="1200" dirty="0" err="1">
                <a:solidFill>
                  <a:schemeClr val="tx1"/>
                </a:solidFill>
                <a:effectLst/>
                <a:latin typeface="+mn-lt"/>
                <a:ea typeface="+mn-ea"/>
                <a:cs typeface="+mn-cs"/>
              </a:rPr>
              <a:t>VNet</a:t>
            </a:r>
            <a:r>
              <a:rPr lang="en-US" sz="1200" b="0" i="0" kern="1200" dirty="0">
                <a:solidFill>
                  <a:schemeClr val="tx1"/>
                </a:solidFill>
                <a:effectLst/>
                <a:latin typeface="+mn-lt"/>
                <a:ea typeface="+mn-ea"/>
                <a:cs typeface="+mn-cs"/>
              </a:rPr>
              <a:t> Integration enables network communication between the API server and the cluster nodes without requiring a private link or tunnel. The API server is available behind an internal load balancer VIP in the delegated subnet, which the nodes are configured to utilize. By using API Server </a:t>
            </a:r>
            <a:r>
              <a:rPr lang="en-US" sz="1200" b="0" i="0" kern="1200" dirty="0" err="1">
                <a:solidFill>
                  <a:schemeClr val="tx1"/>
                </a:solidFill>
                <a:effectLst/>
                <a:latin typeface="+mn-lt"/>
                <a:ea typeface="+mn-ea"/>
                <a:cs typeface="+mn-cs"/>
              </a:rPr>
              <a:t>VNet</a:t>
            </a:r>
            <a:r>
              <a:rPr lang="en-US" sz="1200" b="0" i="0" kern="1200" dirty="0">
                <a:solidFill>
                  <a:schemeClr val="tx1"/>
                </a:solidFill>
                <a:effectLst/>
                <a:latin typeface="+mn-lt"/>
                <a:ea typeface="+mn-ea"/>
                <a:cs typeface="+mn-cs"/>
              </a:rPr>
              <a:t> Integration, you can ensure network traffic between your API server and your node pools remains on the private network only.</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You can add or remove public access after cluster provisioning. Unlike non-</a:t>
            </a:r>
            <a:r>
              <a:rPr lang="en-US" sz="1200" b="0" i="0" kern="1200" dirty="0" err="1">
                <a:solidFill>
                  <a:schemeClr val="tx1"/>
                </a:solidFill>
                <a:effectLst/>
                <a:latin typeface="+mn-lt"/>
                <a:ea typeface="+mn-ea"/>
                <a:cs typeface="+mn-cs"/>
              </a:rPr>
              <a:t>VNet</a:t>
            </a:r>
            <a:r>
              <a:rPr lang="en-US" sz="1200" b="0" i="0" kern="1200" dirty="0">
                <a:solidFill>
                  <a:schemeClr val="tx1"/>
                </a:solidFill>
                <a:effectLst/>
                <a:latin typeface="+mn-lt"/>
                <a:ea typeface="+mn-ea"/>
                <a:cs typeface="+mn-cs"/>
              </a:rPr>
              <a:t> integrated clusters, the agent nodes always communicate directly with the private IP address of the API server internal load balancer (ILB) IP without using DNS. All node to API server traffic is kept on private networking, and no tunnel is required for API server to node connectivity. Out-of-cluster clients needing to communicate with the API server can do so normally if public network access is enabled.</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API Server </a:t>
            </a:r>
            <a:r>
              <a:rPr lang="en-US" sz="1200" b="1" i="0" kern="1200" dirty="0" err="1">
                <a:solidFill>
                  <a:schemeClr val="tx1"/>
                </a:solidFill>
                <a:effectLst/>
                <a:latin typeface="+mn-lt"/>
                <a:ea typeface="+mn-ea"/>
                <a:cs typeface="+mn-cs"/>
              </a:rPr>
              <a:t>VNet</a:t>
            </a:r>
            <a:r>
              <a:rPr lang="en-US" sz="1200" b="1" i="0" kern="1200" dirty="0">
                <a:solidFill>
                  <a:schemeClr val="tx1"/>
                </a:solidFill>
                <a:effectLst/>
                <a:latin typeface="+mn-lt"/>
                <a:ea typeface="+mn-ea"/>
                <a:cs typeface="+mn-cs"/>
              </a:rPr>
              <a:t> Integration has limited availability and capacity in certain regions.</a:t>
            </a:r>
          </a:p>
          <a:p>
            <a:endParaRPr lang="en-US" sz="1200" b="1"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Once API Server </a:t>
            </a:r>
            <a:r>
              <a:rPr lang="en-US" sz="1200" b="0" i="0" kern="1200" dirty="0" err="1">
                <a:solidFill>
                  <a:schemeClr val="tx1"/>
                </a:solidFill>
                <a:effectLst/>
                <a:latin typeface="+mn-lt"/>
                <a:ea typeface="+mn-ea"/>
                <a:cs typeface="+mn-cs"/>
              </a:rPr>
              <a:t>VNet</a:t>
            </a:r>
            <a:r>
              <a:rPr lang="en-US" sz="1200" b="0" i="0" kern="1200" dirty="0">
                <a:solidFill>
                  <a:schemeClr val="tx1"/>
                </a:solidFill>
                <a:effectLst/>
                <a:latin typeface="+mn-lt"/>
                <a:ea typeface="+mn-ea"/>
                <a:cs typeface="+mn-cs"/>
              </a:rPr>
              <a:t> Integration is enabled on a cluster, stopping your cluster de-allocates the control plane and releases the capacity. In regions experiencing capacity constraints, customers may be unable to start a stopped cluster. We do not recommend stopping mission critical workloads for this reason.</a:t>
            </a:r>
            <a:endParaRPr lang="en-NL" dirty="0"/>
          </a:p>
        </p:txBody>
      </p:sp>
      <p:sp>
        <p:nvSpPr>
          <p:cNvPr id="4" name="Slide Number Placeholder 3">
            <a:extLst>
              <a:ext uri="{FF2B5EF4-FFF2-40B4-BE49-F238E27FC236}">
                <a16:creationId xmlns:a16="http://schemas.microsoft.com/office/drawing/2014/main" id="{6E8E5428-8139-2DB8-1A62-D0F5AB97F99B}"/>
              </a:ext>
            </a:extLst>
          </p:cNvPr>
          <p:cNvSpPr>
            <a:spLocks noGrp="1"/>
          </p:cNvSpPr>
          <p:nvPr>
            <p:ph type="sldNum" sz="quarter" idx="5"/>
          </p:nvPr>
        </p:nvSpPr>
        <p:spPr/>
        <p:txBody>
          <a:bodyPr/>
          <a:lstStyle/>
          <a:p>
            <a:fld id="{1D09229F-6F41-4CC3-A51C-EB832A3392C5}" type="slidenum">
              <a:rPr lang="en-US" smtClean="0"/>
              <a:t>9</a:t>
            </a:fld>
            <a:endParaRPr lang="en-US"/>
          </a:p>
        </p:txBody>
      </p:sp>
    </p:spTree>
    <p:extLst>
      <p:ext uri="{BB962C8B-B14F-4D97-AF65-F5344CB8AC3E}">
        <p14:creationId xmlns:p14="http://schemas.microsoft.com/office/powerpoint/2010/main" val="33864055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524E7-ECE9-CB6C-E274-4E7703EC7E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BD7C5D-A3E3-F36C-7665-E2967439D5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A046DA-7743-9230-44AB-E547FAD954D6}"/>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7707CE73-5227-302B-FED3-7C9535CAB6D3}"/>
              </a:ext>
            </a:extLst>
          </p:cNvPr>
          <p:cNvSpPr>
            <a:spLocks noGrp="1"/>
          </p:cNvSpPr>
          <p:nvPr>
            <p:ph type="sldNum" sz="quarter" idx="5"/>
          </p:nvPr>
        </p:nvSpPr>
        <p:spPr/>
        <p:txBody>
          <a:bodyPr/>
          <a:lstStyle/>
          <a:p>
            <a:fld id="{1D09229F-6F41-4CC3-A51C-EB832A3392C5}" type="slidenum">
              <a:rPr lang="en-US" smtClean="0"/>
              <a:t>10</a:t>
            </a:fld>
            <a:endParaRPr lang="en-US"/>
          </a:p>
        </p:txBody>
      </p:sp>
    </p:spTree>
    <p:extLst>
      <p:ext uri="{BB962C8B-B14F-4D97-AF65-F5344CB8AC3E}">
        <p14:creationId xmlns:p14="http://schemas.microsoft.com/office/powerpoint/2010/main" val="18336228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0E5EE-FC9F-BC53-E475-B14DBFF2D4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5A9901-4208-242C-2277-03E5E958B8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05A354-6331-C454-1BEC-20D1025DE85E}"/>
              </a:ext>
            </a:extLst>
          </p:cNvPr>
          <p:cNvSpPr>
            <a:spLocks noGrp="1"/>
          </p:cNvSpPr>
          <p:nvPr>
            <p:ph type="body" idx="1"/>
          </p:nvPr>
        </p:nvSpPr>
        <p:spPr/>
        <p:txBody>
          <a:bodyPr/>
          <a:lstStyle/>
          <a:p>
            <a:r>
              <a:rPr lang="en-GB" dirty="0"/>
              <a:t>Diagram does not include the Private Endpoint for AKS for simplicity</a:t>
            </a:r>
            <a:endParaRPr lang="en-NL" dirty="0"/>
          </a:p>
        </p:txBody>
      </p:sp>
      <p:sp>
        <p:nvSpPr>
          <p:cNvPr id="4" name="Slide Number Placeholder 3">
            <a:extLst>
              <a:ext uri="{FF2B5EF4-FFF2-40B4-BE49-F238E27FC236}">
                <a16:creationId xmlns:a16="http://schemas.microsoft.com/office/drawing/2014/main" id="{1B3838A0-D43A-C2B2-18C1-3D2B5E1C619F}"/>
              </a:ext>
            </a:extLst>
          </p:cNvPr>
          <p:cNvSpPr>
            <a:spLocks noGrp="1"/>
          </p:cNvSpPr>
          <p:nvPr>
            <p:ph type="sldNum" sz="quarter" idx="5"/>
          </p:nvPr>
        </p:nvSpPr>
        <p:spPr/>
        <p:txBody>
          <a:bodyPr/>
          <a:lstStyle/>
          <a:p>
            <a:fld id="{1D09229F-6F41-4CC3-A51C-EB832A3392C5}" type="slidenum">
              <a:rPr lang="en-US" smtClean="0"/>
              <a:t>11</a:t>
            </a:fld>
            <a:endParaRPr lang="en-US"/>
          </a:p>
        </p:txBody>
      </p:sp>
    </p:spTree>
    <p:extLst>
      <p:ext uri="{BB962C8B-B14F-4D97-AF65-F5344CB8AC3E}">
        <p14:creationId xmlns:p14="http://schemas.microsoft.com/office/powerpoint/2010/main" val="34544806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CE3C9-D7FE-FF77-FD8B-A869344245F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ECB8AB7-38BE-4FB2-109D-C4209C9496EA}"/>
              </a:ext>
            </a:extLst>
          </p:cNvPr>
          <p:cNvSpPr>
            <a:spLocks noGrp="1"/>
          </p:cNvSpPr>
          <p:nvPr>
            <p:ph type="sldNum" sz="quarter" idx="10"/>
          </p:nvPr>
        </p:nvSpPr>
        <p:spPr/>
        <p:txBody>
          <a:bodyPr/>
          <a:lstStyle/>
          <a:p>
            <a:fld id="{F475C4C8-7DEA-455A-9336-A4C7DB3AE516}" type="slidenum">
              <a:rPr lang="en-US"/>
              <a:pPr/>
              <a:t>12</a:t>
            </a:fld>
            <a:endParaRPr lang="en-US"/>
          </a:p>
        </p:txBody>
      </p:sp>
      <p:sp>
        <p:nvSpPr>
          <p:cNvPr id="3" name="Date Placeholder 2">
            <a:extLst>
              <a:ext uri="{FF2B5EF4-FFF2-40B4-BE49-F238E27FC236}">
                <a16:creationId xmlns:a16="http://schemas.microsoft.com/office/drawing/2014/main" id="{AC7A7C64-2FDC-59A3-127D-3D4CBD9D599D}"/>
              </a:ext>
            </a:extLst>
          </p:cNvPr>
          <p:cNvSpPr>
            <a:spLocks noGrp="1"/>
          </p:cNvSpPr>
          <p:nvPr>
            <p:ph type="dt" idx="12"/>
          </p:nvPr>
        </p:nvSpPr>
        <p:spPr/>
        <p:txBody>
          <a:bodyPr/>
          <a:lstStyle/>
          <a:p>
            <a:fld id="{98343A3E-C65B-474B-B284-72A2415C99C0}" type="datetime1">
              <a:rPr lang="en-US"/>
              <a:t>7/30/2026</a:t>
            </a:fld>
            <a:endParaRPr lang="en-US"/>
          </a:p>
        </p:txBody>
      </p:sp>
      <p:sp>
        <p:nvSpPr>
          <p:cNvPr id="10" name="Slide Image Placeholder 9">
            <a:extLst>
              <a:ext uri="{FF2B5EF4-FFF2-40B4-BE49-F238E27FC236}">
                <a16:creationId xmlns:a16="http://schemas.microsoft.com/office/drawing/2014/main" id="{8EACCDD6-C412-8715-DFA3-DC0930D6F91B}"/>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DE472B24-0D54-B46C-EBBF-A4278A2D2F1A}"/>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35D85188-0418-6BEF-E424-FCBA062E2D7A}"/>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17620073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will now explain the different CNI options in the following slides.</a:t>
            </a:r>
            <a:endParaRPr lang="en-NL" dirty="0"/>
          </a:p>
        </p:txBody>
      </p:sp>
      <p:sp>
        <p:nvSpPr>
          <p:cNvPr id="4" name="Slide Number Placeholder 3"/>
          <p:cNvSpPr>
            <a:spLocks noGrp="1"/>
          </p:cNvSpPr>
          <p:nvPr>
            <p:ph type="sldNum" sz="quarter" idx="5"/>
          </p:nvPr>
        </p:nvSpPr>
        <p:spPr/>
        <p:txBody>
          <a:bodyPr/>
          <a:lstStyle/>
          <a:p>
            <a:fld id="{1D09229F-6F41-4CC3-A51C-EB832A3392C5}" type="slidenum">
              <a:rPr lang="en-US" smtClean="0"/>
              <a:t>13</a:t>
            </a:fld>
            <a:endParaRPr lang="en-US"/>
          </a:p>
        </p:txBody>
      </p:sp>
    </p:spTree>
    <p:extLst>
      <p:ext uri="{BB962C8B-B14F-4D97-AF65-F5344CB8AC3E}">
        <p14:creationId xmlns:p14="http://schemas.microsoft.com/office/powerpoint/2010/main" val="38860578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a:t>
            </a:r>
            <a:endParaRPr lang="en-NL" dirty="0"/>
          </a:p>
        </p:txBody>
      </p:sp>
      <p:sp>
        <p:nvSpPr>
          <p:cNvPr id="4" name="Slide Number Placeholder 3"/>
          <p:cNvSpPr>
            <a:spLocks noGrp="1"/>
          </p:cNvSpPr>
          <p:nvPr>
            <p:ph type="sldNum" sz="quarter" idx="5"/>
          </p:nvPr>
        </p:nvSpPr>
        <p:spPr/>
        <p:txBody>
          <a:bodyPr/>
          <a:lstStyle/>
          <a:p>
            <a:fld id="{1D09229F-6F41-4CC3-A51C-EB832A3392C5}" type="slidenum">
              <a:rPr lang="en-US" smtClean="0"/>
              <a:t>14</a:t>
            </a:fld>
            <a:endParaRPr lang="en-US"/>
          </a:p>
        </p:txBody>
      </p:sp>
    </p:spTree>
    <p:extLst>
      <p:ext uri="{BB962C8B-B14F-4D97-AF65-F5344CB8AC3E}">
        <p14:creationId xmlns:p14="http://schemas.microsoft.com/office/powerpoint/2010/main" val="16879497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Azure CNI Overlay assigns IP addresses from the user-defined overlay address space instead of using IP addresses from the VNET. It uses the routing of these private address spaces as a native virtual network feature. This means that cluster nodes do not need to perform any extra encapsulation to make the overlay container network work. This also allows this overlay addressing space to be reused for different AKS clusters even when connected via the same VNET.</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When a node joins the AKS cluster, we assign a /24 IP address block (256 IPs) from the Pod CIDR to it. Azure CNI assigns IPs to Pods on that node from the block, and under the hood, VNET maintains a mapping of the Pod CIDR block to the node. This way, when Pod traffic leaves the node, VNET platform knows where to send the traffic. This allows the Pod overlay network to achieve the same performance as native VNET traffic and paves the way to support millions of pods and across thousands of nodes.</a:t>
            </a:r>
          </a:p>
          <a:p>
            <a:endParaRPr lang="en-NL" dirty="0"/>
          </a:p>
        </p:txBody>
      </p:sp>
      <p:sp>
        <p:nvSpPr>
          <p:cNvPr id="4" name="Slide Number Placeholder 3"/>
          <p:cNvSpPr>
            <a:spLocks noGrp="1"/>
          </p:cNvSpPr>
          <p:nvPr>
            <p:ph type="sldNum" sz="quarter" idx="5"/>
          </p:nvPr>
        </p:nvSpPr>
        <p:spPr/>
        <p:txBody>
          <a:bodyPr/>
          <a:lstStyle/>
          <a:p>
            <a:fld id="{1D09229F-6F41-4CC3-A51C-EB832A3392C5}" type="slidenum">
              <a:rPr lang="en-US" smtClean="0"/>
              <a:t>15</a:t>
            </a:fld>
            <a:endParaRPr lang="en-US"/>
          </a:p>
        </p:txBody>
      </p:sp>
    </p:spTree>
    <p:extLst>
      <p:ext uri="{BB962C8B-B14F-4D97-AF65-F5344CB8AC3E}">
        <p14:creationId xmlns:p14="http://schemas.microsoft.com/office/powerpoint/2010/main" val="4156673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1D09229F-6F41-4CC3-A51C-EB832A3392C5}" type="slidenum">
              <a:rPr lang="en-US" smtClean="0"/>
              <a:t>16</a:t>
            </a:fld>
            <a:endParaRPr lang="en-US"/>
          </a:p>
        </p:txBody>
      </p:sp>
    </p:spTree>
    <p:extLst>
      <p:ext uri="{BB962C8B-B14F-4D97-AF65-F5344CB8AC3E}">
        <p14:creationId xmlns:p14="http://schemas.microsoft.com/office/powerpoint/2010/main" val="12557113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two main networking models in AKS are overlay and flat networks.</a:t>
            </a:r>
          </a:p>
          <a:p>
            <a:r>
              <a:rPr lang="en-US" sz="1200" b="1" i="0" kern="1200" dirty="0">
                <a:solidFill>
                  <a:schemeClr val="tx1"/>
                </a:solidFill>
                <a:effectLst/>
                <a:latin typeface="+mn-lt"/>
                <a:ea typeface="+mn-ea"/>
                <a:cs typeface="+mn-cs"/>
              </a:rPr>
              <a:t>Overlay networks</a:t>
            </a:r>
            <a:r>
              <a:rPr lang="en-US" sz="1200" b="0" i="0" kern="1200" dirty="0">
                <a:solidFill>
                  <a:schemeClr val="tx1"/>
                </a:solidFill>
                <a:effectLst/>
                <a:latin typeface="+mn-lt"/>
                <a:ea typeface="+mn-ea"/>
                <a:cs typeface="+mn-cs"/>
              </a:rPr>
              <a:t>:</a:t>
            </a:r>
          </a:p>
          <a:p>
            <a:pPr lvl="1"/>
            <a:r>
              <a:rPr lang="en-US" sz="1200" b="0" i="0" kern="1200" dirty="0">
                <a:solidFill>
                  <a:schemeClr val="tx1"/>
                </a:solidFill>
                <a:effectLst/>
                <a:latin typeface="+mn-lt"/>
                <a:ea typeface="+mn-ea"/>
                <a:cs typeface="+mn-cs"/>
              </a:rPr>
              <a:t>Conserve </a:t>
            </a:r>
            <a:r>
              <a:rPr lang="en-US" sz="1200" b="0" i="0" kern="1200" dirty="0" err="1">
                <a:solidFill>
                  <a:schemeClr val="tx1"/>
                </a:solidFill>
                <a:effectLst/>
                <a:latin typeface="+mn-lt"/>
                <a:ea typeface="+mn-ea"/>
                <a:cs typeface="+mn-cs"/>
              </a:rPr>
              <a:t>VNet</a:t>
            </a:r>
            <a:r>
              <a:rPr lang="en-US" sz="1200" b="0" i="0" kern="1200" dirty="0">
                <a:solidFill>
                  <a:schemeClr val="tx1"/>
                </a:solidFill>
                <a:effectLst/>
                <a:latin typeface="+mn-lt"/>
                <a:ea typeface="+mn-ea"/>
                <a:cs typeface="+mn-cs"/>
              </a:rPr>
              <a:t> IP address space by using logically separate CIDR ranges for pods.</a:t>
            </a:r>
          </a:p>
          <a:p>
            <a:pPr lvl="1"/>
            <a:r>
              <a:rPr lang="en-US" sz="1200" b="0" i="0" kern="1200" dirty="0">
                <a:solidFill>
                  <a:schemeClr val="tx1"/>
                </a:solidFill>
                <a:effectLst/>
                <a:latin typeface="+mn-lt"/>
                <a:ea typeface="+mn-ea"/>
                <a:cs typeface="+mn-cs"/>
              </a:rPr>
              <a:t>Maximum cluster scale support.</a:t>
            </a:r>
          </a:p>
          <a:p>
            <a:pPr lvl="1"/>
            <a:r>
              <a:rPr lang="en-US" sz="1200" b="0" i="0" kern="1200" dirty="0">
                <a:solidFill>
                  <a:schemeClr val="tx1"/>
                </a:solidFill>
                <a:effectLst/>
                <a:latin typeface="+mn-lt"/>
                <a:ea typeface="+mn-ea"/>
                <a:cs typeface="+mn-cs"/>
              </a:rPr>
              <a:t>Simple IP address management.</a:t>
            </a:r>
          </a:p>
          <a:p>
            <a:r>
              <a:rPr lang="en-US" sz="1200" b="1" i="0" kern="1200" dirty="0">
                <a:solidFill>
                  <a:schemeClr val="tx1"/>
                </a:solidFill>
                <a:effectLst/>
                <a:latin typeface="+mn-lt"/>
                <a:ea typeface="+mn-ea"/>
                <a:cs typeface="+mn-cs"/>
              </a:rPr>
              <a:t>Flat networks</a:t>
            </a:r>
            <a:r>
              <a:rPr lang="en-US" sz="1200" b="0" i="0" kern="1200" dirty="0">
                <a:solidFill>
                  <a:schemeClr val="tx1"/>
                </a:solidFill>
                <a:effectLst/>
                <a:latin typeface="+mn-lt"/>
                <a:ea typeface="+mn-ea"/>
                <a:cs typeface="+mn-cs"/>
              </a:rPr>
              <a:t>:</a:t>
            </a:r>
          </a:p>
          <a:p>
            <a:pPr lvl="1"/>
            <a:r>
              <a:rPr lang="en-US" sz="1200" b="0" i="0" kern="1200" dirty="0">
                <a:solidFill>
                  <a:schemeClr val="tx1"/>
                </a:solidFill>
                <a:effectLst/>
                <a:latin typeface="+mn-lt"/>
                <a:ea typeface="+mn-ea"/>
                <a:cs typeface="+mn-cs"/>
              </a:rPr>
              <a:t>Pods get full </a:t>
            </a:r>
            <a:r>
              <a:rPr lang="en-US" sz="1200" b="0" i="0" kern="1200" dirty="0" err="1">
                <a:solidFill>
                  <a:schemeClr val="tx1"/>
                </a:solidFill>
                <a:effectLst/>
                <a:latin typeface="+mn-lt"/>
                <a:ea typeface="+mn-ea"/>
                <a:cs typeface="+mn-cs"/>
              </a:rPr>
              <a:t>VNet</a:t>
            </a:r>
            <a:r>
              <a:rPr lang="en-US" sz="1200" b="0" i="0" kern="1200" dirty="0">
                <a:solidFill>
                  <a:schemeClr val="tx1"/>
                </a:solidFill>
                <a:effectLst/>
                <a:latin typeface="+mn-lt"/>
                <a:ea typeface="+mn-ea"/>
                <a:cs typeface="+mn-cs"/>
              </a:rPr>
              <a:t> connectivity and can be directly reached via their private IP address from connected networks.</a:t>
            </a:r>
          </a:p>
          <a:p>
            <a:pPr lvl="1"/>
            <a:r>
              <a:rPr lang="en-US" sz="1200" b="0" i="0" kern="1200" dirty="0">
                <a:solidFill>
                  <a:schemeClr val="tx1"/>
                </a:solidFill>
                <a:effectLst/>
                <a:latin typeface="+mn-lt"/>
                <a:ea typeface="+mn-ea"/>
                <a:cs typeface="+mn-cs"/>
              </a:rPr>
              <a:t>Require large, non-fragmented </a:t>
            </a:r>
            <a:r>
              <a:rPr lang="en-US" sz="1200" b="0" i="0" kern="1200" dirty="0" err="1">
                <a:solidFill>
                  <a:schemeClr val="tx1"/>
                </a:solidFill>
                <a:effectLst/>
                <a:latin typeface="+mn-lt"/>
                <a:ea typeface="+mn-ea"/>
                <a:cs typeface="+mn-cs"/>
              </a:rPr>
              <a:t>VNet</a:t>
            </a:r>
            <a:r>
              <a:rPr lang="en-US" sz="1200" b="0" i="0" kern="1200" dirty="0">
                <a:solidFill>
                  <a:schemeClr val="tx1"/>
                </a:solidFill>
                <a:effectLst/>
                <a:latin typeface="+mn-lt"/>
                <a:ea typeface="+mn-ea"/>
                <a:cs typeface="+mn-cs"/>
              </a:rPr>
              <a:t> IP address space.</a:t>
            </a:r>
          </a:p>
          <a:p>
            <a:endParaRPr lang="en-GB" dirty="0"/>
          </a:p>
          <a:p>
            <a:endParaRPr lang="en-GB" dirty="0"/>
          </a:p>
          <a:p>
            <a:r>
              <a:rPr lang="en-US" sz="1200" b="0" i="0" kern="1200" dirty="0">
                <a:solidFill>
                  <a:schemeClr val="tx1"/>
                </a:solidFill>
                <a:effectLst/>
                <a:latin typeface="+mn-lt"/>
                <a:ea typeface="+mn-ea"/>
                <a:cs typeface="+mn-cs"/>
              </a:rPr>
              <a:t>Depending on the CNI you use, your cluster virtual network resources can be deployed in one of the following ways:</a:t>
            </a:r>
          </a:p>
          <a:p>
            <a:r>
              <a:rPr lang="en-US" sz="1200" b="0" i="0" kern="1200" dirty="0">
                <a:solidFill>
                  <a:schemeClr val="tx1"/>
                </a:solidFill>
                <a:effectLst/>
                <a:latin typeface="+mn-lt"/>
                <a:ea typeface="+mn-ea"/>
                <a:cs typeface="+mn-cs"/>
              </a:rPr>
              <a:t>The Azure platform can automatically create and configure the virtual network resources when you create an AKS cluster. like in Azure CNI Overlay, Azure CNI Node subnet, and </a:t>
            </a:r>
            <a:r>
              <a:rPr lang="en-US" sz="1200" b="0" i="0" kern="1200" dirty="0" err="1">
                <a:solidFill>
                  <a:schemeClr val="tx1"/>
                </a:solidFill>
                <a:effectLst/>
                <a:latin typeface="+mn-lt"/>
                <a:ea typeface="+mn-ea"/>
                <a:cs typeface="+mn-cs"/>
              </a:rPr>
              <a:t>Kubenet</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You can manually create and configure the virtual network resources and attach to those resources when you create your AKS cluster.</a:t>
            </a:r>
          </a:p>
          <a:p>
            <a:endParaRPr lang="en-NL" dirty="0"/>
          </a:p>
        </p:txBody>
      </p:sp>
      <p:sp>
        <p:nvSpPr>
          <p:cNvPr id="4" name="Slide Number Placeholder 3"/>
          <p:cNvSpPr>
            <a:spLocks noGrp="1"/>
          </p:cNvSpPr>
          <p:nvPr>
            <p:ph type="sldNum" sz="quarter" idx="5"/>
          </p:nvPr>
        </p:nvSpPr>
        <p:spPr/>
        <p:txBody>
          <a:bodyPr/>
          <a:lstStyle/>
          <a:p>
            <a:fld id="{1D09229F-6F41-4CC3-A51C-EB832A3392C5}" type="slidenum">
              <a:rPr lang="en-US" smtClean="0"/>
              <a:t>17</a:t>
            </a:fld>
            <a:endParaRPr lang="en-US"/>
          </a:p>
        </p:txBody>
      </p:sp>
    </p:spTree>
    <p:extLst>
      <p:ext uri="{BB962C8B-B14F-4D97-AF65-F5344CB8AC3E}">
        <p14:creationId xmlns:p14="http://schemas.microsoft.com/office/powerpoint/2010/main" val="22397403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1D09229F-6F41-4CC3-A51C-EB832A3392C5}" type="slidenum">
              <a:rPr lang="en-US" smtClean="0"/>
              <a:t>18</a:t>
            </a:fld>
            <a:endParaRPr lang="en-US"/>
          </a:p>
        </p:txBody>
      </p:sp>
    </p:spTree>
    <p:extLst>
      <p:ext uri="{BB962C8B-B14F-4D97-AF65-F5344CB8AC3E}">
        <p14:creationId xmlns:p14="http://schemas.microsoft.com/office/powerpoint/2010/main" val="27058359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4FA6F-DDFD-7AF7-55C7-C709DC27C9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C171EC-2096-E609-93CB-8570C2D6B9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AB1BE3-6332-A427-E0C5-7AEAD431D7B7}"/>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0FBD3351-75A7-A235-E7A9-09A4AD09EB6E}"/>
              </a:ext>
            </a:extLst>
          </p:cNvPr>
          <p:cNvSpPr>
            <a:spLocks noGrp="1"/>
          </p:cNvSpPr>
          <p:nvPr>
            <p:ph type="sldNum" sz="quarter" idx="5"/>
          </p:nvPr>
        </p:nvSpPr>
        <p:spPr/>
        <p:txBody>
          <a:bodyPr/>
          <a:lstStyle/>
          <a:p>
            <a:fld id="{1D09229F-6F41-4CC3-A51C-EB832A3392C5}" type="slidenum">
              <a:rPr lang="en-US" smtClean="0"/>
              <a:t>19</a:t>
            </a:fld>
            <a:endParaRPr lang="en-US"/>
          </a:p>
        </p:txBody>
      </p:sp>
    </p:spTree>
    <p:extLst>
      <p:ext uri="{BB962C8B-B14F-4D97-AF65-F5344CB8AC3E}">
        <p14:creationId xmlns:p14="http://schemas.microsoft.com/office/powerpoint/2010/main" val="18075825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F33EA-BCCA-31C6-2C39-75C45CE9D34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BC19074-532A-AEF6-0BA0-6EDD799CBA7A}"/>
              </a:ext>
            </a:extLst>
          </p:cNvPr>
          <p:cNvSpPr>
            <a:spLocks noGrp="1"/>
          </p:cNvSpPr>
          <p:nvPr>
            <p:ph type="sldNum" sz="quarter" idx="10"/>
          </p:nvPr>
        </p:nvSpPr>
        <p:spPr/>
        <p:txBody>
          <a:bodyPr/>
          <a:lstStyle/>
          <a:p>
            <a:fld id="{F475C4C8-7DEA-455A-9336-A4C7DB3AE516}" type="slidenum">
              <a:rPr lang="en-US"/>
              <a:pPr/>
              <a:t>20</a:t>
            </a:fld>
            <a:endParaRPr lang="en-US"/>
          </a:p>
        </p:txBody>
      </p:sp>
      <p:sp>
        <p:nvSpPr>
          <p:cNvPr id="3" name="Date Placeholder 2">
            <a:extLst>
              <a:ext uri="{FF2B5EF4-FFF2-40B4-BE49-F238E27FC236}">
                <a16:creationId xmlns:a16="http://schemas.microsoft.com/office/drawing/2014/main" id="{B9D69BFB-5241-A2BA-96D6-3C83A7DE3B0E}"/>
              </a:ext>
            </a:extLst>
          </p:cNvPr>
          <p:cNvSpPr>
            <a:spLocks noGrp="1"/>
          </p:cNvSpPr>
          <p:nvPr>
            <p:ph type="dt" idx="12"/>
          </p:nvPr>
        </p:nvSpPr>
        <p:spPr/>
        <p:txBody>
          <a:bodyPr/>
          <a:lstStyle/>
          <a:p>
            <a:fld id="{98343A3E-C65B-474B-B284-72A2415C99C0}" type="datetime1">
              <a:rPr lang="en-US"/>
              <a:t>7/30/2026</a:t>
            </a:fld>
            <a:endParaRPr lang="en-US"/>
          </a:p>
        </p:txBody>
      </p:sp>
      <p:sp>
        <p:nvSpPr>
          <p:cNvPr id="10" name="Slide Image Placeholder 9">
            <a:extLst>
              <a:ext uri="{FF2B5EF4-FFF2-40B4-BE49-F238E27FC236}">
                <a16:creationId xmlns:a16="http://schemas.microsoft.com/office/drawing/2014/main" id="{288B7DF8-A063-6A82-776C-01CA4C008901}"/>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65A19F07-F795-FA49-CE2E-38BA155616EC}"/>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36EFA91B-534D-6613-9F69-B09E5C780C91}"/>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4317048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0FD72-DA92-C292-8D38-EB69B78016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A52201-AD5A-D951-91C6-13CE985465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5CAA63-DC38-AC62-A66B-706C400E466D}"/>
              </a:ext>
            </a:extLst>
          </p:cNvPr>
          <p:cNvSpPr>
            <a:spLocks noGrp="1"/>
          </p:cNvSpPr>
          <p:nvPr>
            <p:ph type="body" idx="1"/>
          </p:nvPr>
        </p:nvSpPr>
        <p:spPr/>
        <p:txBody>
          <a:bodyPr/>
          <a:lstStyle/>
          <a:p>
            <a:r>
              <a:rPr lang="en-GB" dirty="0"/>
              <a:t>This has been the standard for providing external access to Kubernetes workloads for many years. </a:t>
            </a:r>
            <a:endParaRPr lang="en-NL" dirty="0"/>
          </a:p>
        </p:txBody>
      </p:sp>
      <p:sp>
        <p:nvSpPr>
          <p:cNvPr id="4" name="Slide Number Placeholder 3">
            <a:extLst>
              <a:ext uri="{FF2B5EF4-FFF2-40B4-BE49-F238E27FC236}">
                <a16:creationId xmlns:a16="http://schemas.microsoft.com/office/drawing/2014/main" id="{AB389EE4-E850-C511-5D59-2A2F3DA3B4F5}"/>
              </a:ext>
            </a:extLst>
          </p:cNvPr>
          <p:cNvSpPr>
            <a:spLocks noGrp="1"/>
          </p:cNvSpPr>
          <p:nvPr>
            <p:ph type="sldNum" sz="quarter" idx="5"/>
          </p:nvPr>
        </p:nvSpPr>
        <p:spPr/>
        <p:txBody>
          <a:bodyPr/>
          <a:lstStyle/>
          <a:p>
            <a:fld id="{1D09229F-6F41-4CC3-A51C-EB832A3392C5}" type="slidenum">
              <a:rPr lang="en-US" smtClean="0"/>
              <a:t>21</a:t>
            </a:fld>
            <a:endParaRPr lang="en-US"/>
          </a:p>
        </p:txBody>
      </p:sp>
    </p:spTree>
    <p:extLst>
      <p:ext uri="{BB962C8B-B14F-4D97-AF65-F5344CB8AC3E}">
        <p14:creationId xmlns:p14="http://schemas.microsoft.com/office/powerpoint/2010/main" val="812893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0B1D4-5A8E-4F76-B9DB-83EAEA1821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07DB6C-935A-3C47-E71A-C9F772AE2F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E7E095-A2F7-F8CC-E203-BA286ED7F88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Specifying the network plugin the AKS cluster will use can </a:t>
            </a:r>
            <a:r>
              <a:rPr lang="en-GB" sz="1200" b="1" u="sng" dirty="0"/>
              <a:t>only be done when the cluster is created</a:t>
            </a:r>
            <a:r>
              <a:rPr lang="en-GB" sz="1200" dirty="0"/>
              <a:t> and cannot be changed afterwards.</a:t>
            </a:r>
          </a:p>
          <a:p>
            <a:endParaRPr lang="en-NL" dirty="0"/>
          </a:p>
        </p:txBody>
      </p:sp>
      <p:sp>
        <p:nvSpPr>
          <p:cNvPr id="4" name="Slide Number Placeholder 3">
            <a:extLst>
              <a:ext uri="{FF2B5EF4-FFF2-40B4-BE49-F238E27FC236}">
                <a16:creationId xmlns:a16="http://schemas.microsoft.com/office/drawing/2014/main" id="{A8FC97D5-8A29-4097-2C2E-33267C2B7B40}"/>
              </a:ext>
            </a:extLst>
          </p:cNvPr>
          <p:cNvSpPr>
            <a:spLocks noGrp="1"/>
          </p:cNvSpPr>
          <p:nvPr>
            <p:ph type="sldNum" sz="quarter" idx="5"/>
          </p:nvPr>
        </p:nvSpPr>
        <p:spPr/>
        <p:txBody>
          <a:bodyPr/>
          <a:lstStyle/>
          <a:p>
            <a:fld id="{1D09229F-6F41-4CC3-A51C-EB832A3392C5}" type="slidenum">
              <a:rPr lang="en-US" smtClean="0"/>
              <a:t>22</a:t>
            </a:fld>
            <a:endParaRPr lang="en-US"/>
          </a:p>
        </p:txBody>
      </p:sp>
    </p:spTree>
    <p:extLst>
      <p:ext uri="{BB962C8B-B14F-4D97-AF65-F5344CB8AC3E}">
        <p14:creationId xmlns:p14="http://schemas.microsoft.com/office/powerpoint/2010/main" val="14778437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D49B3-44DE-DBD5-B91C-B587742F14E2}"/>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9D379352-A09C-55AC-A6D6-8095F5AACA6E}"/>
              </a:ext>
            </a:extLst>
          </p:cNvPr>
          <p:cNvSpPr>
            <a:spLocks noGrp="1"/>
          </p:cNvSpPr>
          <p:nvPr>
            <p:ph type="body" idx="1"/>
          </p:nvPr>
        </p:nvSpPr>
        <p:spPr>
          <a:xfrm>
            <a:off x="685800" y="3347864"/>
            <a:ext cx="5486400" cy="5643736"/>
          </a:xfrm>
        </p:spPr>
        <p:txBody>
          <a:bodyPr/>
          <a:lstStyle/>
          <a:p>
            <a:pPr marL="0" indent="0">
              <a:buFont typeface="Arial" panose="020B0604020202020204" pitchFamily="34" charset="0"/>
              <a:buNone/>
            </a:pPr>
            <a:endParaRPr lang="en-US" dirty="0"/>
          </a:p>
        </p:txBody>
      </p:sp>
      <p:sp>
        <p:nvSpPr>
          <p:cNvPr id="4" name="Slide Number Placeholder 3">
            <a:extLst>
              <a:ext uri="{FF2B5EF4-FFF2-40B4-BE49-F238E27FC236}">
                <a16:creationId xmlns:a16="http://schemas.microsoft.com/office/drawing/2014/main" id="{0C91104F-B784-4F1B-8FB0-5AD4F730B5F4}"/>
              </a:ext>
            </a:extLst>
          </p:cNvPr>
          <p:cNvSpPr>
            <a:spLocks noGrp="1"/>
          </p:cNvSpPr>
          <p:nvPr>
            <p:ph type="sldNum" sz="quarter" idx="10"/>
          </p:nvPr>
        </p:nvSpPr>
        <p:spPr>
          <a:xfrm>
            <a:off x="3884613" y="8685213"/>
            <a:ext cx="2971800" cy="45878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3EBD503-35D4-44A8-8587-AEC2C404BB90}" type="slidenum">
              <a:rPr kumimoji="0" lang="en-US" sz="1800" b="0" i="0" u="none" strike="noStrike" kern="0" cap="none" spc="0" normalizeH="0" baseline="0" noProof="0">
                <a:ln>
                  <a:noFill/>
                </a:ln>
                <a:solidFill>
                  <a:sysClr val="windowText" lastClr="000000"/>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7" name="Slide Image Placeholder 6">
            <a:extLst>
              <a:ext uri="{FF2B5EF4-FFF2-40B4-BE49-F238E27FC236}">
                <a16:creationId xmlns:a16="http://schemas.microsoft.com/office/drawing/2014/main" id="{676DE914-7946-FB6B-183B-96FD530FB93C}"/>
              </a:ext>
            </a:extLst>
          </p:cNvPr>
          <p:cNvSpPr>
            <a:spLocks noGrp="1" noRot="1" noChangeAspect="1"/>
          </p:cNvSpPr>
          <p:nvPr>
            <p:ph type="sldImg"/>
          </p:nvPr>
        </p:nvSpPr>
        <p:spPr>
          <a:xfrm>
            <a:off x="685800" y="25400"/>
            <a:ext cx="5486400" cy="3086100"/>
          </a:xfrm>
        </p:spPr>
      </p:sp>
      <p:sp>
        <p:nvSpPr>
          <p:cNvPr id="5" name="Footer Placeholder 4">
            <a:extLst>
              <a:ext uri="{FF2B5EF4-FFF2-40B4-BE49-F238E27FC236}">
                <a16:creationId xmlns:a16="http://schemas.microsoft.com/office/drawing/2014/main" id="{C84F3394-2447-AB63-9399-E40CCCAA035A}"/>
              </a:ext>
            </a:extLst>
          </p:cNvPr>
          <p:cNvSpPr>
            <a:spLocks noGrp="1"/>
          </p:cNvSpPr>
          <p:nvPr>
            <p:ph type="ftr" sz="quarter" idx="4"/>
          </p:nvPr>
        </p:nvSpPr>
        <p:spPr>
          <a:xfrm>
            <a:off x="-1" y="8685213"/>
            <a:ext cx="6342927" cy="45878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ysClr val="windowText" lastClr="000000"/>
                </a:solidFill>
                <a:effectLst/>
                <a:uLnTx/>
                <a:uFillTx/>
                <a:latin typeface="Calibri"/>
                <a:ea typeface="+mn-ea"/>
                <a:cs typeface="+mn-cs"/>
              </a:rPr>
              <a:t>© 2013 Microsoft Corporation    	Microsoft Confidential</a:t>
            </a:r>
          </a:p>
        </p:txBody>
      </p:sp>
    </p:spTree>
    <p:extLst>
      <p:ext uri="{BB962C8B-B14F-4D97-AF65-F5344CB8AC3E}">
        <p14:creationId xmlns:p14="http://schemas.microsoft.com/office/powerpoint/2010/main" val="8278345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0571A-FBC8-AF9A-38CC-84D88B463F4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7EB919A-0248-EEAE-D1FF-E7D8E3916F94}"/>
              </a:ext>
            </a:extLst>
          </p:cNvPr>
          <p:cNvSpPr>
            <a:spLocks noGrp="1"/>
          </p:cNvSpPr>
          <p:nvPr>
            <p:ph type="sldNum" sz="quarter" idx="10"/>
          </p:nvPr>
        </p:nvSpPr>
        <p:spPr/>
        <p:txBody>
          <a:bodyPr/>
          <a:lstStyle/>
          <a:p>
            <a:fld id="{F475C4C8-7DEA-455A-9336-A4C7DB3AE516}" type="slidenum">
              <a:rPr lang="en-US" smtClean="0"/>
              <a:pPr/>
              <a:t>24</a:t>
            </a:fld>
            <a:endParaRPr lang="en-US"/>
          </a:p>
        </p:txBody>
      </p:sp>
      <p:sp>
        <p:nvSpPr>
          <p:cNvPr id="6" name="Date Placeholder 5">
            <a:extLst>
              <a:ext uri="{FF2B5EF4-FFF2-40B4-BE49-F238E27FC236}">
                <a16:creationId xmlns:a16="http://schemas.microsoft.com/office/drawing/2014/main" id="{8D237EC3-8970-F601-0197-321478609F8D}"/>
              </a:ext>
            </a:extLst>
          </p:cNvPr>
          <p:cNvSpPr>
            <a:spLocks noGrp="1"/>
          </p:cNvSpPr>
          <p:nvPr>
            <p:ph type="dt" idx="12"/>
          </p:nvPr>
        </p:nvSpPr>
        <p:spPr/>
        <p:txBody>
          <a:bodyPr/>
          <a:lstStyle/>
          <a:p>
            <a:fld id="{997C9337-20C5-41EF-80F6-63D1F94ABC0C}" type="datetime1">
              <a:rPr lang="en-US" smtClean="0"/>
              <a:t>7/30/2026</a:t>
            </a:fld>
            <a:endParaRPr lang="en-US"/>
          </a:p>
        </p:txBody>
      </p:sp>
      <p:sp>
        <p:nvSpPr>
          <p:cNvPr id="10" name="Slide Image Placeholder 9">
            <a:extLst>
              <a:ext uri="{FF2B5EF4-FFF2-40B4-BE49-F238E27FC236}">
                <a16:creationId xmlns:a16="http://schemas.microsoft.com/office/drawing/2014/main" id="{C7FCDA7E-378E-DC05-6BEE-965B56BF6701}"/>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C4EB7A7B-18F7-23AD-9980-B63236F073CF}"/>
              </a:ext>
            </a:extLst>
          </p:cNvPr>
          <p:cNvSpPr>
            <a:spLocks noGrp="1"/>
          </p:cNvSpPr>
          <p:nvPr>
            <p:ph type="body" idx="1"/>
          </p:nvPr>
        </p:nvSpPr>
        <p:spPr>
          <a:xfrm>
            <a:off x="685800" y="4400550"/>
            <a:ext cx="5486400" cy="3600450"/>
          </a:xfrm>
          <a:prstGeom prst="rect">
            <a:avLst/>
          </a:prstGeom>
        </p:spPr>
        <p:txBody>
          <a:bodyPr/>
          <a:lstStyle/>
          <a:p>
            <a:pPr lvl="0" defTabSz="914460">
              <a:lnSpc>
                <a:spcPct val="90000"/>
              </a:lnSpc>
              <a:spcAft>
                <a:spcPts val="333"/>
              </a:spcAft>
              <a:defRPr/>
            </a:pPr>
            <a:r>
              <a:rPr lang="en-US" sz="882" noProof="1">
                <a:solidFill>
                  <a:prstClr val="black"/>
                </a:solidFill>
                <a:latin typeface="Segoe UI Light" pitchFamily="34" charset="0"/>
              </a:rPr>
              <a:t>Consider demoing the following:</a:t>
            </a:r>
          </a:p>
          <a:p>
            <a:pPr lvl="0" defTabSz="914460">
              <a:lnSpc>
                <a:spcPct val="90000"/>
              </a:lnSpc>
              <a:spcAft>
                <a:spcPts val="333"/>
              </a:spcAft>
              <a:defRPr/>
            </a:pPr>
            <a:endParaRPr lang="en-US" sz="882" noProof="1">
              <a:solidFill>
                <a:prstClr val="black"/>
              </a:solidFill>
              <a:latin typeface="Segoe UI Light" pitchFamily="34" charset="0"/>
            </a:endParaRPr>
          </a:p>
          <a:p>
            <a:pPr marL="384454" lvl="1" indent="-171450">
              <a:buFont typeface="Arial" panose="020B0604020202020204" pitchFamily="34" charset="0"/>
              <a:buChar char="•"/>
              <a:defRPr/>
            </a:pPr>
            <a:endParaRPr lang="en-US" sz="882" b="1" dirty="0">
              <a:solidFill>
                <a:prstClr val="black"/>
              </a:solidFill>
              <a:latin typeface="Segoe UI Light" pitchFamily="34" charset="0"/>
            </a:endParaRPr>
          </a:p>
          <a:p>
            <a:pPr marL="384454" lvl="1" indent="-171450">
              <a:buFont typeface="Arial" panose="020B0604020202020204" pitchFamily="34" charset="0"/>
              <a:buChar char="•"/>
              <a:defRPr/>
            </a:pPr>
            <a:endParaRPr lang="en-US" sz="882" dirty="0">
              <a:solidFill>
                <a:prstClr val="black"/>
              </a:solidFill>
              <a:latin typeface="Segoe UI Light" pitchFamily="34" charset="0"/>
            </a:endParaRPr>
          </a:p>
          <a:p>
            <a:pPr lvl="0" defTabSz="914460">
              <a:lnSpc>
                <a:spcPct val="90000"/>
              </a:lnSpc>
              <a:spcAft>
                <a:spcPts val="333"/>
              </a:spcAft>
            </a:pPr>
            <a:r>
              <a:rPr lang="en-US" sz="882" dirty="0">
                <a:solidFill>
                  <a:prstClr val="black"/>
                </a:solidFill>
                <a:latin typeface="Segoe UI Light" pitchFamily="34" charset="0"/>
              </a:rPr>
              <a:t>##########</a:t>
            </a:r>
          </a:p>
          <a:p>
            <a:pPr lvl="0" defTabSz="914460">
              <a:lnSpc>
                <a:spcPct val="90000"/>
              </a:lnSpc>
              <a:spcAft>
                <a:spcPts val="333"/>
              </a:spcAft>
            </a:pPr>
            <a:endParaRPr lang="en-US" sz="882" dirty="0">
              <a:solidFill>
                <a:prstClr val="black"/>
              </a:solidFill>
              <a:latin typeface="Segoe UI Light" pitchFamily="34" charset="0"/>
            </a:endParaRPr>
          </a:p>
        </p:txBody>
      </p:sp>
      <p:sp>
        <p:nvSpPr>
          <p:cNvPr id="2" name="Header Placeholder 1">
            <a:extLst>
              <a:ext uri="{FF2B5EF4-FFF2-40B4-BE49-F238E27FC236}">
                <a16:creationId xmlns:a16="http://schemas.microsoft.com/office/drawing/2014/main" id="{63DD2E45-9B84-C2FA-6149-41E2A8CAED74}"/>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15673326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8E0C8-AE2C-0B8A-65DD-3E36F35F160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44EEE6A-279D-CF47-3AA6-95319FA87573}"/>
              </a:ext>
            </a:extLst>
          </p:cNvPr>
          <p:cNvSpPr>
            <a:spLocks noGrp="1"/>
          </p:cNvSpPr>
          <p:nvPr>
            <p:ph type="sldNum" sz="quarter" idx="10"/>
          </p:nvPr>
        </p:nvSpPr>
        <p:spPr/>
        <p:txBody>
          <a:bodyPr/>
          <a:lstStyle/>
          <a:p>
            <a:fld id="{F475C4C8-7DEA-455A-9336-A4C7DB3AE516}" type="slidenum">
              <a:rPr lang="en-US"/>
              <a:pPr/>
              <a:t>25</a:t>
            </a:fld>
            <a:endParaRPr lang="en-US"/>
          </a:p>
        </p:txBody>
      </p:sp>
      <p:sp>
        <p:nvSpPr>
          <p:cNvPr id="3" name="Date Placeholder 2">
            <a:extLst>
              <a:ext uri="{FF2B5EF4-FFF2-40B4-BE49-F238E27FC236}">
                <a16:creationId xmlns:a16="http://schemas.microsoft.com/office/drawing/2014/main" id="{78E1812D-0FBB-E68F-6827-99754390450A}"/>
              </a:ext>
            </a:extLst>
          </p:cNvPr>
          <p:cNvSpPr>
            <a:spLocks noGrp="1"/>
          </p:cNvSpPr>
          <p:nvPr>
            <p:ph type="dt" idx="12"/>
          </p:nvPr>
        </p:nvSpPr>
        <p:spPr/>
        <p:txBody>
          <a:bodyPr/>
          <a:lstStyle/>
          <a:p>
            <a:fld id="{98343A3E-C65B-474B-B284-72A2415C99C0}" type="datetime1">
              <a:rPr lang="en-US"/>
              <a:t>7/30/2026</a:t>
            </a:fld>
            <a:endParaRPr lang="en-US"/>
          </a:p>
        </p:txBody>
      </p:sp>
      <p:sp>
        <p:nvSpPr>
          <p:cNvPr id="10" name="Slide Image Placeholder 9">
            <a:extLst>
              <a:ext uri="{FF2B5EF4-FFF2-40B4-BE49-F238E27FC236}">
                <a16:creationId xmlns:a16="http://schemas.microsoft.com/office/drawing/2014/main" id="{F4E5409F-0C2A-DC3D-ACED-62239D8814CF}"/>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FF37A854-1D37-1955-9DFC-41D13A8B16ED}"/>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3AA51485-0806-3EEF-D7AC-D6F8434F1E15}"/>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13415944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C15C7-D1B8-A420-D8AC-4B4B8CF24E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7637CA-FA05-100D-13DB-C32F82ACC9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0600CC-BF79-1BBB-9A58-AA24330E8D8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Specifying the network plugin the AKS cluster will use can </a:t>
            </a:r>
            <a:r>
              <a:rPr lang="en-GB" sz="1200" b="1" u="sng" dirty="0"/>
              <a:t>only be done when the cluster is created</a:t>
            </a:r>
            <a:r>
              <a:rPr lang="en-GB" sz="1200" dirty="0"/>
              <a:t> and cannot be changed afterwards.</a:t>
            </a:r>
          </a:p>
          <a:p>
            <a:endParaRPr lang="en-NL" dirty="0"/>
          </a:p>
        </p:txBody>
      </p:sp>
      <p:sp>
        <p:nvSpPr>
          <p:cNvPr id="4" name="Slide Number Placeholder 3">
            <a:extLst>
              <a:ext uri="{FF2B5EF4-FFF2-40B4-BE49-F238E27FC236}">
                <a16:creationId xmlns:a16="http://schemas.microsoft.com/office/drawing/2014/main" id="{4E1CE88E-C8A7-C873-17CB-82AB70CD64FA}"/>
              </a:ext>
            </a:extLst>
          </p:cNvPr>
          <p:cNvSpPr>
            <a:spLocks noGrp="1"/>
          </p:cNvSpPr>
          <p:nvPr>
            <p:ph type="sldNum" sz="quarter" idx="5"/>
          </p:nvPr>
        </p:nvSpPr>
        <p:spPr/>
        <p:txBody>
          <a:bodyPr/>
          <a:lstStyle/>
          <a:p>
            <a:fld id="{1D09229F-6F41-4CC3-A51C-EB832A3392C5}" type="slidenum">
              <a:rPr lang="en-US" smtClean="0"/>
              <a:t>26</a:t>
            </a:fld>
            <a:endParaRPr lang="en-US"/>
          </a:p>
        </p:txBody>
      </p:sp>
    </p:spTree>
    <p:extLst>
      <p:ext uri="{BB962C8B-B14F-4D97-AF65-F5344CB8AC3E}">
        <p14:creationId xmlns:p14="http://schemas.microsoft.com/office/powerpoint/2010/main" val="5303781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5115C-A779-6204-A3FB-B687E058F6B5}"/>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599CA2F0-33E9-FACB-F8D2-07ACAADFA652}"/>
              </a:ext>
            </a:extLst>
          </p:cNvPr>
          <p:cNvSpPr>
            <a:spLocks noGrp="1"/>
          </p:cNvSpPr>
          <p:nvPr>
            <p:ph type="body" idx="1"/>
          </p:nvPr>
        </p:nvSpPr>
        <p:spPr>
          <a:xfrm>
            <a:off x="685800" y="3347864"/>
            <a:ext cx="5486400" cy="5643736"/>
          </a:xfrm>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solidFill>
                  <a:srgbClr val="171717"/>
                </a:solidFill>
                <a:latin typeface="Segoe UI" panose="020B0502040204020203" pitchFamily="34" charset="0"/>
              </a:rPr>
              <a:t>Changing outbound type of an existing cluster is supported for </a:t>
            </a:r>
            <a:r>
              <a:rPr lang="en-US" sz="1200" dirty="0">
                <a:solidFill>
                  <a:srgbClr val="171717"/>
                </a:solidFill>
                <a:latin typeface="Segoe UI" panose="020B0502040204020203" pitchFamily="34" charset="0"/>
                <a:hlinkClick r:id="rId3"/>
              </a:rPr>
              <a:t>some scenarios</a:t>
            </a:r>
            <a:r>
              <a:rPr lang="en-US" sz="1200" dirty="0">
                <a:solidFill>
                  <a:srgbClr val="171717"/>
                </a:solidFill>
                <a:latin typeface="Segoe UI" panose="020B0502040204020203" pitchFamily="34" charset="0"/>
              </a:rPr>
              <a:t>. </a:t>
            </a:r>
            <a:endParaRPr lang="en-US" sz="1200" dirty="0"/>
          </a:p>
          <a:p>
            <a:pPr marL="0" indent="0">
              <a:buFont typeface="Arial" panose="020B0604020202020204" pitchFamily="34" charset="0"/>
              <a:buNone/>
            </a:pPr>
            <a:endParaRPr lang="en-US" dirty="0"/>
          </a:p>
        </p:txBody>
      </p:sp>
      <p:sp>
        <p:nvSpPr>
          <p:cNvPr id="4" name="Slide Number Placeholder 3">
            <a:extLst>
              <a:ext uri="{FF2B5EF4-FFF2-40B4-BE49-F238E27FC236}">
                <a16:creationId xmlns:a16="http://schemas.microsoft.com/office/drawing/2014/main" id="{42DA5F91-1D29-D029-405B-938AF9B5050A}"/>
              </a:ext>
            </a:extLst>
          </p:cNvPr>
          <p:cNvSpPr>
            <a:spLocks noGrp="1"/>
          </p:cNvSpPr>
          <p:nvPr>
            <p:ph type="sldNum" sz="quarter" idx="10"/>
          </p:nvPr>
        </p:nvSpPr>
        <p:spPr>
          <a:xfrm>
            <a:off x="3884613" y="8685213"/>
            <a:ext cx="2971800" cy="45878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3EBD503-35D4-44A8-8587-AEC2C404BB90}" type="slidenum">
              <a:rPr kumimoji="0" lang="en-US" sz="1800" b="0" i="0" u="none" strike="noStrike" kern="0" cap="none" spc="0" normalizeH="0" baseline="0" noProof="0">
                <a:ln>
                  <a:noFill/>
                </a:ln>
                <a:solidFill>
                  <a:sysClr val="windowText" lastClr="000000"/>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7" name="Slide Image Placeholder 6">
            <a:extLst>
              <a:ext uri="{FF2B5EF4-FFF2-40B4-BE49-F238E27FC236}">
                <a16:creationId xmlns:a16="http://schemas.microsoft.com/office/drawing/2014/main" id="{30236379-0239-E5E8-85C0-950AB30DABE7}"/>
              </a:ext>
            </a:extLst>
          </p:cNvPr>
          <p:cNvSpPr>
            <a:spLocks noGrp="1" noRot="1" noChangeAspect="1"/>
          </p:cNvSpPr>
          <p:nvPr>
            <p:ph type="sldImg"/>
          </p:nvPr>
        </p:nvSpPr>
        <p:spPr>
          <a:xfrm>
            <a:off x="685800" y="25400"/>
            <a:ext cx="5486400" cy="3086100"/>
          </a:xfrm>
        </p:spPr>
      </p:sp>
      <p:sp>
        <p:nvSpPr>
          <p:cNvPr id="5" name="Footer Placeholder 4">
            <a:extLst>
              <a:ext uri="{FF2B5EF4-FFF2-40B4-BE49-F238E27FC236}">
                <a16:creationId xmlns:a16="http://schemas.microsoft.com/office/drawing/2014/main" id="{53918F46-7D44-5FC0-B293-4B5AB891E007}"/>
              </a:ext>
            </a:extLst>
          </p:cNvPr>
          <p:cNvSpPr>
            <a:spLocks noGrp="1"/>
          </p:cNvSpPr>
          <p:nvPr>
            <p:ph type="ftr" sz="quarter" idx="4"/>
          </p:nvPr>
        </p:nvSpPr>
        <p:spPr>
          <a:xfrm>
            <a:off x="-1" y="8685213"/>
            <a:ext cx="6342927" cy="45878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ysClr val="windowText" lastClr="000000"/>
                </a:solidFill>
                <a:effectLst/>
                <a:uLnTx/>
                <a:uFillTx/>
                <a:latin typeface="Calibri"/>
                <a:ea typeface="+mn-ea"/>
                <a:cs typeface="+mn-cs"/>
              </a:rPr>
              <a:t>© 2013 Microsoft Corporation    	Microsoft Confidential</a:t>
            </a:r>
          </a:p>
        </p:txBody>
      </p:sp>
    </p:spTree>
    <p:extLst>
      <p:ext uri="{BB962C8B-B14F-4D97-AF65-F5344CB8AC3E}">
        <p14:creationId xmlns:p14="http://schemas.microsoft.com/office/powerpoint/2010/main" val="1848566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1246B-133D-4AFF-5A4B-560D3C586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2D2B1B-96F5-7D40-9805-E94DE216FA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4B681C-7E4D-3B66-EF01-723C64AF6C7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Specifying the network plugin the AKS cluster will use can </a:t>
            </a:r>
            <a:r>
              <a:rPr lang="en-GB" sz="1200" b="1" u="sng" dirty="0"/>
              <a:t>only be done when the cluster is created</a:t>
            </a:r>
            <a:r>
              <a:rPr lang="en-GB" sz="1200" dirty="0"/>
              <a:t> and cannot be changed afterwards.</a:t>
            </a:r>
          </a:p>
          <a:p>
            <a:endParaRPr lang="en-NL" dirty="0"/>
          </a:p>
        </p:txBody>
      </p:sp>
      <p:sp>
        <p:nvSpPr>
          <p:cNvPr id="4" name="Slide Number Placeholder 3">
            <a:extLst>
              <a:ext uri="{FF2B5EF4-FFF2-40B4-BE49-F238E27FC236}">
                <a16:creationId xmlns:a16="http://schemas.microsoft.com/office/drawing/2014/main" id="{E8248E3B-81B6-8AA9-64F3-A4FBAD79BB81}"/>
              </a:ext>
            </a:extLst>
          </p:cNvPr>
          <p:cNvSpPr>
            <a:spLocks noGrp="1"/>
          </p:cNvSpPr>
          <p:nvPr>
            <p:ph type="sldNum" sz="quarter" idx="5"/>
          </p:nvPr>
        </p:nvSpPr>
        <p:spPr/>
        <p:txBody>
          <a:bodyPr/>
          <a:lstStyle/>
          <a:p>
            <a:fld id="{1D09229F-6F41-4CC3-A51C-EB832A3392C5}" type="slidenum">
              <a:rPr lang="en-US" smtClean="0"/>
              <a:t>29</a:t>
            </a:fld>
            <a:endParaRPr lang="en-US"/>
          </a:p>
        </p:txBody>
      </p:sp>
    </p:spTree>
    <p:extLst>
      <p:ext uri="{BB962C8B-B14F-4D97-AF65-F5344CB8AC3E}">
        <p14:creationId xmlns:p14="http://schemas.microsoft.com/office/powerpoint/2010/main" val="1354219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1D6D0-EFE6-CB06-6164-7F3C4EC8526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AEECE2D-C3DA-6B7C-6A37-B268BA85BC22}"/>
              </a:ext>
            </a:extLst>
          </p:cNvPr>
          <p:cNvSpPr>
            <a:spLocks noGrp="1"/>
          </p:cNvSpPr>
          <p:nvPr>
            <p:ph type="sldNum" sz="quarter" idx="10"/>
          </p:nvPr>
        </p:nvSpPr>
        <p:spPr/>
        <p:txBody>
          <a:bodyPr/>
          <a:lstStyle/>
          <a:p>
            <a:fld id="{F475C4C8-7DEA-455A-9336-A4C7DB3AE516}" type="slidenum">
              <a:rPr lang="en-US" smtClean="0"/>
              <a:pPr/>
              <a:t>30</a:t>
            </a:fld>
            <a:endParaRPr lang="en-US"/>
          </a:p>
        </p:txBody>
      </p:sp>
      <p:sp>
        <p:nvSpPr>
          <p:cNvPr id="6" name="Date Placeholder 5">
            <a:extLst>
              <a:ext uri="{FF2B5EF4-FFF2-40B4-BE49-F238E27FC236}">
                <a16:creationId xmlns:a16="http://schemas.microsoft.com/office/drawing/2014/main" id="{1BDEC835-00A8-E82D-B39D-C052E70C834A}"/>
              </a:ext>
            </a:extLst>
          </p:cNvPr>
          <p:cNvSpPr>
            <a:spLocks noGrp="1"/>
          </p:cNvSpPr>
          <p:nvPr>
            <p:ph type="dt" idx="12"/>
          </p:nvPr>
        </p:nvSpPr>
        <p:spPr/>
        <p:txBody>
          <a:bodyPr/>
          <a:lstStyle/>
          <a:p>
            <a:fld id="{997C9337-20C5-41EF-80F6-63D1F94ABC0C}" type="datetime1">
              <a:rPr lang="en-US" smtClean="0"/>
              <a:t>7/30/2026</a:t>
            </a:fld>
            <a:endParaRPr lang="en-US"/>
          </a:p>
        </p:txBody>
      </p:sp>
      <p:sp>
        <p:nvSpPr>
          <p:cNvPr id="10" name="Slide Image Placeholder 9">
            <a:extLst>
              <a:ext uri="{FF2B5EF4-FFF2-40B4-BE49-F238E27FC236}">
                <a16:creationId xmlns:a16="http://schemas.microsoft.com/office/drawing/2014/main" id="{146B83FF-C530-9D72-B362-51EC89F0DA82}"/>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41ECEF25-2F4F-F2CA-2F0F-921951FE45ED}"/>
              </a:ext>
            </a:extLst>
          </p:cNvPr>
          <p:cNvSpPr>
            <a:spLocks noGrp="1"/>
          </p:cNvSpPr>
          <p:nvPr>
            <p:ph type="body" idx="1"/>
          </p:nvPr>
        </p:nvSpPr>
        <p:spPr>
          <a:xfrm>
            <a:off x="685800" y="4400550"/>
            <a:ext cx="5486400" cy="3600450"/>
          </a:xfrm>
          <a:prstGeom prst="rect">
            <a:avLst/>
          </a:prstGeom>
        </p:spPr>
        <p:txBody>
          <a:bodyPr/>
          <a:lstStyle/>
          <a:p>
            <a:pPr lvl="0" defTabSz="914460">
              <a:lnSpc>
                <a:spcPct val="90000"/>
              </a:lnSpc>
              <a:spcAft>
                <a:spcPts val="333"/>
              </a:spcAft>
              <a:defRPr/>
            </a:pPr>
            <a:r>
              <a:rPr lang="en-US" sz="882" noProof="1">
                <a:solidFill>
                  <a:prstClr val="black"/>
                </a:solidFill>
                <a:latin typeface="Segoe UI Light" pitchFamily="34" charset="0"/>
              </a:rPr>
              <a:t>Consider demoing the following:</a:t>
            </a:r>
          </a:p>
          <a:p>
            <a:pPr lvl="0" defTabSz="914460">
              <a:lnSpc>
                <a:spcPct val="90000"/>
              </a:lnSpc>
              <a:spcAft>
                <a:spcPts val="333"/>
              </a:spcAft>
              <a:defRPr/>
            </a:pPr>
            <a:endParaRPr lang="en-US" sz="882" noProof="1">
              <a:solidFill>
                <a:prstClr val="black"/>
              </a:solidFill>
              <a:latin typeface="Segoe UI Light" pitchFamily="34" charset="0"/>
            </a:endParaRPr>
          </a:p>
          <a:p>
            <a:pPr lvl="0" defTabSz="914460">
              <a:lnSpc>
                <a:spcPct val="90000"/>
              </a:lnSpc>
              <a:spcAft>
                <a:spcPts val="333"/>
              </a:spcAft>
              <a:defRPr/>
            </a:pPr>
            <a:endParaRPr lang="en-US" sz="882" noProof="1">
              <a:solidFill>
                <a:prstClr val="black"/>
              </a:solidFill>
              <a:latin typeface="Segoe UI Light" pitchFamily="34" charset="0"/>
            </a:endParaRPr>
          </a:p>
          <a:p>
            <a:pPr lvl="0" defTabSz="914460">
              <a:lnSpc>
                <a:spcPct val="90000"/>
              </a:lnSpc>
              <a:spcAft>
                <a:spcPts val="333"/>
              </a:spcAft>
              <a:defRPr/>
            </a:pPr>
            <a:endParaRPr lang="en-US" sz="882" noProof="1">
              <a:solidFill>
                <a:prstClr val="black"/>
              </a:solidFill>
              <a:latin typeface="Segoe UI Light" pitchFamily="34" charset="0"/>
            </a:endParaRPr>
          </a:p>
          <a:p>
            <a:pPr lvl="0" defTabSz="914460">
              <a:lnSpc>
                <a:spcPct val="90000"/>
              </a:lnSpc>
              <a:spcAft>
                <a:spcPts val="333"/>
              </a:spcAft>
              <a:defRPr/>
            </a:pPr>
            <a:r>
              <a:rPr lang="en-US" sz="882" noProof="1">
                <a:solidFill>
                  <a:prstClr val="black"/>
                </a:solidFill>
                <a:latin typeface="Segoe UI Light" pitchFamily="34" charset="0"/>
              </a:rPr>
              <a:t>Display Grafana dashboards from the Azure Portal.</a:t>
            </a:r>
          </a:p>
          <a:p>
            <a:pPr lvl="0" defTabSz="914460">
              <a:lnSpc>
                <a:spcPct val="90000"/>
              </a:lnSpc>
              <a:spcAft>
                <a:spcPts val="333"/>
              </a:spcAft>
              <a:defRPr/>
            </a:pPr>
            <a:r>
              <a:rPr lang="en-US" sz="900" dirty="0">
                <a:hlinkClick r:id="rId3"/>
              </a:rPr>
              <a:t>Container Network Logs with Advanced Container Networking Services - Azure Kubernetes Service | Microsoft Learn</a:t>
            </a:r>
            <a:endParaRPr lang="en-US" sz="882" b="1" dirty="0">
              <a:solidFill>
                <a:prstClr val="black"/>
              </a:solidFill>
              <a:latin typeface="Segoe UI Light" pitchFamily="34" charset="0"/>
            </a:endParaRPr>
          </a:p>
          <a:p>
            <a:pPr marL="384454" lvl="1" indent="-171450">
              <a:buFont typeface="Arial" panose="020B0604020202020204" pitchFamily="34" charset="0"/>
              <a:buChar char="•"/>
              <a:defRPr/>
            </a:pPr>
            <a:endParaRPr lang="en-US" sz="882" dirty="0">
              <a:solidFill>
                <a:prstClr val="black"/>
              </a:solidFill>
              <a:latin typeface="Segoe UI Light" pitchFamily="34" charset="0"/>
            </a:endParaRPr>
          </a:p>
          <a:p>
            <a:pPr lvl="0" defTabSz="914460">
              <a:lnSpc>
                <a:spcPct val="90000"/>
              </a:lnSpc>
              <a:spcAft>
                <a:spcPts val="333"/>
              </a:spcAft>
            </a:pPr>
            <a:endParaRPr lang="en-US" sz="882" dirty="0">
              <a:solidFill>
                <a:prstClr val="black"/>
              </a:solidFill>
              <a:latin typeface="Segoe UI Light" pitchFamily="34" charset="0"/>
            </a:endParaRPr>
          </a:p>
        </p:txBody>
      </p:sp>
      <p:sp>
        <p:nvSpPr>
          <p:cNvPr id="2" name="Header Placeholder 1">
            <a:extLst>
              <a:ext uri="{FF2B5EF4-FFF2-40B4-BE49-F238E27FC236}">
                <a16:creationId xmlns:a16="http://schemas.microsoft.com/office/drawing/2014/main" id="{72267B5C-1878-722E-103B-8D164F940BB2}"/>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00166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69956-7E8F-C9C9-5A73-28C090F9288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34C08B-992D-1D69-B047-666C2A5E3C4E}"/>
              </a:ext>
            </a:extLst>
          </p:cNvPr>
          <p:cNvSpPr>
            <a:spLocks noGrp="1"/>
          </p:cNvSpPr>
          <p:nvPr>
            <p:ph type="sldNum" sz="quarter" idx="10"/>
          </p:nvPr>
        </p:nvSpPr>
        <p:spPr/>
        <p:txBody>
          <a:bodyPr/>
          <a:lstStyle/>
          <a:p>
            <a:fld id="{F475C4C8-7DEA-455A-9336-A4C7DB3AE516}" type="slidenum">
              <a:rPr lang="en-US"/>
              <a:pPr/>
              <a:t>31</a:t>
            </a:fld>
            <a:endParaRPr lang="en-US"/>
          </a:p>
        </p:txBody>
      </p:sp>
      <p:sp>
        <p:nvSpPr>
          <p:cNvPr id="3" name="Date Placeholder 2">
            <a:extLst>
              <a:ext uri="{FF2B5EF4-FFF2-40B4-BE49-F238E27FC236}">
                <a16:creationId xmlns:a16="http://schemas.microsoft.com/office/drawing/2014/main" id="{2C40E896-19B8-DEFD-8719-11918FCE3F4F}"/>
              </a:ext>
            </a:extLst>
          </p:cNvPr>
          <p:cNvSpPr>
            <a:spLocks noGrp="1"/>
          </p:cNvSpPr>
          <p:nvPr>
            <p:ph type="dt" idx="12"/>
          </p:nvPr>
        </p:nvSpPr>
        <p:spPr/>
        <p:txBody>
          <a:bodyPr/>
          <a:lstStyle/>
          <a:p>
            <a:fld id="{98343A3E-C65B-474B-B284-72A2415C99C0}" type="datetime1">
              <a:rPr lang="en-US"/>
              <a:t>7/30/2026</a:t>
            </a:fld>
            <a:endParaRPr lang="en-US"/>
          </a:p>
        </p:txBody>
      </p:sp>
      <p:sp>
        <p:nvSpPr>
          <p:cNvPr id="10" name="Slide Image Placeholder 9">
            <a:extLst>
              <a:ext uri="{FF2B5EF4-FFF2-40B4-BE49-F238E27FC236}">
                <a16:creationId xmlns:a16="http://schemas.microsoft.com/office/drawing/2014/main" id="{CCBB9C99-5085-2C67-15EA-B8EBEC15FDDC}"/>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72F86D14-7B93-3572-5083-436D49ED71D1}"/>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691E6401-941A-C1A2-BBE9-1ABACBE241EA}"/>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0793079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C8724-141D-60C2-05AA-DB043B822F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0AC07A-D32C-D5C5-001C-9576CBE353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051D08-A39F-FA97-1CA6-6E27C079DF0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Source: </a:t>
            </a:r>
            <a:r>
              <a:rPr lang="en-US" dirty="0">
                <a:hlinkClick r:id="rId3"/>
              </a:rPr>
              <a:t>Understanding </a:t>
            </a:r>
            <a:r>
              <a:rPr lang="en-US" dirty="0" err="1">
                <a:hlinkClick r:id="rId3"/>
              </a:rPr>
              <a:t>eBPF</a:t>
            </a:r>
            <a:r>
              <a:rPr lang="en-US" dirty="0">
                <a:hlinkClick r:id="rId3"/>
              </a:rPr>
              <a:t> and Its Application in Modern Cloud Environments 🚀 - DEV Community</a:t>
            </a:r>
            <a:endParaRPr lang="en-GB" sz="1200" dirty="0"/>
          </a:p>
          <a:p>
            <a:endParaRPr lang="en-NL" dirty="0"/>
          </a:p>
        </p:txBody>
      </p:sp>
      <p:sp>
        <p:nvSpPr>
          <p:cNvPr id="4" name="Slide Number Placeholder 3">
            <a:extLst>
              <a:ext uri="{FF2B5EF4-FFF2-40B4-BE49-F238E27FC236}">
                <a16:creationId xmlns:a16="http://schemas.microsoft.com/office/drawing/2014/main" id="{A635039F-4E24-CCCE-BED0-CDF93896CDD5}"/>
              </a:ext>
            </a:extLst>
          </p:cNvPr>
          <p:cNvSpPr>
            <a:spLocks noGrp="1"/>
          </p:cNvSpPr>
          <p:nvPr>
            <p:ph type="sldNum" sz="quarter" idx="5"/>
          </p:nvPr>
        </p:nvSpPr>
        <p:spPr/>
        <p:txBody>
          <a:bodyPr/>
          <a:lstStyle/>
          <a:p>
            <a:fld id="{1D09229F-6F41-4CC3-A51C-EB832A3392C5}" type="slidenum">
              <a:rPr lang="en-US" smtClean="0"/>
              <a:t>32</a:t>
            </a:fld>
            <a:endParaRPr lang="en-US"/>
          </a:p>
        </p:txBody>
      </p:sp>
    </p:spTree>
    <p:extLst>
      <p:ext uri="{BB962C8B-B14F-4D97-AF65-F5344CB8AC3E}">
        <p14:creationId xmlns:p14="http://schemas.microsoft.com/office/powerpoint/2010/main" val="37683889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28B5E-4284-9E1F-0043-7B27A9DA67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EB0473-3786-AC63-44B0-35403F0510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A19926-3128-19E1-47EF-3B04C33D451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Specifying the network plugin the AKS cluster will use can </a:t>
            </a:r>
            <a:r>
              <a:rPr lang="en-GB" sz="1200" b="1" u="sng" dirty="0"/>
              <a:t>only be done when the cluster is created</a:t>
            </a:r>
            <a:r>
              <a:rPr lang="en-GB" sz="1200" dirty="0"/>
              <a:t> and cannot be changed afterwards.</a:t>
            </a:r>
          </a:p>
          <a:p>
            <a:endParaRPr lang="en-NL" dirty="0"/>
          </a:p>
        </p:txBody>
      </p:sp>
      <p:sp>
        <p:nvSpPr>
          <p:cNvPr id="4" name="Slide Number Placeholder 3">
            <a:extLst>
              <a:ext uri="{FF2B5EF4-FFF2-40B4-BE49-F238E27FC236}">
                <a16:creationId xmlns:a16="http://schemas.microsoft.com/office/drawing/2014/main" id="{8EDFCD03-1EEE-5693-84FC-388DDB97F6E7}"/>
              </a:ext>
            </a:extLst>
          </p:cNvPr>
          <p:cNvSpPr>
            <a:spLocks noGrp="1"/>
          </p:cNvSpPr>
          <p:nvPr>
            <p:ph type="sldNum" sz="quarter" idx="5"/>
          </p:nvPr>
        </p:nvSpPr>
        <p:spPr/>
        <p:txBody>
          <a:bodyPr/>
          <a:lstStyle/>
          <a:p>
            <a:fld id="{1D09229F-6F41-4CC3-A51C-EB832A3392C5}" type="slidenum">
              <a:rPr lang="en-US" smtClean="0"/>
              <a:t>33</a:t>
            </a:fld>
            <a:endParaRPr lang="en-US"/>
          </a:p>
        </p:txBody>
      </p:sp>
    </p:spTree>
    <p:extLst>
      <p:ext uri="{BB962C8B-B14F-4D97-AF65-F5344CB8AC3E}">
        <p14:creationId xmlns:p14="http://schemas.microsoft.com/office/powerpoint/2010/main" val="27273075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DDD62-D953-4670-433C-7A0D8DFEB8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E8420A-D827-303A-9322-DD9429FAE3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863C18-1778-8F29-D64E-F856D967F9D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Specifying the network plugin the AKS cluster will use can </a:t>
            </a:r>
            <a:r>
              <a:rPr lang="en-GB" sz="1200" b="1" u="sng" dirty="0"/>
              <a:t>only be done when the cluster is created</a:t>
            </a:r>
            <a:r>
              <a:rPr lang="en-GB" sz="1200" dirty="0"/>
              <a:t> and cannot be changed afterwards.</a:t>
            </a:r>
          </a:p>
          <a:p>
            <a:endParaRPr lang="en-NL" dirty="0"/>
          </a:p>
        </p:txBody>
      </p:sp>
      <p:sp>
        <p:nvSpPr>
          <p:cNvPr id="4" name="Slide Number Placeholder 3">
            <a:extLst>
              <a:ext uri="{FF2B5EF4-FFF2-40B4-BE49-F238E27FC236}">
                <a16:creationId xmlns:a16="http://schemas.microsoft.com/office/drawing/2014/main" id="{60C453C3-894C-8506-618F-EA71F436B849}"/>
              </a:ext>
            </a:extLst>
          </p:cNvPr>
          <p:cNvSpPr>
            <a:spLocks noGrp="1"/>
          </p:cNvSpPr>
          <p:nvPr>
            <p:ph type="sldNum" sz="quarter" idx="5"/>
          </p:nvPr>
        </p:nvSpPr>
        <p:spPr/>
        <p:txBody>
          <a:bodyPr/>
          <a:lstStyle/>
          <a:p>
            <a:fld id="{1D09229F-6F41-4CC3-A51C-EB832A3392C5}" type="slidenum">
              <a:rPr lang="en-US" smtClean="0"/>
              <a:t>34</a:t>
            </a:fld>
            <a:endParaRPr lang="en-US"/>
          </a:p>
        </p:txBody>
      </p:sp>
    </p:spTree>
    <p:extLst>
      <p:ext uri="{BB962C8B-B14F-4D97-AF65-F5344CB8AC3E}">
        <p14:creationId xmlns:p14="http://schemas.microsoft.com/office/powerpoint/2010/main" val="24193821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79F40-2407-5610-D555-389D9B82F9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C24B93-33A3-E99C-66A9-9680EB7DAE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333185-F2F6-C610-E5A0-3D2F9DB4B1F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Specifying the network plugin the AKS cluster will use can </a:t>
            </a:r>
            <a:r>
              <a:rPr lang="en-GB" sz="1200" b="1" u="sng" dirty="0"/>
              <a:t>only be done when the cluster is created</a:t>
            </a:r>
            <a:r>
              <a:rPr lang="en-GB" sz="1200" dirty="0"/>
              <a:t> and cannot be changed afterwards.</a:t>
            </a:r>
          </a:p>
          <a:p>
            <a:endParaRPr lang="en-NL" dirty="0"/>
          </a:p>
        </p:txBody>
      </p:sp>
      <p:sp>
        <p:nvSpPr>
          <p:cNvPr id="4" name="Slide Number Placeholder 3">
            <a:extLst>
              <a:ext uri="{FF2B5EF4-FFF2-40B4-BE49-F238E27FC236}">
                <a16:creationId xmlns:a16="http://schemas.microsoft.com/office/drawing/2014/main" id="{F6BDEDAB-958D-B845-EF94-DE7216A5B61F}"/>
              </a:ext>
            </a:extLst>
          </p:cNvPr>
          <p:cNvSpPr>
            <a:spLocks noGrp="1"/>
          </p:cNvSpPr>
          <p:nvPr>
            <p:ph type="sldNum" sz="quarter" idx="5"/>
          </p:nvPr>
        </p:nvSpPr>
        <p:spPr/>
        <p:txBody>
          <a:bodyPr/>
          <a:lstStyle/>
          <a:p>
            <a:fld id="{1D09229F-6F41-4CC3-A51C-EB832A3392C5}" type="slidenum">
              <a:rPr lang="en-US" smtClean="0"/>
              <a:t>35</a:t>
            </a:fld>
            <a:endParaRPr lang="en-US"/>
          </a:p>
        </p:txBody>
      </p:sp>
    </p:spTree>
    <p:extLst>
      <p:ext uri="{BB962C8B-B14F-4D97-AF65-F5344CB8AC3E}">
        <p14:creationId xmlns:p14="http://schemas.microsoft.com/office/powerpoint/2010/main" val="40147019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2B966-8B7A-F39D-BB73-D701F68360C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0571D66-DC5E-76DC-CAFC-5A147AB13092}"/>
              </a:ext>
            </a:extLst>
          </p:cNvPr>
          <p:cNvSpPr>
            <a:spLocks noGrp="1"/>
          </p:cNvSpPr>
          <p:nvPr>
            <p:ph type="sldNum" sz="quarter" idx="10"/>
          </p:nvPr>
        </p:nvSpPr>
        <p:spPr/>
        <p:txBody>
          <a:bodyPr/>
          <a:lstStyle/>
          <a:p>
            <a:fld id="{F475C4C8-7DEA-455A-9336-A4C7DB3AE516}" type="slidenum">
              <a:rPr lang="en-US" smtClean="0"/>
              <a:pPr/>
              <a:t>36</a:t>
            </a:fld>
            <a:endParaRPr lang="en-US"/>
          </a:p>
        </p:txBody>
      </p:sp>
      <p:sp>
        <p:nvSpPr>
          <p:cNvPr id="6" name="Date Placeholder 5">
            <a:extLst>
              <a:ext uri="{FF2B5EF4-FFF2-40B4-BE49-F238E27FC236}">
                <a16:creationId xmlns:a16="http://schemas.microsoft.com/office/drawing/2014/main" id="{0667A3A5-8471-859A-D607-44DF3B2BEED6}"/>
              </a:ext>
            </a:extLst>
          </p:cNvPr>
          <p:cNvSpPr>
            <a:spLocks noGrp="1"/>
          </p:cNvSpPr>
          <p:nvPr>
            <p:ph type="dt" idx="12"/>
          </p:nvPr>
        </p:nvSpPr>
        <p:spPr/>
        <p:txBody>
          <a:bodyPr/>
          <a:lstStyle/>
          <a:p>
            <a:fld id="{997C9337-20C5-41EF-80F6-63D1F94ABC0C}" type="datetime1">
              <a:rPr lang="en-US" smtClean="0"/>
              <a:t>7/30/2026</a:t>
            </a:fld>
            <a:endParaRPr lang="en-US"/>
          </a:p>
        </p:txBody>
      </p:sp>
      <p:sp>
        <p:nvSpPr>
          <p:cNvPr id="10" name="Slide Image Placeholder 9">
            <a:extLst>
              <a:ext uri="{FF2B5EF4-FFF2-40B4-BE49-F238E27FC236}">
                <a16:creationId xmlns:a16="http://schemas.microsoft.com/office/drawing/2014/main" id="{6EA1044C-C4FD-6D3F-5FF6-1B8641B92B86}"/>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E9359BC0-C48C-08EC-2692-87A45ADA2315}"/>
              </a:ext>
            </a:extLst>
          </p:cNvPr>
          <p:cNvSpPr>
            <a:spLocks noGrp="1"/>
          </p:cNvSpPr>
          <p:nvPr>
            <p:ph type="body" idx="1"/>
          </p:nvPr>
        </p:nvSpPr>
        <p:spPr>
          <a:xfrm>
            <a:off x="685800" y="4400550"/>
            <a:ext cx="5486400" cy="3600450"/>
          </a:xfrm>
          <a:prstGeom prst="rect">
            <a:avLst/>
          </a:prstGeom>
        </p:spPr>
        <p:txBody>
          <a:bodyPr/>
          <a:lstStyle/>
          <a:p>
            <a:pPr lvl="0" defTabSz="914460">
              <a:lnSpc>
                <a:spcPct val="90000"/>
              </a:lnSpc>
              <a:spcAft>
                <a:spcPts val="333"/>
              </a:spcAft>
              <a:defRPr/>
            </a:pPr>
            <a:r>
              <a:rPr lang="en-US" sz="882" noProof="1">
                <a:solidFill>
                  <a:prstClr val="black"/>
                </a:solidFill>
                <a:latin typeface="Segoe UI Light" pitchFamily="34" charset="0"/>
              </a:rPr>
              <a:t>Consider demoing the following:</a:t>
            </a:r>
          </a:p>
          <a:p>
            <a:pPr lvl="0" defTabSz="914460">
              <a:lnSpc>
                <a:spcPct val="90000"/>
              </a:lnSpc>
              <a:spcAft>
                <a:spcPts val="333"/>
              </a:spcAft>
              <a:defRPr/>
            </a:pPr>
            <a:endParaRPr lang="en-US" sz="882" noProof="1">
              <a:solidFill>
                <a:prstClr val="black"/>
              </a:solidFill>
              <a:latin typeface="Segoe UI Light" pitchFamily="34" charset="0"/>
            </a:endParaRPr>
          </a:p>
          <a:p>
            <a:pPr lvl="0" defTabSz="914460">
              <a:lnSpc>
                <a:spcPct val="90000"/>
              </a:lnSpc>
              <a:spcAft>
                <a:spcPts val="333"/>
              </a:spcAft>
              <a:defRPr/>
            </a:pPr>
            <a:endParaRPr lang="en-US" sz="882" noProof="1">
              <a:solidFill>
                <a:prstClr val="black"/>
              </a:solidFill>
              <a:latin typeface="Segoe UI Light" pitchFamily="34" charset="0"/>
            </a:endParaRPr>
          </a:p>
          <a:p>
            <a:pPr lvl="0" defTabSz="914460">
              <a:lnSpc>
                <a:spcPct val="90000"/>
              </a:lnSpc>
              <a:spcAft>
                <a:spcPts val="333"/>
              </a:spcAft>
              <a:defRPr/>
            </a:pPr>
            <a:endParaRPr lang="en-US" sz="882" noProof="1">
              <a:solidFill>
                <a:prstClr val="black"/>
              </a:solidFill>
              <a:latin typeface="Segoe UI Light" pitchFamily="34" charset="0"/>
            </a:endParaRPr>
          </a:p>
          <a:p>
            <a:pPr lvl="0" defTabSz="914460">
              <a:lnSpc>
                <a:spcPct val="90000"/>
              </a:lnSpc>
              <a:spcAft>
                <a:spcPts val="333"/>
              </a:spcAft>
              <a:defRPr/>
            </a:pPr>
            <a:endParaRPr lang="en-US" sz="882" noProof="1">
              <a:solidFill>
                <a:prstClr val="black"/>
              </a:solidFill>
              <a:latin typeface="Segoe UI Light" pitchFamily="34" charset="0"/>
            </a:endParaRPr>
          </a:p>
          <a:p>
            <a:pPr lvl="0" defTabSz="914460">
              <a:lnSpc>
                <a:spcPct val="90000"/>
              </a:lnSpc>
              <a:spcAft>
                <a:spcPts val="333"/>
              </a:spcAft>
              <a:defRPr/>
            </a:pPr>
            <a:endParaRPr lang="en-US" sz="882" noProof="1">
              <a:solidFill>
                <a:prstClr val="black"/>
              </a:solidFill>
              <a:latin typeface="Segoe UI Light" pitchFamily="34" charset="0"/>
            </a:endParaRPr>
          </a:p>
          <a:p>
            <a:pPr lvl="0" defTabSz="914460">
              <a:lnSpc>
                <a:spcPct val="90000"/>
              </a:lnSpc>
              <a:spcAft>
                <a:spcPts val="333"/>
              </a:spcAft>
              <a:defRPr/>
            </a:pPr>
            <a:r>
              <a:rPr lang="en-US" sz="882" noProof="1">
                <a:solidFill>
                  <a:prstClr val="black"/>
                </a:solidFill>
                <a:latin typeface="Segoe UI Light" pitchFamily="34" charset="0"/>
              </a:rPr>
              <a:t>Display Grafana dashboards from the Azure Portal.</a:t>
            </a:r>
          </a:p>
          <a:p>
            <a:pPr lvl="0" defTabSz="914460">
              <a:lnSpc>
                <a:spcPct val="90000"/>
              </a:lnSpc>
              <a:spcAft>
                <a:spcPts val="333"/>
              </a:spcAft>
              <a:defRPr/>
            </a:pPr>
            <a:r>
              <a:rPr lang="en-US" sz="900" dirty="0">
                <a:hlinkClick r:id="rId3"/>
              </a:rPr>
              <a:t>Container Network Logs with Advanced Container Networking Services - Azure Kubernetes Service | Microsoft Learn</a:t>
            </a:r>
            <a:endParaRPr lang="en-US" sz="900" dirty="0"/>
          </a:p>
          <a:p>
            <a:pPr lvl="0" defTabSz="914460">
              <a:lnSpc>
                <a:spcPct val="90000"/>
              </a:lnSpc>
              <a:spcAft>
                <a:spcPts val="333"/>
              </a:spcAft>
              <a:defRPr/>
            </a:pPr>
            <a:endParaRPr lang="en-US" sz="900" b="1" dirty="0">
              <a:solidFill>
                <a:prstClr val="black"/>
              </a:solidFill>
              <a:latin typeface="Segoe UI Light" pitchFamily="34" charset="0"/>
            </a:endParaRPr>
          </a:p>
          <a:p>
            <a:pPr lvl="0" defTabSz="914460">
              <a:lnSpc>
                <a:spcPct val="90000"/>
              </a:lnSpc>
              <a:spcAft>
                <a:spcPts val="333"/>
              </a:spcAft>
              <a:defRPr/>
            </a:pPr>
            <a:endParaRPr lang="en-US" sz="900" b="1" dirty="0">
              <a:solidFill>
                <a:prstClr val="black"/>
              </a:solidFill>
              <a:latin typeface="Segoe UI Light" pitchFamily="34" charset="0"/>
            </a:endParaRPr>
          </a:p>
          <a:p>
            <a:pPr lvl="0" defTabSz="914460">
              <a:lnSpc>
                <a:spcPct val="90000"/>
              </a:lnSpc>
              <a:spcAft>
                <a:spcPts val="333"/>
              </a:spcAft>
              <a:defRPr/>
            </a:pPr>
            <a:r>
              <a:rPr lang="en-US" sz="900" b="1" dirty="0">
                <a:solidFill>
                  <a:prstClr val="black"/>
                </a:solidFill>
                <a:latin typeface="Segoe UI Light" pitchFamily="34" charset="0"/>
              </a:rPr>
              <a:t>Enabling ACNS on existing cluster:</a:t>
            </a:r>
          </a:p>
          <a:p>
            <a:pPr lvl="0" defTabSz="914460">
              <a:lnSpc>
                <a:spcPct val="90000"/>
              </a:lnSpc>
              <a:spcAft>
                <a:spcPts val="333"/>
              </a:spcAft>
              <a:defRPr/>
            </a:pPr>
            <a:endParaRPr lang="en-US" sz="900" b="1" dirty="0">
              <a:solidFill>
                <a:prstClr val="black"/>
              </a:solidFill>
              <a:latin typeface="Segoe UI Light" pitchFamily="34" charset="0"/>
            </a:endParaRPr>
          </a:p>
          <a:p>
            <a:pPr lvl="0" defTabSz="914460">
              <a:lnSpc>
                <a:spcPct val="90000"/>
              </a:lnSpc>
              <a:spcAft>
                <a:spcPts val="333"/>
              </a:spcAft>
              <a:defRPr/>
            </a:pPr>
            <a:endParaRPr lang="en-US" sz="900" b="1" dirty="0">
              <a:solidFill>
                <a:prstClr val="black"/>
              </a:solidFill>
              <a:latin typeface="Segoe UI Light" pitchFamily="34" charset="0"/>
            </a:endParaRPr>
          </a:p>
          <a:p>
            <a:pPr lvl="0" defTabSz="914460">
              <a:lnSpc>
                <a:spcPct val="90000"/>
              </a:lnSpc>
              <a:spcAft>
                <a:spcPts val="333"/>
              </a:spcAft>
              <a:defRPr/>
            </a:pPr>
            <a:r>
              <a:rPr lang="en-US" sz="882" b="1" dirty="0">
                <a:solidFill>
                  <a:prstClr val="black"/>
                </a:solidFill>
                <a:latin typeface="Segoe UI Light" pitchFamily="34" charset="0"/>
              </a:rPr>
              <a:t># Install the </a:t>
            </a:r>
            <a:r>
              <a:rPr lang="en-US" sz="882" b="1" dirty="0" err="1">
                <a:solidFill>
                  <a:prstClr val="black"/>
                </a:solidFill>
                <a:latin typeface="Segoe UI Light" pitchFamily="34" charset="0"/>
              </a:rPr>
              <a:t>aks</a:t>
            </a:r>
            <a:r>
              <a:rPr lang="en-US" sz="882" b="1" dirty="0">
                <a:solidFill>
                  <a:prstClr val="black"/>
                </a:solidFill>
                <a:latin typeface="Segoe UI Light" pitchFamily="34" charset="0"/>
              </a:rPr>
              <a:t>-preview extension</a:t>
            </a:r>
          </a:p>
          <a:p>
            <a:pPr lvl="0" defTabSz="914460">
              <a:lnSpc>
                <a:spcPct val="90000"/>
              </a:lnSpc>
              <a:spcAft>
                <a:spcPts val="333"/>
              </a:spcAft>
              <a:defRPr/>
            </a:pPr>
            <a:r>
              <a:rPr lang="en-US" sz="882" b="1" dirty="0" err="1">
                <a:solidFill>
                  <a:prstClr val="black"/>
                </a:solidFill>
                <a:latin typeface="Segoe UI Light" pitchFamily="34" charset="0"/>
              </a:rPr>
              <a:t>az</a:t>
            </a:r>
            <a:r>
              <a:rPr lang="en-US" sz="882" b="1" dirty="0">
                <a:solidFill>
                  <a:prstClr val="black"/>
                </a:solidFill>
                <a:latin typeface="Segoe UI Light" pitchFamily="34" charset="0"/>
              </a:rPr>
              <a:t> extension add --name </a:t>
            </a:r>
            <a:r>
              <a:rPr lang="en-US" sz="882" b="1" dirty="0" err="1">
                <a:solidFill>
                  <a:prstClr val="black"/>
                </a:solidFill>
                <a:latin typeface="Segoe UI Light" pitchFamily="34" charset="0"/>
              </a:rPr>
              <a:t>aks</a:t>
            </a:r>
            <a:r>
              <a:rPr lang="en-US" sz="882" b="1" dirty="0">
                <a:solidFill>
                  <a:prstClr val="black"/>
                </a:solidFill>
                <a:latin typeface="Segoe UI Light" pitchFamily="34" charset="0"/>
              </a:rPr>
              <a:t>-preview</a:t>
            </a:r>
          </a:p>
          <a:p>
            <a:pPr lvl="0" defTabSz="914460">
              <a:lnSpc>
                <a:spcPct val="90000"/>
              </a:lnSpc>
              <a:spcAft>
                <a:spcPts val="333"/>
              </a:spcAft>
              <a:defRPr/>
            </a:pPr>
            <a:r>
              <a:rPr lang="en-US" sz="882" b="1" dirty="0">
                <a:solidFill>
                  <a:prstClr val="black"/>
                </a:solidFill>
                <a:latin typeface="Segoe UI Light" pitchFamily="34" charset="0"/>
              </a:rPr>
              <a:t># Update the extension to make sure you have the latest version installed</a:t>
            </a:r>
          </a:p>
          <a:p>
            <a:pPr lvl="0" defTabSz="914460">
              <a:lnSpc>
                <a:spcPct val="90000"/>
              </a:lnSpc>
              <a:spcAft>
                <a:spcPts val="333"/>
              </a:spcAft>
              <a:defRPr/>
            </a:pPr>
            <a:r>
              <a:rPr lang="en-US" sz="882" b="1" dirty="0" err="1">
                <a:solidFill>
                  <a:prstClr val="black"/>
                </a:solidFill>
                <a:latin typeface="Segoe UI Light" pitchFamily="34" charset="0"/>
              </a:rPr>
              <a:t>az</a:t>
            </a:r>
            <a:r>
              <a:rPr lang="en-US" sz="882" b="1" dirty="0">
                <a:solidFill>
                  <a:prstClr val="black"/>
                </a:solidFill>
                <a:latin typeface="Segoe UI Light" pitchFamily="34" charset="0"/>
              </a:rPr>
              <a:t> extension update --name </a:t>
            </a:r>
            <a:r>
              <a:rPr lang="en-US" sz="882" b="1" dirty="0" err="1">
                <a:solidFill>
                  <a:prstClr val="black"/>
                </a:solidFill>
                <a:latin typeface="Segoe UI Light" pitchFamily="34" charset="0"/>
              </a:rPr>
              <a:t>aks</a:t>
            </a:r>
            <a:r>
              <a:rPr lang="en-US" sz="882" b="1" dirty="0">
                <a:solidFill>
                  <a:prstClr val="black"/>
                </a:solidFill>
                <a:latin typeface="Segoe UI Light" pitchFamily="34" charset="0"/>
              </a:rPr>
              <a:t>-preview</a:t>
            </a:r>
          </a:p>
          <a:p>
            <a:pPr lvl="0" defTabSz="914460">
              <a:lnSpc>
                <a:spcPct val="90000"/>
              </a:lnSpc>
              <a:spcAft>
                <a:spcPts val="333"/>
              </a:spcAft>
              <a:defRPr/>
            </a:pPr>
            <a:endParaRPr lang="en-US" sz="882" b="1" dirty="0">
              <a:solidFill>
                <a:prstClr val="black"/>
              </a:solidFill>
              <a:latin typeface="Segoe UI Light" pitchFamily="34" charset="0"/>
            </a:endParaRPr>
          </a:p>
          <a:p>
            <a:pPr lvl="0" defTabSz="914460">
              <a:lnSpc>
                <a:spcPct val="90000"/>
              </a:lnSpc>
              <a:spcAft>
                <a:spcPts val="333"/>
              </a:spcAft>
              <a:defRPr/>
            </a:pPr>
            <a:r>
              <a:rPr lang="en-US" sz="882" b="1" dirty="0" err="1">
                <a:solidFill>
                  <a:prstClr val="black"/>
                </a:solidFill>
                <a:latin typeface="Segoe UI Light" pitchFamily="34" charset="0"/>
              </a:rPr>
              <a:t>az</a:t>
            </a:r>
            <a:r>
              <a:rPr lang="en-US" sz="882" b="1" dirty="0">
                <a:solidFill>
                  <a:prstClr val="black"/>
                </a:solidFill>
                <a:latin typeface="Segoe UI Light" pitchFamily="34" charset="0"/>
              </a:rPr>
              <a:t> feature register --namespace "</a:t>
            </a:r>
            <a:r>
              <a:rPr lang="en-US" sz="882" b="1" dirty="0" err="1">
                <a:solidFill>
                  <a:prstClr val="black"/>
                </a:solidFill>
                <a:latin typeface="Segoe UI Light" pitchFamily="34" charset="0"/>
              </a:rPr>
              <a:t>Microsoft.ContainerService</a:t>
            </a:r>
            <a:r>
              <a:rPr lang="en-US" sz="882" b="1" dirty="0">
                <a:solidFill>
                  <a:prstClr val="black"/>
                </a:solidFill>
                <a:latin typeface="Segoe UI Light" pitchFamily="34" charset="0"/>
              </a:rPr>
              <a:t>" --name "AdvancedNetworkingL7PolicyPreview“</a:t>
            </a:r>
          </a:p>
          <a:p>
            <a:pPr lvl="0" defTabSz="914460">
              <a:lnSpc>
                <a:spcPct val="90000"/>
              </a:lnSpc>
              <a:spcAft>
                <a:spcPts val="333"/>
              </a:spcAft>
              <a:defRPr/>
            </a:pPr>
            <a:r>
              <a:rPr lang="en-US" sz="882" b="1" dirty="0" err="1">
                <a:solidFill>
                  <a:prstClr val="black"/>
                </a:solidFill>
                <a:latin typeface="Segoe UI Light" pitchFamily="34" charset="0"/>
              </a:rPr>
              <a:t>az</a:t>
            </a:r>
            <a:r>
              <a:rPr lang="en-US" sz="882" b="1" dirty="0">
                <a:solidFill>
                  <a:prstClr val="black"/>
                </a:solidFill>
                <a:latin typeface="Segoe UI Light" pitchFamily="34" charset="0"/>
              </a:rPr>
              <a:t> feature show --namespace "</a:t>
            </a:r>
            <a:r>
              <a:rPr lang="en-US" sz="882" b="1" dirty="0" err="1">
                <a:solidFill>
                  <a:prstClr val="black"/>
                </a:solidFill>
                <a:latin typeface="Segoe UI Light" pitchFamily="34" charset="0"/>
              </a:rPr>
              <a:t>Microsoft.ContainerService</a:t>
            </a:r>
            <a:r>
              <a:rPr lang="en-US" sz="882" b="1" dirty="0">
                <a:solidFill>
                  <a:prstClr val="black"/>
                </a:solidFill>
                <a:latin typeface="Segoe UI Light" pitchFamily="34" charset="0"/>
              </a:rPr>
              <a:t>" --name "AdvancedNetworkingL7PolicyPreview“</a:t>
            </a:r>
          </a:p>
          <a:p>
            <a:pPr lvl="0" defTabSz="914460">
              <a:lnSpc>
                <a:spcPct val="90000"/>
              </a:lnSpc>
              <a:spcAft>
                <a:spcPts val="333"/>
              </a:spcAft>
              <a:defRPr/>
            </a:pPr>
            <a:endParaRPr lang="en-US" sz="882" b="1" dirty="0">
              <a:solidFill>
                <a:prstClr val="black"/>
              </a:solidFill>
              <a:latin typeface="Segoe UI Light" pitchFamily="34" charset="0"/>
            </a:endParaRPr>
          </a:p>
          <a:p>
            <a:pPr lvl="0" defTabSz="914460">
              <a:lnSpc>
                <a:spcPct val="90000"/>
              </a:lnSpc>
              <a:spcAft>
                <a:spcPts val="333"/>
              </a:spcAft>
              <a:defRPr/>
            </a:pPr>
            <a:endParaRPr lang="en-US" sz="882" b="1" dirty="0">
              <a:solidFill>
                <a:prstClr val="black"/>
              </a:solidFill>
              <a:latin typeface="Segoe UI Light" pitchFamily="34" charset="0"/>
            </a:endParaRPr>
          </a:p>
          <a:p>
            <a:pPr lvl="0" defTabSz="914460">
              <a:lnSpc>
                <a:spcPct val="90000"/>
              </a:lnSpc>
              <a:spcAft>
                <a:spcPts val="333"/>
              </a:spcAft>
              <a:defRPr/>
            </a:pPr>
            <a:r>
              <a:rPr lang="en-US" sz="882" b="1" dirty="0" err="1">
                <a:solidFill>
                  <a:prstClr val="black"/>
                </a:solidFill>
                <a:latin typeface="Segoe UI Light" pitchFamily="34" charset="0"/>
              </a:rPr>
              <a:t>az</a:t>
            </a:r>
            <a:r>
              <a:rPr lang="en-US" sz="882" b="1" dirty="0">
                <a:solidFill>
                  <a:prstClr val="black"/>
                </a:solidFill>
                <a:latin typeface="Segoe UI Light" pitchFamily="34" charset="0"/>
              </a:rPr>
              <a:t> </a:t>
            </a:r>
            <a:r>
              <a:rPr lang="en-US" sz="882" b="1" dirty="0" err="1">
                <a:solidFill>
                  <a:prstClr val="black"/>
                </a:solidFill>
                <a:latin typeface="Segoe UI Light" pitchFamily="34" charset="0"/>
              </a:rPr>
              <a:t>aks</a:t>
            </a:r>
            <a:r>
              <a:rPr lang="en-US" sz="882" b="1" dirty="0">
                <a:solidFill>
                  <a:prstClr val="black"/>
                </a:solidFill>
                <a:latin typeface="Segoe UI Light" pitchFamily="34" charset="0"/>
              </a:rPr>
              <a:t> update --resource-group $RESOURCE_GROUP --name $CLUSTER_NAME --enable-</a:t>
            </a:r>
            <a:r>
              <a:rPr lang="en-US" sz="882" b="1" dirty="0" err="1">
                <a:solidFill>
                  <a:prstClr val="black"/>
                </a:solidFill>
                <a:latin typeface="Segoe UI Light" pitchFamily="34" charset="0"/>
              </a:rPr>
              <a:t>acns</a:t>
            </a:r>
            <a:r>
              <a:rPr lang="en-US" sz="882" b="1" dirty="0">
                <a:solidFill>
                  <a:prstClr val="black"/>
                </a:solidFill>
                <a:latin typeface="Segoe UI Light" pitchFamily="34" charset="0"/>
              </a:rPr>
              <a:t> --</a:t>
            </a:r>
            <a:r>
              <a:rPr lang="en-US" sz="882" b="1" dirty="0" err="1">
                <a:solidFill>
                  <a:prstClr val="black"/>
                </a:solidFill>
                <a:latin typeface="Segoe UI Light" pitchFamily="34" charset="0"/>
              </a:rPr>
              <a:t>acns</a:t>
            </a:r>
            <a:r>
              <a:rPr lang="en-US" sz="882" b="1" dirty="0">
                <a:solidFill>
                  <a:prstClr val="black"/>
                </a:solidFill>
                <a:latin typeface="Segoe UI Light" pitchFamily="34" charset="0"/>
              </a:rPr>
              <a:t>-advanced-</a:t>
            </a:r>
            <a:r>
              <a:rPr lang="en-US" sz="882" b="1" dirty="0" err="1">
                <a:solidFill>
                  <a:prstClr val="black"/>
                </a:solidFill>
                <a:latin typeface="Segoe UI Light" pitchFamily="34" charset="0"/>
              </a:rPr>
              <a:t>networkpolicies</a:t>
            </a:r>
            <a:r>
              <a:rPr lang="en-US" sz="882" b="1" dirty="0">
                <a:solidFill>
                  <a:prstClr val="black"/>
                </a:solidFill>
                <a:latin typeface="Segoe UI Light" pitchFamily="34" charset="0"/>
              </a:rPr>
              <a:t> &lt;L7/FQDN&gt;</a:t>
            </a:r>
          </a:p>
          <a:p>
            <a:pPr lvl="0" defTabSz="914460">
              <a:lnSpc>
                <a:spcPct val="90000"/>
              </a:lnSpc>
              <a:spcAft>
                <a:spcPts val="333"/>
              </a:spcAft>
              <a:defRPr/>
            </a:pPr>
            <a:endParaRPr lang="en-US" sz="882" b="1" dirty="0">
              <a:solidFill>
                <a:prstClr val="black"/>
              </a:solidFill>
              <a:latin typeface="Segoe UI Light" pitchFamily="34" charset="0"/>
            </a:endParaRPr>
          </a:p>
          <a:p>
            <a:pPr lvl="0" defTabSz="914460">
              <a:lnSpc>
                <a:spcPct val="90000"/>
              </a:lnSpc>
              <a:spcAft>
                <a:spcPts val="333"/>
              </a:spcAft>
              <a:defRPr/>
            </a:pPr>
            <a:endParaRPr lang="en-US" sz="882" b="1" dirty="0">
              <a:solidFill>
                <a:prstClr val="black"/>
              </a:solidFill>
              <a:latin typeface="Segoe UI Light" pitchFamily="34" charset="0"/>
            </a:endParaRPr>
          </a:p>
          <a:p>
            <a:pPr lvl="0" defTabSz="914460">
              <a:lnSpc>
                <a:spcPct val="90000"/>
              </a:lnSpc>
              <a:spcAft>
                <a:spcPts val="333"/>
              </a:spcAft>
              <a:defRPr/>
            </a:pPr>
            <a:endParaRPr lang="en-US" sz="882" b="1" dirty="0">
              <a:solidFill>
                <a:prstClr val="black"/>
              </a:solidFill>
              <a:latin typeface="Segoe UI Light" pitchFamily="34" charset="0"/>
            </a:endParaRPr>
          </a:p>
          <a:p>
            <a:pPr lvl="0" defTabSz="914460">
              <a:lnSpc>
                <a:spcPct val="90000"/>
              </a:lnSpc>
              <a:spcAft>
                <a:spcPts val="333"/>
              </a:spcAft>
              <a:defRPr/>
            </a:pPr>
            <a:r>
              <a:rPr lang="en-US" sz="882" b="1" dirty="0">
                <a:solidFill>
                  <a:prstClr val="black"/>
                </a:solidFill>
                <a:latin typeface="Segoe UI Light" pitchFamily="34" charset="0"/>
              </a:rPr>
              <a:t>Demo:</a:t>
            </a:r>
          </a:p>
          <a:p>
            <a:pPr lvl="0" defTabSz="914460">
              <a:lnSpc>
                <a:spcPct val="90000"/>
              </a:lnSpc>
              <a:spcAft>
                <a:spcPts val="333"/>
              </a:spcAft>
              <a:defRPr/>
            </a:pPr>
            <a:r>
              <a:rPr lang="en-US" sz="882" b="1" dirty="0">
                <a:solidFill>
                  <a:prstClr val="black"/>
                </a:solidFill>
                <a:latin typeface="Segoe UI Light" pitchFamily="34" charset="0"/>
              </a:rPr>
              <a:t>Wait for the cluster to be in succeeded state</a:t>
            </a:r>
          </a:p>
          <a:p>
            <a:pPr lvl="0" defTabSz="914460">
              <a:lnSpc>
                <a:spcPct val="90000"/>
              </a:lnSpc>
              <a:spcAft>
                <a:spcPts val="333"/>
              </a:spcAft>
              <a:defRPr/>
            </a:pPr>
            <a:endParaRPr lang="en-US" sz="882" b="1" dirty="0">
              <a:solidFill>
                <a:prstClr val="black"/>
              </a:solidFill>
              <a:latin typeface="Segoe UI Light" pitchFamily="34" charset="0"/>
            </a:endParaRPr>
          </a:p>
          <a:p>
            <a:pPr lvl="0" defTabSz="914460">
              <a:lnSpc>
                <a:spcPct val="90000"/>
              </a:lnSpc>
              <a:spcAft>
                <a:spcPts val="333"/>
              </a:spcAft>
              <a:defRPr/>
            </a:pPr>
            <a:r>
              <a:rPr lang="en-US" sz="882" b="1" dirty="0">
                <a:solidFill>
                  <a:prstClr val="black"/>
                </a:solidFill>
                <a:latin typeface="Segoe UI Light" pitchFamily="34" charset="0"/>
              </a:rPr>
              <a:t>Log in to Grafana, to show how it works with Entra ID out of the box.</a:t>
            </a:r>
          </a:p>
          <a:p>
            <a:pPr lvl="0" defTabSz="914460">
              <a:lnSpc>
                <a:spcPct val="90000"/>
              </a:lnSpc>
              <a:spcAft>
                <a:spcPts val="333"/>
              </a:spcAft>
              <a:defRPr/>
            </a:pPr>
            <a:r>
              <a:rPr lang="en-US" sz="882" b="1" dirty="0">
                <a:solidFill>
                  <a:prstClr val="black"/>
                </a:solidFill>
                <a:latin typeface="Segoe UI Light" pitchFamily="34" charset="0"/>
              </a:rPr>
              <a:t>Display </a:t>
            </a:r>
          </a:p>
          <a:p>
            <a:pPr lvl="0" defTabSz="914460">
              <a:lnSpc>
                <a:spcPct val="90000"/>
              </a:lnSpc>
              <a:spcAft>
                <a:spcPts val="333"/>
              </a:spcAft>
              <a:defRPr/>
            </a:pPr>
            <a:endParaRPr lang="en-US" sz="882" b="1" dirty="0">
              <a:solidFill>
                <a:prstClr val="black"/>
              </a:solidFill>
              <a:latin typeface="Segoe UI Light" pitchFamily="34" charset="0"/>
            </a:endParaRPr>
          </a:p>
        </p:txBody>
      </p:sp>
      <p:sp>
        <p:nvSpPr>
          <p:cNvPr id="2" name="Header Placeholder 1">
            <a:extLst>
              <a:ext uri="{FF2B5EF4-FFF2-40B4-BE49-F238E27FC236}">
                <a16:creationId xmlns:a16="http://schemas.microsoft.com/office/drawing/2014/main" id="{DEAC3F62-3520-05DC-782C-4EF89C5CE86B}"/>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9253707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78BE3-9DF0-2835-60B4-908AFC15AEDF}"/>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103D9BB5-B18A-A7FE-ED4A-2688C77FE059}"/>
              </a:ext>
            </a:extLst>
          </p:cNvPr>
          <p:cNvSpPr>
            <a:spLocks noGrp="1"/>
          </p:cNvSpPr>
          <p:nvPr>
            <p:ph type="body" idx="1"/>
          </p:nvPr>
        </p:nvSpPr>
        <p:spPr/>
        <p:txBody>
          <a:bodyPr/>
          <a:lstStyle/>
          <a:p>
            <a:r>
              <a:rPr lang="en-US" dirty="0"/>
              <a:t>Link to lab: https://labondemand.com/LabProfile/</a:t>
            </a:r>
          </a:p>
          <a:p>
            <a:endParaRPr lang="en-US" dirty="0"/>
          </a:p>
          <a:p>
            <a:r>
              <a:rPr lang="en-US" dirty="0"/>
              <a:t>##########</a:t>
            </a:r>
          </a:p>
        </p:txBody>
      </p:sp>
      <p:sp>
        <p:nvSpPr>
          <p:cNvPr id="4" name="Slide Number Placeholder 3">
            <a:extLst>
              <a:ext uri="{FF2B5EF4-FFF2-40B4-BE49-F238E27FC236}">
                <a16:creationId xmlns:a16="http://schemas.microsoft.com/office/drawing/2014/main" id="{69DFE892-803C-4C64-C9AC-4125D441950F}"/>
              </a:ext>
            </a:extLst>
          </p:cNvPr>
          <p:cNvSpPr>
            <a:spLocks noGrp="1"/>
          </p:cNvSpPr>
          <p:nvPr>
            <p:ph type="sldNum" sz="quarter" idx="10"/>
          </p:nvPr>
        </p:nvSpPr>
        <p:spPr/>
        <p:txBody>
          <a:bodyPr/>
          <a:lstStyle/>
          <a:p>
            <a:fld id="{B4008EB6-D09E-4580-8CD6-DDB14511944F}" type="slidenum">
              <a:rPr lang="en-US" smtClean="0"/>
              <a:pPr/>
              <a:t>37</a:t>
            </a:fld>
            <a:endParaRPr lang="en-US"/>
          </a:p>
        </p:txBody>
      </p:sp>
      <p:sp>
        <p:nvSpPr>
          <p:cNvPr id="5" name="Footer Placeholder 4">
            <a:extLst>
              <a:ext uri="{FF2B5EF4-FFF2-40B4-BE49-F238E27FC236}">
                <a16:creationId xmlns:a16="http://schemas.microsoft.com/office/drawing/2014/main" id="{8795E614-39CF-C28E-91BA-06C044D98E36}"/>
              </a:ext>
            </a:extLst>
          </p:cNvPr>
          <p:cNvSpPr>
            <a:spLocks noGrp="1"/>
          </p:cNvSpPr>
          <p:nvPr>
            <p:ph type="ftr" sz="quarter" idx="11"/>
          </p:nvPr>
        </p:nvSpPr>
        <p:spPr/>
        <p:txBody>
          <a:bodyPr/>
          <a:lstStyle/>
          <a:p>
            <a:endParaRPr lang="en-US"/>
          </a:p>
        </p:txBody>
      </p:sp>
      <p:sp>
        <p:nvSpPr>
          <p:cNvPr id="13" name="Slide Image Placeholder 12">
            <a:extLst>
              <a:ext uri="{FF2B5EF4-FFF2-40B4-BE49-F238E27FC236}">
                <a16:creationId xmlns:a16="http://schemas.microsoft.com/office/drawing/2014/main" id="{B52B586E-8A74-03EF-C7EB-128022EE884C}"/>
              </a:ext>
            </a:extLst>
          </p:cNvPr>
          <p:cNvSpPr>
            <a:spLocks noGrp="1" noRot="1" noChangeAspect="1"/>
          </p:cNvSpPr>
          <p:nvPr>
            <p:ph type="sldImg"/>
          </p:nvPr>
        </p:nvSpPr>
        <p:spPr>
          <a:xfrm>
            <a:off x="696913" y="857250"/>
            <a:ext cx="5486400" cy="3086100"/>
          </a:xfrm>
        </p:spPr>
      </p:sp>
    </p:spTree>
    <p:extLst>
      <p:ext uri="{BB962C8B-B14F-4D97-AF65-F5344CB8AC3E}">
        <p14:creationId xmlns:p14="http://schemas.microsoft.com/office/powerpoint/2010/main" val="228244296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BD754-EA29-FFF8-2D6E-D3EB92DE0DFD}"/>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4EF7B0BA-ABF1-E0A7-38DE-BB42C9530C59}"/>
              </a:ext>
            </a:extLst>
          </p:cNvPr>
          <p:cNvSpPr>
            <a:spLocks noGrp="1"/>
          </p:cNvSpPr>
          <p:nvPr>
            <p:ph type="body" idx="1"/>
          </p:nvPr>
        </p:nvSpPr>
        <p:spPr/>
        <p:txBody>
          <a:bodyPr/>
          <a:lstStyle/>
          <a:p>
            <a:r>
              <a:rPr lang="en-US"/>
              <a:t>Link to lab: https://labondemand.com/LabProfile/</a:t>
            </a:r>
          </a:p>
          <a:p>
            <a:endParaRPr lang="en-US"/>
          </a:p>
          <a:p>
            <a:r>
              <a:rPr lang="en-US"/>
              <a:t>##########</a:t>
            </a:r>
          </a:p>
        </p:txBody>
      </p:sp>
      <p:sp>
        <p:nvSpPr>
          <p:cNvPr id="4" name="Slide Number Placeholder 3">
            <a:extLst>
              <a:ext uri="{FF2B5EF4-FFF2-40B4-BE49-F238E27FC236}">
                <a16:creationId xmlns:a16="http://schemas.microsoft.com/office/drawing/2014/main" id="{CE5F0462-6AC7-B076-27E6-DBE28FED9B0E}"/>
              </a:ext>
            </a:extLst>
          </p:cNvPr>
          <p:cNvSpPr>
            <a:spLocks noGrp="1"/>
          </p:cNvSpPr>
          <p:nvPr>
            <p:ph type="sldNum" sz="quarter" idx="10"/>
          </p:nvPr>
        </p:nvSpPr>
        <p:spPr/>
        <p:txBody>
          <a:bodyPr/>
          <a:lstStyle/>
          <a:p>
            <a:fld id="{B4008EB6-D09E-4580-8CD6-DDB14511944F}" type="slidenum">
              <a:rPr lang="en-US" smtClean="0"/>
              <a:pPr/>
              <a:t>38</a:t>
            </a:fld>
            <a:endParaRPr lang="en-US"/>
          </a:p>
        </p:txBody>
      </p:sp>
      <p:sp>
        <p:nvSpPr>
          <p:cNvPr id="5" name="Footer Placeholder 4">
            <a:extLst>
              <a:ext uri="{FF2B5EF4-FFF2-40B4-BE49-F238E27FC236}">
                <a16:creationId xmlns:a16="http://schemas.microsoft.com/office/drawing/2014/main" id="{5ECC128B-837A-2898-9751-1872C7095022}"/>
              </a:ext>
            </a:extLst>
          </p:cNvPr>
          <p:cNvSpPr>
            <a:spLocks noGrp="1"/>
          </p:cNvSpPr>
          <p:nvPr>
            <p:ph type="ftr" sz="quarter" idx="11"/>
          </p:nvPr>
        </p:nvSpPr>
        <p:spPr/>
        <p:txBody>
          <a:bodyPr/>
          <a:lstStyle/>
          <a:p>
            <a:endParaRPr lang="en-US"/>
          </a:p>
        </p:txBody>
      </p:sp>
      <p:sp>
        <p:nvSpPr>
          <p:cNvPr id="13" name="Slide Image Placeholder 12">
            <a:extLst>
              <a:ext uri="{FF2B5EF4-FFF2-40B4-BE49-F238E27FC236}">
                <a16:creationId xmlns:a16="http://schemas.microsoft.com/office/drawing/2014/main" id="{3319B8FB-5FD6-500C-4A6D-A92FDE8335D1}"/>
              </a:ext>
            </a:extLst>
          </p:cNvPr>
          <p:cNvSpPr>
            <a:spLocks noGrp="1" noRot="1" noChangeAspect="1"/>
          </p:cNvSpPr>
          <p:nvPr>
            <p:ph type="sldImg"/>
          </p:nvPr>
        </p:nvSpPr>
        <p:spPr>
          <a:xfrm>
            <a:off x="696913" y="857250"/>
            <a:ext cx="5486400" cy="3086100"/>
          </a:xfrm>
        </p:spPr>
      </p:sp>
    </p:spTree>
    <p:extLst>
      <p:ext uri="{BB962C8B-B14F-4D97-AF65-F5344CB8AC3E}">
        <p14:creationId xmlns:p14="http://schemas.microsoft.com/office/powerpoint/2010/main" val="30942827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07996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
        <p:nvSpPr>
          <p:cNvPr id="35" name="Footer Placeholder 4">
            <a:extLst>
              <a:ext uri="{FF2B5EF4-FFF2-40B4-BE49-F238E27FC236}">
                <a16:creationId xmlns:a16="http://schemas.microsoft.com/office/drawing/2014/main" id="{8C64960A-4B61-43E6-B400-13FC4850F81A}"/>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6" name="Slide Number Placeholder 5">
            <a:extLst>
              <a:ext uri="{FF2B5EF4-FFF2-40B4-BE49-F238E27FC236}">
                <a16:creationId xmlns:a16="http://schemas.microsoft.com/office/drawing/2014/main" id="{4333FB6F-5C99-40E2-8D4E-1E9EE410072E}"/>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Rectangle 1">
            <a:extLst>
              <a:ext uri="{FF2B5EF4-FFF2-40B4-BE49-F238E27FC236}">
                <a16:creationId xmlns:a16="http://schemas.microsoft.com/office/drawing/2014/main" id="{74BEDE68-1D2D-4A40-A3F4-F77A41DD2BC0}"/>
              </a:ext>
            </a:extLst>
          </p:cNvPr>
          <p:cNvSpPr/>
          <p:nvPr userDrawn="1"/>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8AAF1AEC-5837-427A-AB77-EF89A45999B0}"/>
              </a:ext>
            </a:extLst>
          </p:cNvPr>
          <p:cNvSpPr>
            <a:spLocks noGrp="1"/>
          </p:cNvSpPr>
          <p:nvPr userDrawn="1">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Tree>
    <p:extLst>
      <p:ext uri="{BB962C8B-B14F-4D97-AF65-F5344CB8AC3E}">
        <p14:creationId xmlns:p14="http://schemas.microsoft.com/office/powerpoint/2010/main" val="913829801"/>
      </p:ext>
    </p:extLst>
  </p:cSld>
  <p:clrMapOvr>
    <a:masterClrMapping/>
  </p:clrMapOvr>
  <p:transition>
    <p:fade/>
  </p:transition>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238259260"/>
      </p:ext>
    </p:extLst>
  </p:cSld>
  <p:clrMapOvr>
    <a:masterClrMapping/>
  </p:clrMapOvr>
  <p:transition>
    <p:fade/>
  </p:transition>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446209294"/>
      </p:ext>
    </p:extLst>
  </p:cSld>
  <p:clrMapOvr>
    <a:masterClrMapping/>
  </p:clrMapOvr>
  <p:transition>
    <p:fade/>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Blue Bar_Placeholde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141C64-E920-4DE9-A440-152373BCBA3E}"/>
              </a:ext>
              <a:ext uri="{C183D7F6-B498-43B3-948B-1728B52AA6E4}">
                <adec:decorative xmlns:adec="http://schemas.microsoft.com/office/drawing/2017/decorative" val="1"/>
              </a:ext>
            </a:extLst>
          </p:cNvPr>
          <p:cNvSpPr/>
          <p:nvPr/>
        </p:nvSpPr>
        <p:spPr bwMode="auto">
          <a:xfrm>
            <a:off x="0" y="2"/>
            <a:ext cx="12192000" cy="142904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Content Placeholder 8">
            <a:extLst>
              <a:ext uri="{FF2B5EF4-FFF2-40B4-BE49-F238E27FC236}">
                <a16:creationId xmlns:a16="http://schemas.microsoft.com/office/drawing/2014/main" id="{42582AC2-DA98-4BCB-8380-34C382DED89F}"/>
              </a:ext>
            </a:extLst>
          </p:cNvPr>
          <p:cNvSpPr>
            <a:spLocks noGrp="1"/>
          </p:cNvSpPr>
          <p:nvPr>
            <p:ph sz="quarter" idx="10" hasCustomPrompt="1"/>
          </p:nvPr>
        </p:nvSpPr>
        <p:spPr>
          <a:xfrm>
            <a:off x="6019800" y="1871663"/>
            <a:ext cx="5600700" cy="4397375"/>
          </a:xfrm>
          <a:ln w="6350">
            <a:solidFill>
              <a:schemeClr val="bg1">
                <a:lumMod val="85000"/>
              </a:schemeClr>
            </a:solidFill>
          </a:ln>
        </p:spPr>
        <p:txBody>
          <a:bodyPr/>
          <a:lstStyle>
            <a:lvl1pPr marL="0" indent="0" algn="ctr">
              <a:buNone/>
              <a:defRPr sz="1800"/>
            </a:lvl1pPr>
          </a:lstStyle>
          <a:p>
            <a:pPr lvl="0"/>
            <a:r>
              <a:rPr lang="en-US"/>
              <a:t>Place holder for report and illustration </a:t>
            </a:r>
          </a:p>
        </p:txBody>
      </p:sp>
      <p:sp>
        <p:nvSpPr>
          <p:cNvPr id="11" name="Rectangle 10">
            <a:extLst>
              <a:ext uri="{FF2B5EF4-FFF2-40B4-BE49-F238E27FC236}">
                <a16:creationId xmlns:a16="http://schemas.microsoft.com/office/drawing/2014/main" id="{3CBE3747-AB42-4DD5-A33C-42C4A70E8A91}"/>
              </a:ext>
              <a:ext uri="{C183D7F6-B498-43B3-948B-1728B52AA6E4}">
                <adec:decorative xmlns:adec="http://schemas.microsoft.com/office/drawing/2017/decorative" val="1"/>
              </a:ext>
            </a:extLst>
          </p:cNvPr>
          <p:cNvSpPr/>
          <p:nvPr userDrawn="1"/>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762578842"/>
      </p:ext>
    </p:extLst>
  </p:cSld>
  <p:clrMapOvr>
    <a:masterClrMapping/>
  </p:clrMapOvr>
  <p:transition>
    <p:fade/>
  </p:transition>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37091661"/>
      </p:ext>
    </p:extLst>
  </p:cSld>
  <p:clrMapOvr>
    <a:masterClrMapping/>
  </p:clrMapOvr>
  <p:transition>
    <p:fade/>
  </p:transition>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_Subtitle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643951438"/>
      </p:ext>
    </p:extLst>
  </p:cSld>
  <p:clrMapOvr>
    <a:masterClrMapping/>
  </p:clrMapOvr>
  <p:transition>
    <p:fade/>
  </p:transition>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 Image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4241814854"/>
      </p:ext>
    </p:extLst>
  </p:cSld>
  <p:clrMapOvr>
    <a:masterClrMapping/>
  </p:clrMapOvr>
  <p:transition>
    <p:fade/>
  </p:transition>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alf Image_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p:nvPr userDrawn="1"/>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userDrawn="1"/>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11449845"/>
      </p:ext>
    </p:extLst>
  </p:cSld>
  <p:clrMapOvr>
    <a:masterClrMapping/>
  </p:clrMapOvr>
  <p:transition>
    <p:fade/>
  </p:transition>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Tree>
    <p:extLst>
      <p:ext uri="{BB962C8B-B14F-4D97-AF65-F5344CB8AC3E}">
        <p14:creationId xmlns:p14="http://schemas.microsoft.com/office/powerpoint/2010/main" val="2983828958"/>
      </p:ext>
    </p:extLst>
  </p:cSld>
  <p:clrMapOvr>
    <a:masterClrMapping/>
  </p:clrMapOvr>
  <p:transition>
    <p:fade/>
  </p:transition>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edi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555319" cy="1107996"/>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Media Placeholder 6">
            <a:extLst>
              <a:ext uri="{FF2B5EF4-FFF2-40B4-BE49-F238E27FC236}">
                <a16:creationId xmlns:a16="http://schemas.microsoft.com/office/drawing/2014/main" id="{40EC17C2-B72D-4F57-AB81-A8295D570494}"/>
              </a:ext>
            </a:extLst>
          </p:cNvPr>
          <p:cNvSpPr>
            <a:spLocks noGrp="1"/>
          </p:cNvSpPr>
          <p:nvPr>
            <p:ph type="media" sz="quarter" idx="10"/>
          </p:nvPr>
        </p:nvSpPr>
        <p:spPr>
          <a:xfrm>
            <a:off x="6019800" y="585789"/>
            <a:ext cx="5595938" cy="5683249"/>
          </a:xfrm>
          <a:solidFill>
            <a:schemeClr val="bg1">
              <a:lumMod val="95000"/>
            </a:schemeClr>
          </a:solidFill>
          <a:ln w="6350">
            <a:solidFill>
              <a:schemeClr val="bg1">
                <a:lumMod val="75000"/>
              </a:schemeClr>
            </a:solidFill>
          </a:ln>
        </p:spPr>
        <p:txBody>
          <a:bodyPr/>
          <a:lstStyle>
            <a:lvl1pPr marL="0" indent="0" algn="ctr">
              <a:buNone/>
              <a:defRPr sz="2400"/>
            </a:lvl1pPr>
          </a:lstStyle>
          <a:p>
            <a:endParaRPr lang="en-US"/>
          </a:p>
        </p:txBody>
      </p:sp>
    </p:spTree>
    <p:extLst>
      <p:ext uri="{BB962C8B-B14F-4D97-AF65-F5344CB8AC3E}">
        <p14:creationId xmlns:p14="http://schemas.microsoft.com/office/powerpoint/2010/main" val="1210149981"/>
      </p:ext>
    </p:extLst>
  </p:cSld>
  <p:clrMapOvr>
    <a:masterClrMapping/>
  </p:clrMapOvr>
  <p:transition>
    <p:fade/>
  </p:transition>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_ Subtitle_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91F01542-314B-B94E-9E8F-3A1DCF0A8DB6}"/>
              </a:ext>
            </a:extLst>
          </p:cNvPr>
          <p:cNvSpPr>
            <a:spLocks noGrp="1"/>
          </p:cNvSpPr>
          <p:nvPr>
            <p:ph type="body" sz="quarter" idx="12" hasCustomPrompt="1"/>
          </p:nvPr>
        </p:nvSpPr>
        <p:spPr>
          <a:xfrm>
            <a:off x="584201" y="2021455"/>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5" name="Footer Placeholder 4">
            <a:extLst>
              <a:ext uri="{FF2B5EF4-FFF2-40B4-BE49-F238E27FC236}">
                <a16:creationId xmlns:a16="http://schemas.microsoft.com/office/drawing/2014/main" id="{9981877A-366D-46E8-9609-C14F4158122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452A6145-AE34-4B2D-8774-7F978143283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848455879"/>
      </p:ext>
    </p:extLst>
  </p:cSld>
  <p:clrMapOvr>
    <a:masterClrMapping/>
  </p:clrMapOvr>
  <p:transition>
    <p:fade/>
  </p:transition>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_Subtitle_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6F2A71D1-F09E-8842-AD05-950FE1498381}"/>
              </a:ext>
            </a:extLst>
          </p:cNvPr>
          <p:cNvCxnSpPr>
            <a:cxnSpLocks/>
          </p:cNvCxnSpPr>
          <p:nvPr/>
        </p:nvCxnSpPr>
        <p:spPr>
          <a:xfrm>
            <a:off x="6134100" y="585968"/>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0EA9-1316-2045-BA8E-85DFEBC1CDE2}"/>
              </a:ext>
            </a:extLst>
          </p:cNvPr>
          <p:cNvCxnSpPr>
            <a:cxnSpLocks/>
          </p:cNvCxnSpPr>
          <p:nvPr/>
        </p:nvCxnSpPr>
        <p:spPr>
          <a:xfrm>
            <a:off x="6134100" y="1830139"/>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5D8CB-54F7-4447-8E24-547CD549E6B4}"/>
              </a:ext>
            </a:extLst>
          </p:cNvPr>
          <p:cNvCxnSpPr>
            <a:cxnSpLocks/>
          </p:cNvCxnSpPr>
          <p:nvPr/>
        </p:nvCxnSpPr>
        <p:spPr>
          <a:xfrm>
            <a:off x="6134100" y="2067045"/>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CD7834-4D7C-9D47-9858-3F2CCB9CB277}"/>
              </a:ext>
            </a:extLst>
          </p:cNvPr>
          <p:cNvCxnSpPr>
            <a:cxnSpLocks/>
          </p:cNvCxnSpPr>
          <p:nvPr/>
        </p:nvCxnSpPr>
        <p:spPr>
          <a:xfrm>
            <a:off x="6134100" y="3311216"/>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AA53A-6964-724E-8791-53DB0D3A9CBE}"/>
              </a:ext>
            </a:extLst>
          </p:cNvPr>
          <p:cNvCxnSpPr>
            <a:cxnSpLocks/>
          </p:cNvCxnSpPr>
          <p:nvPr/>
        </p:nvCxnSpPr>
        <p:spPr>
          <a:xfrm>
            <a:off x="6134100" y="3548122"/>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C9BCD5-4167-604D-974D-68A3F8999BF9}"/>
              </a:ext>
            </a:extLst>
          </p:cNvPr>
          <p:cNvCxnSpPr>
            <a:cxnSpLocks/>
          </p:cNvCxnSpPr>
          <p:nvPr/>
        </p:nvCxnSpPr>
        <p:spPr>
          <a:xfrm>
            <a:off x="6134100" y="4792293"/>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25880F-4EDA-2B41-BA63-105ABFF6A823}"/>
              </a:ext>
            </a:extLst>
          </p:cNvPr>
          <p:cNvCxnSpPr>
            <a:cxnSpLocks/>
          </p:cNvCxnSpPr>
          <p:nvPr/>
        </p:nvCxnSpPr>
        <p:spPr>
          <a:xfrm>
            <a:off x="6134100" y="5029200"/>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EB7D1-AE0B-C24F-8957-3260EC322FDA}"/>
              </a:ext>
            </a:extLst>
          </p:cNvPr>
          <p:cNvCxnSpPr>
            <a:cxnSpLocks/>
          </p:cNvCxnSpPr>
          <p:nvPr/>
        </p:nvCxnSpPr>
        <p:spPr>
          <a:xfrm>
            <a:off x="6134100" y="6273371"/>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E3D5A23B-648C-AC47-B8BD-EE892612B02C}"/>
              </a:ext>
            </a:extLst>
          </p:cNvPr>
          <p:cNvSpPr>
            <a:spLocks noGrp="1"/>
          </p:cNvSpPr>
          <p:nvPr>
            <p:ph type="body" sz="quarter" idx="13" hasCustomPrompt="1"/>
          </p:nvPr>
        </p:nvSpPr>
        <p:spPr>
          <a:xfrm>
            <a:off x="7378275" y="2314728"/>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28" name="Text Placeholder 4">
            <a:extLst>
              <a:ext uri="{FF2B5EF4-FFF2-40B4-BE49-F238E27FC236}">
                <a16:creationId xmlns:a16="http://schemas.microsoft.com/office/drawing/2014/main" id="{052991E3-3AF8-7242-AF14-580FCDDA4CF5}"/>
              </a:ext>
            </a:extLst>
          </p:cNvPr>
          <p:cNvSpPr>
            <a:spLocks noGrp="1"/>
          </p:cNvSpPr>
          <p:nvPr>
            <p:ph type="body" sz="quarter" idx="15" hasCustomPrompt="1"/>
          </p:nvPr>
        </p:nvSpPr>
        <p:spPr>
          <a:xfrm>
            <a:off x="7378275" y="8382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0" name="Text Placeholder 4">
            <a:extLst>
              <a:ext uri="{FF2B5EF4-FFF2-40B4-BE49-F238E27FC236}">
                <a16:creationId xmlns:a16="http://schemas.microsoft.com/office/drawing/2014/main" id="{C1C221DA-B39D-734F-9219-6D344EDE4326}"/>
              </a:ext>
            </a:extLst>
          </p:cNvPr>
          <p:cNvSpPr>
            <a:spLocks noGrp="1"/>
          </p:cNvSpPr>
          <p:nvPr>
            <p:ph type="body" sz="quarter" idx="17" hasCustomPrompt="1"/>
          </p:nvPr>
        </p:nvSpPr>
        <p:spPr>
          <a:xfrm>
            <a:off x="7378275" y="38100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2" name="Text Placeholder 4">
            <a:extLst>
              <a:ext uri="{FF2B5EF4-FFF2-40B4-BE49-F238E27FC236}">
                <a16:creationId xmlns:a16="http://schemas.microsoft.com/office/drawing/2014/main" id="{7AD49206-9AA1-9545-B8DE-768C479CE37B}"/>
              </a:ext>
            </a:extLst>
          </p:cNvPr>
          <p:cNvSpPr>
            <a:spLocks noGrp="1"/>
          </p:cNvSpPr>
          <p:nvPr>
            <p:ph type="body" sz="quarter" idx="19" hasCustomPrompt="1"/>
          </p:nvPr>
        </p:nvSpPr>
        <p:spPr>
          <a:xfrm>
            <a:off x="7378275" y="52578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54" name="Title 1">
            <a:extLst>
              <a:ext uri="{FF2B5EF4-FFF2-40B4-BE49-F238E27FC236}">
                <a16:creationId xmlns:a16="http://schemas.microsoft.com/office/drawing/2014/main" id="{C749ABB7-E94C-644E-AB3E-CA66A14994E4}"/>
              </a:ext>
            </a:extLst>
          </p:cNvPr>
          <p:cNvSpPr txBox="1">
            <a:spLocks/>
          </p:cNvSpPr>
          <p:nvPr userDrawn="1"/>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55" name="Title 1">
            <a:extLst>
              <a:ext uri="{FF2B5EF4-FFF2-40B4-BE49-F238E27FC236}">
                <a16:creationId xmlns:a16="http://schemas.microsoft.com/office/drawing/2014/main" id="{AED658B1-2D11-6B40-9AC8-F40A2E8C428E}"/>
              </a:ext>
            </a:extLst>
          </p:cNvPr>
          <p:cNvSpPr txBox="1">
            <a:spLocks/>
          </p:cNvSpPr>
          <p:nvPr userDrawn="1"/>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6" name="Title 1">
            <a:extLst>
              <a:ext uri="{FF2B5EF4-FFF2-40B4-BE49-F238E27FC236}">
                <a16:creationId xmlns:a16="http://schemas.microsoft.com/office/drawing/2014/main" id="{BF28F184-936F-734E-82FF-11CF771C79D1}"/>
              </a:ext>
            </a:extLst>
          </p:cNvPr>
          <p:cNvSpPr txBox="1">
            <a:spLocks/>
          </p:cNvSpPr>
          <p:nvPr userDrawn="1"/>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57" name="Title 1">
            <a:extLst>
              <a:ext uri="{FF2B5EF4-FFF2-40B4-BE49-F238E27FC236}">
                <a16:creationId xmlns:a16="http://schemas.microsoft.com/office/drawing/2014/main" id="{50B655BD-0C6C-E84E-8F2B-004B34E870DC}"/>
              </a:ext>
            </a:extLst>
          </p:cNvPr>
          <p:cNvSpPr txBox="1">
            <a:spLocks/>
          </p:cNvSpPr>
          <p:nvPr userDrawn="1"/>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
        <p:nvSpPr>
          <p:cNvPr id="59" name="Text Placeholder 4">
            <a:extLst>
              <a:ext uri="{FF2B5EF4-FFF2-40B4-BE49-F238E27FC236}">
                <a16:creationId xmlns:a16="http://schemas.microsoft.com/office/drawing/2014/main" id="{1CEA2372-B756-9B49-B735-65CC0C7086CE}"/>
              </a:ext>
            </a:extLst>
          </p:cNvPr>
          <p:cNvSpPr>
            <a:spLocks noGrp="1"/>
          </p:cNvSpPr>
          <p:nvPr>
            <p:ph type="body" sz="quarter" idx="12" hasCustomPrompt="1"/>
          </p:nvPr>
        </p:nvSpPr>
        <p:spPr>
          <a:xfrm>
            <a:off x="584201" y="2150957"/>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21" name="Footer Placeholder 4">
            <a:extLst>
              <a:ext uri="{FF2B5EF4-FFF2-40B4-BE49-F238E27FC236}">
                <a16:creationId xmlns:a16="http://schemas.microsoft.com/office/drawing/2014/main" id="{26601A05-B18A-4B66-A601-446933C6B1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2" name="Slide Number Placeholder 5">
            <a:extLst>
              <a:ext uri="{FF2B5EF4-FFF2-40B4-BE49-F238E27FC236}">
                <a16:creationId xmlns:a16="http://schemas.microsoft.com/office/drawing/2014/main" id="{2AF7A1D5-4923-435E-A787-BD20E082026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332420699"/>
      </p:ext>
    </p:extLst>
  </p:cSld>
  <p:clrMapOvr>
    <a:masterClrMapping/>
  </p:clrMapOvr>
  <p:transition>
    <p:fade/>
  </p:transition>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ue shape_Title_Subtitle_Content_3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115828-A4B2-4C63-9284-3EE9A55A556B}"/>
              </a:ext>
            </a:extLst>
          </p:cNvPr>
          <p:cNvSpPr/>
          <p:nvPr userDrawn="1"/>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42F95E0F-9554-4E8E-BECB-491620008177}"/>
              </a:ext>
            </a:extLst>
          </p:cNvPr>
          <p:cNvSpPr/>
          <p:nvPr userDrawn="1"/>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50" name="Straight Connector 49">
            <a:extLst>
              <a:ext uri="{FF2B5EF4-FFF2-40B4-BE49-F238E27FC236}">
                <a16:creationId xmlns:a16="http://schemas.microsoft.com/office/drawing/2014/main" id="{491ECCFF-A78D-1C4C-B06A-287BFFD18C0B}"/>
              </a:ext>
            </a:extLst>
          </p:cNvPr>
          <p:cNvCxnSpPr>
            <a:cxnSpLocks/>
          </p:cNvCxnSpPr>
          <p:nvPr/>
        </p:nvCxnSpPr>
        <p:spPr>
          <a:xfrm>
            <a:off x="4583114" y="585968"/>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18E73C-187A-004E-9315-F4550400997B}"/>
              </a:ext>
            </a:extLst>
          </p:cNvPr>
          <p:cNvCxnSpPr>
            <a:cxnSpLocks/>
          </p:cNvCxnSpPr>
          <p:nvPr/>
        </p:nvCxnSpPr>
        <p:spPr>
          <a:xfrm>
            <a:off x="4583114" y="3366839"/>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E210D2-07B9-CE46-BAA5-0149E8DEF15F}"/>
              </a:ext>
            </a:extLst>
          </p:cNvPr>
          <p:cNvCxnSpPr>
            <a:cxnSpLocks/>
          </p:cNvCxnSpPr>
          <p:nvPr/>
        </p:nvCxnSpPr>
        <p:spPr>
          <a:xfrm>
            <a:off x="4583114" y="347772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77354CA-AA42-3C4F-BC8C-E5000F50D104}"/>
              </a:ext>
            </a:extLst>
          </p:cNvPr>
          <p:cNvCxnSpPr>
            <a:cxnSpLocks/>
          </p:cNvCxnSpPr>
          <p:nvPr/>
        </p:nvCxnSpPr>
        <p:spPr>
          <a:xfrm>
            <a:off x="4583114" y="625877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 Placeholder 4">
            <a:extLst>
              <a:ext uri="{FF2B5EF4-FFF2-40B4-BE49-F238E27FC236}">
                <a16:creationId xmlns:a16="http://schemas.microsoft.com/office/drawing/2014/main" id="{4BD19EB2-7D8F-AC41-A8B6-1914246DD12A}"/>
              </a:ext>
            </a:extLst>
          </p:cNvPr>
          <p:cNvSpPr>
            <a:spLocks noGrp="1"/>
          </p:cNvSpPr>
          <p:nvPr userDrawn="1">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2" name="Text Placeholder 4">
            <a:extLst>
              <a:ext uri="{FF2B5EF4-FFF2-40B4-BE49-F238E27FC236}">
                <a16:creationId xmlns:a16="http://schemas.microsoft.com/office/drawing/2014/main" id="{E7593565-8F64-304B-8C7E-9439401DD389}"/>
              </a:ext>
            </a:extLst>
          </p:cNvPr>
          <p:cNvSpPr>
            <a:spLocks noGrp="1"/>
          </p:cNvSpPr>
          <p:nvPr userDrawn="1">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63" name="Text Placeholder 4">
            <a:extLst>
              <a:ext uri="{FF2B5EF4-FFF2-40B4-BE49-F238E27FC236}">
                <a16:creationId xmlns:a16="http://schemas.microsoft.com/office/drawing/2014/main" id="{A5C784BF-DD0C-4145-AFF6-60E0CD019133}"/>
              </a:ext>
            </a:extLst>
          </p:cNvPr>
          <p:cNvSpPr>
            <a:spLocks noGrp="1"/>
          </p:cNvSpPr>
          <p:nvPr userDrawn="1">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4" name="Text Placeholder 4">
            <a:extLst>
              <a:ext uri="{FF2B5EF4-FFF2-40B4-BE49-F238E27FC236}">
                <a16:creationId xmlns:a16="http://schemas.microsoft.com/office/drawing/2014/main" id="{2EA836EF-2EB8-5E4E-B346-EC54002F09DC}"/>
              </a:ext>
            </a:extLst>
          </p:cNvPr>
          <p:cNvSpPr>
            <a:spLocks noGrp="1"/>
          </p:cNvSpPr>
          <p:nvPr userDrawn="1">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14" name="Footer Placeholder 4">
            <a:extLst>
              <a:ext uri="{FF2B5EF4-FFF2-40B4-BE49-F238E27FC236}">
                <a16:creationId xmlns:a16="http://schemas.microsoft.com/office/drawing/2014/main" id="{6611CD12-3411-4A81-9E8C-BDCA5C7E737F}"/>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5" name="Slide Number Placeholder 5">
            <a:extLst>
              <a:ext uri="{FF2B5EF4-FFF2-40B4-BE49-F238E27FC236}">
                <a16:creationId xmlns:a16="http://schemas.microsoft.com/office/drawing/2014/main" id="{FEBB3A48-4E52-4A27-9CA2-92707D5471FC}"/>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06D5A150-7E2C-414D-B68B-9C94D25E39DC}"/>
              </a:ext>
            </a:extLst>
          </p:cNvPr>
          <p:cNvSpPr/>
          <p:nvPr userDrawn="1"/>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Title 1">
            <a:extLst>
              <a:ext uri="{FF2B5EF4-FFF2-40B4-BE49-F238E27FC236}">
                <a16:creationId xmlns:a16="http://schemas.microsoft.com/office/drawing/2014/main" id="{12AE0041-F3F5-4B38-BA5A-7E919381E285}"/>
              </a:ext>
            </a:extLst>
          </p:cNvPr>
          <p:cNvSpPr>
            <a:spLocks noGrp="1"/>
          </p:cNvSpPr>
          <p:nvPr>
            <p:ph type="title"/>
          </p:nvPr>
        </p:nvSpPr>
        <p:spPr>
          <a:xfrm>
            <a:off x="575481" y="2141575"/>
            <a:ext cx="3463119" cy="1846659"/>
          </a:xfrm>
        </p:spPr>
        <p:txBody>
          <a:bodyPr wrap="square">
            <a:spAutoFit/>
          </a:bodyPr>
          <a:lstStyle>
            <a:lvl1pPr algn="l" defTabSz="932742" rtl="0" eaLnBrk="1" latinLnBrk="0" hangingPunct="1">
              <a:lnSpc>
                <a:spcPct val="100000"/>
              </a:lnSpc>
              <a:spcBef>
                <a:spcPct val="0"/>
              </a:spcBef>
              <a:buNone/>
              <a:defRPr lang="en-US" sz="40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21" name="Text Placeholder 4">
            <a:extLst>
              <a:ext uri="{FF2B5EF4-FFF2-40B4-BE49-F238E27FC236}">
                <a16:creationId xmlns:a16="http://schemas.microsoft.com/office/drawing/2014/main" id="{5D456B66-B037-4653-AFA9-F989D2754329}"/>
              </a:ext>
            </a:extLst>
          </p:cNvPr>
          <p:cNvSpPr>
            <a:spLocks noGrp="1"/>
          </p:cNvSpPr>
          <p:nvPr>
            <p:ph type="body" sz="quarter" idx="12" hasCustomPrompt="1"/>
          </p:nvPr>
        </p:nvSpPr>
        <p:spPr>
          <a:xfrm>
            <a:off x="584201" y="4120945"/>
            <a:ext cx="346311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981258441"/>
      </p:ext>
    </p:extLst>
  </p:cSld>
  <p:clrMapOvr>
    <a:masterClrMapping/>
  </p:clrMapOvr>
  <p:transition>
    <p:fade/>
  </p:transition>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endParaRPr lang="en-US"/>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A6196947-EDB7-4F31-A405-9AE6EFA4C476}"/>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8" name="Slide Number Placeholder 5">
            <a:extLst>
              <a:ext uri="{FF2B5EF4-FFF2-40B4-BE49-F238E27FC236}">
                <a16:creationId xmlns:a16="http://schemas.microsoft.com/office/drawing/2014/main" id="{4D2DA863-F774-4788-9D62-D8BDC08571C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65830936"/>
      </p:ext>
    </p:extLst>
  </p:cSld>
  <p:clrMapOvr>
    <a:masterClrMapping/>
  </p:clrMapOvr>
  <p:transition>
    <p:fade/>
  </p:transition>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Divider_1">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EC9115C-86E9-F143-8EB8-9CE9C70F9C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599117970"/>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_2">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40025DA-5880-5949-A056-5F0F19F396D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74798329"/>
      </p:ext>
    </p:extLst>
  </p:cSld>
  <p:clrMapOvr>
    <a:masterClrMapping/>
  </p:clrMapOvr>
  <p:transition>
    <p:fade/>
  </p:transition>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_3">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30E57CC7-163C-B847-9127-71FEC21CB8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31135058"/>
      </p:ext>
    </p:extLst>
  </p:cSld>
  <p:clrMapOvr>
    <a:masterClrMapping/>
  </p:clrMapOvr>
  <p:transition>
    <p:fade/>
  </p:transition>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_4">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127E473-81C3-9141-8742-48EFD1E9E4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133995091"/>
      </p:ext>
    </p:extLst>
  </p:cSld>
  <p:clrMapOvr>
    <a:masterClrMapping/>
  </p:clrMapOvr>
  <p:transition>
    <p:fade/>
  </p:transition>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_5">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9BCC3FF-9212-1A4D-B6CC-E7BAB6E3491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115783915"/>
      </p:ext>
    </p:extLst>
  </p:cSld>
  <p:clrMapOvr>
    <a:masterClrMapping/>
  </p:clrMapOvr>
  <p:transition>
    <p:fade/>
  </p:transition>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_6">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E0746CF9-0210-E241-8CC0-D4536C169E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474061126"/>
      </p:ext>
    </p:extLst>
  </p:cSld>
  <p:clrMapOvr>
    <a:masterClrMapping/>
  </p:clrMapOvr>
  <p:transition>
    <p:fade/>
  </p:transition>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8330118-7E69-4295-8E46-2D3C12A6145D}"/>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05BBAA7F-5B33-4C2D-834A-3AA3431DEAD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63615809"/>
      </p:ext>
    </p:extLst>
  </p:cSld>
  <p:clrMapOvr>
    <a:masterClrMapping/>
  </p:clrMapOvr>
  <p:transition>
    <p:fade/>
  </p:transition>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Blank_Navy">
    <p:bg>
      <p:bgPr>
        <a:solidFill>
          <a:schemeClr val="accent2"/>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729F02E-C568-4079-80DB-8AF35FDEB7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96A942DB-9933-4199-B223-8A9AF3F212C7}"/>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54100341"/>
      </p:ext>
    </p:extLst>
  </p:cSld>
  <p:clrMapOvr>
    <a:masterClrMapping/>
  </p:clrMapOvr>
  <p:transition>
    <p:fade/>
  </p:transition>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_Blue">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8979C7A1-5DB9-493E-B3C9-715A64CE0317}"/>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013BE040-8B17-4BFF-A007-D82BBBEDF8B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226111020"/>
      </p:ext>
    </p:extLst>
  </p:cSld>
  <p:clrMapOvr>
    <a:masterClrMapping/>
  </p:clrMapOvr>
  <p:transition>
    <p:fade/>
  </p:transition>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936435931"/>
      </p:ext>
    </p:extLst>
  </p:cSld>
  <p:clrMapOvr>
    <a:masterClrMapping/>
  </p:clrMapOvr>
  <p:transition>
    <p:fade/>
  </p:transition>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_Numbered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2533A365-6B39-4527-855B-F6BC2552BB05}"/>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F34E0601-1B6B-4C1C-BC8D-DB3DC9ACA0E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99729763"/>
      </p:ext>
    </p:extLst>
  </p:cSld>
  <p:clrMapOvr>
    <a:masterClrMapping/>
  </p:clrMapOvr>
  <p:transition>
    <p:fade/>
  </p:transition>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_Month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1CB59D0E-3483-4788-94CE-219A5C05F734}"/>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26E36EA7-CB06-4ADF-8688-B244FE6316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763899369"/>
      </p:ext>
    </p:extLst>
  </p:cSld>
  <p:clrMapOvr>
    <a:masterClrMapping/>
  </p:clrMapOvr>
  <p:transition>
    <p:fade/>
  </p:transition>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_Week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878CC1B1-AA6B-463B-A774-049792B3AC10}"/>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028E4364-080D-4863-8D44-AEE3D29D134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78813367"/>
      </p:ext>
    </p:extLst>
  </p:cSld>
  <p:clrMapOvr>
    <a:masterClrMapping/>
  </p:clrMapOvr>
  <p:transition>
    <p:fade/>
  </p:transition>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501B1E1-4A0C-4426-8AC4-8B354CF116CE}"/>
              </a:ext>
            </a:extLst>
          </p:cNvPr>
          <p:cNvSpPr>
            <a:spLocks noGrp="1"/>
          </p:cNvSpPr>
          <p:nvPr>
            <p:ph type="body" sz="quarter" idx="10" hasCustomPrompt="1"/>
          </p:nvPr>
        </p:nvSpPr>
        <p:spPr>
          <a:xfrm>
            <a:off x="0" y="6294769"/>
            <a:ext cx="12192000" cy="563231"/>
          </a:xfrm>
          <a:solidFill>
            <a:srgbClr val="FFFF99"/>
          </a:solidFill>
        </p:spPr>
        <p:txBody>
          <a:bodyPr lIns="91440" tIns="91440" rIns="91440" bIns="91440">
            <a:noAutofit/>
          </a:bodyPr>
          <a:lstStyle>
            <a:lvl1pPr marL="0" indent="0" algn="r">
              <a:buNone/>
              <a:defRPr sz="2400"/>
            </a:lvl1pPr>
          </a:lstStyle>
          <a:p>
            <a:pPr lvl="0"/>
            <a:r>
              <a:rPr lang="en-US"/>
              <a:t>Next</a:t>
            </a:r>
          </a:p>
        </p:txBody>
      </p:sp>
    </p:spTree>
    <p:extLst>
      <p:ext uri="{BB962C8B-B14F-4D97-AF65-F5344CB8AC3E}">
        <p14:creationId xmlns:p14="http://schemas.microsoft.com/office/powerpoint/2010/main" val="728067837"/>
      </p:ext>
    </p:extLst>
  </p:cSld>
  <p:clrMapOvr>
    <a:masterClrMapping/>
  </p:clrMapOvr>
  <p:transition>
    <p:fade/>
  </p:transition>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userDrawn="1"/>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990A1EA-0184-4AE1-8858-D03AFEEF9B8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162410B6-6E3D-4CB2-A003-281A600A92F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631623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771C3853-B766-4422-BD2B-65A999523B3C}"/>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135085315"/>
      </p:ext>
    </p:extLst>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 id="2147484080" r:id="rId12"/>
    <p:sldLayoutId id="2147484081" r:id="rId13"/>
    <p:sldLayoutId id="2147484082" r:id="rId14"/>
    <p:sldLayoutId id="2147484083" r:id="rId15"/>
    <p:sldLayoutId id="2147484084" r:id="rId16"/>
    <p:sldLayoutId id="2147484085" r:id="rId17"/>
    <p:sldLayoutId id="2147484086" r:id="rId18"/>
    <p:sldLayoutId id="2147484087" r:id="rId19"/>
    <p:sldLayoutId id="2147484088" r:id="rId20"/>
    <p:sldLayoutId id="2147484089" r:id="rId21"/>
    <p:sldLayoutId id="2147484090" r:id="rId22"/>
    <p:sldLayoutId id="2147484091" r:id="rId23"/>
    <p:sldLayoutId id="2147484092" r:id="rId24"/>
    <p:sldLayoutId id="2147484093" r:id="rId25"/>
    <p:sldLayoutId id="2147484094" r:id="rId26"/>
    <p:sldLayoutId id="2147484095" r:id="rId27"/>
    <p:sldLayoutId id="2147484096" r:id="rId28"/>
    <p:sldLayoutId id="2147484097" r:id="rId29"/>
    <p:sldLayoutId id="2147484098" r:id="rId30"/>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4.xml"/><Relationship Id="rId1" Type="http://schemas.openxmlformats.org/officeDocument/2006/relationships/tags" Target="../tags/tag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4.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customXml" Target="../../customXml/item8.xml"/><Relationship Id="rId1" Type="http://schemas.openxmlformats.org/officeDocument/2006/relationships/tags" Target="../tags/tag5.xml"/><Relationship Id="rId5" Type="http://schemas.openxmlformats.org/officeDocument/2006/relationships/image" Target="../media/image3.jpe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10.xml"/><Relationship Id="rId1" Type="http://schemas.openxmlformats.org/officeDocument/2006/relationships/tags" Target="../tags/tag6.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13.xml"/><Relationship Id="rId1" Type="http://schemas.openxmlformats.org/officeDocument/2006/relationships/tags" Target="../tags/tag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hyperlink" Target="https://cilium.io/use-cases/cni/" TargetMode="External"/><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image" Target="../media/image17.png"/><Relationship Id="rId2" Type="http://schemas.openxmlformats.org/officeDocument/2006/relationships/customXml" Target="../../customXml/item18.xml"/><Relationship Id="rId1" Type="http://schemas.openxmlformats.org/officeDocument/2006/relationships/tags" Target="../tags/tag8.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6.xml"/><Relationship Id="rId1" Type="http://schemas.openxmlformats.org/officeDocument/2006/relationships/tags" Target="../tags/tag9.xml"/><Relationship Id="rId6" Type="http://schemas.openxmlformats.org/officeDocument/2006/relationships/image" Target="../media/image16.png"/><Relationship Id="rId5" Type="http://schemas.openxmlformats.org/officeDocument/2006/relationships/image" Target="../media/image17.png"/><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tags" Target="../tags/tag10.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slideLayout" Target="../slideLayouts/slideLayout15.xml"/><Relationship Id="rId7" Type="http://schemas.openxmlformats.org/officeDocument/2006/relationships/image" Target="../media/image23.svg"/><Relationship Id="rId2" Type="http://schemas.openxmlformats.org/officeDocument/2006/relationships/customXml" Target="../../customXml/item42.xml"/><Relationship Id="rId1" Type="http://schemas.openxmlformats.org/officeDocument/2006/relationships/tags" Target="../tags/tag11.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6.xml"/><Relationship Id="rId1" Type="http://schemas.openxmlformats.org/officeDocument/2006/relationships/tags" Target="../tags/tag12.xml"/><Relationship Id="rId6" Type="http://schemas.openxmlformats.org/officeDocument/2006/relationships/image" Target="../media/image23.svg"/><Relationship Id="rId5" Type="http://schemas.openxmlformats.org/officeDocument/2006/relationships/image" Target="../media/image22.svg"/><Relationship Id="rId4" Type="http://schemas.openxmlformats.org/officeDocument/2006/relationships/image" Target="../media/image24.svg"/></Relationships>
</file>

<file path=ppt/slides/_rels/slide28.xml.rels><?xml version="1.0" encoding="UTF-8" standalone="yes"?>
<Relationships xmlns="http://schemas.openxmlformats.org/package/2006/relationships"><Relationship Id="rId2" Type="http://schemas.openxmlformats.org/officeDocument/2006/relationships/hyperlink" Target="https://learn.microsoft.com/en-us/azure/aks/egress-outboundtype" TargetMode="Externa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tags" Target="../tags/tag13.xml"/><Relationship Id="rId4" Type="http://schemas.openxmlformats.org/officeDocument/2006/relationships/image" Target="../media/image21.sv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24.xml"/><Relationship Id="rId1" Type="http://schemas.openxmlformats.org/officeDocument/2006/relationships/tags" Target="../tags/tag14.xml"/><Relationship Id="rId5" Type="http://schemas.openxmlformats.org/officeDocument/2006/relationships/image" Target="../media/image25.png"/><Relationship Id="rId4"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7.xml"/><Relationship Id="rId1" Type="http://schemas.openxmlformats.org/officeDocument/2006/relationships/tags" Target="../tags/tag15.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3.xml"/><Relationship Id="rId1" Type="http://schemas.openxmlformats.org/officeDocument/2006/relationships/tags" Target="../tags/tag16.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3.xml"/><Relationship Id="rId1" Type="http://schemas.openxmlformats.org/officeDocument/2006/relationships/tags" Target="../tags/tag1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name="HIDDEN - Slide3">
    <p:spTree>
      <p:nvGrpSpPr>
        <p:cNvPr id="1" name=""/>
        <p:cNvGrpSpPr/>
        <p:nvPr/>
      </p:nvGrpSpPr>
      <p:grpSpPr>
        <a:xfrm>
          <a:off x="0" y="0"/>
          <a:ext cx="0" cy="0"/>
          <a:chOff x="0" y="0"/>
          <a:chExt cx="0" cy="0"/>
        </a:xfrm>
      </p:grpSpPr>
      <p:sp>
        <p:nvSpPr>
          <p:cNvPr id="4" name="Title 3"/>
          <p:cNvSpPr>
            <a:spLocks noGrp="1"/>
          </p:cNvSpPr>
          <p:nvPr>
            <p:ph type="title"/>
            <p:custDataLst>
              <p:custData r:id="rId2"/>
            </p:custDataLst>
          </p:nvPr>
        </p:nvSpPr>
        <p:spPr>
          <a:xfrm>
            <a:off x="584200" y="4334637"/>
            <a:ext cx="7298437" cy="1015663"/>
          </a:xfrm>
        </p:spPr>
        <p:txBody>
          <a:bodyPr/>
          <a:lstStyle/>
          <a:p>
            <a:r>
              <a:rPr lang="en-US" dirty="0">
                <a:latin typeface="Segoe UI Semibold"/>
                <a:cs typeface="Segoe UI Semibold"/>
              </a:rPr>
              <a:t>AKS Networking</a:t>
            </a:r>
            <a:endParaRPr lang="en-US" dirty="0"/>
          </a:p>
        </p:txBody>
      </p:sp>
      <p:sp>
        <p:nvSpPr>
          <p:cNvPr id="6" name="Subtitle 5">
            <a:extLst>
              <a:ext uri="{FF2B5EF4-FFF2-40B4-BE49-F238E27FC236}">
                <a16:creationId xmlns:a16="http://schemas.microsoft.com/office/drawing/2014/main" id="{12808BD5-6BEE-4164-9264-E55A823F2E3D}"/>
              </a:ext>
            </a:extLst>
          </p:cNvPr>
          <p:cNvSpPr>
            <a:spLocks noGrp="1"/>
          </p:cNvSpPr>
          <p:nvPr>
            <p:ph type="body" sz="quarter" idx="12"/>
          </p:nvPr>
        </p:nvSpPr>
        <p:spPr>
          <a:xfrm>
            <a:off x="582042" y="5634620"/>
            <a:ext cx="6539753" cy="338554"/>
          </a:xfrm>
        </p:spPr>
        <p:txBody>
          <a:bodyPr vert="horz" wrap="square" lIns="0" tIns="0" rIns="0" bIns="0" rtlCol="0" anchor="t">
            <a:normAutofit/>
          </a:bodyPr>
          <a:lstStyle/>
          <a:p>
            <a:r>
              <a:rPr lang="en-US" err="1">
                <a:cs typeface="Segoe UI"/>
              </a:rPr>
              <a:t>WorkshopPlus</a:t>
            </a:r>
            <a:r>
              <a:rPr lang="en-US" dirty="0">
                <a:cs typeface="Segoe UI"/>
              </a:rPr>
              <a:t> – Kubernetes Technical Briefing</a:t>
            </a:r>
            <a:endParaRPr lang="en-US" dirty="0"/>
          </a:p>
        </p:txBody>
      </p:sp>
    </p:spTree>
    <p:custDataLst>
      <p:tags r:id="rId1"/>
    </p:custDataLst>
    <p:extLst>
      <p:ext uri="{BB962C8B-B14F-4D97-AF65-F5344CB8AC3E}">
        <p14:creationId xmlns:p14="http://schemas.microsoft.com/office/powerpoint/2010/main" val="2181956486"/>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79B42-69EC-4737-A1D3-6170002B2FA4}"/>
              </a:ext>
            </a:extLst>
          </p:cNvPr>
          <p:cNvSpPr>
            <a:spLocks noGrp="1"/>
          </p:cNvSpPr>
          <p:nvPr>
            <p:ph type="title"/>
          </p:nvPr>
        </p:nvSpPr>
        <p:spPr/>
        <p:txBody>
          <a:bodyPr/>
          <a:lstStyle/>
          <a:p>
            <a:r>
              <a:rPr lang="en-US"/>
              <a:t>Conditions and terms of use</a:t>
            </a:r>
          </a:p>
        </p:txBody>
      </p:sp>
      <p:sp>
        <p:nvSpPr>
          <p:cNvPr id="7" name="Rectangle 6">
            <a:extLst>
              <a:ext uri="{FF2B5EF4-FFF2-40B4-BE49-F238E27FC236}">
                <a16:creationId xmlns:a16="http://schemas.microsoft.com/office/drawing/2014/main" id="{C30D5E87-BF27-48B8-9B35-B55C04B9CBAE}"/>
              </a:ext>
            </a:extLst>
          </p:cNvPr>
          <p:cNvSpPr/>
          <p:nvPr/>
        </p:nvSpPr>
        <p:spPr bwMode="auto">
          <a:xfrm>
            <a:off x="571500" y="1574244"/>
            <a:ext cx="11049000" cy="3632756"/>
          </a:xfrm>
          <a:prstGeom prst="rect">
            <a:avLst/>
          </a:prstGeom>
          <a:solidFill>
            <a:schemeClr val="bg1"/>
          </a:solidFill>
          <a:ln w="3175">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102">
              <a:spcBef>
                <a:spcPts val="600"/>
              </a:spcBef>
              <a:spcAft>
                <a:spcPts val="600"/>
              </a:spcAft>
              <a:defRPr/>
            </a:pPr>
            <a:r>
              <a:rPr lang="en-US">
                <a:solidFill>
                  <a:schemeClr val="tx1"/>
                </a:solidFill>
                <a:cs typeface="Segoe UI Semibold"/>
              </a:rPr>
              <a:t>© Microsoft Corporation. All rights reserved.</a:t>
            </a:r>
            <a:endParaRPr lang="en-US">
              <a:solidFill>
                <a:schemeClr val="tx1"/>
              </a:solidFill>
              <a:cs typeface="Segoe UI Semibold" panose="020B0702040204020203" pitchFamily="34" charset="0"/>
            </a:endParaRPr>
          </a:p>
          <a:p>
            <a:pPr algn="ctr" defTabSz="914102">
              <a:spcBef>
                <a:spcPts val="600"/>
              </a:spcBef>
              <a:spcAft>
                <a:spcPts val="600"/>
              </a:spcAft>
              <a:defRPr/>
            </a:pPr>
            <a:r>
              <a:rPr lang="en-US">
                <a:solidFill>
                  <a:schemeClr val="tx1"/>
                </a:solidFill>
                <a:cs typeface="Segoe UI Semibold"/>
              </a:rPr>
              <a:t>You may use these training materials solely for your personal internal reference and non-commercial purposes.  You may not distribute, transmit, resell or otherwise make these training materials available to any other person or party without express permission from Microsoft Corporation.  URL’s or other internet website references in the training materials may change without notice.  Unless otherwise noted, any companies, organizations, domain names, e-mail addresses, people, places and events depicted in the training materials are for illustration only and are fictitious. No real association is intended or inferred. THESE TRAINING MATERIALS ARE PROVIDED “AS IS”; MICROSOFT MAKES NO WARRANTIES, EXPRESS OR IMPLIED IN THESE TRAINING MATERIALS</a:t>
            </a:r>
            <a:r>
              <a:rPr lang="en-US" baseline="30000">
                <a:solidFill>
                  <a:schemeClr val="tx1"/>
                </a:solidFill>
                <a:cs typeface="Segoe UI Semibold"/>
              </a:rPr>
              <a:t>1</a:t>
            </a:r>
            <a:endParaRPr lang="en-US" b="0" i="0" u="none" strike="noStrike" kern="1200" cap="none" spc="0" normalizeH="0" baseline="30000" noProof="0">
              <a:ln>
                <a:noFill/>
              </a:ln>
              <a:solidFill>
                <a:schemeClr val="tx1"/>
              </a:solidFill>
              <a:effectLst/>
              <a:uLnTx/>
              <a:uFillTx/>
              <a:cs typeface="Segoe UI Semibold"/>
            </a:endParaRPr>
          </a:p>
        </p:txBody>
      </p:sp>
      <p:grpSp>
        <p:nvGrpSpPr>
          <p:cNvPr id="8" name="Group 7">
            <a:extLst>
              <a:ext uri="{FF2B5EF4-FFF2-40B4-BE49-F238E27FC236}">
                <a16:creationId xmlns:a16="http://schemas.microsoft.com/office/drawing/2014/main" id="{DE823F62-E09A-466D-A142-2BCF56FBE584}"/>
              </a:ext>
              <a:ext uri="{C183D7F6-B498-43B3-948B-1728B52AA6E4}">
                <adec:decorative xmlns:adec="http://schemas.microsoft.com/office/drawing/2017/decorative" val="1"/>
              </a:ext>
            </a:extLst>
          </p:cNvPr>
          <p:cNvGrpSpPr/>
          <p:nvPr/>
        </p:nvGrpSpPr>
        <p:grpSpPr>
          <a:xfrm>
            <a:off x="571500" y="1574244"/>
            <a:ext cx="11049000" cy="3632756"/>
            <a:chOff x="571500" y="1574244"/>
            <a:chExt cx="11049000" cy="3632756"/>
          </a:xfrm>
        </p:grpSpPr>
        <p:sp>
          <p:nvSpPr>
            <p:cNvPr id="9" name="Half Frame 8">
              <a:extLst>
                <a:ext uri="{FF2B5EF4-FFF2-40B4-BE49-F238E27FC236}">
                  <a16:creationId xmlns:a16="http://schemas.microsoft.com/office/drawing/2014/main" id="{B1F83F9C-3EE7-440E-B6ED-3AE225C18EC6}"/>
                </a:ext>
                <a:ext uri="{C183D7F6-B498-43B3-948B-1728B52AA6E4}">
                  <adec:decorative xmlns:adec="http://schemas.microsoft.com/office/drawing/2017/decorative" val="1"/>
                </a:ext>
              </a:extLst>
            </p:cNvPr>
            <p:cNvSpPr/>
            <p:nvPr/>
          </p:nvSpPr>
          <p:spPr bwMode="auto">
            <a:xfrm rot="5400000" flipV="1">
              <a:off x="581472" y="1564272"/>
              <a:ext cx="427732" cy="447675"/>
            </a:xfrm>
            <a:prstGeom prst="halfFrame">
              <a:avLst>
                <a:gd name="adj1" fmla="val 0"/>
                <a:gd name="adj2" fmla="val 0"/>
              </a:avLst>
            </a:prstGeom>
            <a:solidFill>
              <a:schemeClr val="tx2"/>
            </a:solidFill>
            <a:ln w="381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Half Frame 9">
              <a:extLst>
                <a:ext uri="{FF2B5EF4-FFF2-40B4-BE49-F238E27FC236}">
                  <a16:creationId xmlns:a16="http://schemas.microsoft.com/office/drawing/2014/main" id="{206932E9-4F7D-4000-972A-77B375DA6D88}"/>
                </a:ext>
                <a:ext uri="{C183D7F6-B498-43B3-948B-1728B52AA6E4}">
                  <adec:decorative xmlns:adec="http://schemas.microsoft.com/office/drawing/2017/decorative" val="1"/>
                </a:ext>
              </a:extLst>
            </p:cNvPr>
            <p:cNvSpPr/>
            <p:nvPr/>
          </p:nvSpPr>
          <p:spPr bwMode="auto">
            <a:xfrm rot="10800000">
              <a:off x="11192768" y="4759325"/>
              <a:ext cx="427732" cy="447675"/>
            </a:xfrm>
            <a:prstGeom prst="halfFrame">
              <a:avLst>
                <a:gd name="adj1" fmla="val 0"/>
                <a:gd name="adj2" fmla="val 0"/>
              </a:avLst>
            </a:prstGeom>
            <a:solidFill>
              <a:schemeClr val="tx2"/>
            </a:solidFill>
            <a:ln w="381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19" name="Footer Placeholder 2">
            <a:extLst>
              <a:ext uri="{FF2B5EF4-FFF2-40B4-BE49-F238E27FC236}">
                <a16:creationId xmlns:a16="http://schemas.microsoft.com/office/drawing/2014/main" id="{A04B054A-A721-4144-96FE-966534FB355F}"/>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0" name="Slide Number Placeholder 12">
            <a:extLst>
              <a:ext uri="{FF2B5EF4-FFF2-40B4-BE49-F238E27FC236}">
                <a16:creationId xmlns:a16="http://schemas.microsoft.com/office/drawing/2014/main" id="{C94FEEB5-7104-458C-8C7F-BD5D4C6A13B9}"/>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2242852715"/>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71322-9F37-477D-9B5B-EBF49D8B1DE4}"/>
              </a:ext>
            </a:extLst>
          </p:cNvPr>
          <p:cNvSpPr>
            <a:spLocks noGrp="1"/>
          </p:cNvSpPr>
          <p:nvPr>
            <p:ph type="title"/>
          </p:nvPr>
        </p:nvSpPr>
        <p:spPr>
          <a:xfrm>
            <a:off x="575481" y="599436"/>
            <a:ext cx="11018520" cy="1107996"/>
          </a:xfrm>
        </p:spPr>
        <p:txBody>
          <a:bodyPr lIns="0" tIns="0" rIns="0" bIns="0" anchor="t"/>
          <a:lstStyle/>
          <a:p>
            <a:r>
              <a:rPr lang="en-US"/>
              <a:t>Learning Units covered </a:t>
            </a:r>
            <a:br>
              <a:rPr lang="en-US"/>
            </a:br>
            <a:r>
              <a:rPr lang="en-US"/>
              <a:t>in this Module   </a:t>
            </a:r>
          </a:p>
        </p:txBody>
      </p:sp>
      <p:graphicFrame>
        <p:nvGraphicFramePr>
          <p:cNvPr id="40" name="Table 3">
            <a:extLst>
              <a:ext uri="{FF2B5EF4-FFF2-40B4-BE49-F238E27FC236}">
                <a16:creationId xmlns:a16="http://schemas.microsoft.com/office/drawing/2014/main" id="{AC7A2A35-EB6E-428E-BCEC-3E58E036016D}"/>
              </a:ext>
            </a:extLst>
          </p:cNvPr>
          <p:cNvGraphicFramePr>
            <a:graphicFrameLocks noGrp="1"/>
          </p:cNvGraphicFramePr>
          <p:nvPr>
            <p:extLst>
              <p:ext uri="{D42A27DB-BD31-4B8C-83A1-F6EECF244321}">
                <p14:modId xmlns:p14="http://schemas.microsoft.com/office/powerpoint/2010/main" val="3683781144"/>
              </p:ext>
            </p:extLst>
          </p:nvPr>
        </p:nvGraphicFramePr>
        <p:xfrm>
          <a:off x="575481" y="1815577"/>
          <a:ext cx="5669280" cy="4457500"/>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245818860"/>
                    </a:ext>
                  </a:extLst>
                </a:gridCol>
                <a:gridCol w="4846320">
                  <a:extLst>
                    <a:ext uri="{9D8B030D-6E8A-4147-A177-3AD203B41FA5}">
                      <a16:colId xmlns:a16="http://schemas.microsoft.com/office/drawing/2014/main" val="3975527072"/>
                    </a:ext>
                  </a:extLst>
                </a:gridCol>
              </a:tblGrid>
              <a:tr h="891500">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en-US" b="0" dirty="0">
                          <a:solidFill>
                            <a:schemeClr val="tx1"/>
                          </a:solidFill>
                        </a:rPr>
                        <a:t>AKS Network Architecture</a:t>
                      </a: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76677287"/>
                  </a:ext>
                </a:extLst>
              </a:tr>
              <a:tr h="891500">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en-US" dirty="0"/>
                        <a:t>Container Networking Interfaces (CNIs)</a:t>
                      </a: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16497433"/>
                  </a:ext>
                </a:extLst>
              </a:tr>
              <a:tr h="891500">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en-US" dirty="0"/>
                        <a:t>AKS Ingress</a:t>
                      </a: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88902310"/>
                  </a:ext>
                </a:extLst>
              </a:tr>
              <a:tr h="891500">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en-US" dirty="0"/>
                        <a:t>AKS Egress</a:t>
                      </a: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01743516"/>
                  </a:ext>
                </a:extLst>
              </a:tr>
              <a:tr h="891500">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en-US" dirty="0"/>
                        <a:t>Advanced Container Networking Service (ACNS)</a:t>
                      </a: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153319110"/>
                  </a:ext>
                </a:extLst>
              </a:tr>
            </a:tbl>
          </a:graphicData>
        </a:graphic>
      </p:graphicFrame>
      <p:grpSp>
        <p:nvGrpSpPr>
          <p:cNvPr id="105" name="Group 104">
            <a:extLst>
              <a:ext uri="{FF2B5EF4-FFF2-40B4-BE49-F238E27FC236}">
                <a16:creationId xmlns:a16="http://schemas.microsoft.com/office/drawing/2014/main" id="{9745832A-1895-4BB9-B4D6-8BB0780F82AA}"/>
              </a:ext>
              <a:ext uri="{C183D7F6-B498-43B3-948B-1728B52AA6E4}">
                <adec:decorative xmlns:adec="http://schemas.microsoft.com/office/drawing/2017/decorative" val="1"/>
              </a:ext>
            </a:extLst>
          </p:cNvPr>
          <p:cNvGrpSpPr>
            <a:grpSpLocks noChangeAspect="1"/>
          </p:cNvGrpSpPr>
          <p:nvPr/>
        </p:nvGrpSpPr>
        <p:grpSpPr>
          <a:xfrm>
            <a:off x="777563" y="2072523"/>
            <a:ext cx="411480" cy="411480"/>
            <a:chOff x="10323474" y="1468393"/>
            <a:chExt cx="751672" cy="751672"/>
          </a:xfrm>
        </p:grpSpPr>
        <p:sp>
          <p:nvSpPr>
            <p:cNvPr id="106" name="Oval 105">
              <a:extLst>
                <a:ext uri="{FF2B5EF4-FFF2-40B4-BE49-F238E27FC236}">
                  <a16:creationId xmlns:a16="http://schemas.microsoft.com/office/drawing/2014/main" id="{58810D91-6A2C-4682-90AE-52A9D85D7085}"/>
                </a:ext>
                <a:ext uri="{C183D7F6-B498-43B3-948B-1728B52AA6E4}">
                  <adec:decorative xmlns:adec="http://schemas.microsoft.com/office/drawing/2017/decorative" val="1"/>
                </a:ext>
              </a:extLst>
            </p:cNvPr>
            <p:cNvSpPr>
              <a:spLocks/>
            </p:cNvSpPr>
            <p:nvPr/>
          </p:nvSpPr>
          <p:spPr bwMode="auto">
            <a:xfrm>
              <a:off x="10323474"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nvGrpSpPr>
            <p:cNvPr id="107" name="Group 106">
              <a:extLst>
                <a:ext uri="{FF2B5EF4-FFF2-40B4-BE49-F238E27FC236}">
                  <a16:creationId xmlns:a16="http://schemas.microsoft.com/office/drawing/2014/main" id="{E3DAB830-65B9-439D-A0C9-BF1382609025}"/>
                </a:ext>
                <a:ext uri="{C183D7F6-B498-43B3-948B-1728B52AA6E4}">
                  <adec:decorative xmlns:adec="http://schemas.microsoft.com/office/drawing/2017/decorative" val="1"/>
                </a:ext>
              </a:extLst>
            </p:cNvPr>
            <p:cNvGrpSpPr/>
            <p:nvPr/>
          </p:nvGrpSpPr>
          <p:grpSpPr>
            <a:xfrm>
              <a:off x="10472703" y="1678978"/>
              <a:ext cx="453205" cy="330587"/>
              <a:chOff x="1317737" y="7238855"/>
              <a:chExt cx="596040" cy="434772"/>
            </a:xfrm>
          </p:grpSpPr>
          <p:sp>
            <p:nvSpPr>
              <p:cNvPr id="108" name="Freeform: Shape 107">
                <a:extLst>
                  <a:ext uri="{FF2B5EF4-FFF2-40B4-BE49-F238E27FC236}">
                    <a16:creationId xmlns:a16="http://schemas.microsoft.com/office/drawing/2014/main" id="{73BDE4CC-4C24-4AFD-BCF6-C3A3463351E5}"/>
                  </a:ext>
                </a:extLst>
              </p:cNvPr>
              <p:cNvSpPr/>
              <p:nvPr/>
            </p:nvSpPr>
            <p:spPr>
              <a:xfrm>
                <a:off x="1758961" y="7397541"/>
                <a:ext cx="154816" cy="180617"/>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09" name="Freeform: Shape 108">
                <a:extLst>
                  <a:ext uri="{FF2B5EF4-FFF2-40B4-BE49-F238E27FC236}">
                    <a16:creationId xmlns:a16="http://schemas.microsoft.com/office/drawing/2014/main" id="{4CEF8322-DFDC-42CA-B69C-4CCAD71C0C54}"/>
                  </a:ext>
                </a:extLst>
              </p:cNvPr>
              <p:cNvSpPr/>
              <p:nvPr/>
            </p:nvSpPr>
            <p:spPr>
              <a:xfrm>
                <a:off x="1317737" y="7397541"/>
                <a:ext cx="154816" cy="180617"/>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10" name="Freeform: Shape 109">
                <a:extLst>
                  <a:ext uri="{FF2B5EF4-FFF2-40B4-BE49-F238E27FC236}">
                    <a16:creationId xmlns:a16="http://schemas.microsoft.com/office/drawing/2014/main" id="{2270842D-0EE4-4F5F-9CB6-061E051A1902}"/>
                  </a:ext>
                </a:extLst>
              </p:cNvPr>
              <p:cNvSpPr/>
              <p:nvPr/>
            </p:nvSpPr>
            <p:spPr>
              <a:xfrm>
                <a:off x="1340959" y="7282719"/>
                <a:ext cx="116112" cy="103210"/>
              </a:xfrm>
              <a:custGeom>
                <a:avLst/>
                <a:gdLst>
                  <a:gd name="connsiteX0" fmla="*/ 44496 w 85725"/>
                  <a:gd name="connsiteY0" fmla="*/ 65451 h 76200"/>
                  <a:gd name="connsiteX1" fmla="*/ 20683 w 85725"/>
                  <a:gd name="connsiteY1" fmla="*/ 77833 h 76200"/>
                  <a:gd name="connsiteX2" fmla="*/ 25446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0691 w 85725"/>
                  <a:gd name="connsiteY7" fmla="*/ 34018 h 76200"/>
                  <a:gd name="connsiteX8" fmla="*/ 62593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0683" y="77833"/>
                    </a:lnTo>
                    <a:lnTo>
                      <a:pt x="25446" y="52116"/>
                    </a:lnTo>
                    <a:lnTo>
                      <a:pt x="7348" y="34018"/>
                    </a:lnTo>
                    <a:lnTo>
                      <a:pt x="33066" y="30208"/>
                    </a:lnTo>
                    <a:lnTo>
                      <a:pt x="44496" y="7348"/>
                    </a:lnTo>
                    <a:lnTo>
                      <a:pt x="55926" y="30208"/>
                    </a:lnTo>
                    <a:lnTo>
                      <a:pt x="80691" y="34018"/>
                    </a:lnTo>
                    <a:lnTo>
                      <a:pt x="62593"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11" name="Freeform: Shape 110">
                <a:extLst>
                  <a:ext uri="{FF2B5EF4-FFF2-40B4-BE49-F238E27FC236}">
                    <a16:creationId xmlns:a16="http://schemas.microsoft.com/office/drawing/2014/main" id="{F40A1A06-DDA8-465B-AEEE-3557965CA7C3}"/>
                  </a:ext>
                </a:extLst>
              </p:cNvPr>
              <p:cNvSpPr/>
              <p:nvPr/>
            </p:nvSpPr>
            <p:spPr>
              <a:xfrm>
                <a:off x="1778313" y="7282719"/>
                <a:ext cx="116112" cy="103210"/>
              </a:xfrm>
              <a:custGeom>
                <a:avLst/>
                <a:gdLst>
                  <a:gd name="connsiteX0" fmla="*/ 44496 w 85725"/>
                  <a:gd name="connsiteY0" fmla="*/ 65451 h 76200"/>
                  <a:gd name="connsiteX1" fmla="*/ 21636 w 85725"/>
                  <a:gd name="connsiteY1" fmla="*/ 77833 h 76200"/>
                  <a:gd name="connsiteX2" fmla="*/ 26398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1643 w 85725"/>
                  <a:gd name="connsiteY7" fmla="*/ 34018 h 76200"/>
                  <a:gd name="connsiteX8" fmla="*/ 63546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1636" y="77833"/>
                    </a:lnTo>
                    <a:lnTo>
                      <a:pt x="26398" y="52116"/>
                    </a:lnTo>
                    <a:lnTo>
                      <a:pt x="7348" y="34018"/>
                    </a:lnTo>
                    <a:lnTo>
                      <a:pt x="33066" y="30208"/>
                    </a:lnTo>
                    <a:lnTo>
                      <a:pt x="44496" y="7348"/>
                    </a:lnTo>
                    <a:lnTo>
                      <a:pt x="55926" y="30208"/>
                    </a:lnTo>
                    <a:lnTo>
                      <a:pt x="81643" y="34018"/>
                    </a:lnTo>
                    <a:lnTo>
                      <a:pt x="63546"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12" name="Freeform: Shape 111">
                <a:extLst>
                  <a:ext uri="{FF2B5EF4-FFF2-40B4-BE49-F238E27FC236}">
                    <a16:creationId xmlns:a16="http://schemas.microsoft.com/office/drawing/2014/main" id="{FAE92BEB-5D8F-4B24-9539-2738599636F2}"/>
                  </a:ext>
                </a:extLst>
              </p:cNvPr>
              <p:cNvSpPr/>
              <p:nvPr/>
            </p:nvSpPr>
            <p:spPr>
              <a:xfrm>
                <a:off x="1378372" y="7553645"/>
                <a:ext cx="38704" cy="38704"/>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4" y="26398"/>
                      <a:pt x="16873" y="26398"/>
                    </a:cubicBezTo>
                    <a:cubicBezTo>
                      <a:pt x="11612" y="26398"/>
                      <a:pt x="7348" y="22134"/>
                      <a:pt x="7348" y="16873"/>
                    </a:cubicBezTo>
                    <a:cubicBezTo>
                      <a:pt x="7348" y="11613"/>
                      <a:pt x="11612" y="7348"/>
                      <a:pt x="16873" y="7348"/>
                    </a:cubicBezTo>
                    <a:cubicBezTo>
                      <a:pt x="22134"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13" name="Freeform: Shape 112">
                <a:extLst>
                  <a:ext uri="{FF2B5EF4-FFF2-40B4-BE49-F238E27FC236}">
                    <a16:creationId xmlns:a16="http://schemas.microsoft.com/office/drawing/2014/main" id="{30DF4860-751A-4DAD-A10E-720B8ECB0DE6}"/>
                  </a:ext>
                </a:extLst>
              </p:cNvPr>
              <p:cNvSpPr/>
              <p:nvPr/>
            </p:nvSpPr>
            <p:spPr>
              <a:xfrm>
                <a:off x="1818307" y="7553645"/>
                <a:ext cx="38704" cy="38704"/>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3" y="26398"/>
                      <a:pt x="16873" y="26398"/>
                    </a:cubicBezTo>
                    <a:cubicBezTo>
                      <a:pt x="11613" y="26398"/>
                      <a:pt x="7348" y="22134"/>
                      <a:pt x="7348" y="16873"/>
                    </a:cubicBezTo>
                    <a:cubicBezTo>
                      <a:pt x="7348" y="11613"/>
                      <a:pt x="11613" y="7348"/>
                      <a:pt x="16873" y="7348"/>
                    </a:cubicBezTo>
                    <a:cubicBezTo>
                      <a:pt x="22133"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14" name="Freeform: Shape 113">
                <a:extLst>
                  <a:ext uri="{FF2B5EF4-FFF2-40B4-BE49-F238E27FC236}">
                    <a16:creationId xmlns:a16="http://schemas.microsoft.com/office/drawing/2014/main" id="{CA26BF0E-930B-4FE5-AD5E-18A5A816B92C}"/>
                  </a:ext>
                </a:extLst>
              </p:cNvPr>
              <p:cNvSpPr/>
              <p:nvPr/>
            </p:nvSpPr>
            <p:spPr>
              <a:xfrm>
                <a:off x="1524158" y="7383349"/>
                <a:ext cx="180618" cy="206420"/>
              </a:xfrm>
              <a:custGeom>
                <a:avLst/>
                <a:gdLst>
                  <a:gd name="connsiteX0" fmla="*/ 31161 w 133350"/>
                  <a:gd name="connsiteY0" fmla="*/ 47353 h 152400"/>
                  <a:gd name="connsiteX1" fmla="*/ 69261 w 133350"/>
                  <a:gd name="connsiteY1" fmla="*/ 7348 h 152400"/>
                  <a:gd name="connsiteX2" fmla="*/ 108313 w 133350"/>
                  <a:gd name="connsiteY2" fmla="*/ 47353 h 152400"/>
                  <a:gd name="connsiteX3" fmla="*/ 69261 w 133350"/>
                  <a:gd name="connsiteY3" fmla="*/ 87358 h 152400"/>
                  <a:gd name="connsiteX4" fmla="*/ 31161 w 133350"/>
                  <a:gd name="connsiteY4" fmla="*/ 47353 h 152400"/>
                  <a:gd name="connsiteX5" fmla="*/ 31161 w 133350"/>
                  <a:gd name="connsiteY5" fmla="*/ 47353 h 152400"/>
                  <a:gd name="connsiteX6" fmla="*/ 131173 w 133350"/>
                  <a:gd name="connsiteY6" fmla="*/ 151176 h 152400"/>
                  <a:gd name="connsiteX7" fmla="*/ 69261 w 133350"/>
                  <a:gd name="connsiteY7" fmla="*/ 87358 h 152400"/>
                  <a:gd name="connsiteX8" fmla="*/ 7348 w 133350"/>
                  <a:gd name="connsiteY8" fmla="*/ 151176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350" h="152400">
                    <a:moveTo>
                      <a:pt x="31161" y="47353"/>
                    </a:moveTo>
                    <a:cubicBezTo>
                      <a:pt x="31161" y="25446"/>
                      <a:pt x="48306" y="7348"/>
                      <a:pt x="69261" y="7348"/>
                    </a:cubicBezTo>
                    <a:cubicBezTo>
                      <a:pt x="90216" y="7348"/>
                      <a:pt x="108313" y="25446"/>
                      <a:pt x="108313" y="47353"/>
                    </a:cubicBezTo>
                    <a:cubicBezTo>
                      <a:pt x="108313" y="69261"/>
                      <a:pt x="90216" y="87358"/>
                      <a:pt x="69261" y="87358"/>
                    </a:cubicBezTo>
                    <a:cubicBezTo>
                      <a:pt x="48306" y="87358"/>
                      <a:pt x="31161" y="69261"/>
                      <a:pt x="31161" y="47353"/>
                    </a:cubicBezTo>
                    <a:lnTo>
                      <a:pt x="31161" y="47353"/>
                    </a:lnTo>
                    <a:close/>
                    <a:moveTo>
                      <a:pt x="131173" y="151176"/>
                    </a:moveTo>
                    <a:cubicBezTo>
                      <a:pt x="131173" y="115933"/>
                      <a:pt x="103551" y="87358"/>
                      <a:pt x="69261" y="87358"/>
                    </a:cubicBezTo>
                    <a:cubicBezTo>
                      <a:pt x="34971" y="87358"/>
                      <a:pt x="7348" y="115933"/>
                      <a:pt x="7348" y="151176"/>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15" name="Freeform: Shape 114">
                <a:extLst>
                  <a:ext uri="{FF2B5EF4-FFF2-40B4-BE49-F238E27FC236}">
                    <a16:creationId xmlns:a16="http://schemas.microsoft.com/office/drawing/2014/main" id="{0A15EA13-FAC7-4292-A7BE-63D7338BC7C6}"/>
                  </a:ext>
                </a:extLst>
              </p:cNvPr>
              <p:cNvSpPr/>
              <p:nvPr/>
            </p:nvSpPr>
            <p:spPr>
              <a:xfrm>
                <a:off x="1540929" y="7238855"/>
                <a:ext cx="141914" cy="141913"/>
              </a:xfrm>
              <a:custGeom>
                <a:avLst/>
                <a:gdLst>
                  <a:gd name="connsiteX0" fmla="*/ 56878 w 104775"/>
                  <a:gd name="connsiteY0" fmla="*/ 85453 h 104775"/>
                  <a:gd name="connsiteX1" fmla="*/ 26398 w 104775"/>
                  <a:gd name="connsiteY1" fmla="*/ 101646 h 104775"/>
                  <a:gd name="connsiteX2" fmla="*/ 32113 w 104775"/>
                  <a:gd name="connsiteY2" fmla="*/ 67356 h 104775"/>
                  <a:gd name="connsiteX3" fmla="*/ 7348 w 104775"/>
                  <a:gd name="connsiteY3" fmla="*/ 43543 h 104775"/>
                  <a:gd name="connsiteX4" fmla="*/ 41638 w 104775"/>
                  <a:gd name="connsiteY4" fmla="*/ 37828 h 104775"/>
                  <a:gd name="connsiteX5" fmla="*/ 56878 w 104775"/>
                  <a:gd name="connsiteY5" fmla="*/ 7348 h 104775"/>
                  <a:gd name="connsiteX6" fmla="*/ 72118 w 104775"/>
                  <a:gd name="connsiteY6" fmla="*/ 37828 h 104775"/>
                  <a:gd name="connsiteX7" fmla="*/ 106408 w 104775"/>
                  <a:gd name="connsiteY7" fmla="*/ 43543 h 104775"/>
                  <a:gd name="connsiteX8" fmla="*/ 81643 w 104775"/>
                  <a:gd name="connsiteY8" fmla="*/ 67356 h 104775"/>
                  <a:gd name="connsiteX9" fmla="*/ 87358 w 104775"/>
                  <a:gd name="connsiteY9" fmla="*/ 101646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775" h="104775">
                    <a:moveTo>
                      <a:pt x="56878" y="85453"/>
                    </a:moveTo>
                    <a:lnTo>
                      <a:pt x="26398" y="101646"/>
                    </a:lnTo>
                    <a:lnTo>
                      <a:pt x="32113" y="67356"/>
                    </a:lnTo>
                    <a:lnTo>
                      <a:pt x="7348" y="43543"/>
                    </a:lnTo>
                    <a:lnTo>
                      <a:pt x="41638" y="37828"/>
                    </a:lnTo>
                    <a:lnTo>
                      <a:pt x="56878" y="7348"/>
                    </a:lnTo>
                    <a:lnTo>
                      <a:pt x="72118" y="37828"/>
                    </a:lnTo>
                    <a:lnTo>
                      <a:pt x="106408" y="43543"/>
                    </a:lnTo>
                    <a:lnTo>
                      <a:pt x="81643" y="67356"/>
                    </a:lnTo>
                    <a:lnTo>
                      <a:pt x="87358" y="101646"/>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16" name="Freeform: Shape 115">
                <a:extLst>
                  <a:ext uri="{FF2B5EF4-FFF2-40B4-BE49-F238E27FC236}">
                    <a16:creationId xmlns:a16="http://schemas.microsoft.com/office/drawing/2014/main" id="{199A4EC3-7BD4-46B9-A9A9-0D202F5420BD}"/>
                  </a:ext>
                </a:extLst>
              </p:cNvPr>
              <p:cNvSpPr/>
              <p:nvPr/>
            </p:nvSpPr>
            <p:spPr>
              <a:xfrm>
                <a:off x="1589954" y="7622022"/>
                <a:ext cx="51605" cy="51605"/>
              </a:xfrm>
              <a:custGeom>
                <a:avLst/>
                <a:gdLst>
                  <a:gd name="connsiteX0" fmla="*/ 34018 w 38100"/>
                  <a:gd name="connsiteY0" fmla="*/ 20683 h 38100"/>
                  <a:gd name="connsiteX1" fmla="*/ 20683 w 38100"/>
                  <a:gd name="connsiteY1" fmla="*/ 34018 h 38100"/>
                  <a:gd name="connsiteX2" fmla="*/ 7348 w 38100"/>
                  <a:gd name="connsiteY2" fmla="*/ 20683 h 38100"/>
                  <a:gd name="connsiteX3" fmla="*/ 20683 w 38100"/>
                  <a:gd name="connsiteY3" fmla="*/ 7348 h 38100"/>
                  <a:gd name="connsiteX4" fmla="*/ 34018 w 38100"/>
                  <a:gd name="connsiteY4" fmla="*/ 20683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4018" y="20683"/>
                    </a:moveTo>
                    <a:cubicBezTo>
                      <a:pt x="34018" y="28048"/>
                      <a:pt x="28048" y="34018"/>
                      <a:pt x="20683" y="34018"/>
                    </a:cubicBezTo>
                    <a:cubicBezTo>
                      <a:pt x="13319" y="34018"/>
                      <a:pt x="7348" y="28048"/>
                      <a:pt x="7348" y="20683"/>
                    </a:cubicBezTo>
                    <a:cubicBezTo>
                      <a:pt x="7348" y="13318"/>
                      <a:pt x="13319" y="7348"/>
                      <a:pt x="20683" y="7348"/>
                    </a:cubicBezTo>
                    <a:cubicBezTo>
                      <a:pt x="28048" y="7348"/>
                      <a:pt x="34018" y="13318"/>
                      <a:pt x="34018" y="2068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17" name="Freeform: Shape 116">
                <a:extLst>
                  <a:ext uri="{FF2B5EF4-FFF2-40B4-BE49-F238E27FC236}">
                    <a16:creationId xmlns:a16="http://schemas.microsoft.com/office/drawing/2014/main" id="{8AC627EF-71B2-4276-9503-EA4D4A6CD45A}"/>
                  </a:ext>
                </a:extLst>
              </p:cNvPr>
              <p:cNvSpPr/>
              <p:nvPr/>
            </p:nvSpPr>
            <p:spPr>
              <a:xfrm>
                <a:off x="1402886" y="7571707"/>
                <a:ext cx="193519" cy="77407"/>
              </a:xfrm>
              <a:custGeom>
                <a:avLst/>
                <a:gdLst>
                  <a:gd name="connsiteX0" fmla="*/ 7348 w 142875"/>
                  <a:gd name="connsiteY0" fmla="*/ 7348 h 57150"/>
                  <a:gd name="connsiteX1" fmla="*/ 144508 w 142875"/>
                  <a:gd name="connsiteY1" fmla="*/ 56878 h 57150"/>
                </a:gdLst>
                <a:ahLst/>
                <a:cxnLst>
                  <a:cxn ang="0">
                    <a:pos x="connsiteX0" y="connsiteY0"/>
                  </a:cxn>
                  <a:cxn ang="0">
                    <a:pos x="connsiteX1" y="connsiteY1"/>
                  </a:cxn>
                </a:cxnLst>
                <a:rect l="l" t="t" r="r" b="b"/>
                <a:pathLst>
                  <a:path w="142875" h="57150">
                    <a:moveTo>
                      <a:pt x="7348" y="7348"/>
                    </a:moveTo>
                    <a:lnTo>
                      <a:pt x="144508" y="5687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18" name="Freeform: Shape 117">
                <a:extLst>
                  <a:ext uri="{FF2B5EF4-FFF2-40B4-BE49-F238E27FC236}">
                    <a16:creationId xmlns:a16="http://schemas.microsoft.com/office/drawing/2014/main" id="{A8CEEACA-ABC8-45EE-9749-1B045401E55E}"/>
                  </a:ext>
                </a:extLst>
              </p:cNvPr>
              <p:cNvSpPr/>
              <p:nvPr/>
            </p:nvSpPr>
            <p:spPr>
              <a:xfrm>
                <a:off x="1628658" y="7571707"/>
                <a:ext cx="206421" cy="77407"/>
              </a:xfrm>
              <a:custGeom>
                <a:avLst/>
                <a:gdLst>
                  <a:gd name="connsiteX0" fmla="*/ 7348 w 152400"/>
                  <a:gd name="connsiteY0" fmla="*/ 56878 h 57150"/>
                  <a:gd name="connsiteX1" fmla="*/ 148318 w 152400"/>
                  <a:gd name="connsiteY1" fmla="*/ 7348 h 57150"/>
                </a:gdLst>
                <a:ahLst/>
                <a:cxnLst>
                  <a:cxn ang="0">
                    <a:pos x="connsiteX0" y="connsiteY0"/>
                  </a:cxn>
                  <a:cxn ang="0">
                    <a:pos x="connsiteX1" y="connsiteY1"/>
                  </a:cxn>
                </a:cxnLst>
                <a:rect l="l" t="t" r="r" b="b"/>
                <a:pathLst>
                  <a:path w="152400" h="57150">
                    <a:moveTo>
                      <a:pt x="7348" y="56878"/>
                    </a:moveTo>
                    <a:lnTo>
                      <a:pt x="148318" y="734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grpSp>
      </p:grpSp>
      <p:cxnSp>
        <p:nvCxnSpPr>
          <p:cNvPr id="138" name="Straight Connector 137">
            <a:extLst>
              <a:ext uri="{FF2B5EF4-FFF2-40B4-BE49-F238E27FC236}">
                <a16:creationId xmlns:a16="http://schemas.microsoft.com/office/drawing/2014/main" id="{A26070F4-FF72-4496-AD61-51AF8C6F60F4}"/>
              </a:ext>
              <a:ext uri="{C183D7F6-B498-43B3-948B-1728B52AA6E4}">
                <adec:decorative xmlns:adec="http://schemas.microsoft.com/office/drawing/2017/decorative" val="1"/>
              </a:ext>
            </a:extLst>
          </p:cNvPr>
          <p:cNvCxnSpPr>
            <a:cxnSpLocks/>
          </p:cNvCxnSpPr>
          <p:nvPr/>
        </p:nvCxnSpPr>
        <p:spPr>
          <a:xfrm>
            <a:off x="5771254" y="2705122"/>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57" name="Group 156">
            <a:extLst>
              <a:ext uri="{FF2B5EF4-FFF2-40B4-BE49-F238E27FC236}">
                <a16:creationId xmlns:a16="http://schemas.microsoft.com/office/drawing/2014/main" id="{13583A66-C524-4F12-B97E-1F9CAB279427}"/>
              </a:ext>
              <a:ext uri="{C183D7F6-B498-43B3-948B-1728B52AA6E4}">
                <adec:decorative xmlns:adec="http://schemas.microsoft.com/office/drawing/2017/decorative" val="1"/>
              </a:ext>
            </a:extLst>
          </p:cNvPr>
          <p:cNvGrpSpPr/>
          <p:nvPr/>
        </p:nvGrpSpPr>
        <p:grpSpPr>
          <a:xfrm>
            <a:off x="777563" y="2962141"/>
            <a:ext cx="411480" cy="411480"/>
            <a:chOff x="724354" y="2781602"/>
            <a:chExt cx="438218" cy="438964"/>
          </a:xfrm>
        </p:grpSpPr>
        <p:sp>
          <p:nvSpPr>
            <p:cNvPr id="158" name="Oval 157">
              <a:extLst>
                <a:ext uri="{FF2B5EF4-FFF2-40B4-BE49-F238E27FC236}">
                  <a16:creationId xmlns:a16="http://schemas.microsoft.com/office/drawing/2014/main" id="{ACCD0E95-46EB-47F9-9E09-DBB444948CC2}"/>
                </a:ext>
                <a:ext uri="{C183D7F6-B498-43B3-948B-1728B52AA6E4}">
                  <adec:decorative xmlns:adec="http://schemas.microsoft.com/office/drawing/2017/decorative" val="1"/>
                </a:ext>
              </a:extLst>
            </p:cNvPr>
            <p:cNvSpPr>
              <a:spLocks/>
            </p:cNvSpPr>
            <p:nvPr/>
          </p:nvSpPr>
          <p:spPr bwMode="auto">
            <a:xfrm>
              <a:off x="724354" y="2781602"/>
              <a:ext cx="438218" cy="438964"/>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normalizeH="0" baseline="0" noProof="0">
                <a:ln>
                  <a:noFill/>
                </a:ln>
                <a:solidFill>
                  <a:srgbClr val="FFFFFF"/>
                </a:solidFill>
                <a:effectLst/>
                <a:uLnTx/>
                <a:uFillTx/>
                <a:latin typeface="Segoe UI"/>
                <a:ea typeface="Segoe UI" pitchFamily="34" charset="0"/>
                <a:cs typeface="Segoe UI" pitchFamily="34" charset="0"/>
              </a:endParaRPr>
            </a:p>
          </p:txBody>
        </p:sp>
        <p:sp>
          <p:nvSpPr>
            <p:cNvPr id="159" name="Trackers_EADF">
              <a:extLst>
                <a:ext uri="{FF2B5EF4-FFF2-40B4-BE49-F238E27FC236}">
                  <a16:creationId xmlns:a16="http://schemas.microsoft.com/office/drawing/2014/main" id="{F671B910-5E20-42A8-8AFC-06F4BDA8D207}"/>
                </a:ext>
                <a:ext uri="{C183D7F6-B498-43B3-948B-1728B52AA6E4}">
                  <adec:decorative xmlns:adec="http://schemas.microsoft.com/office/drawing/2017/decorative" val="1"/>
                </a:ext>
              </a:extLst>
            </p:cNvPr>
            <p:cNvSpPr>
              <a:spLocks noChangeAspect="1" noEditPoints="1"/>
            </p:cNvSpPr>
            <p:nvPr/>
          </p:nvSpPr>
          <p:spPr bwMode="auto">
            <a:xfrm>
              <a:off x="854529" y="2879611"/>
              <a:ext cx="177869" cy="242946"/>
            </a:xfrm>
            <a:custGeom>
              <a:avLst/>
              <a:gdLst>
                <a:gd name="T0" fmla="*/ 1000 w 2750"/>
                <a:gd name="T1" fmla="*/ 375 h 3750"/>
                <a:gd name="T2" fmla="*/ 1375 w 2750"/>
                <a:gd name="T3" fmla="*/ 0 h 3750"/>
                <a:gd name="T4" fmla="*/ 1750 w 2750"/>
                <a:gd name="T5" fmla="*/ 375 h 3750"/>
                <a:gd name="T6" fmla="*/ 1750 w 2750"/>
                <a:gd name="T7" fmla="*/ 500 h 3750"/>
                <a:gd name="T8" fmla="*/ 2250 w 2750"/>
                <a:gd name="T9" fmla="*/ 500 h 3750"/>
                <a:gd name="T10" fmla="*/ 2250 w 2750"/>
                <a:gd name="T11" fmla="*/ 1000 h 3750"/>
                <a:gd name="T12" fmla="*/ 500 w 2750"/>
                <a:gd name="T13" fmla="*/ 1000 h 3750"/>
                <a:gd name="T14" fmla="*/ 500 w 2750"/>
                <a:gd name="T15" fmla="*/ 500 h 3750"/>
                <a:gd name="T16" fmla="*/ 1000 w 2750"/>
                <a:gd name="T17" fmla="*/ 500 h 3750"/>
                <a:gd name="T18" fmla="*/ 1000 w 2750"/>
                <a:gd name="T19" fmla="*/ 375 h 3750"/>
                <a:gd name="T20" fmla="*/ 500 w 2750"/>
                <a:gd name="T21" fmla="*/ 500 h 3750"/>
                <a:gd name="T22" fmla="*/ 0 w 2750"/>
                <a:gd name="T23" fmla="*/ 500 h 3750"/>
                <a:gd name="T24" fmla="*/ 0 w 2750"/>
                <a:gd name="T25" fmla="*/ 3750 h 3750"/>
                <a:gd name="T26" fmla="*/ 2750 w 2750"/>
                <a:gd name="T27" fmla="*/ 3750 h 3750"/>
                <a:gd name="T28" fmla="*/ 2750 w 2750"/>
                <a:gd name="T29" fmla="*/ 500 h 3750"/>
                <a:gd name="T30" fmla="*/ 2250 w 2750"/>
                <a:gd name="T31" fmla="*/ 500 h 3750"/>
                <a:gd name="T32" fmla="*/ 2375 w 2750"/>
                <a:gd name="T33" fmla="*/ 1750 h 3750"/>
                <a:gd name="T34" fmla="*/ 1375 w 2750"/>
                <a:gd name="T35" fmla="*/ 1750 h 3750"/>
                <a:gd name="T36" fmla="*/ 2375 w 2750"/>
                <a:gd name="T37" fmla="*/ 2500 h 3750"/>
                <a:gd name="T38" fmla="*/ 1375 w 2750"/>
                <a:gd name="T39" fmla="*/ 2500 h 3750"/>
                <a:gd name="T40" fmla="*/ 2375 w 2750"/>
                <a:gd name="T41" fmla="*/ 3250 h 3750"/>
                <a:gd name="T42" fmla="*/ 1375 w 2750"/>
                <a:gd name="T43" fmla="*/ 3250 h 3750"/>
                <a:gd name="T44" fmla="*/ 500 w 2750"/>
                <a:gd name="T45" fmla="*/ 1500 h 3750"/>
                <a:gd name="T46" fmla="*/ 750 w 2750"/>
                <a:gd name="T47" fmla="*/ 1750 h 3750"/>
                <a:gd name="T48" fmla="*/ 1125 w 2750"/>
                <a:gd name="T49" fmla="*/ 1375 h 3750"/>
                <a:gd name="T50" fmla="*/ 500 w 2750"/>
                <a:gd name="T51" fmla="*/ 2250 h 3750"/>
                <a:gd name="T52" fmla="*/ 750 w 2750"/>
                <a:gd name="T53" fmla="*/ 2500 h 3750"/>
                <a:gd name="T54" fmla="*/ 1125 w 2750"/>
                <a:gd name="T55" fmla="*/ 2125 h 3750"/>
                <a:gd name="T56" fmla="*/ 500 w 2750"/>
                <a:gd name="T57" fmla="*/ 3000 h 3750"/>
                <a:gd name="T58" fmla="*/ 750 w 2750"/>
                <a:gd name="T59" fmla="*/ 3250 h 3750"/>
                <a:gd name="T60" fmla="*/ 1125 w 2750"/>
                <a:gd name="T61" fmla="*/ 28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50" h="3750">
                  <a:moveTo>
                    <a:pt x="1000" y="375"/>
                  </a:moveTo>
                  <a:cubicBezTo>
                    <a:pt x="1000" y="168"/>
                    <a:pt x="1168" y="0"/>
                    <a:pt x="1375" y="0"/>
                  </a:cubicBezTo>
                  <a:cubicBezTo>
                    <a:pt x="1582" y="0"/>
                    <a:pt x="1750" y="168"/>
                    <a:pt x="1750" y="375"/>
                  </a:cubicBezTo>
                  <a:cubicBezTo>
                    <a:pt x="1750" y="500"/>
                    <a:pt x="1750" y="500"/>
                    <a:pt x="1750" y="500"/>
                  </a:cubicBezTo>
                  <a:cubicBezTo>
                    <a:pt x="2250" y="500"/>
                    <a:pt x="2250" y="500"/>
                    <a:pt x="2250" y="500"/>
                  </a:cubicBezTo>
                  <a:cubicBezTo>
                    <a:pt x="2250" y="1000"/>
                    <a:pt x="2250" y="1000"/>
                    <a:pt x="2250" y="1000"/>
                  </a:cubicBezTo>
                  <a:cubicBezTo>
                    <a:pt x="500" y="1000"/>
                    <a:pt x="500" y="1000"/>
                    <a:pt x="500" y="1000"/>
                  </a:cubicBezTo>
                  <a:cubicBezTo>
                    <a:pt x="500" y="500"/>
                    <a:pt x="500" y="500"/>
                    <a:pt x="500" y="500"/>
                  </a:cubicBezTo>
                  <a:cubicBezTo>
                    <a:pt x="1000" y="500"/>
                    <a:pt x="1000" y="500"/>
                    <a:pt x="1000" y="500"/>
                  </a:cubicBezTo>
                  <a:lnTo>
                    <a:pt x="1000" y="375"/>
                  </a:lnTo>
                  <a:close/>
                  <a:moveTo>
                    <a:pt x="500" y="500"/>
                  </a:moveTo>
                  <a:cubicBezTo>
                    <a:pt x="0" y="500"/>
                    <a:pt x="0" y="500"/>
                    <a:pt x="0" y="500"/>
                  </a:cubicBezTo>
                  <a:cubicBezTo>
                    <a:pt x="0" y="3750"/>
                    <a:pt x="0" y="3750"/>
                    <a:pt x="0" y="3750"/>
                  </a:cubicBezTo>
                  <a:cubicBezTo>
                    <a:pt x="2750" y="3750"/>
                    <a:pt x="2750" y="3750"/>
                    <a:pt x="2750" y="3750"/>
                  </a:cubicBezTo>
                  <a:cubicBezTo>
                    <a:pt x="2750" y="500"/>
                    <a:pt x="2750" y="500"/>
                    <a:pt x="2750" y="500"/>
                  </a:cubicBezTo>
                  <a:cubicBezTo>
                    <a:pt x="2250" y="500"/>
                    <a:pt x="2250" y="500"/>
                    <a:pt x="2250" y="500"/>
                  </a:cubicBezTo>
                  <a:moveTo>
                    <a:pt x="2375" y="1750"/>
                  </a:moveTo>
                  <a:cubicBezTo>
                    <a:pt x="1375" y="1750"/>
                    <a:pt x="1375" y="1750"/>
                    <a:pt x="1375" y="1750"/>
                  </a:cubicBezTo>
                  <a:moveTo>
                    <a:pt x="2375" y="2500"/>
                  </a:moveTo>
                  <a:cubicBezTo>
                    <a:pt x="1375" y="2500"/>
                    <a:pt x="1375" y="2500"/>
                    <a:pt x="1375" y="2500"/>
                  </a:cubicBezTo>
                  <a:moveTo>
                    <a:pt x="2375" y="3250"/>
                  </a:moveTo>
                  <a:cubicBezTo>
                    <a:pt x="1375" y="3250"/>
                    <a:pt x="1375" y="3250"/>
                    <a:pt x="1375" y="3250"/>
                  </a:cubicBezTo>
                  <a:moveTo>
                    <a:pt x="500" y="1500"/>
                  </a:moveTo>
                  <a:cubicBezTo>
                    <a:pt x="750" y="1750"/>
                    <a:pt x="750" y="1750"/>
                    <a:pt x="750" y="1750"/>
                  </a:cubicBezTo>
                  <a:cubicBezTo>
                    <a:pt x="1125" y="1375"/>
                    <a:pt x="1125" y="1375"/>
                    <a:pt x="1125" y="1375"/>
                  </a:cubicBezTo>
                  <a:moveTo>
                    <a:pt x="500" y="2250"/>
                  </a:moveTo>
                  <a:cubicBezTo>
                    <a:pt x="750" y="2500"/>
                    <a:pt x="750" y="2500"/>
                    <a:pt x="750" y="2500"/>
                  </a:cubicBezTo>
                  <a:cubicBezTo>
                    <a:pt x="1125" y="2125"/>
                    <a:pt x="1125" y="2125"/>
                    <a:pt x="1125" y="2125"/>
                  </a:cubicBezTo>
                  <a:moveTo>
                    <a:pt x="500" y="3000"/>
                  </a:moveTo>
                  <a:cubicBezTo>
                    <a:pt x="750" y="3250"/>
                    <a:pt x="750" y="3250"/>
                    <a:pt x="750" y="3250"/>
                  </a:cubicBezTo>
                  <a:cubicBezTo>
                    <a:pt x="1125" y="2875"/>
                    <a:pt x="1125" y="2875"/>
                    <a:pt x="1125" y="2875"/>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normalizeH="0" baseline="0" noProof="0">
                <a:ln>
                  <a:noFill/>
                </a:ln>
                <a:solidFill>
                  <a:prstClr val="black"/>
                </a:solidFill>
                <a:effectLst/>
                <a:uLnTx/>
                <a:uFillTx/>
                <a:latin typeface="Calibri" panose="020F0502020204030204"/>
                <a:ea typeface="+mn-ea"/>
                <a:cs typeface="+mn-cs"/>
              </a:endParaRPr>
            </a:p>
          </p:txBody>
        </p:sp>
      </p:grpSp>
      <p:cxnSp>
        <p:nvCxnSpPr>
          <p:cNvPr id="175" name="Straight Connector 174">
            <a:extLst>
              <a:ext uri="{FF2B5EF4-FFF2-40B4-BE49-F238E27FC236}">
                <a16:creationId xmlns:a16="http://schemas.microsoft.com/office/drawing/2014/main" id="{6902113C-0BBB-43B5-9577-E93899497A21}"/>
              </a:ext>
              <a:ext uri="{C183D7F6-B498-43B3-948B-1728B52AA6E4}">
                <adec:decorative xmlns:adec="http://schemas.microsoft.com/office/drawing/2017/decorative" val="1"/>
              </a:ext>
            </a:extLst>
          </p:cNvPr>
          <p:cNvCxnSpPr>
            <a:cxnSpLocks/>
          </p:cNvCxnSpPr>
          <p:nvPr/>
        </p:nvCxnSpPr>
        <p:spPr>
          <a:xfrm>
            <a:off x="5771254" y="3596375"/>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90" name="Group 189">
            <a:extLst>
              <a:ext uri="{FF2B5EF4-FFF2-40B4-BE49-F238E27FC236}">
                <a16:creationId xmlns:a16="http://schemas.microsoft.com/office/drawing/2014/main" id="{3AE35778-145B-414C-A48E-72D6422A683B}"/>
              </a:ext>
              <a:ext uri="{C183D7F6-B498-43B3-948B-1728B52AA6E4}">
                <adec:decorative xmlns:adec="http://schemas.microsoft.com/office/drawing/2017/decorative" val="1"/>
              </a:ext>
            </a:extLst>
          </p:cNvPr>
          <p:cNvGrpSpPr>
            <a:grpSpLocks/>
          </p:cNvGrpSpPr>
          <p:nvPr/>
        </p:nvGrpSpPr>
        <p:grpSpPr>
          <a:xfrm>
            <a:off x="777563" y="3851759"/>
            <a:ext cx="411480" cy="411480"/>
            <a:chOff x="7039782" y="1468393"/>
            <a:chExt cx="751672" cy="751672"/>
          </a:xfrm>
        </p:grpSpPr>
        <p:sp>
          <p:nvSpPr>
            <p:cNvPr id="191" name="Oval 190">
              <a:extLst>
                <a:ext uri="{FF2B5EF4-FFF2-40B4-BE49-F238E27FC236}">
                  <a16:creationId xmlns:a16="http://schemas.microsoft.com/office/drawing/2014/main" id="{DDFC082B-4D83-4009-814E-9F784122CC61}"/>
                </a:ext>
                <a:ext uri="{C183D7F6-B498-43B3-948B-1728B52AA6E4}">
                  <adec:decorative xmlns:adec="http://schemas.microsoft.com/office/drawing/2017/decorative" val="1"/>
                </a:ext>
              </a:extLst>
            </p:cNvPr>
            <p:cNvSpPr>
              <a:spLocks/>
            </p:cNvSpPr>
            <p:nvPr/>
          </p:nvSpPr>
          <p:spPr bwMode="auto">
            <a:xfrm>
              <a:off x="7039782"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92" name="list_4">
              <a:extLst>
                <a:ext uri="{FF2B5EF4-FFF2-40B4-BE49-F238E27FC236}">
                  <a16:creationId xmlns:a16="http://schemas.microsoft.com/office/drawing/2014/main" id="{F74253CA-D85D-4DC4-A80C-8C4DA70AD0D4}"/>
                </a:ext>
                <a:ext uri="{C183D7F6-B498-43B3-948B-1728B52AA6E4}">
                  <adec:decorative xmlns:adec="http://schemas.microsoft.com/office/drawing/2017/decorative" val="1"/>
                </a:ext>
              </a:extLst>
            </p:cNvPr>
            <p:cNvSpPr>
              <a:spLocks noChangeAspect="1" noEditPoints="1"/>
            </p:cNvSpPr>
            <p:nvPr/>
          </p:nvSpPr>
          <p:spPr bwMode="auto">
            <a:xfrm>
              <a:off x="7196380" y="1708702"/>
              <a:ext cx="438475" cy="271054"/>
            </a:xfrm>
            <a:custGeom>
              <a:avLst/>
              <a:gdLst>
                <a:gd name="T0" fmla="*/ 90 w 253"/>
                <a:gd name="T1" fmla="*/ 24 h 171"/>
                <a:gd name="T2" fmla="*/ 253 w 253"/>
                <a:gd name="T3" fmla="*/ 24 h 171"/>
                <a:gd name="T4" fmla="*/ 90 w 253"/>
                <a:gd name="T5" fmla="*/ 73 h 171"/>
                <a:gd name="T6" fmla="*/ 253 w 253"/>
                <a:gd name="T7" fmla="*/ 73 h 171"/>
                <a:gd name="T8" fmla="*/ 90 w 253"/>
                <a:gd name="T9" fmla="*/ 121 h 171"/>
                <a:gd name="T10" fmla="*/ 253 w 253"/>
                <a:gd name="T11" fmla="*/ 121 h 171"/>
                <a:gd name="T12" fmla="*/ 90 w 253"/>
                <a:gd name="T13" fmla="*/ 171 h 171"/>
                <a:gd name="T14" fmla="*/ 253 w 253"/>
                <a:gd name="T15" fmla="*/ 171 h 171"/>
                <a:gd name="T16" fmla="*/ 0 w 253"/>
                <a:gd name="T17" fmla="*/ 23 h 171"/>
                <a:gd name="T18" fmla="*/ 17 w 253"/>
                <a:gd name="T19" fmla="*/ 40 h 171"/>
                <a:gd name="T20" fmla="*/ 58 w 253"/>
                <a:gd name="T21" fmla="*/ 0 h 171"/>
                <a:gd name="T22" fmla="*/ 0 w 253"/>
                <a:gd name="T23" fmla="*/ 121 h 171"/>
                <a:gd name="T24" fmla="*/ 17 w 253"/>
                <a:gd name="T25" fmla="*/ 138 h 171"/>
                <a:gd name="T26" fmla="*/ 58 w 253"/>
                <a:gd name="T27" fmla="*/ 9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3" h="171">
                  <a:moveTo>
                    <a:pt x="90" y="24"/>
                  </a:moveTo>
                  <a:lnTo>
                    <a:pt x="253" y="24"/>
                  </a:lnTo>
                  <a:moveTo>
                    <a:pt x="90" y="73"/>
                  </a:moveTo>
                  <a:lnTo>
                    <a:pt x="253" y="73"/>
                  </a:lnTo>
                  <a:moveTo>
                    <a:pt x="90" y="121"/>
                  </a:moveTo>
                  <a:lnTo>
                    <a:pt x="253" y="121"/>
                  </a:lnTo>
                  <a:moveTo>
                    <a:pt x="90" y="171"/>
                  </a:moveTo>
                  <a:lnTo>
                    <a:pt x="253" y="171"/>
                  </a:lnTo>
                  <a:moveTo>
                    <a:pt x="0" y="23"/>
                  </a:moveTo>
                  <a:lnTo>
                    <a:pt x="17" y="40"/>
                  </a:lnTo>
                  <a:lnTo>
                    <a:pt x="58" y="0"/>
                  </a:lnTo>
                  <a:moveTo>
                    <a:pt x="0" y="121"/>
                  </a:moveTo>
                  <a:lnTo>
                    <a:pt x="17" y="138"/>
                  </a:lnTo>
                  <a:lnTo>
                    <a:pt x="58" y="98"/>
                  </a:lnTo>
                </a:path>
              </a:pathLst>
            </a:custGeom>
            <a:noFill/>
            <a:ln w="12700" cap="flat">
              <a:solidFill>
                <a:schemeClr val="tx2"/>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204" name="Straight Connector 203">
            <a:extLst>
              <a:ext uri="{FF2B5EF4-FFF2-40B4-BE49-F238E27FC236}">
                <a16:creationId xmlns:a16="http://schemas.microsoft.com/office/drawing/2014/main" id="{9637AC6B-5B31-424F-B714-943C748A2141}"/>
              </a:ext>
              <a:ext uri="{C183D7F6-B498-43B3-948B-1728B52AA6E4}">
                <adec:decorative xmlns:adec="http://schemas.microsoft.com/office/drawing/2017/decorative" val="1"/>
              </a:ext>
            </a:extLst>
          </p:cNvPr>
          <p:cNvCxnSpPr>
            <a:cxnSpLocks/>
          </p:cNvCxnSpPr>
          <p:nvPr/>
        </p:nvCxnSpPr>
        <p:spPr>
          <a:xfrm>
            <a:off x="5771254" y="4487628"/>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15" name="Group 214">
            <a:extLst>
              <a:ext uri="{FF2B5EF4-FFF2-40B4-BE49-F238E27FC236}">
                <a16:creationId xmlns:a16="http://schemas.microsoft.com/office/drawing/2014/main" id="{EC44BA72-BF41-46BB-8A81-F0B147FD1945}"/>
              </a:ext>
              <a:ext uri="{C183D7F6-B498-43B3-948B-1728B52AA6E4}">
                <adec:decorative xmlns:adec="http://schemas.microsoft.com/office/drawing/2017/decorative" val="1"/>
              </a:ext>
            </a:extLst>
          </p:cNvPr>
          <p:cNvGrpSpPr>
            <a:grpSpLocks/>
          </p:cNvGrpSpPr>
          <p:nvPr/>
        </p:nvGrpSpPr>
        <p:grpSpPr>
          <a:xfrm>
            <a:off x="777563" y="4741377"/>
            <a:ext cx="411480" cy="411480"/>
            <a:chOff x="724354" y="3721051"/>
            <a:chExt cx="438218" cy="438218"/>
          </a:xfrm>
        </p:grpSpPr>
        <p:sp>
          <p:nvSpPr>
            <p:cNvPr id="216" name="Oval 215">
              <a:extLst>
                <a:ext uri="{FF2B5EF4-FFF2-40B4-BE49-F238E27FC236}">
                  <a16:creationId xmlns:a16="http://schemas.microsoft.com/office/drawing/2014/main" id="{9B627AB3-E75C-4A12-97F6-E46582452569}"/>
                </a:ext>
                <a:ext uri="{C183D7F6-B498-43B3-948B-1728B52AA6E4}">
                  <adec:decorative xmlns:adec="http://schemas.microsoft.com/office/drawing/2017/decorative" val="1"/>
                </a:ext>
              </a:extLst>
            </p:cNvPr>
            <p:cNvSpPr>
              <a:spLocks/>
            </p:cNvSpPr>
            <p:nvPr/>
          </p:nvSpPr>
          <p:spPr bwMode="auto">
            <a:xfrm>
              <a:off x="724354" y="3721051"/>
              <a:ext cx="438218" cy="438218"/>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17" name="Business applications">
              <a:extLst>
                <a:ext uri="{FF2B5EF4-FFF2-40B4-BE49-F238E27FC236}">
                  <a16:creationId xmlns:a16="http://schemas.microsoft.com/office/drawing/2014/main" id="{763379E2-4B86-44AF-A53D-25E4EBB91377}"/>
                </a:ext>
                <a:ext uri="{C183D7F6-B498-43B3-948B-1728B52AA6E4}">
                  <adec:decorative xmlns:adec="http://schemas.microsoft.com/office/drawing/2017/decorative" val="1"/>
                </a:ext>
              </a:extLst>
            </p:cNvPr>
            <p:cNvSpPr>
              <a:spLocks noChangeAspect="1" noEditPoints="1"/>
            </p:cNvSpPr>
            <p:nvPr/>
          </p:nvSpPr>
          <p:spPr bwMode="auto">
            <a:xfrm>
              <a:off x="826310" y="3843880"/>
              <a:ext cx="234306" cy="192560"/>
            </a:xfrm>
            <a:custGeom>
              <a:avLst/>
              <a:gdLst>
                <a:gd name="T0" fmla="*/ 196 w 449"/>
                <a:gd name="T1" fmla="*/ 369 h 369"/>
                <a:gd name="T2" fmla="*/ 0 w 449"/>
                <a:gd name="T3" fmla="*/ 369 h 369"/>
                <a:gd name="T4" fmla="*/ 99 w 449"/>
                <a:gd name="T5" fmla="*/ 240 h 369"/>
                <a:gd name="T6" fmla="*/ 196 w 449"/>
                <a:gd name="T7" fmla="*/ 369 h 369"/>
                <a:gd name="T8" fmla="*/ 442 w 449"/>
                <a:gd name="T9" fmla="*/ 67 h 369"/>
                <a:gd name="T10" fmla="*/ 229 w 449"/>
                <a:gd name="T11" fmla="*/ 369 h 369"/>
                <a:gd name="T12" fmla="*/ 449 w 449"/>
                <a:gd name="T13" fmla="*/ 369 h 369"/>
                <a:gd name="T14" fmla="*/ 442 w 449"/>
                <a:gd name="T15" fmla="*/ 67 h 369"/>
                <a:gd name="T16" fmla="*/ 240 w 449"/>
                <a:gd name="T17" fmla="*/ 168 h 369"/>
                <a:gd name="T18" fmla="*/ 101 w 449"/>
                <a:gd name="T19" fmla="*/ 369 h 369"/>
                <a:gd name="T20" fmla="*/ 379 w 449"/>
                <a:gd name="T21" fmla="*/ 369 h 369"/>
                <a:gd name="T22" fmla="*/ 240 w 449"/>
                <a:gd name="T23" fmla="*/ 168 h 369"/>
                <a:gd name="T24" fmla="*/ 398 w 449"/>
                <a:gd name="T25" fmla="*/ 48 h 369"/>
                <a:gd name="T26" fmla="*/ 398 w 449"/>
                <a:gd name="T27" fmla="*/ 48 h 369"/>
                <a:gd name="T28" fmla="*/ 371 w 449"/>
                <a:gd name="T29" fmla="*/ 77 h 369"/>
                <a:gd name="T30" fmla="*/ 382 w 449"/>
                <a:gd name="T31" fmla="*/ 65 h 369"/>
                <a:gd name="T32" fmla="*/ 349 w 449"/>
                <a:gd name="T33" fmla="*/ 102 h 369"/>
                <a:gd name="T34" fmla="*/ 360 w 449"/>
                <a:gd name="T35" fmla="*/ 90 h 369"/>
                <a:gd name="T36" fmla="*/ 328 w 449"/>
                <a:gd name="T37" fmla="*/ 126 h 369"/>
                <a:gd name="T38" fmla="*/ 338 w 449"/>
                <a:gd name="T39" fmla="*/ 114 h 369"/>
                <a:gd name="T40" fmla="*/ 305 w 449"/>
                <a:gd name="T41" fmla="*/ 150 h 369"/>
                <a:gd name="T42" fmla="*/ 316 w 449"/>
                <a:gd name="T43" fmla="*/ 138 h 369"/>
                <a:gd name="T44" fmla="*/ 283 w 449"/>
                <a:gd name="T45" fmla="*/ 175 h 369"/>
                <a:gd name="T46" fmla="*/ 294 w 449"/>
                <a:gd name="T47" fmla="*/ 163 h 369"/>
                <a:gd name="T48" fmla="*/ 261 w 449"/>
                <a:gd name="T49" fmla="*/ 199 h 369"/>
                <a:gd name="T50" fmla="*/ 273 w 449"/>
                <a:gd name="T51" fmla="*/ 187 h 369"/>
                <a:gd name="T52" fmla="*/ 239 w 449"/>
                <a:gd name="T53" fmla="*/ 223 h 369"/>
                <a:gd name="T54" fmla="*/ 250 w 449"/>
                <a:gd name="T55" fmla="*/ 211 h 369"/>
                <a:gd name="T56" fmla="*/ 217 w 449"/>
                <a:gd name="T57" fmla="*/ 248 h 369"/>
                <a:gd name="T58" fmla="*/ 229 w 449"/>
                <a:gd name="T59" fmla="*/ 236 h 369"/>
                <a:gd name="T60" fmla="*/ 195 w 449"/>
                <a:gd name="T61" fmla="*/ 273 h 369"/>
                <a:gd name="T62" fmla="*/ 206 w 449"/>
                <a:gd name="T63" fmla="*/ 260 h 369"/>
                <a:gd name="T64" fmla="*/ 174 w 449"/>
                <a:gd name="T65" fmla="*/ 296 h 369"/>
                <a:gd name="T66" fmla="*/ 185 w 449"/>
                <a:gd name="T67" fmla="*/ 284 h 369"/>
                <a:gd name="T68" fmla="*/ 151 w 449"/>
                <a:gd name="T69" fmla="*/ 321 h 369"/>
                <a:gd name="T70" fmla="*/ 162 w 449"/>
                <a:gd name="T71" fmla="*/ 309 h 369"/>
                <a:gd name="T72" fmla="*/ 130 w 449"/>
                <a:gd name="T73" fmla="*/ 346 h 369"/>
                <a:gd name="T74" fmla="*/ 141 w 449"/>
                <a:gd name="T75" fmla="*/ 333 h 369"/>
                <a:gd name="T76" fmla="*/ 107 w 449"/>
                <a:gd name="T77" fmla="*/ 369 h 369"/>
                <a:gd name="T78" fmla="*/ 119 w 449"/>
                <a:gd name="T79" fmla="*/ 358 h 369"/>
                <a:gd name="T80" fmla="*/ 438 w 449"/>
                <a:gd name="T81" fmla="*/ 28 h 369"/>
                <a:gd name="T82" fmla="*/ 438 w 449"/>
                <a:gd name="T83" fmla="*/ 28 h 369"/>
                <a:gd name="T84" fmla="*/ 444 w 449"/>
                <a:gd name="T85" fmla="*/ 25 h 369"/>
                <a:gd name="T86" fmla="*/ 444 w 449"/>
                <a:gd name="T87" fmla="*/ 0 h 369"/>
                <a:gd name="T88" fmla="*/ 419 w 449"/>
                <a:gd name="T89" fmla="*/ 0 h 369"/>
                <a:gd name="T90" fmla="*/ 444 w 449"/>
                <a:gd name="T91" fmla="*/ 0 h 369"/>
                <a:gd name="T92" fmla="*/ 395 w 449"/>
                <a:gd name="T93" fmla="*/ 50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49" h="369">
                  <a:moveTo>
                    <a:pt x="196" y="369"/>
                  </a:moveTo>
                  <a:lnTo>
                    <a:pt x="0" y="369"/>
                  </a:lnTo>
                  <a:lnTo>
                    <a:pt x="99" y="240"/>
                  </a:lnTo>
                  <a:lnTo>
                    <a:pt x="196" y="369"/>
                  </a:lnTo>
                  <a:moveTo>
                    <a:pt x="442" y="67"/>
                  </a:moveTo>
                  <a:lnTo>
                    <a:pt x="229" y="369"/>
                  </a:lnTo>
                  <a:lnTo>
                    <a:pt x="449" y="369"/>
                  </a:lnTo>
                  <a:lnTo>
                    <a:pt x="442" y="67"/>
                  </a:lnTo>
                  <a:moveTo>
                    <a:pt x="240" y="168"/>
                  </a:moveTo>
                  <a:lnTo>
                    <a:pt x="101" y="369"/>
                  </a:lnTo>
                  <a:lnTo>
                    <a:pt x="379" y="369"/>
                  </a:lnTo>
                  <a:lnTo>
                    <a:pt x="240" y="168"/>
                  </a:lnTo>
                  <a:moveTo>
                    <a:pt x="398" y="48"/>
                  </a:moveTo>
                  <a:lnTo>
                    <a:pt x="398" y="48"/>
                  </a:lnTo>
                  <a:moveTo>
                    <a:pt x="371" y="77"/>
                  </a:moveTo>
                  <a:lnTo>
                    <a:pt x="382" y="65"/>
                  </a:lnTo>
                  <a:moveTo>
                    <a:pt x="349" y="102"/>
                  </a:moveTo>
                  <a:lnTo>
                    <a:pt x="360" y="90"/>
                  </a:lnTo>
                  <a:moveTo>
                    <a:pt x="328" y="126"/>
                  </a:moveTo>
                  <a:lnTo>
                    <a:pt x="338" y="114"/>
                  </a:lnTo>
                  <a:moveTo>
                    <a:pt x="305" y="150"/>
                  </a:moveTo>
                  <a:lnTo>
                    <a:pt x="316" y="138"/>
                  </a:lnTo>
                  <a:moveTo>
                    <a:pt x="283" y="175"/>
                  </a:moveTo>
                  <a:lnTo>
                    <a:pt x="294" y="163"/>
                  </a:lnTo>
                  <a:moveTo>
                    <a:pt x="261" y="199"/>
                  </a:moveTo>
                  <a:lnTo>
                    <a:pt x="273" y="187"/>
                  </a:lnTo>
                  <a:moveTo>
                    <a:pt x="239" y="223"/>
                  </a:moveTo>
                  <a:lnTo>
                    <a:pt x="250" y="211"/>
                  </a:lnTo>
                  <a:moveTo>
                    <a:pt x="217" y="248"/>
                  </a:moveTo>
                  <a:lnTo>
                    <a:pt x="229" y="236"/>
                  </a:lnTo>
                  <a:moveTo>
                    <a:pt x="195" y="273"/>
                  </a:moveTo>
                  <a:lnTo>
                    <a:pt x="206" y="260"/>
                  </a:lnTo>
                  <a:moveTo>
                    <a:pt x="174" y="296"/>
                  </a:moveTo>
                  <a:lnTo>
                    <a:pt x="185" y="284"/>
                  </a:lnTo>
                  <a:moveTo>
                    <a:pt x="151" y="321"/>
                  </a:moveTo>
                  <a:lnTo>
                    <a:pt x="162" y="309"/>
                  </a:lnTo>
                  <a:moveTo>
                    <a:pt x="130" y="346"/>
                  </a:moveTo>
                  <a:lnTo>
                    <a:pt x="141" y="333"/>
                  </a:lnTo>
                  <a:moveTo>
                    <a:pt x="107" y="369"/>
                  </a:moveTo>
                  <a:lnTo>
                    <a:pt x="119" y="358"/>
                  </a:lnTo>
                  <a:moveTo>
                    <a:pt x="438" y="28"/>
                  </a:moveTo>
                  <a:lnTo>
                    <a:pt x="438" y="28"/>
                  </a:lnTo>
                  <a:moveTo>
                    <a:pt x="444" y="25"/>
                  </a:moveTo>
                  <a:lnTo>
                    <a:pt x="444" y="0"/>
                  </a:lnTo>
                  <a:lnTo>
                    <a:pt x="419" y="0"/>
                  </a:lnTo>
                  <a:moveTo>
                    <a:pt x="444" y="0"/>
                  </a:moveTo>
                  <a:lnTo>
                    <a:pt x="395" y="50"/>
                  </a:lnTo>
                </a:path>
              </a:pathLst>
            </a:custGeom>
            <a:noFill/>
            <a:ln w="12700"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grpSp>
      <p:cxnSp>
        <p:nvCxnSpPr>
          <p:cNvPr id="225" name="Straight Connector 224">
            <a:extLst>
              <a:ext uri="{FF2B5EF4-FFF2-40B4-BE49-F238E27FC236}">
                <a16:creationId xmlns:a16="http://schemas.microsoft.com/office/drawing/2014/main" id="{CC11445C-1AC2-4AF8-864F-6BEEAC44CE08}"/>
              </a:ext>
              <a:ext uri="{C183D7F6-B498-43B3-948B-1728B52AA6E4}">
                <adec:decorative xmlns:adec="http://schemas.microsoft.com/office/drawing/2017/decorative" val="1"/>
              </a:ext>
            </a:extLst>
          </p:cNvPr>
          <p:cNvCxnSpPr>
            <a:cxnSpLocks/>
          </p:cNvCxnSpPr>
          <p:nvPr/>
        </p:nvCxnSpPr>
        <p:spPr>
          <a:xfrm>
            <a:off x="5771254" y="5378882"/>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32" name="Group 231">
            <a:extLst>
              <a:ext uri="{FF2B5EF4-FFF2-40B4-BE49-F238E27FC236}">
                <a16:creationId xmlns:a16="http://schemas.microsoft.com/office/drawing/2014/main" id="{396E1151-4B21-4315-B5B3-CAD3450066AC}"/>
              </a:ext>
              <a:ext uri="{C183D7F6-B498-43B3-948B-1728B52AA6E4}">
                <adec:decorative xmlns:adec="http://schemas.microsoft.com/office/drawing/2017/decorative" val="1"/>
              </a:ext>
            </a:extLst>
          </p:cNvPr>
          <p:cNvGrpSpPr>
            <a:grpSpLocks/>
          </p:cNvGrpSpPr>
          <p:nvPr/>
        </p:nvGrpSpPr>
        <p:grpSpPr>
          <a:xfrm>
            <a:off x="777563" y="5630994"/>
            <a:ext cx="411480" cy="411480"/>
            <a:chOff x="4850654" y="3383869"/>
            <a:chExt cx="751672" cy="751672"/>
          </a:xfrm>
        </p:grpSpPr>
        <p:sp>
          <p:nvSpPr>
            <p:cNvPr id="233" name="Oval 232">
              <a:extLst>
                <a:ext uri="{FF2B5EF4-FFF2-40B4-BE49-F238E27FC236}">
                  <a16:creationId xmlns:a16="http://schemas.microsoft.com/office/drawing/2014/main" id="{B308703B-D3AF-4747-A132-8F244AAF7E98}"/>
                </a:ext>
                <a:ext uri="{C183D7F6-B498-43B3-948B-1728B52AA6E4}">
                  <adec:decorative xmlns:adec="http://schemas.microsoft.com/office/drawing/2017/decorative" val="1"/>
                </a:ext>
              </a:extLst>
            </p:cNvPr>
            <p:cNvSpPr/>
            <p:nvPr/>
          </p:nvSpPr>
          <p:spPr bwMode="auto">
            <a:xfrm>
              <a:off x="4850654" y="3383869"/>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IN" sz="2400" b="0" i="0" u="none" strike="noStrike" kern="1200" cap="none" spc="0" normalizeH="0" baseline="0" noProof="0" err="1">
                <a:ln>
                  <a:noFill/>
                </a:ln>
                <a:solidFill>
                  <a:schemeClr val="tx2"/>
                </a:solidFill>
                <a:effectLst/>
                <a:uLnTx/>
                <a:uFillTx/>
                <a:latin typeface="Segoe UI"/>
                <a:ea typeface="Segoe UI" pitchFamily="34" charset="0"/>
                <a:cs typeface="Segoe UI" pitchFamily="34" charset="0"/>
              </a:endParaRPr>
            </a:p>
          </p:txBody>
        </p:sp>
        <p:sp>
          <p:nvSpPr>
            <p:cNvPr id="234" name="Freeform: Shape 233">
              <a:extLst>
                <a:ext uri="{FF2B5EF4-FFF2-40B4-BE49-F238E27FC236}">
                  <a16:creationId xmlns:a16="http://schemas.microsoft.com/office/drawing/2014/main" id="{DB6E869F-8306-48E9-BAF6-F453E40CD4D7}"/>
                </a:ext>
                <a:ext uri="{C183D7F6-B498-43B3-948B-1728B52AA6E4}">
                  <adec:decorative xmlns:adec="http://schemas.microsoft.com/office/drawing/2017/decorative" val="1"/>
                </a:ext>
              </a:extLst>
            </p:cNvPr>
            <p:cNvSpPr/>
            <p:nvPr/>
          </p:nvSpPr>
          <p:spPr>
            <a:xfrm>
              <a:off x="5043367" y="3600998"/>
              <a:ext cx="366246" cy="317412"/>
            </a:xfrm>
            <a:custGeom>
              <a:avLst/>
              <a:gdLst>
                <a:gd name="connsiteX0" fmla="*/ 93073 w 285750"/>
                <a:gd name="connsiteY0" fmla="*/ 118791 h 247650"/>
                <a:gd name="connsiteX1" fmla="*/ 142603 w 285750"/>
                <a:gd name="connsiteY1" fmla="*/ 68308 h 247650"/>
                <a:gd name="connsiteX2" fmla="*/ 192133 w 285750"/>
                <a:gd name="connsiteY2" fmla="*/ 118791 h 247650"/>
                <a:gd name="connsiteX3" fmla="*/ 142603 w 285750"/>
                <a:gd name="connsiteY3" fmla="*/ 169273 h 247650"/>
                <a:gd name="connsiteX4" fmla="*/ 93073 w 285750"/>
                <a:gd name="connsiteY4" fmla="*/ 118791 h 247650"/>
                <a:gd name="connsiteX5" fmla="*/ 93073 w 285750"/>
                <a:gd name="connsiteY5" fmla="*/ 118791 h 247650"/>
                <a:gd name="connsiteX6" fmla="*/ 212136 w 285750"/>
                <a:gd name="connsiteY6" fmla="*/ 241663 h 247650"/>
                <a:gd name="connsiteX7" fmla="*/ 142603 w 285750"/>
                <a:gd name="connsiteY7" fmla="*/ 171178 h 247650"/>
                <a:gd name="connsiteX8" fmla="*/ 73071 w 285750"/>
                <a:gd name="connsiteY8" fmla="*/ 241663 h 247650"/>
                <a:gd name="connsiteX9" fmla="*/ 51163 w 285750"/>
                <a:gd name="connsiteY9" fmla="*/ 70213 h 247650"/>
                <a:gd name="connsiteX10" fmla="*/ 82596 w 285750"/>
                <a:gd name="connsiteY10" fmla="*/ 38781 h 247650"/>
                <a:gd name="connsiteX11" fmla="*/ 51163 w 285750"/>
                <a:gd name="connsiteY11" fmla="*/ 7348 h 247650"/>
                <a:gd name="connsiteX12" fmla="*/ 19731 w 285750"/>
                <a:gd name="connsiteY12" fmla="*/ 38781 h 247650"/>
                <a:gd name="connsiteX13" fmla="*/ 51163 w 285750"/>
                <a:gd name="connsiteY13" fmla="*/ 70213 h 247650"/>
                <a:gd name="connsiteX14" fmla="*/ 51163 w 285750"/>
                <a:gd name="connsiteY14" fmla="*/ 70213 h 247650"/>
                <a:gd name="connsiteX15" fmla="*/ 94026 w 285750"/>
                <a:gd name="connsiteY15" fmla="*/ 114028 h 247650"/>
                <a:gd name="connsiteX16" fmla="*/ 51163 w 285750"/>
                <a:gd name="connsiteY16" fmla="*/ 70213 h 247650"/>
                <a:gd name="connsiteX17" fmla="*/ 7348 w 285750"/>
                <a:gd name="connsiteY17" fmla="*/ 114028 h 247650"/>
                <a:gd name="connsiteX18" fmla="*/ 234996 w 285750"/>
                <a:gd name="connsiteY18" fmla="*/ 70213 h 247650"/>
                <a:gd name="connsiteX19" fmla="*/ 266428 w 285750"/>
                <a:gd name="connsiteY19" fmla="*/ 38781 h 247650"/>
                <a:gd name="connsiteX20" fmla="*/ 234996 w 285750"/>
                <a:gd name="connsiteY20" fmla="*/ 7348 h 247650"/>
                <a:gd name="connsiteX21" fmla="*/ 203563 w 285750"/>
                <a:gd name="connsiteY21" fmla="*/ 38781 h 247650"/>
                <a:gd name="connsiteX22" fmla="*/ 234996 w 285750"/>
                <a:gd name="connsiteY22" fmla="*/ 70213 h 247650"/>
                <a:gd name="connsiteX23" fmla="*/ 234996 w 285750"/>
                <a:gd name="connsiteY23" fmla="*/ 70213 h 247650"/>
                <a:gd name="connsiteX24" fmla="*/ 278811 w 285750"/>
                <a:gd name="connsiteY24" fmla="*/ 114028 h 247650"/>
                <a:gd name="connsiteX25" fmla="*/ 234996 w 285750"/>
                <a:gd name="connsiteY25" fmla="*/ 70213 h 247650"/>
                <a:gd name="connsiteX26" fmla="*/ 191181 w 285750"/>
                <a:gd name="connsiteY26" fmla="*/ 114028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85750" h="247650">
                  <a:moveTo>
                    <a:pt x="93073" y="118791"/>
                  </a:moveTo>
                  <a:cubicBezTo>
                    <a:pt x="93073" y="91168"/>
                    <a:pt x="115933" y="68308"/>
                    <a:pt x="142603" y="68308"/>
                  </a:cubicBezTo>
                  <a:cubicBezTo>
                    <a:pt x="170226" y="68308"/>
                    <a:pt x="192133" y="91168"/>
                    <a:pt x="192133" y="118791"/>
                  </a:cubicBezTo>
                  <a:cubicBezTo>
                    <a:pt x="192133" y="146413"/>
                    <a:pt x="170226" y="169273"/>
                    <a:pt x="142603" y="169273"/>
                  </a:cubicBezTo>
                  <a:cubicBezTo>
                    <a:pt x="114981" y="170226"/>
                    <a:pt x="93073" y="147366"/>
                    <a:pt x="93073" y="118791"/>
                  </a:cubicBezTo>
                  <a:lnTo>
                    <a:pt x="93073" y="118791"/>
                  </a:lnTo>
                  <a:close/>
                  <a:moveTo>
                    <a:pt x="212136" y="241663"/>
                  </a:moveTo>
                  <a:cubicBezTo>
                    <a:pt x="212136" y="202611"/>
                    <a:pt x="180703" y="171178"/>
                    <a:pt x="142603" y="171178"/>
                  </a:cubicBezTo>
                  <a:cubicBezTo>
                    <a:pt x="104503" y="171178"/>
                    <a:pt x="73071" y="202611"/>
                    <a:pt x="73071" y="241663"/>
                  </a:cubicBezTo>
                  <a:moveTo>
                    <a:pt x="51163" y="70213"/>
                  </a:moveTo>
                  <a:cubicBezTo>
                    <a:pt x="68308" y="70213"/>
                    <a:pt x="82596" y="55926"/>
                    <a:pt x="82596" y="38781"/>
                  </a:cubicBezTo>
                  <a:cubicBezTo>
                    <a:pt x="82596" y="21636"/>
                    <a:pt x="68308" y="7348"/>
                    <a:pt x="51163" y="7348"/>
                  </a:cubicBezTo>
                  <a:cubicBezTo>
                    <a:pt x="34018" y="7348"/>
                    <a:pt x="19731" y="21636"/>
                    <a:pt x="19731" y="38781"/>
                  </a:cubicBezTo>
                  <a:cubicBezTo>
                    <a:pt x="19731" y="55926"/>
                    <a:pt x="34018" y="70213"/>
                    <a:pt x="51163" y="70213"/>
                  </a:cubicBezTo>
                  <a:lnTo>
                    <a:pt x="51163" y="70213"/>
                  </a:lnTo>
                  <a:close/>
                  <a:moveTo>
                    <a:pt x="94026" y="114028"/>
                  </a:moveTo>
                  <a:cubicBezTo>
                    <a:pt x="94026" y="90216"/>
                    <a:pt x="74976" y="70213"/>
                    <a:pt x="51163" y="70213"/>
                  </a:cubicBezTo>
                  <a:cubicBezTo>
                    <a:pt x="27351" y="70213"/>
                    <a:pt x="7348" y="90216"/>
                    <a:pt x="7348" y="114028"/>
                  </a:cubicBezTo>
                  <a:moveTo>
                    <a:pt x="234996" y="70213"/>
                  </a:moveTo>
                  <a:cubicBezTo>
                    <a:pt x="252141" y="70213"/>
                    <a:pt x="266428" y="55926"/>
                    <a:pt x="266428" y="38781"/>
                  </a:cubicBezTo>
                  <a:cubicBezTo>
                    <a:pt x="266428" y="21636"/>
                    <a:pt x="252141" y="7348"/>
                    <a:pt x="234996" y="7348"/>
                  </a:cubicBezTo>
                  <a:cubicBezTo>
                    <a:pt x="217851" y="7348"/>
                    <a:pt x="203563" y="21636"/>
                    <a:pt x="203563" y="38781"/>
                  </a:cubicBezTo>
                  <a:cubicBezTo>
                    <a:pt x="203563" y="55926"/>
                    <a:pt x="217851" y="70213"/>
                    <a:pt x="234996" y="70213"/>
                  </a:cubicBezTo>
                  <a:lnTo>
                    <a:pt x="234996" y="70213"/>
                  </a:lnTo>
                  <a:close/>
                  <a:moveTo>
                    <a:pt x="278811" y="114028"/>
                  </a:moveTo>
                  <a:cubicBezTo>
                    <a:pt x="278811" y="90216"/>
                    <a:pt x="259761" y="70213"/>
                    <a:pt x="234996" y="70213"/>
                  </a:cubicBezTo>
                  <a:cubicBezTo>
                    <a:pt x="210231" y="70213"/>
                    <a:pt x="191181" y="90216"/>
                    <a:pt x="191181" y="114028"/>
                  </a:cubicBezTo>
                </a:path>
              </a:pathLst>
            </a:custGeom>
            <a:noFill/>
            <a:ln w="12700" cap="sq">
              <a:solidFill>
                <a:schemeClr val="tx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2"/>
                </a:solidFill>
                <a:effectLst/>
                <a:uLnTx/>
                <a:uFillTx/>
                <a:latin typeface="Segoe UI"/>
                <a:ea typeface="+mn-ea"/>
                <a:cs typeface="+mn-cs"/>
              </a:endParaRPr>
            </a:p>
          </p:txBody>
        </p:sp>
      </p:grpSp>
      <p:sp>
        <p:nvSpPr>
          <p:cNvPr id="243" name="Footer Placeholder 2">
            <a:extLst>
              <a:ext uri="{FF2B5EF4-FFF2-40B4-BE49-F238E27FC236}">
                <a16:creationId xmlns:a16="http://schemas.microsoft.com/office/drawing/2014/main" id="{BA1D717F-315A-47C2-9101-B9CD470542A0}"/>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pic>
        <p:nvPicPr>
          <p:cNvPr id="244" name="Picture 243" descr="Two young employees sitting in a coffee table working on a laptop">
            <a:extLst>
              <a:ext uri="{FF2B5EF4-FFF2-40B4-BE49-F238E27FC236}">
                <a16:creationId xmlns:a16="http://schemas.microsoft.com/office/drawing/2014/main" id="{10BD9D65-F81F-4C2F-8BF0-C38DC85F12A4}"/>
              </a:ext>
            </a:extLst>
          </p:cNvPr>
          <p:cNvPicPr>
            <a:picLocks noChangeAspect="1"/>
          </p:cNvPicPr>
          <p:nvPr/>
        </p:nvPicPr>
        <p:blipFill rotWithShape="1">
          <a:blip r:embed="rId4">
            <a:extLst>
              <a:ext uri="{28A0092B-C50C-407E-A947-70E740481C1C}">
                <a14:useLocalDpi xmlns:a14="http://schemas.microsoft.com/office/drawing/2010/main" val="0"/>
              </a:ext>
            </a:extLst>
          </a:blip>
          <a:srcRect l="10446" t="3964" r="38914" b="906"/>
          <a:stretch/>
        </p:blipFill>
        <p:spPr>
          <a:xfrm>
            <a:off x="6715115" y="0"/>
            <a:ext cx="5476886" cy="6858000"/>
          </a:xfrm>
          <a:custGeom>
            <a:avLst/>
            <a:gdLst>
              <a:gd name="connsiteX0" fmla="*/ 0 w 2743198"/>
              <a:gd name="connsiteY0" fmla="*/ 0 h 4663440"/>
              <a:gd name="connsiteX1" fmla="*/ 2743198 w 2743198"/>
              <a:gd name="connsiteY1" fmla="*/ 0 h 4663440"/>
              <a:gd name="connsiteX2" fmla="*/ 2743198 w 2743198"/>
              <a:gd name="connsiteY2" fmla="*/ 4663440 h 4663440"/>
              <a:gd name="connsiteX3" fmla="*/ 0 w 2743198"/>
              <a:gd name="connsiteY3" fmla="*/ 4663440 h 4663440"/>
            </a:gdLst>
            <a:ahLst/>
            <a:cxnLst>
              <a:cxn ang="0">
                <a:pos x="connsiteX0" y="connsiteY0"/>
              </a:cxn>
              <a:cxn ang="0">
                <a:pos x="connsiteX1" y="connsiteY1"/>
              </a:cxn>
              <a:cxn ang="0">
                <a:pos x="connsiteX2" y="connsiteY2"/>
              </a:cxn>
              <a:cxn ang="0">
                <a:pos x="connsiteX3" y="connsiteY3"/>
              </a:cxn>
            </a:cxnLst>
            <a:rect l="l" t="t" r="r" b="b"/>
            <a:pathLst>
              <a:path w="2743198" h="4663440">
                <a:moveTo>
                  <a:pt x="0" y="0"/>
                </a:moveTo>
                <a:lnTo>
                  <a:pt x="2743198" y="0"/>
                </a:lnTo>
                <a:lnTo>
                  <a:pt x="2743198" y="4663440"/>
                </a:lnTo>
                <a:lnTo>
                  <a:pt x="0" y="4663440"/>
                </a:lnTo>
                <a:close/>
              </a:path>
            </a:pathLst>
          </a:custGeom>
        </p:spPr>
      </p:pic>
      <p:sp>
        <p:nvSpPr>
          <p:cNvPr id="246" name="Slide Number Placeholder 5">
            <a:extLst>
              <a:ext uri="{FF2B5EF4-FFF2-40B4-BE49-F238E27FC236}">
                <a16:creationId xmlns:a16="http://schemas.microsoft.com/office/drawing/2014/main" id="{BB923F6A-FB10-4084-B245-036F1EAEE1FC}"/>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chemeClr val="bg1"/>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schemeClr val="bg1"/>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3162923012"/>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26C7312-6643-4F44-86B4-FA64F536177B}"/>
              </a:ext>
            </a:extLst>
          </p:cNvPr>
          <p:cNvSpPr>
            <a:spLocks noGrp="1"/>
          </p:cNvSpPr>
          <p:nvPr>
            <p:ph type="title"/>
          </p:nvPr>
        </p:nvSpPr>
        <p:spPr/>
        <p:txBody>
          <a:bodyPr/>
          <a:lstStyle/>
          <a:p>
            <a:r>
              <a:rPr lang="en-US" dirty="0"/>
              <a:t>Objectives  </a:t>
            </a:r>
          </a:p>
        </p:txBody>
      </p:sp>
      <p:sp>
        <p:nvSpPr>
          <p:cNvPr id="4" name="Text Placeholder 3">
            <a:extLst>
              <a:ext uri="{FF2B5EF4-FFF2-40B4-BE49-F238E27FC236}">
                <a16:creationId xmlns:a16="http://schemas.microsoft.com/office/drawing/2014/main" id="{3BDD850C-29B9-4641-B580-0B91B9EBAE00}"/>
              </a:ext>
            </a:extLst>
          </p:cNvPr>
          <p:cNvSpPr>
            <a:spLocks noGrp="1"/>
          </p:cNvSpPr>
          <p:nvPr>
            <p:ph type="body" sz="quarter" idx="12"/>
            <p:custDataLst>
              <p:custData r:id="rId2"/>
            </p:custDataLst>
          </p:nvPr>
        </p:nvSpPr>
        <p:spPr/>
        <p:txBody>
          <a:bodyPr vert="horz" lIns="0" tIns="0" rIns="0" bIns="0" rtlCol="0" anchor="t">
            <a:normAutofit/>
          </a:bodyPr>
          <a:lstStyle/>
          <a:p>
            <a:r>
              <a:rPr lang="en-US" dirty="0"/>
              <a:t>After completing this Module, you will be able to:</a:t>
            </a:r>
          </a:p>
        </p:txBody>
      </p:sp>
      <p:graphicFrame>
        <p:nvGraphicFramePr>
          <p:cNvPr id="41" name="Table 2">
            <a:extLst>
              <a:ext uri="{FF2B5EF4-FFF2-40B4-BE49-F238E27FC236}">
                <a16:creationId xmlns:a16="http://schemas.microsoft.com/office/drawing/2014/main" id="{2F2EA0C9-C38D-4F1A-8551-0B45DED4B9B8}"/>
              </a:ext>
            </a:extLst>
          </p:cNvPr>
          <p:cNvGraphicFramePr>
            <a:graphicFrameLocks noGrp="1"/>
          </p:cNvGraphicFramePr>
          <p:nvPr>
            <p:extLst>
              <p:ext uri="{D42A27DB-BD31-4B8C-83A1-F6EECF244321}">
                <p14:modId xmlns:p14="http://schemas.microsoft.com/office/powerpoint/2010/main" val="461005399"/>
              </p:ext>
            </p:extLst>
          </p:nvPr>
        </p:nvGraphicFramePr>
        <p:xfrm>
          <a:off x="571500" y="1752870"/>
          <a:ext cx="8188960" cy="472698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2473442237"/>
                    </a:ext>
                  </a:extLst>
                </a:gridCol>
                <a:gridCol w="548640">
                  <a:extLst>
                    <a:ext uri="{9D8B030D-6E8A-4147-A177-3AD203B41FA5}">
                      <a16:colId xmlns:a16="http://schemas.microsoft.com/office/drawing/2014/main" val="108120203"/>
                    </a:ext>
                  </a:extLst>
                </a:gridCol>
                <a:gridCol w="7223760">
                  <a:extLst>
                    <a:ext uri="{9D8B030D-6E8A-4147-A177-3AD203B41FA5}">
                      <a16:colId xmlns:a16="http://schemas.microsoft.com/office/drawing/2014/main" val="2189273595"/>
                    </a:ext>
                  </a:extLst>
                </a:gridCol>
                <a:gridCol w="208280">
                  <a:extLst>
                    <a:ext uri="{9D8B030D-6E8A-4147-A177-3AD203B41FA5}">
                      <a16:colId xmlns:a16="http://schemas.microsoft.com/office/drawing/2014/main" val="518262350"/>
                    </a:ext>
                  </a:extLst>
                </a:gridCol>
              </a:tblGrid>
              <a:tr h="903234">
                <a:tc>
                  <a:txBody>
                    <a:bodyPr/>
                    <a:lstStyle/>
                    <a:p>
                      <a:endParaRPr lang="en-US"/>
                    </a:p>
                  </a:txBody>
                  <a:tcPr>
                    <a:lnL w="3175" cap="flat" cmpd="sng" algn="ctr">
                      <a:solidFill>
                        <a:schemeClr val="bg1">
                          <a:lumMod val="75000"/>
                        </a:schemeClr>
                      </a:solid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3600" b="1">
                          <a:solidFill>
                            <a:schemeClr val="tx2"/>
                          </a:solidFill>
                          <a:latin typeface="+mn-lt"/>
                        </a:rPr>
                        <a:t>1</a:t>
                      </a:r>
                    </a:p>
                  </a:txBody>
                  <a:tcPr marT="73152" marB="73152" anchor="ctr">
                    <a:lnL w="3175" cap="flat" cmpd="sng" algn="ctr">
                      <a:noFill/>
                      <a:prstDash val="solid"/>
                      <a:round/>
                      <a:headEnd type="none" w="med" len="med"/>
                      <a:tailEnd type="none" w="med" len="med"/>
                    </a:lnL>
                    <a:lnR w="12700" cmpd="sng">
                      <a:noFill/>
                    </a:lnR>
                    <a:lnT w="381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defTabSz="914192">
                        <a:spcBef>
                          <a:spcPts val="100"/>
                        </a:spcBef>
                        <a:spcAft>
                          <a:spcPts val="200"/>
                        </a:spcAft>
                      </a:pPr>
                      <a:r>
                        <a:rPr lang="en-US" sz="1400" b="0" kern="1200" dirty="0">
                          <a:solidFill>
                            <a:schemeClr val="tx1"/>
                          </a:solidFill>
                          <a:latin typeface="+mj-lt"/>
                          <a:ea typeface="+mn-ea"/>
                          <a:cs typeface="Segoe UI Semibold"/>
                        </a:rPr>
                        <a:t>Understand….</a:t>
                      </a:r>
                    </a:p>
                    <a:p>
                      <a:pPr marL="342900" indent="-228600" defTabSz="914192">
                        <a:spcBef>
                          <a:spcPts val="100"/>
                        </a:spcBef>
                        <a:spcAft>
                          <a:spcPts val="200"/>
                        </a:spcAft>
                        <a:buFont typeface="Wingdings" panose="05000000000000000000" pitchFamily="2" charset="2"/>
                        <a:buChar char="ü"/>
                      </a:pPr>
                      <a:r>
                        <a:rPr lang="en-GB" sz="1400" b="0" dirty="0">
                          <a:solidFill>
                            <a:schemeClr val="tx1"/>
                          </a:solidFill>
                          <a:cs typeface="Segoe UI Semibold"/>
                        </a:rPr>
                        <a:t>AKS Baseline architecture</a:t>
                      </a:r>
                    </a:p>
                    <a:p>
                      <a:pPr marL="342900" indent="-228600" defTabSz="914192">
                        <a:spcBef>
                          <a:spcPts val="100"/>
                        </a:spcBef>
                        <a:spcAft>
                          <a:spcPts val="200"/>
                        </a:spcAft>
                        <a:buFont typeface="Wingdings" panose="05000000000000000000" pitchFamily="2" charset="2"/>
                        <a:buChar char="ü"/>
                      </a:pPr>
                      <a:r>
                        <a:rPr lang="en-GB" sz="1400" b="0" dirty="0">
                          <a:solidFill>
                            <a:schemeClr val="tx1"/>
                          </a:solidFill>
                          <a:cs typeface="Segoe UI Semibold"/>
                        </a:rPr>
                        <a:t>Protecting the </a:t>
                      </a:r>
                    </a:p>
                  </a:txBody>
                  <a:tcPr marT="73152" marB="73152">
                    <a:lnL w="12700" cmpd="sng">
                      <a:noFill/>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42900" indent="-228600" defTabSz="914192">
                        <a:spcBef>
                          <a:spcPts val="100"/>
                        </a:spcBef>
                        <a:spcAft>
                          <a:spcPts val="200"/>
                        </a:spcAft>
                        <a:buFont typeface="Wingdings" panose="05000000000000000000" pitchFamily="2" charset="2"/>
                        <a:buChar char="ü"/>
                      </a:pPr>
                      <a:endParaRPr lang="en-GB" sz="1400" b="0">
                        <a:solidFill>
                          <a:schemeClr val="tx1"/>
                        </a:solidFill>
                        <a:cs typeface="Segoe UI Semibold"/>
                      </a:endParaRPr>
                    </a:p>
                  </a:txBody>
                  <a:tcPr marT="73152" marB="73152">
                    <a:lnL w="12700" cmpd="sng">
                      <a:noFill/>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1179405"/>
                  </a:ext>
                </a:extLst>
              </a:tr>
              <a:tr h="903234">
                <a:tc>
                  <a:txBody>
                    <a:bodyPr/>
                    <a:lstStyle/>
                    <a:p>
                      <a:endParaRPr lang="en-US"/>
                    </a:p>
                  </a:txBody>
                  <a:tcPr>
                    <a:lnL w="3175"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3600" b="1">
                          <a:solidFill>
                            <a:schemeClr val="tx2"/>
                          </a:solidFill>
                          <a:latin typeface="+mn-lt"/>
                        </a:rPr>
                        <a:t>2</a:t>
                      </a:r>
                    </a:p>
                  </a:txBody>
                  <a:tcPr marT="73152" marB="73152"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192" rtl="0" eaLnBrk="1" fontAlgn="auto" latinLnBrk="0" hangingPunct="1">
                        <a:lnSpc>
                          <a:spcPct val="100000"/>
                        </a:lnSpc>
                        <a:spcBef>
                          <a:spcPts val="100"/>
                        </a:spcBef>
                        <a:spcAft>
                          <a:spcPts val="20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UI Semibold"/>
                          <a:ea typeface="+mn-ea"/>
                          <a:cs typeface="Segoe UI Semibold"/>
                        </a:rPr>
                        <a:t>Understand….</a:t>
                      </a:r>
                    </a:p>
                    <a:p>
                      <a:pPr marL="342900" marR="0" lvl="0" indent="-228600" algn="l" defTabSz="914192" rtl="0" eaLnBrk="1" fontAlgn="auto" latinLnBrk="0" hangingPunct="1">
                        <a:lnSpc>
                          <a:spcPct val="100000"/>
                        </a:lnSpc>
                        <a:spcBef>
                          <a:spcPts val="100"/>
                        </a:spcBef>
                        <a:spcAft>
                          <a:spcPts val="200"/>
                        </a:spcAft>
                        <a:buClrTx/>
                        <a:buSzTx/>
                        <a:buFont typeface="Wingdings" panose="05000000000000000000" pitchFamily="2" charset="2"/>
                        <a:buChar char="ü"/>
                        <a:tabLst/>
                        <a:defRPr/>
                      </a:pPr>
                      <a:r>
                        <a:rPr kumimoji="0" lang="en-GB" sz="1400" b="0" i="0" u="none" strike="noStrike" kern="1200" cap="none" spc="0" normalizeH="0" baseline="0" noProof="0" dirty="0">
                          <a:ln>
                            <a:noFill/>
                          </a:ln>
                          <a:solidFill>
                            <a:srgbClr val="000000"/>
                          </a:solidFill>
                          <a:effectLst/>
                          <a:uLnTx/>
                          <a:uFillTx/>
                          <a:latin typeface="Segoe UI"/>
                          <a:ea typeface="+mn-ea"/>
                          <a:cs typeface="Segoe UI Semibold"/>
                        </a:rPr>
                        <a:t>The different Container Network Interfaces provided by Azure</a:t>
                      </a:r>
                    </a:p>
                    <a:p>
                      <a:pPr marL="342900" marR="0" lvl="0" indent="-228600" algn="l" defTabSz="914192" rtl="0" eaLnBrk="1" fontAlgn="auto" latinLnBrk="0" hangingPunct="1">
                        <a:lnSpc>
                          <a:spcPct val="100000"/>
                        </a:lnSpc>
                        <a:spcBef>
                          <a:spcPts val="100"/>
                        </a:spcBef>
                        <a:spcAft>
                          <a:spcPts val="200"/>
                        </a:spcAft>
                        <a:buClrTx/>
                        <a:buSzTx/>
                        <a:buFont typeface="Wingdings" panose="05000000000000000000" pitchFamily="2" charset="2"/>
                        <a:buChar char="ü"/>
                        <a:tabLst/>
                        <a:defRPr/>
                      </a:pPr>
                      <a:r>
                        <a:rPr kumimoji="0" lang="en-GB" sz="1400" b="0" i="0" u="none" strike="noStrike" kern="1200" cap="none" spc="0" normalizeH="0" baseline="0" noProof="0" dirty="0">
                          <a:ln>
                            <a:noFill/>
                          </a:ln>
                          <a:solidFill>
                            <a:srgbClr val="000000"/>
                          </a:solidFill>
                          <a:effectLst/>
                          <a:uLnTx/>
                          <a:uFillTx/>
                          <a:latin typeface="Segoe UI"/>
                          <a:ea typeface="+mn-ea"/>
                          <a:cs typeface="Segoe UI Semibold"/>
                        </a:rPr>
                        <a:t>How to choose a CNI</a:t>
                      </a:r>
                      <a:endParaRPr lang="en-GB" sz="1400" b="0" dirty="0">
                        <a:solidFill>
                          <a:schemeClr val="tx1"/>
                        </a:solidFill>
                        <a:cs typeface="Segoe UI Semibold"/>
                      </a:endParaRPr>
                    </a:p>
                  </a:txBody>
                  <a:tcPr marT="73152" marB="73152">
                    <a:lnL w="12700" cmpd="sng">
                      <a:noFill/>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42900" marR="0" lvl="0" indent="-228600" algn="l" defTabSz="914192" rtl="0" eaLnBrk="1" fontAlgn="auto" latinLnBrk="0" hangingPunct="1">
                        <a:lnSpc>
                          <a:spcPct val="100000"/>
                        </a:lnSpc>
                        <a:spcBef>
                          <a:spcPts val="100"/>
                        </a:spcBef>
                        <a:spcAft>
                          <a:spcPts val="200"/>
                        </a:spcAft>
                        <a:buClrTx/>
                        <a:buSzTx/>
                        <a:buFont typeface="Wingdings" panose="05000000000000000000" pitchFamily="2" charset="2"/>
                        <a:buChar char="ü"/>
                        <a:tabLst/>
                        <a:defRPr/>
                      </a:pPr>
                      <a:endParaRPr lang="en-GB" sz="1400" b="0">
                        <a:solidFill>
                          <a:schemeClr val="tx1"/>
                        </a:solidFill>
                        <a:cs typeface="Segoe UI Semibold"/>
                      </a:endParaRPr>
                    </a:p>
                  </a:txBody>
                  <a:tcPr marT="73152" marB="73152">
                    <a:lnL w="12700" cmpd="sng">
                      <a:noFill/>
                    </a:lnL>
                    <a:lnR w="3175" cap="flat" cmpd="sng" algn="ctr">
                      <a:solidFill>
                        <a:schemeClr val="bg1">
                          <a:lumMod val="75000"/>
                        </a:schemeClr>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8743437"/>
                  </a:ext>
                </a:extLst>
              </a:tr>
              <a:tr h="903234">
                <a:tc>
                  <a:txBody>
                    <a:bodyPr/>
                    <a:lstStyle/>
                    <a:p>
                      <a:endParaRPr lang="en-US"/>
                    </a:p>
                  </a:txBody>
                  <a:tcPr>
                    <a:lnL w="3175"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3600" b="1">
                          <a:solidFill>
                            <a:schemeClr val="tx2"/>
                          </a:solidFill>
                          <a:latin typeface="+mn-lt"/>
                        </a:rPr>
                        <a:t>3</a:t>
                      </a:r>
                    </a:p>
                  </a:txBody>
                  <a:tcPr marT="73152" marB="73152"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192" rtl="0" eaLnBrk="1" fontAlgn="auto" latinLnBrk="0" hangingPunct="1">
                        <a:lnSpc>
                          <a:spcPct val="100000"/>
                        </a:lnSpc>
                        <a:spcBef>
                          <a:spcPts val="100"/>
                        </a:spcBef>
                        <a:spcAft>
                          <a:spcPts val="20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UI Semibold"/>
                          <a:ea typeface="+mn-ea"/>
                          <a:cs typeface="Segoe UI Semibold"/>
                        </a:rPr>
                        <a:t>Understand….</a:t>
                      </a:r>
                    </a:p>
                    <a:p>
                      <a:pPr marL="342900" marR="0" lvl="0" indent="-228600" algn="l" defTabSz="914192" rtl="0" eaLnBrk="1" fontAlgn="auto" latinLnBrk="0" hangingPunct="1">
                        <a:lnSpc>
                          <a:spcPct val="100000"/>
                        </a:lnSpc>
                        <a:spcBef>
                          <a:spcPts val="100"/>
                        </a:spcBef>
                        <a:spcAft>
                          <a:spcPts val="200"/>
                        </a:spcAft>
                        <a:buClrTx/>
                        <a:buSzTx/>
                        <a:buFont typeface="Wingdings" panose="05000000000000000000" pitchFamily="2" charset="2"/>
                        <a:buChar char="ü"/>
                        <a:tabLst/>
                        <a:defRPr/>
                      </a:pPr>
                      <a:r>
                        <a:rPr kumimoji="0" lang="en-GB" sz="1400" b="0" i="0" u="none" strike="noStrike" kern="1200" cap="none" spc="0" normalizeH="0" baseline="0" noProof="0" dirty="0">
                          <a:ln>
                            <a:noFill/>
                          </a:ln>
                          <a:solidFill>
                            <a:srgbClr val="000000"/>
                          </a:solidFill>
                          <a:effectLst/>
                          <a:uLnTx/>
                          <a:uFillTx/>
                          <a:latin typeface="+mn-lt"/>
                          <a:ea typeface="+mn-ea"/>
                          <a:cs typeface="Segoe UI Semibold"/>
                        </a:rPr>
                        <a:t>The different ways of exposing your application outside of the cluster</a:t>
                      </a:r>
                    </a:p>
                    <a:p>
                      <a:pPr marL="342900" marR="0" lvl="0" indent="-228600" algn="l" defTabSz="914192" rtl="0" eaLnBrk="1" fontAlgn="auto" latinLnBrk="0" hangingPunct="1">
                        <a:lnSpc>
                          <a:spcPct val="100000"/>
                        </a:lnSpc>
                        <a:spcBef>
                          <a:spcPts val="100"/>
                        </a:spcBef>
                        <a:spcAft>
                          <a:spcPts val="200"/>
                        </a:spcAft>
                        <a:buClrTx/>
                        <a:buSzTx/>
                        <a:buFont typeface="Wingdings" panose="05000000000000000000" pitchFamily="2" charset="2"/>
                        <a:buChar char="ü"/>
                        <a:tabLst/>
                        <a:defRPr/>
                      </a:pPr>
                      <a:r>
                        <a:rPr lang="en-US" sz="1400" dirty="0">
                          <a:ea typeface="Times New Roman" panose="02020603050405020304" pitchFamily="18" charset="0"/>
                          <a:cs typeface="Times New Roman" panose="02020603050405020304" pitchFamily="18" charset="0"/>
                        </a:rPr>
                        <a:t>How to choose an AKS Ingress implementation</a:t>
                      </a:r>
                    </a:p>
                    <a:p>
                      <a:pPr marL="342900" marR="0" lvl="0" indent="-228600" algn="l" defTabSz="914192" rtl="0" eaLnBrk="1" fontAlgn="auto" latinLnBrk="0" hangingPunct="1">
                        <a:lnSpc>
                          <a:spcPct val="100000"/>
                        </a:lnSpc>
                        <a:spcBef>
                          <a:spcPts val="100"/>
                        </a:spcBef>
                        <a:spcAft>
                          <a:spcPts val="200"/>
                        </a:spcAft>
                        <a:buClrTx/>
                        <a:buSzTx/>
                        <a:buFont typeface="Wingdings" panose="05000000000000000000" pitchFamily="2" charset="2"/>
                        <a:buChar char="ü"/>
                        <a:tabLst/>
                        <a:defRPr/>
                      </a:pPr>
                      <a:r>
                        <a:rPr lang="en-US" sz="1400" dirty="0">
                          <a:ea typeface="Times New Roman" panose="02020603050405020304" pitchFamily="18" charset="0"/>
                          <a:cs typeface="Times New Roman" panose="02020603050405020304" pitchFamily="18" charset="0"/>
                        </a:rPr>
                        <a:t>How Application Gateway for Containers works in this context</a:t>
                      </a:r>
                    </a:p>
                  </a:txBody>
                  <a:tcPr marT="73152" marB="73152">
                    <a:lnL w="12700" cmpd="sng">
                      <a:noFill/>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42900" marR="0" lvl="0" indent="-228600" algn="l" defTabSz="914192" rtl="0" eaLnBrk="1" fontAlgn="auto" latinLnBrk="0" hangingPunct="1">
                        <a:lnSpc>
                          <a:spcPct val="100000"/>
                        </a:lnSpc>
                        <a:spcBef>
                          <a:spcPts val="100"/>
                        </a:spcBef>
                        <a:spcAft>
                          <a:spcPts val="200"/>
                        </a:spcAft>
                        <a:buClrTx/>
                        <a:buSzTx/>
                        <a:buFont typeface="Wingdings" panose="05000000000000000000" pitchFamily="2" charset="2"/>
                        <a:buChar char="ü"/>
                        <a:tabLst/>
                        <a:defRPr/>
                      </a:pPr>
                      <a:endParaRPr lang="en-GB" sz="1400" b="0">
                        <a:solidFill>
                          <a:schemeClr val="tx1"/>
                        </a:solidFill>
                        <a:cs typeface="Segoe UI Semibold"/>
                      </a:endParaRPr>
                    </a:p>
                  </a:txBody>
                  <a:tcPr marT="73152" marB="73152">
                    <a:lnL w="12700" cmpd="sng">
                      <a:noFill/>
                    </a:lnL>
                    <a:lnR w="3175" cap="flat" cmpd="sng" algn="ctr">
                      <a:solidFill>
                        <a:schemeClr val="bg1">
                          <a:lumMod val="75000"/>
                        </a:schemeClr>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92214051"/>
                  </a:ext>
                </a:extLst>
              </a:tr>
              <a:tr h="903234">
                <a:tc>
                  <a:txBody>
                    <a:bodyPr/>
                    <a:lstStyle/>
                    <a:p>
                      <a:endParaRPr lang="en-US"/>
                    </a:p>
                  </a:txBody>
                  <a:tcPr>
                    <a:lnL w="3175"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3600" b="1">
                          <a:solidFill>
                            <a:schemeClr val="tx2"/>
                          </a:solidFill>
                          <a:latin typeface="+mn-lt"/>
                        </a:rPr>
                        <a:t>4</a:t>
                      </a:r>
                    </a:p>
                  </a:txBody>
                  <a:tcPr marT="73152" marB="73152"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192" rtl="0" eaLnBrk="1" fontAlgn="auto" latinLnBrk="0" hangingPunct="1">
                        <a:lnSpc>
                          <a:spcPct val="100000"/>
                        </a:lnSpc>
                        <a:spcBef>
                          <a:spcPts val="100"/>
                        </a:spcBef>
                        <a:spcAft>
                          <a:spcPts val="20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UI Semibold"/>
                          <a:ea typeface="+mn-ea"/>
                          <a:cs typeface="Segoe UI Semibold"/>
                        </a:rPr>
                        <a:t>Understand….</a:t>
                      </a:r>
                    </a:p>
                    <a:p>
                      <a:pPr marL="342900" marR="0" lvl="0" indent="-228600" algn="l" defTabSz="914192" rtl="0" eaLnBrk="1" fontAlgn="auto" latinLnBrk="0" hangingPunct="1">
                        <a:lnSpc>
                          <a:spcPct val="100000"/>
                        </a:lnSpc>
                        <a:spcBef>
                          <a:spcPts val="100"/>
                        </a:spcBef>
                        <a:spcAft>
                          <a:spcPts val="200"/>
                        </a:spcAft>
                        <a:buClrTx/>
                        <a:buSzTx/>
                        <a:buFont typeface="Wingdings" panose="05000000000000000000" pitchFamily="2" charset="2"/>
                        <a:buChar char="ü"/>
                        <a:tabLst/>
                        <a:defRPr/>
                      </a:pPr>
                      <a:r>
                        <a:rPr kumimoji="0" lang="en-GB" sz="1400" b="0" i="0" u="none" strike="noStrike" kern="1200" cap="none" spc="0" normalizeH="0" baseline="0" noProof="0" dirty="0">
                          <a:ln>
                            <a:noFill/>
                          </a:ln>
                          <a:solidFill>
                            <a:srgbClr val="000000"/>
                          </a:solidFill>
                          <a:effectLst/>
                          <a:uLnTx/>
                          <a:uFillTx/>
                          <a:latin typeface="+mn-lt"/>
                          <a:ea typeface="+mn-ea"/>
                          <a:cs typeface="Segoe UI Semibold"/>
                        </a:rPr>
                        <a:t>The concept of egress control</a:t>
                      </a:r>
                    </a:p>
                    <a:p>
                      <a:pPr marL="342900" marR="0" lvl="0" indent="-228600" algn="l" defTabSz="914192" rtl="0" eaLnBrk="1" fontAlgn="auto" latinLnBrk="0" hangingPunct="1">
                        <a:lnSpc>
                          <a:spcPct val="100000"/>
                        </a:lnSpc>
                        <a:spcBef>
                          <a:spcPts val="100"/>
                        </a:spcBef>
                        <a:spcAft>
                          <a:spcPts val="200"/>
                        </a:spcAft>
                        <a:buClrTx/>
                        <a:buSzTx/>
                        <a:buFont typeface="Wingdings" panose="05000000000000000000" pitchFamily="2" charset="2"/>
                        <a:buChar char="ü"/>
                        <a:tabLst/>
                        <a:defRPr/>
                      </a:pPr>
                      <a:r>
                        <a:rPr kumimoji="0" lang="en-GB" sz="1400" b="0" i="0" u="none" strike="noStrike" kern="1200" cap="none" spc="0" normalizeH="0" baseline="0" noProof="0" dirty="0">
                          <a:ln>
                            <a:noFill/>
                          </a:ln>
                          <a:solidFill>
                            <a:srgbClr val="000000"/>
                          </a:solidFill>
                          <a:effectLst/>
                          <a:uLnTx/>
                          <a:uFillTx/>
                          <a:latin typeface="+mn-lt"/>
                          <a:ea typeface="+mn-ea"/>
                          <a:cs typeface="Segoe UI Semibold"/>
                        </a:rPr>
                        <a:t>How to provide (outbound) internet access for your workloads</a:t>
                      </a:r>
                      <a:endParaRPr lang="en-GB" sz="1400" b="0" dirty="0">
                        <a:solidFill>
                          <a:schemeClr val="tx1"/>
                        </a:solidFill>
                        <a:cs typeface="Segoe UI Semibold"/>
                      </a:endParaRPr>
                    </a:p>
                  </a:txBody>
                  <a:tcPr marT="73152" marB="73152">
                    <a:lnL w="12700" cmpd="sng">
                      <a:noFill/>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42900" marR="0" lvl="0" indent="-228600" algn="l" defTabSz="914192" rtl="0" eaLnBrk="1" fontAlgn="auto" latinLnBrk="0" hangingPunct="1">
                        <a:lnSpc>
                          <a:spcPct val="100000"/>
                        </a:lnSpc>
                        <a:spcBef>
                          <a:spcPts val="100"/>
                        </a:spcBef>
                        <a:spcAft>
                          <a:spcPts val="200"/>
                        </a:spcAft>
                        <a:buClrTx/>
                        <a:buSzTx/>
                        <a:buFont typeface="Wingdings" panose="05000000000000000000" pitchFamily="2" charset="2"/>
                        <a:buChar char="ü"/>
                        <a:tabLst/>
                        <a:defRPr/>
                      </a:pPr>
                      <a:endParaRPr lang="en-GB" sz="1400" b="0">
                        <a:solidFill>
                          <a:schemeClr val="tx1"/>
                        </a:solidFill>
                        <a:cs typeface="Segoe UI Semibold"/>
                      </a:endParaRPr>
                    </a:p>
                  </a:txBody>
                  <a:tcPr marT="73152" marB="73152">
                    <a:lnL w="12700" cmpd="sng">
                      <a:noFill/>
                    </a:lnL>
                    <a:lnR w="3175" cap="flat" cmpd="sng" algn="ctr">
                      <a:solidFill>
                        <a:schemeClr val="bg1">
                          <a:lumMod val="75000"/>
                        </a:schemeClr>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69691412"/>
                  </a:ext>
                </a:extLst>
              </a:tr>
              <a:tr h="903234">
                <a:tc>
                  <a:txBody>
                    <a:bodyPr/>
                    <a:lstStyle/>
                    <a:p>
                      <a:endParaRPr lang="en-US"/>
                    </a:p>
                  </a:txBody>
                  <a:tcPr>
                    <a:lnL w="3175"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3600" b="1">
                          <a:solidFill>
                            <a:schemeClr val="tx2"/>
                          </a:solidFill>
                          <a:latin typeface="+mn-lt"/>
                        </a:rPr>
                        <a:t>5</a:t>
                      </a:r>
                    </a:p>
                  </a:txBody>
                  <a:tcPr marT="73152" marB="73152"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81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192" rtl="0" eaLnBrk="1" fontAlgn="auto" latinLnBrk="0" hangingPunct="1">
                        <a:lnSpc>
                          <a:spcPct val="100000"/>
                        </a:lnSpc>
                        <a:spcBef>
                          <a:spcPts val="100"/>
                        </a:spcBef>
                        <a:spcAft>
                          <a:spcPts val="20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UI Semibold"/>
                          <a:ea typeface="+mn-ea"/>
                          <a:cs typeface="Segoe UI Semibold"/>
                        </a:rPr>
                        <a:t>Understand….</a:t>
                      </a:r>
                    </a:p>
                    <a:p>
                      <a:pPr marL="342900" marR="0" lvl="0" indent="-228600" algn="l" defTabSz="914192" rtl="0" eaLnBrk="1" fontAlgn="auto" latinLnBrk="0" hangingPunct="1">
                        <a:lnSpc>
                          <a:spcPct val="100000"/>
                        </a:lnSpc>
                        <a:spcBef>
                          <a:spcPts val="100"/>
                        </a:spcBef>
                        <a:spcAft>
                          <a:spcPts val="200"/>
                        </a:spcAft>
                        <a:buClrTx/>
                        <a:buSzTx/>
                        <a:buFont typeface="Wingdings" panose="05000000000000000000" pitchFamily="2" charset="2"/>
                        <a:buChar char="ü"/>
                        <a:tabLst/>
                        <a:defRPr/>
                      </a:pPr>
                      <a:r>
                        <a:rPr kumimoji="0" lang="en-GB" sz="1400" b="0" i="0" u="none" strike="noStrike" kern="1200" cap="none" spc="0" normalizeH="0" baseline="0" noProof="0" dirty="0">
                          <a:ln>
                            <a:noFill/>
                          </a:ln>
                          <a:solidFill>
                            <a:srgbClr val="000000"/>
                          </a:solidFill>
                          <a:effectLst/>
                          <a:uLnTx/>
                          <a:uFillTx/>
                          <a:latin typeface="Segoe UI"/>
                          <a:ea typeface="+mn-ea"/>
                          <a:cs typeface="Segoe UI Semibold"/>
                        </a:rPr>
                        <a:t>What </a:t>
                      </a:r>
                      <a:r>
                        <a:rPr kumimoji="0" lang="en-GB" sz="1400" b="0" i="0" u="none" strike="noStrike" kern="1200" cap="none" spc="0" normalizeH="0" baseline="0" noProof="0" dirty="0" err="1">
                          <a:ln>
                            <a:noFill/>
                          </a:ln>
                          <a:solidFill>
                            <a:srgbClr val="000000"/>
                          </a:solidFill>
                          <a:effectLst/>
                          <a:uLnTx/>
                          <a:uFillTx/>
                          <a:latin typeface="Segoe UI"/>
                          <a:ea typeface="+mn-ea"/>
                          <a:cs typeface="Segoe UI Semibold"/>
                        </a:rPr>
                        <a:t>eBPF</a:t>
                      </a:r>
                      <a:r>
                        <a:rPr kumimoji="0" lang="en-GB" sz="1400" b="0" i="0" u="none" strike="noStrike" kern="1200" cap="none" spc="0" normalizeH="0" baseline="0" noProof="0" dirty="0">
                          <a:ln>
                            <a:noFill/>
                          </a:ln>
                          <a:solidFill>
                            <a:srgbClr val="000000"/>
                          </a:solidFill>
                          <a:effectLst/>
                          <a:uLnTx/>
                          <a:uFillTx/>
                          <a:latin typeface="Segoe UI"/>
                          <a:ea typeface="+mn-ea"/>
                          <a:cs typeface="Segoe UI Semibold"/>
                        </a:rPr>
                        <a:t> is</a:t>
                      </a:r>
                    </a:p>
                    <a:p>
                      <a:pPr marL="342900" marR="0" lvl="0" indent="-228600" algn="l" defTabSz="914192" rtl="0" eaLnBrk="1" fontAlgn="auto" latinLnBrk="0" hangingPunct="1">
                        <a:lnSpc>
                          <a:spcPct val="100000"/>
                        </a:lnSpc>
                        <a:spcBef>
                          <a:spcPts val="100"/>
                        </a:spcBef>
                        <a:spcAft>
                          <a:spcPts val="200"/>
                        </a:spcAft>
                        <a:buClrTx/>
                        <a:buSzTx/>
                        <a:buFont typeface="Wingdings" panose="05000000000000000000" pitchFamily="2" charset="2"/>
                        <a:buChar char="ü"/>
                        <a:tabLst/>
                        <a:defRPr/>
                      </a:pPr>
                      <a:r>
                        <a:rPr kumimoji="0" lang="en-GB" sz="1400" b="0" i="0" u="none" strike="noStrike" kern="1200" cap="none" spc="0" normalizeH="0" baseline="0" noProof="0" dirty="0">
                          <a:ln>
                            <a:noFill/>
                          </a:ln>
                          <a:solidFill>
                            <a:srgbClr val="000000"/>
                          </a:solidFill>
                          <a:effectLst/>
                          <a:uLnTx/>
                          <a:uFillTx/>
                          <a:latin typeface="Segoe UI"/>
                          <a:ea typeface="+mn-ea"/>
                          <a:cs typeface="Segoe UI Semibold"/>
                        </a:rPr>
                        <a:t>How to gain granular network observability and control with ACNS</a:t>
                      </a:r>
                      <a:endParaRPr lang="en-GB" sz="1400" b="0" dirty="0">
                        <a:solidFill>
                          <a:schemeClr val="tx1"/>
                        </a:solidFill>
                        <a:cs typeface="Segoe UI Semibold"/>
                      </a:endParaRPr>
                    </a:p>
                  </a:txBody>
                  <a:tcPr marT="73152" marB="73152">
                    <a:lnL w="12700" cmpd="sng">
                      <a:noFill/>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42900" marR="0" lvl="0" indent="-228600" algn="l" defTabSz="914192" rtl="0" eaLnBrk="1" fontAlgn="auto" latinLnBrk="0" hangingPunct="1">
                        <a:lnSpc>
                          <a:spcPct val="100000"/>
                        </a:lnSpc>
                        <a:spcBef>
                          <a:spcPts val="100"/>
                        </a:spcBef>
                        <a:spcAft>
                          <a:spcPts val="200"/>
                        </a:spcAft>
                        <a:buClrTx/>
                        <a:buSzTx/>
                        <a:buFont typeface="Wingdings" panose="05000000000000000000" pitchFamily="2" charset="2"/>
                        <a:buChar char="ü"/>
                        <a:tabLst/>
                        <a:defRPr/>
                      </a:pPr>
                      <a:endParaRPr lang="en-GB" sz="1400" b="0" dirty="0">
                        <a:solidFill>
                          <a:schemeClr val="tx1"/>
                        </a:solidFill>
                        <a:cs typeface="Segoe UI Semibold"/>
                      </a:endParaRPr>
                    </a:p>
                  </a:txBody>
                  <a:tcPr marT="73152" marB="73152">
                    <a:lnL w="12700" cmpd="sng">
                      <a:noFill/>
                    </a:lnL>
                    <a:lnR w="3175" cap="flat" cmpd="sng" algn="ctr">
                      <a:solidFill>
                        <a:schemeClr val="bg1">
                          <a:lumMod val="75000"/>
                        </a:schemeClr>
                      </a:solidFill>
                      <a:prstDash val="solid"/>
                      <a:round/>
                      <a:headEnd type="none" w="med" len="med"/>
                      <a:tailEnd type="none" w="med" len="med"/>
                    </a:lnR>
                    <a:lnT w="38100"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66803174"/>
                  </a:ext>
                </a:extLst>
              </a:tr>
            </a:tbl>
          </a:graphicData>
        </a:graphic>
      </p:graphicFrame>
      <p:cxnSp>
        <p:nvCxnSpPr>
          <p:cNvPr id="50" name="Straight Connector 49">
            <a:extLst>
              <a:ext uri="{FF2B5EF4-FFF2-40B4-BE49-F238E27FC236}">
                <a16:creationId xmlns:a16="http://schemas.microsoft.com/office/drawing/2014/main" id="{26FAB757-B91F-42E0-8DDA-81C39A2F8225}"/>
              </a:ext>
              <a:ext uri="{C183D7F6-B498-43B3-948B-1728B52AA6E4}">
                <adec:decorative xmlns:adec="http://schemas.microsoft.com/office/drawing/2017/decorative" val="1"/>
              </a:ext>
            </a:extLst>
          </p:cNvPr>
          <p:cNvCxnSpPr>
            <a:cxnSpLocks/>
          </p:cNvCxnSpPr>
          <p:nvPr/>
        </p:nvCxnSpPr>
        <p:spPr>
          <a:xfrm>
            <a:off x="8057878" y="2651173"/>
            <a:ext cx="563608"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238B2AE-E431-4EA1-8BC4-5D6AC984F8EB}"/>
              </a:ext>
              <a:ext uri="{C183D7F6-B498-43B3-948B-1728B52AA6E4}">
                <adec:decorative xmlns:adec="http://schemas.microsoft.com/office/drawing/2017/decorative" val="1"/>
              </a:ext>
            </a:extLst>
          </p:cNvPr>
          <p:cNvCxnSpPr>
            <a:cxnSpLocks/>
          </p:cNvCxnSpPr>
          <p:nvPr/>
        </p:nvCxnSpPr>
        <p:spPr>
          <a:xfrm>
            <a:off x="8057878" y="3552873"/>
            <a:ext cx="563608"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2ECE0622-5E4F-47AD-AF38-87A50324A092}"/>
              </a:ext>
              <a:ext uri="{C183D7F6-B498-43B3-948B-1728B52AA6E4}">
                <adec:decorative xmlns:adec="http://schemas.microsoft.com/office/drawing/2017/decorative" val="1"/>
              </a:ext>
            </a:extLst>
          </p:cNvPr>
          <p:cNvCxnSpPr>
            <a:cxnSpLocks/>
          </p:cNvCxnSpPr>
          <p:nvPr/>
        </p:nvCxnSpPr>
        <p:spPr>
          <a:xfrm>
            <a:off x="8057878" y="4459653"/>
            <a:ext cx="563608"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1589EBFA-EFA5-4BE1-BA44-BAE26F566D3E}"/>
              </a:ext>
              <a:ext uri="{C183D7F6-B498-43B3-948B-1728B52AA6E4}">
                <adec:decorative xmlns:adec="http://schemas.microsoft.com/office/drawing/2017/decorative" val="1"/>
              </a:ext>
            </a:extLst>
          </p:cNvPr>
          <p:cNvCxnSpPr>
            <a:cxnSpLocks/>
          </p:cNvCxnSpPr>
          <p:nvPr/>
        </p:nvCxnSpPr>
        <p:spPr>
          <a:xfrm>
            <a:off x="8057878" y="5364528"/>
            <a:ext cx="563608"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3" name="Footer Placeholder 2">
            <a:extLst>
              <a:ext uri="{FF2B5EF4-FFF2-40B4-BE49-F238E27FC236}">
                <a16:creationId xmlns:a16="http://schemas.microsoft.com/office/drawing/2014/main" id="{ECD277A2-DA01-4024-A1E9-96359B541ED7}"/>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pic>
        <p:nvPicPr>
          <p:cNvPr id="96" name="Picture 95" descr="Two co-workers walking in an office hallway, and having a discussions a surface laptop on their hands.">
            <a:extLst>
              <a:ext uri="{FF2B5EF4-FFF2-40B4-BE49-F238E27FC236}">
                <a16:creationId xmlns:a16="http://schemas.microsoft.com/office/drawing/2014/main" id="{305F1FC5-8F24-46D4-B8F3-C147DB355743}"/>
              </a:ext>
            </a:extLst>
          </p:cNvPr>
          <p:cNvPicPr>
            <a:picLocks noChangeAspect="1"/>
          </p:cNvPicPr>
          <p:nvPr/>
        </p:nvPicPr>
        <p:blipFill rotWithShape="1">
          <a:blip r:embed="rId5"/>
          <a:srcRect l="16228" t="2311" r="13881" b="2311"/>
          <a:stretch/>
        </p:blipFill>
        <p:spPr>
          <a:xfrm>
            <a:off x="8914424" y="0"/>
            <a:ext cx="3277576" cy="6858000"/>
          </a:xfrm>
          <a:custGeom>
            <a:avLst/>
            <a:gdLst>
              <a:gd name="connsiteX0" fmla="*/ 0 w 3627769"/>
              <a:gd name="connsiteY0" fmla="*/ 0 h 4875667"/>
              <a:gd name="connsiteX1" fmla="*/ 3627769 w 3627769"/>
              <a:gd name="connsiteY1" fmla="*/ 0 h 4875667"/>
              <a:gd name="connsiteX2" fmla="*/ 3627769 w 3627769"/>
              <a:gd name="connsiteY2" fmla="*/ 4875667 h 4875667"/>
              <a:gd name="connsiteX3" fmla="*/ 0 w 3627769"/>
              <a:gd name="connsiteY3" fmla="*/ 4875667 h 4875667"/>
            </a:gdLst>
            <a:ahLst/>
            <a:cxnLst>
              <a:cxn ang="0">
                <a:pos x="connsiteX0" y="connsiteY0"/>
              </a:cxn>
              <a:cxn ang="0">
                <a:pos x="connsiteX1" y="connsiteY1"/>
              </a:cxn>
              <a:cxn ang="0">
                <a:pos x="connsiteX2" y="connsiteY2"/>
              </a:cxn>
              <a:cxn ang="0">
                <a:pos x="connsiteX3" y="connsiteY3"/>
              </a:cxn>
            </a:cxnLst>
            <a:rect l="l" t="t" r="r" b="b"/>
            <a:pathLst>
              <a:path w="3627769" h="4875667">
                <a:moveTo>
                  <a:pt x="0" y="0"/>
                </a:moveTo>
                <a:lnTo>
                  <a:pt x="3627769" y="0"/>
                </a:lnTo>
                <a:lnTo>
                  <a:pt x="3627769" y="4875667"/>
                </a:lnTo>
                <a:lnTo>
                  <a:pt x="0" y="4875667"/>
                </a:lnTo>
                <a:close/>
              </a:path>
            </a:pathLst>
          </a:custGeom>
        </p:spPr>
      </p:pic>
      <p:sp>
        <p:nvSpPr>
          <p:cNvPr id="98" name="Slide Number Placeholder 5">
            <a:extLst>
              <a:ext uri="{FF2B5EF4-FFF2-40B4-BE49-F238E27FC236}">
                <a16:creationId xmlns:a16="http://schemas.microsoft.com/office/drawing/2014/main" id="{A9ABC2D8-91C0-4E2E-B712-C5930BDC5443}"/>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chemeClr val="bg1"/>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a:ln>
                <a:noFill/>
              </a:ln>
              <a:solidFill>
                <a:schemeClr val="bg1"/>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641711193"/>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CBCCF-0378-71D0-DF3B-B6225B5F3C7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B3FF0B1-9D58-0C94-BB5D-3D9F9B876108}"/>
              </a:ext>
            </a:extLst>
          </p:cNvPr>
          <p:cNvSpPr>
            <a:spLocks noGrp="1"/>
          </p:cNvSpPr>
          <p:nvPr>
            <p:ph type="title"/>
          </p:nvPr>
        </p:nvSpPr>
        <p:spPr>
          <a:xfrm>
            <a:off x="575481" y="1085599"/>
            <a:ext cx="11045019" cy="553998"/>
          </a:xfrm>
        </p:spPr>
        <p:txBody>
          <a:bodyPr/>
          <a:lstStyle/>
          <a:p>
            <a:r>
              <a:rPr lang="en-US" dirty="0"/>
              <a:t>Intro: The many layers of Kubernetes Networking</a:t>
            </a:r>
          </a:p>
        </p:txBody>
      </p:sp>
      <p:sp>
        <p:nvSpPr>
          <p:cNvPr id="10" name="Rectangle 9">
            <a:extLst>
              <a:ext uri="{FF2B5EF4-FFF2-40B4-BE49-F238E27FC236}">
                <a16:creationId xmlns:a16="http://schemas.microsoft.com/office/drawing/2014/main" id="{6A80D6FB-9A8E-F7B3-CEC3-A21544C7B5AA}"/>
              </a:ext>
            </a:extLst>
          </p:cNvPr>
          <p:cNvSpPr>
            <a:spLocks/>
          </p:cNvSpPr>
          <p:nvPr/>
        </p:nvSpPr>
        <p:spPr>
          <a:xfrm>
            <a:off x="577472" y="2283355"/>
            <a:ext cx="11045018" cy="1492716"/>
          </a:xfrm>
          <a:prstGeom prst="rect">
            <a:avLst/>
          </a:prstGeom>
          <a:solidFill>
            <a:schemeClr val="bg1">
              <a:lumMod val="95000"/>
            </a:schemeClr>
          </a:solidFill>
          <a:effectLst>
            <a:outerShdw dist="38100" dir="10800000" algn="r" rotWithShape="0">
              <a:schemeClr val="tx2"/>
            </a:outerShdw>
          </a:effectLst>
        </p:spPr>
        <p:txBody>
          <a:bodyPr wrap="square" lIns="137160" tIns="137160" rIns="137160" bIns="137160" anchor="t" anchorCtr="0">
            <a:spAutoFit/>
          </a:bodyPr>
          <a:lstStyle/>
          <a:p>
            <a:pPr marL="342900" indent="-342900">
              <a:spcBef>
                <a:spcPts val="0"/>
              </a:spcBef>
              <a:spcAft>
                <a:spcPts val="600"/>
              </a:spcAft>
              <a:buFont typeface="Arial" panose="020B0604020202020204" pitchFamily="34" charset="0"/>
              <a:buChar char="•"/>
            </a:pPr>
            <a:r>
              <a:rPr lang="en-US" sz="1600" dirty="0"/>
              <a:t>When it comes to Kubernetes networking, there many levels:</a:t>
            </a:r>
          </a:p>
          <a:p>
            <a:pPr marL="800100" lvl="1" indent="-342900">
              <a:spcAft>
                <a:spcPts val="600"/>
              </a:spcAft>
              <a:buFont typeface="Arial" panose="020B0604020202020204" pitchFamily="34" charset="0"/>
              <a:buChar char="•"/>
            </a:pPr>
            <a:r>
              <a:rPr lang="en-US" sz="1600" dirty="0"/>
              <a:t>Connection to the Kubernetes API server</a:t>
            </a:r>
          </a:p>
          <a:p>
            <a:pPr marL="800100" lvl="1" indent="-342900">
              <a:spcAft>
                <a:spcPts val="600"/>
              </a:spcAft>
              <a:buFont typeface="Arial" panose="020B0604020202020204" pitchFamily="34" charset="0"/>
              <a:buChar char="•"/>
            </a:pPr>
            <a:r>
              <a:rPr lang="en-US" sz="1600" dirty="0"/>
              <a:t>(Internal) Pod-to-pod communication Accessing a Kubernetes workload from outside of the cluster</a:t>
            </a:r>
          </a:p>
          <a:p>
            <a:pPr marL="800100" lvl="1" indent="-342900">
              <a:spcAft>
                <a:spcPts val="600"/>
              </a:spcAft>
              <a:buFont typeface="Arial" panose="020B0604020202020204" pitchFamily="34" charset="0"/>
              <a:buChar char="•"/>
            </a:pPr>
            <a:r>
              <a:rPr lang="en-US" sz="1600" dirty="0"/>
              <a:t>Providing Kubernetes workloads with access to the Internet</a:t>
            </a:r>
          </a:p>
        </p:txBody>
      </p:sp>
      <p:sp>
        <p:nvSpPr>
          <p:cNvPr id="12" name="Rectangle 11">
            <a:extLst>
              <a:ext uri="{FF2B5EF4-FFF2-40B4-BE49-F238E27FC236}">
                <a16:creationId xmlns:a16="http://schemas.microsoft.com/office/drawing/2014/main" id="{4F458F6E-8557-4849-E8CC-6B2E9C0F3017}"/>
              </a:ext>
            </a:extLst>
          </p:cNvPr>
          <p:cNvSpPr>
            <a:spLocks/>
          </p:cNvSpPr>
          <p:nvPr/>
        </p:nvSpPr>
        <p:spPr>
          <a:xfrm>
            <a:off x="575481" y="4105490"/>
            <a:ext cx="11045018" cy="1492716"/>
          </a:xfrm>
          <a:prstGeom prst="rect">
            <a:avLst/>
          </a:prstGeom>
          <a:solidFill>
            <a:schemeClr val="bg1">
              <a:lumMod val="95000"/>
            </a:schemeClr>
          </a:solidFill>
          <a:effectLst>
            <a:outerShdw dist="38100" dir="10800000" algn="r" rotWithShape="0">
              <a:schemeClr val="tx2"/>
            </a:outerShdw>
          </a:effectLst>
        </p:spPr>
        <p:txBody>
          <a:bodyPr wrap="square" lIns="137160" tIns="137160" rIns="137160" bIns="137160" anchor="t" anchorCtr="0">
            <a:spAutoFit/>
          </a:bodyPr>
          <a:lstStyle/>
          <a:p>
            <a:pPr marL="342900" indent="-342900">
              <a:spcBef>
                <a:spcPts val="0"/>
              </a:spcBef>
              <a:spcAft>
                <a:spcPts val="600"/>
              </a:spcAft>
              <a:buFont typeface="Arial" panose="020B0604020202020204" pitchFamily="34" charset="0"/>
              <a:buChar char="•"/>
            </a:pPr>
            <a:r>
              <a:rPr lang="en-US" sz="1600" dirty="0"/>
              <a:t>In that context, you might want to:</a:t>
            </a:r>
          </a:p>
          <a:p>
            <a:pPr marL="800100" lvl="1" indent="-342900">
              <a:spcAft>
                <a:spcPts val="600"/>
              </a:spcAft>
              <a:buFont typeface="Arial" panose="020B0604020202020204" pitchFamily="34" charset="0"/>
              <a:buChar char="•"/>
            </a:pPr>
            <a:r>
              <a:rPr lang="en-US" sz="1600" dirty="0"/>
              <a:t>Limit in-cluster traffic to protect workloads</a:t>
            </a:r>
          </a:p>
          <a:p>
            <a:pPr marL="800100" lvl="1" indent="-342900">
              <a:spcAft>
                <a:spcPts val="600"/>
              </a:spcAft>
              <a:buFont typeface="Arial" panose="020B0604020202020204" pitchFamily="34" charset="0"/>
              <a:buChar char="•"/>
            </a:pPr>
            <a:r>
              <a:rPr lang="en-US" sz="1600" dirty="0"/>
              <a:t>Provide </a:t>
            </a:r>
            <a:r>
              <a:rPr lang="en-US" sz="1600" dirty="0" err="1"/>
              <a:t>mTLS</a:t>
            </a:r>
            <a:r>
              <a:rPr lang="en-US" sz="1600" dirty="0"/>
              <a:t> to establish trust across pods. </a:t>
            </a:r>
          </a:p>
          <a:p>
            <a:pPr marL="800100" lvl="1" indent="-342900">
              <a:spcAft>
                <a:spcPts val="600"/>
              </a:spcAft>
              <a:buFont typeface="Arial" panose="020B0604020202020204" pitchFamily="34" charset="0"/>
              <a:buChar char="•"/>
            </a:pPr>
            <a:r>
              <a:rPr lang="en-US" sz="1600" dirty="0"/>
              <a:t>Gain visibility on your network traffic (in and out of cluster)</a:t>
            </a:r>
          </a:p>
        </p:txBody>
      </p:sp>
      <p:sp>
        <p:nvSpPr>
          <p:cNvPr id="17" name="Footer Placeholder 6">
            <a:extLst>
              <a:ext uri="{FF2B5EF4-FFF2-40B4-BE49-F238E27FC236}">
                <a16:creationId xmlns:a16="http://schemas.microsoft.com/office/drawing/2014/main" id="{D02B4313-9691-EF64-1277-B2147D9E3F34}"/>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8" name="Slide Number Placeholder 5">
            <a:extLst>
              <a:ext uri="{FF2B5EF4-FFF2-40B4-BE49-F238E27FC236}">
                <a16:creationId xmlns:a16="http://schemas.microsoft.com/office/drawing/2014/main" id="{DE40071E-7FB4-9C12-BCC1-0C7029991D40}"/>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50278621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HIDDEN - Slide35">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C6F63-616D-478D-A91D-8B071350BF64}"/>
              </a:ext>
            </a:extLst>
          </p:cNvPr>
          <p:cNvSpPr>
            <a:spLocks noGrp="1"/>
          </p:cNvSpPr>
          <p:nvPr>
            <p:ph type="title"/>
            <p:custDataLst>
              <p:custData r:id="rId2"/>
            </p:custDataLst>
          </p:nvPr>
        </p:nvSpPr>
        <p:spPr>
          <a:xfrm>
            <a:off x="584200" y="3318975"/>
            <a:ext cx="9169400" cy="2031325"/>
          </a:xfrm>
        </p:spPr>
        <p:txBody>
          <a:bodyPr/>
          <a:lstStyle/>
          <a:p>
            <a:r>
              <a:rPr lang="en-US" dirty="0"/>
              <a:t>AKS Network Architecture</a:t>
            </a:r>
          </a:p>
        </p:txBody>
      </p:sp>
      <p:sp>
        <p:nvSpPr>
          <p:cNvPr id="2" name="Text Placeholder 1">
            <a:extLst>
              <a:ext uri="{FF2B5EF4-FFF2-40B4-BE49-F238E27FC236}">
                <a16:creationId xmlns:a16="http://schemas.microsoft.com/office/drawing/2014/main" id="{DF7F14EE-8F92-4B21-8365-583F96FD76C0}"/>
              </a:ext>
            </a:extLst>
          </p:cNvPr>
          <p:cNvSpPr>
            <a:spLocks noGrp="1"/>
          </p:cNvSpPr>
          <p:nvPr>
            <p:ph type="body" sz="quarter" idx="12"/>
          </p:nvPr>
        </p:nvSpPr>
        <p:spPr>
          <a:xfrm>
            <a:off x="582042" y="5634619"/>
            <a:ext cx="10886058" cy="338554"/>
          </a:xfrm>
        </p:spPr>
        <p:txBody>
          <a:bodyPr/>
          <a:lstStyle/>
          <a:p>
            <a:r>
              <a:rPr lang="en-US" dirty="0"/>
              <a:t>Understand its components and how to secure them </a:t>
            </a:r>
          </a:p>
        </p:txBody>
      </p:sp>
      <p:sp>
        <p:nvSpPr>
          <p:cNvPr id="11" name="Footer Placeholder 2">
            <a:extLst>
              <a:ext uri="{FF2B5EF4-FFF2-40B4-BE49-F238E27FC236}">
                <a16:creationId xmlns:a16="http://schemas.microsoft.com/office/drawing/2014/main" id="{29BD8041-BC24-4633-A423-E1FCAB5B1A20}"/>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50090FC2-EA77-4C2F-A642-01EF67A9CFB3}"/>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pic>
        <p:nvPicPr>
          <p:cNvPr id="3" name="Picture 2" descr="Icon&#10;&#10;Description automatically generated">
            <a:extLst>
              <a:ext uri="{FF2B5EF4-FFF2-40B4-BE49-F238E27FC236}">
                <a16:creationId xmlns:a16="http://schemas.microsoft.com/office/drawing/2014/main" id="{26390B17-6842-803A-4123-17215E14E0E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60209" y="84386"/>
            <a:ext cx="3555885" cy="3453114"/>
          </a:xfrm>
          <a:prstGeom prst="rect">
            <a:avLst/>
          </a:prstGeom>
        </p:spPr>
      </p:pic>
      <p:pic>
        <p:nvPicPr>
          <p:cNvPr id="5" name="Graphic 4">
            <a:extLst>
              <a:ext uri="{FF2B5EF4-FFF2-40B4-BE49-F238E27FC236}">
                <a16:creationId xmlns:a16="http://schemas.microsoft.com/office/drawing/2014/main" id="{2461C627-34F8-2115-DB5F-6DDFE30730A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98809" y="84386"/>
            <a:ext cx="3666260" cy="3666260"/>
          </a:xfrm>
          <a:prstGeom prst="rect">
            <a:avLst/>
          </a:prstGeom>
        </p:spPr>
      </p:pic>
    </p:spTree>
    <p:custDataLst>
      <p:tags r:id="rId1"/>
    </p:custDataLst>
    <p:extLst>
      <p:ext uri="{BB962C8B-B14F-4D97-AF65-F5344CB8AC3E}">
        <p14:creationId xmlns:p14="http://schemas.microsoft.com/office/powerpoint/2010/main" val="2379444036"/>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7B483-7A24-166F-AB25-E4948A260FA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EF1E59B-5F5C-0251-4F9B-9C8301F62C18}"/>
              </a:ext>
              <a:ext uri="{C183D7F6-B498-43B3-948B-1728B52AA6E4}">
                <adec:decorative xmlns:adec="http://schemas.microsoft.com/office/drawing/2017/decorative" val="1"/>
              </a:ext>
            </a:extLst>
          </p:cNvPr>
          <p:cNvSpPr/>
          <p:nvPr/>
        </p:nvSpPr>
        <p:spPr bwMode="auto">
          <a:xfrm>
            <a:off x="0" y="0"/>
            <a:ext cx="41910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0165798F-A80B-C41E-2BBE-CAA2775150B3}"/>
              </a:ext>
            </a:extLst>
          </p:cNvPr>
          <p:cNvSpPr>
            <a:spLocks noGrp="1"/>
          </p:cNvSpPr>
          <p:nvPr>
            <p:ph type="title"/>
          </p:nvPr>
        </p:nvSpPr>
        <p:spPr>
          <a:xfrm>
            <a:off x="575481" y="599436"/>
            <a:ext cx="2764619" cy="1107996"/>
          </a:xfrm>
        </p:spPr>
        <p:txBody>
          <a:bodyPr>
            <a:spAutoFit/>
          </a:bodyPr>
          <a:lstStyle/>
          <a:p>
            <a:r>
              <a:rPr lang="en-US" dirty="0">
                <a:solidFill>
                  <a:schemeClr val="bg1"/>
                </a:solidFill>
                <a:cs typeface="Segoe UI"/>
              </a:rPr>
              <a:t>AKS Baseline Architecture</a:t>
            </a:r>
          </a:p>
        </p:txBody>
      </p:sp>
      <p:sp>
        <p:nvSpPr>
          <p:cNvPr id="4" name="Text Placeholder 3">
            <a:extLst>
              <a:ext uri="{FF2B5EF4-FFF2-40B4-BE49-F238E27FC236}">
                <a16:creationId xmlns:a16="http://schemas.microsoft.com/office/drawing/2014/main" id="{C76E4000-143E-4C26-9DCF-ABF37B7F39C6}"/>
              </a:ext>
            </a:extLst>
          </p:cNvPr>
          <p:cNvSpPr>
            <a:spLocks noGrp="1"/>
          </p:cNvSpPr>
          <p:nvPr>
            <p:ph type="body" sz="quarter" idx="12"/>
          </p:nvPr>
        </p:nvSpPr>
        <p:spPr>
          <a:xfrm>
            <a:off x="584201" y="2451924"/>
            <a:ext cx="2764619" cy="276999"/>
          </a:xfrm>
        </p:spPr>
        <p:txBody>
          <a:bodyPr>
            <a:spAutoFit/>
          </a:bodyPr>
          <a:lstStyle/>
          <a:p>
            <a:endParaRPr lang="en-US">
              <a:solidFill>
                <a:schemeClr val="bg1"/>
              </a:solidFill>
            </a:endParaRPr>
          </a:p>
        </p:txBody>
      </p:sp>
      <p:sp>
        <p:nvSpPr>
          <p:cNvPr id="28" name="Footer Placeholder 6">
            <a:extLst>
              <a:ext uri="{FF2B5EF4-FFF2-40B4-BE49-F238E27FC236}">
                <a16:creationId xmlns:a16="http://schemas.microsoft.com/office/drawing/2014/main" id="{50E0A767-D722-8A09-1ED6-B19EFB04249A}"/>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Microsoft Confidential</a:t>
            </a:r>
          </a:p>
        </p:txBody>
      </p:sp>
      <p:sp>
        <p:nvSpPr>
          <p:cNvPr id="30" name="Slide Number Placeholder 7">
            <a:extLst>
              <a:ext uri="{FF2B5EF4-FFF2-40B4-BE49-F238E27FC236}">
                <a16:creationId xmlns:a16="http://schemas.microsoft.com/office/drawing/2014/main" id="{05D0DC5B-FE0F-B67C-0530-69AB9462CFEB}"/>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pic>
        <p:nvPicPr>
          <p:cNvPr id="6" name="Picture 5">
            <a:extLst>
              <a:ext uri="{FF2B5EF4-FFF2-40B4-BE49-F238E27FC236}">
                <a16:creationId xmlns:a16="http://schemas.microsoft.com/office/drawing/2014/main" id="{63751317-CFE4-E793-F8E8-418C081654D3}"/>
              </a:ext>
            </a:extLst>
          </p:cNvPr>
          <p:cNvPicPr>
            <a:picLocks noChangeAspect="1"/>
          </p:cNvPicPr>
          <p:nvPr/>
        </p:nvPicPr>
        <p:blipFill>
          <a:blip r:embed="rId3"/>
          <a:srcRect l="3746" b="4644"/>
          <a:stretch>
            <a:fillRect/>
          </a:stretch>
        </p:blipFill>
        <p:spPr>
          <a:xfrm>
            <a:off x="4343400" y="0"/>
            <a:ext cx="7833192" cy="6539518"/>
          </a:xfrm>
          <a:prstGeom prst="rect">
            <a:avLst/>
          </a:prstGeom>
        </p:spPr>
      </p:pic>
      <p:sp>
        <p:nvSpPr>
          <p:cNvPr id="8" name="Rectangle 7">
            <a:extLst>
              <a:ext uri="{FF2B5EF4-FFF2-40B4-BE49-F238E27FC236}">
                <a16:creationId xmlns:a16="http://schemas.microsoft.com/office/drawing/2014/main" id="{D26E5FA9-813D-8E99-0E5D-BE95FF88E592}"/>
              </a:ext>
            </a:extLst>
          </p:cNvPr>
          <p:cNvSpPr/>
          <p:nvPr/>
        </p:nvSpPr>
        <p:spPr bwMode="auto">
          <a:xfrm>
            <a:off x="4343400" y="5714999"/>
            <a:ext cx="1219200" cy="1038225"/>
          </a:xfrm>
          <a:prstGeom prst="rect">
            <a:avLst/>
          </a:prstGeom>
          <a:solidFill>
            <a:srgbClr val="FFFFFF"/>
          </a:solidFill>
          <a:ln>
            <a:solidFill>
              <a:srgbClr val="FFFFFF"/>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NL" sz="2000" dirty="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104698015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B1E66-2401-F61A-CEE8-7526D11B414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C05F752-14AC-0672-94BE-E19E33AE4E91}"/>
              </a:ext>
            </a:extLst>
          </p:cNvPr>
          <p:cNvSpPr>
            <a:spLocks noGrp="1"/>
          </p:cNvSpPr>
          <p:nvPr>
            <p:ph type="title"/>
          </p:nvPr>
        </p:nvSpPr>
        <p:spPr>
          <a:xfrm>
            <a:off x="575481" y="1085599"/>
            <a:ext cx="11045019" cy="553998"/>
          </a:xfrm>
        </p:spPr>
        <p:txBody>
          <a:bodyPr/>
          <a:lstStyle/>
          <a:p>
            <a:r>
              <a:rPr lang="en-US" dirty="0"/>
              <a:t>Public AKS Clusters</a:t>
            </a:r>
          </a:p>
        </p:txBody>
      </p:sp>
      <p:sp>
        <p:nvSpPr>
          <p:cNvPr id="10" name="Rectangle 9">
            <a:extLst>
              <a:ext uri="{FF2B5EF4-FFF2-40B4-BE49-F238E27FC236}">
                <a16:creationId xmlns:a16="http://schemas.microsoft.com/office/drawing/2014/main" id="{3D77B739-593C-ACB5-AB07-19F3C7B95E02}"/>
              </a:ext>
            </a:extLst>
          </p:cNvPr>
          <p:cNvSpPr>
            <a:spLocks/>
          </p:cNvSpPr>
          <p:nvPr/>
        </p:nvSpPr>
        <p:spPr>
          <a:xfrm>
            <a:off x="577472" y="2283355"/>
            <a:ext cx="4015468" cy="2477601"/>
          </a:xfrm>
          <a:prstGeom prst="rect">
            <a:avLst/>
          </a:prstGeom>
          <a:solidFill>
            <a:schemeClr val="bg1">
              <a:lumMod val="95000"/>
            </a:schemeClr>
          </a:solidFill>
          <a:effectLst>
            <a:outerShdw dist="38100" dir="10800000" algn="r" rotWithShape="0">
              <a:schemeClr val="tx2"/>
            </a:outerShdw>
          </a:effectLst>
        </p:spPr>
        <p:txBody>
          <a:bodyPr wrap="square" lIns="137160" tIns="137160" rIns="137160" bIns="137160" anchor="t" anchorCtr="0">
            <a:spAutoFit/>
          </a:bodyPr>
          <a:lstStyle/>
          <a:p>
            <a:pPr marL="342900" indent="-342900">
              <a:spcBef>
                <a:spcPts val="0"/>
              </a:spcBef>
              <a:spcAft>
                <a:spcPts val="600"/>
              </a:spcAft>
              <a:buFont typeface="Arial" panose="020B0604020202020204" pitchFamily="34" charset="0"/>
              <a:buChar char="•"/>
            </a:pPr>
            <a:r>
              <a:rPr lang="en-US" sz="1600" dirty="0"/>
              <a:t>Kubernetes API Server gets a public IP address; therefore, the cluster is reachable from the public Internet.</a:t>
            </a:r>
          </a:p>
          <a:p>
            <a:pPr marL="342900" indent="-342900">
              <a:spcBef>
                <a:spcPts val="0"/>
              </a:spcBef>
              <a:spcAft>
                <a:spcPts val="600"/>
              </a:spcAft>
              <a:buFont typeface="Arial" panose="020B0604020202020204" pitchFamily="34" charset="0"/>
              <a:buChar char="•"/>
            </a:pPr>
            <a:r>
              <a:rPr lang="en-US" sz="1600" dirty="0"/>
              <a:t>Internet traffic can be restricted from given IP addresses or ranges (Whitelisting)</a:t>
            </a:r>
          </a:p>
          <a:p>
            <a:pPr marL="342900" indent="-342900">
              <a:spcBef>
                <a:spcPts val="0"/>
              </a:spcBef>
              <a:spcAft>
                <a:spcPts val="600"/>
              </a:spcAft>
              <a:buFont typeface="Arial" panose="020B0604020202020204" pitchFamily="34" charset="0"/>
              <a:buChar char="•"/>
            </a:pPr>
            <a:r>
              <a:rPr lang="en-US" sz="1600" dirty="0"/>
              <a:t>Default deployment mode</a:t>
            </a:r>
          </a:p>
          <a:p>
            <a:pPr marL="342900" indent="-342900">
              <a:spcBef>
                <a:spcPts val="0"/>
              </a:spcBef>
              <a:spcAft>
                <a:spcPts val="600"/>
              </a:spcAft>
              <a:buFont typeface="Arial" panose="020B0604020202020204" pitchFamily="34" charset="0"/>
              <a:buChar char="•"/>
            </a:pPr>
            <a:r>
              <a:rPr lang="en-US" sz="1600" dirty="0"/>
              <a:t>Node pools reside in an Azure VNET</a:t>
            </a:r>
          </a:p>
        </p:txBody>
      </p:sp>
      <p:sp>
        <p:nvSpPr>
          <p:cNvPr id="17" name="Footer Placeholder 6">
            <a:extLst>
              <a:ext uri="{FF2B5EF4-FFF2-40B4-BE49-F238E27FC236}">
                <a16:creationId xmlns:a16="http://schemas.microsoft.com/office/drawing/2014/main" id="{A5B00338-F7CA-7B88-E4CF-9390EA9C9465}"/>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8" name="Slide Number Placeholder 5">
            <a:extLst>
              <a:ext uri="{FF2B5EF4-FFF2-40B4-BE49-F238E27FC236}">
                <a16:creationId xmlns:a16="http://schemas.microsoft.com/office/drawing/2014/main" id="{A8DC1CBD-80FA-A017-7B0B-026CF1EE106D}"/>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pic>
        <p:nvPicPr>
          <p:cNvPr id="11" name="Picture 10">
            <a:extLst>
              <a:ext uri="{FF2B5EF4-FFF2-40B4-BE49-F238E27FC236}">
                <a16:creationId xmlns:a16="http://schemas.microsoft.com/office/drawing/2014/main" id="{B3CABEA2-615E-033F-A7DD-380B04B868F9}"/>
              </a:ext>
            </a:extLst>
          </p:cNvPr>
          <p:cNvPicPr>
            <a:picLocks noChangeAspect="1"/>
          </p:cNvPicPr>
          <p:nvPr/>
        </p:nvPicPr>
        <p:blipFill>
          <a:blip r:embed="rId3"/>
          <a:stretch>
            <a:fillRect/>
          </a:stretch>
        </p:blipFill>
        <p:spPr>
          <a:xfrm>
            <a:off x="4863781" y="2283355"/>
            <a:ext cx="6750747" cy="4017151"/>
          </a:xfrm>
          <a:prstGeom prst="rect">
            <a:avLst/>
          </a:prstGeom>
        </p:spPr>
      </p:pic>
    </p:spTree>
    <p:extLst>
      <p:ext uri="{BB962C8B-B14F-4D97-AF65-F5344CB8AC3E}">
        <p14:creationId xmlns:p14="http://schemas.microsoft.com/office/powerpoint/2010/main" val="308396519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EDB8C-91BD-B6C8-A20A-34A15AEDA9A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AAAB3D5-6CEE-EA5C-C2E4-769847243565}"/>
              </a:ext>
            </a:extLst>
          </p:cNvPr>
          <p:cNvSpPr>
            <a:spLocks noGrp="1"/>
          </p:cNvSpPr>
          <p:nvPr>
            <p:ph type="title"/>
          </p:nvPr>
        </p:nvSpPr>
        <p:spPr>
          <a:xfrm>
            <a:off x="575481" y="1085599"/>
            <a:ext cx="11045019" cy="553998"/>
          </a:xfrm>
        </p:spPr>
        <p:txBody>
          <a:bodyPr/>
          <a:lstStyle/>
          <a:p>
            <a:r>
              <a:rPr lang="en-US" dirty="0"/>
              <a:t>Public Cluster AKS Clusters – VNET Integration</a:t>
            </a:r>
          </a:p>
        </p:txBody>
      </p:sp>
      <p:sp>
        <p:nvSpPr>
          <p:cNvPr id="10" name="Rectangle 9">
            <a:extLst>
              <a:ext uri="{FF2B5EF4-FFF2-40B4-BE49-F238E27FC236}">
                <a16:creationId xmlns:a16="http://schemas.microsoft.com/office/drawing/2014/main" id="{65160A77-51FF-40B5-180D-648AA8AAE487}"/>
              </a:ext>
            </a:extLst>
          </p:cNvPr>
          <p:cNvSpPr>
            <a:spLocks/>
          </p:cNvSpPr>
          <p:nvPr/>
        </p:nvSpPr>
        <p:spPr>
          <a:xfrm>
            <a:off x="577472" y="2283355"/>
            <a:ext cx="4015468" cy="3708708"/>
          </a:xfrm>
          <a:prstGeom prst="rect">
            <a:avLst/>
          </a:prstGeom>
          <a:solidFill>
            <a:schemeClr val="bg1">
              <a:lumMod val="95000"/>
            </a:schemeClr>
          </a:solidFill>
          <a:effectLst>
            <a:outerShdw dist="38100" dir="10800000" algn="r" rotWithShape="0">
              <a:schemeClr val="tx2"/>
            </a:outerShdw>
          </a:effectLst>
        </p:spPr>
        <p:txBody>
          <a:bodyPr wrap="square" lIns="137160" tIns="137160" rIns="137160" bIns="137160" anchor="t" anchorCtr="0">
            <a:spAutoFit/>
          </a:bodyPr>
          <a:lstStyle/>
          <a:p>
            <a:pPr marL="342900" indent="-342900">
              <a:spcBef>
                <a:spcPts val="0"/>
              </a:spcBef>
              <a:spcAft>
                <a:spcPts val="600"/>
              </a:spcAft>
              <a:buFont typeface="Arial" panose="020B0604020202020204" pitchFamily="34" charset="0"/>
              <a:buChar char="•"/>
            </a:pPr>
            <a:r>
              <a:rPr lang="en-US" sz="1600" dirty="0"/>
              <a:t>Kubernetes API Server gets a public IP address; therefore, the cluster is reachable from the public Internet.</a:t>
            </a:r>
          </a:p>
          <a:p>
            <a:pPr marL="342900" indent="-342900">
              <a:spcBef>
                <a:spcPts val="0"/>
              </a:spcBef>
              <a:spcAft>
                <a:spcPts val="600"/>
              </a:spcAft>
              <a:buFont typeface="Arial" panose="020B0604020202020204" pitchFamily="34" charset="0"/>
              <a:buChar char="•"/>
            </a:pPr>
            <a:r>
              <a:rPr lang="en-US" sz="1600" dirty="0"/>
              <a:t>A subnet is created (and delegated) within the AKS VNET. This subnet contains a Load Balancer which provides private network connectivity between the worker </a:t>
            </a:r>
            <a:r>
              <a:rPr lang="en-US" sz="1600" dirty="0" err="1"/>
              <a:t>nodepools</a:t>
            </a:r>
            <a:r>
              <a:rPr lang="en-US" sz="1600" dirty="0"/>
              <a:t> and the AKS Control Plane.</a:t>
            </a:r>
          </a:p>
          <a:p>
            <a:pPr marL="342900" indent="-342900">
              <a:spcBef>
                <a:spcPts val="0"/>
              </a:spcBef>
              <a:spcAft>
                <a:spcPts val="600"/>
              </a:spcAft>
              <a:buFont typeface="Arial" panose="020B0604020202020204" pitchFamily="34" charset="0"/>
              <a:buChar char="•"/>
            </a:pPr>
            <a:r>
              <a:rPr lang="en-US" sz="1600" dirty="0"/>
              <a:t>Node pools reside in an Azure VNET</a:t>
            </a:r>
          </a:p>
          <a:p>
            <a:pPr marL="342900" indent="-342900">
              <a:spcAft>
                <a:spcPts val="600"/>
              </a:spcAft>
              <a:buFont typeface="Arial" panose="020B0604020202020204" pitchFamily="34" charset="0"/>
              <a:buChar char="•"/>
            </a:pPr>
            <a:r>
              <a:rPr lang="en-US" sz="1600" b="1" dirty="0"/>
              <a:t>API Server </a:t>
            </a:r>
            <a:r>
              <a:rPr lang="en-US" sz="1600" b="1" dirty="0" err="1"/>
              <a:t>VNet</a:t>
            </a:r>
            <a:r>
              <a:rPr lang="en-US" sz="1600" b="1" dirty="0"/>
              <a:t> Integration has limited availability and capacity in certain regions.</a:t>
            </a:r>
            <a:endParaRPr lang="en-NL" sz="1600" dirty="0"/>
          </a:p>
        </p:txBody>
      </p:sp>
      <p:sp>
        <p:nvSpPr>
          <p:cNvPr id="17" name="Footer Placeholder 6">
            <a:extLst>
              <a:ext uri="{FF2B5EF4-FFF2-40B4-BE49-F238E27FC236}">
                <a16:creationId xmlns:a16="http://schemas.microsoft.com/office/drawing/2014/main" id="{212C1148-CEE7-3540-D99B-6D60BF6DA88C}"/>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8" name="Slide Number Placeholder 5">
            <a:extLst>
              <a:ext uri="{FF2B5EF4-FFF2-40B4-BE49-F238E27FC236}">
                <a16:creationId xmlns:a16="http://schemas.microsoft.com/office/drawing/2014/main" id="{69D95301-0C0D-8418-F1CD-E02570E9F53C}"/>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pic>
        <p:nvPicPr>
          <p:cNvPr id="7" name="Picture 6">
            <a:extLst>
              <a:ext uri="{FF2B5EF4-FFF2-40B4-BE49-F238E27FC236}">
                <a16:creationId xmlns:a16="http://schemas.microsoft.com/office/drawing/2014/main" id="{E3AB8E4C-558C-FAFA-9C24-54FBD820ED37}"/>
              </a:ext>
            </a:extLst>
          </p:cNvPr>
          <p:cNvPicPr>
            <a:picLocks noChangeAspect="1"/>
          </p:cNvPicPr>
          <p:nvPr/>
        </p:nvPicPr>
        <p:blipFill>
          <a:blip r:embed="rId3"/>
          <a:stretch>
            <a:fillRect/>
          </a:stretch>
        </p:blipFill>
        <p:spPr>
          <a:xfrm>
            <a:off x="5121118" y="2241612"/>
            <a:ext cx="6493409" cy="3957240"/>
          </a:xfrm>
          <a:prstGeom prst="rect">
            <a:avLst/>
          </a:prstGeom>
        </p:spPr>
      </p:pic>
    </p:spTree>
    <p:extLst>
      <p:ext uri="{BB962C8B-B14F-4D97-AF65-F5344CB8AC3E}">
        <p14:creationId xmlns:p14="http://schemas.microsoft.com/office/powerpoint/2010/main" val="64549058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45045-D8EC-0C51-D865-2F8C712926D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63B177B-80D3-F1A7-1723-5BD1FD121A14}"/>
              </a:ext>
            </a:extLst>
          </p:cNvPr>
          <p:cNvSpPr>
            <a:spLocks noGrp="1"/>
          </p:cNvSpPr>
          <p:nvPr>
            <p:ph type="title"/>
          </p:nvPr>
        </p:nvSpPr>
        <p:spPr>
          <a:xfrm>
            <a:off x="575481" y="1085599"/>
            <a:ext cx="11045019" cy="553998"/>
          </a:xfrm>
        </p:spPr>
        <p:txBody>
          <a:bodyPr/>
          <a:lstStyle/>
          <a:p>
            <a:r>
              <a:rPr lang="en-US" dirty="0"/>
              <a:t>Private AKS Clusters</a:t>
            </a:r>
          </a:p>
        </p:txBody>
      </p:sp>
      <p:sp>
        <p:nvSpPr>
          <p:cNvPr id="10" name="Rectangle 9">
            <a:extLst>
              <a:ext uri="{FF2B5EF4-FFF2-40B4-BE49-F238E27FC236}">
                <a16:creationId xmlns:a16="http://schemas.microsoft.com/office/drawing/2014/main" id="{2F12AF37-54CB-83E0-44FC-81FA7C0DBA00}"/>
              </a:ext>
            </a:extLst>
          </p:cNvPr>
          <p:cNvSpPr>
            <a:spLocks/>
          </p:cNvSpPr>
          <p:nvPr/>
        </p:nvSpPr>
        <p:spPr>
          <a:xfrm>
            <a:off x="577472" y="2283355"/>
            <a:ext cx="4015468" cy="3293209"/>
          </a:xfrm>
          <a:prstGeom prst="rect">
            <a:avLst/>
          </a:prstGeom>
          <a:solidFill>
            <a:schemeClr val="bg1">
              <a:lumMod val="95000"/>
            </a:schemeClr>
          </a:solidFill>
          <a:effectLst>
            <a:outerShdw dist="38100" dir="10800000" algn="r" rotWithShape="0">
              <a:schemeClr val="tx2"/>
            </a:outerShdw>
          </a:effectLst>
        </p:spPr>
        <p:txBody>
          <a:bodyPr wrap="square" lIns="137160" tIns="137160" rIns="137160" bIns="137160" anchor="t" anchorCtr="0">
            <a:spAutoFit/>
          </a:bodyPr>
          <a:lstStyle/>
          <a:p>
            <a:pPr marL="342900" indent="-342900">
              <a:spcBef>
                <a:spcPts val="0"/>
              </a:spcBef>
              <a:spcAft>
                <a:spcPts val="600"/>
              </a:spcAft>
              <a:buFont typeface="Arial" panose="020B0604020202020204" pitchFamily="34" charset="0"/>
              <a:buChar char="•"/>
            </a:pPr>
            <a:r>
              <a:rPr lang="en-US" sz="1600" dirty="0"/>
              <a:t>A Private Endpoint deployed in the AKS VNET provides private access to the AKS Control Plane API.</a:t>
            </a:r>
          </a:p>
          <a:p>
            <a:pPr marL="342900" indent="-342900">
              <a:spcBef>
                <a:spcPts val="0"/>
              </a:spcBef>
              <a:spcAft>
                <a:spcPts val="600"/>
              </a:spcAft>
              <a:buFont typeface="Arial" panose="020B0604020202020204" pitchFamily="34" charset="0"/>
              <a:buChar char="•"/>
            </a:pPr>
            <a:r>
              <a:rPr lang="en-US" sz="1600" dirty="0"/>
              <a:t>Ensures traffic between control plane and node pools remain in the private network.</a:t>
            </a:r>
          </a:p>
          <a:p>
            <a:pPr marL="342900" indent="-342900">
              <a:spcBef>
                <a:spcPts val="0"/>
              </a:spcBef>
              <a:spcAft>
                <a:spcPts val="600"/>
              </a:spcAft>
              <a:buFont typeface="Arial" panose="020B0604020202020204" pitchFamily="34" charset="0"/>
              <a:buChar char="•"/>
            </a:pPr>
            <a:r>
              <a:rPr lang="en-US" sz="1600" dirty="0"/>
              <a:t>API Server is accessible from the VNET which contains a private endpoint for the AKS Service</a:t>
            </a:r>
          </a:p>
          <a:p>
            <a:pPr marL="342900" indent="-342900">
              <a:spcAft>
                <a:spcPts val="600"/>
              </a:spcAft>
              <a:buFont typeface="Arial" panose="020B0604020202020204" pitchFamily="34" charset="0"/>
              <a:buChar char="•"/>
            </a:pPr>
            <a:r>
              <a:rPr lang="en-US" sz="1600" dirty="0"/>
              <a:t>Node pools reside in an Azure VNET</a:t>
            </a:r>
          </a:p>
          <a:p>
            <a:pPr marL="342900" indent="-342900">
              <a:spcBef>
                <a:spcPts val="0"/>
              </a:spcBef>
              <a:spcAft>
                <a:spcPts val="600"/>
              </a:spcAft>
              <a:buFont typeface="Arial" panose="020B0604020202020204" pitchFamily="34" charset="0"/>
              <a:buChar char="•"/>
            </a:pPr>
            <a:endParaRPr lang="en-US" sz="1600" dirty="0"/>
          </a:p>
        </p:txBody>
      </p:sp>
      <p:sp>
        <p:nvSpPr>
          <p:cNvPr id="17" name="Footer Placeholder 6">
            <a:extLst>
              <a:ext uri="{FF2B5EF4-FFF2-40B4-BE49-F238E27FC236}">
                <a16:creationId xmlns:a16="http://schemas.microsoft.com/office/drawing/2014/main" id="{225A1EAB-7640-0835-4FDF-4C92505BF096}"/>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8" name="Slide Number Placeholder 5">
            <a:extLst>
              <a:ext uri="{FF2B5EF4-FFF2-40B4-BE49-F238E27FC236}">
                <a16:creationId xmlns:a16="http://schemas.microsoft.com/office/drawing/2014/main" id="{507692DD-6F3E-5CF4-79A4-B5612C506CA0}"/>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pic>
        <p:nvPicPr>
          <p:cNvPr id="6" name="Picture 5">
            <a:extLst>
              <a:ext uri="{FF2B5EF4-FFF2-40B4-BE49-F238E27FC236}">
                <a16:creationId xmlns:a16="http://schemas.microsoft.com/office/drawing/2014/main" id="{EB914689-6E52-2C63-894E-C10CE1A71836}"/>
              </a:ext>
            </a:extLst>
          </p:cNvPr>
          <p:cNvPicPr>
            <a:picLocks noChangeAspect="1"/>
          </p:cNvPicPr>
          <p:nvPr/>
        </p:nvPicPr>
        <p:blipFill>
          <a:blip r:embed="rId3"/>
          <a:stretch>
            <a:fillRect/>
          </a:stretch>
        </p:blipFill>
        <p:spPr>
          <a:xfrm>
            <a:off x="4749142" y="2283355"/>
            <a:ext cx="7089198" cy="4245309"/>
          </a:xfrm>
          <a:prstGeom prst="rect">
            <a:avLst/>
          </a:prstGeom>
        </p:spPr>
      </p:pic>
    </p:spTree>
    <p:extLst>
      <p:ext uri="{BB962C8B-B14F-4D97-AF65-F5344CB8AC3E}">
        <p14:creationId xmlns:p14="http://schemas.microsoft.com/office/powerpoint/2010/main" val="142221373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689F5-18E4-CA29-D983-B117F9DBC22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83EA940-6490-C8B2-5442-F603E98612CB}"/>
              </a:ext>
            </a:extLst>
          </p:cNvPr>
          <p:cNvSpPr>
            <a:spLocks noGrp="1"/>
          </p:cNvSpPr>
          <p:nvPr>
            <p:ph type="title"/>
          </p:nvPr>
        </p:nvSpPr>
        <p:spPr>
          <a:xfrm>
            <a:off x="575481" y="1085599"/>
            <a:ext cx="11045019" cy="553998"/>
          </a:xfrm>
        </p:spPr>
        <p:txBody>
          <a:bodyPr/>
          <a:lstStyle/>
          <a:p>
            <a:r>
              <a:rPr lang="en-US" dirty="0"/>
              <a:t>Private AKS Clusters – VNET Integration</a:t>
            </a:r>
          </a:p>
        </p:txBody>
      </p:sp>
      <p:sp>
        <p:nvSpPr>
          <p:cNvPr id="10" name="Rectangle 9">
            <a:extLst>
              <a:ext uri="{FF2B5EF4-FFF2-40B4-BE49-F238E27FC236}">
                <a16:creationId xmlns:a16="http://schemas.microsoft.com/office/drawing/2014/main" id="{71CC429E-3C05-AEE6-F0FB-0165FAC97D85}"/>
              </a:ext>
            </a:extLst>
          </p:cNvPr>
          <p:cNvSpPr>
            <a:spLocks/>
          </p:cNvSpPr>
          <p:nvPr/>
        </p:nvSpPr>
        <p:spPr>
          <a:xfrm>
            <a:off x="577472" y="2283355"/>
            <a:ext cx="4015468" cy="2723823"/>
          </a:xfrm>
          <a:prstGeom prst="rect">
            <a:avLst/>
          </a:prstGeom>
          <a:solidFill>
            <a:schemeClr val="bg1">
              <a:lumMod val="95000"/>
            </a:schemeClr>
          </a:solidFill>
          <a:effectLst>
            <a:outerShdw dist="38100" dir="10800000" algn="r" rotWithShape="0">
              <a:schemeClr val="tx2"/>
            </a:outerShdw>
          </a:effectLst>
        </p:spPr>
        <p:txBody>
          <a:bodyPr wrap="square" lIns="137160" tIns="137160" rIns="137160" bIns="137160" anchor="t" anchorCtr="0">
            <a:spAutoFit/>
          </a:bodyPr>
          <a:lstStyle/>
          <a:p>
            <a:pPr marL="342900" indent="-342900">
              <a:spcAft>
                <a:spcPts val="600"/>
              </a:spcAft>
              <a:buFont typeface="Arial" panose="020B0604020202020204" pitchFamily="34" charset="0"/>
              <a:buChar char="•"/>
            </a:pPr>
            <a:r>
              <a:rPr lang="en-US" sz="1600" dirty="0"/>
              <a:t>Ensures traffic between control plane and node pools remain in the private network.</a:t>
            </a:r>
          </a:p>
          <a:p>
            <a:pPr marL="342900" indent="-342900">
              <a:spcBef>
                <a:spcPts val="0"/>
              </a:spcBef>
              <a:spcAft>
                <a:spcPts val="600"/>
              </a:spcAft>
              <a:buFont typeface="Arial" panose="020B0604020202020204" pitchFamily="34" charset="0"/>
              <a:buChar char="•"/>
            </a:pPr>
            <a:r>
              <a:rPr lang="en-US" sz="1600" dirty="0"/>
              <a:t>Developers and CI/CD pipelines use a private endpoint to connect to the cluster (not included in the diagram for simplicity)</a:t>
            </a:r>
          </a:p>
          <a:p>
            <a:pPr marL="342900" indent="-342900">
              <a:spcBef>
                <a:spcPts val="0"/>
              </a:spcBef>
              <a:spcAft>
                <a:spcPts val="600"/>
              </a:spcAft>
              <a:buFont typeface="Arial" panose="020B0604020202020204" pitchFamily="34" charset="0"/>
              <a:buChar char="•"/>
            </a:pPr>
            <a:r>
              <a:rPr lang="en-US" sz="1600" dirty="0"/>
              <a:t>Node pools reside in an Azure VNET</a:t>
            </a:r>
          </a:p>
          <a:p>
            <a:pPr marL="342900" indent="-342900">
              <a:spcBef>
                <a:spcPts val="0"/>
              </a:spcBef>
              <a:spcAft>
                <a:spcPts val="600"/>
              </a:spcAft>
              <a:buFont typeface="Arial" panose="020B0604020202020204" pitchFamily="34" charset="0"/>
              <a:buChar char="•"/>
            </a:pPr>
            <a:endParaRPr lang="en-US" sz="1600" dirty="0"/>
          </a:p>
        </p:txBody>
      </p:sp>
      <p:sp>
        <p:nvSpPr>
          <p:cNvPr id="17" name="Footer Placeholder 6">
            <a:extLst>
              <a:ext uri="{FF2B5EF4-FFF2-40B4-BE49-F238E27FC236}">
                <a16:creationId xmlns:a16="http://schemas.microsoft.com/office/drawing/2014/main" id="{66DBEE73-5269-140E-9C78-E1D74A08F14B}"/>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8" name="Slide Number Placeholder 5">
            <a:extLst>
              <a:ext uri="{FF2B5EF4-FFF2-40B4-BE49-F238E27FC236}">
                <a16:creationId xmlns:a16="http://schemas.microsoft.com/office/drawing/2014/main" id="{CC9C3BC2-9CCA-E7A6-C589-52791F88C4AD}"/>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1A57BCF0-7E9F-D841-C0D8-CEAD76E64491}"/>
              </a:ext>
            </a:extLst>
          </p:cNvPr>
          <p:cNvPicPr>
            <a:picLocks noChangeAspect="1"/>
          </p:cNvPicPr>
          <p:nvPr/>
        </p:nvPicPr>
        <p:blipFill>
          <a:blip r:embed="rId3"/>
          <a:stretch>
            <a:fillRect/>
          </a:stretch>
        </p:blipFill>
        <p:spPr>
          <a:xfrm>
            <a:off x="4969274" y="2283354"/>
            <a:ext cx="6645254" cy="4003663"/>
          </a:xfrm>
          <a:prstGeom prst="rect">
            <a:avLst/>
          </a:prstGeom>
        </p:spPr>
      </p:pic>
    </p:spTree>
    <p:extLst>
      <p:ext uri="{BB962C8B-B14F-4D97-AF65-F5344CB8AC3E}">
        <p14:creationId xmlns:p14="http://schemas.microsoft.com/office/powerpoint/2010/main" val="207531738"/>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A2E79-6F43-8CBF-8F7B-E9BA182B7CC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F469FB5-2227-5712-2E02-1DB225D56DA5}"/>
              </a:ext>
            </a:extLst>
          </p:cNvPr>
          <p:cNvSpPr>
            <a:spLocks noGrp="1"/>
          </p:cNvSpPr>
          <p:nvPr>
            <p:ph type="title"/>
            <p:custDataLst>
              <p:custData r:id="rId2"/>
            </p:custDataLst>
          </p:nvPr>
        </p:nvSpPr>
        <p:spPr>
          <a:xfrm>
            <a:off x="584200" y="3318975"/>
            <a:ext cx="9169400" cy="2031325"/>
          </a:xfrm>
        </p:spPr>
        <p:txBody>
          <a:bodyPr/>
          <a:lstStyle/>
          <a:p>
            <a:r>
              <a:rPr lang="en-US" dirty="0"/>
              <a:t>Container Networking Interfaces (CNIs)</a:t>
            </a:r>
          </a:p>
        </p:txBody>
      </p:sp>
      <p:sp>
        <p:nvSpPr>
          <p:cNvPr id="2" name="Text Placeholder 1">
            <a:extLst>
              <a:ext uri="{FF2B5EF4-FFF2-40B4-BE49-F238E27FC236}">
                <a16:creationId xmlns:a16="http://schemas.microsoft.com/office/drawing/2014/main" id="{D5E35E9E-C155-4256-258B-75618B252EC5}"/>
              </a:ext>
            </a:extLst>
          </p:cNvPr>
          <p:cNvSpPr>
            <a:spLocks noGrp="1"/>
          </p:cNvSpPr>
          <p:nvPr>
            <p:ph type="body" sz="quarter" idx="12"/>
          </p:nvPr>
        </p:nvSpPr>
        <p:spPr/>
        <p:txBody>
          <a:bodyPr/>
          <a:lstStyle/>
          <a:p>
            <a:r>
              <a:rPr lang="en-US" dirty="0"/>
              <a:t>Exploring the different options</a:t>
            </a:r>
          </a:p>
        </p:txBody>
      </p:sp>
      <p:sp>
        <p:nvSpPr>
          <p:cNvPr id="11" name="Footer Placeholder 2">
            <a:extLst>
              <a:ext uri="{FF2B5EF4-FFF2-40B4-BE49-F238E27FC236}">
                <a16:creationId xmlns:a16="http://schemas.microsoft.com/office/drawing/2014/main" id="{2152DC51-FFC1-EB93-EC06-81F3EB49ED60}"/>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40F4963B-29B7-FC14-B305-C20E0DE02BC9}"/>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pic>
        <p:nvPicPr>
          <p:cNvPr id="6" name="Picture 6" descr="Cilium Logo Download png">
            <a:extLst>
              <a:ext uri="{FF2B5EF4-FFF2-40B4-BE49-F238E27FC236}">
                <a16:creationId xmlns:a16="http://schemas.microsoft.com/office/drawing/2014/main" id="{AED81DA4-D0DD-D706-EED6-AF9DBB4F83D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94003" y="1135860"/>
            <a:ext cx="3626886" cy="126941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52B1ED37-233A-C2AE-1FC4-B4A3E55F14E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43720" y="369891"/>
            <a:ext cx="1847850" cy="2617788"/>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808858361"/>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7C50F-D8FA-57F7-B7F6-2783D652AD9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8D6E6AB-3E3F-C80F-5D70-10DB8C50B29D}"/>
              </a:ext>
            </a:extLst>
          </p:cNvPr>
          <p:cNvSpPr>
            <a:spLocks noGrp="1"/>
          </p:cNvSpPr>
          <p:nvPr>
            <p:ph type="title"/>
          </p:nvPr>
        </p:nvSpPr>
        <p:spPr>
          <a:xfrm>
            <a:off x="575481" y="1085599"/>
            <a:ext cx="11045019" cy="553998"/>
          </a:xfrm>
        </p:spPr>
        <p:txBody>
          <a:bodyPr/>
          <a:lstStyle/>
          <a:p>
            <a:r>
              <a:rPr lang="en-US" dirty="0"/>
              <a:t>AKS CNI Options</a:t>
            </a:r>
          </a:p>
        </p:txBody>
      </p:sp>
      <p:sp>
        <p:nvSpPr>
          <p:cNvPr id="10" name="Rectangle 9">
            <a:extLst>
              <a:ext uri="{FF2B5EF4-FFF2-40B4-BE49-F238E27FC236}">
                <a16:creationId xmlns:a16="http://schemas.microsoft.com/office/drawing/2014/main" id="{C52178A7-8122-9803-5B99-47211A5789A3}"/>
              </a:ext>
            </a:extLst>
          </p:cNvPr>
          <p:cNvSpPr>
            <a:spLocks/>
          </p:cNvSpPr>
          <p:nvPr/>
        </p:nvSpPr>
        <p:spPr>
          <a:xfrm>
            <a:off x="575482" y="2278401"/>
            <a:ext cx="11045018" cy="523220"/>
          </a:xfrm>
          <a:prstGeom prst="rect">
            <a:avLst/>
          </a:prstGeom>
          <a:solidFill>
            <a:schemeClr val="bg1">
              <a:lumMod val="95000"/>
            </a:schemeClr>
          </a:solidFill>
          <a:effectLst>
            <a:outerShdw dist="38100" dir="10800000" algn="r" rotWithShape="0">
              <a:schemeClr val="tx2"/>
            </a:outerShdw>
          </a:effectLst>
        </p:spPr>
        <p:txBody>
          <a:bodyPr wrap="square" lIns="137160" tIns="137160" rIns="137160" bIns="137160" anchor="t" anchorCtr="0">
            <a:spAutoFit/>
          </a:bodyPr>
          <a:lstStyle/>
          <a:p>
            <a:r>
              <a:rPr lang="en-US" sz="1600" dirty="0">
                <a:solidFill>
                  <a:srgbClr val="171717"/>
                </a:solidFill>
                <a:latin typeface="Segoe UI" panose="020B0502040204020203" pitchFamily="34" charset="0"/>
              </a:rPr>
              <a:t>There are multiple network plugins available </a:t>
            </a:r>
            <a:r>
              <a:rPr lang="en-US" sz="1600" b="1" u="sng" dirty="0">
                <a:solidFill>
                  <a:srgbClr val="171717"/>
                </a:solidFill>
                <a:latin typeface="Segoe UI" panose="020B0502040204020203" pitchFamily="34" charset="0"/>
              </a:rPr>
              <a:t>when creating a new AKS Cluster</a:t>
            </a:r>
            <a:endParaRPr lang="en-US" sz="1600" dirty="0">
              <a:solidFill>
                <a:srgbClr val="171717"/>
              </a:solidFill>
              <a:latin typeface="Segoe UI" panose="020B0502040204020203" pitchFamily="34" charset="0"/>
            </a:endParaRPr>
          </a:p>
        </p:txBody>
      </p:sp>
      <p:sp>
        <p:nvSpPr>
          <p:cNvPr id="11" name="Rectangle 10">
            <a:extLst>
              <a:ext uri="{FF2B5EF4-FFF2-40B4-BE49-F238E27FC236}">
                <a16:creationId xmlns:a16="http://schemas.microsoft.com/office/drawing/2014/main" id="{87E3B051-FD48-07AF-998F-35BA2CF8DBBA}"/>
              </a:ext>
            </a:extLst>
          </p:cNvPr>
          <p:cNvSpPr>
            <a:spLocks/>
          </p:cNvSpPr>
          <p:nvPr/>
        </p:nvSpPr>
        <p:spPr>
          <a:xfrm>
            <a:off x="573491" y="2983224"/>
            <a:ext cx="11045018" cy="2739211"/>
          </a:xfrm>
          <a:prstGeom prst="rect">
            <a:avLst/>
          </a:prstGeom>
          <a:solidFill>
            <a:schemeClr val="bg1">
              <a:lumMod val="95000"/>
            </a:schemeClr>
          </a:solidFill>
          <a:effectLst>
            <a:outerShdw dist="38100" dir="10800000" algn="r" rotWithShape="0">
              <a:schemeClr val="tx2"/>
            </a:outerShdw>
          </a:effectLst>
        </p:spPr>
        <p:txBody>
          <a:bodyPr wrap="square" lIns="137160" tIns="137160" rIns="137160" bIns="137160" anchor="t" anchorCtr="0">
            <a:spAutoFit/>
          </a:bodyPr>
          <a:lstStyle/>
          <a:p>
            <a:pPr>
              <a:buFont typeface="Arial" panose="020B0604020202020204" pitchFamily="34" charset="0"/>
              <a:buChar char="•"/>
            </a:pPr>
            <a:r>
              <a:rPr lang="en-US" sz="1600" b="1" i="1" dirty="0">
                <a:solidFill>
                  <a:srgbClr val="171717"/>
                </a:solidFill>
                <a:latin typeface="Segoe UI" panose="020B0502040204020203" pitchFamily="34" charset="0"/>
              </a:rPr>
              <a:t> Azure Container Networking Interface (CNI) </a:t>
            </a:r>
            <a:r>
              <a:rPr lang="en-US" sz="1600" dirty="0">
                <a:solidFill>
                  <a:srgbClr val="171717"/>
                </a:solidFill>
                <a:latin typeface="Segoe UI" panose="020B0502040204020203" pitchFamily="34" charset="0"/>
              </a:rPr>
              <a:t>networking plugin:</a:t>
            </a:r>
          </a:p>
          <a:p>
            <a:pPr>
              <a:buFont typeface="Arial" panose="020B0604020202020204" pitchFamily="34" charset="0"/>
              <a:buChar char="•"/>
            </a:pPr>
            <a:endParaRPr lang="en-US" sz="1600" dirty="0">
              <a:solidFill>
                <a:srgbClr val="171717"/>
              </a:solidFill>
              <a:latin typeface="Segoe UI" panose="020B0502040204020203" pitchFamily="34" charset="0"/>
            </a:endParaRPr>
          </a:p>
          <a:p>
            <a:pPr lvl="1">
              <a:buFont typeface="Arial" panose="020B0604020202020204" pitchFamily="34" charset="0"/>
              <a:buChar char="•"/>
            </a:pPr>
            <a:r>
              <a:rPr lang="en-US" sz="1400" dirty="0">
                <a:solidFill>
                  <a:srgbClr val="171717"/>
                </a:solidFill>
                <a:latin typeface="Segoe UI" panose="020B0502040204020203" pitchFamily="34" charset="0"/>
              </a:rPr>
              <a:t> The AKS cluster is connected to existing virtual network resources and configurations.</a:t>
            </a:r>
          </a:p>
          <a:p>
            <a:pPr lvl="1">
              <a:buFont typeface="Arial" panose="020B0604020202020204" pitchFamily="34" charset="0"/>
              <a:buChar char="•"/>
            </a:pPr>
            <a:r>
              <a:rPr lang="en-US" sz="1400" dirty="0">
                <a:solidFill>
                  <a:srgbClr val="171717"/>
                </a:solidFill>
                <a:latin typeface="Segoe UI" panose="020B0502040204020203" pitchFamily="34" charset="0"/>
              </a:rPr>
              <a:t> Comes in one of 2 versions:</a:t>
            </a:r>
          </a:p>
          <a:p>
            <a:pPr lvl="2">
              <a:buFont typeface="Arial" panose="020B0604020202020204" pitchFamily="34" charset="0"/>
              <a:buChar char="•"/>
            </a:pPr>
            <a:r>
              <a:rPr lang="en-US" sz="1400" b="1" i="1" dirty="0">
                <a:solidFill>
                  <a:srgbClr val="171717"/>
                </a:solidFill>
                <a:latin typeface="Segoe UI" panose="020B0502040204020203" pitchFamily="34" charset="0"/>
              </a:rPr>
              <a:t>Azure CNI Dynamic</a:t>
            </a:r>
            <a:r>
              <a:rPr lang="en-US" sz="1400" dirty="0">
                <a:solidFill>
                  <a:srgbClr val="171717"/>
                </a:solidFill>
                <a:latin typeface="Segoe UI" panose="020B0502040204020203" pitchFamily="34" charset="0"/>
              </a:rPr>
              <a:t> – Pod IP addresses are allocated from a </a:t>
            </a:r>
            <a:r>
              <a:rPr lang="en-US" sz="1400" b="1" u="sng" dirty="0">
                <a:solidFill>
                  <a:srgbClr val="171717"/>
                </a:solidFill>
                <a:latin typeface="Segoe UI" panose="020B0502040204020203" pitchFamily="34" charset="0"/>
              </a:rPr>
              <a:t>separate subnet</a:t>
            </a:r>
            <a:r>
              <a:rPr lang="en-US" sz="1400" dirty="0">
                <a:solidFill>
                  <a:srgbClr val="171717"/>
                </a:solidFill>
                <a:latin typeface="Segoe UI" panose="020B0502040204020203" pitchFamily="34" charset="0"/>
              </a:rPr>
              <a:t> in </a:t>
            </a:r>
            <a:r>
              <a:rPr lang="en-US" sz="1400" dirty="0" err="1">
                <a:solidFill>
                  <a:srgbClr val="171717"/>
                </a:solidFill>
                <a:latin typeface="Segoe UI" panose="020B0502040204020203" pitchFamily="34" charset="0"/>
              </a:rPr>
              <a:t>VNet</a:t>
            </a:r>
            <a:r>
              <a:rPr lang="en-US" sz="1400" dirty="0">
                <a:solidFill>
                  <a:srgbClr val="171717"/>
                </a:solidFill>
                <a:latin typeface="Segoe UI" panose="020B0502040204020203" pitchFamily="34" charset="0"/>
              </a:rPr>
              <a:t>.</a:t>
            </a:r>
          </a:p>
          <a:p>
            <a:pPr lvl="2">
              <a:buFont typeface="Arial" panose="020B0604020202020204" pitchFamily="34" charset="0"/>
              <a:buChar char="•"/>
            </a:pPr>
            <a:r>
              <a:rPr lang="en-US" sz="1400" b="1" i="1" dirty="0">
                <a:solidFill>
                  <a:srgbClr val="171717"/>
                </a:solidFill>
                <a:latin typeface="Segoe UI" panose="020B0502040204020203" pitchFamily="34" charset="0"/>
              </a:rPr>
              <a:t>Azure CNI Overlay</a:t>
            </a:r>
            <a:r>
              <a:rPr lang="en-US" sz="1400" dirty="0">
                <a:solidFill>
                  <a:srgbClr val="171717"/>
                </a:solidFill>
                <a:latin typeface="Segoe UI" panose="020B0502040204020203" pitchFamily="34" charset="0"/>
              </a:rPr>
              <a:t> - Pod IP addresses are allocated from an</a:t>
            </a:r>
            <a:r>
              <a:rPr lang="en-US" sz="1400" b="1" u="sng" dirty="0">
                <a:solidFill>
                  <a:srgbClr val="171717"/>
                </a:solidFill>
                <a:latin typeface="Segoe UI" panose="020B0502040204020203" pitchFamily="34" charset="0"/>
              </a:rPr>
              <a:t> internal/separate subnet.</a:t>
            </a:r>
            <a:endParaRPr lang="en-US" sz="1400" dirty="0">
              <a:solidFill>
                <a:srgbClr val="171717"/>
              </a:solidFill>
              <a:latin typeface="Segoe UI" panose="020B0502040204020203" pitchFamily="34" charset="0"/>
            </a:endParaRPr>
          </a:p>
          <a:p>
            <a:pPr lvl="1">
              <a:buFont typeface="Arial" panose="020B0604020202020204" pitchFamily="34" charset="0"/>
              <a:buChar char="•"/>
            </a:pPr>
            <a:r>
              <a:rPr lang="en-US" sz="1400" dirty="0">
                <a:solidFill>
                  <a:srgbClr val="171717"/>
                </a:solidFill>
                <a:latin typeface="Segoe UI" panose="020B0502040204020203" pitchFamily="34" charset="0"/>
              </a:rPr>
              <a:t> Both CNI versions can be enhanced by enabling </a:t>
            </a:r>
            <a:r>
              <a:rPr lang="en-US" sz="1400" dirty="0">
                <a:solidFill>
                  <a:srgbClr val="171717"/>
                </a:solidFill>
                <a:latin typeface="Segoe UI" panose="020B0502040204020203" pitchFamily="34" charset="0"/>
                <a:hlinkClick r:id="rId3"/>
              </a:rPr>
              <a:t>Cilium</a:t>
            </a:r>
            <a:r>
              <a:rPr lang="en-US" sz="1400" dirty="0">
                <a:solidFill>
                  <a:srgbClr val="171717"/>
                </a:solidFill>
                <a:latin typeface="Segoe UI" panose="020B0502040204020203" pitchFamily="34" charset="0"/>
              </a:rPr>
              <a:t> data plane and network policies. Azure CNI Powered by Cilium unlocks </a:t>
            </a:r>
            <a:r>
              <a:rPr lang="en-US" sz="1400" dirty="0" err="1">
                <a:solidFill>
                  <a:srgbClr val="171717"/>
                </a:solidFill>
                <a:latin typeface="Segoe UI" panose="020B0502040204020203" pitchFamily="34" charset="0"/>
              </a:rPr>
              <a:t>eBPF</a:t>
            </a:r>
            <a:r>
              <a:rPr lang="en-US" sz="1400" dirty="0">
                <a:solidFill>
                  <a:srgbClr val="171717"/>
                </a:solidFill>
                <a:latin typeface="Segoe UI" panose="020B0502040204020203" pitchFamily="34" charset="0"/>
              </a:rPr>
              <a:t> networking and observability features.</a:t>
            </a:r>
          </a:p>
          <a:p>
            <a:pPr lvl="1">
              <a:buFont typeface="Arial" panose="020B0604020202020204" pitchFamily="34" charset="0"/>
              <a:buChar char="•"/>
            </a:pPr>
            <a:endParaRPr lang="en-US" sz="1400" dirty="0">
              <a:solidFill>
                <a:srgbClr val="171717"/>
              </a:solidFill>
              <a:latin typeface="Segoe UI" panose="020B0502040204020203" pitchFamily="34" charset="0"/>
            </a:endParaRPr>
          </a:p>
          <a:p>
            <a:pPr>
              <a:buFont typeface="Arial" panose="020B0604020202020204" pitchFamily="34" charset="0"/>
              <a:buChar char="•"/>
            </a:pPr>
            <a:r>
              <a:rPr lang="en-US" sz="1600" b="1" i="1" dirty="0"/>
              <a:t> Bring your own Container Network Interface (CNI) plugin</a:t>
            </a:r>
            <a:endParaRPr lang="en-US" sz="1600" i="1" dirty="0">
              <a:solidFill>
                <a:srgbClr val="171717"/>
              </a:solidFill>
              <a:latin typeface="Segoe UI" panose="020B0502040204020203" pitchFamily="34" charset="0"/>
            </a:endParaRPr>
          </a:p>
          <a:p>
            <a:endParaRPr lang="en-US" sz="1400" dirty="0">
              <a:solidFill>
                <a:srgbClr val="171717"/>
              </a:solidFill>
              <a:latin typeface="Segoe UI" panose="020B0502040204020203" pitchFamily="34" charset="0"/>
            </a:endParaRPr>
          </a:p>
        </p:txBody>
      </p:sp>
      <p:sp>
        <p:nvSpPr>
          <p:cNvPr id="17" name="Footer Placeholder 6">
            <a:extLst>
              <a:ext uri="{FF2B5EF4-FFF2-40B4-BE49-F238E27FC236}">
                <a16:creationId xmlns:a16="http://schemas.microsoft.com/office/drawing/2014/main" id="{723EE2E4-F8D5-04E2-4212-C5F1652C8195}"/>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8" name="Slide Number Placeholder 5">
            <a:extLst>
              <a:ext uri="{FF2B5EF4-FFF2-40B4-BE49-F238E27FC236}">
                <a16:creationId xmlns:a16="http://schemas.microsoft.com/office/drawing/2014/main" id="{4034CFD2-E2C2-6171-C383-3B107F9DFDBD}"/>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879629496"/>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8CEF-511A-0078-2B09-F7B10AC6DB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280ED2-51C3-B5AE-4ADB-C9A86C11C306}"/>
              </a:ext>
            </a:extLst>
          </p:cNvPr>
          <p:cNvSpPr>
            <a:spLocks noGrp="1"/>
          </p:cNvSpPr>
          <p:nvPr>
            <p:ph type="title"/>
          </p:nvPr>
        </p:nvSpPr>
        <p:spPr>
          <a:xfrm>
            <a:off x="575481" y="1085599"/>
            <a:ext cx="4555319" cy="553998"/>
          </a:xfrm>
        </p:spPr>
        <p:txBody>
          <a:bodyPr>
            <a:spAutoFit/>
          </a:bodyPr>
          <a:lstStyle/>
          <a:p>
            <a:r>
              <a:rPr lang="en-US" dirty="0"/>
              <a:t>CNI Pod Subnet</a:t>
            </a:r>
          </a:p>
        </p:txBody>
      </p:sp>
      <p:sp>
        <p:nvSpPr>
          <p:cNvPr id="42" name="Rectangle 41">
            <a:extLst>
              <a:ext uri="{FF2B5EF4-FFF2-40B4-BE49-F238E27FC236}">
                <a16:creationId xmlns:a16="http://schemas.microsoft.com/office/drawing/2014/main" id="{BAE280C6-3D86-B69A-95B6-124F44357AE5}"/>
              </a:ext>
            </a:extLst>
          </p:cNvPr>
          <p:cNvSpPr/>
          <p:nvPr/>
        </p:nvSpPr>
        <p:spPr>
          <a:xfrm>
            <a:off x="571501" y="2262862"/>
            <a:ext cx="4991100" cy="3200876"/>
          </a:xfrm>
          <a:prstGeom prst="rect">
            <a:avLst/>
          </a:prstGeom>
          <a:noFill/>
        </p:spPr>
        <p:txBody>
          <a:bodyPr wrap="square" lIns="0" tIns="0" rIns="0" bIns="0" anchor="t">
            <a:spAutoFit/>
          </a:bodyPr>
          <a:lstStyle/>
          <a:p>
            <a:pPr marL="346075" indent="-346075">
              <a:buFont typeface="Arial" panose="020B0604020202020204" pitchFamily="34" charset="0"/>
              <a:buChar char="•"/>
            </a:pPr>
            <a:r>
              <a:rPr lang="en-GB" sz="1600" b="1" u="sng" dirty="0"/>
              <a:t>Azure CNI with Dynamic IP</a:t>
            </a:r>
            <a:r>
              <a:rPr lang="en-GB" sz="1600" dirty="0"/>
              <a:t> allows Pods to be allocated IP addresses from a </a:t>
            </a:r>
            <a:r>
              <a:rPr lang="en-GB" sz="1600" b="1" u="sng" dirty="0"/>
              <a:t>separate subnet</a:t>
            </a:r>
            <a:r>
              <a:rPr lang="en-GB" sz="1600" dirty="0"/>
              <a:t> within the cluster’s VNET.</a:t>
            </a:r>
            <a:endParaRPr lang="en-US" sz="1600" dirty="0">
              <a:solidFill>
                <a:srgbClr val="171717"/>
              </a:solidFill>
            </a:endParaRPr>
          </a:p>
          <a:p>
            <a:pPr marL="346075" indent="-346075">
              <a:buFont typeface="Arial" panose="020B0604020202020204" pitchFamily="34" charset="0"/>
              <a:buChar char="•"/>
            </a:pPr>
            <a:r>
              <a:rPr lang="en-US" sz="1600" dirty="0">
                <a:solidFill>
                  <a:srgbClr val="171717"/>
                </a:solidFill>
              </a:rPr>
              <a:t>Pods get IP addresses from the subnet and are </a:t>
            </a:r>
            <a:r>
              <a:rPr lang="en-US" sz="1600" b="1" u="sng" dirty="0">
                <a:solidFill>
                  <a:srgbClr val="171717"/>
                </a:solidFill>
              </a:rPr>
              <a:t>directly accessible from other devices</a:t>
            </a:r>
            <a:r>
              <a:rPr lang="en-US" sz="1600" dirty="0">
                <a:solidFill>
                  <a:srgbClr val="171717"/>
                </a:solidFill>
              </a:rPr>
              <a:t> on the same the VNET.</a:t>
            </a:r>
          </a:p>
          <a:p>
            <a:pPr marL="346075" indent="-346075">
              <a:buFont typeface="Arial" panose="020B0604020202020204" pitchFamily="34" charset="0"/>
              <a:buChar char="•"/>
            </a:pPr>
            <a:r>
              <a:rPr lang="en-US" sz="1600" dirty="0">
                <a:solidFill>
                  <a:srgbClr val="171717"/>
                </a:solidFill>
              </a:rPr>
              <a:t>IP addresses must be unique across the network space.</a:t>
            </a:r>
          </a:p>
          <a:p>
            <a:pPr marL="346075" indent="-346075">
              <a:buFont typeface="Arial" panose="020B0604020202020204" pitchFamily="34" charset="0"/>
              <a:buChar char="•"/>
            </a:pPr>
            <a:r>
              <a:rPr lang="en-US" sz="1600" dirty="0">
                <a:solidFill>
                  <a:srgbClr val="171717"/>
                </a:solidFill>
              </a:rPr>
              <a:t>The same Pods subnet can be used on multiple clusters.</a:t>
            </a:r>
          </a:p>
          <a:p>
            <a:pPr marL="346075" indent="-346075">
              <a:buFont typeface="Arial" panose="020B0604020202020204" pitchFamily="34" charset="0"/>
              <a:buChar char="•"/>
            </a:pPr>
            <a:r>
              <a:rPr lang="en-US" sz="1600" dirty="0">
                <a:solidFill>
                  <a:srgbClr val="171717"/>
                </a:solidFill>
              </a:rPr>
              <a:t>Requires planning but is less likely to lead to IP address exhaustion because no IPs are pre-allocated and possibly “wasted”.</a:t>
            </a:r>
          </a:p>
        </p:txBody>
      </p:sp>
      <p:sp>
        <p:nvSpPr>
          <p:cNvPr id="5" name="Footer Placeholder 4">
            <a:extLst>
              <a:ext uri="{FF2B5EF4-FFF2-40B4-BE49-F238E27FC236}">
                <a16:creationId xmlns:a16="http://schemas.microsoft.com/office/drawing/2014/main" id="{B38790F6-ED2B-0CA3-6434-6AFCF0325635}"/>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7DA3757C-3797-D5B7-91EC-FCA78E5B2F9B}"/>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pic>
        <p:nvPicPr>
          <p:cNvPr id="3" name="Content Placeholder 2" descr="Graphical user interface, application&#10;&#10;Description automatically generated">
            <a:extLst>
              <a:ext uri="{FF2B5EF4-FFF2-40B4-BE49-F238E27FC236}">
                <a16:creationId xmlns:a16="http://schemas.microsoft.com/office/drawing/2014/main" id="{F40716BA-2AF5-936B-3BEF-8DC9E90D3C9F}"/>
              </a:ext>
            </a:extLst>
          </p:cNvPr>
          <p:cNvPicPr>
            <a:picLocks noGrp="1" noChangeAspect="1"/>
          </p:cNvPicPr>
          <p:nvPr>
            <p:ph sz="quarter" idx="11"/>
          </p:nvPr>
        </p:nvPicPr>
        <p:blipFill>
          <a:blip r:embed="rId3">
            <a:extLst>
              <a:ext uri="{28A0092B-C50C-407E-A947-70E740481C1C}">
                <a14:useLocalDpi xmlns:a14="http://schemas.microsoft.com/office/drawing/2010/main" val="0"/>
              </a:ext>
            </a:extLst>
          </a:blip>
          <a:stretch>
            <a:fillRect/>
          </a:stretch>
        </p:blipFill>
        <p:spPr>
          <a:xfrm>
            <a:off x="6298692" y="1057902"/>
            <a:ext cx="5600700" cy="4943726"/>
          </a:xfrm>
          <a:prstGeom prst="rect">
            <a:avLst/>
          </a:prstGeom>
          <a:ln>
            <a:noFill/>
          </a:ln>
        </p:spPr>
      </p:pic>
    </p:spTree>
    <p:extLst>
      <p:ext uri="{BB962C8B-B14F-4D97-AF65-F5344CB8AC3E}">
        <p14:creationId xmlns:p14="http://schemas.microsoft.com/office/powerpoint/2010/main" val="295538880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3E3E7-956E-92AA-2A36-28FF533C43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AC0A7A-8BA6-C14C-FF7E-59D1934BDD67}"/>
              </a:ext>
            </a:extLst>
          </p:cNvPr>
          <p:cNvSpPr>
            <a:spLocks noGrp="1"/>
          </p:cNvSpPr>
          <p:nvPr>
            <p:ph type="title"/>
          </p:nvPr>
        </p:nvSpPr>
        <p:spPr>
          <a:xfrm>
            <a:off x="575481" y="1085599"/>
            <a:ext cx="4555319" cy="553998"/>
          </a:xfrm>
        </p:spPr>
        <p:txBody>
          <a:bodyPr>
            <a:spAutoFit/>
          </a:bodyPr>
          <a:lstStyle/>
          <a:p>
            <a:r>
              <a:rPr lang="en-US" dirty="0"/>
              <a:t>CNI Overlay</a:t>
            </a:r>
          </a:p>
        </p:txBody>
      </p:sp>
      <p:sp>
        <p:nvSpPr>
          <p:cNvPr id="42" name="Rectangle 41">
            <a:extLst>
              <a:ext uri="{FF2B5EF4-FFF2-40B4-BE49-F238E27FC236}">
                <a16:creationId xmlns:a16="http://schemas.microsoft.com/office/drawing/2014/main" id="{36EA3903-A740-B362-5C85-D2B3A80FBC6F}"/>
              </a:ext>
            </a:extLst>
          </p:cNvPr>
          <p:cNvSpPr/>
          <p:nvPr/>
        </p:nvSpPr>
        <p:spPr>
          <a:xfrm>
            <a:off x="571501" y="2262862"/>
            <a:ext cx="4991100" cy="3570208"/>
          </a:xfrm>
          <a:prstGeom prst="rect">
            <a:avLst/>
          </a:prstGeom>
          <a:noFill/>
        </p:spPr>
        <p:txBody>
          <a:bodyPr wrap="square" lIns="0" tIns="0" rIns="0" bIns="0" anchor="t">
            <a:spAutoFit/>
          </a:bodyPr>
          <a:lstStyle/>
          <a:p>
            <a:pPr marL="342900" indent="-342900">
              <a:buFont typeface="Arial" panose="020B0604020202020204" pitchFamily="34" charset="0"/>
              <a:buChar char="•"/>
            </a:pPr>
            <a:r>
              <a:rPr lang="en-GB" sz="2400" b="1" u="sng" dirty="0"/>
              <a:t>Azure CNI Overlay </a:t>
            </a:r>
            <a:r>
              <a:rPr lang="en-US" sz="2400" dirty="0">
                <a:solidFill>
                  <a:srgbClr val="171717"/>
                </a:solidFill>
              </a:rPr>
              <a:t>is the default network plugin when no plugin is specified:</a:t>
            </a:r>
          </a:p>
          <a:p>
            <a:endParaRPr lang="en-GB" sz="2400" b="1" i="1" dirty="0">
              <a:solidFill>
                <a:srgbClr val="FF0000"/>
              </a:solidFill>
            </a:endParaRPr>
          </a:p>
          <a:p>
            <a:pPr marL="685800" lvl="1">
              <a:spcAft>
                <a:spcPts val="600"/>
              </a:spcAft>
              <a:buFont typeface="Arial" panose="020B0604020202020204" pitchFamily="34" charset="0"/>
              <a:buChar char="•"/>
            </a:pPr>
            <a:r>
              <a:rPr lang="en-GB" dirty="0"/>
              <a:t> Recommended configuration for most production clusters.</a:t>
            </a:r>
            <a:endParaRPr lang="en-US" dirty="0"/>
          </a:p>
          <a:p>
            <a:pPr marL="685800" lvl="1">
              <a:spcBef>
                <a:spcPts val="0"/>
              </a:spcBef>
              <a:spcAft>
                <a:spcPts val="600"/>
              </a:spcAft>
              <a:buFont typeface="Arial" panose="020B0604020202020204" pitchFamily="34" charset="0"/>
              <a:buChar char="•"/>
            </a:pPr>
            <a:r>
              <a:rPr lang="en-US" dirty="0"/>
              <a:t> Pods receive IP addresses from an internal address space, </a:t>
            </a:r>
            <a:r>
              <a:rPr lang="en-US" b="1" u="sng" dirty="0"/>
              <a:t>logically different from the Nodes’ </a:t>
            </a:r>
            <a:r>
              <a:rPr lang="en-US" b="1" u="sng" dirty="0" err="1"/>
              <a:t>Vnet</a:t>
            </a:r>
            <a:r>
              <a:rPr lang="en-US" b="1" u="sng" dirty="0"/>
              <a:t>,</a:t>
            </a:r>
            <a:r>
              <a:rPr lang="en-US" dirty="0"/>
              <a:t> therefore </a:t>
            </a:r>
            <a:r>
              <a:rPr lang="en-US" b="1" u="sng" dirty="0"/>
              <a:t>NOT</a:t>
            </a:r>
            <a:r>
              <a:rPr lang="en-US" dirty="0"/>
              <a:t> directly accessible from outside the cluster.</a:t>
            </a:r>
          </a:p>
          <a:p>
            <a:pPr marL="685800" lvl="1">
              <a:spcBef>
                <a:spcPts val="0"/>
              </a:spcBef>
              <a:spcAft>
                <a:spcPts val="600"/>
              </a:spcAft>
              <a:buFont typeface="Arial" panose="020B0604020202020204" pitchFamily="34" charset="0"/>
              <a:buChar char="•"/>
            </a:pPr>
            <a:r>
              <a:rPr lang="en-US" dirty="0"/>
              <a:t> External access goes through a NAT layer</a:t>
            </a:r>
          </a:p>
        </p:txBody>
      </p:sp>
      <p:sp>
        <p:nvSpPr>
          <p:cNvPr id="5" name="Footer Placeholder 4">
            <a:extLst>
              <a:ext uri="{FF2B5EF4-FFF2-40B4-BE49-F238E27FC236}">
                <a16:creationId xmlns:a16="http://schemas.microsoft.com/office/drawing/2014/main" id="{CDB646D1-5A97-8941-EC3E-A4AF04FB2FE3}"/>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0721D090-9F83-92F8-EA31-41FF6DB46E31}"/>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pic>
        <p:nvPicPr>
          <p:cNvPr id="8" name="Picture 2" descr="A diagram showing two nodes with three pods each running in an Overlay network. Pod traffic to endpoints outside the cluster is routed via NAT.">
            <a:extLst>
              <a:ext uri="{FF2B5EF4-FFF2-40B4-BE49-F238E27FC236}">
                <a16:creationId xmlns:a16="http://schemas.microsoft.com/office/drawing/2014/main" id="{FBEADA09-117B-CFE8-C683-B2572A411A12}"/>
              </a:ext>
            </a:extLst>
          </p:cNvPr>
          <p:cNvPicPr>
            <a:picLocks noGrp="1" noChangeAspect="1" noChangeArrowheads="1"/>
          </p:cNvPicPr>
          <p:nvPr>
            <p:ph sz="quarter" idx="11"/>
          </p:nvPr>
        </p:nvPicPr>
        <p:blipFill>
          <a:blip r:embed="rId3">
            <a:extLst>
              <a:ext uri="{28A0092B-C50C-407E-A947-70E740481C1C}">
                <a14:useLocalDpi xmlns:a14="http://schemas.microsoft.com/office/drawing/2010/main" val="0"/>
              </a:ext>
            </a:extLst>
          </a:blip>
          <a:srcRect/>
          <a:stretch>
            <a:fillRect/>
          </a:stretch>
        </p:blipFill>
        <p:spPr bwMode="auto">
          <a:xfrm>
            <a:off x="6272784" y="1943610"/>
            <a:ext cx="5828728" cy="3956533"/>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1072704"/>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6C3D8-A313-C373-AC73-DEAC2093A67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637410D-6021-4353-332F-44F169C8C067}"/>
              </a:ext>
            </a:extLst>
          </p:cNvPr>
          <p:cNvSpPr>
            <a:spLocks noGrp="1"/>
          </p:cNvSpPr>
          <p:nvPr>
            <p:ph type="title"/>
          </p:nvPr>
        </p:nvSpPr>
        <p:spPr>
          <a:xfrm>
            <a:off x="575481" y="1085599"/>
            <a:ext cx="11045019" cy="553998"/>
          </a:xfrm>
        </p:spPr>
        <p:txBody>
          <a:bodyPr/>
          <a:lstStyle/>
          <a:p>
            <a:r>
              <a:rPr lang="en-US" dirty="0"/>
              <a:t>CNI Overlay - Benefits</a:t>
            </a:r>
          </a:p>
        </p:txBody>
      </p:sp>
      <p:sp>
        <p:nvSpPr>
          <p:cNvPr id="10" name="Rectangle 9">
            <a:extLst>
              <a:ext uri="{FF2B5EF4-FFF2-40B4-BE49-F238E27FC236}">
                <a16:creationId xmlns:a16="http://schemas.microsoft.com/office/drawing/2014/main" id="{B98EEB21-B55F-DDE2-88A9-C19C77359FAD}"/>
              </a:ext>
            </a:extLst>
          </p:cNvPr>
          <p:cNvSpPr>
            <a:spLocks/>
          </p:cNvSpPr>
          <p:nvPr/>
        </p:nvSpPr>
        <p:spPr>
          <a:xfrm>
            <a:off x="575482" y="2278401"/>
            <a:ext cx="11045018" cy="2277547"/>
          </a:xfrm>
          <a:prstGeom prst="rect">
            <a:avLst/>
          </a:prstGeom>
          <a:solidFill>
            <a:schemeClr val="bg1">
              <a:lumMod val="95000"/>
            </a:schemeClr>
          </a:solidFill>
          <a:effectLst>
            <a:outerShdw dist="38100" dir="10800000" algn="r" rotWithShape="0">
              <a:schemeClr val="tx2"/>
            </a:outerShdw>
          </a:effectLst>
        </p:spPr>
        <p:txBody>
          <a:bodyPr wrap="square" lIns="137160" tIns="137160" rIns="137160" bIns="137160" anchor="t" anchorCtr="0">
            <a:spAutoFit/>
          </a:bodyPr>
          <a:lstStyle/>
          <a:p>
            <a:pPr marL="342900" indent="-342900">
              <a:spcBef>
                <a:spcPts val="0"/>
              </a:spcBef>
              <a:spcAft>
                <a:spcPts val="600"/>
              </a:spcAft>
              <a:buFont typeface="Arial" panose="020B0604020202020204" pitchFamily="34" charset="0"/>
              <a:buChar char="•"/>
            </a:pPr>
            <a:r>
              <a:rPr lang="en-GB" sz="1600" b="1" u="sng" dirty="0"/>
              <a:t>Azure CNI Overlay benefits:</a:t>
            </a:r>
            <a:endParaRPr lang="en-GB" sz="1600" dirty="0">
              <a:solidFill>
                <a:srgbClr val="FF0000"/>
              </a:solidFill>
            </a:endParaRPr>
          </a:p>
          <a:p>
            <a:pPr marL="800100" lvl="1" indent="-342900">
              <a:spcBef>
                <a:spcPts val="0"/>
              </a:spcBef>
              <a:spcAft>
                <a:spcPts val="600"/>
              </a:spcAft>
              <a:buFont typeface="Arial" panose="020B0604020202020204" pitchFamily="34" charset="0"/>
              <a:buChar char="•"/>
            </a:pPr>
            <a:r>
              <a:rPr lang="en-GB" sz="1400" dirty="0"/>
              <a:t>Supports larger clusters: max 1000 nodes and 250 pods/node	</a:t>
            </a:r>
          </a:p>
          <a:p>
            <a:pPr marL="800100" lvl="1" indent="-342900">
              <a:spcBef>
                <a:spcPts val="0"/>
              </a:spcBef>
              <a:spcAft>
                <a:spcPts val="600"/>
              </a:spcAft>
              <a:buFont typeface="Arial" panose="020B0604020202020204" pitchFamily="34" charset="0"/>
              <a:buChar char="•"/>
            </a:pPr>
            <a:r>
              <a:rPr lang="en-GB" sz="1400" dirty="0"/>
              <a:t>Simple network configuration: no additional configuration required for pod networking (no route tables or UDR required)</a:t>
            </a:r>
          </a:p>
          <a:p>
            <a:pPr marL="800100" lvl="1" indent="-342900">
              <a:spcBef>
                <a:spcPts val="0"/>
              </a:spcBef>
              <a:spcAft>
                <a:spcPts val="600"/>
              </a:spcAft>
              <a:buFont typeface="Arial" panose="020B0604020202020204" pitchFamily="34" charset="0"/>
              <a:buChar char="•"/>
            </a:pPr>
            <a:r>
              <a:rPr lang="en-GB" sz="1400" dirty="0"/>
              <a:t>Pod connectivity performance on par with VMs in a </a:t>
            </a:r>
            <a:r>
              <a:rPr lang="en-GB" sz="1400" dirty="0" err="1"/>
              <a:t>Vnet</a:t>
            </a:r>
            <a:endParaRPr lang="en-GB" sz="1400" dirty="0"/>
          </a:p>
          <a:p>
            <a:pPr marL="800100" lvl="1" indent="-342900">
              <a:spcAft>
                <a:spcPts val="600"/>
              </a:spcAft>
              <a:buFont typeface="Arial" panose="020B0604020202020204" pitchFamily="34" charset="0"/>
              <a:buChar char="•"/>
            </a:pPr>
            <a:r>
              <a:rPr lang="en-GB" sz="1400" dirty="0"/>
              <a:t>Supports Egress Gateway</a:t>
            </a:r>
          </a:p>
          <a:p>
            <a:pPr marL="800100" lvl="1" indent="-342900">
              <a:spcBef>
                <a:spcPts val="0"/>
              </a:spcBef>
              <a:spcAft>
                <a:spcPts val="600"/>
              </a:spcAft>
              <a:buFont typeface="Arial" panose="020B0604020202020204" pitchFamily="34" charset="0"/>
              <a:buChar char="•"/>
            </a:pPr>
            <a:r>
              <a:rPr lang="en-GB" sz="1400" dirty="0"/>
              <a:t>Supports several Kubernetes Network Policy plugins: Azure, Calico, Cilium</a:t>
            </a:r>
          </a:p>
          <a:p>
            <a:pPr marL="800100" lvl="1" indent="-342900">
              <a:spcBef>
                <a:spcPts val="0"/>
              </a:spcBef>
              <a:spcAft>
                <a:spcPts val="600"/>
              </a:spcAft>
              <a:buFont typeface="Arial" panose="020B0604020202020204" pitchFamily="34" charset="0"/>
              <a:buChar char="•"/>
            </a:pPr>
            <a:r>
              <a:rPr lang="en-GB" sz="1400" dirty="0"/>
              <a:t>Supports both Linux and Windows Server 2022 nodes</a:t>
            </a:r>
          </a:p>
        </p:txBody>
      </p:sp>
      <p:sp>
        <p:nvSpPr>
          <p:cNvPr id="17" name="Footer Placeholder 6">
            <a:extLst>
              <a:ext uri="{FF2B5EF4-FFF2-40B4-BE49-F238E27FC236}">
                <a16:creationId xmlns:a16="http://schemas.microsoft.com/office/drawing/2014/main" id="{AB9A61A1-8B49-3C78-CC34-7B378D533D1B}"/>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8" name="Slide Number Placeholder 5">
            <a:extLst>
              <a:ext uri="{FF2B5EF4-FFF2-40B4-BE49-F238E27FC236}">
                <a16:creationId xmlns:a16="http://schemas.microsoft.com/office/drawing/2014/main" id="{38CEF518-40B3-E546-25D2-B814888F4DC1}"/>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475418583"/>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6EAA3-DF83-5B1A-CFD9-0CF9659DB20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E36795E-B1BD-C079-85CE-04B1496FC5F8}"/>
              </a:ext>
            </a:extLst>
          </p:cNvPr>
          <p:cNvSpPr>
            <a:spLocks noGrp="1"/>
          </p:cNvSpPr>
          <p:nvPr>
            <p:ph type="title"/>
          </p:nvPr>
        </p:nvSpPr>
        <p:spPr>
          <a:xfrm>
            <a:off x="575481" y="1085599"/>
            <a:ext cx="11045019" cy="553998"/>
          </a:xfrm>
        </p:spPr>
        <p:txBody>
          <a:bodyPr/>
          <a:lstStyle/>
          <a:p>
            <a:r>
              <a:rPr lang="en-US" dirty="0"/>
              <a:t>CNI Comparison</a:t>
            </a:r>
          </a:p>
        </p:txBody>
      </p:sp>
      <p:sp>
        <p:nvSpPr>
          <p:cNvPr id="17" name="Footer Placeholder 6">
            <a:extLst>
              <a:ext uri="{FF2B5EF4-FFF2-40B4-BE49-F238E27FC236}">
                <a16:creationId xmlns:a16="http://schemas.microsoft.com/office/drawing/2014/main" id="{8D7062FA-B3AB-8C1C-5957-DF712CF28790}"/>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8" name="Slide Number Placeholder 5">
            <a:extLst>
              <a:ext uri="{FF2B5EF4-FFF2-40B4-BE49-F238E27FC236}">
                <a16:creationId xmlns:a16="http://schemas.microsoft.com/office/drawing/2014/main" id="{87E0FD9E-788B-EB98-B993-6B67430747C9}"/>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17</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graphicFrame>
        <p:nvGraphicFramePr>
          <p:cNvPr id="2" name="Table 3">
            <a:extLst>
              <a:ext uri="{FF2B5EF4-FFF2-40B4-BE49-F238E27FC236}">
                <a16:creationId xmlns:a16="http://schemas.microsoft.com/office/drawing/2014/main" id="{1ABEE0E5-7CB8-0655-DF06-78A78A2B8273}"/>
              </a:ext>
            </a:extLst>
          </p:cNvPr>
          <p:cNvGraphicFramePr>
            <a:graphicFrameLocks noGrp="1"/>
          </p:cNvGraphicFramePr>
          <p:nvPr>
            <p:extLst>
              <p:ext uri="{D42A27DB-BD31-4B8C-83A1-F6EECF244321}">
                <p14:modId xmlns:p14="http://schemas.microsoft.com/office/powerpoint/2010/main" val="3056558780"/>
              </p:ext>
            </p:extLst>
          </p:nvPr>
        </p:nvGraphicFramePr>
        <p:xfrm>
          <a:off x="470918" y="2050513"/>
          <a:ext cx="11149582" cy="4572000"/>
        </p:xfrm>
        <a:graphic>
          <a:graphicData uri="http://schemas.openxmlformats.org/drawingml/2006/table">
            <a:tbl>
              <a:tblPr firstRow="1" bandRow="1">
                <a:tableStyleId>{5C22544A-7EE6-4342-B048-85BDC9FD1C3A}</a:tableStyleId>
              </a:tblPr>
              <a:tblGrid>
                <a:gridCol w="3749417">
                  <a:extLst>
                    <a:ext uri="{9D8B030D-6E8A-4147-A177-3AD203B41FA5}">
                      <a16:colId xmlns:a16="http://schemas.microsoft.com/office/drawing/2014/main" val="1087610069"/>
                    </a:ext>
                  </a:extLst>
                </a:gridCol>
                <a:gridCol w="4538768">
                  <a:extLst>
                    <a:ext uri="{9D8B030D-6E8A-4147-A177-3AD203B41FA5}">
                      <a16:colId xmlns:a16="http://schemas.microsoft.com/office/drawing/2014/main" val="408518744"/>
                    </a:ext>
                  </a:extLst>
                </a:gridCol>
                <a:gridCol w="2861397">
                  <a:extLst>
                    <a:ext uri="{9D8B030D-6E8A-4147-A177-3AD203B41FA5}">
                      <a16:colId xmlns:a16="http://schemas.microsoft.com/office/drawing/2014/main" val="432369856"/>
                    </a:ext>
                  </a:extLst>
                </a:gridCol>
              </a:tblGrid>
              <a:tr h="406524">
                <a:tc>
                  <a:txBody>
                    <a:bodyPr/>
                    <a:lstStyle/>
                    <a:p>
                      <a:r>
                        <a:rPr lang="en-US" sz="1600" dirty="0"/>
                        <a:t>Area</a:t>
                      </a:r>
                    </a:p>
                  </a:txBody>
                  <a:tcPr/>
                </a:tc>
                <a:tc>
                  <a:txBody>
                    <a:bodyPr/>
                    <a:lstStyle/>
                    <a:p>
                      <a:r>
                        <a:rPr lang="en-US" sz="1600" dirty="0"/>
                        <a:t>Azure CNI Dynamic</a:t>
                      </a:r>
                    </a:p>
                  </a:txBody>
                  <a:tcPr/>
                </a:tc>
                <a:tc>
                  <a:txBody>
                    <a:bodyPr/>
                    <a:lstStyle/>
                    <a:p>
                      <a:r>
                        <a:rPr lang="en-US" sz="1600" dirty="0"/>
                        <a:t>Azure CNI Overlay</a:t>
                      </a:r>
                    </a:p>
                  </a:txBody>
                  <a:tcPr/>
                </a:tc>
                <a:extLst>
                  <a:ext uri="{0D108BD9-81ED-4DB2-BD59-A6C34878D82A}">
                    <a16:rowId xmlns:a16="http://schemas.microsoft.com/office/drawing/2014/main" val="2497889987"/>
                  </a:ext>
                </a:extLst>
              </a:tr>
              <a:tr h="406524">
                <a:tc>
                  <a:txBody>
                    <a:bodyPr/>
                    <a:lstStyle/>
                    <a:p>
                      <a:r>
                        <a:rPr lang="en-US" sz="1600" dirty="0"/>
                        <a:t>Limited IP space</a:t>
                      </a:r>
                    </a:p>
                  </a:txBody>
                  <a:tcPr/>
                </a:tc>
                <a:tc>
                  <a:txBody>
                    <a:bodyPr/>
                    <a:lstStyle/>
                    <a:p>
                      <a:r>
                        <a:rPr lang="en-US" sz="1600" dirty="0"/>
                        <a:t>IPs part of </a:t>
                      </a:r>
                      <a:r>
                        <a:rPr lang="en-US" sz="1600" dirty="0" err="1"/>
                        <a:t>VNet</a:t>
                      </a:r>
                      <a:endParaRPr lang="en-US" sz="1600" dirty="0"/>
                    </a:p>
                  </a:txBody>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600" dirty="0"/>
                        <a:t>Internal IPs</a:t>
                      </a:r>
                    </a:p>
                  </a:txBody>
                  <a:tcPr/>
                </a:tc>
                <a:extLst>
                  <a:ext uri="{0D108BD9-81ED-4DB2-BD59-A6C34878D82A}">
                    <a16:rowId xmlns:a16="http://schemas.microsoft.com/office/drawing/2014/main" val="2889769607"/>
                  </a:ext>
                </a:extLst>
              </a:tr>
              <a:tr h="406524">
                <a:tc>
                  <a:txBody>
                    <a:bodyPr/>
                    <a:lstStyle/>
                    <a:p>
                      <a:r>
                        <a:rPr lang="en-US" sz="1600" dirty="0"/>
                        <a:t>Cluster size (max nodes)</a:t>
                      </a:r>
                    </a:p>
                  </a:txBody>
                  <a:tcPr/>
                </a:tc>
                <a:tc>
                  <a:txBody>
                    <a:bodyPr/>
                    <a:lstStyle/>
                    <a:p>
                      <a:r>
                        <a:rPr lang="en-US" sz="1600" dirty="0"/>
                        <a:t>5000</a:t>
                      </a:r>
                    </a:p>
                  </a:txBody>
                  <a:tcPr/>
                </a:tc>
                <a:tc>
                  <a:txBody>
                    <a:bodyPr/>
                    <a:lstStyle/>
                    <a:p>
                      <a:r>
                        <a:rPr lang="en-US" sz="1600" dirty="0"/>
                        <a:t>1000</a:t>
                      </a:r>
                    </a:p>
                  </a:txBody>
                  <a:tcPr/>
                </a:tc>
                <a:extLst>
                  <a:ext uri="{0D108BD9-81ED-4DB2-BD59-A6C34878D82A}">
                    <a16:rowId xmlns:a16="http://schemas.microsoft.com/office/drawing/2014/main" val="475408437"/>
                  </a:ext>
                </a:extLst>
              </a:tr>
              <a:tr h="406524">
                <a:tc>
                  <a:txBody>
                    <a:bodyPr/>
                    <a:lstStyle/>
                    <a:p>
                      <a:r>
                        <a:rPr lang="en-US" sz="1600" dirty="0"/>
                        <a:t>Pods per node (default/max)</a:t>
                      </a:r>
                    </a:p>
                  </a:txBody>
                  <a:tcPr/>
                </a:tc>
                <a:tc>
                  <a:txBody>
                    <a:bodyPr/>
                    <a:lstStyle/>
                    <a:p>
                      <a:r>
                        <a:rPr lang="en-US" sz="1600" dirty="0"/>
                        <a:t>30/250</a:t>
                      </a:r>
                    </a:p>
                  </a:txBody>
                  <a:tcPr/>
                </a:tc>
                <a:tc>
                  <a:txBody>
                    <a:bodyPr/>
                    <a:lstStyle/>
                    <a:p>
                      <a:r>
                        <a:rPr lang="en-US" sz="1600" dirty="0"/>
                        <a:t>250/250</a:t>
                      </a:r>
                    </a:p>
                  </a:txBody>
                  <a:tcPr/>
                </a:tc>
                <a:extLst>
                  <a:ext uri="{0D108BD9-81ED-4DB2-BD59-A6C34878D82A}">
                    <a16:rowId xmlns:a16="http://schemas.microsoft.com/office/drawing/2014/main" val="2772877277"/>
                  </a:ext>
                </a:extLst>
              </a:tr>
              <a:tr h="634845">
                <a:tc>
                  <a:txBody>
                    <a:bodyPr/>
                    <a:lstStyle/>
                    <a:p>
                      <a:r>
                        <a:rPr lang="en-US" sz="1600" dirty="0"/>
                        <a:t>Internal network configuration</a:t>
                      </a:r>
                    </a:p>
                  </a:txBody>
                  <a:tcPr/>
                </a:tc>
                <a:tc>
                  <a:txBody>
                    <a:bodyPr/>
                    <a:lstStyle/>
                    <a:p>
                      <a:r>
                        <a:rPr lang="en-US" sz="1600" dirty="0"/>
                        <a:t>Integrated into existing </a:t>
                      </a:r>
                      <a:r>
                        <a:rPr lang="en-US" sz="1600" dirty="0" err="1"/>
                        <a:t>Vnet</a:t>
                      </a:r>
                      <a:endParaRPr lang="en-US" sz="1600" dirty="0"/>
                    </a:p>
                  </a:txBody>
                  <a:tcPr/>
                </a:tc>
                <a:tc>
                  <a:txBody>
                    <a:bodyPr/>
                    <a:lstStyle/>
                    <a:p>
                      <a:r>
                        <a:rPr lang="en-US" sz="1600" dirty="0"/>
                        <a:t>Simple</a:t>
                      </a:r>
                    </a:p>
                  </a:txBody>
                  <a:tcPr/>
                </a:tc>
                <a:extLst>
                  <a:ext uri="{0D108BD9-81ED-4DB2-BD59-A6C34878D82A}">
                    <a16:rowId xmlns:a16="http://schemas.microsoft.com/office/drawing/2014/main" val="1589722431"/>
                  </a:ext>
                </a:extLst>
              </a:tr>
              <a:tr h="634845">
                <a:tc>
                  <a:txBody>
                    <a:bodyPr/>
                    <a:lstStyle/>
                    <a:p>
                      <a:r>
                        <a:rPr lang="en-US" sz="1600" dirty="0"/>
                        <a:t>Pod connectivity performance</a:t>
                      </a:r>
                    </a:p>
                  </a:txBody>
                  <a:tcPr/>
                </a:tc>
                <a:tc>
                  <a:txBody>
                    <a:bodyPr/>
                    <a:lstStyle/>
                    <a:p>
                      <a:r>
                        <a:rPr lang="en-US" sz="1600" b="0" i="0" kern="1200" dirty="0">
                          <a:solidFill>
                            <a:schemeClr val="dk1"/>
                          </a:solidFill>
                          <a:effectLst/>
                          <a:latin typeface="+mn-lt"/>
                          <a:ea typeface="+mn-ea"/>
                          <a:cs typeface="+mn-cs"/>
                        </a:rPr>
                        <a:t>On par with VMs in a </a:t>
                      </a:r>
                      <a:r>
                        <a:rPr lang="en-US" sz="1600" b="0" i="0" kern="1200" dirty="0" err="1">
                          <a:solidFill>
                            <a:schemeClr val="dk1"/>
                          </a:solidFill>
                          <a:effectLst/>
                          <a:latin typeface="+mn-lt"/>
                          <a:ea typeface="+mn-ea"/>
                          <a:cs typeface="+mn-cs"/>
                        </a:rPr>
                        <a:t>VNet</a:t>
                      </a:r>
                      <a:endParaRPr lang="en-US" sz="1600" dirty="0"/>
                    </a:p>
                  </a:txBody>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600" b="0" i="0" kern="1200" dirty="0">
                          <a:solidFill>
                            <a:schemeClr val="dk1"/>
                          </a:solidFill>
                          <a:effectLst/>
                          <a:latin typeface="+mn-lt"/>
                          <a:ea typeface="+mn-ea"/>
                          <a:cs typeface="+mn-cs"/>
                        </a:rPr>
                        <a:t>On par with VMs in a </a:t>
                      </a:r>
                      <a:r>
                        <a:rPr lang="en-US" sz="1600" b="0" i="0" kern="1200" dirty="0" err="1">
                          <a:solidFill>
                            <a:schemeClr val="dk1"/>
                          </a:solidFill>
                          <a:effectLst/>
                          <a:latin typeface="+mn-lt"/>
                          <a:ea typeface="+mn-ea"/>
                          <a:cs typeface="+mn-cs"/>
                        </a:rPr>
                        <a:t>VNet</a:t>
                      </a:r>
                      <a:endParaRPr lang="en-US" sz="1600" dirty="0"/>
                    </a:p>
                  </a:txBody>
                  <a:tcPr/>
                </a:tc>
                <a:extLst>
                  <a:ext uri="{0D108BD9-81ED-4DB2-BD59-A6C34878D82A}">
                    <a16:rowId xmlns:a16="http://schemas.microsoft.com/office/drawing/2014/main" val="308523359"/>
                  </a:ext>
                </a:extLst>
              </a:tr>
              <a:tr h="634845">
                <a:tc>
                  <a:txBody>
                    <a:bodyPr/>
                    <a:lstStyle/>
                    <a:p>
                      <a:r>
                        <a:rPr lang="en-US" sz="1600" dirty="0"/>
                        <a:t>Network Policies</a:t>
                      </a:r>
                    </a:p>
                  </a:txBody>
                  <a:tcPr/>
                </a:tc>
                <a:tc>
                  <a:txBody>
                    <a:bodyPr/>
                    <a:lstStyle/>
                    <a:p>
                      <a:r>
                        <a:rPr lang="en-US" sz="1600" b="0" i="0" kern="1200" dirty="0">
                          <a:solidFill>
                            <a:schemeClr val="dk1"/>
                          </a:solidFill>
                          <a:effectLst/>
                          <a:latin typeface="+mn-lt"/>
                          <a:ea typeface="+mn-ea"/>
                          <a:cs typeface="+mn-cs"/>
                        </a:rPr>
                        <a:t>Azure Network Policies, Calico, Cilium</a:t>
                      </a:r>
                      <a:endParaRPr lang="en-US" sz="1600" dirty="0"/>
                    </a:p>
                  </a:txBody>
                  <a:tcPr/>
                </a:tc>
                <a:tc>
                  <a:txBody>
                    <a:bodyPr/>
                    <a:lstStyle/>
                    <a:p>
                      <a:r>
                        <a:rPr lang="en-US" sz="1600" b="0" i="0" kern="1200" dirty="0">
                          <a:solidFill>
                            <a:schemeClr val="dk1"/>
                          </a:solidFill>
                          <a:effectLst/>
                          <a:latin typeface="+mn-lt"/>
                          <a:ea typeface="+mn-ea"/>
                          <a:cs typeface="+mn-cs"/>
                        </a:rPr>
                        <a:t>Azure Network Policies, Calico, Cilium</a:t>
                      </a:r>
                      <a:endParaRPr lang="en-US" sz="1600" dirty="0"/>
                    </a:p>
                  </a:txBody>
                  <a:tcPr/>
                </a:tc>
                <a:extLst>
                  <a:ext uri="{0D108BD9-81ED-4DB2-BD59-A6C34878D82A}">
                    <a16:rowId xmlns:a16="http://schemas.microsoft.com/office/drawing/2014/main" val="3948462215"/>
                  </a:ext>
                </a:extLst>
              </a:tr>
              <a:tr h="634845">
                <a:tc>
                  <a:txBody>
                    <a:bodyPr/>
                    <a:lstStyle/>
                    <a:p>
                      <a:r>
                        <a:rPr lang="en-US" sz="1600" dirty="0"/>
                        <a:t>OS Supported</a:t>
                      </a:r>
                    </a:p>
                  </a:txBody>
                  <a:tcPr/>
                </a:tc>
                <a:tc>
                  <a:txBody>
                    <a:bodyPr/>
                    <a:lstStyle/>
                    <a:p>
                      <a:r>
                        <a:rPr lang="en-US" sz="1600" dirty="0"/>
                        <a:t>Linux, Windows Server 2019, 2022</a:t>
                      </a:r>
                    </a:p>
                  </a:txBody>
                  <a:tcPr/>
                </a:tc>
                <a:tc>
                  <a:txBody>
                    <a:bodyPr/>
                    <a:lstStyle/>
                    <a:p>
                      <a:r>
                        <a:rPr lang="en-US" sz="1600" dirty="0"/>
                        <a:t>Linux, Windows Server 2022</a:t>
                      </a:r>
                    </a:p>
                  </a:txBody>
                  <a:tcPr/>
                </a:tc>
                <a:extLst>
                  <a:ext uri="{0D108BD9-81ED-4DB2-BD59-A6C34878D82A}">
                    <a16:rowId xmlns:a16="http://schemas.microsoft.com/office/drawing/2014/main" val="1560158662"/>
                  </a:ext>
                </a:extLst>
              </a:tr>
              <a:tr h="406524">
                <a:tc>
                  <a:txBody>
                    <a:bodyPr/>
                    <a:lstStyle/>
                    <a:p>
                      <a:r>
                        <a:rPr lang="en-US" sz="1600" dirty="0"/>
                        <a:t>Virtual Nodes supported</a:t>
                      </a:r>
                    </a:p>
                  </a:txBody>
                  <a:tcPr/>
                </a:tc>
                <a:tc>
                  <a:txBody>
                    <a:bodyPr/>
                    <a:lstStyle/>
                    <a:p>
                      <a:r>
                        <a:rPr lang="en-US" sz="1600" dirty="0"/>
                        <a:t>Yes</a:t>
                      </a:r>
                    </a:p>
                  </a:txBody>
                  <a:tcPr/>
                </a:tc>
                <a:tc>
                  <a:txBody>
                    <a:bodyPr/>
                    <a:lstStyle/>
                    <a:p>
                      <a:r>
                        <a:rPr lang="en-US" sz="1600" dirty="0"/>
                        <a:t>No</a:t>
                      </a:r>
                    </a:p>
                  </a:txBody>
                  <a:tcPr/>
                </a:tc>
                <a:extLst>
                  <a:ext uri="{0D108BD9-81ED-4DB2-BD59-A6C34878D82A}">
                    <a16:rowId xmlns:a16="http://schemas.microsoft.com/office/drawing/2014/main" val="1491568879"/>
                  </a:ext>
                </a:extLst>
              </a:tr>
            </a:tbl>
          </a:graphicData>
        </a:graphic>
      </p:graphicFrame>
    </p:spTree>
    <p:extLst>
      <p:ext uri="{BB962C8B-B14F-4D97-AF65-F5344CB8AC3E}">
        <p14:creationId xmlns:p14="http://schemas.microsoft.com/office/powerpoint/2010/main" val="2527478827"/>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0D799-FFA2-EA29-7C61-8252761994E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2FB95BF-162C-003C-52D6-D34D6E4CF7F3}"/>
              </a:ext>
            </a:extLst>
          </p:cNvPr>
          <p:cNvSpPr>
            <a:spLocks noGrp="1"/>
          </p:cNvSpPr>
          <p:nvPr>
            <p:ph type="title"/>
          </p:nvPr>
        </p:nvSpPr>
        <p:spPr>
          <a:xfrm>
            <a:off x="575481" y="1085599"/>
            <a:ext cx="11045019" cy="553998"/>
          </a:xfrm>
        </p:spPr>
        <p:txBody>
          <a:bodyPr/>
          <a:lstStyle/>
          <a:p>
            <a:r>
              <a:rPr lang="en-US" dirty="0"/>
              <a:t>Selecting the Right Network Plugin</a:t>
            </a:r>
          </a:p>
        </p:txBody>
      </p:sp>
      <p:sp>
        <p:nvSpPr>
          <p:cNvPr id="10" name="Rectangle 9">
            <a:extLst>
              <a:ext uri="{FF2B5EF4-FFF2-40B4-BE49-F238E27FC236}">
                <a16:creationId xmlns:a16="http://schemas.microsoft.com/office/drawing/2014/main" id="{DC6858E6-D89B-4DAC-1C02-943FC5677D23}"/>
              </a:ext>
            </a:extLst>
          </p:cNvPr>
          <p:cNvSpPr>
            <a:spLocks/>
          </p:cNvSpPr>
          <p:nvPr/>
        </p:nvSpPr>
        <p:spPr>
          <a:xfrm>
            <a:off x="577472" y="2283355"/>
            <a:ext cx="11045018" cy="1692771"/>
          </a:xfrm>
          <a:prstGeom prst="rect">
            <a:avLst/>
          </a:prstGeom>
          <a:solidFill>
            <a:schemeClr val="bg1">
              <a:lumMod val="95000"/>
            </a:schemeClr>
          </a:solidFill>
          <a:effectLst>
            <a:outerShdw dist="38100" dir="10800000" algn="r" rotWithShape="0">
              <a:schemeClr val="tx2"/>
            </a:outerShdw>
          </a:effectLst>
        </p:spPr>
        <p:txBody>
          <a:bodyPr wrap="square" lIns="137160" tIns="137160" rIns="137160" bIns="137160" anchor="t" anchorCtr="0">
            <a:spAutoFit/>
          </a:bodyPr>
          <a:lstStyle/>
          <a:p>
            <a:pPr marL="342900" indent="-342900">
              <a:spcBef>
                <a:spcPts val="0"/>
              </a:spcBef>
              <a:spcAft>
                <a:spcPts val="600"/>
              </a:spcAft>
              <a:buFont typeface="Arial" panose="020B0604020202020204" pitchFamily="34" charset="0"/>
              <a:buChar char="•"/>
            </a:pPr>
            <a:r>
              <a:rPr lang="en-US" sz="1600" dirty="0"/>
              <a:t>Use </a:t>
            </a:r>
            <a:r>
              <a:rPr lang="en-US" sz="1600" b="1" dirty="0"/>
              <a:t>Azure CNI Classic/Dynamic</a:t>
            </a:r>
            <a:r>
              <a:rPr lang="en-US" sz="1600" dirty="0"/>
              <a:t> when:</a:t>
            </a:r>
          </a:p>
          <a:p>
            <a:pPr marL="800100" lvl="1" indent="-342900">
              <a:spcBef>
                <a:spcPts val="0"/>
              </a:spcBef>
              <a:spcAft>
                <a:spcPts val="600"/>
              </a:spcAft>
              <a:buFont typeface="Arial" panose="020B0604020202020204" pitchFamily="34" charset="0"/>
              <a:buChar char="•"/>
            </a:pPr>
            <a:r>
              <a:rPr lang="en-US" sz="1400" dirty="0"/>
              <a:t>You have available IP address space.</a:t>
            </a:r>
          </a:p>
          <a:p>
            <a:pPr marL="800100" lvl="1" indent="-342900">
              <a:spcBef>
                <a:spcPts val="0"/>
              </a:spcBef>
              <a:spcAft>
                <a:spcPts val="600"/>
              </a:spcAft>
              <a:buFont typeface="Arial" panose="020B0604020202020204" pitchFamily="34" charset="0"/>
              <a:buChar char="•"/>
            </a:pPr>
            <a:r>
              <a:rPr lang="en-US" sz="1400" dirty="0"/>
              <a:t>Resources outside the cluster need to reach pods directly (like App Gateway or whitelisting IPs).</a:t>
            </a:r>
          </a:p>
          <a:p>
            <a:pPr marL="800100" lvl="1" indent="-342900">
              <a:spcBef>
                <a:spcPts val="0"/>
              </a:spcBef>
              <a:spcAft>
                <a:spcPts val="600"/>
              </a:spcAft>
              <a:buFont typeface="Arial" panose="020B0604020202020204" pitchFamily="34" charset="0"/>
              <a:buChar char="•"/>
            </a:pPr>
            <a:r>
              <a:rPr lang="en-US" sz="1400" dirty="0"/>
              <a:t>Most of the pod communication is to resources outside of the cluster.</a:t>
            </a:r>
          </a:p>
          <a:p>
            <a:pPr marL="800100" lvl="1" indent="-342900">
              <a:spcBef>
                <a:spcPts val="0"/>
              </a:spcBef>
              <a:spcAft>
                <a:spcPts val="600"/>
              </a:spcAft>
              <a:buFont typeface="Arial" panose="020B0604020202020204" pitchFamily="34" charset="0"/>
              <a:buChar char="•"/>
            </a:pPr>
            <a:r>
              <a:rPr lang="en-US" sz="1400" dirty="0"/>
              <a:t>You plan on using Virtual Nodes.</a:t>
            </a:r>
          </a:p>
        </p:txBody>
      </p:sp>
      <p:sp>
        <p:nvSpPr>
          <p:cNvPr id="12" name="Rectangle 11">
            <a:extLst>
              <a:ext uri="{FF2B5EF4-FFF2-40B4-BE49-F238E27FC236}">
                <a16:creationId xmlns:a16="http://schemas.microsoft.com/office/drawing/2014/main" id="{6D03E1E4-1840-2754-0AB5-F40358E9E859}"/>
              </a:ext>
            </a:extLst>
          </p:cNvPr>
          <p:cNvSpPr>
            <a:spLocks/>
          </p:cNvSpPr>
          <p:nvPr/>
        </p:nvSpPr>
        <p:spPr>
          <a:xfrm>
            <a:off x="575481" y="4105490"/>
            <a:ext cx="11045018" cy="1354217"/>
          </a:xfrm>
          <a:prstGeom prst="rect">
            <a:avLst/>
          </a:prstGeom>
          <a:solidFill>
            <a:schemeClr val="bg1">
              <a:lumMod val="95000"/>
            </a:schemeClr>
          </a:solidFill>
          <a:effectLst>
            <a:outerShdw dist="38100" dir="10800000" algn="r" rotWithShape="0">
              <a:schemeClr val="tx2"/>
            </a:outerShdw>
          </a:effectLst>
        </p:spPr>
        <p:txBody>
          <a:bodyPr wrap="square" lIns="137160" tIns="137160" rIns="137160" bIns="137160" anchor="t" anchorCtr="0">
            <a:spAutoFit/>
          </a:bodyPr>
          <a:lstStyle/>
          <a:p>
            <a:pPr marL="342900" indent="-342900">
              <a:spcBef>
                <a:spcPts val="0"/>
              </a:spcBef>
              <a:spcAft>
                <a:spcPts val="600"/>
              </a:spcAft>
              <a:buFont typeface="Arial" panose="020B0604020202020204" pitchFamily="34" charset="0"/>
              <a:buChar char="•"/>
            </a:pPr>
            <a:r>
              <a:rPr lang="en-US" sz="1600" dirty="0"/>
              <a:t>Use </a:t>
            </a:r>
            <a:r>
              <a:rPr lang="en-US" sz="1600" b="1" dirty="0"/>
              <a:t>Azure CNI Overlay</a:t>
            </a:r>
            <a:r>
              <a:rPr lang="en-US" sz="1600" dirty="0"/>
              <a:t> </a:t>
            </a:r>
            <a:r>
              <a:rPr lang="en-GB" sz="1600" dirty="0"/>
              <a:t>for clusters that require large scale, simplified IP management, or Windows Server 2022 nodes</a:t>
            </a:r>
            <a:r>
              <a:rPr lang="en-US" sz="1600" dirty="0"/>
              <a:t>:</a:t>
            </a:r>
          </a:p>
          <a:p>
            <a:pPr marL="800100" lvl="1" indent="-342900">
              <a:spcBef>
                <a:spcPts val="0"/>
              </a:spcBef>
              <a:spcAft>
                <a:spcPts val="600"/>
              </a:spcAft>
              <a:buFont typeface="Arial" panose="020B0604020202020204" pitchFamily="34" charset="0"/>
              <a:buChar char="•"/>
            </a:pPr>
            <a:r>
              <a:rPr lang="en-US" sz="1400" dirty="0"/>
              <a:t>Also need Windows 2022 nodes.</a:t>
            </a:r>
          </a:p>
          <a:p>
            <a:pPr marL="800100" lvl="1" indent="-342900">
              <a:spcBef>
                <a:spcPts val="0"/>
              </a:spcBef>
              <a:spcAft>
                <a:spcPts val="600"/>
              </a:spcAft>
              <a:buFont typeface="Arial" panose="020B0604020202020204" pitchFamily="34" charset="0"/>
              <a:buChar char="•"/>
            </a:pPr>
            <a:r>
              <a:rPr lang="en-US" sz="1400" dirty="0"/>
              <a:t>Want to use Azure Network Policies</a:t>
            </a:r>
          </a:p>
        </p:txBody>
      </p:sp>
      <p:sp>
        <p:nvSpPr>
          <p:cNvPr id="13" name="Rectangle 12">
            <a:extLst>
              <a:ext uri="{FF2B5EF4-FFF2-40B4-BE49-F238E27FC236}">
                <a16:creationId xmlns:a16="http://schemas.microsoft.com/office/drawing/2014/main" id="{FB0C401C-084F-7082-1A34-EC3446656F40}"/>
              </a:ext>
            </a:extLst>
          </p:cNvPr>
          <p:cNvSpPr>
            <a:spLocks/>
          </p:cNvSpPr>
          <p:nvPr/>
        </p:nvSpPr>
        <p:spPr>
          <a:xfrm>
            <a:off x="577472" y="5595875"/>
            <a:ext cx="11045018" cy="769441"/>
          </a:xfrm>
          <a:prstGeom prst="rect">
            <a:avLst/>
          </a:prstGeom>
          <a:solidFill>
            <a:schemeClr val="bg1">
              <a:lumMod val="95000"/>
            </a:schemeClr>
          </a:solidFill>
          <a:effectLst>
            <a:outerShdw dist="38100" dir="10800000" algn="r" rotWithShape="0">
              <a:schemeClr val="tx2"/>
            </a:outerShdw>
          </a:effectLst>
        </p:spPr>
        <p:txBody>
          <a:bodyPr wrap="square" lIns="137160" tIns="137160" rIns="137160" bIns="137160" anchor="t" anchorCtr="0">
            <a:spAutoFit/>
          </a:bodyPr>
          <a:lstStyle/>
          <a:p>
            <a:pPr marL="342900" indent="-342900">
              <a:spcBef>
                <a:spcPts val="0"/>
              </a:spcBef>
              <a:spcAft>
                <a:spcPts val="600"/>
              </a:spcAft>
              <a:buFont typeface="Arial" panose="020B0604020202020204" pitchFamily="34" charset="0"/>
              <a:buChar char="•"/>
            </a:pPr>
            <a:r>
              <a:rPr lang="en-US" sz="1600" dirty="0"/>
              <a:t>Use </a:t>
            </a:r>
            <a:r>
              <a:rPr lang="en-US" sz="1600" b="1" dirty="0"/>
              <a:t>Azure CNI Powered By Cilium </a:t>
            </a:r>
            <a:r>
              <a:rPr lang="en-US" sz="1600" dirty="0"/>
              <a:t>either on Overlay or Dynamic mode</a:t>
            </a:r>
            <a:r>
              <a:rPr lang="en-US" sz="1600" b="1" dirty="0"/>
              <a:t> </a:t>
            </a:r>
            <a:r>
              <a:rPr lang="en-US" sz="1600" dirty="0"/>
              <a:t>to take advantage of advanced networking and </a:t>
            </a:r>
            <a:r>
              <a:rPr lang="en-US" sz="1600" dirty="0" err="1"/>
              <a:t>eBPF</a:t>
            </a:r>
            <a:r>
              <a:rPr lang="en-US" sz="1600" dirty="0"/>
              <a:t> based features.</a:t>
            </a:r>
          </a:p>
        </p:txBody>
      </p:sp>
      <p:sp>
        <p:nvSpPr>
          <p:cNvPr id="17" name="Footer Placeholder 6">
            <a:extLst>
              <a:ext uri="{FF2B5EF4-FFF2-40B4-BE49-F238E27FC236}">
                <a16:creationId xmlns:a16="http://schemas.microsoft.com/office/drawing/2014/main" id="{9FD3B4C6-3FF3-BD80-4499-CF2511C33890}"/>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8" name="Slide Number Placeholder 5">
            <a:extLst>
              <a:ext uri="{FF2B5EF4-FFF2-40B4-BE49-F238E27FC236}">
                <a16:creationId xmlns:a16="http://schemas.microsoft.com/office/drawing/2014/main" id="{F7CC6758-75FC-1C22-9429-65BCA9C13A49}"/>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18</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414101078"/>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29303-81D3-79FB-007F-05027D73755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CF4B453-F013-9747-F939-B108119D56B1}"/>
              </a:ext>
            </a:extLst>
          </p:cNvPr>
          <p:cNvSpPr>
            <a:spLocks noGrp="1"/>
          </p:cNvSpPr>
          <p:nvPr>
            <p:ph type="title"/>
          </p:nvPr>
        </p:nvSpPr>
        <p:spPr>
          <a:xfrm>
            <a:off x="575481" y="1085599"/>
            <a:ext cx="11045019" cy="553998"/>
          </a:xfrm>
        </p:spPr>
        <p:txBody>
          <a:bodyPr/>
          <a:lstStyle/>
          <a:p>
            <a:r>
              <a:rPr lang="en-US" dirty="0"/>
              <a:t>Bring Your Own CNI plugin with AKS</a:t>
            </a:r>
          </a:p>
        </p:txBody>
      </p:sp>
      <p:sp>
        <p:nvSpPr>
          <p:cNvPr id="10" name="Rectangle 9">
            <a:extLst>
              <a:ext uri="{FF2B5EF4-FFF2-40B4-BE49-F238E27FC236}">
                <a16:creationId xmlns:a16="http://schemas.microsoft.com/office/drawing/2014/main" id="{B9E6FA0A-EF62-78B5-D18F-F1E8D60B5506}"/>
              </a:ext>
            </a:extLst>
          </p:cNvPr>
          <p:cNvSpPr>
            <a:spLocks/>
          </p:cNvSpPr>
          <p:nvPr/>
        </p:nvSpPr>
        <p:spPr>
          <a:xfrm>
            <a:off x="577472" y="2283355"/>
            <a:ext cx="11045018" cy="3600986"/>
          </a:xfrm>
          <a:prstGeom prst="rect">
            <a:avLst/>
          </a:prstGeom>
          <a:solidFill>
            <a:schemeClr val="bg1">
              <a:lumMod val="95000"/>
            </a:schemeClr>
          </a:solidFill>
          <a:effectLst>
            <a:outerShdw dist="38100" dir="10800000" algn="r" rotWithShape="0">
              <a:schemeClr val="tx2"/>
            </a:outerShdw>
          </a:effectLst>
        </p:spPr>
        <p:txBody>
          <a:bodyPr wrap="square" lIns="137160" tIns="137160" rIns="137160" bIns="137160" anchor="t" anchorCtr="0">
            <a:spAutoFit/>
          </a:bodyPr>
          <a:lstStyle/>
          <a:p>
            <a:pPr marL="457200" indent="-338138">
              <a:buFont typeface="Arial" panose="020B0604020202020204" pitchFamily="34" charset="0"/>
              <a:buChar char="•"/>
            </a:pPr>
            <a:r>
              <a:rPr lang="en-US" sz="1600" dirty="0"/>
              <a:t>Advanced users of AKS may wish to utilize the same CNI plugin used in on-premises Kubernetes environments or to make use of specific advanced functionality available in other CNI plugins not available in Azure CNI.</a:t>
            </a:r>
          </a:p>
          <a:p>
            <a:pPr marL="457200" indent="-338138">
              <a:buFont typeface="Arial" panose="020B0604020202020204" pitchFamily="34" charset="0"/>
              <a:buChar char="•"/>
            </a:pPr>
            <a:r>
              <a:rPr lang="en-US" sz="1600" dirty="0"/>
              <a:t>Certain requirements must be met for AKS to work with an external CNI Plugin:</a:t>
            </a:r>
          </a:p>
          <a:p>
            <a:pPr marL="804863" lvl="2" indent="-347663">
              <a:buFont typeface="Arial" panose="020B0604020202020204" pitchFamily="34" charset="0"/>
              <a:buChar char="•"/>
            </a:pPr>
            <a:r>
              <a:rPr lang="en-US" sz="1600" dirty="0"/>
              <a:t>The virtual network for the AKS cluster must allow outbound internet connectivity.</a:t>
            </a:r>
          </a:p>
          <a:p>
            <a:pPr marL="804863" lvl="2" indent="-347663">
              <a:buFont typeface="Arial" panose="020B0604020202020204" pitchFamily="34" charset="0"/>
              <a:buChar char="•"/>
            </a:pPr>
            <a:r>
              <a:rPr lang="en-US" sz="1600" dirty="0"/>
              <a:t>AKS clusters may not use </a:t>
            </a:r>
            <a:r>
              <a:rPr lang="en-US" sz="1600" b="1" dirty="0"/>
              <a:t>169.254.0.0/16</a:t>
            </a:r>
            <a:r>
              <a:rPr lang="en-US" sz="1600" dirty="0"/>
              <a:t>, </a:t>
            </a:r>
            <a:r>
              <a:rPr lang="en-US" sz="1600" b="1" dirty="0"/>
              <a:t>172.30.0.0/16</a:t>
            </a:r>
            <a:r>
              <a:rPr lang="en-US" sz="1600" dirty="0"/>
              <a:t>, </a:t>
            </a:r>
            <a:r>
              <a:rPr lang="en-US" sz="1600" b="1" dirty="0"/>
              <a:t>172.31.0.0/16</a:t>
            </a:r>
            <a:r>
              <a:rPr lang="en-US" sz="1600" dirty="0"/>
              <a:t>, or </a:t>
            </a:r>
            <a:r>
              <a:rPr lang="en-US" sz="1600" b="1" dirty="0"/>
              <a:t>192.0.2.0/24</a:t>
            </a:r>
            <a:r>
              <a:rPr lang="en-US" sz="1600" dirty="0"/>
              <a:t> for Kubernetes service address range, pod address range, or cluster virtual network address range.</a:t>
            </a:r>
          </a:p>
          <a:p>
            <a:pPr marL="804863" lvl="2" indent="-347663">
              <a:buFont typeface="Arial" panose="020B0604020202020204" pitchFamily="34" charset="0"/>
              <a:buChar char="•"/>
            </a:pPr>
            <a:r>
              <a:rPr lang="en-US" sz="1600" dirty="0"/>
              <a:t>The cluster identity used by the AKS cluster must have at least Network Contributor permissions on the subnet within your virtual network. </a:t>
            </a:r>
          </a:p>
          <a:p>
            <a:pPr marL="804863" lvl="2" indent="-347663">
              <a:buFont typeface="Arial" panose="020B0604020202020204" pitchFamily="34" charset="0"/>
              <a:buChar char="•"/>
            </a:pPr>
            <a:r>
              <a:rPr lang="en-US" sz="1600" dirty="0"/>
              <a:t>The subnet assigned to the AKS node pool cannot be a delegated subnet.</a:t>
            </a:r>
          </a:p>
          <a:p>
            <a:pPr marL="804863" lvl="2" indent="-347663">
              <a:buFont typeface="Arial" panose="020B0604020202020204" pitchFamily="34" charset="0"/>
              <a:buChar char="•"/>
            </a:pPr>
            <a:r>
              <a:rPr lang="en-US" sz="1600" dirty="0"/>
              <a:t>AKS doesn't apply Network Security Groups (NSGs) to its subnet and will not modify any of the NSGs associated with that subnet.</a:t>
            </a:r>
          </a:p>
          <a:p>
            <a:pPr marL="804863" lvl="2" indent="-347663">
              <a:buFont typeface="Arial" panose="020B0604020202020204" pitchFamily="34" charset="0"/>
              <a:buChar char="•"/>
            </a:pPr>
            <a:r>
              <a:rPr lang="en-US" sz="1600" b="1" u="sng" dirty="0"/>
              <a:t>Microsoft support will not be able to assist with CNI-related issues in BYOCNI clusters</a:t>
            </a:r>
          </a:p>
          <a:p>
            <a:pPr marL="457200" indent="-338138">
              <a:buFont typeface="Arial" panose="020B0604020202020204" pitchFamily="34" charset="0"/>
              <a:buChar char="•"/>
            </a:pPr>
            <a:endParaRPr lang="en-US" sz="2400" dirty="0"/>
          </a:p>
        </p:txBody>
      </p:sp>
      <p:sp>
        <p:nvSpPr>
          <p:cNvPr id="17" name="Footer Placeholder 6">
            <a:extLst>
              <a:ext uri="{FF2B5EF4-FFF2-40B4-BE49-F238E27FC236}">
                <a16:creationId xmlns:a16="http://schemas.microsoft.com/office/drawing/2014/main" id="{8168C731-100F-8A42-E433-91FD49F85F77}"/>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8" name="Slide Number Placeholder 5">
            <a:extLst>
              <a:ext uri="{FF2B5EF4-FFF2-40B4-BE49-F238E27FC236}">
                <a16:creationId xmlns:a16="http://schemas.microsoft.com/office/drawing/2014/main" id="{19AC0840-4B14-B3B9-9412-2FC87F85DF1A}"/>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001816231"/>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BC3AF-E93D-F9FC-C9F7-17520B6A82E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8E57337-803B-8422-78D4-C4E7BD657C04}"/>
              </a:ext>
            </a:extLst>
          </p:cNvPr>
          <p:cNvSpPr>
            <a:spLocks noGrp="1"/>
          </p:cNvSpPr>
          <p:nvPr>
            <p:ph type="title"/>
            <p:custDataLst>
              <p:custData r:id="rId2"/>
            </p:custDataLst>
          </p:nvPr>
        </p:nvSpPr>
        <p:spPr>
          <a:xfrm>
            <a:off x="584200" y="4334637"/>
            <a:ext cx="9169400" cy="1015663"/>
          </a:xfrm>
        </p:spPr>
        <p:txBody>
          <a:bodyPr/>
          <a:lstStyle/>
          <a:p>
            <a:r>
              <a:rPr lang="en-US" dirty="0"/>
              <a:t>AKS Ingress</a:t>
            </a:r>
          </a:p>
        </p:txBody>
      </p:sp>
      <p:sp>
        <p:nvSpPr>
          <p:cNvPr id="2" name="Text Placeholder 1">
            <a:extLst>
              <a:ext uri="{FF2B5EF4-FFF2-40B4-BE49-F238E27FC236}">
                <a16:creationId xmlns:a16="http://schemas.microsoft.com/office/drawing/2014/main" id="{A0A8E7D7-2451-427F-FC9A-6CD3BF79F214}"/>
              </a:ext>
            </a:extLst>
          </p:cNvPr>
          <p:cNvSpPr>
            <a:spLocks noGrp="1"/>
          </p:cNvSpPr>
          <p:nvPr>
            <p:ph type="body" sz="quarter" idx="12"/>
          </p:nvPr>
        </p:nvSpPr>
        <p:spPr/>
        <p:txBody>
          <a:bodyPr/>
          <a:lstStyle/>
          <a:p>
            <a:r>
              <a:rPr lang="en-US" dirty="0"/>
              <a:t>Exploring the different options</a:t>
            </a:r>
          </a:p>
        </p:txBody>
      </p:sp>
      <p:sp>
        <p:nvSpPr>
          <p:cNvPr id="11" name="Footer Placeholder 2">
            <a:extLst>
              <a:ext uri="{FF2B5EF4-FFF2-40B4-BE49-F238E27FC236}">
                <a16:creationId xmlns:a16="http://schemas.microsoft.com/office/drawing/2014/main" id="{D9A41DD9-8BF5-9BC7-DE2F-61676405C037}"/>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2AD3ED17-F9A7-A140-E4A3-3D9C4C574B57}"/>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20</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pic>
        <p:nvPicPr>
          <p:cNvPr id="3" name="Picture 2" descr="Kubernetes Icons Set &amp; Kubernetes ressources map #kubernetes - Qiita">
            <a:extLst>
              <a:ext uri="{FF2B5EF4-FFF2-40B4-BE49-F238E27FC236}">
                <a16:creationId xmlns:a16="http://schemas.microsoft.com/office/drawing/2014/main" id="{0D933B9E-29D6-6F82-A201-9E1108922DC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5000" y="907407"/>
            <a:ext cx="24384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8" descr="Home - Courscape">
            <a:extLst>
              <a:ext uri="{FF2B5EF4-FFF2-40B4-BE49-F238E27FC236}">
                <a16:creationId xmlns:a16="http://schemas.microsoft.com/office/drawing/2014/main" id="{7904316E-3D25-5062-1D34-45BC4235713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49163" y="1603248"/>
            <a:ext cx="1840230" cy="184023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Nginx logo - Social media &amp; Logos Icons">
            <a:extLst>
              <a:ext uri="{FF2B5EF4-FFF2-40B4-BE49-F238E27FC236}">
                <a16:creationId xmlns:a16="http://schemas.microsoft.com/office/drawing/2014/main" id="{2F184809-DEE4-F732-FC49-E2556BFFC5F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42197" y="4063527"/>
            <a:ext cx="1769268" cy="1769268"/>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48300799"/>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12BCD-8CF0-6187-DABB-8C9B42DF4B2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678546F-A48A-8974-A9CC-CA00576B76BD}"/>
              </a:ext>
            </a:extLst>
          </p:cNvPr>
          <p:cNvSpPr>
            <a:spLocks noGrp="1"/>
          </p:cNvSpPr>
          <p:nvPr>
            <p:ph type="title"/>
          </p:nvPr>
        </p:nvSpPr>
        <p:spPr>
          <a:xfrm>
            <a:off x="575481" y="1085599"/>
            <a:ext cx="11045019" cy="553998"/>
          </a:xfrm>
        </p:spPr>
        <p:txBody>
          <a:bodyPr/>
          <a:lstStyle/>
          <a:p>
            <a:r>
              <a:rPr lang="en-US" dirty="0"/>
              <a:t>Kubernetes Ingress API</a:t>
            </a:r>
          </a:p>
        </p:txBody>
      </p:sp>
      <p:sp>
        <p:nvSpPr>
          <p:cNvPr id="10" name="Rectangle 9">
            <a:extLst>
              <a:ext uri="{FF2B5EF4-FFF2-40B4-BE49-F238E27FC236}">
                <a16:creationId xmlns:a16="http://schemas.microsoft.com/office/drawing/2014/main" id="{99C1E06A-EB68-ACE0-C6E7-C5C722114FB6}"/>
              </a:ext>
            </a:extLst>
          </p:cNvPr>
          <p:cNvSpPr>
            <a:spLocks/>
          </p:cNvSpPr>
          <p:nvPr/>
        </p:nvSpPr>
        <p:spPr>
          <a:xfrm>
            <a:off x="577472" y="2283355"/>
            <a:ext cx="11045018" cy="1754326"/>
          </a:xfrm>
          <a:prstGeom prst="rect">
            <a:avLst/>
          </a:prstGeom>
          <a:solidFill>
            <a:schemeClr val="bg1">
              <a:lumMod val="95000"/>
            </a:schemeClr>
          </a:solidFill>
          <a:effectLst>
            <a:outerShdw dist="38100" dir="10800000" algn="r" rotWithShape="0">
              <a:schemeClr val="tx2"/>
            </a:outerShdw>
          </a:effectLst>
        </p:spPr>
        <p:txBody>
          <a:bodyPr wrap="square" lIns="137160" tIns="137160" rIns="137160" bIns="137160" anchor="t" anchorCtr="0">
            <a:spAutoFit/>
          </a:bodyPr>
          <a:lstStyle/>
          <a:p>
            <a:pPr marL="457200" indent="-457200">
              <a:buFont typeface="Arial" panose="020B0604020202020204" pitchFamily="34" charset="0"/>
              <a:buChar char="•"/>
            </a:pPr>
            <a:r>
              <a:rPr lang="en-US" sz="1600" dirty="0"/>
              <a:t>To provide access to a workload running on Kubernetes, it must have an IP address which is accessible from outside the cluster. While you could assign Load Balancer IPs to multiple services, you will have to deal with IP address exhaustion in the Load Balancer subnet.</a:t>
            </a:r>
          </a:p>
          <a:p>
            <a:pPr marL="457200" indent="-457200">
              <a:buFont typeface="Arial" panose="020B0604020202020204" pitchFamily="34" charset="0"/>
              <a:buChar char="•"/>
            </a:pPr>
            <a:r>
              <a:rPr lang="en-US" sz="1600" dirty="0"/>
              <a:t>Although Ingress is a core Kubernetes resource in its API, it is not possible to provide access through an Ingress without first provisioning an </a:t>
            </a:r>
            <a:r>
              <a:rPr lang="en-US" sz="1600" b="1" dirty="0"/>
              <a:t>ingress controller</a:t>
            </a:r>
            <a:r>
              <a:rPr lang="en-US" sz="1600" dirty="0"/>
              <a:t> in the cluster.</a:t>
            </a:r>
          </a:p>
          <a:p>
            <a:pPr marL="457200" indent="-457200">
              <a:buFont typeface="Arial" panose="020B0604020202020204" pitchFamily="34" charset="0"/>
              <a:buChar char="•"/>
            </a:pPr>
            <a:r>
              <a:rPr lang="en-US" sz="1600" dirty="0"/>
              <a:t>Ingress controllers provide advanced capabilities at Layer 7, such as path-based routing.</a:t>
            </a:r>
          </a:p>
        </p:txBody>
      </p:sp>
      <p:sp>
        <p:nvSpPr>
          <p:cNvPr id="17" name="Footer Placeholder 6">
            <a:extLst>
              <a:ext uri="{FF2B5EF4-FFF2-40B4-BE49-F238E27FC236}">
                <a16:creationId xmlns:a16="http://schemas.microsoft.com/office/drawing/2014/main" id="{98EC6923-057F-D81B-9E3D-5811DF213359}"/>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8" name="Slide Number Placeholder 5">
            <a:extLst>
              <a:ext uri="{FF2B5EF4-FFF2-40B4-BE49-F238E27FC236}">
                <a16:creationId xmlns:a16="http://schemas.microsoft.com/office/drawing/2014/main" id="{698C2C7D-2308-932C-2A53-41DBDE3D7B63}"/>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21</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pic>
        <p:nvPicPr>
          <p:cNvPr id="2" name="Picture 2" descr="Diagram showing Ingress traffic flow in an AKS cluster">
            <a:extLst>
              <a:ext uri="{FF2B5EF4-FFF2-40B4-BE49-F238E27FC236}">
                <a16:creationId xmlns:a16="http://schemas.microsoft.com/office/drawing/2014/main" id="{D0DD769B-B41C-E85E-5FF2-7D4B094940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5859" y="4409912"/>
            <a:ext cx="6060281" cy="1757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4049741"/>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F93CB-91BE-8865-E21F-F7B76A68255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6328A77-EE53-3E52-B6D1-6FC581C0BEC8}"/>
              </a:ext>
            </a:extLst>
          </p:cNvPr>
          <p:cNvSpPr>
            <a:spLocks noGrp="1"/>
          </p:cNvSpPr>
          <p:nvPr>
            <p:ph type="title"/>
          </p:nvPr>
        </p:nvSpPr>
        <p:spPr>
          <a:xfrm>
            <a:off x="575481" y="1085599"/>
            <a:ext cx="11045019" cy="553998"/>
          </a:xfrm>
        </p:spPr>
        <p:txBody>
          <a:bodyPr/>
          <a:lstStyle/>
          <a:p>
            <a:r>
              <a:rPr lang="en-US" dirty="0"/>
              <a:t>Kubernetes Gateway API</a:t>
            </a:r>
          </a:p>
        </p:txBody>
      </p:sp>
      <p:sp>
        <p:nvSpPr>
          <p:cNvPr id="10" name="Rectangle 9">
            <a:extLst>
              <a:ext uri="{FF2B5EF4-FFF2-40B4-BE49-F238E27FC236}">
                <a16:creationId xmlns:a16="http://schemas.microsoft.com/office/drawing/2014/main" id="{40C057DB-EEE5-FAFF-731C-4FD1534AE9A0}"/>
              </a:ext>
            </a:extLst>
          </p:cNvPr>
          <p:cNvSpPr>
            <a:spLocks/>
          </p:cNvSpPr>
          <p:nvPr/>
        </p:nvSpPr>
        <p:spPr>
          <a:xfrm>
            <a:off x="577472" y="2283355"/>
            <a:ext cx="6585328" cy="3231654"/>
          </a:xfrm>
          <a:prstGeom prst="rect">
            <a:avLst/>
          </a:prstGeom>
          <a:solidFill>
            <a:schemeClr val="bg1">
              <a:lumMod val="95000"/>
            </a:schemeClr>
          </a:solidFill>
          <a:effectLst>
            <a:outerShdw dist="38100" dir="10800000" algn="r" rotWithShape="0">
              <a:schemeClr val="tx2"/>
            </a:outerShdw>
          </a:effectLst>
        </p:spPr>
        <p:txBody>
          <a:bodyPr wrap="square" lIns="137160" tIns="137160" rIns="137160" bIns="137160" anchor="t" anchorCtr="0">
            <a:spAutoFit/>
          </a:bodyPr>
          <a:lstStyle/>
          <a:p>
            <a:r>
              <a:rPr lang="en-US" sz="1600" dirty="0"/>
              <a:t>Gateway API is the </a:t>
            </a:r>
            <a:r>
              <a:rPr lang="en-US" sz="1600" b="1" dirty="0"/>
              <a:t>evolution of the Ingress API</a:t>
            </a:r>
          </a:p>
          <a:p>
            <a:pPr marL="457200" indent="-457200">
              <a:buFont typeface="Arial" panose="020B0604020202020204" pitchFamily="34" charset="0"/>
              <a:buChar char="•"/>
            </a:pPr>
            <a:r>
              <a:rPr lang="en-US" sz="1600" dirty="0"/>
              <a:t>Separation of concerns:</a:t>
            </a:r>
          </a:p>
          <a:p>
            <a:pPr marL="914400" lvl="1" indent="-457200">
              <a:buFont typeface="Arial" panose="020B0604020202020204" pitchFamily="34" charset="0"/>
              <a:buChar char="•"/>
            </a:pPr>
            <a:r>
              <a:rPr lang="en-US" sz="1400" dirty="0"/>
              <a:t>Infrastructure providers define </a:t>
            </a:r>
            <a:r>
              <a:rPr lang="en-US" sz="1400" dirty="0" err="1"/>
              <a:t>GatewayClass</a:t>
            </a:r>
            <a:endParaRPr lang="en-US" sz="1400" dirty="0"/>
          </a:p>
          <a:p>
            <a:pPr marL="914400" lvl="1" indent="-457200">
              <a:buFont typeface="Arial" panose="020B0604020202020204" pitchFamily="34" charset="0"/>
              <a:buChar char="•"/>
            </a:pPr>
            <a:r>
              <a:rPr lang="en-US" sz="1400" dirty="0"/>
              <a:t>Cluster operators deploy Gateways, which get consumed by Application Developers who create </a:t>
            </a:r>
            <a:r>
              <a:rPr lang="en-US" sz="1400" dirty="0" err="1"/>
              <a:t>TLSRoutes</a:t>
            </a:r>
            <a:r>
              <a:rPr lang="en-US" sz="1400" dirty="0"/>
              <a:t>, </a:t>
            </a:r>
            <a:r>
              <a:rPr lang="en-US" sz="1400" dirty="0" err="1"/>
              <a:t>HTTPRoutes</a:t>
            </a:r>
            <a:r>
              <a:rPr lang="en-US" sz="1400" dirty="0"/>
              <a:t>…</a:t>
            </a:r>
          </a:p>
          <a:p>
            <a:pPr marL="457200" indent="-457200">
              <a:buFont typeface="Arial" panose="020B0604020202020204" pitchFamily="34" charset="0"/>
              <a:buChar char="•"/>
            </a:pPr>
            <a:r>
              <a:rPr lang="en-US" sz="1600" dirty="0"/>
              <a:t>Expose applications over multiple protocols:</a:t>
            </a:r>
          </a:p>
          <a:p>
            <a:pPr marL="914400" lvl="1" indent="-457200">
              <a:buFont typeface="Arial" panose="020B0604020202020204" pitchFamily="34" charset="0"/>
              <a:buChar char="•"/>
            </a:pPr>
            <a:r>
              <a:rPr lang="en-US" sz="1400" dirty="0"/>
              <a:t>TCP</a:t>
            </a:r>
          </a:p>
          <a:p>
            <a:pPr marL="914400" lvl="1" indent="-457200">
              <a:buFont typeface="Arial" panose="020B0604020202020204" pitchFamily="34" charset="0"/>
              <a:buChar char="•"/>
            </a:pPr>
            <a:r>
              <a:rPr lang="en-US" sz="1400" dirty="0"/>
              <a:t>UDP</a:t>
            </a:r>
          </a:p>
          <a:p>
            <a:pPr marL="914400" lvl="1" indent="-457200">
              <a:buFont typeface="Arial" panose="020B0604020202020204" pitchFamily="34" charset="0"/>
              <a:buChar char="•"/>
            </a:pPr>
            <a:r>
              <a:rPr lang="en-US" sz="1400" dirty="0"/>
              <a:t>HTTP</a:t>
            </a:r>
          </a:p>
          <a:p>
            <a:pPr marL="914400" lvl="1" indent="-457200">
              <a:buFont typeface="Arial" panose="020B0604020202020204" pitchFamily="34" charset="0"/>
              <a:buChar char="•"/>
            </a:pPr>
            <a:r>
              <a:rPr lang="en-US" sz="1400" dirty="0"/>
              <a:t>TLS</a:t>
            </a:r>
          </a:p>
          <a:p>
            <a:pPr marL="914400" lvl="1" indent="-457200">
              <a:buFont typeface="Arial" panose="020B0604020202020204" pitchFamily="34" charset="0"/>
              <a:buChar char="•"/>
            </a:pPr>
            <a:r>
              <a:rPr lang="en-US" sz="1400" dirty="0" err="1"/>
              <a:t>gRPC</a:t>
            </a:r>
            <a:endParaRPr lang="en-US" sz="1400" dirty="0"/>
          </a:p>
          <a:p>
            <a:pPr marL="457200" indent="-457200">
              <a:buFont typeface="Arial" panose="020B0604020202020204" pitchFamily="34" charset="0"/>
              <a:buChar char="•"/>
            </a:pPr>
            <a:r>
              <a:rPr lang="en-US" sz="1600" dirty="0"/>
              <a:t>Implemented in Azure with </a:t>
            </a:r>
            <a:r>
              <a:rPr lang="en-US" sz="1600" b="1" u="sng" dirty="0"/>
              <a:t>Application Gateway for Containers</a:t>
            </a:r>
          </a:p>
        </p:txBody>
      </p:sp>
      <p:sp>
        <p:nvSpPr>
          <p:cNvPr id="17" name="Footer Placeholder 6">
            <a:extLst>
              <a:ext uri="{FF2B5EF4-FFF2-40B4-BE49-F238E27FC236}">
                <a16:creationId xmlns:a16="http://schemas.microsoft.com/office/drawing/2014/main" id="{E5ED077E-B731-8A72-A5E0-014E5F8EF3B9}"/>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8" name="Slide Number Placeholder 5">
            <a:extLst>
              <a:ext uri="{FF2B5EF4-FFF2-40B4-BE49-F238E27FC236}">
                <a16:creationId xmlns:a16="http://schemas.microsoft.com/office/drawing/2014/main" id="{C7BFFBC8-51C4-1147-CFB9-4C894D59EA7E}"/>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22</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pic>
        <p:nvPicPr>
          <p:cNvPr id="3" name="Picture 2" descr="Gateway API Resource Model">
            <a:extLst>
              <a:ext uri="{FF2B5EF4-FFF2-40B4-BE49-F238E27FC236}">
                <a16:creationId xmlns:a16="http://schemas.microsoft.com/office/drawing/2014/main" id="{7F8025D9-7E33-5196-E7F6-1A1C1F68CE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2057302"/>
            <a:ext cx="4724400" cy="4133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87080"/>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999CB-63F6-9E2D-D637-274819B4021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A6BA0DD-578C-633E-48FF-EC2EE9A8E291}"/>
              </a:ext>
            </a:extLst>
          </p:cNvPr>
          <p:cNvSpPr>
            <a:spLocks noGrp="1"/>
          </p:cNvSpPr>
          <p:nvPr>
            <p:ph type="title"/>
          </p:nvPr>
        </p:nvSpPr>
        <p:spPr/>
        <p:txBody>
          <a:bodyPr/>
          <a:lstStyle/>
          <a:p>
            <a:r>
              <a:rPr lang="en-US" noProof="1">
                <a:cs typeface="Segoe UI"/>
              </a:rPr>
              <a:t>AKS Ingress Options</a:t>
            </a:r>
            <a:endParaRPr lang="en-US" noProof="1"/>
          </a:p>
        </p:txBody>
      </p:sp>
      <p:sp>
        <p:nvSpPr>
          <p:cNvPr id="7" name="Text Placeholder 6">
            <a:extLst>
              <a:ext uri="{FF2B5EF4-FFF2-40B4-BE49-F238E27FC236}">
                <a16:creationId xmlns:a16="http://schemas.microsoft.com/office/drawing/2014/main" id="{F1258F0A-4443-6FD1-1C20-E104211BEBE3}"/>
              </a:ext>
            </a:extLst>
          </p:cNvPr>
          <p:cNvSpPr>
            <a:spLocks noGrp="1"/>
          </p:cNvSpPr>
          <p:nvPr>
            <p:ph type="body" sz="quarter" idx="12"/>
          </p:nvPr>
        </p:nvSpPr>
        <p:spPr/>
        <p:txBody>
          <a:bodyPr/>
          <a:lstStyle/>
          <a:p>
            <a:r>
              <a:rPr lang="en-US" dirty="0"/>
              <a:t>Choose one for exposing your Kubernetes based applications outside of the cluster</a:t>
            </a:r>
          </a:p>
        </p:txBody>
      </p:sp>
      <p:grpSp>
        <p:nvGrpSpPr>
          <p:cNvPr id="29" name="Group 28">
            <a:extLst>
              <a:ext uri="{FF2B5EF4-FFF2-40B4-BE49-F238E27FC236}">
                <a16:creationId xmlns:a16="http://schemas.microsoft.com/office/drawing/2014/main" id="{066B70E9-21F7-0B05-171D-9C72543A1599}"/>
              </a:ext>
              <a:ext uri="{C183D7F6-B498-43B3-948B-1728B52AA6E4}">
                <adec:decorative xmlns:adec="http://schemas.microsoft.com/office/drawing/2017/decorative" val="1"/>
              </a:ext>
            </a:extLst>
          </p:cNvPr>
          <p:cNvGrpSpPr/>
          <p:nvPr/>
        </p:nvGrpSpPr>
        <p:grpSpPr>
          <a:xfrm>
            <a:off x="571500" y="1897380"/>
            <a:ext cx="11049000" cy="4371658"/>
            <a:chOff x="571500" y="1897380"/>
            <a:chExt cx="11049000" cy="4371658"/>
          </a:xfrm>
        </p:grpSpPr>
        <p:sp>
          <p:nvSpPr>
            <p:cNvPr id="30" name="Rectangle 29">
              <a:extLst>
                <a:ext uri="{FF2B5EF4-FFF2-40B4-BE49-F238E27FC236}">
                  <a16:creationId xmlns:a16="http://schemas.microsoft.com/office/drawing/2014/main" id="{163B8971-5DD2-B05C-2AEA-9D5757B22C3A}"/>
                </a:ext>
              </a:extLst>
            </p:cNvPr>
            <p:cNvSpPr/>
            <p:nvPr/>
          </p:nvSpPr>
          <p:spPr bwMode="auto">
            <a:xfrm>
              <a:off x="581024" y="1897380"/>
              <a:ext cx="4003676" cy="4371658"/>
            </a:xfrm>
            <a:prstGeom prst="rect">
              <a:avLst/>
            </a:prstGeom>
            <a:solidFill>
              <a:schemeClr val="bg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lnSpc>
                  <a:spcPct val="90000"/>
                </a:lnSpc>
                <a:spcBef>
                  <a:spcPct val="0"/>
                </a:spcBef>
                <a:spcAft>
                  <a:spcPct val="0"/>
                </a:spcAft>
              </a:pPr>
              <a:endParaRPr lang="en-US" sz="2000" dirty="0">
                <a:solidFill>
                  <a:schemeClr val="accent6"/>
                </a:solidFill>
                <a:latin typeface="Segoe UI"/>
                <a:cs typeface="Segoe UI" pitchFamily="34" charset="0"/>
              </a:endParaRPr>
            </a:p>
          </p:txBody>
        </p:sp>
        <p:cxnSp>
          <p:nvCxnSpPr>
            <p:cNvPr id="31" name="Straight Connector 30">
              <a:extLst>
                <a:ext uri="{FF2B5EF4-FFF2-40B4-BE49-F238E27FC236}">
                  <a16:creationId xmlns:a16="http://schemas.microsoft.com/office/drawing/2014/main" id="{220C0C6B-7D1E-8D7B-2898-9FBFD57297D3}"/>
                </a:ext>
              </a:extLst>
            </p:cNvPr>
            <p:cNvCxnSpPr>
              <a:cxnSpLocks/>
            </p:cNvCxnSpPr>
            <p:nvPr/>
          </p:nvCxnSpPr>
          <p:spPr>
            <a:xfrm>
              <a:off x="571500" y="6269038"/>
              <a:ext cx="11049000" cy="0"/>
            </a:xfrm>
            <a:prstGeom prst="line">
              <a:avLst/>
            </a:prstGeom>
            <a:noFill/>
            <a:ln w="12700" cap="flat" cmpd="sng" algn="ctr">
              <a:solidFill>
                <a:srgbClr val="243A5E"/>
              </a:solidFill>
              <a:prstDash val="solid"/>
              <a:headEnd type="none" w="lg" len="med"/>
              <a:tailEnd type="none" w="lg" len="med"/>
            </a:ln>
            <a:effectLst/>
          </p:spPr>
        </p:cxnSp>
        <p:cxnSp>
          <p:nvCxnSpPr>
            <p:cNvPr id="32" name="Straight Connector 31">
              <a:extLst>
                <a:ext uri="{FF2B5EF4-FFF2-40B4-BE49-F238E27FC236}">
                  <a16:creationId xmlns:a16="http://schemas.microsoft.com/office/drawing/2014/main" id="{9003A3DB-3D30-33DA-8DE7-EE1157EA28F2}"/>
                </a:ext>
              </a:extLst>
            </p:cNvPr>
            <p:cNvCxnSpPr>
              <a:cxnSpLocks/>
            </p:cNvCxnSpPr>
            <p:nvPr/>
          </p:nvCxnSpPr>
          <p:spPr>
            <a:xfrm>
              <a:off x="571500" y="1897380"/>
              <a:ext cx="11049000" cy="0"/>
            </a:xfrm>
            <a:prstGeom prst="line">
              <a:avLst/>
            </a:prstGeom>
            <a:noFill/>
            <a:ln w="12700" cap="flat" cmpd="sng" algn="ctr">
              <a:solidFill>
                <a:srgbClr val="243A5E"/>
              </a:solidFill>
              <a:prstDash val="solid"/>
              <a:headEnd type="none" w="lg" len="med"/>
              <a:tailEnd type="none" w="lg" len="med"/>
            </a:ln>
            <a:effectLst/>
          </p:spPr>
        </p:cxnSp>
      </p:grpSp>
      <p:sp>
        <p:nvSpPr>
          <p:cNvPr id="50" name="Rectangle 49">
            <a:extLst>
              <a:ext uri="{FF2B5EF4-FFF2-40B4-BE49-F238E27FC236}">
                <a16:creationId xmlns:a16="http://schemas.microsoft.com/office/drawing/2014/main" id="{2C7E8C93-4348-6094-8855-07B14E805BDC}"/>
              </a:ext>
            </a:extLst>
          </p:cNvPr>
          <p:cNvSpPr>
            <a:spLocks/>
          </p:cNvSpPr>
          <p:nvPr/>
        </p:nvSpPr>
        <p:spPr bwMode="auto">
          <a:xfrm>
            <a:off x="763904" y="2013958"/>
            <a:ext cx="3630296" cy="1224064"/>
          </a:xfrm>
          <a:prstGeom prst="rect">
            <a:avLst/>
          </a:prstGeom>
          <a:noFill/>
          <a:ln w="317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285750" indent="-285750" algn="l" defTabSz="932472" fontAlgn="base">
              <a:spcBef>
                <a:spcPts val="100"/>
              </a:spcBef>
              <a:spcAft>
                <a:spcPts val="100"/>
              </a:spcAft>
              <a:buFont typeface="Arial" panose="020B0604020202020204" pitchFamily="34" charset="0"/>
              <a:buChar char="•"/>
            </a:pPr>
            <a:r>
              <a:rPr lang="en-US" sz="1600" dirty="0">
                <a:solidFill>
                  <a:schemeClr val="tx2"/>
                </a:solidFill>
                <a:latin typeface="+mj-lt"/>
                <a:ea typeface="Segoe UI" pitchFamily="34" charset="0"/>
                <a:cs typeface="Segoe UI" pitchFamily="34" charset="0"/>
              </a:rPr>
              <a:t>Managed NGINX – Application Routing Addon</a:t>
            </a:r>
          </a:p>
        </p:txBody>
      </p:sp>
      <p:sp>
        <p:nvSpPr>
          <p:cNvPr id="67" name="Rectangle 66">
            <a:extLst>
              <a:ext uri="{FF2B5EF4-FFF2-40B4-BE49-F238E27FC236}">
                <a16:creationId xmlns:a16="http://schemas.microsoft.com/office/drawing/2014/main" id="{FF05D651-9028-700D-31F1-787574E0BC03}"/>
              </a:ext>
            </a:extLst>
          </p:cNvPr>
          <p:cNvSpPr>
            <a:spLocks/>
          </p:cNvSpPr>
          <p:nvPr/>
        </p:nvSpPr>
        <p:spPr bwMode="auto">
          <a:xfrm>
            <a:off x="4876800" y="2013958"/>
            <a:ext cx="6753225" cy="1224064"/>
          </a:xfrm>
          <a:prstGeom prst="rect">
            <a:avLst/>
          </a:prstGeom>
          <a:noFill/>
          <a:ln w="317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457200" indent="-457200">
              <a:lnSpc>
                <a:spcPct val="90000"/>
              </a:lnSpc>
              <a:buFont typeface="Arial" panose="020B0604020202020204" pitchFamily="34" charset="0"/>
              <a:buChar char="•"/>
            </a:pPr>
            <a:r>
              <a:rPr lang="en-US" sz="1400" dirty="0"/>
              <a:t>In-cluster hosted, customizable, and scalable NGINX ingress controllers which provide basic load balancing and routing capabilities for both internal and external load balancer configurations.</a:t>
            </a:r>
          </a:p>
          <a:p>
            <a:pPr marL="457200" indent="-457200">
              <a:lnSpc>
                <a:spcPct val="90000"/>
              </a:lnSpc>
              <a:buFont typeface="Arial" panose="020B0604020202020204" pitchFamily="34" charset="0"/>
              <a:buChar char="•"/>
            </a:pPr>
            <a:r>
              <a:rPr lang="en-US" sz="1400" dirty="0"/>
              <a:t>Integrates with Azure Key Vault for certificate management and with Azure DNS Zones for public and private DNS management.</a:t>
            </a:r>
          </a:p>
          <a:p>
            <a:pPr marL="457200" indent="-457200">
              <a:lnSpc>
                <a:spcPct val="90000"/>
              </a:lnSpc>
              <a:buFont typeface="Arial" panose="020B0604020202020204" pitchFamily="34" charset="0"/>
              <a:buChar char="•"/>
            </a:pPr>
            <a:r>
              <a:rPr lang="en-US" sz="1400" dirty="0"/>
              <a:t>Supports the Ingress API</a:t>
            </a:r>
          </a:p>
        </p:txBody>
      </p:sp>
      <p:grpSp>
        <p:nvGrpSpPr>
          <p:cNvPr id="83" name="Group 82">
            <a:extLst>
              <a:ext uri="{FF2B5EF4-FFF2-40B4-BE49-F238E27FC236}">
                <a16:creationId xmlns:a16="http://schemas.microsoft.com/office/drawing/2014/main" id="{1D0A4A03-D037-659A-24C7-21F63FC23122}"/>
              </a:ext>
              <a:ext uri="{C183D7F6-B498-43B3-948B-1728B52AA6E4}">
                <adec:decorative xmlns:adec="http://schemas.microsoft.com/office/drawing/2017/decorative" val="1"/>
              </a:ext>
            </a:extLst>
          </p:cNvPr>
          <p:cNvGrpSpPr/>
          <p:nvPr/>
        </p:nvGrpSpPr>
        <p:grpSpPr>
          <a:xfrm>
            <a:off x="763904" y="3354600"/>
            <a:ext cx="10866121" cy="0"/>
            <a:chOff x="763904" y="3354600"/>
            <a:chExt cx="10866121" cy="0"/>
          </a:xfrm>
        </p:grpSpPr>
        <p:cxnSp>
          <p:nvCxnSpPr>
            <p:cNvPr id="84" name="Straight Connector 83">
              <a:extLst>
                <a:ext uri="{FF2B5EF4-FFF2-40B4-BE49-F238E27FC236}">
                  <a16:creationId xmlns:a16="http://schemas.microsoft.com/office/drawing/2014/main" id="{34517727-C2A8-C982-AD29-2764550AEAA8}"/>
                </a:ext>
              </a:extLst>
            </p:cNvPr>
            <p:cNvCxnSpPr>
              <a:cxnSpLocks/>
            </p:cNvCxnSpPr>
            <p:nvPr/>
          </p:nvCxnSpPr>
          <p:spPr>
            <a:xfrm>
              <a:off x="4876800" y="3354600"/>
              <a:ext cx="6753225" cy="0"/>
            </a:xfrm>
            <a:prstGeom prst="line">
              <a:avLst/>
            </a:prstGeom>
            <a:noFill/>
            <a:ln w="6350">
              <a:solidFill>
                <a:schemeClr val="bg1">
                  <a:lumMod val="75000"/>
                </a:schemeClr>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98AA24BC-7205-82F2-4821-0EAFF01C655F}"/>
                </a:ext>
              </a:extLst>
            </p:cNvPr>
            <p:cNvCxnSpPr>
              <a:cxnSpLocks/>
            </p:cNvCxnSpPr>
            <p:nvPr/>
          </p:nvCxnSpPr>
          <p:spPr>
            <a:xfrm>
              <a:off x="763904" y="3354600"/>
              <a:ext cx="3630296" cy="0"/>
            </a:xfrm>
            <a:prstGeom prst="line">
              <a:avLst/>
            </a:prstGeom>
            <a:ln w="6350">
              <a:solidFill>
                <a:schemeClr val="bg1"/>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5FFA265F-27DF-D5C2-C20E-8852216D82A2}"/>
                </a:ext>
                <a:ext uri="{C183D7F6-B498-43B3-948B-1728B52AA6E4}">
                  <adec:decorative xmlns:adec="http://schemas.microsoft.com/office/drawing/2017/decorative" val="1"/>
                </a:ext>
              </a:extLst>
            </p:cNvPr>
            <p:cNvCxnSpPr>
              <a:cxnSpLocks/>
            </p:cNvCxnSpPr>
            <p:nvPr/>
          </p:nvCxnSpPr>
          <p:spPr>
            <a:xfrm>
              <a:off x="11248571" y="3354600"/>
              <a:ext cx="371929"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98" name="Rectangle 97">
            <a:extLst>
              <a:ext uri="{FF2B5EF4-FFF2-40B4-BE49-F238E27FC236}">
                <a16:creationId xmlns:a16="http://schemas.microsoft.com/office/drawing/2014/main" id="{CBFF31C9-07F5-D056-ED5F-F570F4DFD0A7}"/>
              </a:ext>
            </a:extLst>
          </p:cNvPr>
          <p:cNvSpPr>
            <a:spLocks/>
          </p:cNvSpPr>
          <p:nvPr/>
        </p:nvSpPr>
        <p:spPr bwMode="auto">
          <a:xfrm>
            <a:off x="763904" y="3471178"/>
            <a:ext cx="3630296" cy="1224064"/>
          </a:xfrm>
          <a:prstGeom prst="rect">
            <a:avLst/>
          </a:prstGeom>
          <a:noFill/>
          <a:ln w="317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285750" indent="-285750" algn="ctr" defTabSz="932472" fontAlgn="base">
              <a:spcBef>
                <a:spcPts val="100"/>
              </a:spcBef>
              <a:spcAft>
                <a:spcPts val="100"/>
              </a:spcAft>
              <a:buFont typeface="Arial" panose="020B0604020202020204" pitchFamily="34" charset="0"/>
              <a:buChar char="•"/>
            </a:pPr>
            <a:r>
              <a:rPr lang="en-US" sz="1600" dirty="0">
                <a:solidFill>
                  <a:schemeClr val="tx2"/>
                </a:solidFill>
                <a:latin typeface="+mj-lt"/>
                <a:ea typeface="Segoe UI" pitchFamily="34" charset="0"/>
                <a:cs typeface="Segoe UI" pitchFamily="34" charset="0"/>
              </a:rPr>
              <a:t>Application Gateway for Containers</a:t>
            </a:r>
          </a:p>
          <a:p>
            <a:pPr algn="l" defTabSz="932472" fontAlgn="base">
              <a:spcBef>
                <a:spcPts val="100"/>
              </a:spcBef>
              <a:spcAft>
                <a:spcPts val="100"/>
              </a:spcAft>
            </a:pPr>
            <a:endParaRPr lang="en-US" sz="1600" dirty="0">
              <a:solidFill>
                <a:schemeClr val="tx2"/>
              </a:solidFill>
              <a:latin typeface="+mj-lt"/>
              <a:ea typeface="Segoe UI" pitchFamily="34" charset="0"/>
              <a:cs typeface="Segoe UI" pitchFamily="34" charset="0"/>
            </a:endParaRPr>
          </a:p>
        </p:txBody>
      </p:sp>
      <p:sp>
        <p:nvSpPr>
          <p:cNvPr id="109" name="Rectangle 108">
            <a:extLst>
              <a:ext uri="{FF2B5EF4-FFF2-40B4-BE49-F238E27FC236}">
                <a16:creationId xmlns:a16="http://schemas.microsoft.com/office/drawing/2014/main" id="{CFD44040-BDB5-99F5-8D3B-872B12E4AFB0}"/>
              </a:ext>
            </a:extLst>
          </p:cNvPr>
          <p:cNvSpPr>
            <a:spLocks/>
          </p:cNvSpPr>
          <p:nvPr/>
        </p:nvSpPr>
        <p:spPr bwMode="auto">
          <a:xfrm>
            <a:off x="4876800" y="3471178"/>
            <a:ext cx="6753225" cy="1224064"/>
          </a:xfrm>
          <a:prstGeom prst="rect">
            <a:avLst/>
          </a:prstGeom>
          <a:noFill/>
          <a:ln w="317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457200" indent="-457200">
              <a:lnSpc>
                <a:spcPct val="90000"/>
              </a:lnSpc>
              <a:buFont typeface="Arial" panose="020B0604020202020204" pitchFamily="34" charset="0"/>
              <a:buChar char="•"/>
            </a:pPr>
            <a:r>
              <a:rPr lang="en-US" sz="1400" dirty="0"/>
              <a:t>Layer 7 gateway which supports both Ingress and Gateway API</a:t>
            </a:r>
          </a:p>
          <a:p>
            <a:pPr marL="457200" indent="-457200">
              <a:lnSpc>
                <a:spcPct val="90000"/>
              </a:lnSpc>
              <a:buFont typeface="Arial" panose="020B0604020202020204" pitchFamily="34" charset="0"/>
              <a:buChar char="•"/>
            </a:pPr>
            <a:r>
              <a:rPr lang="en-US" sz="1400" dirty="0"/>
              <a:t>Components:</a:t>
            </a:r>
          </a:p>
          <a:p>
            <a:pPr marL="914400" lvl="1" indent="-457200">
              <a:lnSpc>
                <a:spcPct val="90000"/>
              </a:lnSpc>
              <a:buFont typeface="Arial" panose="020B0604020202020204" pitchFamily="34" charset="0"/>
              <a:buChar char="•"/>
            </a:pPr>
            <a:r>
              <a:rPr lang="en-US" sz="1400" b="1" u="sng" dirty="0"/>
              <a:t>Frontends:</a:t>
            </a:r>
            <a:r>
              <a:rPr lang="en-US" sz="1400" dirty="0"/>
              <a:t> Unique FQDN.</a:t>
            </a:r>
            <a:endParaRPr lang="en-US" sz="1400" b="1" u="sng" dirty="0"/>
          </a:p>
          <a:p>
            <a:pPr marL="914400" lvl="1" indent="-457200">
              <a:lnSpc>
                <a:spcPct val="90000"/>
              </a:lnSpc>
              <a:buFont typeface="Arial" panose="020B0604020202020204" pitchFamily="34" charset="0"/>
              <a:buChar char="•"/>
            </a:pPr>
            <a:r>
              <a:rPr lang="en-US" sz="1400" b="1" u="sng" dirty="0"/>
              <a:t>Associations:</a:t>
            </a:r>
            <a:r>
              <a:rPr lang="en-US" sz="1400" dirty="0"/>
              <a:t> Connection point to a virtual network. 1:1 mapping to a Subnet that has been delegated</a:t>
            </a:r>
            <a:endParaRPr lang="en-US" sz="1400" b="1" u="sng" dirty="0"/>
          </a:p>
          <a:p>
            <a:pPr marL="914400" lvl="1" indent="-457200">
              <a:lnSpc>
                <a:spcPct val="90000"/>
              </a:lnSpc>
              <a:buFont typeface="Arial" panose="020B0604020202020204" pitchFamily="34" charset="0"/>
              <a:buChar char="•"/>
            </a:pPr>
            <a:r>
              <a:rPr lang="en-US" sz="1400" b="1" u="sng" dirty="0"/>
              <a:t>ALB Controller:</a:t>
            </a:r>
            <a:r>
              <a:rPr lang="en-US" sz="1400" dirty="0"/>
              <a:t> 2 pod deployment that orchestrates configuration and deployment of Application Gateway for Containers by watching Kubernetes API.</a:t>
            </a:r>
          </a:p>
          <a:p>
            <a:pPr marL="914400" lvl="1" indent="-457200">
              <a:lnSpc>
                <a:spcPct val="90000"/>
              </a:lnSpc>
              <a:buFont typeface="Arial" panose="020B0604020202020204" pitchFamily="34" charset="0"/>
              <a:buChar char="•"/>
            </a:pPr>
            <a:endParaRPr lang="en-US" sz="1400" b="1" u="sng" dirty="0"/>
          </a:p>
        </p:txBody>
      </p:sp>
      <p:grpSp>
        <p:nvGrpSpPr>
          <p:cNvPr id="119" name="Group 118">
            <a:extLst>
              <a:ext uri="{FF2B5EF4-FFF2-40B4-BE49-F238E27FC236}">
                <a16:creationId xmlns:a16="http://schemas.microsoft.com/office/drawing/2014/main" id="{0EE4FBA7-BFAD-57F0-06DA-DF9F642329AA}"/>
              </a:ext>
              <a:ext uri="{C183D7F6-B498-43B3-948B-1728B52AA6E4}">
                <adec:decorative xmlns:adec="http://schemas.microsoft.com/office/drawing/2017/decorative" val="1"/>
              </a:ext>
            </a:extLst>
          </p:cNvPr>
          <p:cNvGrpSpPr/>
          <p:nvPr/>
        </p:nvGrpSpPr>
        <p:grpSpPr>
          <a:xfrm>
            <a:off x="763904" y="5180120"/>
            <a:ext cx="10866121" cy="0"/>
            <a:chOff x="763904" y="4811820"/>
            <a:chExt cx="10866121" cy="0"/>
          </a:xfrm>
        </p:grpSpPr>
        <p:cxnSp>
          <p:nvCxnSpPr>
            <p:cNvPr id="120" name="Straight Connector 119">
              <a:extLst>
                <a:ext uri="{FF2B5EF4-FFF2-40B4-BE49-F238E27FC236}">
                  <a16:creationId xmlns:a16="http://schemas.microsoft.com/office/drawing/2014/main" id="{D2DBDA9F-4288-9733-A890-DB1B851E5E39}"/>
                </a:ext>
              </a:extLst>
            </p:cNvPr>
            <p:cNvCxnSpPr>
              <a:cxnSpLocks/>
            </p:cNvCxnSpPr>
            <p:nvPr/>
          </p:nvCxnSpPr>
          <p:spPr>
            <a:xfrm>
              <a:off x="763904" y="4811820"/>
              <a:ext cx="3630296" cy="0"/>
            </a:xfrm>
            <a:prstGeom prst="line">
              <a:avLst/>
            </a:prstGeom>
            <a:ln w="6350">
              <a:solidFill>
                <a:schemeClr val="bg1"/>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21" name="Group 120">
              <a:extLst>
                <a:ext uri="{FF2B5EF4-FFF2-40B4-BE49-F238E27FC236}">
                  <a16:creationId xmlns:a16="http://schemas.microsoft.com/office/drawing/2014/main" id="{1C221160-11F9-5F27-6D1C-E568A55BA8C2}"/>
                </a:ext>
              </a:extLst>
            </p:cNvPr>
            <p:cNvGrpSpPr/>
            <p:nvPr/>
          </p:nvGrpSpPr>
          <p:grpSpPr>
            <a:xfrm>
              <a:off x="4876800" y="4811820"/>
              <a:ext cx="6753225" cy="0"/>
              <a:chOff x="4876800" y="4805998"/>
              <a:chExt cx="6753225" cy="0"/>
            </a:xfrm>
          </p:grpSpPr>
          <p:cxnSp>
            <p:nvCxnSpPr>
              <p:cNvPr id="122" name="Straight Connector 121">
                <a:extLst>
                  <a:ext uri="{FF2B5EF4-FFF2-40B4-BE49-F238E27FC236}">
                    <a16:creationId xmlns:a16="http://schemas.microsoft.com/office/drawing/2014/main" id="{8D33DBE5-7B65-101E-D9F4-ECC34CDC9C9C}"/>
                  </a:ext>
                </a:extLst>
              </p:cNvPr>
              <p:cNvCxnSpPr>
                <a:cxnSpLocks/>
              </p:cNvCxnSpPr>
              <p:nvPr/>
            </p:nvCxnSpPr>
            <p:spPr>
              <a:xfrm>
                <a:off x="4876800" y="4805998"/>
                <a:ext cx="6753225" cy="0"/>
              </a:xfrm>
              <a:prstGeom prst="line">
                <a:avLst/>
              </a:prstGeom>
              <a:noFill/>
              <a:ln w="6350">
                <a:solidFill>
                  <a:schemeClr val="bg1">
                    <a:lumMod val="75000"/>
                  </a:schemeClr>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3A0BC235-F364-D4D0-9641-45D7F8490520}"/>
                  </a:ext>
                  <a:ext uri="{C183D7F6-B498-43B3-948B-1728B52AA6E4}">
                    <adec:decorative xmlns:adec="http://schemas.microsoft.com/office/drawing/2017/decorative" val="1"/>
                  </a:ext>
                </a:extLst>
              </p:cNvPr>
              <p:cNvCxnSpPr>
                <a:cxnSpLocks/>
              </p:cNvCxnSpPr>
              <p:nvPr/>
            </p:nvCxnSpPr>
            <p:spPr>
              <a:xfrm>
                <a:off x="11248571" y="4805998"/>
                <a:ext cx="371929"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pSp>
      <p:sp>
        <p:nvSpPr>
          <p:cNvPr id="128" name="Rectangle 127">
            <a:extLst>
              <a:ext uri="{FF2B5EF4-FFF2-40B4-BE49-F238E27FC236}">
                <a16:creationId xmlns:a16="http://schemas.microsoft.com/office/drawing/2014/main" id="{F5F40296-D06B-22A1-303A-A063D1AE7A50}"/>
              </a:ext>
            </a:extLst>
          </p:cNvPr>
          <p:cNvSpPr>
            <a:spLocks/>
          </p:cNvSpPr>
          <p:nvPr/>
        </p:nvSpPr>
        <p:spPr bwMode="auto">
          <a:xfrm>
            <a:off x="763904" y="5295900"/>
            <a:ext cx="3630296" cy="856561"/>
          </a:xfrm>
          <a:prstGeom prst="rect">
            <a:avLst/>
          </a:prstGeom>
          <a:noFill/>
          <a:ln w="317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285750" indent="-285750" algn="l" defTabSz="932472" fontAlgn="base">
              <a:spcBef>
                <a:spcPts val="100"/>
              </a:spcBef>
              <a:spcAft>
                <a:spcPts val="100"/>
              </a:spcAft>
              <a:buFont typeface="Arial" panose="020B0604020202020204" pitchFamily="34" charset="0"/>
              <a:buChar char="•"/>
            </a:pPr>
            <a:r>
              <a:rPr lang="en-US" sz="1600" dirty="0">
                <a:solidFill>
                  <a:schemeClr val="tx2"/>
                </a:solidFill>
                <a:latin typeface="+mj-lt"/>
                <a:ea typeface="Segoe UI" pitchFamily="34" charset="0"/>
                <a:cs typeface="Segoe UI" pitchFamily="34" charset="0"/>
              </a:rPr>
              <a:t>Azure Service Mesh / Istio-based service mesh</a:t>
            </a:r>
          </a:p>
          <a:p>
            <a:pPr algn="l" defTabSz="932472" fontAlgn="base">
              <a:spcBef>
                <a:spcPts val="100"/>
              </a:spcBef>
              <a:spcAft>
                <a:spcPts val="100"/>
              </a:spcAft>
            </a:pPr>
            <a:endParaRPr lang="en-US" sz="1600" dirty="0">
              <a:solidFill>
                <a:schemeClr val="tx2"/>
              </a:solidFill>
              <a:latin typeface="+mj-lt"/>
              <a:ea typeface="Segoe UI" pitchFamily="34" charset="0"/>
              <a:cs typeface="Segoe UI" pitchFamily="34" charset="0"/>
            </a:endParaRPr>
          </a:p>
        </p:txBody>
      </p:sp>
      <p:sp>
        <p:nvSpPr>
          <p:cNvPr id="132" name="Rectangle 131">
            <a:extLst>
              <a:ext uri="{FF2B5EF4-FFF2-40B4-BE49-F238E27FC236}">
                <a16:creationId xmlns:a16="http://schemas.microsoft.com/office/drawing/2014/main" id="{4CD272BA-00A2-1592-712D-04DC573C9AA6}"/>
              </a:ext>
            </a:extLst>
          </p:cNvPr>
          <p:cNvSpPr>
            <a:spLocks/>
          </p:cNvSpPr>
          <p:nvPr/>
        </p:nvSpPr>
        <p:spPr bwMode="auto">
          <a:xfrm>
            <a:off x="4876800" y="5295900"/>
            <a:ext cx="6753225" cy="856562"/>
          </a:xfrm>
          <a:prstGeom prst="rect">
            <a:avLst/>
          </a:prstGeom>
          <a:noFill/>
          <a:ln w="317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457200" indent="-457200">
              <a:lnSpc>
                <a:spcPct val="90000"/>
              </a:lnSpc>
              <a:buFont typeface="Arial" panose="020B0604020202020204" pitchFamily="34" charset="0"/>
              <a:buChar char="•"/>
            </a:pPr>
            <a:r>
              <a:rPr lang="en-US" sz="1400" dirty="0"/>
              <a:t>Based on Envoy, when using with Istio for a service mesh.</a:t>
            </a:r>
          </a:p>
          <a:p>
            <a:pPr marL="457200" indent="-457200">
              <a:lnSpc>
                <a:spcPct val="90000"/>
              </a:lnSpc>
              <a:buFont typeface="Arial" panose="020B0604020202020204" pitchFamily="34" charset="0"/>
              <a:buChar char="•"/>
            </a:pPr>
            <a:r>
              <a:rPr lang="en-US" sz="1400" dirty="0"/>
              <a:t>Advanced traffic management features such as rate limiting and circuit breaking, as well as support for </a:t>
            </a:r>
            <a:r>
              <a:rPr lang="en-US" sz="1400" dirty="0" err="1"/>
              <a:t>mTLS</a:t>
            </a:r>
            <a:r>
              <a:rPr lang="en-US" sz="1400" dirty="0"/>
              <a:t>.</a:t>
            </a:r>
          </a:p>
        </p:txBody>
      </p:sp>
      <p:sp>
        <p:nvSpPr>
          <p:cNvPr id="27" name="Footer Placeholder 1">
            <a:extLst>
              <a:ext uri="{FF2B5EF4-FFF2-40B4-BE49-F238E27FC236}">
                <a16:creationId xmlns:a16="http://schemas.microsoft.com/office/drawing/2014/main" id="{D085021F-1AB6-AAF8-B5B4-174CD0126B6A}"/>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8" name="Slide Number Placeholder 27">
            <a:extLst>
              <a:ext uri="{FF2B5EF4-FFF2-40B4-BE49-F238E27FC236}">
                <a16:creationId xmlns:a16="http://schemas.microsoft.com/office/drawing/2014/main" id="{96FCB855-F8FB-DC13-AA70-00B0FBE3C5CD}"/>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23</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pic>
        <p:nvPicPr>
          <p:cNvPr id="1026" name="Picture 2" descr="&quot;Istio_logo&quot; Icon - Download for free – Iconduck">
            <a:extLst>
              <a:ext uri="{FF2B5EF4-FFF2-40B4-BE49-F238E27FC236}">
                <a16:creationId xmlns:a16="http://schemas.microsoft.com/office/drawing/2014/main" id="{2C2FF187-7CAD-BF22-1B8E-5237F600BF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6592" y="5486798"/>
            <a:ext cx="443928" cy="66566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Nginx logo - Social media &amp; Logos Icons">
            <a:extLst>
              <a:ext uri="{FF2B5EF4-FFF2-40B4-BE49-F238E27FC236}">
                <a16:creationId xmlns:a16="http://schemas.microsoft.com/office/drawing/2014/main" id="{FA530C83-4ADD-3159-6597-4A2356ADD7F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26737" y="2587547"/>
            <a:ext cx="683637" cy="68363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8" descr="Home - Courscape">
            <a:extLst>
              <a:ext uri="{FF2B5EF4-FFF2-40B4-BE49-F238E27FC236}">
                <a16:creationId xmlns:a16="http://schemas.microsoft.com/office/drawing/2014/main" id="{91F0431B-EF0A-48A5-4115-8D232E0FDAB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39437" y="4481223"/>
            <a:ext cx="650811" cy="650811"/>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364183585"/>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64CA1-4CE8-B2DB-0F88-652151B3D24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0CC9339-599F-61AE-21EB-E42B7E17CCA8}"/>
              </a:ext>
            </a:extLst>
          </p:cNvPr>
          <p:cNvSpPr>
            <a:spLocks noGrp="1"/>
          </p:cNvSpPr>
          <p:nvPr>
            <p:ph type="title"/>
          </p:nvPr>
        </p:nvSpPr>
        <p:spPr>
          <a:xfrm>
            <a:off x="575481" y="599436"/>
            <a:ext cx="11018520" cy="553998"/>
          </a:xfrm>
        </p:spPr>
        <p:txBody>
          <a:bodyPr/>
          <a:lstStyle/>
          <a:p>
            <a:r>
              <a:rPr lang="en-US" dirty="0"/>
              <a:t>Demo: Application Gateway for Containers</a:t>
            </a:r>
          </a:p>
        </p:txBody>
      </p:sp>
      <p:sp>
        <p:nvSpPr>
          <p:cNvPr id="17" name="Rectangle 16">
            <a:extLst>
              <a:ext uri="{FF2B5EF4-FFF2-40B4-BE49-F238E27FC236}">
                <a16:creationId xmlns:a16="http://schemas.microsoft.com/office/drawing/2014/main" id="{7CAE90AF-330E-1879-F1C1-C132C173D5D0}"/>
              </a:ext>
            </a:extLst>
          </p:cNvPr>
          <p:cNvSpPr>
            <a:spLocks/>
          </p:cNvSpPr>
          <p:nvPr/>
        </p:nvSpPr>
        <p:spPr bwMode="auto">
          <a:xfrm>
            <a:off x="0" y="2343006"/>
            <a:ext cx="7445375" cy="3561008"/>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566928" tIns="192024" rIns="182880" bIns="182880" numCol="1" spcCol="0" rtlCol="0" fromWordArt="0" anchor="t" anchorCtr="0" forceAA="0" compatLnSpc="1">
            <a:prstTxWarp prst="textNoShape">
              <a:avLst/>
            </a:prstTxWarp>
            <a:noAutofit/>
          </a:bodyPr>
          <a:lstStyle/>
          <a:p>
            <a:r>
              <a:rPr lang="en-US" sz="2000" dirty="0">
                <a:solidFill>
                  <a:schemeClr val="tx1"/>
                </a:solidFill>
              </a:rPr>
              <a:t>Understand and visualize the capabilities of Application Gateway for Containers.</a:t>
            </a:r>
          </a:p>
          <a:p>
            <a:endParaRPr lang="en-US" sz="2000" dirty="0">
              <a:solidFill>
                <a:schemeClr val="tx1"/>
              </a:solidFill>
            </a:endParaRPr>
          </a:p>
          <a:p>
            <a:r>
              <a:rPr lang="en-US" sz="2000" dirty="0">
                <a:solidFill>
                  <a:schemeClr val="tx1"/>
                </a:solidFill>
              </a:rPr>
              <a:t>Visualize configuration and components.</a:t>
            </a:r>
          </a:p>
          <a:p>
            <a:endParaRPr lang="en-US" sz="2000" dirty="0">
              <a:solidFill>
                <a:schemeClr val="tx1"/>
              </a:solidFill>
            </a:endParaRPr>
          </a:p>
          <a:p>
            <a:r>
              <a:rPr lang="en-US" sz="2000" dirty="0">
                <a:solidFill>
                  <a:schemeClr val="tx1"/>
                </a:solidFill>
              </a:rPr>
              <a:t>Expose an Application as Ingress</a:t>
            </a:r>
          </a:p>
          <a:p>
            <a:endParaRPr lang="en-US" sz="2000" dirty="0">
              <a:solidFill>
                <a:schemeClr val="tx1"/>
              </a:solidFill>
            </a:endParaRPr>
          </a:p>
          <a:p>
            <a:r>
              <a:rPr lang="en-US" sz="2000" dirty="0">
                <a:solidFill>
                  <a:schemeClr val="tx1"/>
                </a:solidFill>
              </a:rPr>
              <a:t>Expose an Application as </a:t>
            </a:r>
            <a:r>
              <a:rPr lang="en-US" sz="2000" dirty="0" err="1">
                <a:solidFill>
                  <a:schemeClr val="tx1"/>
                </a:solidFill>
              </a:rPr>
              <a:t>HTTPRoute</a:t>
            </a:r>
            <a:endParaRPr lang="en-US" sz="2000" dirty="0">
              <a:solidFill>
                <a:schemeClr val="tx1"/>
              </a:solidFill>
            </a:endParaRPr>
          </a:p>
        </p:txBody>
      </p:sp>
      <p:sp>
        <p:nvSpPr>
          <p:cNvPr id="12" name="Footer Placeholder 3">
            <a:extLst>
              <a:ext uri="{FF2B5EF4-FFF2-40B4-BE49-F238E27FC236}">
                <a16:creationId xmlns:a16="http://schemas.microsoft.com/office/drawing/2014/main" id="{BD368E19-3A8B-7392-D271-AF07D1AD858B}"/>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3" name="Slide Number Placeholder 7">
            <a:extLst>
              <a:ext uri="{FF2B5EF4-FFF2-40B4-BE49-F238E27FC236}">
                <a16:creationId xmlns:a16="http://schemas.microsoft.com/office/drawing/2014/main" id="{A1F1AAC5-2E2D-0207-9DE6-3BC0E9EAB185}"/>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24</a:t>
            </a:fld>
            <a:endParaRPr lang="en-US" noProof="0"/>
          </a:p>
        </p:txBody>
      </p:sp>
      <p:sp>
        <p:nvSpPr>
          <p:cNvPr id="5" name="Text Placeholder 4">
            <a:extLst>
              <a:ext uri="{FF2B5EF4-FFF2-40B4-BE49-F238E27FC236}">
                <a16:creationId xmlns:a16="http://schemas.microsoft.com/office/drawing/2014/main" id="{6978A4A8-4131-DE82-E7CB-90D3ED8ACE08}"/>
              </a:ext>
            </a:extLst>
          </p:cNvPr>
          <p:cNvSpPr>
            <a:spLocks noGrp="1"/>
          </p:cNvSpPr>
          <p:nvPr>
            <p:ph type="body" sz="quarter" idx="12"/>
          </p:nvPr>
        </p:nvSpPr>
        <p:spPr>
          <a:xfrm>
            <a:off x="584201" y="1310646"/>
            <a:ext cx="11018520" cy="276999"/>
          </a:xfrm>
        </p:spPr>
        <p:txBody>
          <a:bodyPr/>
          <a:lstStyle/>
          <a:p>
            <a:r>
              <a:rPr lang="en-US" dirty="0"/>
              <a:t>See it in action!</a:t>
            </a:r>
          </a:p>
        </p:txBody>
      </p:sp>
      <p:pic>
        <p:nvPicPr>
          <p:cNvPr id="6" name="Picture 8" descr="Home - Courscape">
            <a:extLst>
              <a:ext uri="{FF2B5EF4-FFF2-40B4-BE49-F238E27FC236}">
                <a16:creationId xmlns:a16="http://schemas.microsoft.com/office/drawing/2014/main" id="{D776CA80-592D-F0B8-4A3B-AED0536F72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20722" y="2607447"/>
            <a:ext cx="2740978" cy="2740978"/>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020895957"/>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E6766-7F7C-2A6A-6F2D-3D1954AAB55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5D668F1-6D67-395B-73FA-48B368CD2D13}"/>
              </a:ext>
            </a:extLst>
          </p:cNvPr>
          <p:cNvSpPr>
            <a:spLocks noGrp="1"/>
          </p:cNvSpPr>
          <p:nvPr>
            <p:ph type="title"/>
            <p:custDataLst>
              <p:custData r:id="rId2"/>
            </p:custDataLst>
          </p:nvPr>
        </p:nvSpPr>
        <p:spPr>
          <a:xfrm>
            <a:off x="584200" y="4334637"/>
            <a:ext cx="9169400" cy="1015663"/>
          </a:xfrm>
        </p:spPr>
        <p:txBody>
          <a:bodyPr/>
          <a:lstStyle/>
          <a:p>
            <a:r>
              <a:rPr lang="en-US" dirty="0"/>
              <a:t>AKS Egress</a:t>
            </a:r>
          </a:p>
        </p:txBody>
      </p:sp>
      <p:sp>
        <p:nvSpPr>
          <p:cNvPr id="2" name="Text Placeholder 1">
            <a:extLst>
              <a:ext uri="{FF2B5EF4-FFF2-40B4-BE49-F238E27FC236}">
                <a16:creationId xmlns:a16="http://schemas.microsoft.com/office/drawing/2014/main" id="{ABC50F9F-4C80-0869-60FD-8D56E0EE33BC}"/>
              </a:ext>
            </a:extLst>
          </p:cNvPr>
          <p:cNvSpPr>
            <a:spLocks noGrp="1"/>
          </p:cNvSpPr>
          <p:nvPr>
            <p:ph type="body" sz="quarter" idx="12"/>
          </p:nvPr>
        </p:nvSpPr>
        <p:spPr/>
        <p:txBody>
          <a:bodyPr/>
          <a:lstStyle/>
          <a:p>
            <a:r>
              <a:rPr lang="en-US" dirty="0"/>
              <a:t>Exploring the different options</a:t>
            </a:r>
          </a:p>
        </p:txBody>
      </p:sp>
      <p:sp>
        <p:nvSpPr>
          <p:cNvPr id="11" name="Footer Placeholder 2">
            <a:extLst>
              <a:ext uri="{FF2B5EF4-FFF2-40B4-BE49-F238E27FC236}">
                <a16:creationId xmlns:a16="http://schemas.microsoft.com/office/drawing/2014/main" id="{29D8B6C5-EBA2-0EB3-0AAA-DE9AF5D9D3B8}"/>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31F99F4D-DAF0-ABD0-0163-F1F2595D6393}"/>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25</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pic>
        <p:nvPicPr>
          <p:cNvPr id="7" name="Graphic 6">
            <a:extLst>
              <a:ext uri="{FF2B5EF4-FFF2-40B4-BE49-F238E27FC236}">
                <a16:creationId xmlns:a16="http://schemas.microsoft.com/office/drawing/2014/main" id="{31B5EB49-AE95-9ED8-6CFB-6448BC1F30D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779481" y="763813"/>
            <a:ext cx="2608036" cy="2608036"/>
          </a:xfrm>
          <a:prstGeom prst="rect">
            <a:avLst/>
          </a:prstGeom>
        </p:spPr>
      </p:pic>
      <p:pic>
        <p:nvPicPr>
          <p:cNvPr id="10" name="Graphic 9">
            <a:extLst>
              <a:ext uri="{FF2B5EF4-FFF2-40B4-BE49-F238E27FC236}">
                <a16:creationId xmlns:a16="http://schemas.microsoft.com/office/drawing/2014/main" id="{2C69E917-0C0D-8890-52C5-4E4ABD89E00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32512" y="2049760"/>
            <a:ext cx="1179842" cy="1179842"/>
          </a:xfrm>
          <a:prstGeom prst="rect">
            <a:avLst/>
          </a:prstGeom>
        </p:spPr>
      </p:pic>
      <p:pic>
        <p:nvPicPr>
          <p:cNvPr id="16" name="Graphic 15">
            <a:extLst>
              <a:ext uri="{FF2B5EF4-FFF2-40B4-BE49-F238E27FC236}">
                <a16:creationId xmlns:a16="http://schemas.microsoft.com/office/drawing/2014/main" id="{ECFE8CF8-66C9-5414-A852-A9BAF447876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083499" y="3951513"/>
            <a:ext cx="1974998" cy="1974998"/>
          </a:xfrm>
          <a:prstGeom prst="rect">
            <a:avLst/>
          </a:prstGeom>
        </p:spPr>
      </p:pic>
      <p:pic>
        <p:nvPicPr>
          <p:cNvPr id="18" name="Graphic 17">
            <a:extLst>
              <a:ext uri="{FF2B5EF4-FFF2-40B4-BE49-F238E27FC236}">
                <a16:creationId xmlns:a16="http://schemas.microsoft.com/office/drawing/2014/main" id="{79E0281D-4569-B0F4-EDED-EC7777E6C2B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152800" y="1792594"/>
            <a:ext cx="2158919" cy="2158919"/>
          </a:xfrm>
          <a:prstGeom prst="rect">
            <a:avLst/>
          </a:prstGeom>
        </p:spPr>
      </p:pic>
    </p:spTree>
    <p:custDataLst>
      <p:tags r:id="rId1"/>
    </p:custDataLst>
    <p:extLst>
      <p:ext uri="{BB962C8B-B14F-4D97-AF65-F5344CB8AC3E}">
        <p14:creationId xmlns:p14="http://schemas.microsoft.com/office/powerpoint/2010/main" val="2582347633"/>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30E5B-BA2E-98A2-63CA-16080DCE984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DB09331-31A1-FAF1-4B59-989BB34B3ECC}"/>
              </a:ext>
            </a:extLst>
          </p:cNvPr>
          <p:cNvSpPr>
            <a:spLocks noGrp="1"/>
          </p:cNvSpPr>
          <p:nvPr>
            <p:ph type="title"/>
          </p:nvPr>
        </p:nvSpPr>
        <p:spPr>
          <a:xfrm>
            <a:off x="575481" y="1085599"/>
            <a:ext cx="11045019" cy="553998"/>
          </a:xfrm>
        </p:spPr>
        <p:txBody>
          <a:bodyPr/>
          <a:lstStyle/>
          <a:p>
            <a:r>
              <a:rPr lang="en-US" dirty="0"/>
              <a:t>Egress Traffic Control</a:t>
            </a:r>
          </a:p>
        </p:txBody>
      </p:sp>
      <p:sp>
        <p:nvSpPr>
          <p:cNvPr id="10" name="Rectangle 9">
            <a:extLst>
              <a:ext uri="{FF2B5EF4-FFF2-40B4-BE49-F238E27FC236}">
                <a16:creationId xmlns:a16="http://schemas.microsoft.com/office/drawing/2014/main" id="{D3D9E69B-3D84-0E32-63E0-FA515FC846F2}"/>
              </a:ext>
            </a:extLst>
          </p:cNvPr>
          <p:cNvSpPr>
            <a:spLocks/>
          </p:cNvSpPr>
          <p:nvPr/>
        </p:nvSpPr>
        <p:spPr>
          <a:xfrm>
            <a:off x="654244" y="2283355"/>
            <a:ext cx="11043028" cy="1508105"/>
          </a:xfrm>
          <a:prstGeom prst="rect">
            <a:avLst/>
          </a:prstGeom>
          <a:solidFill>
            <a:schemeClr val="bg1">
              <a:lumMod val="95000"/>
            </a:schemeClr>
          </a:solidFill>
          <a:effectLst>
            <a:outerShdw dist="38100" dir="10800000" algn="r" rotWithShape="0">
              <a:schemeClr val="tx2"/>
            </a:outerShdw>
          </a:effectLst>
        </p:spPr>
        <p:txBody>
          <a:bodyPr wrap="square" lIns="137160" tIns="137160" rIns="137160" bIns="137160" anchor="t" anchorCtr="0">
            <a:spAutoFit/>
          </a:bodyPr>
          <a:lstStyle/>
          <a:p>
            <a:r>
              <a:rPr lang="en-US" sz="1600" dirty="0"/>
              <a:t>Egress traffic refers to the data leaving Azure. In this context, egress traffic control involves monitoring, filtering, and protecting outbound data to ensure it only exits your virtual network under authorized conditions.</a:t>
            </a:r>
          </a:p>
          <a:p>
            <a:endParaRPr lang="en-US" sz="1600" dirty="0"/>
          </a:p>
          <a:p>
            <a:r>
              <a:rPr lang="en-US" sz="1600" dirty="0"/>
              <a:t>Egress control is fundamental for preventing data exfiltration, in which a malicious actor can send data to any public endpoint.</a:t>
            </a:r>
          </a:p>
        </p:txBody>
      </p:sp>
      <p:sp>
        <p:nvSpPr>
          <p:cNvPr id="17" name="Footer Placeholder 6">
            <a:extLst>
              <a:ext uri="{FF2B5EF4-FFF2-40B4-BE49-F238E27FC236}">
                <a16:creationId xmlns:a16="http://schemas.microsoft.com/office/drawing/2014/main" id="{6A77902E-DA67-0DC0-A623-3BE7BE92D091}"/>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8" name="Slide Number Placeholder 5">
            <a:extLst>
              <a:ext uri="{FF2B5EF4-FFF2-40B4-BE49-F238E27FC236}">
                <a16:creationId xmlns:a16="http://schemas.microsoft.com/office/drawing/2014/main" id="{114B58EE-41B3-934F-8B47-E95303107C01}"/>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26</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480096255"/>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B52CA-63AB-0FD0-09BD-45A990A5848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8D52A75-0920-7133-B0A8-158159872878}"/>
              </a:ext>
            </a:extLst>
          </p:cNvPr>
          <p:cNvSpPr>
            <a:spLocks noGrp="1"/>
          </p:cNvSpPr>
          <p:nvPr>
            <p:ph type="title"/>
          </p:nvPr>
        </p:nvSpPr>
        <p:spPr/>
        <p:txBody>
          <a:bodyPr/>
          <a:lstStyle/>
          <a:p>
            <a:r>
              <a:rPr lang="en-US" noProof="1">
                <a:cs typeface="Segoe UI"/>
              </a:rPr>
              <a:t>AKS Egress Options (Outbound Types)</a:t>
            </a:r>
            <a:endParaRPr lang="en-US" noProof="1"/>
          </a:p>
        </p:txBody>
      </p:sp>
      <p:sp>
        <p:nvSpPr>
          <p:cNvPr id="7" name="Text Placeholder 6">
            <a:extLst>
              <a:ext uri="{FF2B5EF4-FFF2-40B4-BE49-F238E27FC236}">
                <a16:creationId xmlns:a16="http://schemas.microsoft.com/office/drawing/2014/main" id="{2D1D08DE-3C84-2073-A2F9-1E47291FA6B7}"/>
              </a:ext>
            </a:extLst>
          </p:cNvPr>
          <p:cNvSpPr>
            <a:spLocks noGrp="1"/>
          </p:cNvSpPr>
          <p:nvPr>
            <p:ph type="body" sz="quarter" idx="12"/>
          </p:nvPr>
        </p:nvSpPr>
        <p:spPr/>
        <p:txBody>
          <a:bodyPr/>
          <a:lstStyle/>
          <a:p>
            <a:r>
              <a:rPr lang="en-US" dirty="0"/>
              <a:t>Choose one for exposing your Kubernetes based applications outside of the cluster</a:t>
            </a:r>
          </a:p>
        </p:txBody>
      </p:sp>
      <p:grpSp>
        <p:nvGrpSpPr>
          <p:cNvPr id="29" name="Group 28">
            <a:extLst>
              <a:ext uri="{FF2B5EF4-FFF2-40B4-BE49-F238E27FC236}">
                <a16:creationId xmlns:a16="http://schemas.microsoft.com/office/drawing/2014/main" id="{45FAAB1F-B2EB-E223-2576-F9DFC53EB821}"/>
              </a:ext>
              <a:ext uri="{C183D7F6-B498-43B3-948B-1728B52AA6E4}">
                <adec:decorative xmlns:adec="http://schemas.microsoft.com/office/drawing/2017/decorative" val="1"/>
              </a:ext>
            </a:extLst>
          </p:cNvPr>
          <p:cNvGrpSpPr/>
          <p:nvPr/>
        </p:nvGrpSpPr>
        <p:grpSpPr>
          <a:xfrm>
            <a:off x="571500" y="1897380"/>
            <a:ext cx="11049000" cy="4465320"/>
            <a:chOff x="571500" y="1897380"/>
            <a:chExt cx="11049000" cy="4371658"/>
          </a:xfrm>
        </p:grpSpPr>
        <p:sp>
          <p:nvSpPr>
            <p:cNvPr id="30" name="Rectangle 29">
              <a:extLst>
                <a:ext uri="{FF2B5EF4-FFF2-40B4-BE49-F238E27FC236}">
                  <a16:creationId xmlns:a16="http://schemas.microsoft.com/office/drawing/2014/main" id="{95A5C334-49E6-F646-BB75-73B884411CBE}"/>
                </a:ext>
              </a:extLst>
            </p:cNvPr>
            <p:cNvSpPr/>
            <p:nvPr/>
          </p:nvSpPr>
          <p:spPr bwMode="auto">
            <a:xfrm>
              <a:off x="581024" y="1897380"/>
              <a:ext cx="4003676" cy="4371658"/>
            </a:xfrm>
            <a:prstGeom prst="rect">
              <a:avLst/>
            </a:prstGeom>
            <a:solidFill>
              <a:schemeClr val="bg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lnSpc>
                  <a:spcPct val="90000"/>
                </a:lnSpc>
                <a:spcBef>
                  <a:spcPct val="0"/>
                </a:spcBef>
                <a:spcAft>
                  <a:spcPct val="0"/>
                </a:spcAft>
              </a:pPr>
              <a:endParaRPr lang="en-US" sz="2000" dirty="0">
                <a:solidFill>
                  <a:schemeClr val="accent6"/>
                </a:solidFill>
                <a:latin typeface="Segoe UI"/>
                <a:cs typeface="Segoe UI" pitchFamily="34" charset="0"/>
              </a:endParaRPr>
            </a:p>
          </p:txBody>
        </p:sp>
        <p:cxnSp>
          <p:nvCxnSpPr>
            <p:cNvPr id="31" name="Straight Connector 30">
              <a:extLst>
                <a:ext uri="{FF2B5EF4-FFF2-40B4-BE49-F238E27FC236}">
                  <a16:creationId xmlns:a16="http://schemas.microsoft.com/office/drawing/2014/main" id="{0B8ED2F2-B8E3-4ECC-7F18-4985FBD20499}"/>
                </a:ext>
              </a:extLst>
            </p:cNvPr>
            <p:cNvCxnSpPr>
              <a:cxnSpLocks/>
            </p:cNvCxnSpPr>
            <p:nvPr/>
          </p:nvCxnSpPr>
          <p:spPr>
            <a:xfrm>
              <a:off x="571500" y="6269038"/>
              <a:ext cx="11049000" cy="0"/>
            </a:xfrm>
            <a:prstGeom prst="line">
              <a:avLst/>
            </a:prstGeom>
            <a:noFill/>
            <a:ln w="12700" cap="flat" cmpd="sng" algn="ctr">
              <a:solidFill>
                <a:srgbClr val="243A5E"/>
              </a:solidFill>
              <a:prstDash val="solid"/>
              <a:headEnd type="none" w="lg" len="med"/>
              <a:tailEnd type="none" w="lg" len="med"/>
            </a:ln>
            <a:effectLst/>
          </p:spPr>
        </p:cxnSp>
        <p:cxnSp>
          <p:nvCxnSpPr>
            <p:cNvPr id="32" name="Straight Connector 31">
              <a:extLst>
                <a:ext uri="{FF2B5EF4-FFF2-40B4-BE49-F238E27FC236}">
                  <a16:creationId xmlns:a16="http://schemas.microsoft.com/office/drawing/2014/main" id="{5D272C2A-30BF-BD75-843A-9FE373BDF38F}"/>
                </a:ext>
              </a:extLst>
            </p:cNvPr>
            <p:cNvCxnSpPr>
              <a:cxnSpLocks/>
            </p:cNvCxnSpPr>
            <p:nvPr/>
          </p:nvCxnSpPr>
          <p:spPr>
            <a:xfrm>
              <a:off x="571500" y="1897380"/>
              <a:ext cx="11049000" cy="0"/>
            </a:xfrm>
            <a:prstGeom prst="line">
              <a:avLst/>
            </a:prstGeom>
            <a:noFill/>
            <a:ln w="12700" cap="flat" cmpd="sng" algn="ctr">
              <a:solidFill>
                <a:srgbClr val="243A5E"/>
              </a:solidFill>
              <a:prstDash val="solid"/>
              <a:headEnd type="none" w="lg" len="med"/>
              <a:tailEnd type="none" w="lg" len="med"/>
            </a:ln>
            <a:effectLst/>
          </p:spPr>
        </p:cxnSp>
      </p:grpSp>
      <p:sp>
        <p:nvSpPr>
          <p:cNvPr id="50" name="Rectangle 49">
            <a:extLst>
              <a:ext uri="{FF2B5EF4-FFF2-40B4-BE49-F238E27FC236}">
                <a16:creationId xmlns:a16="http://schemas.microsoft.com/office/drawing/2014/main" id="{1FF087F2-6980-7A2A-193C-CB05FE5833B7}"/>
              </a:ext>
            </a:extLst>
          </p:cNvPr>
          <p:cNvSpPr>
            <a:spLocks/>
          </p:cNvSpPr>
          <p:nvPr/>
        </p:nvSpPr>
        <p:spPr bwMode="auto">
          <a:xfrm>
            <a:off x="763904" y="2013958"/>
            <a:ext cx="3630296" cy="853521"/>
          </a:xfrm>
          <a:prstGeom prst="rect">
            <a:avLst/>
          </a:prstGeom>
          <a:noFill/>
          <a:ln w="317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l" defTabSz="932472" fontAlgn="base">
              <a:spcBef>
                <a:spcPts val="100"/>
              </a:spcBef>
              <a:spcAft>
                <a:spcPts val="100"/>
              </a:spcAft>
            </a:pPr>
            <a:r>
              <a:rPr lang="en-US" sz="1600" dirty="0">
                <a:solidFill>
                  <a:schemeClr val="tx2"/>
                </a:solidFill>
                <a:latin typeface="+mj-lt"/>
                <a:ea typeface="Segoe UI" pitchFamily="34" charset="0"/>
                <a:cs typeface="Segoe UI" pitchFamily="34" charset="0"/>
              </a:rPr>
              <a:t>Load Balancer</a:t>
            </a:r>
          </a:p>
        </p:txBody>
      </p:sp>
      <p:sp>
        <p:nvSpPr>
          <p:cNvPr id="67" name="Rectangle 66">
            <a:extLst>
              <a:ext uri="{FF2B5EF4-FFF2-40B4-BE49-F238E27FC236}">
                <a16:creationId xmlns:a16="http://schemas.microsoft.com/office/drawing/2014/main" id="{6DD4FF14-557E-8535-4F1A-8467182853DD}"/>
              </a:ext>
            </a:extLst>
          </p:cNvPr>
          <p:cNvSpPr>
            <a:spLocks/>
          </p:cNvSpPr>
          <p:nvPr/>
        </p:nvSpPr>
        <p:spPr bwMode="auto">
          <a:xfrm>
            <a:off x="4876800" y="2013958"/>
            <a:ext cx="6753225" cy="767606"/>
          </a:xfrm>
          <a:prstGeom prst="rect">
            <a:avLst/>
          </a:prstGeom>
          <a:noFill/>
          <a:ln w="317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endParaRPr lang="en-US" sz="1600" dirty="0">
              <a:solidFill>
                <a:srgbClr val="171717"/>
              </a:solidFill>
              <a:latin typeface="Segoe UI" panose="020B0502040204020203" pitchFamily="34" charset="0"/>
            </a:endParaRPr>
          </a:p>
        </p:txBody>
      </p:sp>
      <p:grpSp>
        <p:nvGrpSpPr>
          <p:cNvPr id="83" name="Group 82">
            <a:extLst>
              <a:ext uri="{FF2B5EF4-FFF2-40B4-BE49-F238E27FC236}">
                <a16:creationId xmlns:a16="http://schemas.microsoft.com/office/drawing/2014/main" id="{AC02D825-DCFC-1E73-B1C5-21F9CB67C3E2}"/>
              </a:ext>
              <a:ext uri="{C183D7F6-B498-43B3-948B-1728B52AA6E4}">
                <adec:decorative xmlns:adec="http://schemas.microsoft.com/office/drawing/2017/decorative" val="1"/>
              </a:ext>
            </a:extLst>
          </p:cNvPr>
          <p:cNvGrpSpPr/>
          <p:nvPr/>
        </p:nvGrpSpPr>
        <p:grpSpPr>
          <a:xfrm>
            <a:off x="763904" y="2898141"/>
            <a:ext cx="10866121" cy="45719"/>
            <a:chOff x="763904" y="3354600"/>
            <a:chExt cx="10866121" cy="0"/>
          </a:xfrm>
        </p:grpSpPr>
        <p:cxnSp>
          <p:nvCxnSpPr>
            <p:cNvPr id="84" name="Straight Connector 83">
              <a:extLst>
                <a:ext uri="{FF2B5EF4-FFF2-40B4-BE49-F238E27FC236}">
                  <a16:creationId xmlns:a16="http://schemas.microsoft.com/office/drawing/2014/main" id="{BE04FFAA-C840-C704-EBE1-D546F46899BF}"/>
                </a:ext>
              </a:extLst>
            </p:cNvPr>
            <p:cNvCxnSpPr>
              <a:cxnSpLocks/>
            </p:cNvCxnSpPr>
            <p:nvPr/>
          </p:nvCxnSpPr>
          <p:spPr>
            <a:xfrm>
              <a:off x="4876800" y="3354600"/>
              <a:ext cx="6753225" cy="0"/>
            </a:xfrm>
            <a:prstGeom prst="line">
              <a:avLst/>
            </a:prstGeom>
            <a:noFill/>
            <a:ln w="6350">
              <a:solidFill>
                <a:schemeClr val="bg1">
                  <a:lumMod val="75000"/>
                </a:schemeClr>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C519A2B8-C4BB-FB51-692B-B4E15E44254D}"/>
                </a:ext>
              </a:extLst>
            </p:cNvPr>
            <p:cNvCxnSpPr>
              <a:cxnSpLocks/>
            </p:cNvCxnSpPr>
            <p:nvPr/>
          </p:nvCxnSpPr>
          <p:spPr>
            <a:xfrm>
              <a:off x="763904" y="3354600"/>
              <a:ext cx="3630296" cy="0"/>
            </a:xfrm>
            <a:prstGeom prst="line">
              <a:avLst/>
            </a:prstGeom>
            <a:ln w="6350">
              <a:solidFill>
                <a:schemeClr val="bg1"/>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1A7A8292-5624-9060-0ED1-E29B9151C807}"/>
                </a:ext>
                <a:ext uri="{C183D7F6-B498-43B3-948B-1728B52AA6E4}">
                  <adec:decorative xmlns:adec="http://schemas.microsoft.com/office/drawing/2017/decorative" val="1"/>
                </a:ext>
              </a:extLst>
            </p:cNvPr>
            <p:cNvCxnSpPr>
              <a:cxnSpLocks/>
            </p:cNvCxnSpPr>
            <p:nvPr/>
          </p:nvCxnSpPr>
          <p:spPr>
            <a:xfrm>
              <a:off x="11248571" y="3354600"/>
              <a:ext cx="371929"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98" name="Rectangle 97">
            <a:extLst>
              <a:ext uri="{FF2B5EF4-FFF2-40B4-BE49-F238E27FC236}">
                <a16:creationId xmlns:a16="http://schemas.microsoft.com/office/drawing/2014/main" id="{BE6719CC-47D6-B333-DAA4-5DE51A9F26C8}"/>
              </a:ext>
            </a:extLst>
          </p:cNvPr>
          <p:cNvSpPr>
            <a:spLocks/>
          </p:cNvSpPr>
          <p:nvPr/>
        </p:nvSpPr>
        <p:spPr bwMode="auto">
          <a:xfrm>
            <a:off x="763904" y="3014720"/>
            <a:ext cx="3630296" cy="493781"/>
          </a:xfrm>
          <a:prstGeom prst="rect">
            <a:avLst/>
          </a:prstGeom>
          <a:noFill/>
          <a:ln w="317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l" defTabSz="932472" fontAlgn="base">
              <a:spcBef>
                <a:spcPts val="100"/>
              </a:spcBef>
              <a:spcAft>
                <a:spcPts val="100"/>
              </a:spcAft>
            </a:pPr>
            <a:r>
              <a:rPr lang="en-US" sz="1600" dirty="0">
                <a:solidFill>
                  <a:schemeClr val="tx2"/>
                </a:solidFill>
                <a:latin typeface="+mj-lt"/>
                <a:ea typeface="Segoe UI" pitchFamily="34" charset="0"/>
                <a:cs typeface="Segoe UI" pitchFamily="34" charset="0"/>
              </a:rPr>
              <a:t>User Defined Routing</a:t>
            </a:r>
          </a:p>
        </p:txBody>
      </p:sp>
      <p:sp>
        <p:nvSpPr>
          <p:cNvPr id="109" name="Rectangle 108">
            <a:extLst>
              <a:ext uri="{FF2B5EF4-FFF2-40B4-BE49-F238E27FC236}">
                <a16:creationId xmlns:a16="http://schemas.microsoft.com/office/drawing/2014/main" id="{AF2D7BD3-E8D2-B951-660A-47B993458AF0}"/>
              </a:ext>
            </a:extLst>
          </p:cNvPr>
          <p:cNvSpPr>
            <a:spLocks/>
          </p:cNvSpPr>
          <p:nvPr/>
        </p:nvSpPr>
        <p:spPr bwMode="auto">
          <a:xfrm>
            <a:off x="2708128" y="4654677"/>
            <a:ext cx="6753225" cy="652395"/>
          </a:xfrm>
          <a:prstGeom prst="rect">
            <a:avLst/>
          </a:prstGeom>
          <a:noFill/>
          <a:ln w="317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lvl="1">
              <a:lnSpc>
                <a:spcPct val="90000"/>
              </a:lnSpc>
            </a:pPr>
            <a:endParaRPr lang="en-US" sz="1400" b="1" u="sng" dirty="0"/>
          </a:p>
        </p:txBody>
      </p:sp>
      <p:sp>
        <p:nvSpPr>
          <p:cNvPr id="27" name="Footer Placeholder 1">
            <a:extLst>
              <a:ext uri="{FF2B5EF4-FFF2-40B4-BE49-F238E27FC236}">
                <a16:creationId xmlns:a16="http://schemas.microsoft.com/office/drawing/2014/main" id="{FAB69AAE-0759-4BE0-44D6-637451283E14}"/>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8" name="Slide Number Placeholder 27">
            <a:extLst>
              <a:ext uri="{FF2B5EF4-FFF2-40B4-BE49-F238E27FC236}">
                <a16:creationId xmlns:a16="http://schemas.microsoft.com/office/drawing/2014/main" id="{AA17D4C3-460C-DC30-FEE2-F8DD3DE7E435}"/>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27</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B206A4A4-5E24-494A-071C-84302E5CD06F}"/>
              </a:ext>
              <a:ext uri="{C183D7F6-B498-43B3-948B-1728B52AA6E4}">
                <adec:decorative xmlns:adec="http://schemas.microsoft.com/office/drawing/2017/decorative" val="1"/>
              </a:ext>
            </a:extLst>
          </p:cNvPr>
          <p:cNvGrpSpPr/>
          <p:nvPr/>
        </p:nvGrpSpPr>
        <p:grpSpPr>
          <a:xfrm>
            <a:off x="763904" y="3878055"/>
            <a:ext cx="10866121" cy="45719"/>
            <a:chOff x="763904" y="3354600"/>
            <a:chExt cx="10866121" cy="0"/>
          </a:xfrm>
        </p:grpSpPr>
        <p:cxnSp>
          <p:nvCxnSpPr>
            <p:cNvPr id="6" name="Straight Connector 5">
              <a:extLst>
                <a:ext uri="{FF2B5EF4-FFF2-40B4-BE49-F238E27FC236}">
                  <a16:creationId xmlns:a16="http://schemas.microsoft.com/office/drawing/2014/main" id="{DA9EC903-6221-0D2B-0834-10F682C1AC2A}"/>
                </a:ext>
              </a:extLst>
            </p:cNvPr>
            <p:cNvCxnSpPr>
              <a:cxnSpLocks/>
            </p:cNvCxnSpPr>
            <p:nvPr/>
          </p:nvCxnSpPr>
          <p:spPr>
            <a:xfrm>
              <a:off x="4876800" y="3354600"/>
              <a:ext cx="6753225" cy="0"/>
            </a:xfrm>
            <a:prstGeom prst="line">
              <a:avLst/>
            </a:prstGeom>
            <a:noFill/>
            <a:ln w="6350">
              <a:solidFill>
                <a:schemeClr val="bg1">
                  <a:lumMod val="75000"/>
                </a:schemeClr>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4A177F8-414D-9229-E1DE-F279CE03B88F}"/>
                </a:ext>
              </a:extLst>
            </p:cNvPr>
            <p:cNvCxnSpPr>
              <a:cxnSpLocks/>
            </p:cNvCxnSpPr>
            <p:nvPr/>
          </p:nvCxnSpPr>
          <p:spPr>
            <a:xfrm>
              <a:off x="763904" y="3354600"/>
              <a:ext cx="3630296" cy="0"/>
            </a:xfrm>
            <a:prstGeom prst="line">
              <a:avLst/>
            </a:prstGeom>
            <a:ln w="6350">
              <a:solidFill>
                <a:schemeClr val="bg1"/>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74A3829-38AE-4207-CC57-C6AF7C248348}"/>
                </a:ext>
                <a:ext uri="{C183D7F6-B498-43B3-948B-1728B52AA6E4}">
                  <adec:decorative xmlns:adec="http://schemas.microsoft.com/office/drawing/2017/decorative" val="1"/>
                </a:ext>
              </a:extLst>
            </p:cNvPr>
            <p:cNvCxnSpPr>
              <a:cxnSpLocks/>
            </p:cNvCxnSpPr>
            <p:nvPr/>
          </p:nvCxnSpPr>
          <p:spPr>
            <a:xfrm>
              <a:off x="11248571" y="3354600"/>
              <a:ext cx="371929"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10" name="Rectangle 9">
            <a:extLst>
              <a:ext uri="{FF2B5EF4-FFF2-40B4-BE49-F238E27FC236}">
                <a16:creationId xmlns:a16="http://schemas.microsoft.com/office/drawing/2014/main" id="{D7D5887E-5568-0F9B-0204-7FD3A2BF894D}"/>
              </a:ext>
            </a:extLst>
          </p:cNvPr>
          <p:cNvSpPr>
            <a:spLocks/>
          </p:cNvSpPr>
          <p:nvPr/>
        </p:nvSpPr>
        <p:spPr bwMode="auto">
          <a:xfrm>
            <a:off x="763904" y="3994634"/>
            <a:ext cx="3630296" cy="493781"/>
          </a:xfrm>
          <a:prstGeom prst="rect">
            <a:avLst/>
          </a:prstGeom>
          <a:noFill/>
          <a:ln w="317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l" defTabSz="932472" fontAlgn="base">
              <a:spcBef>
                <a:spcPts val="100"/>
              </a:spcBef>
              <a:spcAft>
                <a:spcPts val="100"/>
              </a:spcAft>
            </a:pPr>
            <a:r>
              <a:rPr lang="en-US" sz="1600" dirty="0">
                <a:solidFill>
                  <a:schemeClr val="tx2"/>
                </a:solidFill>
                <a:latin typeface="+mj-lt"/>
                <a:ea typeface="Segoe UI" pitchFamily="34" charset="0"/>
                <a:cs typeface="Segoe UI" pitchFamily="34" charset="0"/>
              </a:rPr>
              <a:t>Managed Gateway or </a:t>
            </a:r>
          </a:p>
          <a:p>
            <a:pPr algn="l" defTabSz="932472" fontAlgn="base">
              <a:spcBef>
                <a:spcPts val="100"/>
              </a:spcBef>
              <a:spcAft>
                <a:spcPts val="100"/>
              </a:spcAft>
            </a:pPr>
            <a:r>
              <a:rPr lang="en-US" sz="1600" dirty="0">
                <a:solidFill>
                  <a:schemeClr val="tx2"/>
                </a:solidFill>
                <a:latin typeface="+mj-lt"/>
                <a:ea typeface="Segoe UI" pitchFamily="34" charset="0"/>
                <a:cs typeface="Segoe UI" pitchFamily="34" charset="0"/>
              </a:rPr>
              <a:t>User Assigned Gateway</a:t>
            </a:r>
          </a:p>
        </p:txBody>
      </p:sp>
      <p:sp>
        <p:nvSpPr>
          <p:cNvPr id="16" name="Rectangle 15">
            <a:extLst>
              <a:ext uri="{FF2B5EF4-FFF2-40B4-BE49-F238E27FC236}">
                <a16:creationId xmlns:a16="http://schemas.microsoft.com/office/drawing/2014/main" id="{238361C8-E515-B8DF-5FE5-1BCABC027BD6}"/>
              </a:ext>
            </a:extLst>
          </p:cNvPr>
          <p:cNvSpPr>
            <a:spLocks/>
          </p:cNvSpPr>
          <p:nvPr/>
        </p:nvSpPr>
        <p:spPr bwMode="auto">
          <a:xfrm>
            <a:off x="4876800" y="4026370"/>
            <a:ext cx="6753225" cy="652395"/>
          </a:xfrm>
          <a:prstGeom prst="rect">
            <a:avLst/>
          </a:prstGeom>
          <a:noFill/>
          <a:ln w="317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lvl="1">
              <a:lnSpc>
                <a:spcPct val="90000"/>
              </a:lnSpc>
            </a:pPr>
            <a:r>
              <a:rPr lang="en-US" sz="1600" dirty="0">
                <a:solidFill>
                  <a:srgbClr val="171717"/>
                </a:solidFill>
                <a:latin typeface="Segoe UI" panose="020B0502040204020203" pitchFamily="34" charset="0"/>
              </a:rPr>
              <a:t>A NAT Gateway which gets attached to the subnet and provides internet connectivity to all devices connected to it. Use when you have no strict egress control requirements. Non-recommended.</a:t>
            </a:r>
          </a:p>
          <a:p>
            <a:pPr marL="914400" lvl="1" indent="-457200">
              <a:lnSpc>
                <a:spcPct val="90000"/>
              </a:lnSpc>
              <a:buFont typeface="Arial" panose="020B0604020202020204" pitchFamily="34" charset="0"/>
              <a:buChar char="•"/>
            </a:pPr>
            <a:endParaRPr lang="en-US" sz="1400" b="1" u="sng" dirty="0"/>
          </a:p>
        </p:txBody>
      </p:sp>
      <p:grpSp>
        <p:nvGrpSpPr>
          <p:cNvPr id="17" name="Group 16">
            <a:extLst>
              <a:ext uri="{FF2B5EF4-FFF2-40B4-BE49-F238E27FC236}">
                <a16:creationId xmlns:a16="http://schemas.microsoft.com/office/drawing/2014/main" id="{E11E2342-F8A9-BA96-8221-30E44F3B5AC1}"/>
              </a:ext>
              <a:ext uri="{C183D7F6-B498-43B3-948B-1728B52AA6E4}">
                <adec:decorative xmlns:adec="http://schemas.microsoft.com/office/drawing/2017/decorative" val="1"/>
              </a:ext>
            </a:extLst>
          </p:cNvPr>
          <p:cNvGrpSpPr/>
          <p:nvPr/>
        </p:nvGrpSpPr>
        <p:grpSpPr>
          <a:xfrm>
            <a:off x="763904" y="4883196"/>
            <a:ext cx="10866121" cy="45719"/>
            <a:chOff x="763904" y="3354600"/>
            <a:chExt cx="10866121" cy="0"/>
          </a:xfrm>
        </p:grpSpPr>
        <p:cxnSp>
          <p:nvCxnSpPr>
            <p:cNvPr id="18" name="Straight Connector 17">
              <a:extLst>
                <a:ext uri="{FF2B5EF4-FFF2-40B4-BE49-F238E27FC236}">
                  <a16:creationId xmlns:a16="http://schemas.microsoft.com/office/drawing/2014/main" id="{8C4F45FF-66A0-7B95-58B5-E1B1FC20B2D9}"/>
                </a:ext>
              </a:extLst>
            </p:cNvPr>
            <p:cNvCxnSpPr>
              <a:cxnSpLocks/>
            </p:cNvCxnSpPr>
            <p:nvPr/>
          </p:nvCxnSpPr>
          <p:spPr>
            <a:xfrm>
              <a:off x="4876800" y="3354600"/>
              <a:ext cx="6753225" cy="0"/>
            </a:xfrm>
            <a:prstGeom prst="line">
              <a:avLst/>
            </a:prstGeom>
            <a:noFill/>
            <a:ln w="6350">
              <a:solidFill>
                <a:schemeClr val="bg1">
                  <a:lumMod val="75000"/>
                </a:schemeClr>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F89EC78-2263-DA2C-09A7-AFA998D7DAE5}"/>
                </a:ext>
              </a:extLst>
            </p:cNvPr>
            <p:cNvCxnSpPr>
              <a:cxnSpLocks/>
            </p:cNvCxnSpPr>
            <p:nvPr/>
          </p:nvCxnSpPr>
          <p:spPr>
            <a:xfrm>
              <a:off x="763904" y="3354600"/>
              <a:ext cx="3630296" cy="0"/>
            </a:xfrm>
            <a:prstGeom prst="line">
              <a:avLst/>
            </a:prstGeom>
            <a:ln w="6350">
              <a:solidFill>
                <a:schemeClr val="bg1"/>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9D6120C-0E21-4197-246B-F9BBEE1F0E16}"/>
                </a:ext>
                <a:ext uri="{C183D7F6-B498-43B3-948B-1728B52AA6E4}">
                  <adec:decorative xmlns:adec="http://schemas.microsoft.com/office/drawing/2017/decorative" val="1"/>
                </a:ext>
              </a:extLst>
            </p:cNvPr>
            <p:cNvCxnSpPr>
              <a:cxnSpLocks/>
            </p:cNvCxnSpPr>
            <p:nvPr/>
          </p:nvCxnSpPr>
          <p:spPr>
            <a:xfrm>
              <a:off x="11248571" y="3354600"/>
              <a:ext cx="371929"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21" name="Rectangle 20">
            <a:extLst>
              <a:ext uri="{FF2B5EF4-FFF2-40B4-BE49-F238E27FC236}">
                <a16:creationId xmlns:a16="http://schemas.microsoft.com/office/drawing/2014/main" id="{83D10B48-1E37-6A68-0652-D5FBFCB40486}"/>
              </a:ext>
            </a:extLst>
          </p:cNvPr>
          <p:cNvSpPr>
            <a:spLocks/>
          </p:cNvSpPr>
          <p:nvPr/>
        </p:nvSpPr>
        <p:spPr bwMode="auto">
          <a:xfrm>
            <a:off x="763904" y="4999775"/>
            <a:ext cx="3630296" cy="493781"/>
          </a:xfrm>
          <a:prstGeom prst="rect">
            <a:avLst/>
          </a:prstGeom>
          <a:noFill/>
          <a:ln w="317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l" defTabSz="932472" fontAlgn="base">
              <a:spcBef>
                <a:spcPts val="100"/>
              </a:spcBef>
              <a:spcAft>
                <a:spcPts val="100"/>
              </a:spcAft>
            </a:pPr>
            <a:r>
              <a:rPr lang="en-US" sz="1600" dirty="0">
                <a:solidFill>
                  <a:schemeClr val="tx2"/>
                </a:solidFill>
                <a:latin typeface="+mj-lt"/>
                <a:ea typeface="Segoe UI" pitchFamily="34" charset="0"/>
                <a:cs typeface="Segoe UI" pitchFamily="34" charset="0"/>
              </a:rPr>
              <a:t>None</a:t>
            </a:r>
          </a:p>
        </p:txBody>
      </p:sp>
      <p:sp>
        <p:nvSpPr>
          <p:cNvPr id="22" name="Rectangle 21">
            <a:extLst>
              <a:ext uri="{FF2B5EF4-FFF2-40B4-BE49-F238E27FC236}">
                <a16:creationId xmlns:a16="http://schemas.microsoft.com/office/drawing/2014/main" id="{5E7C9DBA-025E-0D16-E041-4DFD3BC5EADA}"/>
              </a:ext>
            </a:extLst>
          </p:cNvPr>
          <p:cNvSpPr>
            <a:spLocks/>
          </p:cNvSpPr>
          <p:nvPr/>
        </p:nvSpPr>
        <p:spPr bwMode="auto">
          <a:xfrm>
            <a:off x="4876800" y="5031512"/>
            <a:ext cx="6753225" cy="493580"/>
          </a:xfrm>
          <a:prstGeom prst="rect">
            <a:avLst/>
          </a:prstGeom>
          <a:noFill/>
          <a:ln w="317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600" dirty="0">
                <a:solidFill>
                  <a:srgbClr val="171717"/>
                </a:solidFill>
                <a:latin typeface="Segoe UI" panose="020B0502040204020203" pitchFamily="34" charset="0"/>
              </a:rPr>
              <a:t>Route table which does </a:t>
            </a:r>
            <a:r>
              <a:rPr lang="en-US" sz="1600" b="1" dirty="0">
                <a:solidFill>
                  <a:srgbClr val="171717"/>
                </a:solidFill>
                <a:latin typeface="Segoe UI" panose="020B0502040204020203" pitchFamily="34" charset="0"/>
              </a:rPr>
              <a:t>not</a:t>
            </a:r>
            <a:r>
              <a:rPr lang="en-US" sz="1600" dirty="0">
                <a:solidFill>
                  <a:srgbClr val="171717"/>
                </a:solidFill>
                <a:latin typeface="Segoe UI" panose="020B0502040204020203" pitchFamily="34" charset="0"/>
              </a:rPr>
              <a:t> require a default route. Used in BYO CNI scenarios.</a:t>
            </a:r>
            <a:endParaRPr lang="en-US" sz="1600" b="1" u="sng" dirty="0">
              <a:solidFill>
                <a:srgbClr val="171717"/>
              </a:solidFill>
              <a:latin typeface="Segoe UI" panose="020B0502040204020203" pitchFamily="34" charset="0"/>
            </a:endParaRPr>
          </a:p>
        </p:txBody>
      </p:sp>
      <p:pic>
        <p:nvPicPr>
          <p:cNvPr id="23" name="Graphic 22">
            <a:extLst>
              <a:ext uri="{FF2B5EF4-FFF2-40B4-BE49-F238E27FC236}">
                <a16:creationId xmlns:a16="http://schemas.microsoft.com/office/drawing/2014/main" id="{01575255-5935-78F6-DDEA-1349CCD872D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90331" y="2272366"/>
            <a:ext cx="584817" cy="584817"/>
          </a:xfrm>
          <a:prstGeom prst="rect">
            <a:avLst/>
          </a:prstGeom>
        </p:spPr>
      </p:pic>
      <p:pic>
        <p:nvPicPr>
          <p:cNvPr id="25" name="Graphic 24">
            <a:extLst>
              <a:ext uri="{FF2B5EF4-FFF2-40B4-BE49-F238E27FC236}">
                <a16:creationId xmlns:a16="http://schemas.microsoft.com/office/drawing/2014/main" id="{EF3EA3A4-7CEE-A652-2433-1E2DBFBE79F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735789" y="3198664"/>
            <a:ext cx="605621" cy="605621"/>
          </a:xfrm>
          <a:prstGeom prst="rect">
            <a:avLst/>
          </a:prstGeom>
        </p:spPr>
      </p:pic>
      <p:pic>
        <p:nvPicPr>
          <p:cNvPr id="26" name="Graphic 25">
            <a:extLst>
              <a:ext uri="{FF2B5EF4-FFF2-40B4-BE49-F238E27FC236}">
                <a16:creationId xmlns:a16="http://schemas.microsoft.com/office/drawing/2014/main" id="{94A311C0-AA6D-D2BE-8749-F7C194B6513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803428" y="4251466"/>
            <a:ext cx="590772" cy="590772"/>
          </a:xfrm>
          <a:prstGeom prst="rect">
            <a:avLst/>
          </a:prstGeom>
        </p:spPr>
      </p:pic>
      <p:grpSp>
        <p:nvGrpSpPr>
          <p:cNvPr id="33" name="Group 32">
            <a:extLst>
              <a:ext uri="{FF2B5EF4-FFF2-40B4-BE49-F238E27FC236}">
                <a16:creationId xmlns:a16="http://schemas.microsoft.com/office/drawing/2014/main" id="{58BC46FE-D463-8096-AF88-4A7118DF24A6}"/>
              </a:ext>
              <a:ext uri="{C183D7F6-B498-43B3-948B-1728B52AA6E4}">
                <adec:decorative xmlns:adec="http://schemas.microsoft.com/office/drawing/2017/decorative" val="1"/>
              </a:ext>
            </a:extLst>
          </p:cNvPr>
          <p:cNvGrpSpPr/>
          <p:nvPr/>
        </p:nvGrpSpPr>
        <p:grpSpPr>
          <a:xfrm>
            <a:off x="763904" y="5605099"/>
            <a:ext cx="10866121" cy="45719"/>
            <a:chOff x="763904" y="3354600"/>
            <a:chExt cx="10866121" cy="0"/>
          </a:xfrm>
        </p:grpSpPr>
        <p:cxnSp>
          <p:nvCxnSpPr>
            <p:cNvPr id="34" name="Straight Connector 33">
              <a:extLst>
                <a:ext uri="{FF2B5EF4-FFF2-40B4-BE49-F238E27FC236}">
                  <a16:creationId xmlns:a16="http://schemas.microsoft.com/office/drawing/2014/main" id="{2FC0BE41-1733-E115-A1E9-9771A13473C0}"/>
                </a:ext>
              </a:extLst>
            </p:cNvPr>
            <p:cNvCxnSpPr>
              <a:cxnSpLocks/>
            </p:cNvCxnSpPr>
            <p:nvPr/>
          </p:nvCxnSpPr>
          <p:spPr>
            <a:xfrm>
              <a:off x="4876800" y="3354600"/>
              <a:ext cx="6753225" cy="0"/>
            </a:xfrm>
            <a:prstGeom prst="line">
              <a:avLst/>
            </a:prstGeom>
            <a:noFill/>
            <a:ln w="6350">
              <a:solidFill>
                <a:schemeClr val="bg1">
                  <a:lumMod val="75000"/>
                </a:schemeClr>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3813DA0-417F-BFF8-924C-BA47DA05063E}"/>
                </a:ext>
              </a:extLst>
            </p:cNvPr>
            <p:cNvCxnSpPr>
              <a:cxnSpLocks/>
            </p:cNvCxnSpPr>
            <p:nvPr/>
          </p:nvCxnSpPr>
          <p:spPr>
            <a:xfrm>
              <a:off x="763904" y="3354600"/>
              <a:ext cx="3630296" cy="0"/>
            </a:xfrm>
            <a:prstGeom prst="line">
              <a:avLst/>
            </a:prstGeom>
            <a:ln w="6350">
              <a:solidFill>
                <a:schemeClr val="bg1"/>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C25A1A6-3275-E3D9-B02B-96799AE6882E}"/>
                </a:ext>
                <a:ext uri="{C183D7F6-B498-43B3-948B-1728B52AA6E4}">
                  <adec:decorative xmlns:adec="http://schemas.microsoft.com/office/drawing/2017/decorative" val="1"/>
                </a:ext>
              </a:extLst>
            </p:cNvPr>
            <p:cNvCxnSpPr>
              <a:cxnSpLocks/>
            </p:cNvCxnSpPr>
            <p:nvPr/>
          </p:nvCxnSpPr>
          <p:spPr>
            <a:xfrm>
              <a:off x="11248571" y="3354600"/>
              <a:ext cx="371929"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37" name="Rectangle 36">
            <a:extLst>
              <a:ext uri="{FF2B5EF4-FFF2-40B4-BE49-F238E27FC236}">
                <a16:creationId xmlns:a16="http://schemas.microsoft.com/office/drawing/2014/main" id="{E65928B9-BD3B-604A-F914-4D8D73C7871A}"/>
              </a:ext>
            </a:extLst>
          </p:cNvPr>
          <p:cNvSpPr>
            <a:spLocks/>
          </p:cNvSpPr>
          <p:nvPr/>
        </p:nvSpPr>
        <p:spPr bwMode="auto">
          <a:xfrm>
            <a:off x="763904" y="5721678"/>
            <a:ext cx="3630296" cy="493781"/>
          </a:xfrm>
          <a:prstGeom prst="rect">
            <a:avLst/>
          </a:prstGeom>
          <a:noFill/>
          <a:ln w="317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l" defTabSz="932472" fontAlgn="base">
              <a:spcBef>
                <a:spcPts val="100"/>
              </a:spcBef>
              <a:spcAft>
                <a:spcPts val="100"/>
              </a:spcAft>
            </a:pPr>
            <a:r>
              <a:rPr lang="en-US" sz="1600" dirty="0">
                <a:solidFill>
                  <a:schemeClr val="tx2"/>
                </a:solidFill>
                <a:latin typeface="+mj-lt"/>
                <a:ea typeface="Segoe UI" pitchFamily="34" charset="0"/>
                <a:cs typeface="Segoe UI" pitchFamily="34" charset="0"/>
              </a:rPr>
              <a:t>None</a:t>
            </a:r>
          </a:p>
        </p:txBody>
      </p:sp>
      <p:sp>
        <p:nvSpPr>
          <p:cNvPr id="38" name="Rectangle 37">
            <a:extLst>
              <a:ext uri="{FF2B5EF4-FFF2-40B4-BE49-F238E27FC236}">
                <a16:creationId xmlns:a16="http://schemas.microsoft.com/office/drawing/2014/main" id="{A965872B-010F-C9D2-8715-F37E5C37EC34}"/>
              </a:ext>
            </a:extLst>
          </p:cNvPr>
          <p:cNvSpPr>
            <a:spLocks/>
          </p:cNvSpPr>
          <p:nvPr/>
        </p:nvSpPr>
        <p:spPr bwMode="auto">
          <a:xfrm>
            <a:off x="4876800" y="5753415"/>
            <a:ext cx="6753225" cy="493580"/>
          </a:xfrm>
          <a:prstGeom prst="rect">
            <a:avLst/>
          </a:prstGeom>
          <a:noFill/>
          <a:ln w="317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600" dirty="0">
                <a:solidFill>
                  <a:srgbClr val="171717"/>
                </a:solidFill>
                <a:latin typeface="Segoe UI" panose="020B0502040204020203" pitchFamily="34" charset="0"/>
              </a:rPr>
              <a:t>Similar to </a:t>
            </a:r>
            <a:r>
              <a:rPr lang="en-US" sz="1600" dirty="0" err="1">
                <a:solidFill>
                  <a:srgbClr val="171717"/>
                </a:solidFill>
                <a:latin typeface="Segoe UI" panose="020B0502040204020203" pitchFamily="34" charset="0"/>
              </a:rPr>
              <a:t>userDefinedRouting</a:t>
            </a:r>
            <a:r>
              <a:rPr lang="en-US" sz="1600" dirty="0">
                <a:solidFill>
                  <a:srgbClr val="171717"/>
                </a:solidFill>
                <a:latin typeface="Segoe UI" panose="020B0502040204020203" pitchFamily="34" charset="0"/>
              </a:rPr>
              <a:t> but does </a:t>
            </a:r>
            <a:r>
              <a:rPr lang="en-US" sz="1600" b="1" dirty="0">
                <a:solidFill>
                  <a:srgbClr val="171717"/>
                </a:solidFill>
                <a:latin typeface="Segoe UI" panose="020B0502040204020203" pitchFamily="34" charset="0"/>
              </a:rPr>
              <a:t>not</a:t>
            </a:r>
            <a:r>
              <a:rPr lang="en-US" sz="1600" dirty="0">
                <a:solidFill>
                  <a:srgbClr val="171717"/>
                </a:solidFill>
                <a:latin typeface="Segoe UI" panose="020B0502040204020203" pitchFamily="34" charset="0"/>
              </a:rPr>
              <a:t> require a default route. Used in Bring your own CNI scenarios.</a:t>
            </a:r>
            <a:endParaRPr lang="en-US" sz="1600" b="1" u="sng" dirty="0">
              <a:solidFill>
                <a:srgbClr val="171717"/>
              </a:solidFill>
              <a:latin typeface="Segoe UI" panose="020B0502040204020203" pitchFamily="34" charset="0"/>
            </a:endParaRPr>
          </a:p>
        </p:txBody>
      </p:sp>
      <p:sp>
        <p:nvSpPr>
          <p:cNvPr id="39" name="Rectangle 38">
            <a:extLst>
              <a:ext uri="{FF2B5EF4-FFF2-40B4-BE49-F238E27FC236}">
                <a16:creationId xmlns:a16="http://schemas.microsoft.com/office/drawing/2014/main" id="{52DE8348-6C6C-8317-597B-C9DF1D13B615}"/>
              </a:ext>
            </a:extLst>
          </p:cNvPr>
          <p:cNvSpPr>
            <a:spLocks/>
          </p:cNvSpPr>
          <p:nvPr/>
        </p:nvSpPr>
        <p:spPr bwMode="auto">
          <a:xfrm>
            <a:off x="4098814" y="4722220"/>
            <a:ext cx="6753225" cy="652395"/>
          </a:xfrm>
          <a:prstGeom prst="rect">
            <a:avLst/>
          </a:prstGeom>
          <a:noFill/>
          <a:ln w="317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lvl="1">
              <a:lnSpc>
                <a:spcPct val="90000"/>
              </a:lnSpc>
            </a:pPr>
            <a:endParaRPr lang="en-US" sz="1400" dirty="0">
              <a:solidFill>
                <a:srgbClr val="171717"/>
              </a:solidFill>
              <a:latin typeface="Segoe UI" panose="020B0502040204020203" pitchFamily="34" charset="0"/>
            </a:endParaRPr>
          </a:p>
        </p:txBody>
      </p:sp>
      <p:sp>
        <p:nvSpPr>
          <p:cNvPr id="40" name="Rectangle 39">
            <a:extLst>
              <a:ext uri="{FF2B5EF4-FFF2-40B4-BE49-F238E27FC236}">
                <a16:creationId xmlns:a16="http://schemas.microsoft.com/office/drawing/2014/main" id="{FE5C8A6C-9E37-EEC4-6509-7676B2B57E47}"/>
              </a:ext>
            </a:extLst>
          </p:cNvPr>
          <p:cNvSpPr>
            <a:spLocks/>
          </p:cNvSpPr>
          <p:nvPr/>
        </p:nvSpPr>
        <p:spPr bwMode="auto">
          <a:xfrm>
            <a:off x="4876800" y="2044257"/>
            <a:ext cx="6753225" cy="787406"/>
          </a:xfrm>
          <a:prstGeom prst="rect">
            <a:avLst/>
          </a:prstGeom>
          <a:noFill/>
          <a:ln w="317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285750" indent="-285750">
              <a:lnSpc>
                <a:spcPct val="90000"/>
              </a:lnSpc>
              <a:buFont typeface="Arial" panose="020B0604020202020204" pitchFamily="34" charset="0"/>
              <a:buChar char="•"/>
            </a:pPr>
            <a:r>
              <a:rPr lang="en-US" sz="1400" dirty="0"/>
              <a:t>A public IP address is created for cluster egress and assigned to the Load Balancer resource.</a:t>
            </a:r>
          </a:p>
          <a:p>
            <a:pPr marL="285750" indent="-285750">
              <a:lnSpc>
                <a:spcPct val="90000"/>
              </a:lnSpc>
              <a:buFont typeface="Arial" panose="020B0604020202020204" pitchFamily="34" charset="0"/>
              <a:buChar char="•"/>
            </a:pPr>
            <a:r>
              <a:rPr lang="en-US" sz="1400" dirty="0"/>
              <a:t>Used in </a:t>
            </a:r>
          </a:p>
        </p:txBody>
      </p:sp>
      <p:sp>
        <p:nvSpPr>
          <p:cNvPr id="41" name="Rectangle 40">
            <a:extLst>
              <a:ext uri="{FF2B5EF4-FFF2-40B4-BE49-F238E27FC236}">
                <a16:creationId xmlns:a16="http://schemas.microsoft.com/office/drawing/2014/main" id="{BDA6AB34-1A9C-55F2-263D-F8175357FFAB}"/>
              </a:ext>
            </a:extLst>
          </p:cNvPr>
          <p:cNvSpPr>
            <a:spLocks/>
          </p:cNvSpPr>
          <p:nvPr/>
        </p:nvSpPr>
        <p:spPr bwMode="auto">
          <a:xfrm>
            <a:off x="4876800" y="3062147"/>
            <a:ext cx="6753225" cy="787406"/>
          </a:xfrm>
          <a:prstGeom prst="rect">
            <a:avLst/>
          </a:prstGeom>
          <a:noFill/>
          <a:ln w="317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285750" indent="-285750">
              <a:lnSpc>
                <a:spcPct val="90000"/>
              </a:lnSpc>
              <a:buFont typeface="Arial" panose="020B0604020202020204" pitchFamily="34" charset="0"/>
              <a:buChar char="•"/>
            </a:pPr>
            <a:r>
              <a:rPr lang="en-US" sz="1400" dirty="0">
                <a:solidFill>
                  <a:srgbClr val="171717"/>
                </a:solidFill>
                <a:latin typeface="Segoe UI" panose="020B0502040204020203" pitchFamily="34" charset="0"/>
              </a:rPr>
              <a:t>Egress is defined by a route table that the user attaches to the subnet where the AKS cluster nodes will be deployed. Used for routing force traffic via Azure Firewall or a partner’s Network Virtual Appliance (NVA), which will provide egress control.</a:t>
            </a:r>
            <a:endParaRPr lang="en-US" sz="1400" b="1" u="sng" dirty="0">
              <a:solidFill>
                <a:srgbClr val="171717"/>
              </a:solidFill>
              <a:latin typeface="Segoe UI" panose="020B0502040204020203" pitchFamily="34" charset="0"/>
            </a:endParaRPr>
          </a:p>
          <a:p>
            <a:pPr lvl="1">
              <a:lnSpc>
                <a:spcPct val="90000"/>
              </a:lnSpc>
            </a:pPr>
            <a:endParaRPr lang="en-US" sz="1400" b="1" u="sng" dirty="0"/>
          </a:p>
        </p:txBody>
      </p:sp>
    </p:spTree>
    <p:custDataLst>
      <p:tags r:id="rId1"/>
    </p:custDataLst>
    <p:extLst>
      <p:ext uri="{BB962C8B-B14F-4D97-AF65-F5344CB8AC3E}">
        <p14:creationId xmlns:p14="http://schemas.microsoft.com/office/powerpoint/2010/main" val="3994641751"/>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DA0E2-EDCA-CCA8-E218-6D4879BB982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FF82C4F-69AB-FDCE-F0A4-561E97EB59BC}"/>
              </a:ext>
            </a:extLst>
          </p:cNvPr>
          <p:cNvSpPr>
            <a:spLocks noGrp="1"/>
          </p:cNvSpPr>
          <p:nvPr>
            <p:ph type="title"/>
          </p:nvPr>
        </p:nvSpPr>
        <p:spPr>
          <a:xfrm>
            <a:off x="575481" y="1085599"/>
            <a:ext cx="11045019" cy="553998"/>
          </a:xfrm>
        </p:spPr>
        <p:txBody>
          <a:bodyPr/>
          <a:lstStyle/>
          <a:p>
            <a:r>
              <a:rPr lang="en-US" dirty="0"/>
              <a:t>Outbound Types</a:t>
            </a:r>
          </a:p>
        </p:txBody>
      </p:sp>
      <p:sp>
        <p:nvSpPr>
          <p:cNvPr id="10" name="Rectangle 9">
            <a:extLst>
              <a:ext uri="{FF2B5EF4-FFF2-40B4-BE49-F238E27FC236}">
                <a16:creationId xmlns:a16="http://schemas.microsoft.com/office/drawing/2014/main" id="{96E2B959-4387-B1F1-C1E7-6AF9103DDD9D}"/>
              </a:ext>
            </a:extLst>
          </p:cNvPr>
          <p:cNvSpPr>
            <a:spLocks/>
          </p:cNvSpPr>
          <p:nvPr/>
        </p:nvSpPr>
        <p:spPr>
          <a:xfrm>
            <a:off x="575482" y="2278401"/>
            <a:ext cx="11045018" cy="3970318"/>
          </a:xfrm>
          <a:prstGeom prst="rect">
            <a:avLst/>
          </a:prstGeom>
          <a:solidFill>
            <a:schemeClr val="bg1">
              <a:lumMod val="95000"/>
            </a:schemeClr>
          </a:solidFill>
          <a:effectLst>
            <a:outerShdw dist="38100" dir="10800000" algn="r" rotWithShape="0">
              <a:schemeClr val="tx2"/>
            </a:outerShdw>
          </a:effectLst>
        </p:spPr>
        <p:txBody>
          <a:bodyPr wrap="square" lIns="137160" tIns="137160" rIns="137160" bIns="137160" anchor="t" anchorCtr="0">
            <a:spAutoFit/>
          </a:bodyPr>
          <a:lstStyle/>
          <a:p>
            <a:r>
              <a:rPr lang="en-US" sz="1600" dirty="0">
                <a:solidFill>
                  <a:srgbClr val="171717"/>
                </a:solidFill>
                <a:latin typeface="Segoe UI" panose="020B0502040204020203" pitchFamily="34" charset="0"/>
              </a:rPr>
              <a:t>There are 5 types of outbound types for AKS egress:</a:t>
            </a:r>
          </a:p>
          <a:p>
            <a:endParaRPr lang="en-US" sz="1600" dirty="0">
              <a:solidFill>
                <a:srgbClr val="171717"/>
              </a:solidFill>
              <a:latin typeface="Segoe UI" panose="020B0502040204020203" pitchFamily="34" charset="0"/>
            </a:endParaRPr>
          </a:p>
          <a:p>
            <a:pPr marL="457200" indent="-457200">
              <a:buFont typeface="Arial" panose="020B0604020202020204" pitchFamily="34" charset="0"/>
              <a:buChar char="•"/>
            </a:pPr>
            <a:r>
              <a:rPr lang="en-US" sz="1600" b="1" u="sng" dirty="0" err="1">
                <a:solidFill>
                  <a:srgbClr val="171717"/>
                </a:solidFill>
                <a:latin typeface="Segoe UI" panose="020B0502040204020203" pitchFamily="34" charset="0"/>
              </a:rPr>
              <a:t>loadBalancer</a:t>
            </a:r>
            <a:r>
              <a:rPr lang="en-US" sz="1600" b="1" u="sng" dirty="0">
                <a:solidFill>
                  <a:srgbClr val="171717"/>
                </a:solidFill>
                <a:latin typeface="Segoe UI" panose="020B0502040204020203" pitchFamily="34" charset="0"/>
              </a:rPr>
              <a:t>:</a:t>
            </a:r>
            <a:r>
              <a:rPr lang="en-US" sz="1600" dirty="0">
                <a:solidFill>
                  <a:srgbClr val="171717"/>
                </a:solidFill>
                <a:latin typeface="Segoe UI" panose="020B0502040204020203" pitchFamily="34" charset="0"/>
              </a:rPr>
              <a:t> A public IP address is created for cluster egress and assigned to the Load Balancer resource.</a:t>
            </a:r>
            <a:endParaRPr lang="en-US" sz="1600" b="1" u="sng" dirty="0">
              <a:solidFill>
                <a:srgbClr val="171717"/>
              </a:solidFill>
              <a:latin typeface="Segoe UI" panose="020B0502040204020203" pitchFamily="34" charset="0"/>
            </a:endParaRPr>
          </a:p>
          <a:p>
            <a:pPr marL="457200" indent="-457200">
              <a:buFont typeface="Arial" panose="020B0604020202020204" pitchFamily="34" charset="0"/>
              <a:buChar char="•"/>
            </a:pPr>
            <a:r>
              <a:rPr lang="en-US" sz="1600" b="1" u="sng" dirty="0" err="1">
                <a:solidFill>
                  <a:srgbClr val="171717"/>
                </a:solidFill>
                <a:latin typeface="Segoe UI" panose="020B0502040204020203" pitchFamily="34" charset="0"/>
              </a:rPr>
              <a:t>managedNatGateway</a:t>
            </a:r>
            <a:r>
              <a:rPr lang="en-US" sz="1600" dirty="0">
                <a:solidFill>
                  <a:srgbClr val="171717"/>
                </a:solidFill>
                <a:latin typeface="Segoe UI" panose="020B0502040204020203" pitchFamily="34" charset="0"/>
              </a:rPr>
              <a:t> or </a:t>
            </a:r>
            <a:r>
              <a:rPr lang="en-US" sz="1600" b="1" u="sng" dirty="0" err="1">
                <a:solidFill>
                  <a:srgbClr val="171717"/>
                </a:solidFill>
                <a:latin typeface="Segoe UI" panose="020B0502040204020203" pitchFamily="34" charset="0"/>
              </a:rPr>
              <a:t>userAssignedNatGateway</a:t>
            </a:r>
            <a:r>
              <a:rPr lang="en-US" sz="1600" b="1" u="sng" dirty="0">
                <a:solidFill>
                  <a:srgbClr val="171717"/>
                </a:solidFill>
                <a:latin typeface="Segoe UI" panose="020B0502040204020203" pitchFamily="34" charset="0"/>
              </a:rPr>
              <a:t>: </a:t>
            </a:r>
            <a:r>
              <a:rPr lang="en-US" sz="1600" dirty="0">
                <a:solidFill>
                  <a:srgbClr val="171717"/>
                </a:solidFill>
                <a:latin typeface="Segoe UI" panose="020B0502040204020203" pitchFamily="34" charset="0"/>
              </a:rPr>
              <a:t>A NAT Gateway which gets attached to the subnet and provides internet connectivity to all devices connected to it. </a:t>
            </a:r>
            <a:r>
              <a:rPr lang="en-US" sz="1600" b="1" u="sng" dirty="0">
                <a:solidFill>
                  <a:srgbClr val="171717"/>
                </a:solidFill>
                <a:latin typeface="Segoe UI" panose="020B0502040204020203" pitchFamily="34" charset="0"/>
              </a:rPr>
              <a:t>Use when </a:t>
            </a:r>
            <a:r>
              <a:rPr lang="en-US" sz="1600" dirty="0">
                <a:solidFill>
                  <a:srgbClr val="171717"/>
                </a:solidFill>
                <a:latin typeface="Segoe UI" panose="020B0502040204020203" pitchFamily="34" charset="0"/>
              </a:rPr>
              <a:t>you have no strict egress control requirements. Non-recommended.</a:t>
            </a:r>
            <a:endParaRPr lang="en-US" sz="1600" b="1" u="sng" dirty="0">
              <a:solidFill>
                <a:srgbClr val="171717"/>
              </a:solidFill>
              <a:latin typeface="Segoe UI" panose="020B0502040204020203" pitchFamily="34" charset="0"/>
            </a:endParaRPr>
          </a:p>
          <a:p>
            <a:pPr marL="457200" indent="-457200">
              <a:buFont typeface="Arial" panose="020B0604020202020204" pitchFamily="34" charset="0"/>
              <a:buChar char="•"/>
            </a:pPr>
            <a:r>
              <a:rPr lang="en-US" sz="1600" b="1" u="sng" dirty="0" err="1">
                <a:solidFill>
                  <a:srgbClr val="171717"/>
                </a:solidFill>
                <a:latin typeface="Segoe UI" panose="020B0502040204020203" pitchFamily="34" charset="0"/>
              </a:rPr>
              <a:t>userDefinedRouting</a:t>
            </a:r>
            <a:r>
              <a:rPr lang="en-US" sz="1600" b="1" u="sng" dirty="0">
                <a:solidFill>
                  <a:srgbClr val="171717"/>
                </a:solidFill>
                <a:latin typeface="Segoe UI" panose="020B0502040204020203" pitchFamily="34" charset="0"/>
              </a:rPr>
              <a:t>:</a:t>
            </a:r>
            <a:r>
              <a:rPr lang="en-US" sz="1600" dirty="0">
                <a:solidFill>
                  <a:srgbClr val="171717"/>
                </a:solidFill>
                <a:latin typeface="Segoe UI" panose="020B0502040204020203" pitchFamily="34" charset="0"/>
              </a:rPr>
              <a:t> Egress is defined by a route table that the user attaches to the subnet where the AKS cluster nodes will be deployed. Used for routing force traffic via Azure Firewall or a partner’s Network Virtual Appliance (NVA), which will provide egress control.</a:t>
            </a:r>
            <a:endParaRPr lang="en-US" sz="1600" b="1" u="sng" dirty="0">
              <a:solidFill>
                <a:srgbClr val="171717"/>
              </a:solidFill>
              <a:latin typeface="Segoe UI" panose="020B0502040204020203" pitchFamily="34" charset="0"/>
            </a:endParaRPr>
          </a:p>
          <a:p>
            <a:pPr marL="457200" indent="-457200">
              <a:buFont typeface="Arial" panose="020B0604020202020204" pitchFamily="34" charset="0"/>
              <a:buChar char="•"/>
            </a:pPr>
            <a:r>
              <a:rPr lang="en-US" sz="1600" b="1" u="sng" dirty="0">
                <a:solidFill>
                  <a:srgbClr val="171717"/>
                </a:solidFill>
                <a:latin typeface="Segoe UI" panose="020B0502040204020203" pitchFamily="34" charset="0"/>
              </a:rPr>
              <a:t>none:</a:t>
            </a:r>
            <a:r>
              <a:rPr lang="en-US" sz="1600" dirty="0">
                <a:solidFill>
                  <a:srgbClr val="171717"/>
                </a:solidFill>
                <a:latin typeface="Segoe UI" panose="020B0502040204020203" pitchFamily="34" charset="0"/>
              </a:rPr>
              <a:t> Similar to </a:t>
            </a:r>
            <a:r>
              <a:rPr lang="en-US" sz="1600" dirty="0" err="1">
                <a:solidFill>
                  <a:srgbClr val="171717"/>
                </a:solidFill>
                <a:latin typeface="Segoe UI" panose="020B0502040204020203" pitchFamily="34" charset="0"/>
              </a:rPr>
              <a:t>userDefinedRouting</a:t>
            </a:r>
            <a:r>
              <a:rPr lang="en-US" sz="1600" dirty="0">
                <a:solidFill>
                  <a:srgbClr val="171717"/>
                </a:solidFill>
                <a:latin typeface="Segoe UI" panose="020B0502040204020203" pitchFamily="34" charset="0"/>
              </a:rPr>
              <a:t> but does </a:t>
            </a:r>
            <a:r>
              <a:rPr lang="en-US" sz="1600" b="1" dirty="0">
                <a:solidFill>
                  <a:srgbClr val="171717"/>
                </a:solidFill>
                <a:latin typeface="Segoe UI" panose="020B0502040204020203" pitchFamily="34" charset="0"/>
              </a:rPr>
              <a:t>not</a:t>
            </a:r>
            <a:r>
              <a:rPr lang="en-US" sz="1600" dirty="0">
                <a:solidFill>
                  <a:srgbClr val="171717"/>
                </a:solidFill>
                <a:latin typeface="Segoe UI" panose="020B0502040204020203" pitchFamily="34" charset="0"/>
              </a:rPr>
              <a:t> require a default route. Used in Bring your own CNI scenarios.</a:t>
            </a:r>
            <a:endParaRPr lang="en-US" sz="1600" b="1" u="sng" dirty="0">
              <a:solidFill>
                <a:srgbClr val="171717"/>
              </a:solidFill>
              <a:latin typeface="Segoe UI" panose="020B0502040204020203" pitchFamily="34" charset="0"/>
            </a:endParaRPr>
          </a:p>
          <a:p>
            <a:pPr marL="457200" indent="-457200">
              <a:buFont typeface="Arial" panose="020B0604020202020204" pitchFamily="34" charset="0"/>
              <a:buChar char="•"/>
            </a:pPr>
            <a:r>
              <a:rPr lang="en-GB" sz="1600" b="1" u="sng" dirty="0">
                <a:solidFill>
                  <a:srgbClr val="171717"/>
                </a:solidFill>
                <a:latin typeface="Segoe UI" panose="020B0502040204020203" pitchFamily="34" charset="0"/>
              </a:rPr>
              <a:t>block: </a:t>
            </a:r>
            <a:r>
              <a:rPr lang="en-GB" sz="1600" dirty="0">
                <a:solidFill>
                  <a:srgbClr val="171717"/>
                </a:solidFill>
                <a:latin typeface="Segoe UI" panose="020B0502040204020203" pitchFamily="34" charset="0"/>
              </a:rPr>
              <a:t>AKS configures network rules to actively block all egress traffic from the cluster. For air-gapped environments where AKS clusters </a:t>
            </a:r>
            <a:r>
              <a:rPr lang="en-GB" sz="1600" b="1" u="sng" dirty="0">
                <a:solidFill>
                  <a:srgbClr val="171717"/>
                </a:solidFill>
                <a:latin typeface="Segoe UI" panose="020B0502040204020203" pitchFamily="34" charset="0"/>
              </a:rPr>
              <a:t>MUST NOT </a:t>
            </a:r>
            <a:r>
              <a:rPr lang="en-GB" sz="1600" dirty="0">
                <a:solidFill>
                  <a:srgbClr val="171717"/>
                </a:solidFill>
                <a:latin typeface="Segoe UI" panose="020B0502040204020203" pitchFamily="34" charset="0"/>
              </a:rPr>
              <a:t>have outbound connectivity towards the public internet.</a:t>
            </a:r>
            <a:endParaRPr lang="en-US" sz="1600" dirty="0">
              <a:solidFill>
                <a:srgbClr val="171717"/>
              </a:solidFill>
              <a:latin typeface="Segoe UI" panose="020B0502040204020203" pitchFamily="34" charset="0"/>
            </a:endParaRPr>
          </a:p>
          <a:p>
            <a:pPr marL="457200" indent="-457200">
              <a:buFont typeface="Arial" panose="020B0604020202020204" pitchFamily="34" charset="0"/>
              <a:buChar char="•"/>
            </a:pPr>
            <a:endParaRPr lang="en-US" sz="1600" dirty="0">
              <a:solidFill>
                <a:srgbClr val="171717"/>
              </a:solidFill>
              <a:latin typeface="Segoe UI" panose="020B0502040204020203" pitchFamily="34" charset="0"/>
            </a:endParaRPr>
          </a:p>
          <a:p>
            <a:endParaRPr lang="en-US" sz="1600" dirty="0">
              <a:solidFill>
                <a:srgbClr val="171717"/>
              </a:solidFill>
              <a:latin typeface="Segoe UI" panose="020B0502040204020203" pitchFamily="34" charset="0"/>
            </a:endParaRPr>
          </a:p>
          <a:p>
            <a:r>
              <a:rPr lang="en-US" sz="1600" dirty="0">
                <a:solidFill>
                  <a:srgbClr val="171717"/>
                </a:solidFill>
                <a:latin typeface="Segoe UI" panose="020B0502040204020203" pitchFamily="34" charset="0"/>
              </a:rPr>
              <a:t>Changing outbound type of an existing cluster is supported for </a:t>
            </a:r>
            <a:r>
              <a:rPr lang="en-US" sz="1600" dirty="0">
                <a:solidFill>
                  <a:srgbClr val="171717"/>
                </a:solidFill>
                <a:latin typeface="Segoe UI" panose="020B0502040204020203" pitchFamily="34" charset="0"/>
                <a:hlinkClick r:id="rId2"/>
              </a:rPr>
              <a:t>some scenarios</a:t>
            </a:r>
            <a:r>
              <a:rPr lang="en-US" sz="1600" dirty="0">
                <a:solidFill>
                  <a:srgbClr val="171717"/>
                </a:solidFill>
                <a:latin typeface="Segoe UI" panose="020B0502040204020203" pitchFamily="34" charset="0"/>
              </a:rPr>
              <a:t>. </a:t>
            </a:r>
            <a:endParaRPr lang="en-US" sz="1600" dirty="0"/>
          </a:p>
        </p:txBody>
      </p:sp>
      <p:sp>
        <p:nvSpPr>
          <p:cNvPr id="17" name="Footer Placeholder 6">
            <a:extLst>
              <a:ext uri="{FF2B5EF4-FFF2-40B4-BE49-F238E27FC236}">
                <a16:creationId xmlns:a16="http://schemas.microsoft.com/office/drawing/2014/main" id="{FEFC6EB8-0D4D-D5C7-1520-5C620931E2A4}"/>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8" name="Slide Number Placeholder 5">
            <a:extLst>
              <a:ext uri="{FF2B5EF4-FFF2-40B4-BE49-F238E27FC236}">
                <a16:creationId xmlns:a16="http://schemas.microsoft.com/office/drawing/2014/main" id="{60EBD63E-6C66-0406-3D1C-C55A3DA49F86}"/>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28</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666322321"/>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292F6-ABA0-AFEA-BD87-8F1EEDC7624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E5B51D6-ECAD-3414-E669-CBEE134EA5A2}"/>
              </a:ext>
            </a:extLst>
          </p:cNvPr>
          <p:cNvSpPr>
            <a:spLocks noGrp="1"/>
          </p:cNvSpPr>
          <p:nvPr>
            <p:ph type="title"/>
          </p:nvPr>
        </p:nvSpPr>
        <p:spPr>
          <a:xfrm>
            <a:off x="575481" y="1085599"/>
            <a:ext cx="11045019" cy="553998"/>
          </a:xfrm>
        </p:spPr>
        <p:txBody>
          <a:bodyPr/>
          <a:lstStyle/>
          <a:p>
            <a:r>
              <a:rPr lang="en-US" dirty="0"/>
              <a:t>(Preview) AKS Static Egress Gateway</a:t>
            </a:r>
          </a:p>
        </p:txBody>
      </p:sp>
      <p:sp>
        <p:nvSpPr>
          <p:cNvPr id="10" name="Rectangle 9">
            <a:extLst>
              <a:ext uri="{FF2B5EF4-FFF2-40B4-BE49-F238E27FC236}">
                <a16:creationId xmlns:a16="http://schemas.microsoft.com/office/drawing/2014/main" id="{0592DE5A-2947-DF7B-D5DE-9E1B30C8D1DA}"/>
              </a:ext>
            </a:extLst>
          </p:cNvPr>
          <p:cNvSpPr>
            <a:spLocks/>
          </p:cNvSpPr>
          <p:nvPr/>
        </p:nvSpPr>
        <p:spPr>
          <a:xfrm>
            <a:off x="577472" y="2283355"/>
            <a:ext cx="11119800" cy="3724096"/>
          </a:xfrm>
          <a:prstGeom prst="rect">
            <a:avLst/>
          </a:prstGeom>
          <a:solidFill>
            <a:schemeClr val="bg1">
              <a:lumMod val="95000"/>
            </a:schemeClr>
          </a:solidFill>
          <a:effectLst>
            <a:outerShdw dist="38100" dir="10800000" algn="r" rotWithShape="0">
              <a:schemeClr val="tx2"/>
            </a:outerShdw>
          </a:effectLst>
        </p:spPr>
        <p:txBody>
          <a:bodyPr wrap="square" lIns="137160" tIns="137160" rIns="137160" bIns="137160" anchor="t" anchorCtr="0">
            <a:spAutoFit/>
          </a:bodyPr>
          <a:lstStyle/>
          <a:p>
            <a:r>
              <a:rPr lang="en-US" sz="1600" b="1" u="sng" dirty="0"/>
              <a:t>Static Egress Gateway isn't supported in clusters with Azure CNI Pod Subnet.</a:t>
            </a:r>
          </a:p>
          <a:p>
            <a:endParaRPr lang="en-US" sz="1600" b="1" u="sng" dirty="0"/>
          </a:p>
          <a:p>
            <a:r>
              <a:rPr lang="en-US" sz="1600" b="1" u="sng" dirty="0"/>
              <a:t>Kubernetes network policies won't apply to traffic leaving the cluster through the gateway node pool.</a:t>
            </a:r>
          </a:p>
          <a:p>
            <a:endParaRPr lang="en-US" sz="1600" b="1" u="sng" dirty="0"/>
          </a:p>
          <a:p>
            <a:r>
              <a:rPr lang="en-US" sz="1600" b="1" u="sng" dirty="0"/>
              <a:t>This shouldn't affect cluster traffic control as only egress traffic from annotated pods routed to the gateway node pool are affected.</a:t>
            </a:r>
          </a:p>
          <a:p>
            <a:r>
              <a:rPr lang="en-US" sz="1600" b="1" u="sng" dirty="0"/>
              <a:t>The gateway node pool isn't intended for general-purpose workloads and should be used for egress traffic only.</a:t>
            </a:r>
          </a:p>
          <a:p>
            <a:endParaRPr lang="en-US" sz="1600" b="1" u="sng" dirty="0"/>
          </a:p>
          <a:p>
            <a:r>
              <a:rPr lang="en-US" sz="1600" b="1" u="sng" dirty="0"/>
              <a:t>Windows node pools can't be used as gateway node pools.</a:t>
            </a:r>
          </a:p>
          <a:p>
            <a:endParaRPr lang="en-US" sz="1600" b="1" u="sng" dirty="0"/>
          </a:p>
          <a:p>
            <a:r>
              <a:rPr lang="en-US" sz="1600" b="1" u="sng" dirty="0" err="1"/>
              <a:t>hostNetwork</a:t>
            </a:r>
            <a:r>
              <a:rPr lang="en-US" sz="1600" b="1" u="sng" dirty="0"/>
              <a:t> pods cannot be annotated to use the gateway node pool.</a:t>
            </a:r>
          </a:p>
          <a:p>
            <a:endParaRPr lang="en-US" sz="1600" b="1" u="sng" dirty="0"/>
          </a:p>
          <a:p>
            <a:r>
              <a:rPr lang="en-US" sz="1600" b="1" u="sng" dirty="0"/>
              <a:t>Pods can only use a gateway node pool if they are in the same namespace as the </a:t>
            </a:r>
            <a:r>
              <a:rPr lang="en-US" sz="1600" b="1" u="sng" dirty="0" err="1"/>
              <a:t>StaticGatewayConfiguration</a:t>
            </a:r>
            <a:r>
              <a:rPr lang="en-US" sz="1600" b="1" u="sng" dirty="0"/>
              <a:t> resource.</a:t>
            </a:r>
          </a:p>
        </p:txBody>
      </p:sp>
      <p:sp>
        <p:nvSpPr>
          <p:cNvPr id="17" name="Footer Placeholder 6">
            <a:extLst>
              <a:ext uri="{FF2B5EF4-FFF2-40B4-BE49-F238E27FC236}">
                <a16:creationId xmlns:a16="http://schemas.microsoft.com/office/drawing/2014/main" id="{B39D1786-AEBF-B10B-9B46-3A447F2EE691}"/>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8" name="Slide Number Placeholder 5">
            <a:extLst>
              <a:ext uri="{FF2B5EF4-FFF2-40B4-BE49-F238E27FC236}">
                <a16:creationId xmlns:a16="http://schemas.microsoft.com/office/drawing/2014/main" id="{EAECC6BC-0555-7A97-BB21-FABFBD1909A2}"/>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29</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642329653"/>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1F79E-65FA-E603-C75C-C1324152DE2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F7EAECF-2070-AA84-C93E-4FE7F14DE7A6}"/>
              </a:ext>
            </a:extLst>
          </p:cNvPr>
          <p:cNvSpPr>
            <a:spLocks noGrp="1"/>
          </p:cNvSpPr>
          <p:nvPr>
            <p:ph type="title"/>
          </p:nvPr>
        </p:nvSpPr>
        <p:spPr>
          <a:xfrm>
            <a:off x="575481" y="599436"/>
            <a:ext cx="11018520" cy="553998"/>
          </a:xfrm>
        </p:spPr>
        <p:txBody>
          <a:bodyPr/>
          <a:lstStyle/>
          <a:p>
            <a:r>
              <a:rPr lang="en-US" dirty="0"/>
              <a:t>Demo: AKS Egress with Azure Firewall</a:t>
            </a:r>
          </a:p>
        </p:txBody>
      </p:sp>
      <p:sp>
        <p:nvSpPr>
          <p:cNvPr id="17" name="Rectangle 16">
            <a:extLst>
              <a:ext uri="{FF2B5EF4-FFF2-40B4-BE49-F238E27FC236}">
                <a16:creationId xmlns:a16="http://schemas.microsoft.com/office/drawing/2014/main" id="{9628D76E-6C8D-1A32-7E71-7D72CD6BBFE5}"/>
              </a:ext>
            </a:extLst>
          </p:cNvPr>
          <p:cNvSpPr>
            <a:spLocks/>
          </p:cNvSpPr>
          <p:nvPr/>
        </p:nvSpPr>
        <p:spPr bwMode="auto">
          <a:xfrm>
            <a:off x="0" y="2343006"/>
            <a:ext cx="7445375" cy="3561008"/>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566928" tIns="192024" rIns="182880" bIns="182880" numCol="1" spcCol="0" rtlCol="0" fromWordArt="0" anchor="t" anchorCtr="0" forceAA="0" compatLnSpc="1">
            <a:prstTxWarp prst="textNoShape">
              <a:avLst/>
            </a:prstTxWarp>
            <a:noAutofit/>
          </a:bodyPr>
          <a:lstStyle/>
          <a:p>
            <a:r>
              <a:rPr lang="en-US" sz="2000" dirty="0">
                <a:solidFill>
                  <a:schemeClr val="tx1"/>
                </a:solidFill>
              </a:rPr>
              <a:t>Understand how egress routing is configured for AKS</a:t>
            </a:r>
          </a:p>
          <a:p>
            <a:endParaRPr lang="en-US" sz="2000" dirty="0">
              <a:solidFill>
                <a:schemeClr val="tx1"/>
              </a:solidFill>
            </a:endParaRPr>
          </a:p>
          <a:p>
            <a:r>
              <a:rPr lang="en-US" sz="2000" dirty="0">
                <a:solidFill>
                  <a:schemeClr val="tx1"/>
                </a:solidFill>
              </a:rPr>
              <a:t>Visualize allowed and dropped traffic from Azure Firewall logs</a:t>
            </a:r>
          </a:p>
          <a:p>
            <a:endParaRPr lang="en-US" sz="2000" dirty="0">
              <a:solidFill>
                <a:schemeClr val="tx1"/>
              </a:solidFill>
            </a:endParaRPr>
          </a:p>
          <a:p>
            <a:endParaRPr lang="en-US" sz="2000" dirty="0">
              <a:solidFill>
                <a:schemeClr val="tx1"/>
              </a:solidFill>
            </a:endParaRPr>
          </a:p>
        </p:txBody>
      </p:sp>
      <p:sp>
        <p:nvSpPr>
          <p:cNvPr id="12" name="Footer Placeholder 3">
            <a:extLst>
              <a:ext uri="{FF2B5EF4-FFF2-40B4-BE49-F238E27FC236}">
                <a16:creationId xmlns:a16="http://schemas.microsoft.com/office/drawing/2014/main" id="{5105064F-F1CC-115E-14E6-10D1D74B300B}"/>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3" name="Slide Number Placeholder 7">
            <a:extLst>
              <a:ext uri="{FF2B5EF4-FFF2-40B4-BE49-F238E27FC236}">
                <a16:creationId xmlns:a16="http://schemas.microsoft.com/office/drawing/2014/main" id="{196516DF-3D74-9737-E85B-973F9BD45F7C}"/>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30</a:t>
            </a:fld>
            <a:endParaRPr lang="en-US" noProof="0"/>
          </a:p>
        </p:txBody>
      </p:sp>
      <p:sp>
        <p:nvSpPr>
          <p:cNvPr id="5" name="Text Placeholder 4">
            <a:extLst>
              <a:ext uri="{FF2B5EF4-FFF2-40B4-BE49-F238E27FC236}">
                <a16:creationId xmlns:a16="http://schemas.microsoft.com/office/drawing/2014/main" id="{088BDC24-D186-6C1D-CD9E-F03CACBFAE1F}"/>
              </a:ext>
            </a:extLst>
          </p:cNvPr>
          <p:cNvSpPr>
            <a:spLocks noGrp="1"/>
          </p:cNvSpPr>
          <p:nvPr>
            <p:ph type="body" sz="quarter" idx="12"/>
          </p:nvPr>
        </p:nvSpPr>
        <p:spPr>
          <a:xfrm>
            <a:off x="584201" y="1310646"/>
            <a:ext cx="11018520" cy="276999"/>
          </a:xfrm>
        </p:spPr>
        <p:txBody>
          <a:bodyPr/>
          <a:lstStyle/>
          <a:p>
            <a:r>
              <a:rPr lang="en-US" dirty="0"/>
              <a:t>See it in action!</a:t>
            </a:r>
          </a:p>
        </p:txBody>
      </p:sp>
      <p:pic>
        <p:nvPicPr>
          <p:cNvPr id="4" name="Graphic 3">
            <a:extLst>
              <a:ext uri="{FF2B5EF4-FFF2-40B4-BE49-F238E27FC236}">
                <a16:creationId xmlns:a16="http://schemas.microsoft.com/office/drawing/2014/main" id="{F9D3287D-3CC2-7977-9D37-47D7CEC8021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39174" y="2604263"/>
            <a:ext cx="2691445" cy="2691445"/>
          </a:xfrm>
          <a:prstGeom prst="rect">
            <a:avLst/>
          </a:prstGeom>
        </p:spPr>
      </p:pic>
    </p:spTree>
    <p:custDataLst>
      <p:tags r:id="rId1"/>
    </p:custDataLst>
    <p:extLst>
      <p:ext uri="{BB962C8B-B14F-4D97-AF65-F5344CB8AC3E}">
        <p14:creationId xmlns:p14="http://schemas.microsoft.com/office/powerpoint/2010/main" val="3033000062"/>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F168D-0E78-74C5-9D14-6ABDB56AEF3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859ED68-DE70-56F2-E071-3C51CA03FFB9}"/>
              </a:ext>
            </a:extLst>
          </p:cNvPr>
          <p:cNvSpPr>
            <a:spLocks noGrp="1"/>
          </p:cNvSpPr>
          <p:nvPr>
            <p:ph type="title"/>
            <p:custDataLst>
              <p:custData r:id="rId2"/>
            </p:custDataLst>
          </p:nvPr>
        </p:nvSpPr>
        <p:spPr>
          <a:xfrm>
            <a:off x="584200" y="2303312"/>
            <a:ext cx="9169400" cy="3046988"/>
          </a:xfrm>
        </p:spPr>
        <p:txBody>
          <a:bodyPr/>
          <a:lstStyle/>
          <a:p>
            <a:r>
              <a:rPr lang="en-US" dirty="0"/>
              <a:t>Advanced Container Networking Service (ACNS)</a:t>
            </a:r>
          </a:p>
        </p:txBody>
      </p:sp>
      <p:sp>
        <p:nvSpPr>
          <p:cNvPr id="2" name="Text Placeholder 1">
            <a:extLst>
              <a:ext uri="{FF2B5EF4-FFF2-40B4-BE49-F238E27FC236}">
                <a16:creationId xmlns:a16="http://schemas.microsoft.com/office/drawing/2014/main" id="{EB15BF01-145D-1CDC-A2F6-66C7D31059A0}"/>
              </a:ext>
            </a:extLst>
          </p:cNvPr>
          <p:cNvSpPr>
            <a:spLocks noGrp="1"/>
          </p:cNvSpPr>
          <p:nvPr>
            <p:ph type="body" sz="quarter" idx="12"/>
          </p:nvPr>
        </p:nvSpPr>
        <p:spPr>
          <a:xfrm>
            <a:off x="582042" y="5634620"/>
            <a:ext cx="5279915" cy="677108"/>
          </a:xfrm>
        </p:spPr>
        <p:txBody>
          <a:bodyPr/>
          <a:lstStyle/>
          <a:p>
            <a:r>
              <a:rPr lang="en-US" dirty="0"/>
              <a:t>Enhanced network and observability suite</a:t>
            </a:r>
          </a:p>
        </p:txBody>
      </p:sp>
      <p:sp>
        <p:nvSpPr>
          <p:cNvPr id="11" name="Footer Placeholder 2">
            <a:extLst>
              <a:ext uri="{FF2B5EF4-FFF2-40B4-BE49-F238E27FC236}">
                <a16:creationId xmlns:a16="http://schemas.microsoft.com/office/drawing/2014/main" id="{235351CA-DFE7-B9D8-112E-8AF94AFB9CDA}"/>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79A98B69-FF46-6644-65FA-AA3C83C0C083}"/>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31</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pic>
        <p:nvPicPr>
          <p:cNvPr id="1034" name="Picture 10" descr="Brand Guidelines – eBPF">
            <a:extLst>
              <a:ext uri="{FF2B5EF4-FFF2-40B4-BE49-F238E27FC236}">
                <a16:creationId xmlns:a16="http://schemas.microsoft.com/office/drawing/2014/main" id="{50743A17-D0C6-0589-5E4C-F4D2E30DAD0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65450"/>
          <a:stretch>
            <a:fillRect/>
          </a:stretch>
        </p:blipFill>
        <p:spPr bwMode="auto">
          <a:xfrm>
            <a:off x="8936037" y="3167743"/>
            <a:ext cx="2427107" cy="2529153"/>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049894491"/>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2DE2D-7C76-F1FA-6C85-D6673DA8713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E97D158-897C-B164-E8AC-DAE5263D65DA}"/>
              </a:ext>
            </a:extLst>
          </p:cNvPr>
          <p:cNvSpPr>
            <a:spLocks noGrp="1"/>
          </p:cNvSpPr>
          <p:nvPr>
            <p:ph type="title"/>
          </p:nvPr>
        </p:nvSpPr>
        <p:spPr>
          <a:xfrm>
            <a:off x="575481" y="1085599"/>
            <a:ext cx="11045019" cy="553998"/>
          </a:xfrm>
        </p:spPr>
        <p:txBody>
          <a:bodyPr/>
          <a:lstStyle/>
          <a:p>
            <a:r>
              <a:rPr lang="en-US" dirty="0"/>
              <a:t>What is </a:t>
            </a:r>
            <a:r>
              <a:rPr lang="en-US" dirty="0" err="1"/>
              <a:t>eBPF</a:t>
            </a:r>
            <a:r>
              <a:rPr lang="en-US" dirty="0"/>
              <a:t>?</a:t>
            </a:r>
          </a:p>
        </p:txBody>
      </p:sp>
      <p:sp>
        <p:nvSpPr>
          <p:cNvPr id="10" name="Rectangle 9">
            <a:extLst>
              <a:ext uri="{FF2B5EF4-FFF2-40B4-BE49-F238E27FC236}">
                <a16:creationId xmlns:a16="http://schemas.microsoft.com/office/drawing/2014/main" id="{24577F81-B26B-B2FC-B146-8E4567025A88}"/>
              </a:ext>
            </a:extLst>
          </p:cNvPr>
          <p:cNvSpPr>
            <a:spLocks/>
          </p:cNvSpPr>
          <p:nvPr/>
        </p:nvSpPr>
        <p:spPr>
          <a:xfrm>
            <a:off x="577472" y="2283355"/>
            <a:ext cx="6585328" cy="2985433"/>
          </a:xfrm>
          <a:prstGeom prst="rect">
            <a:avLst/>
          </a:prstGeom>
          <a:solidFill>
            <a:schemeClr val="bg1">
              <a:lumMod val="95000"/>
            </a:schemeClr>
          </a:solidFill>
          <a:effectLst>
            <a:outerShdw dist="38100" dir="10800000" algn="r" rotWithShape="0">
              <a:schemeClr val="tx2"/>
            </a:outerShdw>
          </a:effectLst>
        </p:spPr>
        <p:txBody>
          <a:bodyPr wrap="square" lIns="137160" tIns="137160" rIns="137160" bIns="137160" anchor="t" anchorCtr="0">
            <a:spAutoFit/>
          </a:bodyPr>
          <a:lstStyle/>
          <a:p>
            <a:r>
              <a:rPr lang="en-US" sz="1600" dirty="0" err="1"/>
              <a:t>eBPF</a:t>
            </a:r>
            <a:r>
              <a:rPr lang="en-US" sz="1600" dirty="0"/>
              <a:t>, often interchangeably used with BPF, is the Berkeley Packet Filter.</a:t>
            </a:r>
          </a:p>
          <a:p>
            <a:endParaRPr lang="en-US" sz="1600" b="1" dirty="0"/>
          </a:p>
          <a:p>
            <a:pPr marL="457200" indent="-457200">
              <a:buFont typeface="Arial" panose="020B0604020202020204" pitchFamily="34" charset="0"/>
              <a:buChar char="•"/>
            </a:pPr>
            <a:r>
              <a:rPr lang="en-US" sz="1600" dirty="0"/>
              <a:t>Enables you to run custom code directly within the kernel, without modifying the source code or loading new modules.</a:t>
            </a:r>
          </a:p>
          <a:p>
            <a:pPr marL="457200" indent="-457200">
              <a:buFont typeface="Arial" panose="020B0604020202020204" pitchFamily="34" charset="0"/>
              <a:buChar char="•"/>
            </a:pPr>
            <a:r>
              <a:rPr lang="en-US" sz="1600" dirty="0"/>
              <a:t>It allows you to intercept and analyze network traffic, monitor system performance, or enforce security polices with minimal overhead.</a:t>
            </a:r>
          </a:p>
          <a:p>
            <a:pPr marL="457200" indent="-457200">
              <a:buFont typeface="Arial" panose="020B0604020202020204" pitchFamily="34" charset="0"/>
              <a:buChar char="•"/>
            </a:pPr>
            <a:r>
              <a:rPr lang="en-US" sz="1600" dirty="0"/>
              <a:t>It usually gets enabled in a cluster which runs a CNI that leverages it, such as Cilium.</a:t>
            </a:r>
          </a:p>
          <a:p>
            <a:pPr marL="457200" indent="-457200">
              <a:buFont typeface="Arial" panose="020B0604020202020204" pitchFamily="34" charset="0"/>
              <a:buChar char="•"/>
            </a:pPr>
            <a:r>
              <a:rPr lang="en-US" sz="1600" dirty="0"/>
              <a:t>Can be enabled in any AKS cluster (with any CNI) thanks to the Advanced Container Networking Service.</a:t>
            </a:r>
          </a:p>
        </p:txBody>
      </p:sp>
      <p:sp>
        <p:nvSpPr>
          <p:cNvPr id="17" name="Footer Placeholder 6">
            <a:extLst>
              <a:ext uri="{FF2B5EF4-FFF2-40B4-BE49-F238E27FC236}">
                <a16:creationId xmlns:a16="http://schemas.microsoft.com/office/drawing/2014/main" id="{76B1FC17-D2BB-CAEE-E3CF-7706D04EDDF2}"/>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8" name="Slide Number Placeholder 5">
            <a:extLst>
              <a:ext uri="{FF2B5EF4-FFF2-40B4-BE49-F238E27FC236}">
                <a16:creationId xmlns:a16="http://schemas.microsoft.com/office/drawing/2014/main" id="{7BCE2A26-8B6A-0B0E-4D0B-1BD33BF7CDF2}"/>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32</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pic>
        <p:nvPicPr>
          <p:cNvPr id="2" name="Picture 10" descr="Brand Guidelines – eBPF">
            <a:extLst>
              <a:ext uri="{FF2B5EF4-FFF2-40B4-BE49-F238E27FC236}">
                <a16:creationId xmlns:a16="http://schemas.microsoft.com/office/drawing/2014/main" id="{B67BEFBA-257A-D73D-07D0-72F51DB1B12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5450"/>
          <a:stretch>
            <a:fillRect/>
          </a:stretch>
        </p:blipFill>
        <p:spPr bwMode="auto">
          <a:xfrm>
            <a:off x="8735786" y="2465242"/>
            <a:ext cx="2774315" cy="2890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8476466"/>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806CA-082B-4237-F169-15D82B03290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02A82CB-2946-093C-BEDD-5DFE2A9A3C7B}"/>
              </a:ext>
            </a:extLst>
          </p:cNvPr>
          <p:cNvSpPr>
            <a:spLocks noGrp="1"/>
          </p:cNvSpPr>
          <p:nvPr>
            <p:ph type="title"/>
          </p:nvPr>
        </p:nvSpPr>
        <p:spPr>
          <a:xfrm>
            <a:off x="575481" y="1085599"/>
            <a:ext cx="11045019" cy="553998"/>
          </a:xfrm>
        </p:spPr>
        <p:txBody>
          <a:bodyPr/>
          <a:lstStyle/>
          <a:p>
            <a:r>
              <a:rPr lang="en-US" dirty="0"/>
              <a:t>Advanced Container Networking Service (ACNS)</a:t>
            </a:r>
          </a:p>
        </p:txBody>
      </p:sp>
      <p:sp>
        <p:nvSpPr>
          <p:cNvPr id="10" name="Rectangle 9">
            <a:extLst>
              <a:ext uri="{FF2B5EF4-FFF2-40B4-BE49-F238E27FC236}">
                <a16:creationId xmlns:a16="http://schemas.microsoft.com/office/drawing/2014/main" id="{298FC8A8-2CE2-DDB7-7494-C56E5E6BBA98}"/>
              </a:ext>
            </a:extLst>
          </p:cNvPr>
          <p:cNvSpPr>
            <a:spLocks/>
          </p:cNvSpPr>
          <p:nvPr/>
        </p:nvSpPr>
        <p:spPr>
          <a:xfrm>
            <a:off x="577472" y="2283355"/>
            <a:ext cx="5202842" cy="2000548"/>
          </a:xfrm>
          <a:prstGeom prst="rect">
            <a:avLst/>
          </a:prstGeom>
          <a:solidFill>
            <a:schemeClr val="bg1">
              <a:lumMod val="95000"/>
            </a:schemeClr>
          </a:solidFill>
          <a:effectLst>
            <a:outerShdw dist="38100" dir="10800000" algn="r" rotWithShape="0">
              <a:schemeClr val="tx2"/>
            </a:outerShdw>
          </a:effectLst>
        </p:spPr>
        <p:txBody>
          <a:bodyPr wrap="square" lIns="137160" tIns="137160" rIns="137160" bIns="137160" anchor="t" anchorCtr="0">
            <a:spAutoFit/>
          </a:bodyPr>
          <a:lstStyle/>
          <a:p>
            <a:pPr marL="346075" indent="-346075">
              <a:buFont typeface="Arial" panose="020B0604020202020204" pitchFamily="34" charset="0"/>
              <a:buChar char="•"/>
            </a:pPr>
            <a:r>
              <a:rPr lang="en-US" sz="1600" dirty="0">
                <a:solidFill>
                  <a:srgbClr val="171717"/>
                </a:solidFill>
                <a:latin typeface="Segoe UI" panose="020B0502040204020203" pitchFamily="34" charset="0"/>
              </a:rPr>
              <a:t>Suite of services used to enhanced network capabilities of AKS.</a:t>
            </a:r>
          </a:p>
          <a:p>
            <a:pPr marL="346075" indent="-346075">
              <a:buFont typeface="Arial" panose="020B0604020202020204" pitchFamily="34" charset="0"/>
              <a:buChar char="•"/>
            </a:pPr>
            <a:r>
              <a:rPr lang="en-US" sz="1600" dirty="0">
                <a:solidFill>
                  <a:srgbClr val="171717"/>
                </a:solidFill>
                <a:latin typeface="Segoe UI" panose="020B0502040204020203" pitchFamily="34" charset="0"/>
              </a:rPr>
              <a:t>Unlocks a large number of </a:t>
            </a:r>
            <a:r>
              <a:rPr lang="en-US" sz="1600" dirty="0" err="1">
                <a:solidFill>
                  <a:srgbClr val="171717"/>
                </a:solidFill>
                <a:latin typeface="Segoe UI" panose="020B0502040204020203" pitchFamily="34" charset="0"/>
              </a:rPr>
              <a:t>eBPF</a:t>
            </a:r>
            <a:r>
              <a:rPr lang="en-US" sz="1600" dirty="0">
                <a:solidFill>
                  <a:srgbClr val="171717"/>
                </a:solidFill>
                <a:latin typeface="Segoe UI" panose="020B0502040204020203" pitchFamily="34" charset="0"/>
              </a:rPr>
              <a:t>-based metrics, which can be collected with Prometheus and visualized with Grafana.</a:t>
            </a:r>
          </a:p>
          <a:p>
            <a:pPr marL="346075" indent="-346075">
              <a:buFont typeface="Arial" panose="020B0604020202020204" pitchFamily="34" charset="0"/>
              <a:buChar char="•"/>
            </a:pPr>
            <a:r>
              <a:rPr lang="en-US" sz="1600" dirty="0">
                <a:solidFill>
                  <a:srgbClr val="171717"/>
                </a:solidFill>
                <a:latin typeface="Segoe UI" panose="020B0502040204020203" pitchFamily="34" charset="0"/>
              </a:rPr>
              <a:t>Easily enabled in Cilium and non-Cilium based clusters.</a:t>
            </a:r>
          </a:p>
        </p:txBody>
      </p:sp>
      <p:sp>
        <p:nvSpPr>
          <p:cNvPr id="17" name="Footer Placeholder 6">
            <a:extLst>
              <a:ext uri="{FF2B5EF4-FFF2-40B4-BE49-F238E27FC236}">
                <a16:creationId xmlns:a16="http://schemas.microsoft.com/office/drawing/2014/main" id="{876FAC43-FC2C-C21A-3754-D8B780DBAE28}"/>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8" name="Slide Number Placeholder 5">
            <a:extLst>
              <a:ext uri="{FF2B5EF4-FFF2-40B4-BE49-F238E27FC236}">
                <a16:creationId xmlns:a16="http://schemas.microsoft.com/office/drawing/2014/main" id="{7155BA8D-35E6-3124-D3B6-A185A88C2C1D}"/>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33</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1C4A0468-D395-22F0-D732-142FB6A03B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067176"/>
            <a:ext cx="5943600" cy="3705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9502721"/>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D0BF1-3086-F3FD-CD6E-B255BC4341C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429FB76-21B6-801C-0FC8-35007D2AD893}"/>
              </a:ext>
            </a:extLst>
          </p:cNvPr>
          <p:cNvSpPr>
            <a:spLocks noGrp="1"/>
          </p:cNvSpPr>
          <p:nvPr>
            <p:ph type="title"/>
          </p:nvPr>
        </p:nvSpPr>
        <p:spPr>
          <a:xfrm>
            <a:off x="575481" y="1085599"/>
            <a:ext cx="11045019" cy="553998"/>
          </a:xfrm>
        </p:spPr>
        <p:txBody>
          <a:bodyPr/>
          <a:lstStyle/>
          <a:p>
            <a:r>
              <a:rPr lang="en-US" dirty="0"/>
              <a:t>ACNS – Container Network Observability</a:t>
            </a:r>
          </a:p>
        </p:txBody>
      </p:sp>
      <p:sp>
        <p:nvSpPr>
          <p:cNvPr id="10" name="Rectangle 9">
            <a:extLst>
              <a:ext uri="{FF2B5EF4-FFF2-40B4-BE49-F238E27FC236}">
                <a16:creationId xmlns:a16="http://schemas.microsoft.com/office/drawing/2014/main" id="{4E1205C7-7583-246C-8D67-97992C54C388}"/>
              </a:ext>
            </a:extLst>
          </p:cNvPr>
          <p:cNvSpPr>
            <a:spLocks/>
          </p:cNvSpPr>
          <p:nvPr/>
        </p:nvSpPr>
        <p:spPr>
          <a:xfrm>
            <a:off x="577472" y="2283355"/>
            <a:ext cx="5202842" cy="2000548"/>
          </a:xfrm>
          <a:prstGeom prst="rect">
            <a:avLst/>
          </a:prstGeom>
          <a:solidFill>
            <a:schemeClr val="bg1">
              <a:lumMod val="95000"/>
            </a:schemeClr>
          </a:solidFill>
          <a:effectLst>
            <a:outerShdw dist="38100" dir="10800000" algn="r" rotWithShape="0">
              <a:schemeClr val="tx2"/>
            </a:outerShdw>
          </a:effectLst>
        </p:spPr>
        <p:txBody>
          <a:bodyPr wrap="square" lIns="137160" tIns="137160" rIns="137160" bIns="137160" anchor="t" anchorCtr="0">
            <a:spAutoFit/>
          </a:bodyPr>
          <a:lstStyle/>
          <a:p>
            <a:pPr marL="346075" indent="-346075">
              <a:buFont typeface="Arial" panose="020B0604020202020204" pitchFamily="34" charset="0"/>
              <a:buChar char="•"/>
            </a:pPr>
            <a:r>
              <a:rPr lang="en-US" sz="1600" dirty="0">
                <a:solidFill>
                  <a:srgbClr val="171717"/>
                </a:solidFill>
                <a:latin typeface="Segoe UI" panose="020B0502040204020203" pitchFamily="34" charset="0"/>
              </a:rPr>
              <a:t>CNI-Agnostic</a:t>
            </a:r>
          </a:p>
          <a:p>
            <a:pPr marL="346075" indent="-346075">
              <a:buFont typeface="Arial" panose="020B0604020202020204" pitchFamily="34" charset="0"/>
              <a:buChar char="•"/>
            </a:pPr>
            <a:r>
              <a:rPr lang="en-US" sz="1600" dirty="0">
                <a:solidFill>
                  <a:srgbClr val="171717"/>
                </a:solidFill>
                <a:latin typeface="Segoe UI" panose="020B0502040204020203" pitchFamily="34" charset="0"/>
              </a:rPr>
              <a:t>It enables </a:t>
            </a:r>
            <a:r>
              <a:rPr lang="en-US" sz="1600" dirty="0" err="1">
                <a:solidFill>
                  <a:srgbClr val="171717"/>
                </a:solidFill>
                <a:latin typeface="Segoe UI" panose="020B0502040204020203" pitchFamily="34" charset="0"/>
              </a:rPr>
              <a:t>eBPF</a:t>
            </a:r>
            <a:r>
              <a:rPr lang="en-US" sz="1600" dirty="0">
                <a:solidFill>
                  <a:srgbClr val="171717"/>
                </a:solidFill>
                <a:latin typeface="Segoe UI" panose="020B0502040204020203" pitchFamily="34" charset="0"/>
              </a:rPr>
              <a:t>-based metrics on non-cilium AKS clusters</a:t>
            </a:r>
          </a:p>
          <a:p>
            <a:pPr marL="346075" indent="-346075">
              <a:buFont typeface="Arial" panose="020B0604020202020204" pitchFamily="34" charset="0"/>
              <a:buChar char="•"/>
            </a:pPr>
            <a:r>
              <a:rPr lang="en-US" sz="1600" dirty="0">
                <a:solidFill>
                  <a:srgbClr val="171717"/>
                </a:solidFill>
                <a:latin typeface="Segoe UI" panose="020B0502040204020203" pitchFamily="34" charset="0"/>
              </a:rPr>
              <a:t>Integrates seamlessly with (Managed) Prometheus and Grafana</a:t>
            </a:r>
          </a:p>
          <a:p>
            <a:pPr marL="346075" indent="-346075">
              <a:buFont typeface="Arial" panose="020B0604020202020204" pitchFamily="34" charset="0"/>
              <a:buChar char="•"/>
            </a:pPr>
            <a:r>
              <a:rPr lang="en-US" sz="1600" dirty="0">
                <a:solidFill>
                  <a:srgbClr val="171717"/>
                </a:solidFill>
                <a:latin typeface="Segoe UI" panose="020B0502040204020203" pitchFamily="34" charset="0"/>
              </a:rPr>
              <a:t>Enables Hubble </a:t>
            </a:r>
          </a:p>
          <a:p>
            <a:pPr marL="346075" indent="-346075">
              <a:buFont typeface="Arial" panose="020B0604020202020204" pitchFamily="34" charset="0"/>
              <a:buChar char="•"/>
            </a:pPr>
            <a:endParaRPr lang="en-US" sz="1600" dirty="0">
              <a:solidFill>
                <a:srgbClr val="171717"/>
              </a:solidFill>
              <a:latin typeface="Segoe UI" panose="020B0502040204020203" pitchFamily="34" charset="0"/>
            </a:endParaRPr>
          </a:p>
        </p:txBody>
      </p:sp>
      <p:sp>
        <p:nvSpPr>
          <p:cNvPr id="17" name="Footer Placeholder 6">
            <a:extLst>
              <a:ext uri="{FF2B5EF4-FFF2-40B4-BE49-F238E27FC236}">
                <a16:creationId xmlns:a16="http://schemas.microsoft.com/office/drawing/2014/main" id="{8AAEE853-C869-D402-595F-C80D6E11DBC7}"/>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8" name="Slide Number Placeholder 5">
            <a:extLst>
              <a:ext uri="{FF2B5EF4-FFF2-40B4-BE49-F238E27FC236}">
                <a16:creationId xmlns:a16="http://schemas.microsoft.com/office/drawing/2014/main" id="{4A8AACC8-DAD6-6454-1E30-38F7FDAAD7BC}"/>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34</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BDBE8E91-D3F6-9C6A-6381-D6087DAA93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067176"/>
            <a:ext cx="5943600" cy="3705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4550678"/>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38F29-23CB-872F-0899-55A167C13F3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C5987F5-30A1-E3C2-4894-3F279F36513A}"/>
              </a:ext>
            </a:extLst>
          </p:cNvPr>
          <p:cNvSpPr>
            <a:spLocks noGrp="1"/>
          </p:cNvSpPr>
          <p:nvPr>
            <p:ph type="title"/>
          </p:nvPr>
        </p:nvSpPr>
        <p:spPr>
          <a:xfrm>
            <a:off x="575481" y="1085599"/>
            <a:ext cx="11045019" cy="553998"/>
          </a:xfrm>
        </p:spPr>
        <p:txBody>
          <a:bodyPr/>
          <a:lstStyle/>
          <a:p>
            <a:r>
              <a:rPr lang="en-US" dirty="0"/>
              <a:t>ACNS – Container Network Security</a:t>
            </a:r>
          </a:p>
        </p:txBody>
      </p:sp>
      <p:sp>
        <p:nvSpPr>
          <p:cNvPr id="10" name="Rectangle 9">
            <a:extLst>
              <a:ext uri="{FF2B5EF4-FFF2-40B4-BE49-F238E27FC236}">
                <a16:creationId xmlns:a16="http://schemas.microsoft.com/office/drawing/2014/main" id="{30C5FA3E-3C75-C0FF-BC9B-226CF86660E8}"/>
              </a:ext>
            </a:extLst>
          </p:cNvPr>
          <p:cNvSpPr>
            <a:spLocks/>
          </p:cNvSpPr>
          <p:nvPr/>
        </p:nvSpPr>
        <p:spPr>
          <a:xfrm>
            <a:off x="577472" y="2283355"/>
            <a:ext cx="5202842" cy="2492990"/>
          </a:xfrm>
          <a:prstGeom prst="rect">
            <a:avLst/>
          </a:prstGeom>
          <a:solidFill>
            <a:schemeClr val="bg1">
              <a:lumMod val="95000"/>
            </a:schemeClr>
          </a:solidFill>
          <a:effectLst>
            <a:outerShdw dist="38100" dir="10800000" algn="r" rotWithShape="0">
              <a:schemeClr val="tx2"/>
            </a:outerShdw>
          </a:effectLst>
        </p:spPr>
        <p:txBody>
          <a:bodyPr wrap="square" lIns="137160" tIns="137160" rIns="137160" bIns="137160" anchor="t" anchorCtr="0">
            <a:spAutoFit/>
          </a:bodyPr>
          <a:lstStyle/>
          <a:p>
            <a:r>
              <a:rPr lang="en-US" sz="1600" dirty="0">
                <a:solidFill>
                  <a:srgbClr val="171717"/>
                </a:solidFill>
                <a:latin typeface="Segoe UI" panose="020B0502040204020203" pitchFamily="34" charset="0"/>
              </a:rPr>
              <a:t>Currently there are two main features in the Container Network Security offering:</a:t>
            </a:r>
          </a:p>
          <a:p>
            <a:pPr marL="346075" indent="-346075">
              <a:buFont typeface="Arial" panose="020B0604020202020204" pitchFamily="34" charset="0"/>
              <a:buChar char="•"/>
            </a:pPr>
            <a:r>
              <a:rPr lang="en-US" sz="1600" b="1" u="sng" dirty="0">
                <a:solidFill>
                  <a:srgbClr val="171717"/>
                </a:solidFill>
                <a:latin typeface="Segoe UI" panose="020B0502040204020203" pitchFamily="34" charset="0"/>
              </a:rPr>
              <a:t>FQDN Filtering:</a:t>
            </a:r>
            <a:r>
              <a:rPr lang="en-US" sz="1600" dirty="0">
                <a:solidFill>
                  <a:srgbClr val="171717"/>
                </a:solidFill>
                <a:latin typeface="Segoe UI" panose="020B0502040204020203" pitchFamily="34" charset="0"/>
              </a:rPr>
              <a:t> Enhances egress control with Azure CNI Powered by Cilium’s DNS-based policies.</a:t>
            </a:r>
            <a:endParaRPr lang="en-US" sz="1600" b="1" u="sng" dirty="0">
              <a:solidFill>
                <a:srgbClr val="171717"/>
              </a:solidFill>
              <a:latin typeface="Segoe UI" panose="020B0502040204020203" pitchFamily="34" charset="0"/>
            </a:endParaRPr>
          </a:p>
          <a:p>
            <a:pPr marL="346075" indent="-346075">
              <a:buFont typeface="Arial" panose="020B0604020202020204" pitchFamily="34" charset="0"/>
              <a:buChar char="•"/>
            </a:pPr>
            <a:r>
              <a:rPr lang="en-US" sz="1600" b="1" u="sng" dirty="0">
                <a:solidFill>
                  <a:srgbClr val="171717"/>
                </a:solidFill>
                <a:latin typeface="Segoe UI" panose="020B0502040204020203" pitchFamily="34" charset="0"/>
              </a:rPr>
              <a:t>Layer 7 Policy:</a:t>
            </a:r>
            <a:r>
              <a:rPr lang="en-US" sz="1600" dirty="0">
                <a:solidFill>
                  <a:srgbClr val="171717"/>
                </a:solidFill>
                <a:latin typeface="Segoe UI" panose="020B0502040204020203" pitchFamily="34" charset="0"/>
              </a:rPr>
              <a:t> Gain granular control over application-level traffic by implementing policies based on protocols such as HTTP(s), </a:t>
            </a:r>
            <a:r>
              <a:rPr lang="en-US" sz="1600" dirty="0" err="1">
                <a:solidFill>
                  <a:srgbClr val="171717"/>
                </a:solidFill>
                <a:latin typeface="Segoe UI" panose="020B0502040204020203" pitchFamily="34" charset="0"/>
              </a:rPr>
              <a:t>gRPC</a:t>
            </a:r>
            <a:r>
              <a:rPr lang="en-US" sz="1600" dirty="0">
                <a:solidFill>
                  <a:srgbClr val="171717"/>
                </a:solidFill>
                <a:latin typeface="Segoe UI" panose="020B0502040204020203" pitchFamily="34" charset="0"/>
              </a:rPr>
              <a:t> and Kafka.</a:t>
            </a:r>
            <a:endParaRPr lang="en-US" sz="1600" b="1" u="sng" dirty="0">
              <a:solidFill>
                <a:srgbClr val="171717"/>
              </a:solidFill>
              <a:latin typeface="Segoe UI" panose="020B0502040204020203" pitchFamily="34" charset="0"/>
            </a:endParaRPr>
          </a:p>
        </p:txBody>
      </p:sp>
      <p:sp>
        <p:nvSpPr>
          <p:cNvPr id="17" name="Footer Placeholder 6">
            <a:extLst>
              <a:ext uri="{FF2B5EF4-FFF2-40B4-BE49-F238E27FC236}">
                <a16:creationId xmlns:a16="http://schemas.microsoft.com/office/drawing/2014/main" id="{7C5DC60D-9254-CE04-B0DF-2729A95FA0BC}"/>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8" name="Slide Number Placeholder 5">
            <a:extLst>
              <a:ext uri="{FF2B5EF4-FFF2-40B4-BE49-F238E27FC236}">
                <a16:creationId xmlns:a16="http://schemas.microsoft.com/office/drawing/2014/main" id="{CC30E621-11BB-E045-BEAB-D26EC14C5FEE}"/>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35</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E93B58DD-7159-C044-09AF-34B7835F2B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067176"/>
            <a:ext cx="5943600" cy="3705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9419161"/>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90BE5-8757-FFB6-8C42-1D5C12A52D4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3A2D79D-63AC-7B3A-A5AD-2E7A91B6970E}"/>
              </a:ext>
            </a:extLst>
          </p:cNvPr>
          <p:cNvSpPr>
            <a:spLocks noGrp="1"/>
          </p:cNvSpPr>
          <p:nvPr>
            <p:ph type="title"/>
          </p:nvPr>
        </p:nvSpPr>
        <p:spPr>
          <a:xfrm>
            <a:off x="575481" y="599436"/>
            <a:ext cx="11018520" cy="553998"/>
          </a:xfrm>
        </p:spPr>
        <p:txBody>
          <a:bodyPr/>
          <a:lstStyle/>
          <a:p>
            <a:r>
              <a:rPr lang="en-US" dirty="0"/>
              <a:t>Demo: Advanced Container Networking Service </a:t>
            </a:r>
          </a:p>
        </p:txBody>
      </p:sp>
      <p:sp>
        <p:nvSpPr>
          <p:cNvPr id="17" name="Rectangle 16">
            <a:extLst>
              <a:ext uri="{FF2B5EF4-FFF2-40B4-BE49-F238E27FC236}">
                <a16:creationId xmlns:a16="http://schemas.microsoft.com/office/drawing/2014/main" id="{A107056B-5B3E-8F36-97C6-BB4A8211972C}"/>
              </a:ext>
            </a:extLst>
          </p:cNvPr>
          <p:cNvSpPr>
            <a:spLocks/>
          </p:cNvSpPr>
          <p:nvPr/>
        </p:nvSpPr>
        <p:spPr bwMode="auto">
          <a:xfrm>
            <a:off x="0" y="2343006"/>
            <a:ext cx="7445375" cy="3561008"/>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566928" tIns="192024" rIns="182880" bIns="182880" numCol="1" spcCol="0" rtlCol="0" fromWordArt="0" anchor="t" anchorCtr="0" forceAA="0" compatLnSpc="1">
            <a:prstTxWarp prst="textNoShape">
              <a:avLst/>
            </a:prstTxWarp>
            <a:noAutofit/>
          </a:bodyPr>
          <a:lstStyle/>
          <a:p>
            <a:r>
              <a:rPr lang="en-US" sz="2000" dirty="0">
                <a:solidFill>
                  <a:schemeClr val="tx1"/>
                </a:solidFill>
              </a:rPr>
              <a:t>Understand and visualize the capabilities of Advanced Container Networking Service</a:t>
            </a:r>
          </a:p>
          <a:p>
            <a:endParaRPr lang="en-US" sz="2000" dirty="0">
              <a:solidFill>
                <a:schemeClr val="tx1"/>
              </a:solidFill>
            </a:endParaRPr>
          </a:p>
          <a:p>
            <a:r>
              <a:rPr lang="en-US" sz="2000" dirty="0">
                <a:solidFill>
                  <a:schemeClr val="tx1"/>
                </a:solidFill>
              </a:rPr>
              <a:t>Visualize FQDN filtering and internal cluster network flows with Hubble</a:t>
            </a:r>
          </a:p>
          <a:p>
            <a:endParaRPr lang="en-US" sz="2000" dirty="0">
              <a:solidFill>
                <a:schemeClr val="tx1"/>
              </a:solidFill>
            </a:endParaRPr>
          </a:p>
          <a:p>
            <a:r>
              <a:rPr lang="en-US" sz="2000" dirty="0">
                <a:solidFill>
                  <a:schemeClr val="tx1"/>
                </a:solidFill>
              </a:rPr>
              <a:t>Visualize ACNS enabled metrics</a:t>
            </a:r>
          </a:p>
          <a:p>
            <a:endParaRPr lang="en-US" sz="2000" dirty="0">
              <a:solidFill>
                <a:schemeClr val="tx1"/>
              </a:solidFill>
            </a:endParaRPr>
          </a:p>
        </p:txBody>
      </p:sp>
      <p:sp>
        <p:nvSpPr>
          <p:cNvPr id="12" name="Footer Placeholder 3">
            <a:extLst>
              <a:ext uri="{FF2B5EF4-FFF2-40B4-BE49-F238E27FC236}">
                <a16:creationId xmlns:a16="http://schemas.microsoft.com/office/drawing/2014/main" id="{B04C8B64-66D7-39E9-8CD8-37337144D538}"/>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3" name="Slide Number Placeholder 7">
            <a:extLst>
              <a:ext uri="{FF2B5EF4-FFF2-40B4-BE49-F238E27FC236}">
                <a16:creationId xmlns:a16="http://schemas.microsoft.com/office/drawing/2014/main" id="{6B9F250F-78AC-8D60-E896-5A7A1EBC2FD8}"/>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36</a:t>
            </a:fld>
            <a:endParaRPr lang="en-US" noProof="0"/>
          </a:p>
        </p:txBody>
      </p:sp>
      <p:sp>
        <p:nvSpPr>
          <p:cNvPr id="5" name="Text Placeholder 4">
            <a:extLst>
              <a:ext uri="{FF2B5EF4-FFF2-40B4-BE49-F238E27FC236}">
                <a16:creationId xmlns:a16="http://schemas.microsoft.com/office/drawing/2014/main" id="{1516383B-4025-A8BF-3DAB-793AA8AA91C4}"/>
              </a:ext>
            </a:extLst>
          </p:cNvPr>
          <p:cNvSpPr>
            <a:spLocks noGrp="1"/>
          </p:cNvSpPr>
          <p:nvPr>
            <p:ph type="body" sz="quarter" idx="12"/>
          </p:nvPr>
        </p:nvSpPr>
        <p:spPr>
          <a:xfrm>
            <a:off x="584201" y="1310646"/>
            <a:ext cx="11018520" cy="276999"/>
          </a:xfrm>
        </p:spPr>
        <p:txBody>
          <a:bodyPr/>
          <a:lstStyle/>
          <a:p>
            <a:r>
              <a:rPr lang="en-US" dirty="0"/>
              <a:t>See it in action!</a:t>
            </a:r>
          </a:p>
        </p:txBody>
      </p:sp>
      <p:pic>
        <p:nvPicPr>
          <p:cNvPr id="2" name="Picture 2" descr="Информация об используемом ПО | Deckhouse">
            <a:extLst>
              <a:ext uri="{FF2B5EF4-FFF2-40B4-BE49-F238E27FC236}">
                <a16:creationId xmlns:a16="http://schemas.microsoft.com/office/drawing/2014/main" id="{885C2DC5-70EC-0C1A-02D7-113B410E6A4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3382"/>
          <a:stretch>
            <a:fillRect/>
          </a:stretch>
        </p:blipFill>
        <p:spPr bwMode="auto">
          <a:xfrm>
            <a:off x="8453520" y="4339302"/>
            <a:ext cx="2930216" cy="163485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a:extLst>
              <a:ext uri="{FF2B5EF4-FFF2-40B4-BE49-F238E27FC236}">
                <a16:creationId xmlns:a16="http://schemas.microsoft.com/office/drawing/2014/main" id="{5BE68440-11C9-9CC7-6B2D-B611B6E778F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22082"/>
          <a:stretch>
            <a:fillRect/>
          </a:stretch>
        </p:blipFill>
        <p:spPr bwMode="auto">
          <a:xfrm>
            <a:off x="7710642" y="2576003"/>
            <a:ext cx="1825322" cy="1450809"/>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BA57C419-7732-9FA9-6B00-07329EFB37CE}"/>
              </a:ext>
            </a:extLst>
          </p:cNvPr>
          <p:cNvGrpSpPr/>
          <p:nvPr/>
        </p:nvGrpSpPr>
        <p:grpSpPr>
          <a:xfrm>
            <a:off x="10399541" y="2926881"/>
            <a:ext cx="1391901" cy="1379764"/>
            <a:chOff x="10513770" y="3497069"/>
            <a:chExt cx="1391901" cy="1379764"/>
          </a:xfrm>
        </p:grpSpPr>
        <p:sp>
          <p:nvSpPr>
            <p:cNvPr id="8" name="Oval 7">
              <a:extLst>
                <a:ext uri="{FF2B5EF4-FFF2-40B4-BE49-F238E27FC236}">
                  <a16:creationId xmlns:a16="http://schemas.microsoft.com/office/drawing/2014/main" id="{E03C80EE-247F-1D86-CCD1-D78F90D0D7C9}"/>
                </a:ext>
              </a:extLst>
            </p:cNvPr>
            <p:cNvSpPr/>
            <p:nvPr/>
          </p:nvSpPr>
          <p:spPr bwMode="auto">
            <a:xfrm>
              <a:off x="10619586" y="3529726"/>
              <a:ext cx="1077686" cy="1262710"/>
            </a:xfrm>
            <a:prstGeom prst="ellipse">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NL" sz="2000" b="1" dirty="0" err="1">
                <a:ln w="10160">
                  <a:solidFill>
                    <a:schemeClr val="accent5"/>
                  </a:solidFill>
                  <a:prstDash val="solid"/>
                </a:ln>
                <a:solidFill>
                  <a:srgbClr val="FFFFFF"/>
                </a:solidFill>
                <a:effectLst>
                  <a:outerShdw blurRad="38100" dist="22860" dir="5400000" algn="tl" rotWithShape="0">
                    <a:srgbClr val="000000">
                      <a:alpha val="30000"/>
                    </a:srgbClr>
                  </a:outerShdw>
                </a:effectLst>
                <a:ea typeface="Segoe UI" pitchFamily="34" charset="0"/>
                <a:cs typeface="Segoe UI" pitchFamily="34" charset="0"/>
              </a:endParaRPr>
            </a:p>
          </p:txBody>
        </p:sp>
        <p:pic>
          <p:nvPicPr>
            <p:cNvPr id="9" name="Picture 8">
              <a:extLst>
                <a:ext uri="{FF2B5EF4-FFF2-40B4-BE49-F238E27FC236}">
                  <a16:creationId xmlns:a16="http://schemas.microsoft.com/office/drawing/2014/main" id="{7EC559E3-FA1C-81C9-9729-73D237FD07A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13770" y="3497069"/>
              <a:ext cx="1391901" cy="1379764"/>
            </a:xfrm>
            <a:prstGeom prst="rect">
              <a:avLst/>
            </a:prstGeom>
            <a:noFill/>
            <a:extLst>
              <a:ext uri="{909E8E84-426E-40DD-AFC4-6F175D3DCCD1}">
                <a14:hiddenFill xmlns:a14="http://schemas.microsoft.com/office/drawing/2010/main">
                  <a:solidFill>
                    <a:srgbClr val="FFFFFF"/>
                  </a:solidFill>
                </a14:hiddenFill>
              </a:ext>
            </a:extLst>
          </p:spPr>
        </p:pic>
      </p:grpSp>
    </p:spTree>
    <p:custDataLst>
      <p:tags r:id="rId1"/>
    </p:custDataLst>
    <p:extLst>
      <p:ext uri="{BB962C8B-B14F-4D97-AF65-F5344CB8AC3E}">
        <p14:creationId xmlns:p14="http://schemas.microsoft.com/office/powerpoint/2010/main" val="2616568976"/>
      </p:ext>
    </p:extLst>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2F8DC-4E15-DC62-ABD5-83913B806139}"/>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6A490047-959F-2774-9A26-50C29E2C59F8}"/>
              </a:ext>
              <a:ext uri="{C183D7F6-B498-43B3-948B-1728B52AA6E4}">
                <adec:decorative xmlns:adec="http://schemas.microsoft.com/office/drawing/2017/decorative" val="1"/>
              </a:ext>
            </a:extLst>
          </p:cNvPr>
          <p:cNvSpPr>
            <a:spLocks/>
          </p:cNvSpPr>
          <p:nvPr/>
        </p:nvSpPr>
        <p:spPr>
          <a:xfrm>
            <a:off x="571500" y="1508338"/>
            <a:ext cx="11049000" cy="4760700"/>
          </a:xfrm>
          <a:prstGeom prst="rect">
            <a:avLst/>
          </a:prstGeom>
          <a:noFill/>
          <a:ln w="3175">
            <a:solidFill>
              <a:schemeClr val="bg1">
                <a:lumMod val="85000"/>
              </a:schemeClr>
            </a:solidFill>
          </a:ln>
        </p:spPr>
        <p:txBody>
          <a:bodyPr wrap="square" lIns="137160" tIns="768096" rIns="137160" bIns="91440" anchor="t">
            <a:noAutofit/>
          </a:bodyPr>
          <a:lstStyle/>
          <a:p>
            <a:pPr marL="230188" indent="-230188" defTabSz="914192">
              <a:spcBef>
                <a:spcPts val="300"/>
              </a:spcBef>
              <a:spcAft>
                <a:spcPts val="300"/>
              </a:spcAft>
              <a:buFont typeface="Arial" panose="020B0604020202020204" pitchFamily="34" charset="0"/>
              <a:buChar char="•"/>
              <a:defRPr/>
            </a:pPr>
            <a:endParaRPr lang="en-US" sz="1600">
              <a:cs typeface="Segoe UI Semibold" panose="020B0702040204020203" pitchFamily="34" charset="0"/>
            </a:endParaRPr>
          </a:p>
        </p:txBody>
      </p:sp>
      <p:sp>
        <p:nvSpPr>
          <p:cNvPr id="2" name="Title 1">
            <a:extLst>
              <a:ext uri="{FF2B5EF4-FFF2-40B4-BE49-F238E27FC236}">
                <a16:creationId xmlns:a16="http://schemas.microsoft.com/office/drawing/2014/main" id="{223112FC-D25E-1C57-330B-E6F4ED8EECDA}"/>
              </a:ext>
            </a:extLst>
          </p:cNvPr>
          <p:cNvSpPr>
            <a:spLocks noGrp="1"/>
          </p:cNvSpPr>
          <p:nvPr>
            <p:ph type="title"/>
          </p:nvPr>
        </p:nvSpPr>
        <p:spPr>
          <a:xfrm>
            <a:off x="575481" y="599436"/>
            <a:ext cx="11018520" cy="553998"/>
          </a:xfrm>
        </p:spPr>
        <p:txBody>
          <a:bodyPr/>
          <a:lstStyle/>
          <a:p>
            <a:r>
              <a:rPr lang="en-US" dirty="0"/>
              <a:t>Lab 1: Ingress with Application GW for Containers</a:t>
            </a:r>
          </a:p>
        </p:txBody>
      </p:sp>
      <p:sp>
        <p:nvSpPr>
          <p:cNvPr id="8" name="Rectangle 7">
            <a:extLst>
              <a:ext uri="{FF2B5EF4-FFF2-40B4-BE49-F238E27FC236}">
                <a16:creationId xmlns:a16="http://schemas.microsoft.com/office/drawing/2014/main" id="{C00D888B-932E-BC8F-BCDD-490EB7703C02}"/>
              </a:ext>
            </a:extLst>
          </p:cNvPr>
          <p:cNvSpPr>
            <a:spLocks/>
          </p:cNvSpPr>
          <p:nvPr/>
        </p:nvSpPr>
        <p:spPr>
          <a:xfrm>
            <a:off x="571499" y="1751640"/>
            <a:ext cx="11049000" cy="465121"/>
          </a:xfrm>
          <a:prstGeom prst="rect">
            <a:avLst/>
          </a:prstGeom>
          <a:solidFill>
            <a:schemeClr val="accent2"/>
          </a:solidFill>
        </p:spPr>
        <p:txBody>
          <a:bodyPr wrap="square" lIns="91440" tIns="45720" rIns="91440" bIns="45720" anchor="ctr">
            <a:noAutofit/>
          </a:bodyPr>
          <a:lstStyle/>
          <a:p>
            <a:pPr algn="ctr" defTabSz="914192">
              <a:spcAft>
                <a:spcPts val="300"/>
              </a:spcAft>
            </a:pPr>
            <a:r>
              <a:rPr lang="en-US">
                <a:solidFill>
                  <a:srgbClr val="FFFFFF"/>
                </a:solidFill>
                <a:latin typeface="Segoe Semibold"/>
                <a:cs typeface="Segoe UI Semibold"/>
              </a:rPr>
              <a:t>Lab Description</a:t>
            </a:r>
          </a:p>
        </p:txBody>
      </p:sp>
      <p:grpSp>
        <p:nvGrpSpPr>
          <p:cNvPr id="9" name="Group 8">
            <a:extLst>
              <a:ext uri="{FF2B5EF4-FFF2-40B4-BE49-F238E27FC236}">
                <a16:creationId xmlns:a16="http://schemas.microsoft.com/office/drawing/2014/main" id="{3B6BC2ED-D2C7-4BED-3AA5-80E2780214CE}"/>
              </a:ext>
              <a:ext uri="{C183D7F6-B498-43B3-948B-1728B52AA6E4}">
                <adec:decorative xmlns:adec="http://schemas.microsoft.com/office/drawing/2017/decorative" val="1"/>
              </a:ext>
            </a:extLst>
          </p:cNvPr>
          <p:cNvGrpSpPr>
            <a:grpSpLocks/>
          </p:cNvGrpSpPr>
          <p:nvPr/>
        </p:nvGrpSpPr>
        <p:grpSpPr>
          <a:xfrm>
            <a:off x="574674" y="1751640"/>
            <a:ext cx="11045826" cy="465121"/>
            <a:chOff x="574675" y="1519848"/>
            <a:chExt cx="7312025" cy="465121"/>
          </a:xfrm>
        </p:grpSpPr>
        <p:cxnSp>
          <p:nvCxnSpPr>
            <p:cNvPr id="12" name="Straight Connector 11">
              <a:extLst>
                <a:ext uri="{FF2B5EF4-FFF2-40B4-BE49-F238E27FC236}">
                  <a16:creationId xmlns:a16="http://schemas.microsoft.com/office/drawing/2014/main" id="{DB21B1FC-ECF9-4BC9-C14A-B802D3AA86BE}"/>
                </a:ext>
                <a:ext uri="{C183D7F6-B498-43B3-948B-1728B52AA6E4}">
                  <adec:decorative xmlns:adec="http://schemas.microsoft.com/office/drawing/2017/decorative" val="1"/>
                </a:ext>
              </a:extLst>
            </p:cNvPr>
            <p:cNvCxnSpPr>
              <a:cxnSpLocks/>
            </p:cNvCxnSpPr>
            <p:nvPr/>
          </p:nvCxnSpPr>
          <p:spPr>
            <a:xfrm>
              <a:off x="574675" y="1519848"/>
              <a:ext cx="0" cy="465121"/>
            </a:xfrm>
            <a:prstGeom prst="line">
              <a:avLst/>
            </a:prstGeom>
            <a:ln w="28575" cap="rnd">
              <a:solidFill>
                <a:schemeClr val="accent2">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9397B7D-C236-468F-E28B-AEAAD4C42484}"/>
                </a:ext>
                <a:ext uri="{C183D7F6-B498-43B3-948B-1728B52AA6E4}">
                  <adec:decorative xmlns:adec="http://schemas.microsoft.com/office/drawing/2017/decorative" val="1"/>
                </a:ext>
              </a:extLst>
            </p:cNvPr>
            <p:cNvCxnSpPr>
              <a:cxnSpLocks/>
            </p:cNvCxnSpPr>
            <p:nvPr/>
          </p:nvCxnSpPr>
          <p:spPr>
            <a:xfrm>
              <a:off x="7886700" y="1519848"/>
              <a:ext cx="0" cy="465121"/>
            </a:xfrm>
            <a:prstGeom prst="line">
              <a:avLst/>
            </a:prstGeom>
            <a:ln w="28575" cap="rnd">
              <a:solidFill>
                <a:schemeClr val="accent2">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14" name="TextBox 13">
            <a:extLst>
              <a:ext uri="{FF2B5EF4-FFF2-40B4-BE49-F238E27FC236}">
                <a16:creationId xmlns:a16="http://schemas.microsoft.com/office/drawing/2014/main" id="{C0F2A2B5-8ECD-8DBC-3494-3ACB859E9F4B}"/>
              </a:ext>
            </a:extLst>
          </p:cNvPr>
          <p:cNvSpPr txBox="1">
            <a:spLocks/>
          </p:cNvSpPr>
          <p:nvPr/>
        </p:nvSpPr>
        <p:spPr>
          <a:xfrm>
            <a:off x="571500" y="2339873"/>
            <a:ext cx="11048999" cy="3669041"/>
          </a:xfrm>
          <a:prstGeom prst="rect">
            <a:avLst/>
          </a:prstGeom>
        </p:spPr>
        <p:txBody>
          <a:bodyPr wrap="square" lIns="91440" tIns="45720" rIns="91440" bIns="45720">
            <a:noAutofit/>
          </a:bodyPr>
          <a:lstStyle/>
          <a:p>
            <a:pPr marL="230188" indent="-230188" defTabSz="914192">
              <a:spcBef>
                <a:spcPts val="600"/>
              </a:spcBef>
              <a:spcAft>
                <a:spcPts val="600"/>
              </a:spcAft>
              <a:buFont typeface="Arial" panose="020B0604020202020204" pitchFamily="34" charset="0"/>
              <a:buChar char="•"/>
              <a:defRPr/>
            </a:pPr>
            <a:r>
              <a:rPr lang="en-US" sz="1600" dirty="0">
                <a:cs typeface="Segoe UI Semibold" panose="020B0702040204020203" pitchFamily="34" charset="0"/>
              </a:rPr>
              <a:t>Create a public AKS cluster with CNI Overlay powered by Cilium.</a:t>
            </a:r>
          </a:p>
          <a:p>
            <a:pPr marL="230188" indent="-230188" defTabSz="914192">
              <a:spcBef>
                <a:spcPts val="600"/>
              </a:spcBef>
              <a:spcAft>
                <a:spcPts val="600"/>
              </a:spcAft>
              <a:buFont typeface="Arial" panose="020B0604020202020204" pitchFamily="34" charset="0"/>
              <a:buChar char="•"/>
              <a:defRPr/>
            </a:pPr>
            <a:r>
              <a:rPr lang="en-US" sz="1600" dirty="0">
                <a:cs typeface="Segoe UI Semibold" panose="020B0702040204020203" pitchFamily="34" charset="0"/>
              </a:rPr>
              <a:t>Deploy the ALB Controller with Helm.</a:t>
            </a:r>
          </a:p>
          <a:p>
            <a:pPr marL="230188" indent="-230188" defTabSz="914192">
              <a:spcBef>
                <a:spcPts val="600"/>
              </a:spcBef>
              <a:spcAft>
                <a:spcPts val="600"/>
              </a:spcAft>
              <a:buFont typeface="Arial" panose="020B0604020202020204" pitchFamily="34" charset="0"/>
              <a:buChar char="•"/>
              <a:defRPr/>
            </a:pPr>
            <a:r>
              <a:rPr lang="en-US" sz="1600" dirty="0">
                <a:cs typeface="Segoe UI Semibold" panose="020B0702040204020203" pitchFamily="34" charset="0"/>
              </a:rPr>
              <a:t>Expose an application outside of the cluster as </a:t>
            </a:r>
            <a:r>
              <a:rPr lang="en-US" sz="1600" dirty="0" err="1">
                <a:cs typeface="Segoe UI Semibold" panose="020B0702040204020203" pitchFamily="34" charset="0"/>
              </a:rPr>
              <a:t>HTTPRoute</a:t>
            </a:r>
            <a:r>
              <a:rPr lang="en-US" sz="1600" dirty="0">
                <a:cs typeface="Segoe UI Semibold" panose="020B0702040204020203" pitchFamily="34" charset="0"/>
              </a:rPr>
              <a:t>.</a:t>
            </a:r>
          </a:p>
          <a:p>
            <a:pPr defTabSz="914192">
              <a:spcBef>
                <a:spcPts val="600"/>
              </a:spcBef>
              <a:spcAft>
                <a:spcPts val="600"/>
              </a:spcAft>
              <a:defRPr/>
            </a:pPr>
            <a:endParaRPr lang="en-US" sz="1600" dirty="0">
              <a:cs typeface="Segoe UI Semibold" panose="020B0702040204020203" pitchFamily="34" charset="0"/>
            </a:endParaRPr>
          </a:p>
        </p:txBody>
      </p:sp>
      <p:sp>
        <p:nvSpPr>
          <p:cNvPr id="17" name="Footer Placeholder 4">
            <a:extLst>
              <a:ext uri="{FF2B5EF4-FFF2-40B4-BE49-F238E27FC236}">
                <a16:creationId xmlns:a16="http://schemas.microsoft.com/office/drawing/2014/main" id="{24EB9384-4D5F-4715-A928-6C77CB6DB5AF}"/>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8" name="Slide Number Placeholder 3">
            <a:extLst>
              <a:ext uri="{FF2B5EF4-FFF2-40B4-BE49-F238E27FC236}">
                <a16:creationId xmlns:a16="http://schemas.microsoft.com/office/drawing/2014/main" id="{0041E305-A656-AA8D-00C7-3561589A2EC5}"/>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37</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4042163456"/>
      </p:ext>
    </p:extLst>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F6AA2-8F90-D38A-D09D-FFE289D7E552}"/>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B7078D36-5D20-6649-2999-5ABB17129C91}"/>
              </a:ext>
              <a:ext uri="{C183D7F6-B498-43B3-948B-1728B52AA6E4}">
                <adec:decorative xmlns:adec="http://schemas.microsoft.com/office/drawing/2017/decorative" val="1"/>
              </a:ext>
            </a:extLst>
          </p:cNvPr>
          <p:cNvSpPr>
            <a:spLocks/>
          </p:cNvSpPr>
          <p:nvPr/>
        </p:nvSpPr>
        <p:spPr>
          <a:xfrm>
            <a:off x="571500" y="1508338"/>
            <a:ext cx="11049000" cy="4760700"/>
          </a:xfrm>
          <a:prstGeom prst="rect">
            <a:avLst/>
          </a:prstGeom>
          <a:noFill/>
          <a:ln w="3175">
            <a:solidFill>
              <a:schemeClr val="bg1">
                <a:lumMod val="85000"/>
              </a:schemeClr>
            </a:solidFill>
          </a:ln>
        </p:spPr>
        <p:txBody>
          <a:bodyPr wrap="square" lIns="137160" tIns="768096" rIns="137160" bIns="91440" anchor="t">
            <a:noAutofit/>
          </a:bodyPr>
          <a:lstStyle/>
          <a:p>
            <a:pPr marL="230188" indent="-230188" defTabSz="914192">
              <a:spcBef>
                <a:spcPts val="300"/>
              </a:spcBef>
              <a:spcAft>
                <a:spcPts val="300"/>
              </a:spcAft>
              <a:buFont typeface="Arial" panose="020B0604020202020204" pitchFamily="34" charset="0"/>
              <a:buChar char="•"/>
              <a:defRPr/>
            </a:pPr>
            <a:endParaRPr lang="en-US" sz="1600">
              <a:cs typeface="Segoe UI Semibold" panose="020B0702040204020203" pitchFamily="34" charset="0"/>
            </a:endParaRPr>
          </a:p>
        </p:txBody>
      </p:sp>
      <p:sp>
        <p:nvSpPr>
          <p:cNvPr id="2" name="Title 1">
            <a:extLst>
              <a:ext uri="{FF2B5EF4-FFF2-40B4-BE49-F238E27FC236}">
                <a16:creationId xmlns:a16="http://schemas.microsoft.com/office/drawing/2014/main" id="{DCC05A4C-CC22-E4FF-C2D7-6D0EF628D668}"/>
              </a:ext>
            </a:extLst>
          </p:cNvPr>
          <p:cNvSpPr>
            <a:spLocks noGrp="1"/>
          </p:cNvSpPr>
          <p:nvPr>
            <p:ph type="title"/>
          </p:nvPr>
        </p:nvSpPr>
        <p:spPr>
          <a:xfrm>
            <a:off x="575481" y="599436"/>
            <a:ext cx="11018520" cy="553998"/>
          </a:xfrm>
        </p:spPr>
        <p:txBody>
          <a:bodyPr/>
          <a:lstStyle/>
          <a:p>
            <a:r>
              <a:rPr lang="en-US" dirty="0"/>
              <a:t>Lab 2: ACNS (Optional)</a:t>
            </a:r>
          </a:p>
        </p:txBody>
      </p:sp>
      <p:sp>
        <p:nvSpPr>
          <p:cNvPr id="8" name="Rectangle 7">
            <a:extLst>
              <a:ext uri="{FF2B5EF4-FFF2-40B4-BE49-F238E27FC236}">
                <a16:creationId xmlns:a16="http://schemas.microsoft.com/office/drawing/2014/main" id="{05EDC781-8E22-894D-1D59-976FD7DB71A8}"/>
              </a:ext>
            </a:extLst>
          </p:cNvPr>
          <p:cNvSpPr>
            <a:spLocks/>
          </p:cNvSpPr>
          <p:nvPr/>
        </p:nvSpPr>
        <p:spPr>
          <a:xfrm>
            <a:off x="571499" y="1751640"/>
            <a:ext cx="11049000" cy="465121"/>
          </a:xfrm>
          <a:prstGeom prst="rect">
            <a:avLst/>
          </a:prstGeom>
          <a:solidFill>
            <a:schemeClr val="accent2"/>
          </a:solidFill>
        </p:spPr>
        <p:txBody>
          <a:bodyPr wrap="square" lIns="91440" tIns="45720" rIns="91440" bIns="45720" anchor="ctr">
            <a:noAutofit/>
          </a:bodyPr>
          <a:lstStyle/>
          <a:p>
            <a:pPr algn="ctr" defTabSz="914192">
              <a:spcAft>
                <a:spcPts val="300"/>
              </a:spcAft>
            </a:pPr>
            <a:r>
              <a:rPr lang="en-US">
                <a:solidFill>
                  <a:srgbClr val="FFFFFF"/>
                </a:solidFill>
                <a:latin typeface="Segoe Semibold"/>
                <a:cs typeface="Segoe UI Semibold"/>
              </a:rPr>
              <a:t>Lab Description</a:t>
            </a:r>
          </a:p>
        </p:txBody>
      </p:sp>
      <p:grpSp>
        <p:nvGrpSpPr>
          <p:cNvPr id="9" name="Group 8">
            <a:extLst>
              <a:ext uri="{FF2B5EF4-FFF2-40B4-BE49-F238E27FC236}">
                <a16:creationId xmlns:a16="http://schemas.microsoft.com/office/drawing/2014/main" id="{5D2F23B6-2AE1-C5DB-CC25-22219F5DC17B}"/>
              </a:ext>
              <a:ext uri="{C183D7F6-B498-43B3-948B-1728B52AA6E4}">
                <adec:decorative xmlns:adec="http://schemas.microsoft.com/office/drawing/2017/decorative" val="1"/>
              </a:ext>
            </a:extLst>
          </p:cNvPr>
          <p:cNvGrpSpPr>
            <a:grpSpLocks/>
          </p:cNvGrpSpPr>
          <p:nvPr/>
        </p:nvGrpSpPr>
        <p:grpSpPr>
          <a:xfrm>
            <a:off x="574674" y="1751640"/>
            <a:ext cx="11045826" cy="465121"/>
            <a:chOff x="574675" y="1519848"/>
            <a:chExt cx="7312025" cy="465121"/>
          </a:xfrm>
        </p:grpSpPr>
        <p:cxnSp>
          <p:nvCxnSpPr>
            <p:cNvPr id="12" name="Straight Connector 11">
              <a:extLst>
                <a:ext uri="{FF2B5EF4-FFF2-40B4-BE49-F238E27FC236}">
                  <a16:creationId xmlns:a16="http://schemas.microsoft.com/office/drawing/2014/main" id="{9190E082-4494-4DC9-81DD-F7EE5660542A}"/>
                </a:ext>
                <a:ext uri="{C183D7F6-B498-43B3-948B-1728B52AA6E4}">
                  <adec:decorative xmlns:adec="http://schemas.microsoft.com/office/drawing/2017/decorative" val="1"/>
                </a:ext>
              </a:extLst>
            </p:cNvPr>
            <p:cNvCxnSpPr>
              <a:cxnSpLocks/>
            </p:cNvCxnSpPr>
            <p:nvPr/>
          </p:nvCxnSpPr>
          <p:spPr>
            <a:xfrm>
              <a:off x="574675" y="1519848"/>
              <a:ext cx="0" cy="465121"/>
            </a:xfrm>
            <a:prstGeom prst="line">
              <a:avLst/>
            </a:prstGeom>
            <a:ln w="28575" cap="rnd">
              <a:solidFill>
                <a:schemeClr val="accent2">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900E342-8FBA-7F03-7DEF-01903F9D1146}"/>
                </a:ext>
                <a:ext uri="{C183D7F6-B498-43B3-948B-1728B52AA6E4}">
                  <adec:decorative xmlns:adec="http://schemas.microsoft.com/office/drawing/2017/decorative" val="1"/>
                </a:ext>
              </a:extLst>
            </p:cNvPr>
            <p:cNvCxnSpPr>
              <a:cxnSpLocks/>
            </p:cNvCxnSpPr>
            <p:nvPr/>
          </p:nvCxnSpPr>
          <p:spPr>
            <a:xfrm>
              <a:off x="7886700" y="1519848"/>
              <a:ext cx="0" cy="465121"/>
            </a:xfrm>
            <a:prstGeom prst="line">
              <a:avLst/>
            </a:prstGeom>
            <a:ln w="28575" cap="rnd">
              <a:solidFill>
                <a:schemeClr val="accent2">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14" name="TextBox 13">
            <a:extLst>
              <a:ext uri="{FF2B5EF4-FFF2-40B4-BE49-F238E27FC236}">
                <a16:creationId xmlns:a16="http://schemas.microsoft.com/office/drawing/2014/main" id="{AC6458C2-73E2-818F-4A70-D4F00A0000DC}"/>
              </a:ext>
            </a:extLst>
          </p:cNvPr>
          <p:cNvSpPr txBox="1">
            <a:spLocks/>
          </p:cNvSpPr>
          <p:nvPr/>
        </p:nvSpPr>
        <p:spPr>
          <a:xfrm>
            <a:off x="571500" y="2339873"/>
            <a:ext cx="11048999" cy="3669041"/>
          </a:xfrm>
          <a:prstGeom prst="rect">
            <a:avLst/>
          </a:prstGeom>
        </p:spPr>
        <p:txBody>
          <a:bodyPr wrap="square" lIns="91440" tIns="45720" rIns="91440" bIns="45720">
            <a:noAutofit/>
          </a:bodyPr>
          <a:lstStyle/>
          <a:p>
            <a:pPr marL="230188" indent="-230188" defTabSz="914192">
              <a:spcBef>
                <a:spcPts val="600"/>
              </a:spcBef>
              <a:spcAft>
                <a:spcPts val="600"/>
              </a:spcAft>
              <a:buFont typeface="Arial" panose="020B0604020202020204" pitchFamily="34" charset="0"/>
              <a:buChar char="•"/>
              <a:defRPr/>
            </a:pPr>
            <a:r>
              <a:rPr lang="en-US" sz="1600" dirty="0">
                <a:cs typeface="Segoe UI Semibold" panose="020B0702040204020203" pitchFamily="34" charset="0"/>
              </a:rPr>
              <a:t>Control traffic flows by enforcing Network Policies.</a:t>
            </a:r>
          </a:p>
          <a:p>
            <a:pPr marL="230188" indent="-230188" defTabSz="914192">
              <a:spcBef>
                <a:spcPts val="600"/>
              </a:spcBef>
              <a:spcAft>
                <a:spcPts val="600"/>
              </a:spcAft>
              <a:buFont typeface="Arial" panose="020B0604020202020204" pitchFamily="34" charset="0"/>
              <a:buChar char="•"/>
              <a:defRPr/>
            </a:pPr>
            <a:r>
              <a:rPr lang="en-US" sz="1600" dirty="0">
                <a:cs typeface="Segoe UI Semibold" panose="020B0702040204020203" pitchFamily="34" charset="0"/>
              </a:rPr>
              <a:t>Controle outbound traffic by configuring FQDN Filtering.</a:t>
            </a:r>
          </a:p>
          <a:p>
            <a:pPr marL="230188" indent="-230188" defTabSz="914192">
              <a:spcBef>
                <a:spcPts val="600"/>
              </a:spcBef>
              <a:spcAft>
                <a:spcPts val="600"/>
              </a:spcAft>
              <a:buFont typeface="Arial" panose="020B0604020202020204" pitchFamily="34" charset="0"/>
              <a:buChar char="•"/>
              <a:defRPr/>
            </a:pPr>
            <a:r>
              <a:rPr lang="en-US" sz="1600" dirty="0">
                <a:cs typeface="Segoe UI Semibold" panose="020B0702040204020203" pitchFamily="34" charset="0"/>
              </a:rPr>
              <a:t>Introduce chaos in a running application and visualize its effects with Grafana.</a:t>
            </a:r>
          </a:p>
          <a:p>
            <a:pPr marL="230188" indent="-230188" defTabSz="914192">
              <a:spcBef>
                <a:spcPts val="600"/>
              </a:spcBef>
              <a:spcAft>
                <a:spcPts val="600"/>
              </a:spcAft>
              <a:buFont typeface="Arial" panose="020B0604020202020204" pitchFamily="34" charset="0"/>
              <a:buChar char="•"/>
              <a:defRPr/>
            </a:pPr>
            <a:r>
              <a:rPr lang="en-US" sz="1600" dirty="0">
                <a:cs typeface="Segoe UI Semibold" panose="020B0702040204020203" pitchFamily="34" charset="0"/>
              </a:rPr>
              <a:t>Deploy Hubble and observe network flows. </a:t>
            </a:r>
          </a:p>
        </p:txBody>
      </p:sp>
      <p:sp>
        <p:nvSpPr>
          <p:cNvPr id="17" name="Footer Placeholder 4">
            <a:extLst>
              <a:ext uri="{FF2B5EF4-FFF2-40B4-BE49-F238E27FC236}">
                <a16:creationId xmlns:a16="http://schemas.microsoft.com/office/drawing/2014/main" id="{4F283100-891D-54CC-94A8-9C7BBD1C2876}"/>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8" name="Slide Number Placeholder 3">
            <a:extLst>
              <a:ext uri="{FF2B5EF4-FFF2-40B4-BE49-F238E27FC236}">
                <a16:creationId xmlns:a16="http://schemas.microsoft.com/office/drawing/2014/main" id="{69E723D1-FEE7-1505-7569-F9A3F4EFDB19}"/>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38</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pic>
        <p:nvPicPr>
          <p:cNvPr id="3" name="Picture 2" descr="Информация об используемом ПО | Deckhouse">
            <a:extLst>
              <a:ext uri="{FF2B5EF4-FFF2-40B4-BE49-F238E27FC236}">
                <a16:creationId xmlns:a16="http://schemas.microsoft.com/office/drawing/2014/main" id="{C6E7DB21-34EB-951C-BAF5-AE756103155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3382"/>
          <a:stretch>
            <a:fillRect/>
          </a:stretch>
        </p:blipFill>
        <p:spPr bwMode="auto">
          <a:xfrm>
            <a:off x="8453520" y="4339302"/>
            <a:ext cx="2930216" cy="163485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a:extLst>
              <a:ext uri="{FF2B5EF4-FFF2-40B4-BE49-F238E27FC236}">
                <a16:creationId xmlns:a16="http://schemas.microsoft.com/office/drawing/2014/main" id="{A34DBA48-54A9-B54C-6F99-9007EA1D430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22082"/>
          <a:stretch>
            <a:fillRect/>
          </a:stretch>
        </p:blipFill>
        <p:spPr bwMode="auto">
          <a:xfrm>
            <a:off x="7710642" y="2576003"/>
            <a:ext cx="1825322" cy="1450809"/>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a:extLst>
              <a:ext uri="{FF2B5EF4-FFF2-40B4-BE49-F238E27FC236}">
                <a16:creationId xmlns:a16="http://schemas.microsoft.com/office/drawing/2014/main" id="{30E06547-13A9-2274-B9D3-8FF6C3B88C1B}"/>
              </a:ext>
            </a:extLst>
          </p:cNvPr>
          <p:cNvGrpSpPr/>
          <p:nvPr/>
        </p:nvGrpSpPr>
        <p:grpSpPr>
          <a:xfrm>
            <a:off x="10399541" y="2926881"/>
            <a:ext cx="1391901" cy="1379764"/>
            <a:chOff x="10513770" y="3497069"/>
            <a:chExt cx="1391901" cy="1379764"/>
          </a:xfrm>
        </p:grpSpPr>
        <p:sp>
          <p:nvSpPr>
            <p:cNvPr id="7" name="Oval 6">
              <a:extLst>
                <a:ext uri="{FF2B5EF4-FFF2-40B4-BE49-F238E27FC236}">
                  <a16:creationId xmlns:a16="http://schemas.microsoft.com/office/drawing/2014/main" id="{BA1BC972-9826-05DC-B140-362E784B8001}"/>
                </a:ext>
              </a:extLst>
            </p:cNvPr>
            <p:cNvSpPr/>
            <p:nvPr/>
          </p:nvSpPr>
          <p:spPr bwMode="auto">
            <a:xfrm>
              <a:off x="10619586" y="3529726"/>
              <a:ext cx="1077686" cy="1262710"/>
            </a:xfrm>
            <a:prstGeom prst="ellipse">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NL" sz="2000" b="1" dirty="0" err="1">
                <a:ln w="10160">
                  <a:solidFill>
                    <a:schemeClr val="accent5"/>
                  </a:solidFill>
                  <a:prstDash val="solid"/>
                </a:ln>
                <a:solidFill>
                  <a:srgbClr val="FFFFFF"/>
                </a:solidFill>
                <a:effectLst>
                  <a:outerShdw blurRad="38100" dist="22860" dir="5400000" algn="tl" rotWithShape="0">
                    <a:srgbClr val="000000">
                      <a:alpha val="30000"/>
                    </a:srgbClr>
                  </a:outerShdw>
                </a:effectLst>
                <a:ea typeface="Segoe UI" pitchFamily="34" charset="0"/>
                <a:cs typeface="Segoe UI" pitchFamily="34" charset="0"/>
              </a:endParaRPr>
            </a:p>
          </p:txBody>
        </p:sp>
        <p:pic>
          <p:nvPicPr>
            <p:cNvPr id="10" name="Picture 9">
              <a:extLst>
                <a:ext uri="{FF2B5EF4-FFF2-40B4-BE49-F238E27FC236}">
                  <a16:creationId xmlns:a16="http://schemas.microsoft.com/office/drawing/2014/main" id="{058311FB-D47A-2E4C-87D4-FF5CE39CEEA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13770" y="3497069"/>
              <a:ext cx="1391901" cy="1379764"/>
            </a:xfrm>
            <a:prstGeom prst="rect">
              <a:avLst/>
            </a:prstGeom>
            <a:noFill/>
            <a:extLst>
              <a:ext uri="{909E8E84-426E-40DD-AFC4-6F175D3DCCD1}">
                <a14:hiddenFill xmlns:a14="http://schemas.microsoft.com/office/drawing/2010/main">
                  <a:solidFill>
                    <a:srgbClr val="FFFFFF"/>
                  </a:solidFill>
                </a14:hiddenFill>
              </a:ext>
            </a:extLst>
          </p:spPr>
        </p:pic>
      </p:grpSp>
    </p:spTree>
    <p:custDataLst>
      <p:tags r:id="rId1"/>
    </p:custDataLst>
    <p:extLst>
      <p:ext uri="{BB962C8B-B14F-4D97-AF65-F5344CB8AC3E}">
        <p14:creationId xmlns:p14="http://schemas.microsoft.com/office/powerpoint/2010/main" val="1713880282"/>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MIO_NATIVESECTIONS" val="﻿&lt;?xml version=&quot;1.0&quot; encoding=&quot;utf-8&quot;?&gt;&lt;ArrayOfNativeSection xmlns:xsi=&quot;http://www.w3.org/2001/XMLSchema-instance&quot; xmlns:xsd=&quot;http://www.w3.org/2001/XMLSchema&quot;&gt;&lt;NativeSection&gt;&lt;Name&gt;Introduction to Windows PowerShell&lt;/Name&gt;&lt;FirstSlideIndex&gt;4&lt;/FirstSlideIndex&gt;&lt;SlidesCount&gt;6&lt;/SlidesCount&gt;&lt;SlideGuids&gt;&lt;guid&gt;9d9e1da7-2723-4f69-b69f-21b1693715c5&lt;/guid&gt;&lt;guid&gt;3ccd3973-1ec5-46fa-8710-ff514ce2a1f3&lt;/guid&gt;&lt;guid&gt;bc67d307-7296-45c5-86cd-00562e489dd6&lt;/guid&gt;&lt;guid&gt;672fc58f-c006-4e7b-83c2-90f4529f2400&lt;/guid&gt;&lt;guid&gt;318999cc-0be6-4be2-83d0-cb8fe10122fa&lt;/guid&gt;&lt;guid&gt;459b7d24-9e19-433a-accc-69f76be60f43&lt;/guid&gt;&lt;/SlideGuids&gt;&lt;/NativeSection&gt;&lt;NativeSection&gt;&lt;Name&gt;Introduction to Windows PowerShell - The PowerShell shell&lt;/Name&gt;&lt;FirstSlideIndex&gt;10&lt;/FirstSlideIndex&gt;&lt;SlidesCount&gt;7&lt;/SlidesCount&gt;&lt;SlideGuids&gt;&lt;guid&gt;3358efb2-d4c0-4d61-994f-75e3275fac2b&lt;/guid&gt;&lt;guid&gt;6ae3b69a-fbee-464e-ae86-3ecd39513fa0&lt;/guid&gt;&lt;guid&gt;4e0b095b-d004-4f1b-9c6b-30c2d0469d61&lt;/guid&gt;&lt;guid&gt;1d1652e4-8311-451e-9a8c-b2119571880d&lt;/guid&gt;&lt;guid&gt;aa04ec43-c604-4a73-b2eb-0ef0ee77f79c&lt;/guid&gt;&lt;guid&gt;00adf8b6-932b-4200-a1bc-c3f07f8f4d64&lt;/guid&gt;&lt;guid&gt;7e7f40d8-8d37-45ee-9724-a8bf02ad8fcf&lt;/guid&gt;&lt;/SlideGuids&gt;&lt;/NativeSection&gt;&lt;NativeSection&gt;&lt;Name&gt;Introduction to Windows PowerShell - Integrated Scripting Environment (ISE)&lt;/Name&gt;&lt;FirstSlideIndex&gt;17&lt;/FirstSlideIndex&gt;&lt;SlidesCount&gt;7&lt;/SlidesCount&gt;&lt;SlideGuids&gt;&lt;guid&gt;ca3cdbe2-c1a0-496c-8b03-963455ae08cc&lt;/guid&gt;&lt;guid&gt;b1a90355-9415-45f5-a99d-f37839064456&lt;/guid&gt;&lt;guid&gt;3bc041ee-b16c-40a8-a375-66ea1d776dc0&lt;/guid&gt;&lt;guid&gt;b6acce1c-41ec-4e65-bdcc-23f3b5b20db0&lt;/guid&gt;&lt;guid&gt;768a6834-0cfa-4d1b-b334-ac15dc4109ca&lt;/guid&gt;&lt;guid&gt;00adf8b6-932b-4200-a1bc-c3f07f8f4d64&lt;/guid&gt;&lt;guid&gt;7e7f40d8-8d37-45ee-9724-a8bf02ad8fcf&lt;/guid&gt;&lt;/SlideGuids&gt;&lt;/NativeSection&gt;&lt;NativeSection&gt;&lt;Name&gt;Introduction to Windows PowerShell - Integrated Scripting Environment (ISE) - Features&lt;/Name&gt;&lt;FirstSlideIndex&gt;24&lt;/FirstSlideIndex&gt;&lt;SlidesCount&gt;10&lt;/SlidesCount&gt;&lt;SlideGuids&gt;&lt;guid&gt;e1166bed-b1cf-4a18-b3fa-270e99523a73&lt;/guid&gt;&lt;guid&gt;1b439196-c8b3-443c-adfe-ddd445fc1dea&lt;/guid&gt;&lt;guid&gt;5db85947-b1b2-4c61-b1a6-466fcb9ccbc5&lt;/guid&gt;&lt;guid&gt;ff6facb6-682b-4525-82a1-7d48607b7e88&lt;/guid&gt;&lt;guid&gt;30280d42-31cf-4e37-be85-b7dbaab0bb92&lt;/guid&gt;&lt;guid&gt;f026dc64-98b4-4191-a399-1bde3e751c77&lt;/guid&gt;&lt;guid&gt;96dccee5-e57f-4ffe-9f58-07c261f2f193&lt;/guid&gt;&lt;guid&gt;58797128-d2cf-4e7b-ad59-8a18432caccf&lt;/guid&gt;&lt;guid&gt;00adf8b6-932b-4200-a1bc-c3f07f8f4d64&lt;/guid&gt;&lt;guid&gt;7e7f40d8-8d37-45ee-9724-a8bf02ad8fcf&lt;/guid&gt;&lt;/SlideGuids&gt;&lt;/NativeSection&gt;&lt;NativeSection&gt;&lt;Name&gt;Introduction to Commands&lt;/Name&gt;&lt;FirstSlideIndex&gt;34&lt;/FirstSlideIndex&gt;&lt;SlidesCount&gt;2&lt;/SlidesCount&gt;&lt;SlideGuids&gt;&lt;guid&gt;1f669531-dd69-4ef9-a692-f0ee18299d4d&lt;/guid&gt;&lt;guid&gt;3ccd3973-1ec5-46fa-8710-ff514ce2a1f3&lt;/guid&gt;&lt;/SlideGuids&gt;&lt;/NativeSection&gt;&lt;NativeSection&gt;&lt;Name&gt;Introduction to Commands - External Commands&lt;/Name&gt;&lt;FirstSlideIndex&gt;36&lt;/FirstSlideIndex&gt;&lt;SlidesCount&gt;5&lt;/SlidesCount&gt;&lt;SlideGuids&gt;&lt;guid&gt;3feb09ab-e4a3-4df2-b9b2-7c59bed53a69&lt;/guid&gt;&lt;guid&gt;6f878c01-a3eb-40d3-a213-c43f4a3ab641&lt;/guid&gt;&lt;guid&gt;cb107531-a8e9-469d-b5bd-c28436624552&lt;/guid&gt;&lt;guid&gt;6b3f75de-a037-4381-8fc8-618b7e265e56&lt;/guid&gt;&lt;guid&gt;7e7f40d8-8d37-45ee-9724-a8bf02ad8fcf&lt;/guid&gt;&lt;/SlideGuids&gt;&lt;/NativeSection&gt;&lt;NativeSection&gt;&lt;Name&gt;Introduction to Commands - PowerShell commands&lt;/Name&gt;&lt;FirstSlideIndex&gt;41&lt;/FirstSlideIndex&gt;&lt;SlidesCount&gt;12&lt;/SlidesCount&gt;&lt;SlideGuids&gt;&lt;guid&gt;426e1b04-391b-466b-bc29-8a42babefe40&lt;/guid&gt;&lt;guid&gt;a0578b4a-a1e6-4f54-93e4-8bf201accac6&lt;/guid&gt;&lt;guid&gt;a6d5c4db-5b9a-49b0-b2ba-bd0b3bff0758&lt;/guid&gt;&lt;guid&gt;b8052ebc-3fa8-4abe-9c2e-59c3bb4707ee&lt;/guid&gt;&lt;guid&gt;b794a4d1-9791-4bab-b28e-5253577824c6&lt;/guid&gt;&lt;guid&gt;0998e991-5e28-429f-9c2c-28193cee6032&lt;/guid&gt;&lt;guid&gt;4986f64a-99cf-404c-b710-071ed6bff202&lt;/guid&gt;&lt;guid&gt;9d70877b-88a2-415b-b023-87e5f0f10101&lt;/guid&gt;&lt;guid&gt;62563174-4078-46c5-a87c-d458e27091aa&lt;/guid&gt;&lt;guid&gt;bcf04dda-96d7-464b-ab84-ae63980a8e84&lt;/guid&gt;&lt;guid&gt;0e9c346d-8ca7-47d7-a3ea-dd9761e48c90&lt;/guid&gt;&lt;guid&gt;7e7f40d8-8d37-45ee-9724-a8bf02ad8fcf&lt;/guid&gt;&lt;/SlideGuids&gt;&lt;/NativeSection&gt;&lt;NativeSection&gt;&lt;Name&gt;Introduction to Commands - Cmdlet Syntax&lt;/Name&gt;&lt;FirstSlideIndex&gt;53&lt;/FirstSlideIndex&gt;&lt;SlidesCount&gt;14&lt;/SlidesCount&gt;&lt;SlideGuids&gt;&lt;guid&gt;7209000d-aa96-4e20-a91c-501ebc107778&lt;/guid&gt;&lt;guid&gt;f01cb306-9e1f-4590-9e38-bbf493ef8b1f&lt;/guid&gt;&lt;guid&gt;27b66761-f25d-4ebf-b7cd-c087bafe2652&lt;/guid&gt;&lt;guid&gt;7209000d-aa96-4e20-a91c-501ebc107778&lt;/guid&gt;&lt;guid&gt;7209000d-aa96-4e20-a91c-501ebc107778&lt;/guid&gt;&lt;guid&gt;7209000d-aa96-4e20-a91c-501ebc107778&lt;/guid&gt;&lt;guid&gt;7209000d-aa96-4e20-a91c-501ebc107778&lt;/guid&gt;&lt;guid&gt;7209000d-aa96-4e20-a91c-501ebc107778&lt;/guid&gt;&lt;guid&gt;7209000d-aa96-4e20-a91c-501ebc107778&lt;/guid&gt;&lt;guid&gt;5be2a765-e72f-40ef-9415-d6db991094bf&lt;/guid&gt;&lt;guid&gt;0c6b5fa0-27fa-4460-9bdd-29a275a83938&lt;/guid&gt;&lt;guid&gt;6806274d-ae00-4671-bcc4-6c446fd75137&lt;/guid&gt;&lt;guid&gt;eff1ad0d-edff-4696-b71d-26e747cd86cc&lt;/guid&gt;&lt;guid&gt;7e7f40d8-8d37-45ee-9724-a8bf02ad8fcf&lt;/guid&gt;&lt;/SlideGuids&gt;&lt;/NativeSection&gt;&lt;NativeSection&gt;&lt;Name&gt;Introduction to Commands - Cmdlet Common Parameters&lt;/Name&gt;&lt;FirstSlideIndex&gt;67&lt;/FirstSlideIndex&gt;&lt;SlidesCount&gt;12&lt;/SlidesCount&gt;&lt;SlideGuids&gt;&lt;guid&gt;9654f450-f019-44e6-b65b-d1bb1c9ab9cf&lt;/guid&gt;&lt;guid&gt;3f57c3d8-ad09-42db-8b7f-fb53311bbcb1&lt;/guid&gt;&lt;guid&gt;1b20324c-120d-4cd2-829e-ef4a36f4353a&lt;/guid&gt;&lt;guid&gt;cac7793a-fc43-4ff7-bf41-3e011449d657&lt;/guid&gt;&lt;guid&gt;8f045e5b-b095-40cd-80a0-6e971422544f&lt;/guid&gt;&lt;guid&gt;95714aaa-8dfb-4b1e-8b1e-37271dd273fa&lt;/guid&gt;&lt;guid&gt;9ab87bb2-7e8f-4af4-a94a-a8610fdccfdc&lt;/guid&gt;&lt;guid&gt;777d5f4b-0b2a-4316-82e8-5d730bbccaab&lt;/guid&gt;&lt;guid&gt;4654dda3-5a19-4678-8030-b1706eb3eb3f&lt;/guid&gt;&lt;guid&gt;2446594d-bc9d-40a4-8baa-b7757caf755f&lt;/guid&gt;&lt;guid&gt;b9cda98c-f984-44d2-949b-c0a768deba69&lt;/guid&gt;&lt;guid&gt;7e7f40d8-8d37-45ee-9724-a8bf02ad8fcf&lt;/guid&gt;&lt;/SlideGuids&gt;&lt;/NativeSection&gt;&lt;NativeSection&gt;&lt;Name&gt;Introduction to Commands - Command Termination and Line Continuation&lt;/Name&gt;&lt;FirstSlideIndex&gt;79&lt;/FirstSlideIndex&gt;&lt;SlidesCount&gt;8&lt;/SlidesCount&gt;&lt;SlideGuids&gt;&lt;guid&gt;1a25d4e7-21ea-4c9d-82ca-1c4d40b802e6&lt;/guid&gt;&lt;guid&gt;d4fc2cfb-1f4c-4284-9a90-8a9dfac87a51&lt;/guid&gt;&lt;guid&gt;00691e86-e96c-4ad2-9f74-ef4b3fa2693f&lt;/guid&gt;&lt;guid&gt;24f45a39-5d68-4f45-9666-28a431578cb4&lt;/guid&gt;&lt;guid&gt;cda6b029-eec0-4e35-9554-8139afb73cdf&lt;/guid&gt;&lt;guid&gt;ed0db01f-b035-4031-8354-c833afab6954&lt;/guid&gt;&lt;guid&gt;ae2f9860-d0e5-45d9-aeb9-b8c30276d763&lt;/guid&gt;&lt;guid&gt;7e7f40d8-8d37-45ee-9724-a8bf02ad8fcf&lt;/guid&gt;&lt;/SlideGuids&gt;&lt;/NativeSection&gt;&lt;NativeSection&gt;&lt;Name&gt;Introduction to Commands - Built-in Aliases&lt;/Name&gt;&lt;FirstSlideIndex&gt;87&lt;/FirstSlideIndex&gt;&lt;SlidesCount&gt;5&lt;/SlidesCount&gt;&lt;SlideGuids&gt;&lt;guid&gt;daa0c646-4964-4677-b662-6d7b5bde0af7&lt;/guid&gt;&lt;guid&gt;4df4c6eb-d2a5-4e73-bc8d-d337ce32b5c8&lt;/guid&gt;&lt;guid&gt;c1f56b12-3707-4f35-8733-39b9c38473e9&lt;/guid&gt;&lt;guid&gt;a3c72e30-c9fd-41a2-81b7-774a592681f2&lt;/guid&gt;&lt;guid&gt;7e7f40d8-8d37-45ee-9724-a8bf02ad8fcf&lt;/guid&gt;&lt;/SlideGuids&gt;&lt;/NativeSection&gt;&lt;NativeSection&gt;&lt;Name&gt;Introduction to Commands - User-defined Aliases&lt;/Name&gt;&lt;FirstSlideIndex&gt;92&lt;/FirstSlideIndex&gt;&lt;SlidesCount&gt;5&lt;/SlidesCount&gt;&lt;SlideGuids&gt;&lt;guid&gt;a7c2d5d0-e482-48f2-9014-d873da40f698&lt;/guid&gt;&lt;guid&gt;aa04ec43-c604-4a73-b2eb-0ef0ee77f79c&lt;/guid&gt;&lt;guid&gt;7209000d-aa96-4e20-a91c-501ebc107778&lt;/guid&gt;&lt;guid&gt;20c1946b-9a3c-4b0a-ba7c-74353ae716f5&lt;/guid&gt;&lt;guid&gt;7e7f40d8-8d37-45ee-9724-a8bf02ad8fcf&lt;/guid&gt;&lt;/SlideGuids&gt;&lt;/NativeSection&gt;&lt;NativeSection&gt;&lt;Name&gt;Introduction to Commands - Lab: Introduction to Commands&lt;/Name&gt;&lt;FirstSlideIndex&gt;97&lt;/FirstSlideIndex&gt;&lt;SlidesCount&gt;2&lt;/SlidesCount&gt;&lt;SlideGuids&gt;&lt;guid&gt;e5936d9c-b546-443b-afcc-e10e11a5dae6&lt;/guid&gt;&lt;guid&gt;1e5e1ebb-e8bf-4fba-87f5-5fca36bd0235&lt;/guid&gt;&lt;/SlideGuids&gt;&lt;/NativeSection&gt;&lt;/ArrayOfNativeSection&gt;"/>
  <p:tag name="MIO_EKGUID" val="602ca75f-b92d-4d33-a8d7-07e8571bebc5"/>
  <p:tag name="MIO_UPDATE" val="True"/>
  <p:tag name="MIO_VERSION" val="30.03.2020 15:44:06"/>
  <p:tag name="MIO_DBID" val="12B0C59E-2253-4124-A5E9-470ADF4CB168"/>
  <p:tag name="MIO_LASTDOWNLOADED" val="30.03.2020 17:44:54"/>
  <p:tag name="MIO_OBJECTNAME" val="Module Dark Grey"/>
  <p:tag name="MIO_LASTEDITORNAME" val="Devid Treuling"/>
</p:tagLst>
</file>

<file path=ppt/tags/tag2.xml><?xml version="1.0" encoding="utf-8"?>
<p:tagLst xmlns:a="http://schemas.openxmlformats.org/drawingml/2006/main" xmlns:r="http://schemas.openxmlformats.org/officeDocument/2006/relationships" xmlns:p="http://schemas.openxmlformats.org/presentationml/2006/main">
  <p:tag name="MIO_GUID" val="77499e9a-31aa-40e0-aa71-ba32caef6098"/>
  <p:tag name="MIO_EKGUID" val="dadf7f33-1b3b-444f-82e3-91528bb138ab"/>
  <p:tag name="MIO_UPDATE" val="True"/>
  <p:tag name="MIO_VERSION" val="30.03.2020 15:44:05"/>
  <p:tag name="MIO_DBID" val="12b0c59e-2253-4124-a5e9-470adf4cb168"/>
  <p:tag name="MIO_LASTDOWNLOADED" val="30.03.2020 15:44:51"/>
  <p:tag name="MIO_OBJECTNAME" val="Title"/>
  <p:tag name="MIO_LASTEDITORNAME" val="Devid Treuling"/>
</p:tagLst>
</file>

<file path=ppt/tags/tag3.xml><?xml version="1.0" encoding="utf-8"?>
<p:tagLst xmlns:a="http://schemas.openxmlformats.org/drawingml/2006/main" xmlns:r="http://schemas.openxmlformats.org/officeDocument/2006/relationships" xmlns:p="http://schemas.openxmlformats.org/presentationml/2006/main">
  <p:tag name="MIO_GUID" val="55a10cb0-526b-427f-b329-564b9d813585"/>
  <p:tag name="MIO_EKGUID" val="16198fbd-a8ef-4b10-90b5-600ff933c912"/>
  <p:tag name="MIO_UPDATE" val="True"/>
  <p:tag name="MIO_VERSION" val="30.03.2020 15:44:05"/>
  <p:tag name="MIO_DBID" val="12b0c59e-2253-4124-a5e9-470adf4cb168"/>
  <p:tag name="MIO_LASTDOWNLOADED" val="30.03.2020 15:44:51"/>
  <p:tag name="MIO_OBJECTNAME" val="Disclaimer"/>
  <p:tag name="MIO_LASTEDITORNAME" val="Devid Treuling"/>
</p:tagLst>
</file>

<file path=ppt/tags/tag4.xml><?xml version="1.0" encoding="utf-8"?>
<p:tagLst xmlns:a="http://schemas.openxmlformats.org/drawingml/2006/main" xmlns:r="http://schemas.openxmlformats.org/officeDocument/2006/relationships" xmlns:p="http://schemas.openxmlformats.org/presentationml/2006/main">
  <p:tag name="MIO_GUID" val="3f15d768-aaeb-472a-a613-08046adda187"/>
  <p:tag name="MIO_EKGUID" val="66b2b442-327e-43dd-bd4d-df915862f5d3"/>
  <p:tag name="MIO_UPDATE" val="True"/>
  <p:tag name="MIO_VERSION" val="30.03.2020 15:44:05"/>
  <p:tag name="MIO_DBID" val="12b0c59e-2253-4124-a5e9-470adf4cb168"/>
  <p:tag name="MIO_LASTDOWNLOADED" val="30.03.2020 15:44:51"/>
  <p:tag name="MIO_OBJECTNAME" val="Learning Units covered in this Module"/>
  <p:tag name="MIO_LASTEDITORNAME" val="Devid Treuling"/>
</p:tagLst>
</file>

<file path=ppt/tags/tag5.xml><?xml version="1.0" encoding="utf-8"?>
<p:tagLst xmlns:a="http://schemas.openxmlformats.org/drawingml/2006/main" xmlns:r="http://schemas.openxmlformats.org/officeDocument/2006/relationships" xmlns:p="http://schemas.openxmlformats.org/presentationml/2006/main">
  <p:tag name="MIO_GUID" val="3ccd3973-1ec5-46fa-8710-ff514ce2a1f3"/>
  <p:tag name="MIO_EKGUID" val="a97e8222-500f-45cb-8331-4583a822eeb0"/>
  <p:tag name="MIO_UPDATE" val="True"/>
  <p:tag name="MIO_VERSION" val="30.03.2020 15:44:05"/>
  <p:tag name="MIO_DBID" val="12b0c59e-2253-4124-a5e9-470adf4cb168"/>
  <p:tag name="MIO_LASTDOWNLOADED" val="30.03.2020 15:44:51"/>
  <p:tag name="MIO_OBJECTNAME" val="Objectives"/>
  <p:tag name="MIO_LASTEDITORNAME" val="Devid Treuling"/>
</p:tagLst>
</file>

<file path=ppt/tags/tag6.xml><?xml version="1.0" encoding="utf-8"?>
<p:tagLst xmlns:a="http://schemas.openxmlformats.org/drawingml/2006/main" xmlns:r="http://schemas.openxmlformats.org/officeDocument/2006/relationships" xmlns:p="http://schemas.openxmlformats.org/presentationml/2006/main">
  <p:tag name="MIO_GUID" val="3358efb2-d4c0-4d61-994f-75e3275fac2b"/>
  <p:tag name="MIO_EKGUID" val="a56ec7a2-ebc6-4a2a-9495-6dad13f4de77"/>
  <p:tag name="MIO_UPDATE" val="True"/>
  <p:tag name="MIO_VERSION" val="30.03.2020 15:44:05"/>
  <p:tag name="MIO_DBID" val="12b0c59e-2253-4124-a5e9-470adf4cb168"/>
  <p:tag name="MIO_LASTDOWNLOADED" val="30.03.2020 15:44:52"/>
  <p:tag name="MIO_OBJECTNAME" val="Lesson 1"/>
  <p:tag name="MIO_LASTEDITORNAME" val="Devid Treuling"/>
</p:tagLst>
</file>

<file path=ppt/tags/tag7.xml><?xml version="1.0" encoding="utf-8"?>
<p:tagLst xmlns:a="http://schemas.openxmlformats.org/drawingml/2006/main" xmlns:r="http://schemas.openxmlformats.org/officeDocument/2006/relationships" xmlns:p="http://schemas.openxmlformats.org/presentationml/2006/main">
  <p:tag name="MIO_GUID" val="3358efb2-d4c0-4d61-994f-75e3275fac2b"/>
  <p:tag name="MIO_EKGUID" val="a56ec7a2-ebc6-4a2a-9495-6dad13f4de77"/>
  <p:tag name="MIO_UPDATE" val="True"/>
  <p:tag name="MIO_VERSION" val="30.03.2020 15:44:05"/>
  <p:tag name="MIO_DBID" val="12b0c59e-2253-4124-a5e9-470adf4cb168"/>
  <p:tag name="MIO_LASTDOWNLOADED" val="30.03.2020 15:44:52"/>
  <p:tag name="MIO_OBJECTNAME" val="Lesson 1"/>
  <p:tag name="MIO_LASTEDITORNAME" val="Devid Treuling"/>
</p:tagLst>
</file>

<file path=ppt/tags/tag8.xml><?xml version="1.0" encoding="utf-8"?>
<p:tagLst xmlns:a="http://schemas.openxmlformats.org/drawingml/2006/main" xmlns:r="http://schemas.openxmlformats.org/officeDocument/2006/relationships" xmlns:p="http://schemas.openxmlformats.org/presentationml/2006/main">
  <p:tag name="MIO_GUID" val="3358efb2-d4c0-4d61-994f-75e3275fac2b"/>
  <p:tag name="MIO_EKGUID" val="a56ec7a2-ebc6-4a2a-9495-6dad13f4de77"/>
  <p:tag name="MIO_UPDATE" val="True"/>
  <p:tag name="MIO_VERSION" val="30.03.2020 15:44:05"/>
  <p:tag name="MIO_DBID" val="12b0c59e-2253-4124-a5e9-470adf4cb168"/>
  <p:tag name="MIO_LASTDOWNLOADED" val="30.03.2020 15:44:52"/>
  <p:tag name="MIO_OBJECTNAME" val="Lesson 1"/>
  <p:tag name="MIO_LASTEDITORNAME" val="Devid Treuling"/>
</p:tagLst>
</file>

<file path=ppt/tags/tag9.xml><?xml version="1.0" encoding="utf-8"?>
<p:tagLst xmlns:a="http://schemas.openxmlformats.org/drawingml/2006/main" xmlns:r="http://schemas.openxmlformats.org/officeDocument/2006/relationships" xmlns:p="http://schemas.openxmlformats.org/presentationml/2006/main">
  <p:tag name="TESTINGTAG" val="TestingValue-JC Was here"/>
  <p:tag name="MIO_GUID" val="1d1652e4-8311-451e-9a8c-b2119571880d"/>
  <p:tag name="MIO_EKGUID" val="d00d6b5a-21c2-4cc1-856e-b908c54af255"/>
  <p:tag name="MIO_UPDATE" val="True"/>
  <p:tag name="MIO_VERSION" val="30.03.2020 15:44:05"/>
  <p:tag name="MIO_DBID" val="12b0c59e-2253-4124-a5e9-470adf4cb168"/>
  <p:tag name="MIO_LASTDOWNLOADED" val="30.03.2020 15:44:52"/>
  <p:tag name="MIO_OBJECTNAME" val="Headline (4)"/>
  <p:tag name="MIO_LASTEDITORNAME" val="Devid Treuling"/>
</p:tagLst>
</file>

<file path=ppt/tags/tag10.xml><?xml version="1.0" encoding="utf-8"?>
<p:tagLst xmlns:a="http://schemas.openxmlformats.org/drawingml/2006/main" xmlns:r="http://schemas.openxmlformats.org/officeDocument/2006/relationships" xmlns:p="http://schemas.openxmlformats.org/presentationml/2006/main">
  <p:tag name="MIO_GUID" val="00adf8b6-932b-4200-a1bc-c3f07f8f4d64"/>
  <p:tag name="MIO_EKGUID" val="37064166-1785-404d-8156-350ee872403d"/>
  <p:tag name="MIO_UPDATE" val="True"/>
  <p:tag name="MIO_VERSION" val="30.03.2020 15:44:05"/>
  <p:tag name="MIO_DBID" val="12b0c59e-2253-4124-a5e9-470adf4cb168"/>
  <p:tag name="MIO_LASTDOWNLOADED" val="30.03.2020 15:44:52"/>
  <p:tag name="MIO_OBJECTNAME" val="Demonstration"/>
  <p:tag name="MIO_LASTEDITORNAME" val="Devid Treuling"/>
</p:tagLst>
</file>

<file path=ppt/tags/tag11.xml><?xml version="1.0" encoding="utf-8"?>
<p:tagLst xmlns:a="http://schemas.openxmlformats.org/drawingml/2006/main" xmlns:r="http://schemas.openxmlformats.org/officeDocument/2006/relationships" xmlns:p="http://schemas.openxmlformats.org/presentationml/2006/main">
  <p:tag name="MIO_GUID" val="3358efb2-d4c0-4d61-994f-75e3275fac2b"/>
  <p:tag name="MIO_EKGUID" val="a56ec7a2-ebc6-4a2a-9495-6dad13f4de77"/>
  <p:tag name="MIO_UPDATE" val="True"/>
  <p:tag name="MIO_VERSION" val="30.03.2020 15:44:05"/>
  <p:tag name="MIO_DBID" val="12b0c59e-2253-4124-a5e9-470adf4cb168"/>
  <p:tag name="MIO_LASTDOWNLOADED" val="30.03.2020 15:44:52"/>
  <p:tag name="MIO_OBJECTNAME" val="Lesson 1"/>
  <p:tag name="MIO_LASTEDITORNAME" val="Devid Treuling"/>
</p:tagLst>
</file>

<file path=ppt/tags/tag12.xml><?xml version="1.0" encoding="utf-8"?>
<p:tagLst xmlns:a="http://schemas.openxmlformats.org/drawingml/2006/main" xmlns:r="http://schemas.openxmlformats.org/officeDocument/2006/relationships" xmlns:p="http://schemas.openxmlformats.org/presentationml/2006/main">
  <p:tag name="TESTINGTAG" val="TestingValue-JC Was here"/>
  <p:tag name="MIO_GUID" val="1d1652e4-8311-451e-9a8c-b2119571880d"/>
  <p:tag name="MIO_EKGUID" val="d00d6b5a-21c2-4cc1-856e-b908c54af255"/>
  <p:tag name="MIO_UPDATE" val="True"/>
  <p:tag name="MIO_VERSION" val="30.03.2020 15:44:05"/>
  <p:tag name="MIO_DBID" val="12b0c59e-2253-4124-a5e9-470adf4cb168"/>
  <p:tag name="MIO_LASTDOWNLOADED" val="30.03.2020 15:44:52"/>
  <p:tag name="MIO_OBJECTNAME" val="Headline (4)"/>
  <p:tag name="MIO_LASTEDITORNAME" val="Devid Treuling"/>
</p:tagLst>
</file>

<file path=ppt/tags/tag13.xml><?xml version="1.0" encoding="utf-8"?>
<p:tagLst xmlns:a="http://schemas.openxmlformats.org/drawingml/2006/main" xmlns:r="http://schemas.openxmlformats.org/officeDocument/2006/relationships" xmlns:p="http://schemas.openxmlformats.org/presentationml/2006/main">
  <p:tag name="MIO_GUID" val="00adf8b6-932b-4200-a1bc-c3f07f8f4d64"/>
  <p:tag name="MIO_EKGUID" val="37064166-1785-404d-8156-350ee872403d"/>
  <p:tag name="MIO_UPDATE" val="True"/>
  <p:tag name="MIO_VERSION" val="30.03.2020 15:44:05"/>
  <p:tag name="MIO_DBID" val="12b0c59e-2253-4124-a5e9-470adf4cb168"/>
  <p:tag name="MIO_LASTDOWNLOADED" val="30.03.2020 15:44:52"/>
  <p:tag name="MIO_OBJECTNAME" val="Demonstration"/>
  <p:tag name="MIO_LASTEDITORNAME" val="Devid Treuling"/>
</p:tagLst>
</file>

<file path=ppt/tags/tag14.xml><?xml version="1.0" encoding="utf-8"?>
<p:tagLst xmlns:a="http://schemas.openxmlformats.org/drawingml/2006/main" xmlns:r="http://schemas.openxmlformats.org/officeDocument/2006/relationships" xmlns:p="http://schemas.openxmlformats.org/presentationml/2006/main">
  <p:tag name="MIO_GUID" val="3358efb2-d4c0-4d61-994f-75e3275fac2b"/>
  <p:tag name="MIO_EKGUID" val="a56ec7a2-ebc6-4a2a-9495-6dad13f4de77"/>
  <p:tag name="MIO_UPDATE" val="True"/>
  <p:tag name="MIO_VERSION" val="30.03.2020 15:44:05"/>
  <p:tag name="MIO_DBID" val="12b0c59e-2253-4124-a5e9-470adf4cb168"/>
  <p:tag name="MIO_LASTDOWNLOADED" val="30.03.2020 15:44:52"/>
  <p:tag name="MIO_OBJECTNAME" val="Lesson 1"/>
  <p:tag name="MIO_LASTEDITORNAME" val="Devid Treuling"/>
</p:tagLst>
</file>

<file path=ppt/tags/tag15.xml><?xml version="1.0" encoding="utf-8"?>
<p:tagLst xmlns:a="http://schemas.openxmlformats.org/drawingml/2006/main" xmlns:r="http://schemas.openxmlformats.org/officeDocument/2006/relationships" xmlns:p="http://schemas.openxmlformats.org/presentationml/2006/main">
  <p:tag name="MIO_GUID" val="00adf8b6-932b-4200-a1bc-c3f07f8f4d64"/>
  <p:tag name="MIO_EKGUID" val="37064166-1785-404d-8156-350ee872403d"/>
  <p:tag name="MIO_UPDATE" val="True"/>
  <p:tag name="MIO_VERSION" val="30.03.2020 15:44:05"/>
  <p:tag name="MIO_DBID" val="12b0c59e-2253-4124-a5e9-470adf4cb168"/>
  <p:tag name="MIO_LASTDOWNLOADED" val="30.03.2020 15:44:52"/>
  <p:tag name="MIO_OBJECTNAME" val="Demonstration"/>
  <p:tag name="MIO_LASTEDITORNAME" val="Devid Treuling"/>
</p:tagLst>
</file>

<file path=ppt/tags/tag16.xml><?xml version="1.0" encoding="utf-8"?>
<p:tagLst xmlns:a="http://schemas.openxmlformats.org/drawingml/2006/main" xmlns:r="http://schemas.openxmlformats.org/officeDocument/2006/relationships" xmlns:p="http://schemas.openxmlformats.org/presentationml/2006/main">
  <p:tag name="MIO_GUID" val="e5936d9c-b546-443b-afcc-e10e11a5dae6"/>
  <p:tag name="MIO_EKGUID" val="49620678-51bf-43f9-9090-c87048a425b9"/>
  <p:tag name="MIO_UPDATE" val="True"/>
  <p:tag name="MIO_VERSION" val="30.03.2020 15:44:06"/>
  <p:tag name="MIO_DBID" val="12b0c59e-2253-4124-a5e9-470adf4cb168"/>
  <p:tag name="MIO_LASTDOWNLOADED" val="30.03.2020 15:44:52"/>
  <p:tag name="MIO_OBJECTNAME" val="Lab Name"/>
  <p:tag name="MIO_LASTEDITORNAME" val="Devid Treuling"/>
</p:tagLst>
</file>

<file path=ppt/tags/tag17.xml><?xml version="1.0" encoding="utf-8"?>
<p:tagLst xmlns:a="http://schemas.openxmlformats.org/drawingml/2006/main" xmlns:r="http://schemas.openxmlformats.org/officeDocument/2006/relationships" xmlns:p="http://schemas.openxmlformats.org/presentationml/2006/main">
  <p:tag name="MIO_GUID" val="e5936d9c-b546-443b-afcc-e10e11a5dae6"/>
  <p:tag name="MIO_EKGUID" val="49620678-51bf-43f9-9090-c87048a425b9"/>
  <p:tag name="MIO_UPDATE" val="True"/>
  <p:tag name="MIO_VERSION" val="30.03.2020 15:44:06"/>
  <p:tag name="MIO_DBID" val="12b0c59e-2253-4124-a5e9-470adf4cb168"/>
  <p:tag name="MIO_LASTDOWNLOADED" val="30.03.2020 15:44:52"/>
  <p:tag name="MIO_OBJECTNAME" val="Lab Name"/>
  <p:tag name="MIO_LASTEDITORNAME" val="Devid Treuling"/>
</p:tagLst>
</file>

<file path=ppt/theme/theme1.xml><?xml version="1.0" encoding="utf-8"?>
<a:theme xmlns:a="http://schemas.openxmlformats.org/drawingml/2006/main" name="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item1.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4.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5.xml><?xml version="1.0" encoding="utf-8"?>
<ct:contentTypeSchema xmlns:ct="http://schemas.microsoft.com/office/2006/metadata/contentType" xmlns:ma="http://schemas.microsoft.com/office/2006/metadata/properties/metaAttributes" ct:_="" ma:_="" ma:contentTypeName="Document" ma:contentTypeID="0x010100E69BC7A8EC74B74F8EB826872BF35821" ma:contentTypeVersion="11" ma:contentTypeDescription="Create a new document." ma:contentTypeScope="" ma:versionID="98f8333384bacb13134c50c15d5bcc22">
  <xsd:schema xmlns:xsd="http://www.w3.org/2001/XMLSchema" xmlns:xs="http://www.w3.org/2001/XMLSchema" xmlns:p="http://schemas.microsoft.com/office/2006/metadata/properties" xmlns:ns1="http://schemas.microsoft.com/sharepoint/v3" xmlns:ns2="fe7a4c3d-94ce-45db-961b-252eaa2a0914" targetNamespace="http://schemas.microsoft.com/office/2006/metadata/properties" ma:root="true" ma:fieldsID="760a6c141a50ce6b1373ff46f6810f2c" ns1:_="" ns2:_="">
    <xsd:import namespace="http://schemas.microsoft.com/sharepoint/v3"/>
    <xsd:import namespace="fe7a4c3d-94ce-45db-961b-252eaa2a091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MediaServiceDoc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1" nillable="true" ma:displayName="Unified Compliance Policy Properties" ma:hidden="true" ma:internalName="_ip_UnifiedCompliancePolicyProperties">
      <xsd:simpleType>
        <xsd:restriction base="dms:Note"/>
      </xsd:simpleType>
    </xsd:element>
    <xsd:element name="_ip_UnifiedCompliancePolicyUIAction" ma:index="1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e7a4c3d-94ce-45db-961b-252eaa2a091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3" nillable="true" ma:displayName="MediaServiceBillingMetadata" ma:hidden="true" ma:internalName="MediaServiceBillingMetadata"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DocTags" ma:index="18" nillable="true" ma:displayName="MediaServiceDocTags" ma:hidden="true" ma:internalName="MediaServiceDocTag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6.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7.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8.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9.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0.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1.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12.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13.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4.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5.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6.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7.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8.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9.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0.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21.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22.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23.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4.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5.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6.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7.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28.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29.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30.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2.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3.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4.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35.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36.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37.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38.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MediaLengthInSeconds xmlns="fe7a4c3d-94ce-45db-961b-252eaa2a0914" xsi:nil="true"/>
  </documentManagement>
</p:properties>
</file>

<file path=customXml/item39.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40.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41.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42.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43.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44.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45.xml><?xml version="1.0" encoding="utf-8"?>
<?mso-contentType ?>
<FormTemplates xmlns="http://schemas.microsoft.com/sharepoint/v3/contenttype/forms">
  <Display>DocumentLibraryForm</Display>
  <Edit>DocumentLibraryForm</Edit>
  <New>DocumentLibraryForm</New>
</FormTemplates>
</file>

<file path=customXml/item46.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47.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Props1.xml><?xml version="1.0" encoding="utf-8"?>
<ds:datastoreItem xmlns:ds="http://schemas.openxmlformats.org/officeDocument/2006/customXml" ds:itemID="{B228D3F7-8445-4CE7-92DC-AC7FE2D5A2AF}">
  <ds:schemaRefs>
    <ds:schemaRef ds:uri="Strauss.PersonalizationDefinition"/>
  </ds:schemaRefs>
</ds:datastoreItem>
</file>

<file path=customXml/itemProps2.xml><?xml version="1.0" encoding="utf-8"?>
<ds:datastoreItem xmlns:ds="http://schemas.openxmlformats.org/officeDocument/2006/customXml" ds:itemID="{82C716E8-B770-4139-99B0-F35B9C64B90F}">
  <ds:schemaRefs>
    <ds:schemaRef ds:uri="Strauss.PersonalizationDefinition"/>
  </ds:schemaRefs>
</ds:datastoreItem>
</file>

<file path=customXml/itemProps3.xml><?xml version="1.0" encoding="utf-8"?>
<ds:datastoreItem xmlns:ds="http://schemas.openxmlformats.org/officeDocument/2006/customXml" ds:itemID="{FC25CD5D-A9DA-407F-9106-47BDA14BCED9}">
  <ds:schemaRefs>
    <ds:schemaRef ds:uri="Strauss.PersonalizationDefinition"/>
  </ds:schemaRefs>
</ds:datastoreItem>
</file>

<file path=customXml/itemProps4.xml><?xml version="1.0" encoding="utf-8"?>
<ds:datastoreItem xmlns:ds="http://schemas.openxmlformats.org/officeDocument/2006/customXml" ds:itemID="{11767EAE-0FC6-472D-9D35-EB3533243F22}">
  <ds:schemaRefs>
    <ds:schemaRef ds:uri="Strauss.PersonalizationDefinition"/>
  </ds:schemaRefs>
</ds:datastoreItem>
</file>

<file path=customXml/itemProps5.xml><?xml version="1.0" encoding="utf-8"?>
<ds:datastoreItem xmlns:ds="http://schemas.openxmlformats.org/officeDocument/2006/customXml" ds:itemID="{A8F19619-92F8-433E-979A-AA7B131C75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e7a4c3d-94ce-45db-961b-252eaa2a091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6.xml><?xml version="1.0" encoding="utf-8"?>
<ds:datastoreItem xmlns:ds="http://schemas.openxmlformats.org/officeDocument/2006/customXml" ds:itemID="{D7FDC28F-4CBD-40ED-9D33-0A1360D5DEC4}">
  <ds:schemaRefs>
    <ds:schemaRef ds:uri="Strauss.PersonalizationDefinition"/>
  </ds:schemaRefs>
</ds:datastoreItem>
</file>

<file path=customXml/itemProps7.xml><?xml version="1.0" encoding="utf-8"?>
<ds:datastoreItem xmlns:ds="http://schemas.openxmlformats.org/officeDocument/2006/customXml" ds:itemID="{6552B3D2-5F72-49FB-8B35-AFE12BF36804}">
  <ds:schemaRefs>
    <ds:schemaRef ds:uri="Strauss.PersonalizationDefinition"/>
  </ds:schemaRefs>
</ds:datastoreItem>
</file>

<file path=customXml/itemProps8.xml><?xml version="1.0" encoding="utf-8"?>
<ds:datastoreItem xmlns:ds="http://schemas.openxmlformats.org/officeDocument/2006/customXml" ds:itemID="{8E31AB78-0F1B-4B57-AC36-08DE72287BB2}">
  <ds:schemaRefs>
    <ds:schemaRef ds:uri="Strauss.PersonalizationDefinition"/>
  </ds:schemaRefs>
</ds:datastoreItem>
</file>

<file path=customXml/itemProps9.xml><?xml version="1.0" encoding="utf-8"?>
<ds:datastoreItem xmlns:ds="http://schemas.openxmlformats.org/officeDocument/2006/customXml" ds:itemID="{FBC13881-F2DC-4AA3-88C8-97C40CA1EBC7}">
  <ds:schemaRefs>
    <ds:schemaRef ds:uri="Strauss.PersonalizationDefinition"/>
  </ds:schemaRefs>
</ds:datastoreItem>
</file>

<file path=customXml/itemProps10.xml><?xml version="1.0" encoding="utf-8"?>
<ds:datastoreItem xmlns:ds="http://schemas.openxmlformats.org/officeDocument/2006/customXml" ds:itemID="{7469151F-B4F3-4C21-84F8-69D9E2B09815}">
  <ds:schemaRefs>
    <ds:schemaRef ds:uri="Strauss.PersonalizationDefinition"/>
  </ds:schemaRefs>
</ds:datastoreItem>
</file>

<file path=customXml/itemProps11.xml><?xml version="1.0" encoding="utf-8"?>
<ds:datastoreItem xmlns:ds="http://schemas.openxmlformats.org/officeDocument/2006/customXml" ds:itemID="{DF333A1B-0A9C-4DA8-ADAB-4378B69FDC48}">
  <ds:schemaRefs>
    <ds:schemaRef ds:uri="Strauss.PersonalizationDefinition"/>
  </ds:schemaRefs>
</ds:datastoreItem>
</file>

<file path=customXml/itemProps12.xml><?xml version="1.0" encoding="utf-8"?>
<ds:datastoreItem xmlns:ds="http://schemas.openxmlformats.org/officeDocument/2006/customXml" ds:itemID="{EF4AA5EB-A638-4D3A-B852-E71E18ED4953}">
  <ds:schemaRefs>
    <ds:schemaRef ds:uri="Strauss.PersonalizationDefinition"/>
  </ds:schemaRefs>
</ds:datastoreItem>
</file>

<file path=customXml/itemProps13.xml><?xml version="1.0" encoding="utf-8"?>
<ds:datastoreItem xmlns:ds="http://schemas.openxmlformats.org/officeDocument/2006/customXml" ds:itemID="{2B1D387E-5886-4099-9D7D-C8DBBA283F31}">
  <ds:schemaRefs>
    <ds:schemaRef ds:uri="Strauss.PersonalizationDefinition"/>
  </ds:schemaRefs>
</ds:datastoreItem>
</file>

<file path=customXml/itemProps14.xml><?xml version="1.0" encoding="utf-8"?>
<ds:datastoreItem xmlns:ds="http://schemas.openxmlformats.org/officeDocument/2006/customXml" ds:itemID="{4C485A9E-99A8-4277-BE90-E837A967DB2E}">
  <ds:schemaRefs>
    <ds:schemaRef ds:uri="Strauss.PersonalizationDefinition"/>
  </ds:schemaRefs>
</ds:datastoreItem>
</file>

<file path=customXml/itemProps15.xml><?xml version="1.0" encoding="utf-8"?>
<ds:datastoreItem xmlns:ds="http://schemas.openxmlformats.org/officeDocument/2006/customXml" ds:itemID="{406127A5-B8F7-4F8A-95A9-8E20F72EA129}">
  <ds:schemaRefs>
    <ds:schemaRef ds:uri="Strauss.PersonalizationDefinition"/>
  </ds:schemaRefs>
</ds:datastoreItem>
</file>

<file path=customXml/itemProps16.xml><?xml version="1.0" encoding="utf-8"?>
<ds:datastoreItem xmlns:ds="http://schemas.openxmlformats.org/officeDocument/2006/customXml" ds:itemID="{BC268A45-186B-46A3-937F-0E016CEA70C1}">
  <ds:schemaRefs>
    <ds:schemaRef ds:uri="Strauss.PersonalizationDefinition"/>
  </ds:schemaRefs>
</ds:datastoreItem>
</file>

<file path=customXml/itemProps17.xml><?xml version="1.0" encoding="utf-8"?>
<ds:datastoreItem xmlns:ds="http://schemas.openxmlformats.org/officeDocument/2006/customXml" ds:itemID="{32920470-F086-4197-B6FE-12027DE25DCC}">
  <ds:schemaRefs>
    <ds:schemaRef ds:uri="Strauss.PersonalizationDefinition"/>
  </ds:schemaRefs>
</ds:datastoreItem>
</file>

<file path=customXml/itemProps18.xml><?xml version="1.0" encoding="utf-8"?>
<ds:datastoreItem xmlns:ds="http://schemas.openxmlformats.org/officeDocument/2006/customXml" ds:itemID="{E5BA7B3D-511F-4D8F-B238-229DDC0AE1FD}">
  <ds:schemaRefs>
    <ds:schemaRef ds:uri="Strauss.PersonalizationDefinition"/>
  </ds:schemaRefs>
</ds:datastoreItem>
</file>

<file path=customXml/itemProps19.xml><?xml version="1.0" encoding="utf-8"?>
<ds:datastoreItem xmlns:ds="http://schemas.openxmlformats.org/officeDocument/2006/customXml" ds:itemID="{734F6CED-B619-41E0-BEDE-58B64D5F5EB2}">
  <ds:schemaRefs>
    <ds:schemaRef ds:uri="Strauss.PersonalizationDefinition"/>
  </ds:schemaRefs>
</ds:datastoreItem>
</file>

<file path=customXml/itemProps20.xml><?xml version="1.0" encoding="utf-8"?>
<ds:datastoreItem xmlns:ds="http://schemas.openxmlformats.org/officeDocument/2006/customXml" ds:itemID="{46522A59-B026-4350-BB1A-BEB05240770F}">
  <ds:schemaRefs>
    <ds:schemaRef ds:uri="Strauss.PersonalizationDefinition"/>
  </ds:schemaRefs>
</ds:datastoreItem>
</file>

<file path=customXml/itemProps21.xml><?xml version="1.0" encoding="utf-8"?>
<ds:datastoreItem xmlns:ds="http://schemas.openxmlformats.org/officeDocument/2006/customXml" ds:itemID="{541D4602-AC17-4CBD-B95E-D5B3D757BC54}">
  <ds:schemaRefs>
    <ds:schemaRef ds:uri="Strauss.PersonalizationDefinition"/>
  </ds:schemaRefs>
</ds:datastoreItem>
</file>

<file path=customXml/itemProps22.xml><?xml version="1.0" encoding="utf-8"?>
<ds:datastoreItem xmlns:ds="http://schemas.openxmlformats.org/officeDocument/2006/customXml" ds:itemID="{6F485757-9F3C-4A1E-9E86-E1C1551910BA}">
  <ds:schemaRefs>
    <ds:schemaRef ds:uri="Strauss.PersonalizationDefinition"/>
  </ds:schemaRefs>
</ds:datastoreItem>
</file>

<file path=customXml/itemProps23.xml><?xml version="1.0" encoding="utf-8"?>
<ds:datastoreItem xmlns:ds="http://schemas.openxmlformats.org/officeDocument/2006/customXml" ds:itemID="{C1060A51-5976-4775-97EE-ABE1B1E4972A}">
  <ds:schemaRefs>
    <ds:schemaRef ds:uri="Strauss.PersonalizationDefinition"/>
  </ds:schemaRefs>
</ds:datastoreItem>
</file>

<file path=customXml/itemProps24.xml><?xml version="1.0" encoding="utf-8"?>
<ds:datastoreItem xmlns:ds="http://schemas.openxmlformats.org/officeDocument/2006/customXml" ds:itemID="{7A72F4A1-EFBC-4749-9980-13A1CFCFDE37}">
  <ds:schemaRefs>
    <ds:schemaRef ds:uri="Strauss.PersonalizationDefinition"/>
  </ds:schemaRefs>
</ds:datastoreItem>
</file>

<file path=customXml/itemProps25.xml><?xml version="1.0" encoding="utf-8"?>
<ds:datastoreItem xmlns:ds="http://schemas.openxmlformats.org/officeDocument/2006/customXml" ds:itemID="{5C919DC8-E31E-42F0-9621-B916C2E029BA}">
  <ds:schemaRefs>
    <ds:schemaRef ds:uri="Strauss.PersonalizationDefinition"/>
  </ds:schemaRefs>
</ds:datastoreItem>
</file>

<file path=customXml/itemProps26.xml><?xml version="1.0" encoding="utf-8"?>
<ds:datastoreItem xmlns:ds="http://schemas.openxmlformats.org/officeDocument/2006/customXml" ds:itemID="{F56EB5D8-3CD5-48EE-9536-13CF2B9AC25D}">
  <ds:schemaRefs>
    <ds:schemaRef ds:uri="Strauss.PersonalizationDefinition"/>
  </ds:schemaRefs>
</ds:datastoreItem>
</file>

<file path=customXml/itemProps27.xml><?xml version="1.0" encoding="utf-8"?>
<ds:datastoreItem xmlns:ds="http://schemas.openxmlformats.org/officeDocument/2006/customXml" ds:itemID="{4A3F169F-E27D-4A25-888C-4C5D83BAC082}">
  <ds:schemaRefs>
    <ds:schemaRef ds:uri="Strauss.PersonalizationDefinition"/>
  </ds:schemaRefs>
</ds:datastoreItem>
</file>

<file path=customXml/itemProps28.xml><?xml version="1.0" encoding="utf-8"?>
<ds:datastoreItem xmlns:ds="http://schemas.openxmlformats.org/officeDocument/2006/customXml" ds:itemID="{ECCE7DC3-F525-4E76-8812-56FCA2D21E50}">
  <ds:schemaRefs>
    <ds:schemaRef ds:uri="Strauss.PersonalizationDefinition"/>
  </ds:schemaRefs>
</ds:datastoreItem>
</file>

<file path=customXml/itemProps29.xml><?xml version="1.0" encoding="utf-8"?>
<ds:datastoreItem xmlns:ds="http://schemas.openxmlformats.org/officeDocument/2006/customXml" ds:itemID="{D55AC15F-0A03-4D96-AA43-65FC3DCE2717}">
  <ds:schemaRefs>
    <ds:schemaRef ds:uri="Strauss.PersonalizationDefinition"/>
  </ds:schemaRefs>
</ds:datastoreItem>
</file>

<file path=customXml/itemProps30.xml><?xml version="1.0" encoding="utf-8"?>
<ds:datastoreItem xmlns:ds="http://schemas.openxmlformats.org/officeDocument/2006/customXml" ds:itemID="{7BE5F28F-50CA-40F1-A02E-E794FE33362D}">
  <ds:schemaRefs>
    <ds:schemaRef ds:uri="Strauss.PersonalizationDefinition"/>
  </ds:schemaRefs>
</ds:datastoreItem>
</file>

<file path=customXml/itemProps31.xml><?xml version="1.0" encoding="utf-8"?>
<ds:datastoreItem xmlns:ds="http://schemas.openxmlformats.org/officeDocument/2006/customXml" ds:itemID="{2BCFCE7B-4A43-491B-887D-365E2A1C50B2}">
  <ds:schemaRefs>
    <ds:schemaRef ds:uri="Strauss.PersonalizationDefinition"/>
  </ds:schemaRefs>
</ds:datastoreItem>
</file>

<file path=customXml/itemProps32.xml><?xml version="1.0" encoding="utf-8"?>
<ds:datastoreItem xmlns:ds="http://schemas.openxmlformats.org/officeDocument/2006/customXml" ds:itemID="{712108F3-86F2-4B95-AF2D-FE4E45965FCC}">
  <ds:schemaRefs>
    <ds:schemaRef ds:uri="Strauss.PersonalizationDefinition"/>
  </ds:schemaRefs>
</ds:datastoreItem>
</file>

<file path=customXml/itemProps33.xml><?xml version="1.0" encoding="utf-8"?>
<ds:datastoreItem xmlns:ds="http://schemas.openxmlformats.org/officeDocument/2006/customXml" ds:itemID="{B09E3EAE-66CA-4A91-A5FE-A34A70B099ED}">
  <ds:schemaRefs>
    <ds:schemaRef ds:uri="Strauss.PersonalizationDefinition"/>
  </ds:schemaRefs>
</ds:datastoreItem>
</file>

<file path=customXml/itemProps34.xml><?xml version="1.0" encoding="utf-8"?>
<ds:datastoreItem xmlns:ds="http://schemas.openxmlformats.org/officeDocument/2006/customXml" ds:itemID="{D76C1D54-C31A-41C7-8796-37E3A885C9B9}">
  <ds:schemaRefs>
    <ds:schemaRef ds:uri="Strauss.PersonalizationDefinition"/>
  </ds:schemaRefs>
</ds:datastoreItem>
</file>

<file path=customXml/itemProps35.xml><?xml version="1.0" encoding="utf-8"?>
<ds:datastoreItem xmlns:ds="http://schemas.openxmlformats.org/officeDocument/2006/customXml" ds:itemID="{A09B3D8F-A36C-4B6D-871D-C53F61DFD219}">
  <ds:schemaRefs>
    <ds:schemaRef ds:uri="Strauss.PersonalizationDefinition"/>
  </ds:schemaRefs>
</ds:datastoreItem>
</file>

<file path=customXml/itemProps36.xml><?xml version="1.0" encoding="utf-8"?>
<ds:datastoreItem xmlns:ds="http://schemas.openxmlformats.org/officeDocument/2006/customXml" ds:itemID="{628127A0-F2C3-45C3-BB9F-5B29A6B848BE}">
  <ds:schemaRefs>
    <ds:schemaRef ds:uri="Strauss.PersonalizationDefinition"/>
  </ds:schemaRefs>
</ds:datastoreItem>
</file>

<file path=customXml/itemProps37.xml><?xml version="1.0" encoding="utf-8"?>
<ds:datastoreItem xmlns:ds="http://schemas.openxmlformats.org/officeDocument/2006/customXml" ds:itemID="{E7EBEF02-C69B-46E0-B38A-E51611CE5254}">
  <ds:schemaRefs>
    <ds:schemaRef ds:uri="Strauss.PersonalizationDefinition"/>
  </ds:schemaRefs>
</ds:datastoreItem>
</file>

<file path=customXml/itemProps38.xml><?xml version="1.0" encoding="utf-8"?>
<ds:datastoreItem xmlns:ds="http://schemas.openxmlformats.org/officeDocument/2006/customXml" ds:itemID="{AC7687D8-5695-4F99-A8BA-1D247B418C22}">
  <ds:schemaRefs>
    <ds:schemaRef ds:uri="fb9ea31f-0ab8-44ff-80d1-5777f6d9d945"/>
    <ds:schemaRef ds:uri="http://www.w3.org/XML/1998/namespace"/>
    <ds:schemaRef ds:uri="http://schemas.microsoft.com/office/2006/metadata/properties"/>
    <ds:schemaRef ds:uri="http://purl.org/dc/elements/1.1/"/>
    <ds:schemaRef ds:uri="http://schemas.microsoft.com/office/2006/documentManagement/types"/>
    <ds:schemaRef ds:uri="http://purl.org/dc/dcmitype/"/>
    <ds:schemaRef ds:uri="http://schemas.microsoft.com/sharepoint/v3"/>
    <ds:schemaRef ds:uri="http://purl.org/dc/terms/"/>
    <ds:schemaRef ds:uri="cea7764e-6bf9-427d-be15-e74097e0a61c"/>
    <ds:schemaRef ds:uri="http://schemas.microsoft.com/office/infopath/2007/PartnerControls"/>
    <ds:schemaRef ds:uri="http://schemas.openxmlformats.org/package/2006/metadata/core-properties"/>
    <ds:schemaRef ds:uri="230e9df3-be65-4c73-a93b-d1236ebd677e"/>
    <ds:schemaRef ds:uri="fe7a4c3d-94ce-45db-961b-252eaa2a0914"/>
  </ds:schemaRefs>
</ds:datastoreItem>
</file>

<file path=customXml/itemProps39.xml><?xml version="1.0" encoding="utf-8"?>
<ds:datastoreItem xmlns:ds="http://schemas.openxmlformats.org/officeDocument/2006/customXml" ds:itemID="{4EA01338-72BB-48B6-B6A4-05B31FE21105}">
  <ds:schemaRefs>
    <ds:schemaRef ds:uri="Strauss.PersonalizationDefinition"/>
  </ds:schemaRefs>
</ds:datastoreItem>
</file>

<file path=customXml/itemProps40.xml><?xml version="1.0" encoding="utf-8"?>
<ds:datastoreItem xmlns:ds="http://schemas.openxmlformats.org/officeDocument/2006/customXml" ds:itemID="{68BE9F8F-073F-46B7-B2D0-86DC8E2E9DCE}">
  <ds:schemaRefs>
    <ds:schemaRef ds:uri="Strauss.PersonalizationDefinition"/>
  </ds:schemaRefs>
</ds:datastoreItem>
</file>

<file path=customXml/itemProps41.xml><?xml version="1.0" encoding="utf-8"?>
<ds:datastoreItem xmlns:ds="http://schemas.openxmlformats.org/officeDocument/2006/customXml" ds:itemID="{103AB8E4-C30A-4895-9606-8D77F2E70F19}">
  <ds:schemaRefs>
    <ds:schemaRef ds:uri="Strauss.PersonalizationDefinition"/>
  </ds:schemaRefs>
</ds:datastoreItem>
</file>

<file path=customXml/itemProps42.xml><?xml version="1.0" encoding="utf-8"?>
<ds:datastoreItem xmlns:ds="http://schemas.openxmlformats.org/officeDocument/2006/customXml" ds:itemID="{E9DBA065-77DB-42EB-B09E-14B7D4A9B13B}">
  <ds:schemaRefs>
    <ds:schemaRef ds:uri="Strauss.PersonalizationDefinition"/>
  </ds:schemaRefs>
</ds:datastoreItem>
</file>

<file path=customXml/itemProps43.xml><?xml version="1.0" encoding="utf-8"?>
<ds:datastoreItem xmlns:ds="http://schemas.openxmlformats.org/officeDocument/2006/customXml" ds:itemID="{EDFBA6C8-3A38-44F0-B645-B6B0034983DA}">
  <ds:schemaRefs>
    <ds:schemaRef ds:uri="Strauss.PersonalizationDefinition"/>
  </ds:schemaRefs>
</ds:datastoreItem>
</file>

<file path=customXml/itemProps44.xml><?xml version="1.0" encoding="utf-8"?>
<ds:datastoreItem xmlns:ds="http://schemas.openxmlformats.org/officeDocument/2006/customXml" ds:itemID="{13A5538B-5199-4900-941A-B01E377F2065}">
  <ds:schemaRefs>
    <ds:schemaRef ds:uri="Strauss.PersonalizationDefinition"/>
  </ds:schemaRefs>
</ds:datastoreItem>
</file>

<file path=customXml/itemProps45.xml><?xml version="1.0" encoding="utf-8"?>
<ds:datastoreItem xmlns:ds="http://schemas.openxmlformats.org/officeDocument/2006/customXml" ds:itemID="{C18D3FE9-2C4E-470C-9B85-FEEE51F2FFFE}">
  <ds:schemaRefs>
    <ds:schemaRef ds:uri="http://schemas.microsoft.com/sharepoint/v3/contenttype/forms"/>
  </ds:schemaRefs>
</ds:datastoreItem>
</file>

<file path=customXml/itemProps46.xml><?xml version="1.0" encoding="utf-8"?>
<ds:datastoreItem xmlns:ds="http://schemas.openxmlformats.org/officeDocument/2006/customXml" ds:itemID="{DE0DC7DC-A960-4E6E-BF1B-D3D906B081A2}">
  <ds:schemaRefs>
    <ds:schemaRef ds:uri="Strauss.PersonalizationDefinition"/>
  </ds:schemaRefs>
</ds:datastoreItem>
</file>

<file path=customXml/itemProps47.xml><?xml version="1.0" encoding="utf-8"?>
<ds:datastoreItem xmlns:ds="http://schemas.openxmlformats.org/officeDocument/2006/customXml" ds:itemID="{08068EAD-DA6C-4DC8-843E-9CB0982D15F3}">
  <ds:schemaRefs>
    <ds:schemaRef ds:uri="Strauss.PersonalizationDefinition"/>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Module_Template</Template>
  <TotalTime>0</TotalTime>
  <Words>3944</Words>
  <Application>Microsoft Office PowerPoint</Application>
  <PresentationFormat>Widescreen</PresentationFormat>
  <Paragraphs>507</Paragraphs>
  <Slides>38</Slides>
  <Notes>37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38</vt:i4>
      </vt:variant>
    </vt:vector>
  </HeadingPairs>
  <TitlesOfParts>
    <vt:vector size="47" baseType="lpstr">
      <vt:lpstr>Arial</vt:lpstr>
      <vt:lpstr>Calibri</vt:lpstr>
      <vt:lpstr>Segoe Semibold</vt:lpstr>
      <vt:lpstr>Segoe UI</vt:lpstr>
      <vt:lpstr>Segoe UI Light</vt:lpstr>
      <vt:lpstr>Segoe UI Semibold</vt:lpstr>
      <vt:lpstr>Times New Roman</vt:lpstr>
      <vt:lpstr>Wingdings</vt:lpstr>
      <vt:lpstr>White Template</vt:lpstr>
      <vt:lpstr>AKS Networking</vt:lpstr>
      <vt:lpstr>Conditions and terms of use</vt:lpstr>
      <vt:lpstr>Learning Units covered  in this Module   </vt:lpstr>
      <vt:lpstr>Objectives  </vt:lpstr>
      <vt:lpstr>Intro: The many layers of Kubernetes Networking</vt:lpstr>
      <vt:lpstr>AKS Network Architecture</vt:lpstr>
      <vt:lpstr>AKS Baseline Architecture</vt:lpstr>
      <vt:lpstr>Public AKS Clusters</vt:lpstr>
      <vt:lpstr>Public Cluster AKS Clusters – VNET Integration</vt:lpstr>
      <vt:lpstr>Private AKS Clusters</vt:lpstr>
      <vt:lpstr>Private AKS Clusters – VNET Integration</vt:lpstr>
      <vt:lpstr>Container Networking Interfaces (CNIs)</vt:lpstr>
      <vt:lpstr>AKS CNI Options</vt:lpstr>
      <vt:lpstr>CNI Pod Subnet</vt:lpstr>
      <vt:lpstr>CNI Overlay</vt:lpstr>
      <vt:lpstr>CNI Overlay - Benefits</vt:lpstr>
      <vt:lpstr>CNI Comparison</vt:lpstr>
      <vt:lpstr>Selecting the Right Network Plugin</vt:lpstr>
      <vt:lpstr>Bring Your Own CNI plugin with AKS</vt:lpstr>
      <vt:lpstr>AKS Ingress</vt:lpstr>
      <vt:lpstr>Kubernetes Ingress API</vt:lpstr>
      <vt:lpstr>Kubernetes Gateway API</vt:lpstr>
      <vt:lpstr>AKS Ingress Options</vt:lpstr>
      <vt:lpstr>Demo: Application Gateway for Containers</vt:lpstr>
      <vt:lpstr>AKS Egress</vt:lpstr>
      <vt:lpstr>Egress Traffic Control</vt:lpstr>
      <vt:lpstr>AKS Egress Options (Outbound Types)</vt:lpstr>
      <vt:lpstr>Outbound Types</vt:lpstr>
      <vt:lpstr>(Preview) AKS Static Egress Gateway</vt:lpstr>
      <vt:lpstr>Demo: AKS Egress with Azure Firewall</vt:lpstr>
      <vt:lpstr>Advanced Container Networking Service (ACNS)</vt:lpstr>
      <vt:lpstr>What is eBPF?</vt:lpstr>
      <vt:lpstr>Advanced Container Networking Service (ACNS)</vt:lpstr>
      <vt:lpstr>ACNS – Container Network Observability</vt:lpstr>
      <vt:lpstr>ACNS – Container Network Security</vt:lpstr>
      <vt:lpstr>Demo: Advanced Container Networking Service </vt:lpstr>
      <vt:lpstr>Lab 1: Ingress with Application GW for Containers</vt:lpstr>
      <vt:lpstr>Lab 2: ACNS (Optional)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WorkshopPLUS - Windows PowerShell: Foundation Skills</dc:title>
  <dc:creator>Mike O'Neill</dc:creator>
  <cp:lastModifiedBy>Ore Akin-Odidi</cp:lastModifiedBy>
  <cp:revision>32</cp:revision>
  <dcterms:created xsi:type="dcterms:W3CDTF">2019-02-08T20:09:46Z</dcterms:created>
  <dcterms:modified xsi:type="dcterms:W3CDTF">2026-07-30T10:51:09Z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mconeill@microsoft.com</vt:lpwstr>
  </property>
  <property fmtid="{D5CDD505-2E9C-101B-9397-08002B2CF9AE}" pid="5" name="MSIP_Label_f42aa342-8706-4288-bd11-ebb85995028c_SetDate">
    <vt:lpwstr>2019-02-08T20:18:02.6502176Z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c97fa254-6a58-4427-a7a7-d6af83db1ac5</vt:lpwstr>
  </property>
  <property fmtid="{D5CDD505-2E9C-101B-9397-08002B2CF9AE}" pid="9" name="MSIP_Label_f42aa342-8706-4288-bd11-ebb85995028c_Extended_MSFT_Method">
    <vt:lpwstr>Automatic</vt:lpwstr>
  </property>
  <property fmtid="{D5CDD505-2E9C-101B-9397-08002B2CF9AE}" pid="10" name="ContentTypeId">
    <vt:lpwstr>0x010100E69BC7A8EC74B74F8EB826872BF35821</vt:lpwstr>
  </property>
  <property fmtid="{D5CDD505-2E9C-101B-9397-08002B2CF9AE}" pid="11" name="_dlc_DocIdItemGuid">
    <vt:lpwstr>faeaa986-2e78-4567-bd40-f1286550cf24</vt:lpwstr>
  </property>
  <property fmtid="{D5CDD505-2E9C-101B-9397-08002B2CF9AE}" pid="12" name="MediaServiceImageTags">
    <vt:lpwstr/>
  </property>
  <property fmtid="{D5CDD505-2E9C-101B-9397-08002B2CF9AE}" pid="13" name="MSIP_Label_8aa191f1-c555-4a9e-8b3e-85ef51701160_Enabled">
    <vt:lpwstr>true</vt:lpwstr>
  </property>
  <property fmtid="{D5CDD505-2E9C-101B-9397-08002B2CF9AE}" pid="14" name="MSIP_Label_8aa191f1-c555-4a9e-8b3e-85ef51701160_SetDate">
    <vt:lpwstr>2021-11-23T16:30:11Z</vt:lpwstr>
  </property>
  <property fmtid="{D5CDD505-2E9C-101B-9397-08002B2CF9AE}" pid="15" name="MSIP_Label_8aa191f1-c555-4a9e-8b3e-85ef51701160_Method">
    <vt:lpwstr>Standard</vt:lpwstr>
  </property>
  <property fmtid="{D5CDD505-2E9C-101B-9397-08002B2CF9AE}" pid="16" name="MSIP_Label_8aa191f1-c555-4a9e-8b3e-85ef51701160_Name">
    <vt:lpwstr>Confidential</vt:lpwstr>
  </property>
  <property fmtid="{D5CDD505-2E9C-101B-9397-08002B2CF9AE}" pid="17" name="MSIP_Label_8aa191f1-c555-4a9e-8b3e-85ef51701160_SiteId">
    <vt:lpwstr>a57507b2-d296-4dca-a9ae-67b1484e02a9</vt:lpwstr>
  </property>
  <property fmtid="{D5CDD505-2E9C-101B-9397-08002B2CF9AE}" pid="18" name="MSIP_Label_8aa191f1-c555-4a9e-8b3e-85ef51701160_ActionId">
    <vt:lpwstr>75c8a85a-1c6e-478a-ae68-029fd0558de5</vt:lpwstr>
  </property>
  <property fmtid="{D5CDD505-2E9C-101B-9397-08002B2CF9AE}" pid="19" name="MSIP_Label_8aa191f1-c555-4a9e-8b3e-85ef51701160_ContentBits">
    <vt:lpwstr>0</vt:lpwstr>
  </property>
  <property fmtid="{D5CDD505-2E9C-101B-9397-08002B2CF9AE}" pid="20" name="Order">
    <vt:r8>25243500</vt:r8>
  </property>
  <property fmtid="{D5CDD505-2E9C-101B-9397-08002B2CF9AE}" pid="21" name="Lead Signoff">
    <vt:bool>false</vt:bool>
  </property>
  <property fmtid="{D5CDD505-2E9C-101B-9397-08002B2CF9AE}" pid="22" name="Title URL">
    <vt:lpwstr>, </vt:lpwstr>
  </property>
  <property fmtid="{D5CDD505-2E9C-101B-9397-08002B2CF9AE}" pid="23" name="xd_ProgID">
    <vt:lpwstr/>
  </property>
  <property fmtid="{D5CDD505-2E9C-101B-9397-08002B2CF9AE}" pid="24" name="_SourceUrl">
    <vt:lpwstr/>
  </property>
  <property fmtid="{D5CDD505-2E9C-101B-9397-08002B2CF9AE}" pid="25" name="_SharedFileIndex">
    <vt:lpwstr/>
  </property>
  <property fmtid="{D5CDD505-2E9C-101B-9397-08002B2CF9AE}" pid="26" name="ComplianceAssetId">
    <vt:lpwstr/>
  </property>
  <property fmtid="{D5CDD505-2E9C-101B-9397-08002B2CF9AE}" pid="27" name="TemplateUrl">
    <vt:lpwstr/>
  </property>
  <property fmtid="{D5CDD505-2E9C-101B-9397-08002B2CF9AE}" pid="28" name="State">
    <vt:lpwstr>Open</vt:lpwstr>
  </property>
  <property fmtid="{D5CDD505-2E9C-101B-9397-08002B2CF9AE}" pid="29" name="_ExtendedDescription">
    <vt:lpwstr/>
  </property>
  <property fmtid="{D5CDD505-2E9C-101B-9397-08002B2CF9AE}" pid="30" name="TriggerFlowInfo">
    <vt:lpwstr/>
  </property>
  <property fmtid="{D5CDD505-2E9C-101B-9397-08002B2CF9AE}" pid="31" name="Mail Sent">
    <vt:bool>false</vt:bool>
  </property>
  <property fmtid="{D5CDD505-2E9C-101B-9397-08002B2CF9AE}" pid="32" name="xd_Signature">
    <vt:bool>false</vt:bool>
  </property>
</Properties>
</file>