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37"/>
  </p:notesMasterIdLst>
  <p:sldIdLst>
    <p:sldId id="257" r:id="rId3"/>
    <p:sldId id="2147480793" r:id="rId4"/>
    <p:sldId id="2147480787" r:id="rId5"/>
    <p:sldId id="263" r:id="rId6"/>
    <p:sldId id="2147480788" r:id="rId7"/>
    <p:sldId id="2147480794" r:id="rId8"/>
    <p:sldId id="2147480795" r:id="rId9"/>
    <p:sldId id="2147480789" r:id="rId10"/>
    <p:sldId id="2147480790" r:id="rId11"/>
    <p:sldId id="2147480798" r:id="rId12"/>
    <p:sldId id="2147480799" r:id="rId13"/>
    <p:sldId id="2147480800" r:id="rId14"/>
    <p:sldId id="2147480801" r:id="rId15"/>
    <p:sldId id="2147480802" r:id="rId16"/>
    <p:sldId id="2147480803" r:id="rId17"/>
    <p:sldId id="2147480796" r:id="rId18"/>
    <p:sldId id="2147480797" r:id="rId19"/>
    <p:sldId id="2147481843" r:id="rId20"/>
    <p:sldId id="2147480804" r:id="rId21"/>
    <p:sldId id="2147481832" r:id="rId22"/>
    <p:sldId id="2147480805" r:id="rId23"/>
    <p:sldId id="2147481837" r:id="rId24"/>
    <p:sldId id="2147480807" r:id="rId25"/>
    <p:sldId id="2147480806" r:id="rId26"/>
    <p:sldId id="2147481838" r:id="rId27"/>
    <p:sldId id="2147481839" r:id="rId28"/>
    <p:sldId id="2147481840" r:id="rId29"/>
    <p:sldId id="2147481841" r:id="rId30"/>
    <p:sldId id="2147481842" r:id="rId31"/>
    <p:sldId id="320" r:id="rId32"/>
    <p:sldId id="329" r:id="rId33"/>
    <p:sldId id="2147479641" r:id="rId34"/>
    <p:sldId id="2147479599" r:id="rId35"/>
    <p:sldId id="214747955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606C5A8-77F4-4E5C-9066-7FDBB2BEB679}">
          <p14:sldIdLst>
            <p14:sldId id="257"/>
            <p14:sldId id="2147480793"/>
          </p14:sldIdLst>
        </p14:section>
        <p14:section name="App Gateway Fundamentals" id="{25DA9244-08A7-4C7A-985D-EA8E020176FF}">
          <p14:sldIdLst>
            <p14:sldId id="2147480787"/>
            <p14:sldId id="263"/>
            <p14:sldId id="2147480788"/>
            <p14:sldId id="2147480794"/>
            <p14:sldId id="2147480795"/>
          </p14:sldIdLst>
        </p14:section>
        <p14:section name="App Gateway Security" id="{BCAD4F75-CEF4-48AF-9A9A-29EDEF457EB4}">
          <p14:sldIdLst>
            <p14:sldId id="2147480789"/>
            <p14:sldId id="2147480790"/>
            <p14:sldId id="2147480798"/>
            <p14:sldId id="2147480799"/>
            <p14:sldId id="2147480800"/>
            <p14:sldId id="2147480801"/>
            <p14:sldId id="2147480802"/>
            <p14:sldId id="2147480803"/>
          </p14:sldIdLst>
        </p14:section>
        <p14:section name="App Gateway for Containers" id="{471D5ED1-7E9C-4D9F-87E0-C6386BAD98E1}">
          <p14:sldIdLst>
            <p14:sldId id="2147480796"/>
            <p14:sldId id="2147480797"/>
            <p14:sldId id="2147481843"/>
            <p14:sldId id="2147480804"/>
            <p14:sldId id="2147481832"/>
            <p14:sldId id="2147480805"/>
            <p14:sldId id="2147481837"/>
            <p14:sldId id="2147480807"/>
            <p14:sldId id="2147480806"/>
            <p14:sldId id="2147481838"/>
            <p14:sldId id="2147481839"/>
            <p14:sldId id="2147481840"/>
            <p14:sldId id="2147481841"/>
            <p14:sldId id="2147481842"/>
          </p14:sldIdLst>
        </p14:section>
        <p14:section name="References" id="{C71D3FED-6171-48FD-BFAF-44674D13537C}">
          <p14:sldIdLst>
            <p14:sldId id="320"/>
            <p14:sldId id="329"/>
          </p14:sldIdLst>
        </p14:section>
        <p14:section name="Useful links" id="{4F602F8D-E7EB-4B15-A277-68A133AFF6C2}">
          <p14:sldIdLst>
            <p14:sldId id="2147479641"/>
            <p14:sldId id="2147479599"/>
            <p14:sldId id="21474795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93EF00-44C7-4049-8694-8B9FCD6858B6}" v="3" dt="2026-01-14T11:49:19.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0146" autoAdjust="0"/>
  </p:normalViewPr>
  <p:slideViewPr>
    <p:cSldViewPr snapToGrid="0">
      <p:cViewPr varScale="1">
        <p:scale>
          <a:sx n="56" d="100"/>
          <a:sy n="56" d="100"/>
        </p:scale>
        <p:origin x="42"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45"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46" Type="http://schemas.openxmlformats.org/officeDocument/2006/relationships/customXml" Target="../customXml/item3.xml"/><Relationship Id="rId20" Type="http://schemas.openxmlformats.org/officeDocument/2006/relationships/slide" Target="slides/slide18.xml"/><Relationship Id="rId4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ra Cheema" userId="S::zaracheema@microsoft.com::b1d87c73-8c76-4d81-a7d1-4440a8f7a31a" providerId="AD" clId="Web-{1938DBD0-AF12-BC8C-7F02-FFA711767B14}"/>
    <pc:docChg chg="modSld delSection">
      <pc:chgData name="Zara Cheema" userId="S::zaracheema@microsoft.com::b1d87c73-8c76-4d81-a7d1-4440a8f7a31a" providerId="AD" clId="Web-{1938DBD0-AF12-BC8C-7F02-FFA711767B14}" dt="2025-12-22T20:19:34.532" v="66"/>
      <pc:docMkLst>
        <pc:docMk/>
      </pc:docMkLst>
      <pc:sldChg chg="addSp delSp modNotes">
        <pc:chgData name="Zara Cheema" userId="S::zaracheema@microsoft.com::b1d87c73-8c76-4d81-a7d1-4440a8f7a31a" providerId="AD" clId="Web-{1938DBD0-AF12-BC8C-7F02-FFA711767B14}" dt="2025-12-22T20:19:33.673" v="65"/>
        <pc:sldMkLst>
          <pc:docMk/>
          <pc:sldMk cId="1688519206" sldId="2147480788"/>
        </pc:sldMkLst>
        <pc:picChg chg="add">
          <ac:chgData name="Zara Cheema" userId="S::zaracheema@microsoft.com::b1d87c73-8c76-4d81-a7d1-4440a8f7a31a" providerId="AD" clId="Web-{1938DBD0-AF12-BC8C-7F02-FFA711767B14}" dt="2025-12-22T20:19:17.202" v="59"/>
          <ac:picMkLst>
            <pc:docMk/>
            <pc:sldMk cId="1688519206" sldId="2147480788"/>
            <ac:picMk id="4" creationId="{ACCECAB8-968C-E392-B586-931E77F3AA7A}"/>
          </ac:picMkLst>
        </pc:picChg>
      </pc:sldChg>
      <pc:sldChg chg="modNotes">
        <pc:chgData name="Zara Cheema" userId="S::zaracheema@microsoft.com::b1d87c73-8c76-4d81-a7d1-4440a8f7a31a" providerId="AD" clId="Web-{1938DBD0-AF12-BC8C-7F02-FFA711767B14}" dt="2025-12-22T20:19:33.110" v="63"/>
        <pc:sldMkLst>
          <pc:docMk/>
          <pc:sldMk cId="1555840149" sldId="2147480794"/>
        </pc:sldMkLst>
      </pc:sldChg>
      <pc:sldChg chg="modNotes">
        <pc:chgData name="Zara Cheema" userId="S::zaracheema@microsoft.com::b1d87c73-8c76-4d81-a7d1-4440a8f7a31a" providerId="AD" clId="Web-{1938DBD0-AF12-BC8C-7F02-FFA711767B14}" dt="2025-12-22T20:10:21.033" v="12"/>
        <pc:sldMkLst>
          <pc:docMk/>
          <pc:sldMk cId="3010501815" sldId="2147481832"/>
        </pc:sldMkLst>
      </pc:sldChg>
      <pc:sldChg chg="modNotes">
        <pc:chgData name="Zara Cheema" userId="S::zaracheema@microsoft.com::b1d87c73-8c76-4d81-a7d1-4440a8f7a31a" providerId="AD" clId="Web-{1938DBD0-AF12-BC8C-7F02-FFA711767B14}" dt="2025-12-22T20:11:31.191" v="16"/>
        <pc:sldMkLst>
          <pc:docMk/>
          <pc:sldMk cId="3960339037" sldId="2147481837"/>
        </pc:sldMkLst>
      </pc:sldChg>
      <pc:sldChg chg="modNotes">
        <pc:chgData name="Zara Cheema" userId="S::zaracheema@microsoft.com::b1d87c73-8c76-4d81-a7d1-4440a8f7a31a" providerId="AD" clId="Web-{1938DBD0-AF12-BC8C-7F02-FFA711767B14}" dt="2025-12-22T20:13:02.302" v="32"/>
        <pc:sldMkLst>
          <pc:docMk/>
          <pc:sldMk cId="247488110" sldId="2147481838"/>
        </pc:sldMkLst>
      </pc:sldChg>
      <pc:sldChg chg="modNotes">
        <pc:chgData name="Zara Cheema" userId="S::zaracheema@microsoft.com::b1d87c73-8c76-4d81-a7d1-4440a8f7a31a" providerId="AD" clId="Web-{1938DBD0-AF12-BC8C-7F02-FFA711767B14}" dt="2025-12-22T20:14:04.787" v="34"/>
        <pc:sldMkLst>
          <pc:docMk/>
          <pc:sldMk cId="230146746" sldId="2147481839"/>
        </pc:sldMkLst>
      </pc:sldChg>
      <pc:sldChg chg="modNotes">
        <pc:chgData name="Zara Cheema" userId="S::zaracheema@microsoft.com::b1d87c73-8c76-4d81-a7d1-4440a8f7a31a" providerId="AD" clId="Web-{1938DBD0-AF12-BC8C-7F02-FFA711767B14}" dt="2025-12-22T20:16:35.290" v="47"/>
        <pc:sldMkLst>
          <pc:docMk/>
          <pc:sldMk cId="1147856051" sldId="2147481840"/>
        </pc:sldMkLst>
      </pc:sldChg>
      <pc:sldChg chg="modNotes">
        <pc:chgData name="Zara Cheema" userId="S::zaracheema@microsoft.com::b1d87c73-8c76-4d81-a7d1-4440a8f7a31a" providerId="AD" clId="Web-{1938DBD0-AF12-BC8C-7F02-FFA711767B14}" dt="2025-12-22T20:17:05.994" v="53"/>
        <pc:sldMkLst>
          <pc:docMk/>
          <pc:sldMk cId="1296639201" sldId="2147481842"/>
        </pc:sldMkLst>
      </pc:sldChg>
    </pc:docChg>
  </pc:docChgLst>
  <pc:docChgLst>
    <pc:chgData name="Zara Cheema" userId="S::zaracheema@microsoft.com::b1d87c73-8c76-4d81-a7d1-4440a8f7a31a" providerId="AD" clId="Web-{26B7E169-DE64-3075-7079-A1596089E019}"/>
    <pc:docChg chg="addSld delSld modSld sldOrd addSection delSection modSection">
      <pc:chgData name="Zara Cheema" userId="S::zaracheema@microsoft.com::b1d87c73-8c76-4d81-a7d1-4440a8f7a31a" providerId="AD" clId="Web-{26B7E169-DE64-3075-7079-A1596089E019}" dt="2025-12-22T18:15:09.199" v="996"/>
      <pc:docMkLst>
        <pc:docMk/>
      </pc:docMkLst>
      <pc:sldChg chg="modSp">
        <pc:chgData name="Zara Cheema" userId="S::zaracheema@microsoft.com::b1d87c73-8c76-4d81-a7d1-4440a8f7a31a" providerId="AD" clId="Web-{26B7E169-DE64-3075-7079-A1596089E019}" dt="2025-12-22T17:56:33.474" v="649" actId="20577"/>
        <pc:sldMkLst>
          <pc:docMk/>
          <pc:sldMk cId="2491440727" sldId="329"/>
        </pc:sldMkLst>
        <pc:spChg chg="mod">
          <ac:chgData name="Zara Cheema" userId="S::zaracheema@microsoft.com::b1d87c73-8c76-4d81-a7d1-4440a8f7a31a" providerId="AD" clId="Web-{26B7E169-DE64-3075-7079-A1596089E019}" dt="2025-12-22T17:56:33.474" v="649" actId="20577"/>
          <ac:spMkLst>
            <pc:docMk/>
            <pc:sldMk cId="2491440727" sldId="329"/>
            <ac:spMk id="3" creationId="{F5E569F0-E686-6504-4074-A2ABC36D3758}"/>
          </ac:spMkLst>
        </pc:spChg>
      </pc:sldChg>
      <pc:sldChg chg="delSp modSp modNotes">
        <pc:chgData name="Zara Cheema" userId="S::zaracheema@microsoft.com::b1d87c73-8c76-4d81-a7d1-4440a8f7a31a" providerId="AD" clId="Web-{26B7E169-DE64-3075-7079-A1596089E019}" dt="2025-12-22T16:54:28.580" v="310" actId="1076"/>
        <pc:sldMkLst>
          <pc:docMk/>
          <pc:sldMk cId="2699371825" sldId="2147480790"/>
        </pc:sldMkLst>
        <pc:spChg chg="mod">
          <ac:chgData name="Zara Cheema" userId="S::zaracheema@microsoft.com::b1d87c73-8c76-4d81-a7d1-4440a8f7a31a" providerId="AD" clId="Web-{26B7E169-DE64-3075-7079-A1596089E019}" dt="2025-12-22T16:52:59.529" v="148" actId="14100"/>
          <ac:spMkLst>
            <pc:docMk/>
            <pc:sldMk cId="2699371825" sldId="2147480790"/>
            <ac:spMk id="2" creationId="{825CA600-AE22-E766-993B-B769EB7325C4}"/>
          </ac:spMkLst>
        </pc:spChg>
        <pc:spChg chg="mod">
          <ac:chgData name="Zara Cheema" userId="S::zaracheema@microsoft.com::b1d87c73-8c76-4d81-a7d1-4440a8f7a31a" providerId="AD" clId="Web-{26B7E169-DE64-3075-7079-A1596089E019}" dt="2025-12-22T16:54:28.580" v="310" actId="1076"/>
          <ac:spMkLst>
            <pc:docMk/>
            <pc:sldMk cId="2699371825" sldId="2147480790"/>
            <ac:spMk id="1031" creationId="{61B8AA0F-67E0-E71D-1985-20AE9D19CF5A}"/>
          </ac:spMkLst>
        </pc:spChg>
      </pc:sldChg>
      <pc:sldChg chg="addSp delSp modSp add replId modNotes">
        <pc:chgData name="Zara Cheema" userId="S::zaracheema@microsoft.com::b1d87c73-8c76-4d81-a7d1-4440a8f7a31a" providerId="AD" clId="Web-{26B7E169-DE64-3075-7079-A1596089E019}" dt="2025-12-22T16:46:20.687" v="133" actId="1076"/>
        <pc:sldMkLst>
          <pc:docMk/>
          <pc:sldMk cId="2973571209" sldId="2147480795"/>
        </pc:sldMkLst>
        <pc:spChg chg="mod">
          <ac:chgData name="Zara Cheema" userId="S::zaracheema@microsoft.com::b1d87c73-8c76-4d81-a7d1-4440a8f7a31a" providerId="AD" clId="Web-{26B7E169-DE64-3075-7079-A1596089E019}" dt="2025-12-22T16:08:37.953" v="5" actId="14100"/>
          <ac:spMkLst>
            <pc:docMk/>
            <pc:sldMk cId="2973571209" sldId="2147480795"/>
            <ac:spMk id="2" creationId="{B4AF15B3-ADCC-75AD-6BE6-017E2BFA4B3D}"/>
          </ac:spMkLst>
        </pc:spChg>
        <pc:spChg chg="mod">
          <ac:chgData name="Zara Cheema" userId="S::zaracheema@microsoft.com::b1d87c73-8c76-4d81-a7d1-4440a8f7a31a" providerId="AD" clId="Web-{26B7E169-DE64-3075-7079-A1596089E019}" dt="2025-12-22T16:46:20.687" v="133" actId="1076"/>
          <ac:spMkLst>
            <pc:docMk/>
            <pc:sldMk cId="2973571209" sldId="2147480795"/>
            <ac:spMk id="1031" creationId="{020CFD62-87AC-4F57-01F0-DD3A4999695E}"/>
          </ac:spMkLst>
        </pc:spChg>
        <pc:picChg chg="add mod">
          <ac:chgData name="Zara Cheema" userId="S::zaracheema@microsoft.com::b1d87c73-8c76-4d81-a7d1-4440a8f7a31a" providerId="AD" clId="Web-{26B7E169-DE64-3075-7079-A1596089E019}" dt="2025-12-22T16:39:09.977" v="106" actId="1076"/>
          <ac:picMkLst>
            <pc:docMk/>
            <pc:sldMk cId="2973571209" sldId="2147480795"/>
            <ac:picMk id="4" creationId="{3393E382-9EEA-F078-DDAF-86C3AC1ADB78}"/>
          </ac:picMkLst>
        </pc:picChg>
      </pc:sldChg>
      <pc:sldChg chg="modSp add ord replId">
        <pc:chgData name="Zara Cheema" userId="S::zaracheema@microsoft.com::b1d87c73-8c76-4d81-a7d1-4440a8f7a31a" providerId="AD" clId="Web-{26B7E169-DE64-3075-7079-A1596089E019}" dt="2025-12-22T16:49:07.522" v="137" actId="20577"/>
        <pc:sldMkLst>
          <pc:docMk/>
          <pc:sldMk cId="14354862" sldId="2147480796"/>
        </pc:sldMkLst>
        <pc:spChg chg="mod">
          <ac:chgData name="Zara Cheema" userId="S::zaracheema@microsoft.com::b1d87c73-8c76-4d81-a7d1-4440a8f7a31a" providerId="AD" clId="Web-{26B7E169-DE64-3075-7079-A1596089E019}" dt="2025-12-22T16:49:07.522" v="137" actId="20577"/>
          <ac:spMkLst>
            <pc:docMk/>
            <pc:sldMk cId="14354862" sldId="2147480796"/>
            <ac:spMk id="4" creationId="{F0153BBE-3472-89F3-BADC-7E54CB9EE00C}"/>
          </ac:spMkLst>
        </pc:spChg>
      </pc:sldChg>
      <pc:sldChg chg="delSp modSp add ord replId modNotes">
        <pc:chgData name="Zara Cheema" userId="S::zaracheema@microsoft.com::b1d87c73-8c76-4d81-a7d1-4440a8f7a31a" providerId="AD" clId="Web-{26B7E169-DE64-3075-7079-A1596089E019}" dt="2025-12-22T17:07:50.438" v="484"/>
        <pc:sldMkLst>
          <pc:docMk/>
          <pc:sldMk cId="4226285325" sldId="2147480797"/>
        </pc:sldMkLst>
        <pc:spChg chg="mod">
          <ac:chgData name="Zara Cheema" userId="S::zaracheema@microsoft.com::b1d87c73-8c76-4d81-a7d1-4440a8f7a31a" providerId="AD" clId="Web-{26B7E169-DE64-3075-7079-A1596089E019}" dt="2025-12-22T16:46:02.187" v="132" actId="14100"/>
          <ac:spMkLst>
            <pc:docMk/>
            <pc:sldMk cId="4226285325" sldId="2147480797"/>
            <ac:spMk id="2" creationId="{8489D3A3-BAEA-39EB-8B1E-A62335C42EBB}"/>
          </ac:spMkLst>
        </pc:spChg>
        <pc:spChg chg="mod">
          <ac:chgData name="Zara Cheema" userId="S::zaracheema@microsoft.com::b1d87c73-8c76-4d81-a7d1-4440a8f7a31a" providerId="AD" clId="Web-{26B7E169-DE64-3075-7079-A1596089E019}" dt="2025-12-22T17:07:29.062" v="477" actId="20577"/>
          <ac:spMkLst>
            <pc:docMk/>
            <pc:sldMk cId="4226285325" sldId="2147480797"/>
            <ac:spMk id="1031" creationId="{FD89FD9B-42CC-89FD-7EEB-B4010924E965}"/>
          </ac:spMkLst>
        </pc:spChg>
      </pc:sldChg>
      <pc:sldChg chg="modSp add replId modNotes">
        <pc:chgData name="Zara Cheema" userId="S::zaracheema@microsoft.com::b1d87c73-8c76-4d81-a7d1-4440a8f7a31a" providerId="AD" clId="Web-{26B7E169-DE64-3075-7079-A1596089E019}" dt="2025-12-22T16:58:21.310" v="403"/>
        <pc:sldMkLst>
          <pc:docMk/>
          <pc:sldMk cId="670040781" sldId="2147480798"/>
        </pc:sldMkLst>
        <pc:spChg chg="mod">
          <ac:chgData name="Zara Cheema" userId="S::zaracheema@microsoft.com::b1d87c73-8c76-4d81-a7d1-4440a8f7a31a" providerId="AD" clId="Web-{26B7E169-DE64-3075-7079-A1596089E019}" dt="2025-12-22T16:54:44.065" v="322" actId="20577"/>
          <ac:spMkLst>
            <pc:docMk/>
            <pc:sldMk cId="670040781" sldId="2147480798"/>
            <ac:spMk id="2" creationId="{4010B822-F60A-5538-8E3C-CB4C489E427F}"/>
          </ac:spMkLst>
        </pc:spChg>
        <pc:spChg chg="mod">
          <ac:chgData name="Zara Cheema" userId="S::zaracheema@microsoft.com::b1d87c73-8c76-4d81-a7d1-4440a8f7a31a" providerId="AD" clId="Web-{26B7E169-DE64-3075-7079-A1596089E019}" dt="2025-12-22T16:57:44.215" v="394" actId="20577"/>
          <ac:spMkLst>
            <pc:docMk/>
            <pc:sldMk cId="670040781" sldId="2147480798"/>
            <ac:spMk id="1031" creationId="{76725021-9167-DAFF-0B25-797D62755903}"/>
          </ac:spMkLst>
        </pc:spChg>
      </pc:sldChg>
      <pc:sldChg chg="modSp add replId modNotes">
        <pc:chgData name="Zara Cheema" userId="S::zaracheema@microsoft.com::b1d87c73-8c76-4d81-a7d1-4440a8f7a31a" providerId="AD" clId="Web-{26B7E169-DE64-3075-7079-A1596089E019}" dt="2025-12-22T16:59:31.874" v="416"/>
        <pc:sldMkLst>
          <pc:docMk/>
          <pc:sldMk cId="2479538046" sldId="2147480799"/>
        </pc:sldMkLst>
        <pc:spChg chg="mod">
          <ac:chgData name="Zara Cheema" userId="S::zaracheema@microsoft.com::b1d87c73-8c76-4d81-a7d1-4440a8f7a31a" providerId="AD" clId="Web-{26B7E169-DE64-3075-7079-A1596089E019}" dt="2025-12-22T16:55:16.394" v="333" actId="20577"/>
          <ac:spMkLst>
            <pc:docMk/>
            <pc:sldMk cId="2479538046" sldId="2147480799"/>
            <ac:spMk id="2" creationId="{AFCEF349-FFE8-C6F9-A022-FF4030188036}"/>
          </ac:spMkLst>
        </pc:spChg>
        <pc:spChg chg="mod">
          <ac:chgData name="Zara Cheema" userId="S::zaracheema@microsoft.com::b1d87c73-8c76-4d81-a7d1-4440a8f7a31a" providerId="AD" clId="Web-{26B7E169-DE64-3075-7079-A1596089E019}" dt="2025-12-22T16:59:04.561" v="409" actId="20577"/>
          <ac:spMkLst>
            <pc:docMk/>
            <pc:sldMk cId="2479538046" sldId="2147480799"/>
            <ac:spMk id="1031" creationId="{7E81282F-4591-10D9-B76D-125B91D74CCC}"/>
          </ac:spMkLst>
        </pc:spChg>
      </pc:sldChg>
      <pc:sldChg chg="modSp add replId modNotes">
        <pc:chgData name="Zara Cheema" userId="S::zaracheema@microsoft.com::b1d87c73-8c76-4d81-a7d1-4440a8f7a31a" providerId="AD" clId="Web-{26B7E169-DE64-3075-7079-A1596089E019}" dt="2025-12-22T17:00:32.265" v="427"/>
        <pc:sldMkLst>
          <pc:docMk/>
          <pc:sldMk cId="3554241571" sldId="2147480800"/>
        </pc:sldMkLst>
        <pc:spChg chg="mod">
          <ac:chgData name="Zara Cheema" userId="S::zaracheema@microsoft.com::b1d87c73-8c76-4d81-a7d1-4440a8f7a31a" providerId="AD" clId="Web-{26B7E169-DE64-3075-7079-A1596089E019}" dt="2025-12-22T16:55:33.113" v="352" actId="20577"/>
          <ac:spMkLst>
            <pc:docMk/>
            <pc:sldMk cId="3554241571" sldId="2147480800"/>
            <ac:spMk id="2" creationId="{4DAF3BC8-65B4-7892-3E81-6E9E2460BE06}"/>
          </ac:spMkLst>
        </pc:spChg>
        <pc:spChg chg="mod">
          <ac:chgData name="Zara Cheema" userId="S::zaracheema@microsoft.com::b1d87c73-8c76-4d81-a7d1-4440a8f7a31a" providerId="AD" clId="Web-{26B7E169-DE64-3075-7079-A1596089E019}" dt="2025-12-22T17:00:11.546" v="421" actId="20577"/>
          <ac:spMkLst>
            <pc:docMk/>
            <pc:sldMk cId="3554241571" sldId="2147480800"/>
            <ac:spMk id="1031" creationId="{2E24EDE8-5D30-2723-C702-D33F1926C0E1}"/>
          </ac:spMkLst>
        </pc:spChg>
      </pc:sldChg>
      <pc:sldChg chg="modSp add replId modNotes">
        <pc:chgData name="Zara Cheema" userId="S::zaracheema@microsoft.com::b1d87c73-8c76-4d81-a7d1-4440a8f7a31a" providerId="AD" clId="Web-{26B7E169-DE64-3075-7079-A1596089E019}" dt="2025-12-22T17:01:53.298" v="451"/>
        <pc:sldMkLst>
          <pc:docMk/>
          <pc:sldMk cId="4113387030" sldId="2147480801"/>
        </pc:sldMkLst>
        <pc:spChg chg="mod">
          <ac:chgData name="Zara Cheema" userId="S::zaracheema@microsoft.com::b1d87c73-8c76-4d81-a7d1-4440a8f7a31a" providerId="AD" clId="Web-{26B7E169-DE64-3075-7079-A1596089E019}" dt="2025-12-22T16:55:42.864" v="357" actId="20577"/>
          <ac:spMkLst>
            <pc:docMk/>
            <pc:sldMk cId="4113387030" sldId="2147480801"/>
            <ac:spMk id="2" creationId="{E47912C6-C3C3-97E4-AE01-3D1ED22FB5B8}"/>
          </ac:spMkLst>
        </pc:spChg>
        <pc:spChg chg="mod">
          <ac:chgData name="Zara Cheema" userId="S::zaracheema@microsoft.com::b1d87c73-8c76-4d81-a7d1-4440a8f7a31a" providerId="AD" clId="Web-{26B7E169-DE64-3075-7079-A1596089E019}" dt="2025-12-22T17:01:15.500" v="437" actId="20577"/>
          <ac:spMkLst>
            <pc:docMk/>
            <pc:sldMk cId="4113387030" sldId="2147480801"/>
            <ac:spMk id="1031" creationId="{40CAA84A-64B4-78EF-6FCF-16C8BEB2CB0A}"/>
          </ac:spMkLst>
        </pc:spChg>
      </pc:sldChg>
      <pc:sldChg chg="modSp add replId modNotes">
        <pc:chgData name="Zara Cheema" userId="S::zaracheema@microsoft.com::b1d87c73-8c76-4d81-a7d1-4440a8f7a31a" providerId="AD" clId="Web-{26B7E169-DE64-3075-7079-A1596089E019}" dt="2025-12-22T17:02:36.626" v="458"/>
        <pc:sldMkLst>
          <pc:docMk/>
          <pc:sldMk cId="1694360203" sldId="2147480802"/>
        </pc:sldMkLst>
        <pc:spChg chg="mod">
          <ac:chgData name="Zara Cheema" userId="S::zaracheema@microsoft.com::b1d87c73-8c76-4d81-a7d1-4440a8f7a31a" providerId="AD" clId="Web-{26B7E169-DE64-3075-7079-A1596089E019}" dt="2025-12-22T16:55:54.239" v="375" actId="20577"/>
          <ac:spMkLst>
            <pc:docMk/>
            <pc:sldMk cId="1694360203" sldId="2147480802"/>
            <ac:spMk id="2" creationId="{621EE324-21C8-2949-E560-211B7C7E2A01}"/>
          </ac:spMkLst>
        </pc:spChg>
        <pc:spChg chg="mod">
          <ac:chgData name="Zara Cheema" userId="S::zaracheema@microsoft.com::b1d87c73-8c76-4d81-a7d1-4440a8f7a31a" providerId="AD" clId="Web-{26B7E169-DE64-3075-7079-A1596089E019}" dt="2025-12-22T17:02:28.079" v="456" actId="20577"/>
          <ac:spMkLst>
            <pc:docMk/>
            <pc:sldMk cId="1694360203" sldId="2147480802"/>
            <ac:spMk id="1031" creationId="{09DC4A57-F58A-488C-9B77-E166F50C09C7}"/>
          </ac:spMkLst>
        </pc:spChg>
      </pc:sldChg>
      <pc:sldChg chg="modSp add replId modNotes">
        <pc:chgData name="Zara Cheema" userId="S::zaracheema@microsoft.com::b1d87c73-8c76-4d81-a7d1-4440a8f7a31a" providerId="AD" clId="Web-{26B7E169-DE64-3075-7079-A1596089E019}" dt="2025-12-22T17:03:26.971" v="469"/>
        <pc:sldMkLst>
          <pc:docMk/>
          <pc:sldMk cId="2723633367" sldId="2147480803"/>
        </pc:sldMkLst>
        <pc:spChg chg="mod">
          <ac:chgData name="Zara Cheema" userId="S::zaracheema@microsoft.com::b1d87c73-8c76-4d81-a7d1-4440a8f7a31a" providerId="AD" clId="Web-{26B7E169-DE64-3075-7079-A1596089E019}" dt="2025-12-22T16:56:02.427" v="382" actId="20577"/>
          <ac:spMkLst>
            <pc:docMk/>
            <pc:sldMk cId="2723633367" sldId="2147480803"/>
            <ac:spMk id="2" creationId="{CD495F2D-7428-1EC2-1C26-138CF5C64824}"/>
          </ac:spMkLst>
        </pc:spChg>
        <pc:spChg chg="mod">
          <ac:chgData name="Zara Cheema" userId="S::zaracheema@microsoft.com::b1d87c73-8c76-4d81-a7d1-4440a8f7a31a" providerId="AD" clId="Web-{26B7E169-DE64-3075-7079-A1596089E019}" dt="2025-12-22T17:03:10.596" v="464" actId="20577"/>
          <ac:spMkLst>
            <pc:docMk/>
            <pc:sldMk cId="2723633367" sldId="2147480803"/>
            <ac:spMk id="1031" creationId="{120DCC97-C09A-536C-0D0B-155B52BB52AB}"/>
          </ac:spMkLst>
        </pc:spChg>
      </pc:sldChg>
      <pc:sldChg chg="modSp add replId modNotes">
        <pc:chgData name="Zara Cheema" userId="S::zaracheema@microsoft.com::b1d87c73-8c76-4d81-a7d1-4440a8f7a31a" providerId="AD" clId="Web-{26B7E169-DE64-3075-7079-A1596089E019}" dt="2025-12-22T18:15:09.199" v="996"/>
        <pc:sldMkLst>
          <pc:docMk/>
          <pc:sldMk cId="792500166" sldId="2147480804"/>
        </pc:sldMkLst>
        <pc:spChg chg="mod">
          <ac:chgData name="Zara Cheema" userId="S::zaracheema@microsoft.com::b1d87c73-8c76-4d81-a7d1-4440a8f7a31a" providerId="AD" clId="Web-{26B7E169-DE64-3075-7079-A1596089E019}" dt="2025-12-22T17:08:07.283" v="490" actId="20577"/>
          <ac:spMkLst>
            <pc:docMk/>
            <pc:sldMk cId="792500166" sldId="2147480804"/>
            <ac:spMk id="2" creationId="{A1F335CE-1DC2-FA93-97BC-D91738912716}"/>
          </ac:spMkLst>
        </pc:spChg>
        <pc:spChg chg="mod">
          <ac:chgData name="Zara Cheema" userId="S::zaracheema@microsoft.com::b1d87c73-8c76-4d81-a7d1-4440a8f7a31a" providerId="AD" clId="Web-{26B7E169-DE64-3075-7079-A1596089E019}" dt="2025-12-22T17:08:21.768" v="502" actId="1076"/>
          <ac:spMkLst>
            <pc:docMk/>
            <pc:sldMk cId="792500166" sldId="2147480804"/>
            <ac:spMk id="1031" creationId="{5C46B62F-FE23-6BBF-1466-A1E004E75C5C}"/>
          </ac:spMkLst>
        </pc:spChg>
      </pc:sldChg>
      <pc:sldChg chg="addSp delSp modSp add replId modNotes">
        <pc:chgData name="Zara Cheema" userId="S::zaracheema@microsoft.com::b1d87c73-8c76-4d81-a7d1-4440a8f7a31a" providerId="AD" clId="Web-{26B7E169-DE64-3075-7079-A1596089E019}" dt="2025-12-22T17:26:33.983" v="612" actId="20577"/>
        <pc:sldMkLst>
          <pc:docMk/>
          <pc:sldMk cId="2401961321" sldId="2147480805"/>
        </pc:sldMkLst>
        <pc:spChg chg="mod">
          <ac:chgData name="Zara Cheema" userId="S::zaracheema@microsoft.com::b1d87c73-8c76-4d81-a7d1-4440a8f7a31a" providerId="AD" clId="Web-{26B7E169-DE64-3075-7079-A1596089E019}" dt="2025-12-22T17:22:35.541" v="597" actId="14100"/>
          <ac:spMkLst>
            <pc:docMk/>
            <pc:sldMk cId="2401961321" sldId="2147480805"/>
            <ac:spMk id="2" creationId="{72551857-E027-D007-329C-4E910C508E16}"/>
          </ac:spMkLst>
        </pc:spChg>
        <pc:spChg chg="add del mod">
          <ac:chgData name="Zara Cheema" userId="S::zaracheema@microsoft.com::b1d87c73-8c76-4d81-a7d1-4440a8f7a31a" providerId="AD" clId="Web-{26B7E169-DE64-3075-7079-A1596089E019}" dt="2025-12-22T17:26:33.983" v="612" actId="20577"/>
          <ac:spMkLst>
            <pc:docMk/>
            <pc:sldMk cId="2401961321" sldId="2147480805"/>
            <ac:spMk id="1031" creationId="{FE6A37FF-D429-3C55-23BA-B5E3E8DD0BFA}"/>
          </ac:spMkLst>
        </pc:spChg>
        <pc:picChg chg="add mod">
          <ac:chgData name="Zara Cheema" userId="S::zaracheema@microsoft.com::b1d87c73-8c76-4d81-a7d1-4440a8f7a31a" providerId="AD" clId="Web-{26B7E169-DE64-3075-7079-A1596089E019}" dt="2025-12-22T17:22:48.526" v="608" actId="1076"/>
          <ac:picMkLst>
            <pc:docMk/>
            <pc:sldMk cId="2401961321" sldId="2147480805"/>
            <ac:picMk id="5" creationId="{4E9BE417-9060-ED5E-57BE-DCCCB7B2C5EF}"/>
          </ac:picMkLst>
        </pc:picChg>
      </pc:sldChg>
      <pc:sldChg chg="delSp modSp add replId modNotes">
        <pc:chgData name="Zara Cheema" userId="S::zaracheema@microsoft.com::b1d87c73-8c76-4d81-a7d1-4440a8f7a31a" providerId="AD" clId="Web-{26B7E169-DE64-3075-7079-A1596089E019}" dt="2025-12-22T17:15:04.306" v="557"/>
        <pc:sldMkLst>
          <pc:docMk/>
          <pc:sldMk cId="1863948992" sldId="2147480806"/>
        </pc:sldMkLst>
        <pc:spChg chg="mod">
          <ac:chgData name="Zara Cheema" userId="S::zaracheema@microsoft.com::b1d87c73-8c76-4d81-a7d1-4440a8f7a31a" providerId="AD" clId="Web-{26B7E169-DE64-3075-7079-A1596089E019}" dt="2025-12-22T17:12:33.516" v="528" actId="20577"/>
          <ac:spMkLst>
            <pc:docMk/>
            <pc:sldMk cId="1863948992" sldId="2147480806"/>
            <ac:spMk id="2" creationId="{3CDE205B-54B5-9C99-B3A9-3EDCF56DFE63}"/>
          </ac:spMkLst>
        </pc:spChg>
        <pc:spChg chg="mod">
          <ac:chgData name="Zara Cheema" userId="S::zaracheema@microsoft.com::b1d87c73-8c76-4d81-a7d1-4440a8f7a31a" providerId="AD" clId="Web-{26B7E169-DE64-3075-7079-A1596089E019}" dt="2025-12-22T17:14:52.009" v="555" actId="20577"/>
          <ac:spMkLst>
            <pc:docMk/>
            <pc:sldMk cId="1863948992" sldId="2147480806"/>
            <ac:spMk id="1031" creationId="{6C4BCCEE-296A-8B96-A230-1DFB69FFF510}"/>
          </ac:spMkLst>
        </pc:spChg>
      </pc:sldChg>
      <pc:sldChg chg="modSp add ord replId modNotes">
        <pc:chgData name="Zara Cheema" userId="S::zaracheema@microsoft.com::b1d87c73-8c76-4d81-a7d1-4440a8f7a31a" providerId="AD" clId="Web-{26B7E169-DE64-3075-7079-A1596089E019}" dt="2025-12-22T17:19:12.331" v="579"/>
        <pc:sldMkLst>
          <pc:docMk/>
          <pc:sldMk cId="439974008" sldId="2147480807"/>
        </pc:sldMkLst>
        <pc:spChg chg="mod">
          <ac:chgData name="Zara Cheema" userId="S::zaracheema@microsoft.com::b1d87c73-8c76-4d81-a7d1-4440a8f7a31a" providerId="AD" clId="Web-{26B7E169-DE64-3075-7079-A1596089E019}" dt="2025-12-22T17:12:46.798" v="540" actId="20577"/>
          <ac:spMkLst>
            <pc:docMk/>
            <pc:sldMk cId="439974008" sldId="2147480807"/>
            <ac:spMk id="2" creationId="{19EB447A-A35B-8042-2204-4FD95C6D54E8}"/>
          </ac:spMkLst>
        </pc:spChg>
        <pc:spChg chg="mod">
          <ac:chgData name="Zara Cheema" userId="S::zaracheema@microsoft.com::b1d87c73-8c76-4d81-a7d1-4440a8f7a31a" providerId="AD" clId="Web-{26B7E169-DE64-3075-7079-A1596089E019}" dt="2025-12-22T17:13:49.831" v="545" actId="14100"/>
          <ac:spMkLst>
            <pc:docMk/>
            <pc:sldMk cId="439974008" sldId="2147480807"/>
            <ac:spMk id="1031" creationId="{0F85406B-69D7-7262-AE94-A4698A7FC41B}"/>
          </ac:spMkLst>
        </pc:spChg>
      </pc:sldChg>
      <pc:sldChg chg="delSp modSp add ord">
        <pc:chgData name="Zara Cheema" userId="S::zaracheema@microsoft.com::b1d87c73-8c76-4d81-a7d1-4440a8f7a31a" providerId="AD" clId="Web-{26B7E169-DE64-3075-7079-A1596089E019}" dt="2025-12-22T17:55:58.505" v="645"/>
        <pc:sldMkLst>
          <pc:docMk/>
          <pc:sldMk cId="3010501815" sldId="2147481832"/>
        </pc:sldMkLst>
        <pc:spChg chg="mod">
          <ac:chgData name="Zara Cheema" userId="S::zaracheema@microsoft.com::b1d87c73-8c76-4d81-a7d1-4440a8f7a31a" providerId="AD" clId="Web-{26B7E169-DE64-3075-7079-A1596089E019}" dt="2025-12-22T17:26:47.218" v="620"/>
          <ac:spMkLst>
            <pc:docMk/>
            <pc:sldMk cId="3010501815" sldId="2147481832"/>
            <ac:spMk id="3" creationId="{422727E1-E141-9321-FAC5-C5AC4A3F1295}"/>
          </ac:spMkLst>
        </pc:spChg>
        <pc:spChg chg="mod">
          <ac:chgData name="Zara Cheema" userId="S::zaracheema@microsoft.com::b1d87c73-8c76-4d81-a7d1-4440a8f7a31a" providerId="AD" clId="Web-{26B7E169-DE64-3075-7079-A1596089E019}" dt="2025-12-22T17:30:48.274" v="644" actId="14100"/>
          <ac:spMkLst>
            <pc:docMk/>
            <pc:sldMk cId="3010501815" sldId="2147481832"/>
            <ac:spMk id="9" creationId="{B0D7AE18-553F-5F7B-9B09-A940A7456090}"/>
          </ac:spMkLst>
        </pc:spChg>
        <pc:spChg chg="mod">
          <ac:chgData name="Zara Cheema" userId="S::zaracheema@microsoft.com::b1d87c73-8c76-4d81-a7d1-4440a8f7a31a" providerId="AD" clId="Web-{26B7E169-DE64-3075-7079-A1596089E019}" dt="2025-12-22T17:26:47.077" v="613"/>
          <ac:spMkLst>
            <pc:docMk/>
            <pc:sldMk cId="3010501815" sldId="2147481832"/>
            <ac:spMk id="12" creationId="{A4DBB990-54CC-22F8-E8DD-AF3A1E0CA0C4}"/>
          </ac:spMkLst>
        </pc:spChg>
        <pc:spChg chg="mod">
          <ac:chgData name="Zara Cheema" userId="S::zaracheema@microsoft.com::b1d87c73-8c76-4d81-a7d1-4440a8f7a31a" providerId="AD" clId="Web-{26B7E169-DE64-3075-7079-A1596089E019}" dt="2025-12-22T17:26:47.077" v="614"/>
          <ac:spMkLst>
            <pc:docMk/>
            <pc:sldMk cId="3010501815" sldId="2147481832"/>
            <ac:spMk id="13" creationId="{1911E3EF-7ECE-AD49-4C43-BC2061D8A7BE}"/>
          </ac:spMkLst>
        </pc:spChg>
        <pc:spChg chg="mod">
          <ac:chgData name="Zara Cheema" userId="S::zaracheema@microsoft.com::b1d87c73-8c76-4d81-a7d1-4440a8f7a31a" providerId="AD" clId="Web-{26B7E169-DE64-3075-7079-A1596089E019}" dt="2025-12-22T17:26:47.077" v="615"/>
          <ac:spMkLst>
            <pc:docMk/>
            <pc:sldMk cId="3010501815" sldId="2147481832"/>
            <ac:spMk id="14" creationId="{821725F7-5FF4-3DDC-A48A-BCF5E0A90391}"/>
          </ac:spMkLst>
        </pc:spChg>
        <pc:spChg chg="mod">
          <ac:chgData name="Zara Cheema" userId="S::zaracheema@microsoft.com::b1d87c73-8c76-4d81-a7d1-4440a8f7a31a" providerId="AD" clId="Web-{26B7E169-DE64-3075-7079-A1596089E019}" dt="2025-12-22T17:26:47.077" v="616"/>
          <ac:spMkLst>
            <pc:docMk/>
            <pc:sldMk cId="3010501815" sldId="2147481832"/>
            <ac:spMk id="43" creationId="{6CCC4418-C964-3BEF-5414-E9BFFBC08D97}"/>
          </ac:spMkLst>
        </pc:spChg>
        <pc:spChg chg="mod">
          <ac:chgData name="Zara Cheema" userId="S::zaracheema@microsoft.com::b1d87c73-8c76-4d81-a7d1-4440a8f7a31a" providerId="AD" clId="Web-{26B7E169-DE64-3075-7079-A1596089E019}" dt="2025-12-22T17:26:47.093" v="617"/>
          <ac:spMkLst>
            <pc:docMk/>
            <pc:sldMk cId="3010501815" sldId="2147481832"/>
            <ac:spMk id="61" creationId="{A1292C0F-A6C1-0E07-0C8D-028961443E00}"/>
          </ac:spMkLst>
        </pc:spChg>
        <pc:spChg chg="mod">
          <ac:chgData name="Zara Cheema" userId="S::zaracheema@microsoft.com::b1d87c73-8c76-4d81-a7d1-4440a8f7a31a" providerId="AD" clId="Web-{26B7E169-DE64-3075-7079-A1596089E019}" dt="2025-12-22T17:26:47.093" v="618"/>
          <ac:spMkLst>
            <pc:docMk/>
            <pc:sldMk cId="3010501815" sldId="2147481832"/>
            <ac:spMk id="62" creationId="{B6331C66-A086-5D73-AFF3-A89E56B85FDC}"/>
          </ac:spMkLst>
        </pc:spChg>
        <pc:spChg chg="mod">
          <ac:chgData name="Zara Cheema" userId="S::zaracheema@microsoft.com::b1d87c73-8c76-4d81-a7d1-4440a8f7a31a" providerId="AD" clId="Web-{26B7E169-DE64-3075-7079-A1596089E019}" dt="2025-12-22T17:26:47.093" v="619"/>
          <ac:spMkLst>
            <pc:docMk/>
            <pc:sldMk cId="3010501815" sldId="2147481832"/>
            <ac:spMk id="69" creationId="{64453E8D-9565-6E16-04F8-5ECD4A71A375}"/>
          </ac:spMkLst>
        </pc:spChg>
      </pc:sldChg>
      <pc:sldChg chg="addSp delSp modSp add replId modNotes">
        <pc:chgData name="Zara Cheema" userId="S::zaracheema@microsoft.com::b1d87c73-8c76-4d81-a7d1-4440a8f7a31a" providerId="AD" clId="Web-{26B7E169-DE64-3075-7079-A1596089E019}" dt="2025-12-22T17:30:29.804" v="641" actId="20577"/>
        <pc:sldMkLst>
          <pc:docMk/>
          <pc:sldMk cId="3960339037" sldId="2147481837"/>
        </pc:sldMkLst>
        <pc:spChg chg="mod">
          <ac:chgData name="Zara Cheema" userId="S::zaracheema@microsoft.com::b1d87c73-8c76-4d81-a7d1-4440a8f7a31a" providerId="AD" clId="Web-{26B7E169-DE64-3075-7079-A1596089E019}" dt="2025-12-22T17:28:20.879" v="631" actId="20577"/>
          <ac:spMkLst>
            <pc:docMk/>
            <pc:sldMk cId="3960339037" sldId="2147481837"/>
            <ac:spMk id="2" creationId="{03BFE2C0-541C-0412-5009-A128029C966C}"/>
          </ac:spMkLst>
        </pc:spChg>
        <pc:spChg chg="mod">
          <ac:chgData name="Zara Cheema" userId="S::zaracheema@microsoft.com::b1d87c73-8c76-4d81-a7d1-4440a8f7a31a" providerId="AD" clId="Web-{26B7E169-DE64-3075-7079-A1596089E019}" dt="2025-12-22T17:30:29.804" v="641" actId="20577"/>
          <ac:spMkLst>
            <pc:docMk/>
            <pc:sldMk cId="3960339037" sldId="2147481837"/>
            <ac:spMk id="1031" creationId="{561E4315-9E70-6159-4F02-3FF3445EC2F4}"/>
          </ac:spMkLst>
        </pc:spChg>
        <pc:picChg chg="add">
          <ac:chgData name="Zara Cheema" userId="S::zaracheema@microsoft.com::b1d87c73-8c76-4d81-a7d1-4440a8f7a31a" providerId="AD" clId="Web-{26B7E169-DE64-3075-7079-A1596089E019}" dt="2025-12-22T17:28:35.082" v="633"/>
          <ac:picMkLst>
            <pc:docMk/>
            <pc:sldMk cId="3960339037" sldId="2147481837"/>
            <ac:picMk id="4" creationId="{521A7837-4E20-B545-58AB-1DEF2AB0F381}"/>
          </ac:picMkLst>
        </pc:picChg>
      </pc:sldChg>
      <pc:sldChg chg="addSp modSp add replId modNotes">
        <pc:chgData name="Zara Cheema" userId="S::zaracheema@microsoft.com::b1d87c73-8c76-4d81-a7d1-4440a8f7a31a" providerId="AD" clId="Web-{26B7E169-DE64-3075-7079-A1596089E019}" dt="2025-12-22T18:04:26.611" v="672"/>
        <pc:sldMkLst>
          <pc:docMk/>
          <pc:sldMk cId="247488110" sldId="2147481838"/>
        </pc:sldMkLst>
        <pc:spChg chg="mod">
          <ac:chgData name="Zara Cheema" userId="S::zaracheema@microsoft.com::b1d87c73-8c76-4d81-a7d1-4440a8f7a31a" providerId="AD" clId="Web-{26B7E169-DE64-3075-7079-A1596089E019}" dt="2025-12-22T18:03:41.172" v="656" actId="20577"/>
          <ac:spMkLst>
            <pc:docMk/>
            <pc:sldMk cId="247488110" sldId="2147481838"/>
            <ac:spMk id="2" creationId="{4CF534FA-D0F1-609B-9058-40A8361438B9}"/>
          </ac:spMkLst>
        </pc:spChg>
        <pc:spChg chg="mod">
          <ac:chgData name="Zara Cheema" userId="S::zaracheema@microsoft.com::b1d87c73-8c76-4d81-a7d1-4440a8f7a31a" providerId="AD" clId="Web-{26B7E169-DE64-3075-7079-A1596089E019}" dt="2025-12-22T18:04:15.829" v="669" actId="20577"/>
          <ac:spMkLst>
            <pc:docMk/>
            <pc:sldMk cId="247488110" sldId="2147481838"/>
            <ac:spMk id="1031" creationId="{6DCAB2E9-4990-D548-EB4E-91359DFF3575}"/>
          </ac:spMkLst>
        </pc:spChg>
        <pc:picChg chg="add mod">
          <ac:chgData name="Zara Cheema" userId="S::zaracheema@microsoft.com::b1d87c73-8c76-4d81-a7d1-4440a8f7a31a" providerId="AD" clId="Web-{26B7E169-DE64-3075-7079-A1596089E019}" dt="2025-12-22T18:04:17.001" v="671" actId="1076"/>
          <ac:picMkLst>
            <pc:docMk/>
            <pc:sldMk cId="247488110" sldId="2147481838"/>
            <ac:picMk id="3" creationId="{F3ECFFCB-89CF-29F2-A078-9007237D3FE0}"/>
          </ac:picMkLst>
        </pc:picChg>
      </pc:sldChg>
      <pc:sldChg chg="addSp delSp modSp add replId modNotes">
        <pc:chgData name="Zara Cheema" userId="S::zaracheema@microsoft.com::b1d87c73-8c76-4d81-a7d1-4440a8f7a31a" providerId="AD" clId="Web-{26B7E169-DE64-3075-7079-A1596089E019}" dt="2025-12-22T18:06:09.097" v="703"/>
        <pc:sldMkLst>
          <pc:docMk/>
          <pc:sldMk cId="230146746" sldId="2147481839"/>
        </pc:sldMkLst>
        <pc:spChg chg="mod">
          <ac:chgData name="Zara Cheema" userId="S::zaracheema@microsoft.com::b1d87c73-8c76-4d81-a7d1-4440a8f7a31a" providerId="AD" clId="Web-{26B7E169-DE64-3075-7079-A1596089E019}" dt="2025-12-22T18:05:07.409" v="682" actId="20577"/>
          <ac:spMkLst>
            <pc:docMk/>
            <pc:sldMk cId="230146746" sldId="2147481839"/>
            <ac:spMk id="2" creationId="{BE1A656B-30AC-0AC1-A4FE-1F86D162166B}"/>
          </ac:spMkLst>
        </pc:spChg>
        <pc:spChg chg="mod">
          <ac:chgData name="Zara Cheema" userId="S::zaracheema@microsoft.com::b1d87c73-8c76-4d81-a7d1-4440a8f7a31a" providerId="AD" clId="Web-{26B7E169-DE64-3075-7079-A1596089E019}" dt="2025-12-22T18:05:16.643" v="693" actId="20577"/>
          <ac:spMkLst>
            <pc:docMk/>
            <pc:sldMk cId="230146746" sldId="2147481839"/>
            <ac:spMk id="1031" creationId="{593EFE30-0E18-0F6D-1D41-29F9F57E90D2}"/>
          </ac:spMkLst>
        </pc:spChg>
        <pc:picChg chg="add mod">
          <ac:chgData name="Zara Cheema" userId="S::zaracheema@microsoft.com::b1d87c73-8c76-4d81-a7d1-4440a8f7a31a" providerId="AD" clId="Web-{26B7E169-DE64-3075-7079-A1596089E019}" dt="2025-12-22T18:06:05.316" v="701" actId="1076"/>
          <ac:picMkLst>
            <pc:docMk/>
            <pc:sldMk cId="230146746" sldId="2147481839"/>
            <ac:picMk id="4" creationId="{E2AD2303-86F3-6211-2614-42F3B96AE26A}"/>
          </ac:picMkLst>
        </pc:picChg>
      </pc:sldChg>
      <pc:sldChg chg="addSp delSp modSp add replId modNotes">
        <pc:chgData name="Zara Cheema" userId="S::zaracheema@microsoft.com::b1d87c73-8c76-4d81-a7d1-4440a8f7a31a" providerId="AD" clId="Web-{26B7E169-DE64-3075-7079-A1596089E019}" dt="2025-12-22T18:08:10.726" v="756" actId="20577"/>
        <pc:sldMkLst>
          <pc:docMk/>
          <pc:sldMk cId="1147856051" sldId="2147481840"/>
        </pc:sldMkLst>
        <pc:spChg chg="mod">
          <ac:chgData name="Zara Cheema" userId="S::zaracheema@microsoft.com::b1d87c73-8c76-4d81-a7d1-4440a8f7a31a" providerId="AD" clId="Web-{26B7E169-DE64-3075-7079-A1596089E019}" dt="2025-12-22T18:06:43.504" v="723" actId="20577"/>
          <ac:spMkLst>
            <pc:docMk/>
            <pc:sldMk cId="1147856051" sldId="2147481840"/>
            <ac:spMk id="2" creationId="{A2950B5A-CD84-B705-025A-9E636EAEFDE7}"/>
          </ac:spMkLst>
        </pc:spChg>
        <pc:spChg chg="mod">
          <ac:chgData name="Zara Cheema" userId="S::zaracheema@microsoft.com::b1d87c73-8c76-4d81-a7d1-4440a8f7a31a" providerId="AD" clId="Web-{26B7E169-DE64-3075-7079-A1596089E019}" dt="2025-12-22T18:08:10.726" v="756" actId="20577"/>
          <ac:spMkLst>
            <pc:docMk/>
            <pc:sldMk cId="1147856051" sldId="2147481840"/>
            <ac:spMk id="1031" creationId="{BC4B7DCF-B979-1D35-2660-32146EAAE805}"/>
          </ac:spMkLst>
        </pc:spChg>
        <pc:picChg chg="add mod">
          <ac:chgData name="Zara Cheema" userId="S::zaracheema@microsoft.com::b1d87c73-8c76-4d81-a7d1-4440a8f7a31a" providerId="AD" clId="Web-{26B7E169-DE64-3075-7079-A1596089E019}" dt="2025-12-22T18:06:26.145" v="709" actId="1076"/>
          <ac:picMkLst>
            <pc:docMk/>
            <pc:sldMk cId="1147856051" sldId="2147481840"/>
            <ac:picMk id="3" creationId="{EA489629-94D2-DDD7-AC82-D9CB83C76DFF}"/>
          </ac:picMkLst>
        </pc:picChg>
      </pc:sldChg>
      <pc:sldChg chg="addSp delSp modSp add replId modNotes">
        <pc:chgData name="Zara Cheema" userId="S::zaracheema@microsoft.com::b1d87c73-8c76-4d81-a7d1-4440a8f7a31a" providerId="AD" clId="Web-{26B7E169-DE64-3075-7079-A1596089E019}" dt="2025-12-22T18:11:49.729" v="948" actId="1076"/>
        <pc:sldMkLst>
          <pc:docMk/>
          <pc:sldMk cId="2110123296" sldId="2147481841"/>
        </pc:sldMkLst>
        <pc:spChg chg="mod">
          <ac:chgData name="Zara Cheema" userId="S::zaracheema@microsoft.com::b1d87c73-8c76-4d81-a7d1-4440a8f7a31a" providerId="AD" clId="Web-{26B7E169-DE64-3075-7079-A1596089E019}" dt="2025-12-22T18:10:00.993" v="767" actId="20577"/>
          <ac:spMkLst>
            <pc:docMk/>
            <pc:sldMk cId="2110123296" sldId="2147481841"/>
            <ac:spMk id="2" creationId="{4B224BD7-9D92-7083-7033-84BCFB543CBB}"/>
          </ac:spMkLst>
        </pc:spChg>
        <pc:spChg chg="mod">
          <ac:chgData name="Zara Cheema" userId="S::zaracheema@microsoft.com::b1d87c73-8c76-4d81-a7d1-4440a8f7a31a" providerId="AD" clId="Web-{26B7E169-DE64-3075-7079-A1596089E019}" dt="2025-12-22T18:11:49.729" v="948" actId="1076"/>
          <ac:spMkLst>
            <pc:docMk/>
            <pc:sldMk cId="2110123296" sldId="2147481841"/>
            <ac:spMk id="1031" creationId="{7A608EC0-8630-8F58-EE07-1A0D8E7D57BF}"/>
          </ac:spMkLst>
        </pc:spChg>
        <pc:picChg chg="add mod">
          <ac:chgData name="Zara Cheema" userId="S::zaracheema@microsoft.com::b1d87c73-8c76-4d81-a7d1-4440a8f7a31a" providerId="AD" clId="Web-{26B7E169-DE64-3075-7079-A1596089E019}" dt="2025-12-22T18:11:46.448" v="947" actId="1076"/>
          <ac:picMkLst>
            <pc:docMk/>
            <pc:sldMk cId="2110123296" sldId="2147481841"/>
            <ac:picMk id="4" creationId="{A0BAEC9D-8AE7-6F8A-4596-6388C0A47F60}"/>
          </ac:picMkLst>
        </pc:picChg>
      </pc:sldChg>
      <pc:sldChg chg="addSp delSp modSp add replId modNotes">
        <pc:chgData name="Zara Cheema" userId="S::zaracheema@microsoft.com::b1d87c73-8c76-4d81-a7d1-4440a8f7a31a" providerId="AD" clId="Web-{26B7E169-DE64-3075-7079-A1596089E019}" dt="2025-12-22T18:13:12.826" v="985"/>
        <pc:sldMkLst>
          <pc:docMk/>
          <pc:sldMk cId="1296639201" sldId="2147481842"/>
        </pc:sldMkLst>
        <pc:spChg chg="mod">
          <ac:chgData name="Zara Cheema" userId="S::zaracheema@microsoft.com::b1d87c73-8c76-4d81-a7d1-4440a8f7a31a" providerId="AD" clId="Web-{26B7E169-DE64-3075-7079-A1596089E019}" dt="2025-12-22T18:13:02.622" v="984" actId="20577"/>
          <ac:spMkLst>
            <pc:docMk/>
            <pc:sldMk cId="1296639201" sldId="2147481842"/>
            <ac:spMk id="2" creationId="{8C4B4786-45CA-D2DB-B3C7-F96A0CBC8043}"/>
          </ac:spMkLst>
        </pc:spChg>
        <pc:spChg chg="mod">
          <ac:chgData name="Zara Cheema" userId="S::zaracheema@microsoft.com::b1d87c73-8c76-4d81-a7d1-4440a8f7a31a" providerId="AD" clId="Web-{26B7E169-DE64-3075-7079-A1596089E019}" dt="2025-12-22T18:12:58.919" v="969" actId="20577"/>
          <ac:spMkLst>
            <pc:docMk/>
            <pc:sldMk cId="1296639201" sldId="2147481842"/>
            <ac:spMk id="1031" creationId="{59BEE7C6-7A40-896D-67CC-D20444A72479}"/>
          </ac:spMkLst>
        </pc:spChg>
        <pc:picChg chg="add mod">
          <ac:chgData name="Zara Cheema" userId="S::zaracheema@microsoft.com::b1d87c73-8c76-4d81-a7d1-4440a8f7a31a" providerId="AD" clId="Web-{26B7E169-DE64-3075-7079-A1596089E019}" dt="2025-12-22T18:12:59.075" v="972" actId="1076"/>
          <ac:picMkLst>
            <pc:docMk/>
            <pc:sldMk cId="1296639201" sldId="2147481842"/>
            <ac:picMk id="3" creationId="{FC4B5878-36B7-3AB1-F92F-5579FD8F624C}"/>
          </ac:picMkLst>
        </pc:picChg>
      </pc:sldChg>
      <pc:sldMasterChg chg="addSldLayout">
        <pc:chgData name="Zara Cheema" userId="S::zaracheema@microsoft.com::b1d87c73-8c76-4d81-a7d1-4440a8f7a31a" providerId="AD" clId="Web-{26B7E169-DE64-3075-7079-A1596089E019}" dt="2025-12-22T17:27:57.487" v="625"/>
        <pc:sldMasterMkLst>
          <pc:docMk/>
          <pc:sldMasterMk cId="912200653" sldId="2147483662"/>
        </pc:sldMasterMkLst>
        <pc:sldLayoutChg chg="add replId">
          <pc:chgData name="Zara Cheema" userId="S::zaracheema@microsoft.com::b1d87c73-8c76-4d81-a7d1-4440a8f7a31a" providerId="AD" clId="Web-{26B7E169-DE64-3075-7079-A1596089E019}" dt="2025-12-22T17:27:57.487" v="625"/>
          <pc:sldLayoutMkLst>
            <pc:docMk/>
            <pc:sldMasterMk cId="912200653" sldId="2147483662"/>
            <pc:sldLayoutMk cId="1317158113" sldId="2147483736"/>
          </pc:sldLayoutMkLst>
        </pc:sldLayoutChg>
      </pc:sldMasterChg>
    </pc:docChg>
  </pc:docChgLst>
  <pc:docChgLst>
    <pc:chgData name="Zara Cheema" userId="S::zaracheema@microsoft.com::b1d87c73-8c76-4d81-a7d1-4440a8f7a31a" providerId="AD" clId="Web-{A34ED655-28AC-9E06-DC41-5F7EF633BE0C}"/>
    <pc:docChg chg="addSld modSld modSection">
      <pc:chgData name="Zara Cheema" userId="S::zaracheema@microsoft.com::b1d87c73-8c76-4d81-a7d1-4440a8f7a31a" providerId="AD" clId="Web-{A34ED655-28AC-9E06-DC41-5F7EF633BE0C}" dt="2025-12-22T15:43:30.174" v="103" actId="20577"/>
      <pc:docMkLst>
        <pc:docMk/>
      </pc:docMkLst>
      <pc:sldChg chg="modSp">
        <pc:chgData name="Zara Cheema" userId="S::zaracheema@microsoft.com::b1d87c73-8c76-4d81-a7d1-4440a8f7a31a" providerId="AD" clId="Web-{A34ED655-28AC-9E06-DC41-5F7EF633BE0C}" dt="2025-12-22T15:43:30.174" v="103" actId="20577"/>
        <pc:sldMkLst>
          <pc:docMk/>
          <pc:sldMk cId="2491440727" sldId="329"/>
        </pc:sldMkLst>
        <pc:spChg chg="mod">
          <ac:chgData name="Zara Cheema" userId="S::zaracheema@microsoft.com::b1d87c73-8c76-4d81-a7d1-4440a8f7a31a" providerId="AD" clId="Web-{A34ED655-28AC-9E06-DC41-5F7EF633BE0C}" dt="2025-12-22T15:43:30.174" v="103" actId="20577"/>
          <ac:spMkLst>
            <pc:docMk/>
            <pc:sldMk cId="2491440727" sldId="329"/>
            <ac:spMk id="3" creationId="{F5E569F0-E686-6504-4074-A2ABC36D3758}"/>
          </ac:spMkLst>
        </pc:spChg>
      </pc:sldChg>
      <pc:sldChg chg="modSp">
        <pc:chgData name="Zara Cheema" userId="S::zaracheema@microsoft.com::b1d87c73-8c76-4d81-a7d1-4440a8f7a31a" providerId="AD" clId="Web-{A34ED655-28AC-9E06-DC41-5F7EF633BE0C}" dt="2025-12-22T15:40:04.105" v="38" actId="20577"/>
        <pc:sldMkLst>
          <pc:docMk/>
          <pc:sldMk cId="1688519206" sldId="2147480788"/>
        </pc:sldMkLst>
        <pc:spChg chg="mod">
          <ac:chgData name="Zara Cheema" userId="S::zaracheema@microsoft.com::b1d87c73-8c76-4d81-a7d1-4440a8f7a31a" providerId="AD" clId="Web-{A34ED655-28AC-9E06-DC41-5F7EF633BE0C}" dt="2025-12-22T15:40:04.105" v="38" actId="20577"/>
          <ac:spMkLst>
            <pc:docMk/>
            <pc:sldMk cId="1688519206" sldId="2147480788"/>
            <ac:spMk id="1031" creationId="{8234DB6C-01A4-BC65-E14A-0B81F079E103}"/>
          </ac:spMkLst>
        </pc:spChg>
      </pc:sldChg>
      <pc:sldChg chg="addSp delSp modSp add replId">
        <pc:chgData name="Zara Cheema" userId="S::zaracheema@microsoft.com::b1d87c73-8c76-4d81-a7d1-4440a8f7a31a" providerId="AD" clId="Web-{A34ED655-28AC-9E06-DC41-5F7EF633BE0C}" dt="2025-12-22T15:41:49.701" v="97" actId="14100"/>
        <pc:sldMkLst>
          <pc:docMk/>
          <pc:sldMk cId="1555840149" sldId="2147480794"/>
        </pc:sldMkLst>
        <pc:spChg chg="mod">
          <ac:chgData name="Zara Cheema" userId="S::zaracheema@microsoft.com::b1d87c73-8c76-4d81-a7d1-4440a8f7a31a" providerId="AD" clId="Web-{A34ED655-28AC-9E06-DC41-5F7EF633BE0C}" dt="2025-12-22T15:41:49.701" v="97" actId="14100"/>
          <ac:spMkLst>
            <pc:docMk/>
            <pc:sldMk cId="1555840149" sldId="2147480794"/>
            <ac:spMk id="1031" creationId="{9A5FD370-F669-CF59-9852-2ED0466E336C}"/>
          </ac:spMkLst>
        </pc:spChg>
        <pc:picChg chg="add mod">
          <ac:chgData name="Zara Cheema" userId="S::zaracheema@microsoft.com::b1d87c73-8c76-4d81-a7d1-4440a8f7a31a" providerId="AD" clId="Web-{A34ED655-28AC-9E06-DC41-5F7EF633BE0C}" dt="2025-12-22T15:41:46.060" v="96" actId="1076"/>
          <ac:picMkLst>
            <pc:docMk/>
            <pc:sldMk cId="1555840149" sldId="2147480794"/>
            <ac:picMk id="3" creationId="{3F1C26F6-9382-412C-A5FC-DC54FFF4A985}"/>
          </ac:picMkLst>
        </pc:picChg>
      </pc:sldChg>
    </pc:docChg>
  </pc:docChgLst>
  <pc:docChgLst>
    <pc:chgData name="Ore Akin-Odidi" userId="50f8d7c5-ae28-4acc-ba66-0055712689b9" providerId="ADAL" clId="{D5D9D6CC-225B-44F9-8A8C-4DAB2207FB66}"/>
    <pc:docChg chg="undo custSel addSld delSld modSld sldOrd addSection modSection">
      <pc:chgData name="Ore Akin-Odidi" userId="50f8d7c5-ae28-4acc-ba66-0055712689b9" providerId="ADAL" clId="{D5D9D6CC-225B-44F9-8A8C-4DAB2207FB66}" dt="2026-01-14T12:10:36.798" v="797" actId="12"/>
      <pc:docMkLst>
        <pc:docMk/>
      </pc:docMkLst>
      <pc:sldChg chg="delSp add mod modNotesTx">
        <pc:chgData name="Ore Akin-Odidi" userId="50f8d7c5-ae28-4acc-ba66-0055712689b9" providerId="ADAL" clId="{D5D9D6CC-225B-44F9-8A8C-4DAB2207FB66}" dt="2026-01-14T11:43:32.959" v="430" actId="478"/>
        <pc:sldMkLst>
          <pc:docMk/>
          <pc:sldMk cId="2966889680" sldId="263"/>
        </pc:sldMkLst>
        <pc:spChg chg="del">
          <ac:chgData name="Ore Akin-Odidi" userId="50f8d7c5-ae28-4acc-ba66-0055712689b9" providerId="ADAL" clId="{D5D9D6CC-225B-44F9-8A8C-4DAB2207FB66}" dt="2026-01-14T11:43:32.959" v="430" actId="478"/>
          <ac:spMkLst>
            <pc:docMk/>
            <pc:sldMk cId="2966889680" sldId="263"/>
            <ac:spMk id="6" creationId="{302B0146-E488-5948-4822-BF33CD26736F}"/>
          </ac:spMkLst>
        </pc:spChg>
      </pc:sldChg>
      <pc:sldChg chg="addSp delSp modSp add del mod modClrScheme chgLayout modNotesTx">
        <pc:chgData name="Ore Akin-Odidi" userId="50f8d7c5-ae28-4acc-ba66-0055712689b9" providerId="ADAL" clId="{D5D9D6CC-225B-44F9-8A8C-4DAB2207FB66}" dt="2026-01-14T11:44:00.836" v="476" actId="20577"/>
        <pc:sldMkLst>
          <pc:docMk/>
          <pc:sldMk cId="1688519206" sldId="2147480788"/>
        </pc:sldMkLst>
      </pc:sldChg>
      <pc:sldChg chg="add">
        <pc:chgData name="Ore Akin-Odidi" userId="50f8d7c5-ae28-4acc-ba66-0055712689b9" providerId="ADAL" clId="{D5D9D6CC-225B-44F9-8A8C-4DAB2207FB66}" dt="2025-12-15T16:31:43.174" v="90"/>
        <pc:sldMkLst>
          <pc:docMk/>
          <pc:sldMk cId="1076368552" sldId="2147480793"/>
        </pc:sldMkLst>
      </pc:sldChg>
      <pc:sldChg chg="addSp modSp mod modNotesTx">
        <pc:chgData name="Ore Akin-Odidi" userId="50f8d7c5-ae28-4acc-ba66-0055712689b9" providerId="ADAL" clId="{D5D9D6CC-225B-44F9-8A8C-4DAB2207FB66}" dt="2026-01-14T11:50:52.920" v="607" actId="20577"/>
        <pc:sldMkLst>
          <pc:docMk/>
          <pc:sldMk cId="4226285325" sldId="2147480797"/>
        </pc:sldMkLst>
        <pc:spChg chg="mod">
          <ac:chgData name="Ore Akin-Odidi" userId="50f8d7c5-ae28-4acc-ba66-0055712689b9" providerId="ADAL" clId="{D5D9D6CC-225B-44F9-8A8C-4DAB2207FB66}" dt="2026-01-14T11:49:12.947" v="478" actId="20577"/>
          <ac:spMkLst>
            <pc:docMk/>
            <pc:sldMk cId="4226285325" sldId="2147480797"/>
            <ac:spMk id="2" creationId="{8489D3A3-BAEA-39EB-8B1E-A62335C42EBB}"/>
          </ac:spMkLst>
        </pc:spChg>
        <pc:spChg chg="mod">
          <ac:chgData name="Ore Akin-Odidi" userId="50f8d7c5-ae28-4acc-ba66-0055712689b9" providerId="ADAL" clId="{D5D9D6CC-225B-44F9-8A8C-4DAB2207FB66}" dt="2026-01-14T11:50:52.920" v="607" actId="20577"/>
          <ac:spMkLst>
            <pc:docMk/>
            <pc:sldMk cId="4226285325" sldId="2147480797"/>
            <ac:spMk id="1031" creationId="{FD89FD9B-42CC-89FD-7EEB-B4010924E965}"/>
          </ac:spMkLst>
        </pc:spChg>
        <pc:picChg chg="add mod">
          <ac:chgData name="Ore Akin-Odidi" userId="50f8d7c5-ae28-4acc-ba66-0055712689b9" providerId="ADAL" clId="{D5D9D6CC-225B-44F9-8A8C-4DAB2207FB66}" dt="2026-01-14T11:49:28.352" v="481" actId="1076"/>
          <ac:picMkLst>
            <pc:docMk/>
            <pc:sldMk cId="4226285325" sldId="2147480797"/>
            <ac:picMk id="3" creationId="{0DA2C032-97D7-435E-869C-E5B686805C7E}"/>
          </ac:picMkLst>
        </pc:picChg>
      </pc:sldChg>
      <pc:sldChg chg="modNotesTx">
        <pc:chgData name="Ore Akin-Odidi" userId="50f8d7c5-ae28-4acc-ba66-0055712689b9" providerId="ADAL" clId="{D5D9D6CC-225B-44F9-8A8C-4DAB2207FB66}" dt="2026-01-14T12:05:16.879" v="725" actId="20577"/>
        <pc:sldMkLst>
          <pc:docMk/>
          <pc:sldMk cId="792500166" sldId="2147480804"/>
        </pc:sldMkLst>
      </pc:sldChg>
      <pc:sldChg chg="modNotesTx">
        <pc:chgData name="Ore Akin-Odidi" userId="50f8d7c5-ae28-4acc-ba66-0055712689b9" providerId="ADAL" clId="{D5D9D6CC-225B-44F9-8A8C-4DAB2207FB66}" dt="2026-01-14T12:09:38.265" v="793" actId="20577"/>
        <pc:sldMkLst>
          <pc:docMk/>
          <pc:sldMk cId="2401961321" sldId="2147480805"/>
        </pc:sldMkLst>
      </pc:sldChg>
      <pc:sldChg chg="modNotesTx">
        <pc:chgData name="Ore Akin-Odidi" userId="50f8d7c5-ae28-4acc-ba66-0055712689b9" providerId="ADAL" clId="{D5D9D6CC-225B-44F9-8A8C-4DAB2207FB66}" dt="2026-01-14T12:08:30.758" v="775" actId="20577"/>
        <pc:sldMkLst>
          <pc:docMk/>
          <pc:sldMk cId="3010501815" sldId="2147481832"/>
        </pc:sldMkLst>
      </pc:sldChg>
      <pc:sldChg chg="modNotesTx">
        <pc:chgData name="Ore Akin-Odidi" userId="50f8d7c5-ae28-4acc-ba66-0055712689b9" providerId="ADAL" clId="{D5D9D6CC-225B-44F9-8A8C-4DAB2207FB66}" dt="2026-01-14T12:10:36.798" v="797" actId="12"/>
        <pc:sldMkLst>
          <pc:docMk/>
          <pc:sldMk cId="3960339037" sldId="2147481837"/>
        </pc:sldMkLst>
      </pc:sldChg>
      <pc:sldChg chg="add">
        <pc:chgData name="Ore Akin-Odidi" userId="50f8d7c5-ae28-4acc-ba66-0055712689b9" providerId="ADAL" clId="{D5D9D6CC-225B-44F9-8A8C-4DAB2207FB66}" dt="2026-01-14T11:49:08.382" v="477"/>
        <pc:sldMkLst>
          <pc:docMk/>
          <pc:sldMk cId="3141039720" sldId="21474818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BB07A-5447-487B-A2A0-47A1499E77B5}" type="datetimeFigureOut">
              <a:rPr lang="en-GB" smtClean="0"/>
              <a:t>13/01/2026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D40C8A-1BCD-40C0-892F-85BADE425076}" type="slidenum">
              <a:rPr lang="en-GB" smtClean="0"/>
              <a:t>‹#›</a:t>
            </a:fld>
            <a:endParaRPr lang="en-GB"/>
          </a:p>
        </p:txBody>
      </p:sp>
    </p:spTree>
    <p:extLst>
      <p:ext uri="{BB962C8B-B14F-4D97-AF65-F5344CB8AC3E}">
        <p14:creationId xmlns:p14="http://schemas.microsoft.com/office/powerpoint/2010/main" val="3287092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earn.microsoft.com/en-us/azure/application-gateway/for-containers/overview"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learn.microsoft.com/en-us/azure/application-gateway/for-containers/how-to-multiple-site-hosting-gateway-api?tabs=alb-managed"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earn.microsoft.com/en-us/azure/application-gateway/for-containers/how-to-path-header-query-string-routing-gateway-api?tabs=alb-managed"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learn.microsoft.com/en-us/azure/application-gateway/for-containers/session-affinity?tabs=session-affinity-gateway-api"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learn.microsoft.com/en-us/azure/application-gateway/for-containers/how-to-backend-mtls-gateway-api?tabs=alb-managed"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1/13/2026 6:59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23988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566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load balancing portfolio</a:t>
            </a:r>
          </a:p>
          <a:p>
            <a:r>
              <a:rPr lang="en-US" dirty="0"/>
              <a:t>Azure Load Balancing: For layer 4 load balancing -&gt; TCP or UDP traffic</a:t>
            </a:r>
          </a:p>
          <a:p>
            <a:r>
              <a:rPr lang="en-US" dirty="0"/>
              <a:t>As you move up the OSI model you move to layer 7</a:t>
            </a:r>
          </a:p>
          <a:p>
            <a:r>
              <a:rPr lang="en-US" dirty="0"/>
              <a:t>Application Load balancing provides more features like session affinity or TLS offloading. More feature functionality</a:t>
            </a:r>
          </a:p>
          <a:p>
            <a:r>
              <a:rPr lang="en-US" dirty="0"/>
              <a:t>App gateway : regional </a:t>
            </a:r>
          </a:p>
          <a:p>
            <a:r>
              <a:rPr lang="en-US" dirty="0"/>
              <a:t>Azure front door : global work loads</a:t>
            </a:r>
          </a:p>
        </p:txBody>
      </p:sp>
      <p:sp>
        <p:nvSpPr>
          <p:cNvPr id="4" name="Slide Number Placeholder 3"/>
          <p:cNvSpPr>
            <a:spLocks noGrp="1"/>
          </p:cNvSpPr>
          <p:nvPr>
            <p:ph type="sldNum" sz="quarter" idx="5"/>
          </p:nvPr>
        </p:nvSpPr>
        <p:spPr/>
        <p:txBody>
          <a:bodyPr/>
          <a:lstStyle/>
          <a:p>
            <a:fld id="{3FC55753-FCE3-48F2-9EF3-20F770072371}" type="slidenum">
              <a:rPr lang="en-US" smtClean="0"/>
              <a:t>4</a:t>
            </a:fld>
            <a:endParaRPr lang="en-US"/>
          </a:p>
        </p:txBody>
      </p:sp>
    </p:spTree>
    <p:extLst>
      <p:ext uri="{BB962C8B-B14F-4D97-AF65-F5344CB8AC3E}">
        <p14:creationId xmlns:p14="http://schemas.microsoft.com/office/powerpoint/2010/main" val="416182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Application Gateway is a web traffic load balancer that helps you manage traffic to your web applications. </a:t>
            </a:r>
          </a:p>
          <a:p>
            <a:r>
              <a:rPr lang="en-GB" dirty="0"/>
              <a:t>Unlike traditional load balancers that route traffic based on IP address and port, Application Gateway makes intelligent routing decisions based on HTTP request attributes like URL paths and host headers.</a:t>
            </a:r>
            <a:endParaRPr lang="en-US" dirty="0">
              <a:solidFill>
                <a:srgbClr val="444444"/>
              </a:solidFill>
            </a:endParaRPr>
          </a:p>
          <a:p>
            <a:r>
              <a:rPr lang="en-GB" dirty="0"/>
              <a:t>For example, you can route requests with /images in the URL to servers optimized for images, while routing /video requests to servers optimized for video content. This application layer routing gives you more control over how traffic flows to your applications.</a:t>
            </a:r>
          </a:p>
          <a:p>
            <a:r>
              <a:rPr lang="en-GB" dirty="0"/>
              <a:t>Application load balancer for AKS workloads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6:59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84715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AE533-76E9-28E6-E291-08CB49CB8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CA0D4-4DB3-E0F9-224A-1F811369C5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D1E38-422F-3A3D-DF85-C4DAEA3F13E7}"/>
              </a:ext>
            </a:extLst>
          </p:cNvPr>
          <p:cNvSpPr>
            <a:spLocks noGrp="1"/>
          </p:cNvSpPr>
          <p:nvPr>
            <p:ph type="body" idx="1"/>
          </p:nvPr>
        </p:nvSpPr>
        <p:spPr/>
        <p:txBody>
          <a:bodyPr/>
          <a:lstStyle/>
          <a:p>
            <a:r>
              <a:rPr lang="en-GB" dirty="0"/>
              <a:t>Application Gateway operates at the application layer (OSI layer 7) and provides features like SSL/TLS termination, autoscaling, zone redundancy, and integration with Web Application Firewall for security.</a:t>
            </a:r>
          </a:p>
        </p:txBody>
      </p:sp>
      <p:sp>
        <p:nvSpPr>
          <p:cNvPr id="4" name="Header Placeholder 3">
            <a:extLst>
              <a:ext uri="{FF2B5EF4-FFF2-40B4-BE49-F238E27FC236}">
                <a16:creationId xmlns:a16="http://schemas.microsoft.com/office/drawing/2014/main" id="{F3A840AC-EECB-6C67-9955-CF7DAA780E5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6520C22-3334-3183-4B48-AC7589B35E2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FE90954F-C045-14C6-6233-B7383AC8B89C}"/>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7:00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42B7AD8E-FAA8-E12C-9BD2-59DEDFE77F2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26348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677FE-1B70-B72F-5C4E-B501FA8D8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FB064-EF21-9B4B-0CC2-C29134095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E517E-73C5-A3D9-2D2B-90DB5C423E35}"/>
              </a:ext>
            </a:extLst>
          </p:cNvPr>
          <p:cNvSpPr>
            <a:spLocks noGrp="1"/>
          </p:cNvSpPr>
          <p:nvPr>
            <p:ph type="body" idx="1"/>
          </p:nvPr>
        </p:nvSpPr>
        <p:spPr/>
        <p:txBody>
          <a:bodyPr/>
          <a:lstStyle/>
          <a:p>
            <a:pPr marL="228600" indent="-228600">
              <a:buAutoNum type="arabicPeriod"/>
            </a:pPr>
            <a:r>
              <a:rPr lang="en-GB"/>
              <a:t>Before a client sends a request to an application gateway, it resolves the domain name of the application gateway by using a Domain Name System (DNS) server. Azure controls the DNS entry because all application gateways are in the azure.com domain.</a:t>
            </a:r>
            <a:endParaRPr lang="en-US"/>
          </a:p>
          <a:p>
            <a:pPr marL="228600" indent="-228600">
              <a:buAutoNum type="arabicPeriod"/>
            </a:pPr>
            <a:r>
              <a:rPr lang="en-GB"/>
              <a:t>The Azure DNS returns the IP address to the client, which is the frontend IP address of the application gateway.</a:t>
            </a:r>
          </a:p>
          <a:p>
            <a:pPr marL="228600" indent="-228600">
              <a:buAutoNum type="arabicPeriod"/>
            </a:pPr>
            <a:r>
              <a:rPr lang="en-GB" dirty="0"/>
              <a:t>The application gateway accepts incoming traffic on one or more listeners. A listener is a logical entity that checks for connection requests. It's configured with a frontend IP address, protocol, and port number for connections from clients to the application gateway.</a:t>
            </a:r>
          </a:p>
          <a:p>
            <a:pPr marL="228600" indent="-228600">
              <a:buAutoNum type="arabicPeriod"/>
            </a:pPr>
            <a:r>
              <a:rPr lang="en-GB" dirty="0"/>
              <a:t>If a web application firewall (WAF) is in use, the application gateway checks the request headers and the body, if present, against WAF rules. This action determines if the request is valid request or a security threat. If the request is valid, it's routed to the backend. If the request isn't valid and WAF is in Prevention mode, it's blocked as a security threat. If it's in Detection mode, the request is evaluated and logged, but still forwarded to the backend server.</a:t>
            </a:r>
          </a:p>
          <a:p>
            <a:endParaRPr lang="en-GB" dirty="0"/>
          </a:p>
          <a:p>
            <a:r>
              <a:rPr lang="en-GB"/>
              <a:t>Azure Application Gateway can be used as an internal application load balancer or as an internet-facing application load balancer. An internet-facing application gateway uses public IP addresses. The DNS name of an internet-facing application gateway is publicly resolvable to its public IP address. As a result, internet-facing application gateways can route client requests from the internet.</a:t>
            </a:r>
          </a:p>
          <a:p>
            <a:endParaRPr lang="en-GB" dirty="0"/>
          </a:p>
          <a:p>
            <a:r>
              <a:rPr lang="en-GB" dirty="0"/>
              <a:t>Internal application gateways use only private IP addresses. If you're using a Custom or Private DNS zone, the domain name should be internally resolvable to the private IP address of the Application Gateway. Therefore, internal load-balancers can only route requests from clients with access to a virtual network for the application gateway.</a:t>
            </a:r>
            <a:endParaRPr lang="en-GB"/>
          </a:p>
          <a:p>
            <a:pPr marL="228600" indent="-228600">
              <a:buAutoNum type="arabicPeriod"/>
            </a:pPr>
            <a:endParaRPr lang="en-GB" dirty="0"/>
          </a:p>
        </p:txBody>
      </p:sp>
      <p:sp>
        <p:nvSpPr>
          <p:cNvPr id="4" name="Header Placeholder 3">
            <a:extLst>
              <a:ext uri="{FF2B5EF4-FFF2-40B4-BE49-F238E27FC236}">
                <a16:creationId xmlns:a16="http://schemas.microsoft.com/office/drawing/2014/main" id="{E0903876-37BE-8DCB-7FD9-9C2A629961B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4BCD0D9-1529-A65A-AAEC-618C7C332AD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6F84BA1-8C14-FF2A-6C77-DC316BC6539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7:00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10581E7-DE2C-4FEA-A6C6-3574893721E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4291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AABB-2981-4398-258B-28EB56694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BC99E-58D7-A92B-4D40-9851BD5D5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6D3CD1-DC6D-0788-93A1-3DDFC069197D}"/>
              </a:ext>
            </a:extLst>
          </p:cNvPr>
          <p:cNvSpPr>
            <a:spLocks noGrp="1"/>
          </p:cNvSpPr>
          <p:nvPr>
            <p:ph type="body" idx="1"/>
          </p:nvPr>
        </p:nvSpPr>
        <p:spPr/>
        <p:txBody>
          <a:bodyPr/>
          <a:lstStyle/>
          <a:p>
            <a:r>
              <a:rPr lang="en-GB" dirty="0"/>
              <a:t>Azure Application Gateway is a web traffic load balancer that enables you to manage traffic to your web applications. As a critical component in your network infrastructure, Application Gateway handles incoming requests and routes them to backend services, making it essential to implement proper security measures to protect against threats and ensure compliance with organizational security requirements.</a:t>
            </a:r>
            <a:endParaRPr lang="en-US" dirty="0"/>
          </a:p>
        </p:txBody>
      </p:sp>
      <p:sp>
        <p:nvSpPr>
          <p:cNvPr id="4" name="Header Placeholder 3">
            <a:extLst>
              <a:ext uri="{FF2B5EF4-FFF2-40B4-BE49-F238E27FC236}">
                <a16:creationId xmlns:a16="http://schemas.microsoft.com/office/drawing/2014/main" id="{AD6B8AA5-8927-D8E0-136E-81C1F33BE58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4A80F9F-79CD-A9F4-75C2-5290BE6A1F7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F13BE0E0-556C-56CF-CA29-8C3861E191A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E47F45E-6FD9-6601-DF93-267DE9FA4EA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32982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09BE0-B020-0612-ECB3-30F736ABE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BAE48-5438-CF58-655B-21DC373B8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EC76D-B83A-A9F9-622A-A7B85AD2430A}"/>
              </a:ext>
            </a:extLst>
          </p:cNvPr>
          <p:cNvSpPr>
            <a:spLocks noGrp="1"/>
          </p:cNvSpPr>
          <p:nvPr>
            <p:ph type="body" idx="1"/>
          </p:nvPr>
        </p:nvSpPr>
        <p:spPr/>
        <p:txBody>
          <a:bodyPr/>
          <a:lstStyle/>
          <a:p>
            <a:r>
              <a:rPr lang="en-GB"/>
              <a:t>Network Security Overview</a:t>
            </a:r>
            <a:endParaRPr lang="en-US"/>
          </a:p>
          <a:p>
            <a:r>
              <a:rPr lang="en-GB"/>
              <a:t>Network security for Application Gateway is all about controlling traffic flow, segmenting your network, and ensuring secure communication between clients and backend systems. This reduces the attack surface and improves resilience. </a:t>
            </a:r>
            <a:br>
              <a:rPr lang="en-US" dirty="0">
                <a:cs typeface="+mn-lt"/>
              </a:rPr>
            </a:br>
            <a:endParaRPr lang="en-US"/>
          </a:p>
          <a:p>
            <a:r>
              <a:rPr lang="en-GB"/>
              <a:t>1. Deploy into a Dedicated Subnet</a:t>
            </a:r>
          </a:p>
          <a:p>
            <a:r>
              <a:rPr lang="en-GB"/>
              <a:t>Application Gateway should always sit in its own dedicated subnet.</a:t>
            </a:r>
          </a:p>
          <a:p>
            <a:r>
              <a:rPr lang="en-GB"/>
              <a:t>This provides network isolation, supports granular security policies, and prevents cross‑service blast radius.</a:t>
            </a:r>
          </a:p>
          <a:p>
            <a:r>
              <a:rPr lang="en-GB"/>
              <a:t>It also aligns with Azure’s required infrastructure model for App Gateway. </a:t>
            </a:r>
          </a:p>
          <a:p>
            <a:br>
              <a:rPr lang="en-US" dirty="0"/>
            </a:br>
            <a:endParaRPr lang="en-US" dirty="0"/>
          </a:p>
          <a:p>
            <a:r>
              <a:rPr lang="en-GB"/>
              <a:t>2. Apply Network Security Groups (NSGs)</a:t>
            </a:r>
          </a:p>
          <a:p>
            <a:r>
              <a:rPr lang="en-GB"/>
              <a:t>NSGs allow you to restrict inbound/outbound traffic by port, protocol, and IP ranges.</a:t>
            </a:r>
          </a:p>
          <a:p>
            <a:r>
              <a:rPr lang="en-GB" dirty="0"/>
              <a:t>Only open the ports required for gateway operation; block management ports from untrusted networks.</a:t>
            </a:r>
          </a:p>
          <a:p>
            <a:r>
              <a:rPr lang="en-GB"/>
              <a:t>This adds a strong first layer of perimeter control for the subnet.</a:t>
            </a:r>
          </a:p>
          <a:p>
            <a:br>
              <a:rPr lang="en-US" dirty="0"/>
            </a:br>
            <a:endParaRPr lang="en-US" dirty="0"/>
          </a:p>
          <a:p>
            <a:r>
              <a:rPr lang="en-GB"/>
              <a:t>3. Use Private Endpoints (Private Link)</a:t>
            </a:r>
          </a:p>
          <a:p>
            <a:r>
              <a:rPr lang="en-GB" dirty="0"/>
              <a:t>Private endpoints remove public internet exposure entirely and funnel traffic through your </a:t>
            </a:r>
            <a:r>
              <a:rPr lang="en-GB" dirty="0" err="1"/>
              <a:t>VNet</a:t>
            </a:r>
            <a:r>
              <a:rPr lang="en-GB" dirty="0"/>
              <a:t>.</a:t>
            </a:r>
          </a:p>
          <a:p>
            <a:r>
              <a:rPr lang="en-GB"/>
              <a:t>This significantly reduces the attack surface and ensures fully private east‑west access to backend pools.</a:t>
            </a:r>
          </a:p>
          <a:p>
            <a:br>
              <a:rPr lang="en-US" dirty="0"/>
            </a:br>
            <a:endParaRPr lang="en-US" dirty="0"/>
          </a:p>
          <a:p>
            <a:r>
              <a:rPr lang="en-GB"/>
              <a:t>4. Enable Azure DDoS Network Protection</a:t>
            </a:r>
          </a:p>
          <a:p>
            <a:r>
              <a:rPr lang="en-GB" dirty="0"/>
              <a:t>Adding DDoS Network Protection to the hosting </a:t>
            </a:r>
            <a:r>
              <a:rPr lang="en-GB" dirty="0" err="1"/>
              <a:t>VNet</a:t>
            </a:r>
            <a:r>
              <a:rPr lang="en-GB" dirty="0"/>
              <a:t> provides: </a:t>
            </a:r>
          </a:p>
          <a:p>
            <a:r>
              <a:rPr lang="en-GB" dirty="0"/>
              <a:t>Adaptive tuning</a:t>
            </a:r>
          </a:p>
          <a:p>
            <a:r>
              <a:rPr lang="en-GB"/>
              <a:t>Always‑on traffic monitoring</a:t>
            </a:r>
          </a:p>
          <a:p>
            <a:r>
              <a:rPr lang="en-GB"/>
              <a:t>Attack notification</a:t>
            </a:r>
          </a:p>
          <a:p>
            <a:r>
              <a:rPr lang="en-GB"/>
              <a:t>This protects the Application Gateway against volumetric and protocol‑based DDoS attacks.</a:t>
            </a:r>
          </a:p>
          <a:p>
            <a:br>
              <a:rPr lang="en-US" dirty="0"/>
            </a:br>
            <a:endParaRPr lang="en-US" dirty="0"/>
          </a:p>
          <a:p>
            <a:r>
              <a:rPr lang="en-GB"/>
              <a:t>5. Follow Azure’s Infrastructure Best Practices</a:t>
            </a:r>
          </a:p>
          <a:p>
            <a:r>
              <a:rPr lang="en-GB"/>
              <a:t>Ensure correct subnet sizing, route tables, and dependency planning.</a:t>
            </a:r>
          </a:p>
          <a:p>
            <a:r>
              <a:rPr lang="en-GB"/>
              <a:t>Azure Virtual Network Manager can help apply network policies at scale.</a:t>
            </a:r>
          </a:p>
          <a:p>
            <a:r>
              <a:rPr lang="en-GB"/>
              <a:t>Proper configuration ensures reliability and security as traffic grows.</a:t>
            </a:r>
          </a:p>
          <a:p>
            <a:endParaRPr lang="en-GB" dirty="0"/>
          </a:p>
        </p:txBody>
      </p:sp>
      <p:sp>
        <p:nvSpPr>
          <p:cNvPr id="4" name="Header Placeholder 3">
            <a:extLst>
              <a:ext uri="{FF2B5EF4-FFF2-40B4-BE49-F238E27FC236}">
                <a16:creationId xmlns:a16="http://schemas.microsoft.com/office/drawing/2014/main" id="{1512246E-FFDB-A5FA-37BC-011CD4C2870E}"/>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8180338-332D-51B5-C05B-B9AD484BA937}"/>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3D09265A-13F6-987A-8D43-EF848072318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C75DA34-8247-433C-2D30-D4C1D1EEEC0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03775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BDF4-A8F7-8BC8-5F5E-0DFB196CB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8691C-B6F0-2E23-2EE5-61898F84E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BBA04-AA4A-57D4-4649-FD17DCB9D427}"/>
              </a:ext>
            </a:extLst>
          </p:cNvPr>
          <p:cNvSpPr>
            <a:spLocks noGrp="1"/>
          </p:cNvSpPr>
          <p:nvPr>
            <p:ph type="body" idx="1"/>
          </p:nvPr>
        </p:nvSpPr>
        <p:spPr/>
        <p:txBody>
          <a:bodyPr/>
          <a:lstStyle/>
          <a:p>
            <a:r>
              <a:rPr lang="en-GB"/>
              <a:t>Web Application Protection Overview</a:t>
            </a:r>
            <a:endParaRPr lang="en-US"/>
          </a:p>
          <a:p>
            <a:r>
              <a:rPr lang="en-GB"/>
              <a:t>Azure Web Application Firewall (WAF) provides critical Layer‑7 protection for any app fronted by Application Gateway. It helps block common web vulnerabilities and automated attack patterns before they ever reach your backend.</a:t>
            </a:r>
            <a:br>
              <a:rPr lang="en-US" dirty="0">
                <a:cs typeface="+mn-lt"/>
              </a:rPr>
            </a:br>
            <a:endParaRPr lang="en-US"/>
          </a:p>
          <a:p>
            <a:r>
              <a:rPr lang="en-GB"/>
              <a:t>1. Deploy Web Application Firewall</a:t>
            </a:r>
          </a:p>
          <a:p>
            <a:r>
              <a:rPr lang="en-GB"/>
              <a:t>Enabling WAF adds baked‑in protection against OWASP Top 10 threats, including SQL injection, cross‑site scripting, and protocol violations.</a:t>
            </a:r>
          </a:p>
          <a:p>
            <a:r>
              <a:rPr lang="en-GB" dirty="0"/>
              <a:t>Begin in Detection mode to observe baseline traffic and identify false positives.</a:t>
            </a:r>
          </a:p>
          <a:p>
            <a:r>
              <a:rPr lang="en-GB"/>
              <a:t>Move to Prevention mode once tuning is complete to actively block malicious traffic.</a:t>
            </a:r>
          </a:p>
          <a:p>
            <a:r>
              <a:rPr lang="en-GB"/>
              <a:t>WAF integrates with Azure Monitor and Defender for Cloud for visibility and security posture management.</a:t>
            </a:r>
          </a:p>
          <a:p>
            <a:br>
              <a:rPr lang="en-US" dirty="0"/>
            </a:br>
            <a:endParaRPr lang="en-US" dirty="0"/>
          </a:p>
          <a:p>
            <a:r>
              <a:rPr lang="en-GB"/>
              <a:t>2. Configure Custom WAF Rules</a:t>
            </a:r>
          </a:p>
          <a:p>
            <a:r>
              <a:rPr lang="en-GB"/>
              <a:t>Custom rules help you protect against application‑specific threats beyond the managed rule sets.</a:t>
            </a:r>
          </a:p>
          <a:p>
            <a:r>
              <a:rPr lang="en-GB"/>
              <a:t>Common use cases include rate limiting, blocking specific IP ranges, or geo‑filtering based on region.</a:t>
            </a:r>
          </a:p>
          <a:p>
            <a:r>
              <a:rPr lang="en-GB"/>
              <a:t>Customization helps reduce false positives and ensure policies map tightly to your application logic.</a:t>
            </a:r>
          </a:p>
          <a:p>
            <a:br>
              <a:rPr lang="en-US" dirty="0"/>
            </a:br>
            <a:endParaRPr lang="en-US" dirty="0"/>
          </a:p>
          <a:p>
            <a:r>
              <a:rPr lang="en-GB"/>
              <a:t>3. Enable Bot Protection</a:t>
            </a:r>
          </a:p>
          <a:p>
            <a:r>
              <a:rPr lang="en-GB"/>
              <a:t>The bot protection managed rule set uses IP reputation data to distinguish between good and bad bots.</a:t>
            </a:r>
          </a:p>
          <a:p>
            <a:r>
              <a:rPr lang="en-GB"/>
              <a:t>This helps block credential stuffing, scraping, and scanning tools while still allowing search engine crawlers and monitoring services. </a:t>
            </a:r>
          </a:p>
          <a:p>
            <a:br>
              <a:rPr lang="en-US" dirty="0"/>
            </a:br>
            <a:endParaRPr lang="en-US" dirty="0"/>
          </a:p>
          <a:p>
            <a:r>
              <a:rPr lang="en-GB"/>
              <a:t>4. Implement Rate Limiting</a:t>
            </a:r>
          </a:p>
          <a:p>
            <a:r>
              <a:rPr lang="en-GB"/>
              <a:t>Rate limiting rules allow you to throttle requests from individual IPs within defined time windows.</a:t>
            </a:r>
          </a:p>
          <a:p>
            <a:r>
              <a:rPr lang="en-GB" dirty="0"/>
              <a:t>This protects your app from abuse patterns, reduces the impact of automated attacks, and limits the early stages of DDoS attempts at Layer 7. </a:t>
            </a:r>
          </a:p>
          <a:p>
            <a:endParaRPr lang="en-GB" dirty="0"/>
          </a:p>
        </p:txBody>
      </p:sp>
      <p:sp>
        <p:nvSpPr>
          <p:cNvPr id="4" name="Header Placeholder 3">
            <a:extLst>
              <a:ext uri="{FF2B5EF4-FFF2-40B4-BE49-F238E27FC236}">
                <a16:creationId xmlns:a16="http://schemas.microsoft.com/office/drawing/2014/main" id="{0D95A2AD-D567-E474-B549-800DC6BDA1F5}"/>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00EFB8A8-2F05-1574-12B5-C5E4C2DD2D7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92749E92-CFFD-7BC6-4CB8-7E2C447FC95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37FE8D42-977A-9483-165A-49AB8166A04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52484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333CD-82AB-D050-2690-09B59201F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0FBF6-D010-9238-8482-C09A0E88F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0AB53-3802-A3C4-08AB-870F277C88FD}"/>
              </a:ext>
            </a:extLst>
          </p:cNvPr>
          <p:cNvSpPr>
            <a:spLocks noGrp="1"/>
          </p:cNvSpPr>
          <p:nvPr>
            <p:ph type="body" idx="1"/>
          </p:nvPr>
        </p:nvSpPr>
        <p:spPr/>
        <p:txBody>
          <a:bodyPr/>
          <a:lstStyle/>
          <a:p>
            <a:r>
              <a:rPr lang="en-GB"/>
              <a:t>Identity &amp; Access Management Overview</a:t>
            </a:r>
            <a:endParaRPr lang="en-US"/>
          </a:p>
          <a:p>
            <a:r>
              <a:rPr lang="en-GB"/>
              <a:t>Identity and access controls ensure that only authorized users and systems can interact with Application Gateway or change its configuration. Strong IAM reduces unauthorized access risk and supports compliance. </a:t>
            </a:r>
          </a:p>
          <a:p>
            <a:br>
              <a:rPr lang="en-US" dirty="0"/>
            </a:br>
            <a:endParaRPr lang="en-US" dirty="0"/>
          </a:p>
          <a:p>
            <a:r>
              <a:rPr lang="en-GB" dirty="0"/>
              <a:t>1. Configure Mutual Authentication (</a:t>
            </a:r>
            <a:r>
              <a:rPr lang="en-GB" dirty="0" err="1"/>
              <a:t>mTLS</a:t>
            </a:r>
            <a:r>
              <a:rPr lang="en-GB" dirty="0"/>
              <a:t>)</a:t>
            </a:r>
          </a:p>
          <a:p>
            <a:r>
              <a:rPr lang="en-GB" dirty="0"/>
              <a:t>Mutual TLS provides two-way authentication where both the client proves its identity and the gateway validates it.</a:t>
            </a:r>
          </a:p>
          <a:p>
            <a:r>
              <a:rPr lang="en-GB"/>
              <a:t>This is ideal for sensitive or regulated workloads, internal APIs, partner integrations, and scenarios where client identity must be strongly verified.</a:t>
            </a:r>
          </a:p>
          <a:p>
            <a:r>
              <a:rPr lang="en-GB" dirty="0"/>
              <a:t>Mutual authentication is certificate-based: upload trusted client CA certificates to the gateway to validate incoming clients.</a:t>
            </a:r>
          </a:p>
          <a:p>
            <a:r>
              <a:rPr lang="en-GB"/>
              <a:t>Recommended to use TLS 1.2, as it will be the mandated version.</a:t>
            </a:r>
          </a:p>
          <a:p>
            <a:r>
              <a:rPr lang="en-GB"/>
              <a:t>This significantly strengthens your security posture by ensuring only trusted clients can connect.</a:t>
            </a:r>
            <a:endParaRPr lang="en-GB">
              <a:cs typeface="+mn-lt"/>
            </a:endParaRPr>
          </a:p>
          <a:p>
            <a:br>
              <a:rPr lang="en-US" dirty="0"/>
            </a:br>
            <a:endParaRPr lang="en-US" dirty="0"/>
          </a:p>
          <a:p>
            <a:r>
              <a:rPr lang="en-GB"/>
              <a:t>2. Use Azure RBAC for Management Access</a:t>
            </a:r>
          </a:p>
          <a:p>
            <a:r>
              <a:rPr lang="en-GB" dirty="0"/>
              <a:t>Azure RBAC (Role-Based Access Control) allows you to strictly control who can modify Application Gateway configuration.</a:t>
            </a:r>
          </a:p>
          <a:p>
            <a:r>
              <a:rPr lang="en-GB"/>
              <a:t>Assign minimum necessary permissions to users, groups, and service principals.</a:t>
            </a:r>
          </a:p>
          <a:p>
            <a:r>
              <a:rPr lang="en-GB"/>
              <a:t>RBAC scopes can be applied at management group, subscription, resource group, or resource level, letting you tightly scope administrative rights.</a:t>
            </a:r>
          </a:p>
          <a:p>
            <a:r>
              <a:rPr lang="en-GB"/>
              <a:t>This supports least privilege, helps avoid misconfigurations, and protects critical networking components from accidental or unauthorized change</a:t>
            </a:r>
          </a:p>
          <a:p>
            <a:endParaRPr lang="en-GB" dirty="0"/>
          </a:p>
        </p:txBody>
      </p:sp>
      <p:sp>
        <p:nvSpPr>
          <p:cNvPr id="4" name="Header Placeholder 3">
            <a:extLst>
              <a:ext uri="{FF2B5EF4-FFF2-40B4-BE49-F238E27FC236}">
                <a16:creationId xmlns:a16="http://schemas.microsoft.com/office/drawing/2014/main" id="{4D389DA4-44FD-7D30-8D0D-2DB56FA31AD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7DFCD9D-BAAD-2463-19FF-07DCCA7DA6E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27B8E31-8762-8949-8CCC-EB51BB1FC84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DC6250D-65FD-A54C-82B5-47468F940A3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11264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1F4EE-3519-FBF7-274C-1340475BA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83D67-448F-C325-6221-E68B9570E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100B33-B0EF-7621-DC6F-0294525837DB}"/>
              </a:ext>
            </a:extLst>
          </p:cNvPr>
          <p:cNvSpPr>
            <a:spLocks noGrp="1"/>
          </p:cNvSpPr>
          <p:nvPr>
            <p:ph type="body" idx="1"/>
          </p:nvPr>
        </p:nvSpPr>
        <p:spPr/>
        <p:txBody>
          <a:bodyPr/>
          <a:lstStyle/>
          <a:p>
            <a:r>
              <a:rPr lang="en-GB"/>
              <a:t>Data Protection Overview</a:t>
            </a:r>
            <a:endParaRPr lang="en-US"/>
          </a:p>
          <a:p>
            <a:r>
              <a:rPr lang="en-GB"/>
              <a:t>Data protection in Application Gateway focuses on securing all data in transit and managing certificates and secrets correctly. This includes TLS usage, automated certificate lifecycle management, and ensuring all communication paths are encrypted. </a:t>
            </a:r>
            <a:br>
              <a:rPr lang="en-US" dirty="0">
                <a:cs typeface="+mn-lt"/>
              </a:rPr>
            </a:br>
            <a:endParaRPr lang="en-US"/>
          </a:p>
          <a:p>
            <a:r>
              <a:rPr lang="en-GB"/>
              <a:t>1. Enable TLS Encryption</a:t>
            </a:r>
          </a:p>
          <a:p>
            <a:r>
              <a:rPr lang="en-GB"/>
              <a:t>Configure TLS termination at the Application Gateway to encrypt client → gateway traffic.</a:t>
            </a:r>
          </a:p>
          <a:p>
            <a:r>
              <a:rPr lang="en-GB"/>
              <a:t>Always use the latest supported TLS versions (TLS 1.2+).</a:t>
            </a:r>
          </a:p>
          <a:p>
            <a:r>
              <a:rPr lang="en-GB"/>
              <a:t>This protects against known vulnerabilities and improves security posture.</a:t>
            </a:r>
            <a:br>
              <a:rPr lang="en-US" dirty="0">
                <a:cs typeface="+mn-lt"/>
              </a:rPr>
            </a:br>
            <a:endParaRPr lang="en-US"/>
          </a:p>
          <a:p>
            <a:r>
              <a:rPr lang="en-GB"/>
              <a:t>2. Store Certificates in Azure Key Vault</a:t>
            </a:r>
          </a:p>
          <a:p>
            <a:r>
              <a:rPr lang="en-GB"/>
              <a:t>Move TLS certificates out of config files and into Azure Key Vault, which provides: </a:t>
            </a:r>
          </a:p>
          <a:p>
            <a:r>
              <a:rPr lang="en-GB"/>
              <a:t>Secure secret storage</a:t>
            </a:r>
          </a:p>
          <a:p>
            <a:r>
              <a:rPr lang="en-GB"/>
              <a:t>Access control</a:t>
            </a:r>
          </a:p>
          <a:p>
            <a:r>
              <a:rPr lang="en-GB"/>
              <a:t>Centralized certificate lifecycle management</a:t>
            </a:r>
          </a:p>
          <a:p>
            <a:r>
              <a:rPr lang="en-GB"/>
              <a:t>Key Vault also enables automatic certificate rotation when integrated with Application Gateway.</a:t>
            </a:r>
            <a:endParaRPr lang="en-GB">
              <a:cs typeface="+mn-lt"/>
            </a:endParaRPr>
          </a:p>
          <a:p>
            <a:br>
              <a:rPr lang="en-US" dirty="0"/>
            </a:br>
            <a:endParaRPr lang="en-US" dirty="0"/>
          </a:p>
          <a:p>
            <a:r>
              <a:rPr lang="en-GB"/>
              <a:t>3. Configure Secure Certificate Management</a:t>
            </a:r>
          </a:p>
          <a:p>
            <a:r>
              <a:rPr lang="en-GB"/>
              <a:t>Automate certificate rotation to avoid certificate expiry risks.</a:t>
            </a:r>
          </a:p>
          <a:p>
            <a:r>
              <a:rPr lang="en-GB"/>
              <a:t>Ensure certificates follow security standards: </a:t>
            </a:r>
          </a:p>
          <a:p>
            <a:r>
              <a:rPr lang="en-GB"/>
              <a:t>Sufficient key sizes</a:t>
            </a:r>
          </a:p>
          <a:p>
            <a:r>
              <a:rPr lang="en-GB"/>
              <a:t>Appropriate validity periods</a:t>
            </a:r>
          </a:p>
          <a:p>
            <a:r>
              <a:rPr lang="en-GB"/>
              <a:t>Following organizational governance</a:t>
            </a:r>
          </a:p>
          <a:p>
            <a:r>
              <a:rPr lang="en-GB" dirty="0"/>
              <a:t>This ensures Gateway configurations remain compliant and secure.</a:t>
            </a:r>
            <a:endParaRPr lang="en-GB" dirty="0">
              <a:cs typeface="+mn-lt"/>
            </a:endParaRPr>
          </a:p>
          <a:p>
            <a:br>
              <a:rPr lang="en-US" dirty="0">
                <a:cs typeface="+mn-lt"/>
              </a:rPr>
            </a:br>
            <a:endParaRPr lang="en-US" dirty="0"/>
          </a:p>
          <a:p>
            <a:r>
              <a:rPr lang="en-GB"/>
              <a:t>4. Implement HTTP → HTTPS Redirection</a:t>
            </a:r>
          </a:p>
          <a:p>
            <a:r>
              <a:rPr lang="en-GB"/>
              <a:t>Forces all inbound traffic to use encrypted channels.</a:t>
            </a:r>
          </a:p>
          <a:p>
            <a:r>
              <a:rPr lang="en-GB"/>
              <a:t>Prevents sensitive data from being transmitted in plaintext.</a:t>
            </a:r>
          </a:p>
          <a:p>
            <a:r>
              <a:rPr lang="en-GB"/>
              <a:t>Essential for compliance and secure-by-default posture.</a:t>
            </a:r>
            <a:endParaRPr lang="en-GB">
              <a:cs typeface="+mn-lt"/>
            </a:endParaRPr>
          </a:p>
          <a:p>
            <a:br>
              <a:rPr lang="en-US" dirty="0"/>
            </a:br>
            <a:endParaRPr lang="en-US" dirty="0"/>
          </a:p>
          <a:p>
            <a:r>
              <a:rPr lang="en-GB"/>
              <a:t>5. Configure End‑to‑End TLS</a:t>
            </a:r>
          </a:p>
          <a:p>
            <a:r>
              <a:rPr lang="en-GB"/>
              <a:t>Encrypt traffic not only between client → gateway but also gateway → backend servers.</a:t>
            </a:r>
          </a:p>
          <a:p>
            <a:r>
              <a:rPr lang="en-GB" dirty="0"/>
              <a:t>Ensures full path confidentiality and integrity in regulated or highly sensitive environments.</a:t>
            </a:r>
          </a:p>
          <a:p>
            <a:r>
              <a:rPr lang="en-GB"/>
              <a:t>Requires backend server certificates to be trusted by the gateway.</a:t>
            </a:r>
          </a:p>
          <a:p>
            <a:endParaRPr lang="en-GB" dirty="0"/>
          </a:p>
        </p:txBody>
      </p:sp>
      <p:sp>
        <p:nvSpPr>
          <p:cNvPr id="4" name="Header Placeholder 3">
            <a:extLst>
              <a:ext uri="{FF2B5EF4-FFF2-40B4-BE49-F238E27FC236}">
                <a16:creationId xmlns:a16="http://schemas.microsoft.com/office/drawing/2014/main" id="{7DFB74E6-C2B2-F995-A898-39AFFE81B55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9A5C99B-A3F9-CE30-B96C-A85FB2C50B3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C07D756F-9D2F-35C5-5AA6-79507D56D19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ACDE1E7F-564F-5629-B457-FF32D7012FB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36006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AEE5F-5155-13C1-A96D-11EC3754C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A3EE5-5ADE-F987-7191-C639F4B31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1978C-026C-A3B6-3F39-95D1B78A032E}"/>
              </a:ext>
            </a:extLst>
          </p:cNvPr>
          <p:cNvSpPr>
            <a:spLocks noGrp="1"/>
          </p:cNvSpPr>
          <p:nvPr>
            <p:ph type="body" idx="1"/>
          </p:nvPr>
        </p:nvSpPr>
        <p:spPr/>
        <p:txBody>
          <a:bodyPr/>
          <a:lstStyle/>
          <a:p>
            <a:r>
              <a:rPr lang="en-GB"/>
              <a:t>Monitoring &amp; Threat Detection Overview</a:t>
            </a:r>
            <a:endParaRPr lang="en-US"/>
          </a:p>
          <a:p>
            <a:r>
              <a:rPr lang="en-GB"/>
              <a:t>Monitoring and threat detection help ensure the Application Gateway is healthy, secure, and functioning as expected. Logging, probes, and alerting provide real‑time visibility into performance and potential threats.</a:t>
            </a:r>
          </a:p>
          <a:p>
            <a:br>
              <a:rPr lang="en-US" dirty="0"/>
            </a:br>
            <a:endParaRPr lang="en-US" dirty="0"/>
          </a:p>
          <a:p>
            <a:r>
              <a:rPr lang="en-GB"/>
              <a:t>1. Enable Diagnostic Logging</a:t>
            </a:r>
          </a:p>
          <a:p>
            <a:r>
              <a:rPr lang="en-GB"/>
              <a:t>Turn on Azure resource logs to capture detailed information about: </a:t>
            </a:r>
          </a:p>
          <a:p>
            <a:r>
              <a:rPr lang="en-GB"/>
              <a:t>Access patterns</a:t>
            </a:r>
          </a:p>
          <a:p>
            <a:r>
              <a:rPr lang="en-GB"/>
              <a:t>Performance metrics</a:t>
            </a:r>
          </a:p>
          <a:p>
            <a:r>
              <a:rPr lang="en-GB"/>
              <a:t>Security events</a:t>
            </a:r>
          </a:p>
          <a:p>
            <a:r>
              <a:rPr lang="en-GB"/>
              <a:t>Send logs to Log Analytics, Storage Accounts, or Event Hub to support analysis, reporting, and long‑term retention.</a:t>
            </a:r>
          </a:p>
          <a:p>
            <a:r>
              <a:rPr lang="en-GB" dirty="0"/>
              <a:t>This visibility is essential for detecting anomalies and understanding gateway </a:t>
            </a:r>
            <a:r>
              <a:rPr lang="en-GB" dirty="0" err="1"/>
              <a:t>behavior</a:t>
            </a:r>
            <a:r>
              <a:rPr lang="en-GB" dirty="0"/>
              <a:t> over time.</a:t>
            </a:r>
          </a:p>
          <a:p>
            <a:br>
              <a:rPr lang="en-US" dirty="0"/>
            </a:br>
            <a:endParaRPr lang="en-US" dirty="0"/>
          </a:p>
          <a:p>
            <a:r>
              <a:rPr lang="en-GB"/>
              <a:t>2. Configure Custom Health Probes</a:t>
            </a:r>
          </a:p>
          <a:p>
            <a:r>
              <a:rPr lang="en-GB"/>
              <a:t>Default probes only detect basic connectivity issues.</a:t>
            </a:r>
          </a:p>
          <a:p>
            <a:r>
              <a:rPr lang="en-GB"/>
              <a:t>Custom probes allow deeper inspection such as: </a:t>
            </a:r>
          </a:p>
          <a:p>
            <a:r>
              <a:rPr lang="en-GB"/>
              <a:t>Application‑level health</a:t>
            </a:r>
          </a:p>
          <a:p>
            <a:r>
              <a:rPr lang="en-GB"/>
              <a:t>Specific path checks</a:t>
            </a:r>
          </a:p>
          <a:p>
            <a:r>
              <a:rPr lang="en-GB"/>
              <a:t>Authentication or header requirements</a:t>
            </a:r>
          </a:p>
          <a:p>
            <a:r>
              <a:rPr lang="en-GB"/>
              <a:t>Ensures traffic is routed only to healthy and responsive backend instances.</a:t>
            </a:r>
          </a:p>
          <a:p>
            <a:br>
              <a:rPr lang="en-US" dirty="0"/>
            </a:br>
            <a:endParaRPr lang="en-US" dirty="0"/>
          </a:p>
          <a:p>
            <a:r>
              <a:rPr lang="en-GB"/>
              <a:t>3. Set Up Monitoring and Alerting</a:t>
            </a:r>
          </a:p>
          <a:p>
            <a:r>
              <a:rPr lang="en-GB"/>
              <a:t>Use Azure Monitor to track key metrics: </a:t>
            </a:r>
          </a:p>
          <a:p>
            <a:r>
              <a:rPr lang="en-GB"/>
              <a:t>Unusual traffic patterns</a:t>
            </a:r>
          </a:p>
          <a:p>
            <a:r>
              <a:rPr lang="en-GB"/>
              <a:t>Repeated failed requests</a:t>
            </a:r>
          </a:p>
          <a:p>
            <a:r>
              <a:rPr lang="en-GB"/>
              <a:t>Latency or throughput changes</a:t>
            </a:r>
          </a:p>
          <a:p>
            <a:r>
              <a:rPr lang="en-GB"/>
              <a:t>Create alerts to detect issues early — often the first signal of security threats or misconfigurations.</a:t>
            </a:r>
          </a:p>
          <a:p>
            <a:br>
              <a:rPr lang="en-US" dirty="0"/>
            </a:br>
            <a:endParaRPr lang="en-US" dirty="0"/>
          </a:p>
          <a:p>
            <a:r>
              <a:rPr lang="en-GB"/>
              <a:t>4. Implement Centralized Log Management</a:t>
            </a:r>
          </a:p>
          <a:p>
            <a:r>
              <a:rPr lang="en-GB"/>
              <a:t>Forward logs to your organization’s SIEM solution (e.g., Microsoft Sentinel).</a:t>
            </a:r>
          </a:p>
          <a:p>
            <a:r>
              <a:rPr lang="en-GB"/>
              <a:t>This enables: </a:t>
            </a:r>
          </a:p>
          <a:p>
            <a:r>
              <a:rPr lang="en-GB"/>
              <a:t>Correlation of events across your environment</a:t>
            </a:r>
          </a:p>
          <a:p>
            <a:r>
              <a:rPr lang="en-GB"/>
              <a:t>Automated incident response</a:t>
            </a:r>
          </a:p>
          <a:p>
            <a:r>
              <a:rPr lang="en-GB"/>
              <a:t>Threat detection based on global attack patterns</a:t>
            </a:r>
          </a:p>
          <a:p>
            <a:br>
              <a:rPr lang="en-US" dirty="0"/>
            </a:br>
            <a:endParaRPr lang="en-US" dirty="0"/>
          </a:p>
          <a:p>
            <a:r>
              <a:rPr lang="en-GB"/>
              <a:t>5. Monitor Backend Health</a:t>
            </a:r>
          </a:p>
          <a:p>
            <a:r>
              <a:rPr lang="en-GB"/>
              <a:t>Use the built‑in Backend Health feature to continuously track the status of backend servers.</a:t>
            </a:r>
          </a:p>
          <a:p>
            <a:r>
              <a:rPr lang="en-GB" dirty="0"/>
              <a:t>Quickly identify: </a:t>
            </a:r>
          </a:p>
          <a:p>
            <a:r>
              <a:rPr lang="en-GB"/>
              <a:t>Unhealthy instances</a:t>
            </a:r>
          </a:p>
          <a:p>
            <a:r>
              <a:rPr lang="en-GB"/>
              <a:t>Misconfigurations</a:t>
            </a:r>
          </a:p>
          <a:p>
            <a:r>
              <a:rPr lang="en-GB"/>
              <a:t>Latency or networking issues</a:t>
            </a:r>
          </a:p>
          <a:p>
            <a:r>
              <a:rPr lang="en-GB"/>
              <a:t>Helps prevent outages and reduces the risk of exposing unhealthy nodes.</a:t>
            </a:r>
          </a:p>
          <a:p>
            <a:endParaRPr lang="en-GB" dirty="0"/>
          </a:p>
        </p:txBody>
      </p:sp>
      <p:sp>
        <p:nvSpPr>
          <p:cNvPr id="4" name="Header Placeholder 3">
            <a:extLst>
              <a:ext uri="{FF2B5EF4-FFF2-40B4-BE49-F238E27FC236}">
                <a16:creationId xmlns:a16="http://schemas.microsoft.com/office/drawing/2014/main" id="{3CA5A596-E5A1-0E07-8E77-F8AACC93B187}"/>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3EB81D0-0432-81A3-C58C-1C2035FDF7C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17307AE-30A7-3293-A0EF-9C387BD2C09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101B376-E566-4ADA-5595-3DB1DC9315D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63826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C302-2965-491B-37E1-980FFAA1E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2970D-0D0E-540E-2D73-2B9E69B52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FCE5D-5A04-DAF7-CB17-C0D113D2FDD1}"/>
              </a:ext>
            </a:extLst>
          </p:cNvPr>
          <p:cNvSpPr>
            <a:spLocks noGrp="1"/>
          </p:cNvSpPr>
          <p:nvPr>
            <p:ph type="body" idx="1"/>
          </p:nvPr>
        </p:nvSpPr>
        <p:spPr/>
        <p:txBody>
          <a:bodyPr/>
          <a:lstStyle/>
          <a:p>
            <a:r>
              <a:rPr lang="en-GB"/>
              <a:t>Asset Management Overview</a:t>
            </a:r>
            <a:endParaRPr lang="en-US"/>
          </a:p>
          <a:p>
            <a:r>
              <a:rPr lang="en-GB" dirty="0"/>
              <a:t>Asset management ensures your Application Gateway remains secure, compliant, and properly configured at all times. It introduces governance controls and continuous compliance checks to align with organizational and industry standards.</a:t>
            </a:r>
          </a:p>
          <a:p>
            <a:br>
              <a:rPr lang="en-US" dirty="0"/>
            </a:br>
            <a:endParaRPr lang="en-US" dirty="0"/>
          </a:p>
          <a:p>
            <a:r>
              <a:rPr lang="en-GB"/>
              <a:t>1. Implement Azure Policy Governance</a:t>
            </a:r>
          </a:p>
          <a:p>
            <a:r>
              <a:rPr lang="en-GB"/>
              <a:t>Use Azure Policy to apply guardrails across all Application Gateway deployments.</a:t>
            </a:r>
          </a:p>
          <a:p>
            <a:r>
              <a:rPr lang="en-GB"/>
              <a:t>Policies can: </a:t>
            </a:r>
          </a:p>
          <a:p>
            <a:r>
              <a:rPr lang="en-GB"/>
              <a:t>Audit configurations</a:t>
            </a:r>
          </a:p>
          <a:p>
            <a:r>
              <a:rPr lang="en-GB"/>
              <a:t>Enforce required settings</a:t>
            </a:r>
          </a:p>
          <a:p>
            <a:r>
              <a:rPr lang="en-GB"/>
              <a:t>Prevent insecure deployments</a:t>
            </a:r>
          </a:p>
          <a:p>
            <a:r>
              <a:rPr lang="en-GB"/>
              <a:t>This ensures standardized, compliant configurations across environments.</a:t>
            </a:r>
            <a:br>
              <a:rPr lang="en-GB" dirty="0">
                <a:cs typeface="+mn-lt"/>
              </a:rPr>
            </a:br>
            <a:endParaRPr lang="en-GB"/>
          </a:p>
          <a:p>
            <a:r>
              <a:rPr lang="en-GB"/>
              <a:t>(Additional depth: Azure Policy provides real-time governance, centralized compliance dashboards, and automated remediation at scale.) </a:t>
            </a:r>
          </a:p>
          <a:p>
            <a:br>
              <a:rPr lang="en-US" dirty="0"/>
            </a:br>
            <a:endParaRPr lang="en-US" dirty="0"/>
          </a:p>
          <a:p>
            <a:r>
              <a:rPr lang="en-GB"/>
              <a:t>2. Monitor Configuration Compliance</a:t>
            </a:r>
          </a:p>
          <a:p>
            <a:r>
              <a:rPr lang="en-GB"/>
              <a:t>Use Microsoft Defender for Cloud to track Application Gateway compliance against security baselines.</a:t>
            </a:r>
          </a:p>
          <a:p>
            <a:r>
              <a:rPr lang="en-GB"/>
              <a:t>Defender alerts you when: </a:t>
            </a:r>
          </a:p>
          <a:p>
            <a:r>
              <a:rPr lang="en-GB"/>
              <a:t>Configurations drift</a:t>
            </a:r>
          </a:p>
          <a:p>
            <a:r>
              <a:rPr lang="en-GB"/>
              <a:t>Security standards are violated</a:t>
            </a:r>
          </a:p>
          <a:p>
            <a:r>
              <a:rPr lang="en-GB"/>
              <a:t>Non-compliant settings appear across gateways</a:t>
            </a:r>
          </a:p>
          <a:p>
            <a:r>
              <a:rPr lang="en-GB" dirty="0"/>
              <a:t>Enable automated remediation where possible to maintain consistent security posture and reduce operational overhead.</a:t>
            </a:r>
          </a:p>
          <a:p>
            <a:endParaRPr lang="en-GB" dirty="0"/>
          </a:p>
        </p:txBody>
      </p:sp>
      <p:sp>
        <p:nvSpPr>
          <p:cNvPr id="4" name="Header Placeholder 3">
            <a:extLst>
              <a:ext uri="{FF2B5EF4-FFF2-40B4-BE49-F238E27FC236}">
                <a16:creationId xmlns:a16="http://schemas.microsoft.com/office/drawing/2014/main" id="{85DE85DC-FB30-015A-6219-7C717DFD933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4CA64D5-B50B-E18A-7F9F-B73797D51B9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C0EB7AF-9D99-5BE9-3713-AD804A592F1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0742A6C-59D6-4DB9-8BDD-5DB9B3F7626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51350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D3E6-E759-28EE-1D58-7DBA9ED62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6A232-D7B8-BD93-02E1-96D238020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39633-3CE7-1A67-389E-8432819BE879}"/>
              </a:ext>
            </a:extLst>
          </p:cNvPr>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3C341C1D-FCC7-ED3E-EFDB-F044012B6BF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22C7EA2-3A48-DEF8-4E2F-DCA34E95AB9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E8C3B7DE-CDFC-2AD9-8C14-B0B77F2F534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1/14/2026 11:49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687C1D0-4646-C6F2-0C6D-997DEFB976B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6897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A1087-A430-64EB-2062-83FD23627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0E44D-2397-0713-056F-9D5F5E468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A2BA8-69B7-15A6-8EA1-B1B0495157C4}"/>
              </a:ext>
            </a:extLst>
          </p:cNvPr>
          <p:cNvSpPr>
            <a:spLocks noGrp="1"/>
          </p:cNvSpPr>
          <p:nvPr>
            <p:ph type="body" idx="1"/>
          </p:nvPr>
        </p:nvSpPr>
        <p:spPr/>
        <p:txBody>
          <a:bodyPr/>
          <a:lstStyle/>
          <a:p>
            <a:r>
              <a:rPr lang="en-GB" dirty="0"/>
              <a:t>Overview</a:t>
            </a:r>
            <a:endParaRPr lang="en-US" dirty="0"/>
          </a:p>
          <a:p>
            <a:r>
              <a:rPr lang="en-GB" dirty="0"/>
              <a:t>Application Gateway for Containers is Azure’s next‑generation, application-layer (Layer 7) load balancer built specifically for Kubernetes workloads. It provides dynamic traffic management, integrating natively into container-based architectures and extending Azure’s load balancing portfolio. </a:t>
            </a:r>
          </a:p>
          <a:p>
            <a:br>
              <a:rPr lang="en-US" dirty="0"/>
            </a:br>
            <a:endParaRPr lang="en-US" dirty="0"/>
          </a:p>
          <a:p>
            <a:r>
              <a:rPr lang="en-GB" dirty="0"/>
              <a:t>1. Purpose &amp; Capabilities</a:t>
            </a:r>
          </a:p>
          <a:p>
            <a:r>
              <a:rPr lang="en-GB" dirty="0"/>
              <a:t>Designed for Kubernetes clusters, delivering L7 load balancing similar to Application Gateway but optimized for containerized apps.</a:t>
            </a:r>
          </a:p>
          <a:p>
            <a:r>
              <a:rPr lang="en-GB" dirty="0"/>
              <a:t>Supports dynamic traffic management, enabling fast updates as pods, routes, or probes change.</a:t>
            </a:r>
          </a:p>
          <a:p>
            <a:r>
              <a:rPr lang="en-GB" dirty="0"/>
              <a:t>Offers higher performance and flexibility than previous solutions.</a:t>
            </a:r>
            <a:endParaRPr lang="en-GB" dirty="0">
              <a:cs typeface="+mn-lt"/>
            </a:endParaRPr>
          </a:p>
          <a:p>
            <a:br>
              <a:rPr lang="en-US" dirty="0"/>
            </a:br>
            <a:endParaRPr lang="en-US" dirty="0"/>
          </a:p>
          <a:p>
            <a:r>
              <a:rPr lang="en-GB" dirty="0"/>
              <a:t>2. Evolution of AGIC (Application Gateway Ingress Controller)</a:t>
            </a:r>
          </a:p>
          <a:p>
            <a:r>
              <a:rPr lang="en-GB" dirty="0"/>
              <a:t>AGIC was the earlier Kubernetes integration layer that synced Kubernetes Ingress resources into Application Gateway using ARM.</a:t>
            </a:r>
          </a:p>
          <a:p>
            <a:r>
              <a:rPr lang="en-GB" dirty="0"/>
              <a:t>In its current form, AGIC monitored a subset of Kubernetes resources and applied changes to the Application Gateway control plane.</a:t>
            </a:r>
          </a:p>
          <a:p>
            <a:r>
              <a:rPr lang="en-GB" dirty="0"/>
              <a:t>Application Gateway for Containers improves on AGIC by addressing performance and scalability gaps, especially around the rapid lifecycle of Kubernetes pods.</a:t>
            </a:r>
            <a:endParaRPr lang="en-GB" dirty="0">
              <a:cs typeface="+mn-lt"/>
            </a:endParaRPr>
          </a:p>
          <a:p>
            <a:br>
              <a:rPr lang="en-US" dirty="0"/>
            </a:br>
            <a:endParaRPr lang="en-US" dirty="0"/>
          </a:p>
          <a:p>
            <a:r>
              <a:rPr lang="en-GB" dirty="0"/>
              <a:t>3. Application Gateway for Containers as the Successor</a:t>
            </a:r>
          </a:p>
          <a:p>
            <a:r>
              <a:rPr lang="en-GB" dirty="0"/>
              <a:t>Represents the future direction of Azure’s ingress strategy for AKS.</a:t>
            </a:r>
          </a:p>
          <a:p>
            <a:r>
              <a:rPr lang="en-GB" dirty="0"/>
              <a:t>Built for modern Kubernetes patterns, supporting both Ingress and Gateway API.</a:t>
            </a:r>
          </a:p>
          <a:p>
            <a:r>
              <a:rPr lang="en-GB" dirty="0"/>
              <a:t>Integrates with new control-plane components (ALB Controller) and offers near real‑time updates.</a:t>
            </a:r>
          </a:p>
          <a:p>
            <a:endParaRPr lang="en-GB" dirty="0"/>
          </a:p>
        </p:txBody>
      </p:sp>
      <p:sp>
        <p:nvSpPr>
          <p:cNvPr id="4" name="Header Placeholder 3">
            <a:extLst>
              <a:ext uri="{FF2B5EF4-FFF2-40B4-BE49-F238E27FC236}">
                <a16:creationId xmlns:a16="http://schemas.microsoft.com/office/drawing/2014/main" id="{8E87D87C-E86D-C762-42B9-9943FE47E9D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72C820F-5910-4CA8-3510-85F8469428B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9420850A-7D61-7DA3-AC40-177154AEC86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1/14/2026 11:49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9F65B7D-7B07-CFE6-22B9-F955C11E62C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932003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BBB7-108B-0E2E-3D95-9F6668127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15EF3-A9BF-C19A-4F42-A73DB999B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73374-A038-7197-7F2C-94F5006D1405}"/>
              </a:ext>
            </a:extLst>
          </p:cNvPr>
          <p:cNvSpPr>
            <a:spLocks noGrp="1"/>
          </p:cNvSpPr>
          <p:nvPr>
            <p:ph type="body" idx="1"/>
          </p:nvPr>
        </p:nvSpPr>
        <p:spPr/>
        <p:txBody>
          <a:bodyPr/>
          <a:lstStyle/>
          <a:p>
            <a:r>
              <a:rPr lang="en-GB" dirty="0"/>
              <a:t>Application Gateway for Containers is built from three core components, each playing a different role in how traffic is processed and managed.</a:t>
            </a:r>
          </a:p>
          <a:p>
            <a:endParaRPr lang="en-US" dirty="0"/>
          </a:p>
          <a:p>
            <a:r>
              <a:rPr lang="en-GB" dirty="0"/>
              <a:t>1. Application Gateway for Containers Resource</a:t>
            </a:r>
          </a:p>
          <a:p>
            <a:r>
              <a:rPr lang="en-GB" dirty="0"/>
              <a:t>This is the primary resource that represents the gateway itself. Builds the control plane to listen for changes coming from the ALB controller</a:t>
            </a:r>
          </a:p>
          <a:p>
            <a:r>
              <a:rPr lang="en-GB" dirty="0"/>
              <a:t>It acts as the ingress point for applications running inside your Kubernetes cluster.</a:t>
            </a:r>
          </a:p>
          <a:p>
            <a:r>
              <a:rPr lang="en-GB" dirty="0"/>
              <a:t>All configuration, routing logic, and policy enforcement flow through this central component.</a:t>
            </a:r>
          </a:p>
          <a:p>
            <a:r>
              <a:rPr lang="en-GB" dirty="0"/>
              <a:t>2. Frontends</a:t>
            </a:r>
          </a:p>
          <a:p>
            <a:r>
              <a:rPr lang="en-GB" dirty="0"/>
              <a:t>Frontends define how traffic enters the gateway. Similar to Azure </a:t>
            </a:r>
            <a:r>
              <a:rPr lang="en-GB" dirty="0" err="1"/>
              <a:t>frontdoor</a:t>
            </a:r>
            <a:endParaRPr lang="en-GB" dirty="0"/>
          </a:p>
          <a:p>
            <a:r>
              <a:rPr lang="en-GB" dirty="0"/>
              <a:t>They typically include the IP addresses, ports, and protocols exposed externally or internally.</a:t>
            </a:r>
          </a:p>
          <a:p>
            <a:r>
              <a:rPr lang="en-GB" dirty="0"/>
              <a:t>When a request hits the gateway, the frontend is what receives it and hands it off to the right routing rules.</a:t>
            </a:r>
          </a:p>
          <a:p>
            <a:r>
              <a:rPr lang="en-GB" dirty="0"/>
              <a:t>3. Associations</a:t>
            </a:r>
          </a:p>
          <a:p>
            <a:r>
              <a:rPr lang="en-GB" dirty="0"/>
              <a:t>Associations provide the link between the gateway and the Kubernetes environment.</a:t>
            </a:r>
          </a:p>
          <a:p>
            <a:r>
              <a:rPr lang="en-GB" dirty="0"/>
              <a:t>They map Kubernetes Gateway API or Ingress configurations to the corresponding Azure resources.</a:t>
            </a:r>
          </a:p>
          <a:p>
            <a:r>
              <a:rPr lang="en-GB" dirty="0"/>
              <a:t>Think of these as the “glue” connecting your cluster definitions to the Application Gateway for Containers.</a:t>
            </a:r>
          </a:p>
          <a:p>
            <a:br>
              <a:rPr lang="en-US" dirty="0"/>
            </a:br>
            <a:endParaRPr lang="en-US" dirty="0"/>
          </a:p>
          <a:p>
            <a:r>
              <a:rPr lang="en-GB" dirty="0"/>
              <a:t>In addition to the core components, several Azure dependencies must be in place for a successful deployment.</a:t>
            </a:r>
          </a:p>
          <a:p>
            <a:endParaRPr lang="en-GB" dirty="0"/>
          </a:p>
          <a:p>
            <a:r>
              <a:rPr lang="en-GB" dirty="0"/>
              <a:t>Key Dependencies</a:t>
            </a:r>
          </a:p>
          <a:p>
            <a:pPr marL="171450" indent="-171450">
              <a:buFont typeface="Arial" panose="020B0604020202020204" pitchFamily="34" charset="0"/>
              <a:buChar char="•"/>
            </a:pPr>
            <a:r>
              <a:rPr lang="en-GB" dirty="0"/>
              <a:t>Private IP Address</a:t>
            </a:r>
          </a:p>
          <a:p>
            <a:r>
              <a:rPr lang="en-GB" dirty="0"/>
              <a:t>The gateway needs a private IP for internal routing to services in your AKS cluster.</a:t>
            </a:r>
          </a:p>
          <a:p>
            <a:r>
              <a:rPr lang="en-GB" dirty="0"/>
              <a:t>This ensures secure and controlled east‑west traffic.</a:t>
            </a:r>
          </a:p>
          <a:p>
            <a:pPr marL="171450" indent="-171450">
              <a:buFont typeface="Arial" panose="020B0604020202020204" pitchFamily="34" charset="0"/>
              <a:buChar char="•"/>
            </a:pPr>
            <a:r>
              <a:rPr lang="en-GB" dirty="0"/>
              <a:t>Subnet Delegation</a:t>
            </a:r>
          </a:p>
          <a:p>
            <a:r>
              <a:rPr lang="en-GB" dirty="0"/>
              <a:t>The Application Gateway for Containers runs in a delegated subnet.</a:t>
            </a:r>
          </a:p>
          <a:p>
            <a:r>
              <a:rPr lang="en-GB" dirty="0"/>
              <a:t>Subnet delegation grants Azure the permissions it needs to manage the gateway’s lifecycle and networking.</a:t>
            </a:r>
          </a:p>
          <a:p>
            <a:pPr marL="171450" indent="-171450">
              <a:buFont typeface="Arial" panose="020B0604020202020204" pitchFamily="34" charset="0"/>
              <a:buChar char="•"/>
            </a:pPr>
            <a:r>
              <a:rPr lang="en-GB" dirty="0"/>
              <a:t>User‑Assigned Managed Identity</a:t>
            </a:r>
          </a:p>
          <a:p>
            <a:r>
              <a:rPr lang="en-GB" dirty="0"/>
              <a:t>A user‑assigned managed identity provides secure, policy‑driven access for the gateway to interact with Azure resources.</a:t>
            </a:r>
          </a:p>
          <a:p>
            <a:r>
              <a:rPr lang="en-GB" dirty="0"/>
              <a:t>This identity is used for tasks like pulling Key Vault certificates or modifying configuration via ARM.</a:t>
            </a:r>
          </a:p>
          <a:p>
            <a:br>
              <a:rPr lang="en-US" dirty="0">
                <a:cs typeface="+mn-lt"/>
              </a:rPr>
            </a:br>
            <a:r>
              <a:rPr lang="en-GB" dirty="0"/>
              <a:t>Together, these components and dependencies form the foundation of Application Gateway for Containers, giving you a scalable, Kubernetes‑native ingress solution that integrates deeply with Azure networking and security.</a:t>
            </a:r>
            <a:endParaRPr lang="en-US" dirty="0"/>
          </a:p>
          <a:p>
            <a:endParaRPr lang="en-GB" dirty="0"/>
          </a:p>
        </p:txBody>
      </p:sp>
      <p:sp>
        <p:nvSpPr>
          <p:cNvPr id="4" name="Header Placeholder 3">
            <a:extLst>
              <a:ext uri="{FF2B5EF4-FFF2-40B4-BE49-F238E27FC236}">
                <a16:creationId xmlns:a16="http://schemas.microsoft.com/office/drawing/2014/main" id="{1289806C-7016-EE2E-CDD3-07AD11B5CB9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3ED99D13-244B-F961-47D4-3F625E1DBE9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173D1E5B-D64F-0818-3457-DFD77C46FBC9}"/>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F0DCC05-2E89-DBE9-801D-2F95E090F3F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13083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AGC Fits Into the Architecture</a:t>
            </a:r>
          </a:p>
          <a:p>
            <a:r>
              <a:rPr lang="en-US" dirty="0"/>
              <a:t>“Starting on the left, we have the Application Gateway for Containers sitting outside the AKS cluster.”</a:t>
            </a:r>
            <a:br>
              <a:rPr lang="en-US" dirty="0"/>
            </a:br>
            <a:r>
              <a:rPr lang="en-US" dirty="0"/>
              <a:t> It receives all inbound traffic from the internet and acts as the main entry point for containerized workloads.</a:t>
            </a:r>
          </a:p>
          <a:p>
            <a:r>
              <a:rPr lang="en-US" dirty="0"/>
              <a:t>“Inside the AKS cluster, you’ll notice the ALB controller.”</a:t>
            </a:r>
            <a:br>
              <a:rPr lang="en-US" dirty="0">
                <a:cs typeface="+mn-lt"/>
              </a:rPr>
            </a:br>
            <a:r>
              <a:rPr lang="en-US" dirty="0"/>
              <a:t> This controller monitors Kubernetes Gateway API or Ingress resources and keeps AGC’s configuration synced in near real‑time. This gives us cloud‑native, Kubernetes‑driven control over how traffic is routed.</a:t>
            </a:r>
          </a:p>
          <a:p>
            <a:r>
              <a:rPr lang="en-US" dirty="0"/>
              <a:t>“Azure Resource Manager sits on the right side of the diagram.”</a:t>
            </a:r>
            <a:br>
              <a:rPr lang="en-US" dirty="0">
                <a:cs typeface="+mn-lt"/>
              </a:rPr>
            </a:br>
            <a:r>
              <a:rPr lang="en-US" dirty="0"/>
              <a:t> Any configuration changes whether initiated by Kubernetes or Azure tooling are propagated through ARM, which orchestrates the lifecycle of the AGC resources.</a:t>
            </a:r>
          </a:p>
          <a:p>
            <a:r>
              <a:rPr lang="en-US" dirty="0"/>
              <a:t>“The key benefit here is that AGC offloads network compute from the cluster.”</a:t>
            </a:r>
            <a:br>
              <a:rPr lang="en-US" dirty="0"/>
            </a:br>
            <a:r>
              <a:rPr lang="en-US" dirty="0"/>
              <a:t> It removes networking overhead from the worker nodes and provides a highly scalable, Azure‑managed ingress layer.</a:t>
            </a:r>
          </a:p>
          <a:p>
            <a:br>
              <a:rPr lang="en-US" dirty="0"/>
            </a:br>
            <a:endParaRPr lang="en-US" dirty="0"/>
          </a:p>
          <a:p>
            <a:r>
              <a:rPr lang="en-US" dirty="0"/>
              <a:t>Key Capabilities Highlighted on the Slide</a:t>
            </a:r>
          </a:p>
          <a:p>
            <a:pPr marL="171450" indent="-171450">
              <a:buFont typeface="Arial" panose="020B0604020202020204" pitchFamily="34" charset="0"/>
              <a:buChar char="•"/>
            </a:pPr>
            <a:r>
              <a:rPr lang="en-US" dirty="0"/>
              <a:t>Near real‑time updates</a:t>
            </a:r>
            <a:r>
              <a:rPr lang="en-US" dirty="0">
                <a:cs typeface="+mn-lt"/>
              </a:rPr>
              <a:t>: </a:t>
            </a:r>
            <a:r>
              <a:rPr lang="en-US" dirty="0"/>
              <a:t>AGC reacts extremely quickly to pod scaling events, new routes, or configuration changes, making it ideal for dynamic microservice environments.</a:t>
            </a:r>
          </a:p>
          <a:p>
            <a:pPr marL="171450" indent="-171450">
              <a:buFont typeface="Arial" panose="020B0604020202020204" pitchFamily="34" charset="0"/>
              <a:buChar char="•"/>
            </a:pPr>
            <a:r>
              <a:rPr lang="en-US" dirty="0"/>
              <a:t>External to cluster / offload network compute: Since AGC runs outside AKS, it reduces network processing overhead on your nodes and improves overall cluster efficiency.</a:t>
            </a:r>
          </a:p>
          <a:p>
            <a:pPr marL="171450" indent="-171450">
              <a:buFont typeface="Arial" panose="020B0604020202020204" pitchFamily="34" charset="0"/>
              <a:buChar char="•"/>
            </a:pPr>
            <a:r>
              <a:rPr lang="en-US" dirty="0"/>
              <a:t>Flexible deployment</a:t>
            </a:r>
            <a:r>
              <a:rPr lang="en-US" dirty="0">
                <a:cs typeface="+mn-lt"/>
              </a:rPr>
              <a:t>: </a:t>
            </a:r>
            <a:r>
              <a:rPr lang="en-US" dirty="0"/>
              <a:t>You can deploy and manage AGC using ARM, Bicep, PowerShell, CLI, Terraform, Gateway API, or Ingress API, whichever fits your operational model.</a:t>
            </a:r>
          </a:p>
          <a:p>
            <a:pPr marL="171450" indent="-171450">
              <a:buFont typeface="Arial" panose="020B0604020202020204" pitchFamily="34" charset="0"/>
              <a:buChar char="•"/>
            </a:pPr>
            <a:r>
              <a:rPr lang="en-US" dirty="0"/>
              <a:t>TLS offloading + Backend mutual authentication</a:t>
            </a:r>
            <a:r>
              <a:rPr lang="en-US" dirty="0">
                <a:cs typeface="+mn-lt"/>
              </a:rPr>
              <a:t>: </a:t>
            </a:r>
            <a:r>
              <a:rPr lang="en-US" dirty="0"/>
              <a:t>AGC handles TLS termination and also supports </a:t>
            </a:r>
            <a:r>
              <a:rPr lang="en-US" dirty="0" err="1"/>
              <a:t>mTLS</a:t>
            </a:r>
            <a:r>
              <a:rPr lang="en-US" dirty="0"/>
              <a:t> to backend services, enhancing security and reducing certificate overhead inside the cluster.</a:t>
            </a:r>
          </a:p>
          <a:p>
            <a:pPr marL="171450" indent="-171450">
              <a:buFont typeface="Arial" panose="020B0604020202020204" pitchFamily="34" charset="0"/>
              <a:buChar char="•"/>
            </a:pPr>
            <a:r>
              <a:rPr lang="en-US" dirty="0"/>
              <a:t>Lifecycle management via Kubernetes or Azure</a:t>
            </a:r>
            <a:r>
              <a:rPr lang="en-US" dirty="0">
                <a:cs typeface="+mn-lt"/>
              </a:rPr>
              <a:t>: </a:t>
            </a:r>
            <a:r>
              <a:rPr lang="en-US" dirty="0"/>
              <a:t>You can choose a “Kubernetes‑native” model managed by the ALB controller or a “bring your own” Azure‑managed model, offering flexibility depending on your team structure.</a:t>
            </a:r>
          </a:p>
          <a:p>
            <a:pPr marL="171450" indent="-171450">
              <a:buFont typeface="Arial" panose="020B0604020202020204" pitchFamily="34" charset="0"/>
              <a:buChar char="•"/>
            </a:pPr>
            <a:r>
              <a:rPr lang="en-US" dirty="0"/>
              <a:t>URL/Header rewrite and routing: Advanced traffic transformation capabilities allow you to shape requests before they reach your services.</a:t>
            </a:r>
          </a:p>
          <a:p>
            <a:pPr marL="171450" indent="-171450">
              <a:buFont typeface="Arial" panose="020B0604020202020204" pitchFamily="34" charset="0"/>
              <a:buChar char="•"/>
            </a:pPr>
            <a:r>
              <a:rPr lang="en-US" dirty="0"/>
              <a:t>Monitoring &amp; troubleshooting</a:t>
            </a:r>
            <a:r>
              <a:rPr lang="en-US" dirty="0">
                <a:cs typeface="+mn-lt"/>
              </a:rPr>
              <a:t>: </a:t>
            </a:r>
            <a:r>
              <a:rPr lang="en-US" dirty="0"/>
              <a:t>AGC integrates with Azure Monitor, Prometheus, and local backend health checks, giving full visibility into traffic flows and service status.</a:t>
            </a:r>
          </a:p>
          <a:p>
            <a:pPr marL="171450" indent="-171450">
              <a:buFont typeface="Arial" panose="020B0604020202020204" pitchFamily="34" charset="0"/>
              <a:buChar char="•"/>
            </a:pPr>
            <a:r>
              <a:rPr lang="en-US" dirty="0"/>
              <a:t>Weighted traffic for blue/green deployments: You can gradually shift traffic between versions using weighted routing, enabling safe rollouts and controlled testing.</a:t>
            </a:r>
          </a:p>
          <a:p>
            <a:br>
              <a:rPr lang="en-US" dirty="0"/>
            </a:br>
            <a:endParaRPr lang="en-US" dirty="0"/>
          </a:p>
          <a:p>
            <a:r>
              <a:rPr lang="en-US" dirty="0"/>
              <a:t>“Overall, Application Gateway for Containers gives Kubernetes users a powerful, Azure‑native ingress solution with modern traffic management, real‑time updates, strong security features, and deep operational visibility, all without adding complexity to the cluster itself.”</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EB4593-4B4C-1440-85FE-0E018BADD3C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6456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022D-1D9A-FAC1-3B14-13FE01557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36542-D44A-3643-CFC5-7D97C0305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82A1B-E336-AF9F-1F35-F3B82B2DA402}"/>
              </a:ext>
            </a:extLst>
          </p:cNvPr>
          <p:cNvSpPr>
            <a:spLocks noGrp="1"/>
          </p:cNvSpPr>
          <p:nvPr>
            <p:ph type="body" idx="1"/>
          </p:nvPr>
        </p:nvSpPr>
        <p:spPr/>
        <p:txBody>
          <a:bodyPr/>
          <a:lstStyle/>
          <a:p>
            <a:r>
              <a:rPr lang="en-GB" dirty="0"/>
              <a:t>Here’s how Application Gateway for Containers integrates with AKS.</a:t>
            </a:r>
          </a:p>
          <a:p>
            <a:endParaRPr lang="en-GB" dirty="0"/>
          </a:p>
          <a:p>
            <a:pPr marL="228600" indent="-228600">
              <a:buFont typeface="+mj-lt"/>
              <a:buAutoNum type="arabicPeriod"/>
            </a:pPr>
            <a:r>
              <a:rPr lang="en-GB" dirty="0"/>
              <a:t>External traffic arrives through the Application Gateway for Containers, which performs Layer 7 routing before sending traffic into the AKS cluster to the backend pods — in this example, Pod A and Pod B.</a:t>
            </a:r>
            <a:endParaRPr lang="en-US" dirty="0"/>
          </a:p>
          <a:p>
            <a:pPr marL="228600" indent="-228600">
              <a:buFont typeface="+mj-lt"/>
              <a:buAutoNum type="arabicPeriod"/>
            </a:pPr>
            <a:r>
              <a:rPr lang="en-GB" dirty="0"/>
              <a:t>Inside the cluster, the ALB controller watches Kubernetes Gateway API resources and translates those definitions into the configuration used by the Application Gateway. It sends that configuration to Azure Resource Manager, which becomes the authoritative store for the gateway’s runtime state.</a:t>
            </a:r>
          </a:p>
          <a:p>
            <a:pPr marL="228600" indent="-228600">
              <a:buFont typeface="+mj-lt"/>
              <a:buAutoNum type="arabicPeriod"/>
            </a:pPr>
            <a:r>
              <a:rPr lang="en-GB" dirty="0"/>
              <a:t>Once ARM applies the updated configuration, the Application Gateway is ready to route traffic based on the Kubernetes declarations.</a:t>
            </a:r>
          </a:p>
          <a:p>
            <a:pPr marL="0" indent="0">
              <a:buFont typeface="+mj-lt"/>
              <a:buNone/>
            </a:pPr>
            <a:endParaRPr lang="en-GB" dirty="0"/>
          </a:p>
          <a:p>
            <a:pPr marL="0" indent="0">
              <a:buFont typeface="+mj-lt"/>
              <a:buNone/>
            </a:pPr>
            <a:r>
              <a:rPr lang="en-GB" dirty="0"/>
              <a:t>So the overall flow is: Kubernetes defines routing → ALB controller syncs it → ARM updates the gateway → the gateway routes traffic into the cluster. This gives you a fully managed, Kubernetes‑native ingress experience with Azure-native L7 capabilities</a:t>
            </a:r>
          </a:p>
          <a:p>
            <a:endParaRPr lang="en-GB" dirty="0"/>
          </a:p>
        </p:txBody>
      </p:sp>
      <p:sp>
        <p:nvSpPr>
          <p:cNvPr id="4" name="Header Placeholder 3">
            <a:extLst>
              <a:ext uri="{FF2B5EF4-FFF2-40B4-BE49-F238E27FC236}">
                <a16:creationId xmlns:a16="http://schemas.microsoft.com/office/drawing/2014/main" id="{5A1E5666-E4AC-1401-177C-1B10F5C0790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8985358-55EF-E9CC-083E-01A24A1E97B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8B24CEC-8A11-6361-46D9-8B00BC0B017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E4EF61BD-99F8-B228-641C-EC7D6B3610C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38212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B0486-72EB-E743-4ADE-FBE4DEE42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91553-53C4-C91A-4951-33302B896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2AD84E-000D-7842-22CE-1B53E20BBE87}"/>
              </a:ext>
            </a:extLst>
          </p:cNvPr>
          <p:cNvSpPr>
            <a:spLocks noGrp="1"/>
          </p:cNvSpPr>
          <p:nvPr>
            <p:ph type="body" idx="1"/>
          </p:nvPr>
        </p:nvSpPr>
        <p:spPr/>
        <p:txBody>
          <a:bodyPr/>
          <a:lstStyle/>
          <a:p>
            <a:r>
              <a:rPr lang="en-GB" dirty="0"/>
              <a:t>Components of AGC </a:t>
            </a:r>
            <a:endParaRPr lang="en-US" dirty="0"/>
          </a:p>
          <a:p>
            <a:pPr marL="171450" indent="-171450">
              <a:buFont typeface="Arial" panose="020B0604020202020204" pitchFamily="34" charset="0"/>
              <a:buChar char="•"/>
            </a:pPr>
            <a:r>
              <a:rPr lang="en-GB" dirty="0"/>
              <a:t>Azure Resource Manager (ARM)</a:t>
            </a:r>
          </a:p>
          <a:p>
            <a:r>
              <a:rPr lang="en-GB" dirty="0"/>
              <a:t>“ARM is the control plane for AGC.”</a:t>
            </a:r>
          </a:p>
          <a:p>
            <a:r>
              <a:rPr lang="en-GB" dirty="0"/>
              <a:t>It handles provisioning, updating, and maintaining all AGC‑related resources.</a:t>
            </a:r>
          </a:p>
          <a:p>
            <a:r>
              <a:rPr lang="en-GB" dirty="0"/>
              <a:t>Any configuration that the Kubernetes controller pushes is ultimately applied through ARM.</a:t>
            </a:r>
          </a:p>
          <a:p>
            <a:pPr marL="171450" indent="-171450">
              <a:buFont typeface="Arial" panose="020B0604020202020204" pitchFamily="34" charset="0"/>
              <a:buChar char="•"/>
            </a:pPr>
            <a:r>
              <a:rPr lang="en-GB" dirty="0"/>
              <a:t>Application Gateway for Containers (AGC)</a:t>
            </a:r>
          </a:p>
          <a:p>
            <a:r>
              <a:rPr lang="en-GB" dirty="0"/>
              <a:t>“This is the actual gateway resource that sits outside the cluster.”</a:t>
            </a:r>
          </a:p>
          <a:p>
            <a:r>
              <a:rPr lang="en-GB" dirty="0"/>
              <a:t>It receives traffic from the internet, applies routing rules, offloads TLS, and sends traffic into the AKS environment.</a:t>
            </a:r>
          </a:p>
          <a:p>
            <a:r>
              <a:rPr lang="en-GB" dirty="0"/>
              <a:t>Its configuration is dynamically updated from Kubernetes via the ALB controller.</a:t>
            </a:r>
          </a:p>
          <a:p>
            <a:pPr marL="171450" indent="-171450">
              <a:buFont typeface="Arial" panose="020B0604020202020204" pitchFamily="34" charset="0"/>
              <a:buChar char="•"/>
            </a:pPr>
            <a:r>
              <a:rPr lang="en-GB" dirty="0"/>
              <a:t>Frontend</a:t>
            </a:r>
          </a:p>
          <a:p>
            <a:r>
              <a:rPr lang="en-GB" dirty="0"/>
              <a:t>“Frontends define how traffic enters AGC.”</a:t>
            </a:r>
          </a:p>
          <a:p>
            <a:r>
              <a:rPr lang="en-GB" dirty="0"/>
              <a:t>They represent IP addresses, ports, and protocol listeners.</a:t>
            </a:r>
          </a:p>
          <a:p>
            <a:r>
              <a:rPr lang="en-GB" dirty="0"/>
              <a:t>Each Kubernetes Gateway or Ingress definition relies on a corresponding frontend to expose services.</a:t>
            </a:r>
          </a:p>
          <a:p>
            <a:pPr marL="171450" indent="-171450">
              <a:buFont typeface="Arial" panose="020B0604020202020204" pitchFamily="34" charset="0"/>
              <a:buChar char="•"/>
            </a:pPr>
            <a:r>
              <a:rPr lang="en-GB" dirty="0"/>
              <a:t>Association</a:t>
            </a:r>
          </a:p>
          <a:p>
            <a:r>
              <a:rPr lang="en-GB" dirty="0"/>
              <a:t>“Associations act as the link between Kubernetes and Azure resources.”</a:t>
            </a:r>
          </a:p>
          <a:p>
            <a:r>
              <a:rPr lang="en-GB" dirty="0"/>
              <a:t>They tie Frontends to the Application Gateway for Containers and ensure the gateway knows which configuration belongs to which workloads.</a:t>
            </a:r>
          </a:p>
          <a:p>
            <a:br>
              <a:rPr lang="en-US" dirty="0"/>
            </a:br>
            <a:endParaRPr lang="en-US" dirty="0"/>
          </a:p>
          <a:p>
            <a:r>
              <a:rPr lang="en-GB" dirty="0"/>
              <a:t>Kubernetes Components</a:t>
            </a:r>
          </a:p>
          <a:p>
            <a:r>
              <a:rPr lang="en-GB" dirty="0"/>
              <a:t>ALB Controller</a:t>
            </a:r>
          </a:p>
          <a:p>
            <a:r>
              <a:rPr lang="en-GB" dirty="0"/>
              <a:t>“Inside the AKS cluster, the ALB controller continuously monitors Kubernetes Gateway API or </a:t>
            </a:r>
            <a:r>
              <a:rPr lang="en-GB" dirty="0" err="1"/>
              <a:t>ApplicationLoadBalancer</a:t>
            </a:r>
            <a:r>
              <a:rPr lang="en-GB" dirty="0"/>
              <a:t> custom resources.”</a:t>
            </a:r>
          </a:p>
          <a:p>
            <a:r>
              <a:rPr lang="en-GB" dirty="0"/>
              <a:t>It translates these Kubernetes resources into AGC configuration and pushes updates to ARM.</a:t>
            </a:r>
          </a:p>
          <a:p>
            <a:r>
              <a:rPr lang="en-GB" dirty="0"/>
              <a:t>This is what enables near real‑time synchronization between Kubernetes intent and Azure infrastructure.</a:t>
            </a:r>
          </a:p>
          <a:p>
            <a:r>
              <a:rPr lang="en-GB" dirty="0" err="1"/>
              <a:t>ApplicationLoadBalancer</a:t>
            </a:r>
            <a:r>
              <a:rPr lang="en-GB" dirty="0"/>
              <a:t> (CR)</a:t>
            </a:r>
          </a:p>
          <a:p>
            <a:r>
              <a:rPr lang="en-GB" dirty="0"/>
              <a:t>“This is the Kubernetes custom resource that represents an AGC instance inside the cluster.”</a:t>
            </a:r>
          </a:p>
          <a:p>
            <a:r>
              <a:rPr lang="en-GB" dirty="0"/>
              <a:t>When defined, it signals the ALB controller to create or update the corresponding AGC resource in Azure.</a:t>
            </a:r>
          </a:p>
          <a:p>
            <a:r>
              <a:rPr lang="en-GB" dirty="0"/>
              <a:t>The lifecycle of this CR directly drives the lifecycle of AGC in managed deployments.</a:t>
            </a:r>
          </a:p>
          <a:p>
            <a:br>
              <a:rPr lang="en-US" dirty="0"/>
            </a:br>
            <a:endParaRPr lang="en-US" dirty="0"/>
          </a:p>
          <a:p>
            <a:r>
              <a:rPr lang="en-GB" dirty="0"/>
              <a:t>Closing Summary</a:t>
            </a:r>
          </a:p>
          <a:p>
            <a:r>
              <a:rPr lang="en-GB" dirty="0"/>
              <a:t>“Together, these Azure and Kubernetes components create a tight integration where Kubernetes defines the desired state, the ALB controller interprets it, and ARM provisions the </a:t>
            </a:r>
            <a:r>
              <a:rPr lang="en-GB" dirty="0" err="1"/>
              <a:t>gatewayresulting</a:t>
            </a:r>
            <a:r>
              <a:rPr lang="en-GB" dirty="0"/>
              <a:t> in a fully managed, scalable, cloud‑native ingress solution for AKS</a:t>
            </a:r>
          </a:p>
          <a:p>
            <a:endParaRPr lang="en-GB" dirty="0"/>
          </a:p>
        </p:txBody>
      </p:sp>
      <p:sp>
        <p:nvSpPr>
          <p:cNvPr id="4" name="Header Placeholder 3">
            <a:extLst>
              <a:ext uri="{FF2B5EF4-FFF2-40B4-BE49-F238E27FC236}">
                <a16:creationId xmlns:a16="http://schemas.microsoft.com/office/drawing/2014/main" id="{4ECF0E43-0E02-6191-5168-7F3A6E3A4616}"/>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942B3BF7-C051-D664-4511-566487B80521}"/>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BE3A9B2C-77F7-20E8-7EC2-79B3B689B79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5A365B4-4B1F-86A4-0CEA-B781AB043A0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50284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B0391-6E3C-8954-B800-78D7DE14E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EDDB6-50EE-8481-DF07-0D878C4F6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6041C-36CF-2D14-AF86-F428AE6FFC7A}"/>
              </a:ext>
            </a:extLst>
          </p:cNvPr>
          <p:cNvSpPr>
            <a:spLocks noGrp="1"/>
          </p:cNvSpPr>
          <p:nvPr>
            <p:ph type="body" idx="1"/>
          </p:nvPr>
        </p:nvSpPr>
        <p:spPr/>
        <p:txBody>
          <a:bodyPr/>
          <a:lstStyle/>
          <a:p>
            <a:r>
              <a:rPr lang="en-GB" dirty="0"/>
              <a:t>Application Gateway for Containers introduces a modern, high‑performance ingress layer purpose‑built for Kubernetes at scale. It significantly enhances traffic control, performance, and operational flexibility compared to the legacy AGIC model.</a:t>
            </a:r>
            <a:endParaRPr lang="en-US" dirty="0"/>
          </a:p>
          <a:p>
            <a:br>
              <a:rPr lang="en-US" dirty="0"/>
            </a:br>
            <a:endParaRPr lang="en-US" dirty="0"/>
          </a:p>
          <a:p>
            <a:r>
              <a:rPr lang="en-GB" dirty="0"/>
              <a:t>1. Traffic Splitting / Weighted Round‑Robin</a:t>
            </a:r>
          </a:p>
          <a:p>
            <a:r>
              <a:rPr lang="en-GB" dirty="0"/>
              <a:t>Enables advanced routing scenarios by distributing traffic across backend services with weighted rules.</a:t>
            </a:r>
          </a:p>
          <a:p>
            <a:r>
              <a:rPr lang="en-GB" dirty="0"/>
              <a:t>Useful for blue‑green deployments, canary releases, and gradual rollout strategies.</a:t>
            </a:r>
          </a:p>
          <a:p>
            <a:br>
              <a:rPr lang="en-US" dirty="0"/>
            </a:br>
            <a:endParaRPr lang="en-US" dirty="0"/>
          </a:p>
          <a:p>
            <a:r>
              <a:rPr lang="en-GB" dirty="0"/>
              <a:t>2. Mutual Authentication to Backend Targets</a:t>
            </a:r>
          </a:p>
          <a:p>
            <a:r>
              <a:rPr lang="en-GB" dirty="0"/>
              <a:t>Supports </a:t>
            </a:r>
            <a:r>
              <a:rPr lang="en-GB" dirty="0" err="1"/>
              <a:t>mTLS</a:t>
            </a:r>
            <a:r>
              <a:rPr lang="en-GB" dirty="0"/>
              <a:t>, allowing secure, identity‑validated communication between the gateway and backend workloads.</a:t>
            </a:r>
          </a:p>
          <a:p>
            <a:r>
              <a:rPr lang="en-GB" dirty="0"/>
              <a:t>Improves zero‑trust postures inside the cluster.</a:t>
            </a:r>
          </a:p>
          <a:p>
            <a:br>
              <a:rPr lang="en-US" dirty="0"/>
            </a:br>
            <a:endParaRPr lang="en-US" dirty="0"/>
          </a:p>
          <a:p>
            <a:r>
              <a:rPr lang="en-GB" dirty="0"/>
              <a:t>3. Kubernetes Ingress &amp; Gateway API Support</a:t>
            </a:r>
          </a:p>
          <a:p>
            <a:r>
              <a:rPr lang="en-GB" dirty="0"/>
              <a:t>Works with both Ingress and the newer Gateway API, aligning with modern Kubernetes networking standards.</a:t>
            </a:r>
          </a:p>
          <a:p>
            <a:r>
              <a:rPr lang="en-GB" dirty="0"/>
              <a:t>Provides richer traffic routing, policy attachment, and improved extensibility.</a:t>
            </a:r>
          </a:p>
          <a:p>
            <a:br>
              <a:rPr lang="en-US" dirty="0"/>
            </a:br>
            <a:endParaRPr lang="en-US" dirty="0"/>
          </a:p>
          <a:p>
            <a:r>
              <a:rPr lang="en-GB" dirty="0"/>
              <a:t>4. Flexible Deployment Strategies</a:t>
            </a:r>
          </a:p>
          <a:p>
            <a:r>
              <a:rPr lang="en-GB" dirty="0"/>
              <a:t>Can be deployed as: </a:t>
            </a:r>
          </a:p>
          <a:p>
            <a:r>
              <a:rPr lang="en-GB" dirty="0"/>
              <a:t>Bring‑Your‑Own (managed via Azure portal/CLI/ARM/Terraform), or</a:t>
            </a:r>
          </a:p>
          <a:p>
            <a:r>
              <a:rPr lang="en-GB" dirty="0"/>
              <a:t>ALB‑managed, where the controller handles lifecycle automatically.</a:t>
            </a:r>
          </a:p>
          <a:p>
            <a:r>
              <a:rPr lang="en-GB" dirty="0"/>
              <a:t>Gives teams freedom over operational models.</a:t>
            </a:r>
          </a:p>
          <a:p>
            <a:br>
              <a:rPr lang="en-US" dirty="0"/>
            </a:br>
            <a:endParaRPr lang="en-US" dirty="0"/>
          </a:p>
          <a:p>
            <a:r>
              <a:rPr lang="en-GB" dirty="0"/>
              <a:t>5. Increased Performance &amp; Near Real‑Time Updates</a:t>
            </a:r>
          </a:p>
          <a:p>
            <a:r>
              <a:rPr lang="en-GB" dirty="0"/>
              <a:t>New data plane enables immediate updates when pods are added, removed, or replaced.</a:t>
            </a:r>
          </a:p>
          <a:p>
            <a:r>
              <a:rPr lang="en-GB" dirty="0"/>
              <a:t>Keeps ingress configuration in sync with the rapidly changing Kubernetes environment.</a:t>
            </a:r>
          </a:p>
          <a:p>
            <a:br>
              <a:rPr lang="en-US" dirty="0"/>
            </a:br>
            <a:endParaRPr lang="en-US" dirty="0"/>
          </a:p>
          <a:p>
            <a:r>
              <a:rPr lang="en-GB" dirty="0"/>
              <a:t>6. Elastic, Scalable Ingress with New Data &amp; Control Plane</a:t>
            </a:r>
          </a:p>
          <a:p>
            <a:r>
              <a:rPr lang="en-GB" dirty="0"/>
              <a:t>Built with a completely new data plane and new ARM APIs, distinct from classic Application Gateway.</a:t>
            </a:r>
          </a:p>
          <a:p>
            <a:r>
              <a:rPr lang="en-GB" dirty="0"/>
              <a:t>Designed to scale with high‑churn container workloads (unlike AGIC, which used ARM updates less efficiently).</a:t>
            </a:r>
          </a:p>
          <a:p>
            <a:br>
              <a:rPr lang="en-US" dirty="0"/>
            </a:br>
            <a:endParaRPr lang="en-US" dirty="0"/>
          </a:p>
          <a:p>
            <a:r>
              <a:rPr lang="en-GB" dirty="0"/>
              <a:t>7. Architecture: Outside AKS Data Plane + ALB Controller</a:t>
            </a:r>
          </a:p>
          <a:p>
            <a:r>
              <a:rPr lang="en-GB" dirty="0"/>
              <a:t>The Application Gateway for Containers runs outside the AKS data plane.</a:t>
            </a:r>
          </a:p>
          <a:p>
            <a:r>
              <a:rPr lang="en-GB" dirty="0"/>
              <a:t>The ALB controller, running inside the cluster, manages configuration by watching Kubernetes Gateway API resources.</a:t>
            </a:r>
          </a:p>
          <a:p>
            <a:r>
              <a:rPr lang="en-GB" dirty="0"/>
              <a:t>Ensures Kubernetes‑native control with Azure‑managed ingress capacity.</a:t>
            </a:r>
          </a:p>
          <a:p>
            <a:endParaRPr lang="en-GB" dirty="0"/>
          </a:p>
          <a:p>
            <a:r>
              <a:rPr lang="en-GB" dirty="0"/>
              <a:t>For more features visit </a:t>
            </a:r>
            <a:r>
              <a:rPr lang="en-GB" dirty="0">
                <a:hlinkClick r:id="rId3"/>
              </a:rPr>
              <a:t>What is Application Gateway for Containers? | Microsoft Learn</a:t>
            </a:r>
            <a:r>
              <a:rPr lang="en-GB" dirty="0"/>
              <a:t> </a:t>
            </a:r>
          </a:p>
          <a:p>
            <a:endParaRPr lang="en-GB" dirty="0"/>
          </a:p>
        </p:txBody>
      </p:sp>
      <p:sp>
        <p:nvSpPr>
          <p:cNvPr id="4" name="Header Placeholder 3">
            <a:extLst>
              <a:ext uri="{FF2B5EF4-FFF2-40B4-BE49-F238E27FC236}">
                <a16:creationId xmlns:a16="http://schemas.microsoft.com/office/drawing/2014/main" id="{D38171B3-856A-6E7F-4BE7-AF459A04D3D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A9D040B-FEEA-4AA8-7E55-DECDAA9069B7}"/>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FCE1CC3-BB17-18C4-9121-00728341B8D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FBF6A2D-DB98-18CB-635A-C3161D6B640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56750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27F7C-21B7-A6F1-6804-3D2C1B24E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2FA0C-8E5C-2B7B-E437-963BA5353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526EE-6586-639E-7F9C-AC15B8024993}"/>
              </a:ext>
            </a:extLst>
          </p:cNvPr>
          <p:cNvSpPr>
            <a:spLocks noGrp="1"/>
          </p:cNvSpPr>
          <p:nvPr>
            <p:ph type="body" idx="1"/>
          </p:nvPr>
        </p:nvSpPr>
        <p:spPr/>
        <p:txBody>
          <a:bodyPr/>
          <a:lstStyle/>
          <a:p>
            <a:r>
              <a:rPr lang="en-GB"/>
              <a:t>Overview</a:t>
            </a:r>
            <a:endParaRPr lang="en-US"/>
          </a:p>
          <a:p>
            <a:r>
              <a:rPr lang="en-GB"/>
              <a:t>Application Gateway for Containers supports two primary deployment models. The choice depends on how much control your platform team wants versus how much automation and Kubernetes‑native behaviour you prefer.</a:t>
            </a:r>
          </a:p>
          <a:p>
            <a:br>
              <a:rPr lang="en-US" dirty="0"/>
            </a:br>
            <a:endParaRPr lang="en-US" dirty="0"/>
          </a:p>
          <a:p>
            <a:r>
              <a:rPr lang="en-GB"/>
              <a:t>1. Bring‑Your‑Own (BYO) Deployment</a:t>
            </a:r>
          </a:p>
          <a:p>
            <a:r>
              <a:rPr lang="en-GB" dirty="0"/>
              <a:t>In this model, you own and operate the lifecycle of all Application Gateway for Containers resources: </a:t>
            </a:r>
          </a:p>
          <a:p>
            <a:r>
              <a:rPr lang="en-GB"/>
              <a:t>Application Gateway for Containers resource</a:t>
            </a:r>
          </a:p>
          <a:p>
            <a:r>
              <a:rPr lang="en-GB"/>
              <a:t>Association resource</a:t>
            </a:r>
          </a:p>
          <a:p>
            <a:r>
              <a:rPr lang="en-GB"/>
              <a:t>Frontend resource</a:t>
            </a:r>
          </a:p>
          <a:p>
            <a:r>
              <a:rPr lang="en-GB"/>
              <a:t>Provisioning is done using Azure Portal, CLI, PowerShell, Terraform, etc., then referenced within your Kubernetes manifests.</a:t>
            </a:r>
          </a:p>
          <a:p>
            <a:r>
              <a:rPr lang="en-GB"/>
              <a:t>Gateway API considerations: </a:t>
            </a:r>
          </a:p>
          <a:p>
            <a:r>
              <a:rPr lang="en-GB"/>
              <a:t>When creating a new Gateway object in Kubernetes, you must pre‑provision a Frontend resource in Azure.</a:t>
            </a:r>
          </a:p>
          <a:p>
            <a:r>
              <a:rPr lang="en-GB" dirty="0"/>
              <a:t>Deleting the Gateway object in Kubernetes does not delete the Azure Frontend resource — Azure administrators must remove it manually.</a:t>
            </a:r>
          </a:p>
          <a:p>
            <a:br>
              <a:rPr lang="en-US" dirty="0"/>
            </a:br>
            <a:endParaRPr lang="en-US" dirty="0"/>
          </a:p>
          <a:p>
            <a:r>
              <a:rPr lang="en-GB"/>
              <a:t>2. Managed by ALB Controller Deployment</a:t>
            </a:r>
          </a:p>
          <a:p>
            <a:r>
              <a:rPr lang="en-GB"/>
              <a:t>The ALB Controller, running inside the AKS cluster, fully manages lifecycle of: </a:t>
            </a:r>
          </a:p>
          <a:p>
            <a:r>
              <a:rPr lang="en-GB"/>
              <a:t>Application Gateway for Containers</a:t>
            </a:r>
          </a:p>
          <a:p>
            <a:r>
              <a:rPr lang="en-GB"/>
              <a:t>Association &amp; Frontend resources</a:t>
            </a:r>
          </a:p>
          <a:p>
            <a:r>
              <a:rPr lang="en-GB" dirty="0"/>
              <a:t>A new Application Gateway for Containers instance is automatically created whenever an </a:t>
            </a:r>
            <a:r>
              <a:rPr lang="en-GB" dirty="0" err="1"/>
              <a:t>ApplicationLoadBalancer</a:t>
            </a:r>
            <a:r>
              <a:rPr lang="en-GB" dirty="0"/>
              <a:t> custom resource is defined.</a:t>
            </a:r>
          </a:p>
          <a:p>
            <a:r>
              <a:rPr lang="en-GB"/>
              <a:t>Lifecycle of AGFC resources maps directly to the lifecycle of the Kubernetes custom resource — making it cloud‑native and hands‑off.</a:t>
            </a:r>
          </a:p>
          <a:p>
            <a:r>
              <a:rPr lang="en-GB"/>
              <a:t>Gateway API considerations: </a:t>
            </a:r>
          </a:p>
          <a:p>
            <a:r>
              <a:rPr lang="en-GB" dirty="0"/>
              <a:t>When a Gateway references the </a:t>
            </a:r>
            <a:r>
              <a:rPr lang="en-GB" dirty="0" err="1"/>
              <a:t>ApplicationLoadBalancer</a:t>
            </a:r>
            <a:r>
              <a:rPr lang="en-GB" dirty="0"/>
              <a:t> resource, the ALB Controller auto‑provisions a Frontend.</a:t>
            </a:r>
          </a:p>
          <a:p>
            <a:r>
              <a:rPr lang="en-GB"/>
              <a:t>Cleanup and updates also follow Gateway resource lifecycle automatically.</a:t>
            </a:r>
          </a:p>
          <a:p>
            <a:endParaRPr lang="en-GB" dirty="0"/>
          </a:p>
        </p:txBody>
      </p:sp>
      <p:sp>
        <p:nvSpPr>
          <p:cNvPr id="4" name="Header Placeholder 3">
            <a:extLst>
              <a:ext uri="{FF2B5EF4-FFF2-40B4-BE49-F238E27FC236}">
                <a16:creationId xmlns:a16="http://schemas.microsoft.com/office/drawing/2014/main" id="{679AE2A9-1B0F-3F84-CCEF-ED1E60F255D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1D14A788-5C85-0481-229A-DCDCA7F5912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1AFE143-7AEE-D394-A7F4-6998A4ED5E9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67F4E40-B73B-C91C-B214-A277AEC5EA3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78818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F6CDB-A031-D563-D5FB-17AD4AB55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2B2E2-2766-10C5-0D30-521FC5245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B1ED2-40DF-88DD-0672-54BB132F0AF5}"/>
              </a:ext>
            </a:extLst>
          </p:cNvPr>
          <p:cNvSpPr>
            <a:spLocks noGrp="1"/>
          </p:cNvSpPr>
          <p:nvPr>
            <p:ph type="body" idx="1"/>
          </p:nvPr>
        </p:nvSpPr>
        <p:spPr/>
        <p:txBody>
          <a:bodyPr/>
          <a:lstStyle/>
          <a:p>
            <a:r>
              <a:rPr lang="en-GB" dirty="0">
                <a:hlinkClick r:id="rId3"/>
              </a:rPr>
              <a:t>Multi-site hosting with Application Gateway for Containers - Gateway API | Microsoft Learn</a:t>
            </a:r>
            <a:endParaRPr lang="en-US"/>
          </a:p>
          <a:p>
            <a:endParaRPr lang="en-GB" dirty="0"/>
          </a:p>
          <a:p>
            <a:r>
              <a:rPr lang="en-GB"/>
              <a:t>one of the major advantages of AGC is its ability to host up to 200 unique hostnames on a single gateway resource.”</a:t>
            </a:r>
          </a:p>
          <a:p>
            <a:r>
              <a:rPr lang="en-GB" dirty="0"/>
              <a:t>This means you can consolidate multiple websites, APIs, or customer‑facing domains through one centralized ingress layer reducing operational overhead and simplifying management.</a:t>
            </a:r>
          </a:p>
          <a:p>
            <a:br>
              <a:rPr lang="en-US" dirty="0"/>
            </a:br>
            <a:endParaRPr lang="en-US" dirty="0"/>
          </a:p>
          <a:p>
            <a:r>
              <a:rPr lang="en-GB"/>
              <a:t>Walkthrough of the Diagram</a:t>
            </a:r>
          </a:p>
          <a:p>
            <a:endParaRPr lang="en-GB" dirty="0"/>
          </a:p>
          <a:p>
            <a:r>
              <a:rPr lang="en-GB"/>
              <a:t>Left Side  Multiple Domains</a:t>
            </a:r>
          </a:p>
          <a:p>
            <a:r>
              <a:rPr lang="en-GB"/>
              <a:t>“Here you can see two example domains: contoso.com and fabrikam.com.”</a:t>
            </a:r>
          </a:p>
          <a:p>
            <a:r>
              <a:rPr lang="en-GB" dirty="0"/>
              <a:t>These represent completely separate applications, tenants, or business units.</a:t>
            </a:r>
          </a:p>
          <a:p>
            <a:endParaRPr lang="en-GB" dirty="0"/>
          </a:p>
          <a:p>
            <a:r>
              <a:rPr lang="en-GB" dirty="0" err="1"/>
              <a:t>Center</a:t>
            </a:r>
            <a:r>
              <a:rPr lang="en-GB" dirty="0"/>
              <a:t> Application Gateway for Containers</a:t>
            </a:r>
          </a:p>
          <a:p>
            <a:r>
              <a:rPr lang="en-GB"/>
              <a:t>“Both domains route into the same AGC instance.”</a:t>
            </a:r>
          </a:p>
          <a:p>
            <a:r>
              <a:rPr lang="en-GB" dirty="0"/>
              <a:t>AGC inspects the incoming hostname and routes the request to the appropriate backend service inside AKS.</a:t>
            </a:r>
          </a:p>
          <a:p>
            <a:r>
              <a:rPr lang="en-GB"/>
              <a:t>This gives you consistent security, DDoS protection, TLS offloading, and routing logic across all sites.</a:t>
            </a:r>
          </a:p>
          <a:p>
            <a:endParaRPr lang="en-GB" dirty="0"/>
          </a:p>
          <a:p>
            <a:r>
              <a:rPr lang="en-GB"/>
              <a:t>Right Side  AKS Cluster Services</a:t>
            </a:r>
          </a:p>
          <a:p>
            <a:r>
              <a:rPr lang="en-GB"/>
              <a:t>“Inside AKS, each hostname maps to its own service.” </a:t>
            </a:r>
          </a:p>
          <a:p>
            <a:r>
              <a:rPr lang="en-GB" dirty="0"/>
              <a:t>contoso.com → </a:t>
            </a:r>
            <a:r>
              <a:rPr lang="en-GB" dirty="0" err="1"/>
              <a:t>contoso.com.service</a:t>
            </a:r>
          </a:p>
          <a:p>
            <a:r>
              <a:rPr lang="en-GB" dirty="0"/>
              <a:t>fabrikam.com → </a:t>
            </a:r>
            <a:r>
              <a:rPr lang="en-GB" dirty="0" err="1"/>
              <a:t>fabrikam.com.service</a:t>
            </a:r>
          </a:p>
          <a:p>
            <a:r>
              <a:rPr lang="en-GB" dirty="0"/>
              <a:t>Each service then independently scales its own pods Pod A, Pod B, Pod C, </a:t>
            </a:r>
            <a:r>
              <a:rPr lang="en-GB" dirty="0" err="1"/>
              <a:t>etc.based</a:t>
            </a:r>
            <a:r>
              <a:rPr lang="en-GB" dirty="0"/>
              <a:t> on workload demand.</a:t>
            </a:r>
          </a:p>
          <a:p>
            <a:endParaRPr lang="en-GB" dirty="0"/>
          </a:p>
        </p:txBody>
      </p:sp>
      <p:sp>
        <p:nvSpPr>
          <p:cNvPr id="4" name="Header Placeholder 3">
            <a:extLst>
              <a:ext uri="{FF2B5EF4-FFF2-40B4-BE49-F238E27FC236}">
                <a16:creationId xmlns:a16="http://schemas.microsoft.com/office/drawing/2014/main" id="{05F491EF-71B0-526F-1F91-11BD2D75679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8B46596-7D81-A9A1-A439-01D67D2496F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6D22B92-1812-91E6-BB1E-5E96B38E9E7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C46A1F9B-BAA7-F2C8-D94E-1B06BD89098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17669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AF79-1BF3-7E11-8D92-566F9270B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BCD46-5FFC-9041-12BD-19A08B70C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89629-6CA4-CBAA-E2E3-2642B08406B3}"/>
              </a:ext>
            </a:extLst>
          </p:cNvPr>
          <p:cNvSpPr>
            <a:spLocks noGrp="1"/>
          </p:cNvSpPr>
          <p:nvPr>
            <p:ph type="body" idx="1"/>
          </p:nvPr>
        </p:nvSpPr>
        <p:spPr/>
        <p:txBody>
          <a:bodyPr/>
          <a:lstStyle/>
          <a:p>
            <a:r>
              <a:rPr lang="en-GB"/>
              <a:t>“Traffic splitting allows AGC to distribute incoming traffic across multiple backend services based on assigned weights.”</a:t>
            </a:r>
            <a:endParaRPr lang="en-US"/>
          </a:p>
          <a:p>
            <a:r>
              <a:rPr lang="en-GB" dirty="0"/>
              <a:t>Instead of routing all requests to a single version of an application, you can allocate a percentage of traffic to each service.</a:t>
            </a:r>
          </a:p>
          <a:p>
            <a:br>
              <a:rPr lang="en-US" dirty="0"/>
            </a:br>
            <a:endParaRPr lang="en-US" dirty="0"/>
          </a:p>
          <a:p>
            <a:r>
              <a:rPr lang="en-GB"/>
              <a:t>Walk Through the Diagram</a:t>
            </a:r>
          </a:p>
          <a:p>
            <a:r>
              <a:rPr lang="en-GB"/>
              <a:t>Incoming Traffic (contoso.com)</a:t>
            </a:r>
          </a:p>
          <a:p>
            <a:r>
              <a:rPr lang="en-GB"/>
              <a:t>“All requests come through contoso.com and land on the Application Gateway for Containers.”</a:t>
            </a:r>
          </a:p>
          <a:p>
            <a:r>
              <a:rPr lang="en-GB"/>
              <a:t>Weighted Routing</a:t>
            </a:r>
          </a:p>
          <a:p>
            <a:r>
              <a:rPr lang="en-GB"/>
              <a:t>“Here, the gateway sends 50% of the traffic to the backend‑v1 service and 50% to backend‑v2.”</a:t>
            </a:r>
          </a:p>
          <a:p>
            <a:r>
              <a:rPr lang="en-GB"/>
              <a:t>These weights are fully configurable — you can choose 90/10, 95/5, or any ratio that fits your deployment strategy.</a:t>
            </a:r>
          </a:p>
          <a:p>
            <a:r>
              <a:rPr lang="en-GB"/>
              <a:t>Backend Services</a:t>
            </a:r>
          </a:p>
          <a:p>
            <a:r>
              <a:rPr lang="en-GB" dirty="0"/>
              <a:t>“Each backend version runs its own set of pods. So backend‑v1 and backend‑v2 can scale independently while sharing the same entry point.”</a:t>
            </a:r>
          </a:p>
          <a:p>
            <a:br>
              <a:rPr lang="en-US" dirty="0"/>
            </a:br>
            <a:endParaRPr lang="en-US" dirty="0"/>
          </a:p>
          <a:p>
            <a:r>
              <a:rPr lang="en-GB"/>
              <a:t>Highlight the Use Cases</a:t>
            </a:r>
          </a:p>
          <a:p>
            <a:r>
              <a:rPr lang="en-GB"/>
              <a:t>Blue/Green &amp; Canary Deployments</a:t>
            </a:r>
          </a:p>
          <a:p>
            <a:r>
              <a:rPr lang="en-GB"/>
              <a:t>“This is excellent for blue/green deployments because it lets you gradually introduce new versions.”</a:t>
            </a:r>
          </a:p>
          <a:p>
            <a:r>
              <a:rPr lang="en-GB" dirty="0"/>
              <a:t>You can start with a small percentage of traffic routed to the new version, monitor its performance, and increase the weight over time.</a:t>
            </a:r>
          </a:p>
          <a:p>
            <a:r>
              <a:rPr lang="en-GB"/>
              <a:t>Risk Reduction</a:t>
            </a:r>
          </a:p>
          <a:p>
            <a:r>
              <a:rPr lang="en-GB"/>
              <a:t>“Weighted routing helps reduce deployment risk — if something goes wrong with backend‑v2, it’s easy to redirect all traffic back to the stable version instantly.”</a:t>
            </a:r>
          </a:p>
          <a:p>
            <a:br>
              <a:rPr lang="en-US" dirty="0"/>
            </a:br>
            <a:endParaRPr lang="en-US" dirty="0"/>
          </a:p>
          <a:p>
            <a:r>
              <a:rPr lang="en-GB"/>
              <a:t>Closing Summary</a:t>
            </a:r>
          </a:p>
          <a:p>
            <a:r>
              <a:rPr lang="en-GB"/>
              <a:t>“Weighted round‑robin gives teams precise control over how traffic flows between application versions, enabling safe, incremental rollouts directly within AKS using AGC.</a:t>
            </a:r>
          </a:p>
          <a:p>
            <a:endParaRPr lang="en-GB" dirty="0"/>
          </a:p>
        </p:txBody>
      </p:sp>
      <p:sp>
        <p:nvSpPr>
          <p:cNvPr id="4" name="Header Placeholder 3">
            <a:extLst>
              <a:ext uri="{FF2B5EF4-FFF2-40B4-BE49-F238E27FC236}">
                <a16:creationId xmlns:a16="http://schemas.microsoft.com/office/drawing/2014/main" id="{3DD427C8-44E8-1086-F66A-94482763184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0F80F277-EF04-06BF-DD4A-B1281101C8F9}"/>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E369E633-90DD-0C02-8C5B-F89100FF51A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E80BC01-0525-B2C2-B87E-068886C43BD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718207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60B7A-D281-E50E-A499-7B2BE6C28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F4E9E-7261-1E7B-D88E-20B569489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50573-ACFB-519F-8065-5041482B0D75}"/>
              </a:ext>
            </a:extLst>
          </p:cNvPr>
          <p:cNvSpPr>
            <a:spLocks noGrp="1"/>
          </p:cNvSpPr>
          <p:nvPr>
            <p:ph type="body" idx="1"/>
          </p:nvPr>
        </p:nvSpPr>
        <p:spPr/>
        <p:txBody>
          <a:bodyPr/>
          <a:lstStyle/>
          <a:p>
            <a:r>
              <a:rPr lang="en-GB" dirty="0">
                <a:hlinkClick r:id="rId3"/>
              </a:rPr>
              <a:t>Path, header, and query string routing with Application Gateway for Containers - Gateway API | Microsoft Learn</a:t>
            </a:r>
          </a:p>
          <a:p>
            <a:endParaRPr lang="en-GB" dirty="0"/>
          </a:p>
          <a:p>
            <a:r>
              <a:rPr lang="en-GB" dirty="0"/>
              <a:t>AGC doesn’t just route based on hostnames  it can make routing decisions using the request path, the query string, and even specific header values.</a:t>
            </a:r>
          </a:p>
          <a:p>
            <a:r>
              <a:rPr lang="en-GB"/>
              <a:t>This is extremely useful when you have multiple versions of an API, need feature‑flag routing, or want to direct traffic to specialized microservices.</a:t>
            </a:r>
          </a:p>
          <a:p>
            <a:br>
              <a:rPr lang="en-US" dirty="0"/>
            </a:br>
            <a:endParaRPr lang="en-US" dirty="0"/>
          </a:p>
          <a:p>
            <a:r>
              <a:rPr lang="en-GB"/>
              <a:t>Walk Through the Examples</a:t>
            </a:r>
          </a:p>
          <a:p>
            <a:r>
              <a:rPr lang="en-GB"/>
              <a:t>1. Path‑Based Routing</a:t>
            </a:r>
          </a:p>
          <a:p>
            <a:r>
              <a:rPr lang="en-GB"/>
              <a:t>“The first example shows a request coming into contoso.com/bar.”</a:t>
            </a:r>
          </a:p>
          <a:p>
            <a:r>
              <a:rPr lang="en-GB"/>
              <a:t>AGC recognizes the /bar path and forwards that request to the correct backend service  in this case, the backend‑v1 service.</a:t>
            </a:r>
          </a:p>
          <a:p>
            <a:r>
              <a:rPr lang="en-GB"/>
              <a:t>This allows clean separation of microservices by URL structure.</a:t>
            </a:r>
          </a:p>
          <a:p>
            <a:br>
              <a:rPr lang="en-US" dirty="0"/>
            </a:br>
            <a:endParaRPr lang="en-US" dirty="0"/>
          </a:p>
          <a:p>
            <a:r>
              <a:rPr lang="en-GB"/>
              <a:t>2. Query String &amp; Header‑Based Routing</a:t>
            </a:r>
          </a:p>
          <a:p>
            <a:r>
              <a:rPr lang="en-GB" dirty="0"/>
              <a:t>“The second request includes both a complex path and a query string contoso.com/some/</a:t>
            </a:r>
            <a:r>
              <a:rPr lang="en-GB" dirty="0" err="1"/>
              <a:t>thing?great</a:t>
            </a:r>
            <a:r>
              <a:rPr lang="en-GB" dirty="0"/>
              <a:t>=example  along with a custom header.”</a:t>
            </a:r>
          </a:p>
          <a:p>
            <a:r>
              <a:rPr lang="en-GB"/>
              <a:t>The routing rule checks: </a:t>
            </a:r>
          </a:p>
          <a:p>
            <a:r>
              <a:rPr lang="en-GB"/>
              <a:t>Query parameter: great=example</a:t>
            </a:r>
          </a:p>
          <a:p>
            <a:r>
              <a:rPr lang="en-GB"/>
              <a:t>Custom header: Name = magic, Value = foo</a:t>
            </a:r>
          </a:p>
          <a:p>
            <a:r>
              <a:rPr lang="en-GB"/>
              <a:t>If both match, AGC routes the request to the backend‑v2 service.</a:t>
            </a:r>
          </a:p>
          <a:p>
            <a:r>
              <a:rPr lang="en-GB" dirty="0"/>
              <a:t>This is perfect for A/B testing, partner‑specific </a:t>
            </a:r>
            <a:r>
              <a:rPr lang="en-GB" dirty="0" err="1"/>
              <a:t>behavior</a:t>
            </a:r>
            <a:r>
              <a:rPr lang="en-GB" dirty="0"/>
              <a:t>, or conditional feature rollouts.</a:t>
            </a:r>
          </a:p>
          <a:p>
            <a:br>
              <a:rPr lang="en-US" dirty="0"/>
            </a:br>
            <a:endParaRPr lang="en-US" dirty="0"/>
          </a:p>
          <a:p>
            <a:r>
              <a:rPr lang="en-GB"/>
              <a:t>3. Default Routing Rule</a:t>
            </a:r>
          </a:p>
          <a:p>
            <a:r>
              <a:rPr lang="en-GB"/>
              <a:t>“Finally, any request that doesn’t match one of the defined rules will fall back to the default backend in this example, the backend‑v1 service.”</a:t>
            </a:r>
          </a:p>
          <a:p>
            <a:r>
              <a:rPr lang="en-GB"/>
              <a:t>Defaulting ensures you always have a predictable and safe routing destination.</a:t>
            </a:r>
          </a:p>
          <a:p>
            <a:br>
              <a:rPr lang="en-US" dirty="0"/>
            </a:br>
            <a:endParaRPr lang="en-US" dirty="0"/>
          </a:p>
          <a:p>
            <a:r>
              <a:rPr lang="en-GB"/>
              <a:t>Why This Matters</a:t>
            </a:r>
          </a:p>
          <a:p>
            <a:r>
              <a:rPr lang="en-GB"/>
              <a:t>“Fine‑grained routing allows teams to run multiple workflows, versions, or feature sets without exposing complexity to end users.”</a:t>
            </a:r>
          </a:p>
          <a:p>
            <a:r>
              <a:rPr lang="en-GB"/>
              <a:t>You can use it for canary releases, device‑specific routing, API versioning, or even security filtering.</a:t>
            </a:r>
          </a:p>
          <a:p>
            <a:br>
              <a:rPr lang="en-US" dirty="0"/>
            </a:br>
            <a:endParaRPr lang="en-US" dirty="0"/>
          </a:p>
          <a:p>
            <a:r>
              <a:rPr lang="en-GB"/>
              <a:t>Closing Summary</a:t>
            </a:r>
          </a:p>
          <a:p>
            <a:r>
              <a:rPr lang="en-GB" dirty="0"/>
              <a:t>“Overall, AGC gives us very powerful conditional routing capabilities. By using paths, headers, and query strings, we can ensure every request lands in the exact service that should handle it all while keeping traffic management centralized and Kubernetes‑native.”</a:t>
            </a:r>
          </a:p>
          <a:p>
            <a:endParaRPr lang="en-GB" dirty="0"/>
          </a:p>
        </p:txBody>
      </p:sp>
      <p:sp>
        <p:nvSpPr>
          <p:cNvPr id="4" name="Header Placeholder 3">
            <a:extLst>
              <a:ext uri="{FF2B5EF4-FFF2-40B4-BE49-F238E27FC236}">
                <a16:creationId xmlns:a16="http://schemas.microsoft.com/office/drawing/2014/main" id="{42D58953-3B03-D64A-41E1-D1EB8B7DCAF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F2CB67C7-7889-3182-CC33-26DDE940B91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5EA3B853-BBD8-F72E-AC3F-0B907997FF1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4CE180C-D202-863F-93BF-FC84B64CD1D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146880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4440F-AD00-DC85-56DF-47CDE3064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FED37-72E4-E382-CFD9-57DBD0BFE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ACDFF-09EF-7179-353B-38A82DABB4C3}"/>
              </a:ext>
            </a:extLst>
          </p:cNvPr>
          <p:cNvSpPr>
            <a:spLocks noGrp="1"/>
          </p:cNvSpPr>
          <p:nvPr>
            <p:ph type="body" idx="1"/>
          </p:nvPr>
        </p:nvSpPr>
        <p:spPr/>
        <p:txBody>
          <a:bodyPr/>
          <a:lstStyle/>
          <a:p>
            <a:r>
              <a:rPr lang="en-GB" dirty="0">
                <a:hlinkClick r:id="rId3"/>
              </a:rPr>
              <a:t>Session affinity overview for Azure Application Gateway for Containers | Microsoft Learn</a:t>
            </a:r>
            <a:endParaRPr lang="en-US">
              <a:hlinkClick r:id="rId3"/>
            </a:endParaRPr>
          </a:p>
        </p:txBody>
      </p:sp>
      <p:sp>
        <p:nvSpPr>
          <p:cNvPr id="4" name="Header Placeholder 3">
            <a:extLst>
              <a:ext uri="{FF2B5EF4-FFF2-40B4-BE49-F238E27FC236}">
                <a16:creationId xmlns:a16="http://schemas.microsoft.com/office/drawing/2014/main" id="{E05E07A2-9C07-07F3-B466-AD3900177CF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485295EF-0F56-4103-6418-88714A1600C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E2D67AD-A229-8F3B-93AB-5DB03BDBA70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882C1A6F-6A3A-0051-B175-D31E3E4F263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388707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4740-059B-C6DF-B797-89D670C67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BF575-65ED-7DB1-8FC4-CBB68B2A9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394D0-7905-417E-3E8D-D9302670C8ED}"/>
              </a:ext>
            </a:extLst>
          </p:cNvPr>
          <p:cNvSpPr>
            <a:spLocks noGrp="1"/>
          </p:cNvSpPr>
          <p:nvPr>
            <p:ph type="body" idx="1"/>
          </p:nvPr>
        </p:nvSpPr>
        <p:spPr/>
        <p:txBody>
          <a:bodyPr/>
          <a:lstStyle/>
          <a:p>
            <a:r>
              <a:rPr lang="en-GB" dirty="0">
                <a:hlinkClick r:id="rId3"/>
              </a:rPr>
              <a:t>Backend MTLS with Application Gateway for Containers - Gateway API | Microsoft Learn</a:t>
            </a:r>
          </a:p>
          <a:p>
            <a:endParaRPr lang="en-GB" dirty="0"/>
          </a:p>
          <a:p>
            <a:r>
              <a:rPr lang="en-GB" dirty="0"/>
              <a:t>Mutual Transport Layer Security (MTLS) is a process that relies on certificates to encrypt communications and identify clients to a service. This enables backend workloads to further increase its security posture by only trusting connections from authenticated devices.</a:t>
            </a:r>
          </a:p>
        </p:txBody>
      </p:sp>
      <p:sp>
        <p:nvSpPr>
          <p:cNvPr id="4" name="Header Placeholder 3">
            <a:extLst>
              <a:ext uri="{FF2B5EF4-FFF2-40B4-BE49-F238E27FC236}">
                <a16:creationId xmlns:a16="http://schemas.microsoft.com/office/drawing/2014/main" id="{43F87DCA-5BDD-43AE-689E-042DAD179A8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69CDD28-5052-0779-E97A-9E86238D86F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7957C04-58F5-963D-657C-69FF5B2B6A5C}"/>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1/13/2026 7:03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705F9D1-F277-8219-DCDF-DE653636733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89181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a:cs typeface="Segoe UI"/>
              </a:rPr>
              <a:t>Email the team (internal): Azure Kubernetes Fleer Manager Leads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1/13/2026 7:03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4109887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Master" Target="../slideMasters/slideMaster2.xml"/><Relationship Id="rId4" Type="http://schemas.openxmlformats.org/officeDocument/2006/relationships/image" Target="../media/image23.jp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4.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DE83B-75F9-E3E9-3C4B-5E207E5713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6211627-3934-27C1-45F9-3839C349A2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1CE2479-30E4-DAB6-46AB-E8294079318B}"/>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5" name="Footer Placeholder 4">
            <a:extLst>
              <a:ext uri="{FF2B5EF4-FFF2-40B4-BE49-F238E27FC236}">
                <a16:creationId xmlns:a16="http://schemas.microsoft.com/office/drawing/2014/main" id="{BE7E446C-55CD-4BD6-E3C3-0D41CF4020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FBA201-1022-481F-2C70-8C76EC80BE33}"/>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286625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A03BE-E980-8E02-7ECD-E3A3D87C69F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FE2A5D6-CE61-04F3-E9E1-7586CA5C52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E5B5DCD-B82B-BDF9-0359-0E320CB1D34D}"/>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5" name="Footer Placeholder 4">
            <a:extLst>
              <a:ext uri="{FF2B5EF4-FFF2-40B4-BE49-F238E27FC236}">
                <a16:creationId xmlns:a16="http://schemas.microsoft.com/office/drawing/2014/main" id="{F0D526C0-11D4-A9AA-0BC0-8EE820CC3F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26D25F9-F3F5-19D4-76D1-AB5E98F94EDA}"/>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257950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392FF-64D5-762D-2189-A46B604A5D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899AD5C-2805-1FFF-CD00-C7E98DB824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2B1386-91C1-D35F-E990-2A7E424F4B06}"/>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5" name="Footer Placeholder 4">
            <a:extLst>
              <a:ext uri="{FF2B5EF4-FFF2-40B4-BE49-F238E27FC236}">
                <a16:creationId xmlns:a16="http://schemas.microsoft.com/office/drawing/2014/main" id="{0BBE1D29-0682-0F76-C508-BBDA4EC861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57D11D-8CB6-ACFF-1371-095D21B6F410}"/>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3523922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93F46-8756-0F75-5F53-974D7F7CA62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7EC3D62-1757-5DE1-6143-9908E3CD43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031DEF8-F812-928A-E079-97E8C4EAE3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BFA9AE2-725E-0814-780C-903A9D300F51}"/>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6" name="Footer Placeholder 5">
            <a:extLst>
              <a:ext uri="{FF2B5EF4-FFF2-40B4-BE49-F238E27FC236}">
                <a16:creationId xmlns:a16="http://schemas.microsoft.com/office/drawing/2014/main" id="{A40A032C-96F6-06C2-B299-65E0EE7E6A4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767CC3D-2A91-CD83-2829-2F0EEB45D085}"/>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3133189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9B03C-76A8-A475-A8A8-65377168BD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FADE807-EC51-8DCE-5118-1FDB175262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98E5E-000C-0D92-1ECC-1366515C4E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7C6B7E2-A1EF-27E9-E3DD-EB27E65C55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712F79-D4FD-F0A9-A81C-1D824C6D9A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D66785B-A60C-A32B-0E2A-A8065728FD1C}"/>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8" name="Footer Placeholder 7">
            <a:extLst>
              <a:ext uri="{FF2B5EF4-FFF2-40B4-BE49-F238E27FC236}">
                <a16:creationId xmlns:a16="http://schemas.microsoft.com/office/drawing/2014/main" id="{61DA66E3-CBD8-FCA0-DE7C-B83AB9F9EAF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AD6F276-B897-2D38-B03F-B9302243C955}"/>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3597270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A5375-B10E-F09C-6E3D-8B860745B40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2588DF7-7C18-AEE6-0A6B-5FFCB0F340AB}"/>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4" name="Footer Placeholder 3">
            <a:extLst>
              <a:ext uri="{FF2B5EF4-FFF2-40B4-BE49-F238E27FC236}">
                <a16:creationId xmlns:a16="http://schemas.microsoft.com/office/drawing/2014/main" id="{F79CDFB9-0D09-10BC-8FC2-7821B6FA3B8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754858C-5216-F336-3C61-F7123A704889}"/>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467357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88F9FD-24F4-17BB-D090-C545D27D53A3}"/>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3" name="Footer Placeholder 2">
            <a:extLst>
              <a:ext uri="{FF2B5EF4-FFF2-40B4-BE49-F238E27FC236}">
                <a16:creationId xmlns:a16="http://schemas.microsoft.com/office/drawing/2014/main" id="{9EAFF1DC-A359-483C-81A7-5C10B90F98A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1A364F9-3EDA-845F-7E30-A2A7CBA9F4E6}"/>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2675891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C56F-7FB5-22B1-CCFD-65E19EFBB3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95270F5-F6EF-0BE1-D7D2-5325876A09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536E74A-120E-690D-E14A-C8066FA36A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1B2F1-1F7F-F64B-83C4-C55BC94D63D8}"/>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6" name="Footer Placeholder 5">
            <a:extLst>
              <a:ext uri="{FF2B5EF4-FFF2-40B4-BE49-F238E27FC236}">
                <a16:creationId xmlns:a16="http://schemas.microsoft.com/office/drawing/2014/main" id="{585A9B20-62C4-C48C-39A6-120C577061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502D8C-0D20-F861-C067-8F8EF5A052B0}"/>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3651502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D23AF-B780-84DF-4F84-48F79A2774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4F016D1-F83E-B089-51BD-811F4A5EA6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F403889-EA8B-883A-6C70-4B0461111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1869BB-A308-8886-E16E-18C7D45B3BAE}"/>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6" name="Footer Placeholder 5">
            <a:extLst>
              <a:ext uri="{FF2B5EF4-FFF2-40B4-BE49-F238E27FC236}">
                <a16:creationId xmlns:a16="http://schemas.microsoft.com/office/drawing/2014/main" id="{17446247-CC47-5CCD-3D79-82C54AECB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CB6832-6312-2AA2-31E6-9E81D3BD25BA}"/>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3323114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FD4F1-157B-2D18-BF67-6035D15A69E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8293AC5-0968-24D0-161C-5D8C5CFDEF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CCC269-5610-8B18-FA59-4AF53D2FD669}"/>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5" name="Footer Placeholder 4">
            <a:extLst>
              <a:ext uri="{FF2B5EF4-FFF2-40B4-BE49-F238E27FC236}">
                <a16:creationId xmlns:a16="http://schemas.microsoft.com/office/drawing/2014/main" id="{89E3625C-C5DB-4CB5-970D-65B371B5EB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05AFF1-1BEA-7D1B-A0AE-9D40F51CE874}"/>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2248306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0756D6-87A2-9B9B-6B06-3AC3FED1F1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35779DA-60DE-9154-9CFD-0DBA58D3DD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DE3A65-E7A2-6458-C410-0A1E8F3690DE}"/>
              </a:ext>
            </a:extLst>
          </p:cNvPr>
          <p:cNvSpPr>
            <a:spLocks noGrp="1"/>
          </p:cNvSpPr>
          <p:nvPr>
            <p:ph type="dt" sz="half" idx="10"/>
          </p:nvPr>
        </p:nvSpPr>
        <p:spPr/>
        <p:txBody>
          <a:bodyPr/>
          <a:lstStyle/>
          <a:p>
            <a:fld id="{608C0D1A-F005-40F1-9F2F-995D3D9B463C}" type="datetimeFigureOut">
              <a:rPr lang="en-GB" smtClean="0"/>
              <a:t>14/01/2026</a:t>
            </a:fld>
            <a:endParaRPr lang="en-GB"/>
          </a:p>
        </p:txBody>
      </p:sp>
      <p:sp>
        <p:nvSpPr>
          <p:cNvPr id="5" name="Footer Placeholder 4">
            <a:extLst>
              <a:ext uri="{FF2B5EF4-FFF2-40B4-BE49-F238E27FC236}">
                <a16:creationId xmlns:a16="http://schemas.microsoft.com/office/drawing/2014/main" id="{6E3647BC-0BCB-6794-5BDC-17FA5AEB33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0D9D2F-8E85-861C-5C3D-D92295B518CA}"/>
              </a:ext>
            </a:extLst>
          </p:cNvPr>
          <p:cNvSpPr>
            <a:spLocks noGrp="1"/>
          </p:cNvSpPr>
          <p:nvPr>
            <p:ph type="sldNum" sz="quarter" idx="12"/>
          </p:nvPr>
        </p:nvSpPr>
        <p:spPr/>
        <p:txBody>
          <a:bodyPr/>
          <a:lstStyle/>
          <a:p>
            <a:fld id="{9905EFFE-AC78-43FB-9D97-886165014928}" type="slidenum">
              <a:rPr lang="en-GB" smtClean="0"/>
              <a:t>‹#›</a:t>
            </a:fld>
            <a:endParaRPr lang="en-GB"/>
          </a:p>
        </p:txBody>
      </p:sp>
    </p:spTree>
    <p:extLst>
      <p:ext uri="{BB962C8B-B14F-4D97-AF65-F5344CB8AC3E}">
        <p14:creationId xmlns:p14="http://schemas.microsoft.com/office/powerpoint/2010/main" val="2004146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075746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2158064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bg1"/>
        </a:solidFill>
        <a:effectLst/>
      </p:bgPr>
    </p:bg>
    <p:spTree>
      <p:nvGrpSpPr>
        <p:cNvPr id="1" name=""/>
        <p:cNvGrpSpPr/>
        <p:nvPr/>
      </p:nvGrpSpPr>
      <p:grpSpPr>
        <a:xfrm>
          <a:off x="0" y="0"/>
          <a:ext cx="0" cy="0"/>
          <a:chOff x="0" y="0"/>
          <a:chExt cx="0" cy="0"/>
        </a:xfrm>
      </p:grpSpPr>
      <p:sp>
        <p:nvSpPr>
          <p:cNvPr id="2" name="Content Placeholder 2"/>
          <p:cNvSpPr txBox="1">
            <a:spLocks/>
          </p:cNvSpPr>
          <p:nvPr userDrawn="1"/>
        </p:nvSpPr>
        <p:spPr>
          <a:xfrm>
            <a:off x="228601" y="361950"/>
            <a:ext cx="11811000" cy="5962650"/>
          </a:xfrm>
          <a:prstGeom prst="rect">
            <a:avLst/>
          </a:prstGeom>
        </p:spPr>
        <p:txBody>
          <a:bodyPr vert="horz" lIns="91427" tIns="45713" rIns="91427" bIns="45713" rtlCol="0">
            <a:normAutofit fontScale="775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2016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SkyDrive®, Windows Vista®, Zune®, Xbox 360®,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17050302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bg1"/>
                </a:solidFill>
                <a:latin typeface="+mj-lt"/>
              </a:rPr>
              <a:t>Microsoft Azure</a:t>
            </a:r>
          </a:p>
        </p:txBody>
      </p:sp>
    </p:spTree>
    <p:extLst>
      <p:ext uri="{BB962C8B-B14F-4D97-AF65-F5344CB8AC3E}">
        <p14:creationId xmlns:p14="http://schemas.microsoft.com/office/powerpoint/2010/main" val="290413905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tx1"/>
                </a:solidFill>
                <a:latin typeface="+mj-lt"/>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339568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7076092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755127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117527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496720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7853980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7295668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095957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Title Slide 3">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57894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5951841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US"/>
              <a:t>Click to edit Master title style</a:t>
            </a:r>
            <a:endParaRPr lang="en-US" dirty="0"/>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endParaRPr lang="en-US" dirty="0"/>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endParaRPr lang="en-US" dirty="0"/>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endParaRPr lang="en-US" dirty="0"/>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endParaRPr lang="en-US" dirty="0"/>
          </a:p>
        </p:txBody>
      </p:sp>
    </p:spTree>
    <p:extLst>
      <p:ext uri="{BB962C8B-B14F-4D97-AF65-F5344CB8AC3E}">
        <p14:creationId xmlns:p14="http://schemas.microsoft.com/office/powerpoint/2010/main" val="271821496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710443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9310050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3254151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001516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8929500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2903820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63261483"/>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p15:clr>
            <a:srgbClr val="5ACBF0"/>
          </p15:clr>
        </p15:guide>
        <p15:guide id="8" pos="4871">
          <p15:clr>
            <a:srgbClr val="5ACBF0"/>
          </p15:clr>
        </p15:guide>
        <p15:guide id="9" pos="525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1">
                <a:gradFill>
                  <a:gsLst>
                    <a:gs pos="0">
                      <a:srgbClr val="31ACBD"/>
                    </a:gs>
                    <a:gs pos="68000">
                      <a:schemeClr val="tx2"/>
                    </a:gs>
                  </a:gsLst>
                  <a:lin ang="10800000" scaled="1"/>
                </a:gra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1">
                <a:gradFill>
                  <a:gsLst>
                    <a:gs pos="100000">
                      <a:srgbClr val="3EA89B"/>
                    </a:gs>
                    <a:gs pos="0">
                      <a:srgbClr val="225B62"/>
                    </a:gs>
                  </a:gsLst>
                  <a:lin ang="10800000" scaled="1"/>
                </a:gradFill>
                <a:latin typeface="+mj-lt"/>
              </a:defRPr>
            </a:lvl1pPr>
          </a:lstStyle>
          <a:p>
            <a:pPr marL="0" lvl="0" indent="0">
              <a:spcBef>
                <a:spcPts val="0"/>
              </a:spcBef>
              <a:buNone/>
            </a:pPr>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1" dirty="0">
                <a:gradFill>
                  <a:gsLst>
                    <a:gs pos="0">
                      <a:srgbClr val="F4364C"/>
                    </a:gs>
                    <a:gs pos="68000">
                      <a:srgbClr val="C03BC4"/>
                    </a:gs>
                  </a:gsLst>
                  <a:lin ang="10800000" scaled="1"/>
                </a:gradFill>
                <a:latin typeface="+mj-lt"/>
              </a:defRPr>
            </a:lvl1pPr>
          </a:lstStyle>
          <a:p>
            <a:pPr marL="0" lvl="0" indent="0">
              <a:spcBef>
                <a:spcPts val="0"/>
              </a:spcBef>
              <a:buNone/>
            </a:pPr>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553998"/>
          </a:xfrm>
        </p:spPr>
        <p:txBody>
          <a:bodyPr vert="horz" wrap="square" lIns="0" tIns="0" rIns="0" bIns="0" rtlCol="0" anchor="t">
            <a:spAutoFit/>
          </a:bodyPr>
          <a:lstStyle>
            <a:lvl1pPr>
              <a:defRPr lang="en-US" sz="1800" b="1">
                <a:gradFill>
                  <a:gsLst>
                    <a:gs pos="0">
                      <a:srgbClr val="FF9318"/>
                    </a:gs>
                    <a:gs pos="44000">
                      <a:srgbClr val="FF5C39"/>
                    </a:gs>
                  </a:gsLst>
                  <a:lin ang="10800000" scaled="1"/>
                </a:gradFill>
                <a:latin typeface="+mj-lt"/>
              </a:defRPr>
            </a:lvl1pPr>
          </a:lstStyle>
          <a:p>
            <a:pPr marL="0" lvl="0" indent="0">
              <a:spcBef>
                <a:spcPts val="0"/>
              </a:spcBef>
              <a:buNone/>
            </a:pPr>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8495109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5698253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005038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endParaRPr lang="en-US" dirty="0"/>
          </a:p>
        </p:txBody>
      </p:sp>
    </p:spTree>
    <p:extLst>
      <p:ext uri="{BB962C8B-B14F-4D97-AF65-F5344CB8AC3E}">
        <p14:creationId xmlns:p14="http://schemas.microsoft.com/office/powerpoint/2010/main" val="3452359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936757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54169130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5581980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gradFill flip="none" rotWithShape="1">
            <a:gsLst>
              <a:gs pos="47706">
                <a:schemeClr val="accent1"/>
              </a:gs>
              <a:gs pos="100000">
                <a:schemeClr val="accent3"/>
              </a:gs>
              <a:gs pos="60000">
                <a:schemeClr val="accent1"/>
              </a:gs>
            </a:gsLst>
            <a:lin ang="18900000" scaled="1"/>
            <a:tileRect/>
          </a:grad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316957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chemeClr val="tx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714729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5290355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350661813"/>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gradFill>
            <a:gsLst>
              <a:gs pos="100000">
                <a:schemeClr val="accent3"/>
              </a:gs>
              <a:gs pos="8000">
                <a:schemeClr val="accent1"/>
              </a:gs>
            </a:gsLst>
            <a:lin ang="18900000" scaled="1"/>
          </a:gra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451636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7138884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1053761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312">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6944410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extLst>
                <a:ext uri="{96DAC541-7B7A-43D3-8B79-37D633B846F1}">
                  <asvg:svgBlip xmlns:asvg="http://schemas.microsoft.com/office/drawing/2016/SVG/main" r:embed="rId6"/>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6213056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4280401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1049965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1447614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gradFill>
            <a:gsLst>
              <a:gs pos="0">
                <a:srgbClr val="E8E6DF"/>
              </a:gs>
              <a:gs pos="100000">
                <a:srgbClr val="D4EC8E"/>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7626580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8358994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76220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gradFill>
            <a:gsLst>
              <a:gs pos="0">
                <a:srgbClr val="E8E6DF"/>
              </a:gs>
              <a:gs pos="100000">
                <a:srgbClr val="D4EC8E"/>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3265937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3959217"/>
          </a:xfrm>
        </p:spPr>
        <p:txBody>
          <a:bodyPr anchor="t"/>
          <a:lstStyle>
            <a:lvl1pPr>
              <a:defRPr>
                <a:solidFill>
                  <a:schemeClr val="tx2"/>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32094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191417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2667900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22531316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2"/>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40615567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2"/>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26701694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2"/>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40702704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lvl1pPr>
          </a:lstStyle>
          <a:p>
            <a:pPr lvl="0">
              <a:lnSpc>
                <a:spcPct val="90000"/>
              </a:lnSpc>
            </a:pPr>
            <a:r>
              <a:rPr lang="en-US" dirty="0"/>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12400258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9000717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1736632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2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39741039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3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1987311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35017003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39653009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019565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1655873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2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5423628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3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1550537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ot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D155-47E8-D819-5FA4-748607570A1C}"/>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5022EE65-FBB2-C961-B89F-9DADBDB2DB30}"/>
              </a:ext>
            </a:extLst>
          </p:cNvPr>
          <p:cNvSpPr>
            <a:spLocks noGrp="1"/>
          </p:cNvSpPr>
          <p:nvPr>
            <p:ph type="pic" sz="quarter" idx="14" hasCustomPrompt="1"/>
          </p:nvPr>
        </p:nvSpPr>
        <p:spPr>
          <a:xfrm>
            <a:off x="7827263" y="2199576"/>
            <a:ext cx="3760470" cy="3760470"/>
          </a:xfrm>
          <a:prstGeom prst="rect">
            <a:avLst/>
          </a:prstGeom>
          <a:blipFill>
            <a:blip r:embed="rId3"/>
            <a:stretch>
              <a:fillRect/>
            </a:stretch>
          </a:blipFill>
          <a:effectLst>
            <a:outerShdw blurRad="215900" dist="190500" dir="2700000" sx="101000" sy="101000" algn="ctr" rotWithShape="0">
              <a:srgbClr val="000000">
                <a:alpha val="23000"/>
              </a:srgbClr>
            </a:outerShdw>
          </a:effectLst>
        </p:spPr>
        <p:txBody>
          <a:bodyPr vert="horz" wrap="square" lIns="0" tIns="0" rIns="0" bIns="0" rtlCol="0" anchor="ctr" anchorCtr="0">
            <a:normAutofit/>
          </a:bodyPr>
          <a:lstStyle>
            <a:lvl1pPr marL="228600" indent="-228600" algn="ctr">
              <a:buNone/>
              <a:defRPr lang="en-US" sz="1800" b="1">
                <a:solidFill>
                  <a:schemeClr val="tx1"/>
                </a:solidFill>
                <a:latin typeface="+mn-lt"/>
              </a:defRPr>
            </a:lvl1pPr>
          </a:lstStyle>
          <a:p>
            <a:pPr marL="228600" lvl="0" indent="-228600" algn="ctr"/>
            <a:r>
              <a:rPr lang="en-US" dirty="0"/>
              <a:t>Click to insert photo</a:t>
            </a:r>
          </a:p>
        </p:txBody>
      </p:sp>
      <p:sp>
        <p:nvSpPr>
          <p:cNvPr id="5" name="Text Placeholder 11">
            <a:extLst>
              <a:ext uri="{FF2B5EF4-FFF2-40B4-BE49-F238E27FC236}">
                <a16:creationId xmlns:a16="http://schemas.microsoft.com/office/drawing/2014/main" id="{4B878651-6EA0-F1DE-DDB3-D4C07A4E5942}"/>
              </a:ext>
            </a:extLst>
          </p:cNvPr>
          <p:cNvSpPr>
            <a:spLocks noGrp="1"/>
          </p:cNvSpPr>
          <p:nvPr>
            <p:ph type="body" sz="quarter" idx="17"/>
          </p:nvPr>
        </p:nvSpPr>
        <p:spPr>
          <a:xfrm>
            <a:off x="1245931" y="3206751"/>
            <a:ext cx="2706480" cy="1477328"/>
          </a:xfrm>
        </p:spPr>
        <p:txBody>
          <a:bodyPr anchor="t"/>
          <a:lstStyle>
            <a:lvl1pPr marL="0" indent="0">
              <a:spcBef>
                <a:spcPts val="0"/>
              </a:spcBef>
              <a:buNone/>
              <a:defRPr sz="3200">
                <a:solidFill>
                  <a:schemeClr val="tx1"/>
                </a:solidFill>
                <a:latin typeface="+mj-lt"/>
              </a:defRPr>
            </a:lvl1pPr>
          </a:lstStyle>
          <a:p>
            <a:pPr lvl="0"/>
            <a:r>
              <a:rPr lang="en-US"/>
              <a:t>Click to edit Master text styles</a:t>
            </a:r>
          </a:p>
        </p:txBody>
      </p:sp>
      <p:sp>
        <p:nvSpPr>
          <p:cNvPr id="10" name="Freeform: Shape 9">
            <a:extLst>
              <a:ext uri="{FF2B5EF4-FFF2-40B4-BE49-F238E27FC236}">
                <a16:creationId xmlns:a16="http://schemas.microsoft.com/office/drawing/2014/main" id="{52A3F807-DEFB-6026-D7BD-82284EB7FB76}"/>
              </a:ext>
            </a:extLst>
          </p:cNvPr>
          <p:cNvSpPr/>
          <p:nvPr/>
        </p:nvSpPr>
        <p:spPr>
          <a:xfrm>
            <a:off x="552732" y="2199576"/>
            <a:ext cx="693200" cy="604267"/>
          </a:xfrm>
          <a:custGeom>
            <a:avLst/>
            <a:gdLst>
              <a:gd name="connsiteX0" fmla="*/ 393237 w 674431"/>
              <a:gd name="connsiteY0" fmla="*/ 0 h 587906"/>
              <a:gd name="connsiteX1" fmla="*/ 616089 w 674431"/>
              <a:gd name="connsiteY1" fmla="*/ 0 h 587906"/>
              <a:gd name="connsiteX2" fmla="*/ 616151 w 674431"/>
              <a:gd name="connsiteY2" fmla="*/ 0 h 587906"/>
              <a:gd name="connsiteX3" fmla="*/ 674431 w 674431"/>
              <a:gd name="connsiteY3" fmla="*/ 58280 h 587906"/>
              <a:gd name="connsiteX4" fmla="*/ 674431 w 674431"/>
              <a:gd name="connsiteY4" fmla="*/ 221738 h 587906"/>
              <a:gd name="connsiteX5" fmla="*/ 597219 w 674431"/>
              <a:gd name="connsiteY5" fmla="*/ 471750 h 587906"/>
              <a:gd name="connsiteX6" fmla="*/ 393361 w 674431"/>
              <a:gd name="connsiteY6" fmla="*/ 587630 h 587906"/>
              <a:gd name="connsiteX7" fmla="*/ 380245 w 674431"/>
              <a:gd name="connsiteY7" fmla="*/ 577174 h 587906"/>
              <a:gd name="connsiteX8" fmla="*/ 380245 w 674431"/>
              <a:gd name="connsiteY8" fmla="*/ 489011 h 587906"/>
              <a:gd name="connsiteX9" fmla="*/ 387484 w 674431"/>
              <a:gd name="connsiteY9" fmla="*/ 478865 h 587906"/>
              <a:gd name="connsiteX10" fmla="*/ 523100 w 674431"/>
              <a:gd name="connsiteY10" fmla="*/ 363541 h 587906"/>
              <a:gd name="connsiteX11" fmla="*/ 540423 w 674431"/>
              <a:gd name="connsiteY11" fmla="*/ 283112 h 587906"/>
              <a:gd name="connsiteX12" fmla="*/ 533308 w 674431"/>
              <a:gd name="connsiteY12" fmla="*/ 276306 h 587906"/>
              <a:gd name="connsiteX13" fmla="*/ 393361 w 674431"/>
              <a:gd name="connsiteY13" fmla="*/ 276306 h 587906"/>
              <a:gd name="connsiteX14" fmla="*/ 374986 w 674431"/>
              <a:gd name="connsiteY14" fmla="*/ 257931 h 587906"/>
              <a:gd name="connsiteX15" fmla="*/ 374986 w 674431"/>
              <a:gd name="connsiteY15" fmla="*/ 18251 h 587906"/>
              <a:gd name="connsiteX16" fmla="*/ 393237 w 674431"/>
              <a:gd name="connsiteY16" fmla="*/ 0 h 587906"/>
              <a:gd name="connsiteX17" fmla="*/ 58466 w 674431"/>
              <a:gd name="connsiteY17" fmla="*/ 0 h 587906"/>
              <a:gd name="connsiteX18" fmla="*/ 281070 w 674431"/>
              <a:gd name="connsiteY18" fmla="*/ 0 h 587906"/>
              <a:gd name="connsiteX19" fmla="*/ 299445 w 674431"/>
              <a:gd name="connsiteY19" fmla="*/ 18375 h 587906"/>
              <a:gd name="connsiteX20" fmla="*/ 299445 w 674431"/>
              <a:gd name="connsiteY20" fmla="*/ 221738 h 587906"/>
              <a:gd name="connsiteX21" fmla="*/ 222233 w 674431"/>
              <a:gd name="connsiteY21" fmla="*/ 471750 h 587906"/>
              <a:gd name="connsiteX22" fmla="*/ 18375 w 674431"/>
              <a:gd name="connsiteY22" fmla="*/ 587630 h 587906"/>
              <a:gd name="connsiteX23" fmla="*/ 5259 w 674431"/>
              <a:gd name="connsiteY23" fmla="*/ 577174 h 587906"/>
              <a:gd name="connsiteX24" fmla="*/ 5259 w 674431"/>
              <a:gd name="connsiteY24" fmla="*/ 489011 h 587906"/>
              <a:gd name="connsiteX25" fmla="*/ 12497 w 674431"/>
              <a:gd name="connsiteY25" fmla="*/ 478865 h 587906"/>
              <a:gd name="connsiteX26" fmla="*/ 148114 w 674431"/>
              <a:gd name="connsiteY26" fmla="*/ 363541 h 587906"/>
              <a:gd name="connsiteX27" fmla="*/ 165437 w 674431"/>
              <a:gd name="connsiteY27" fmla="*/ 283112 h 587906"/>
              <a:gd name="connsiteX28" fmla="*/ 158322 w 674431"/>
              <a:gd name="connsiteY28" fmla="*/ 276306 h 587906"/>
              <a:gd name="connsiteX29" fmla="*/ 18375 w 674431"/>
              <a:gd name="connsiteY29" fmla="*/ 276306 h 587906"/>
              <a:gd name="connsiteX30" fmla="*/ 0 w 674431"/>
              <a:gd name="connsiteY30" fmla="*/ 257931 h 587906"/>
              <a:gd name="connsiteX31" fmla="*/ 0 w 674431"/>
              <a:gd name="connsiteY31" fmla="*/ 58466 h 587906"/>
              <a:gd name="connsiteX32" fmla="*/ 58466 w 674431"/>
              <a:gd name="connsiteY32" fmla="*/ 0 h 58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74431" h="587906">
                <a:moveTo>
                  <a:pt x="393237" y="0"/>
                </a:moveTo>
                <a:lnTo>
                  <a:pt x="616089" y="0"/>
                </a:lnTo>
                <a:lnTo>
                  <a:pt x="616151" y="0"/>
                </a:lnTo>
                <a:cubicBezTo>
                  <a:pt x="648322" y="0"/>
                  <a:pt x="674431" y="26109"/>
                  <a:pt x="674431" y="58280"/>
                </a:cubicBezTo>
                <a:lnTo>
                  <a:pt x="674431" y="221738"/>
                </a:lnTo>
                <a:cubicBezTo>
                  <a:pt x="674431" y="328152"/>
                  <a:pt x="648694" y="411490"/>
                  <a:pt x="597219" y="471750"/>
                </a:cubicBezTo>
                <a:cubicBezTo>
                  <a:pt x="548157" y="529102"/>
                  <a:pt x="480225" y="567770"/>
                  <a:pt x="393361" y="587630"/>
                </a:cubicBezTo>
                <a:cubicBezTo>
                  <a:pt x="386679" y="589177"/>
                  <a:pt x="380245" y="584042"/>
                  <a:pt x="380245" y="577174"/>
                </a:cubicBezTo>
                <a:lnTo>
                  <a:pt x="380245" y="489011"/>
                </a:lnTo>
                <a:cubicBezTo>
                  <a:pt x="380245" y="484433"/>
                  <a:pt x="383153" y="480288"/>
                  <a:pt x="387484" y="478865"/>
                </a:cubicBezTo>
                <a:cubicBezTo>
                  <a:pt x="454240" y="456778"/>
                  <a:pt x="499466" y="418295"/>
                  <a:pt x="523100" y="363541"/>
                </a:cubicBezTo>
                <a:cubicBezTo>
                  <a:pt x="535969" y="335824"/>
                  <a:pt x="541784" y="309035"/>
                  <a:pt x="540423" y="283112"/>
                </a:cubicBezTo>
                <a:cubicBezTo>
                  <a:pt x="540238" y="279276"/>
                  <a:pt x="537082" y="276306"/>
                  <a:pt x="533308" y="276306"/>
                </a:cubicBezTo>
                <a:lnTo>
                  <a:pt x="393361" y="276306"/>
                </a:lnTo>
                <a:cubicBezTo>
                  <a:pt x="383215" y="276306"/>
                  <a:pt x="374986" y="268078"/>
                  <a:pt x="374986" y="257931"/>
                </a:cubicBezTo>
                <a:lnTo>
                  <a:pt x="374986" y="18251"/>
                </a:lnTo>
                <a:cubicBezTo>
                  <a:pt x="374986" y="8167"/>
                  <a:pt x="383153" y="0"/>
                  <a:pt x="393237" y="0"/>
                </a:cubicBezTo>
                <a:close/>
                <a:moveTo>
                  <a:pt x="58466" y="0"/>
                </a:moveTo>
                <a:lnTo>
                  <a:pt x="281070" y="0"/>
                </a:lnTo>
                <a:cubicBezTo>
                  <a:pt x="291216" y="0"/>
                  <a:pt x="299445" y="8229"/>
                  <a:pt x="299445" y="18375"/>
                </a:cubicBezTo>
                <a:lnTo>
                  <a:pt x="299445" y="221738"/>
                </a:lnTo>
                <a:cubicBezTo>
                  <a:pt x="299445" y="328152"/>
                  <a:pt x="273708" y="411490"/>
                  <a:pt x="222233" y="471750"/>
                </a:cubicBezTo>
                <a:cubicBezTo>
                  <a:pt x="173171" y="529102"/>
                  <a:pt x="105239" y="567770"/>
                  <a:pt x="18375" y="587630"/>
                </a:cubicBezTo>
                <a:cubicBezTo>
                  <a:pt x="11631" y="589177"/>
                  <a:pt x="5259" y="584042"/>
                  <a:pt x="5259" y="577174"/>
                </a:cubicBezTo>
                <a:lnTo>
                  <a:pt x="5259" y="489011"/>
                </a:lnTo>
                <a:cubicBezTo>
                  <a:pt x="5259" y="484433"/>
                  <a:pt x="8167" y="480288"/>
                  <a:pt x="12497" y="478865"/>
                </a:cubicBezTo>
                <a:cubicBezTo>
                  <a:pt x="79254" y="456778"/>
                  <a:pt x="124480" y="418295"/>
                  <a:pt x="148114" y="363541"/>
                </a:cubicBezTo>
                <a:cubicBezTo>
                  <a:pt x="160983" y="335824"/>
                  <a:pt x="166798" y="309035"/>
                  <a:pt x="165437" y="283112"/>
                </a:cubicBezTo>
                <a:cubicBezTo>
                  <a:pt x="165252" y="279276"/>
                  <a:pt x="162096" y="276306"/>
                  <a:pt x="158322" y="276306"/>
                </a:cubicBezTo>
                <a:lnTo>
                  <a:pt x="18375" y="276306"/>
                </a:lnTo>
                <a:cubicBezTo>
                  <a:pt x="8229" y="276306"/>
                  <a:pt x="0" y="268078"/>
                  <a:pt x="0" y="257931"/>
                </a:cubicBezTo>
                <a:lnTo>
                  <a:pt x="0" y="58466"/>
                </a:lnTo>
                <a:cubicBezTo>
                  <a:pt x="0" y="26171"/>
                  <a:pt x="26171" y="0"/>
                  <a:pt x="58466" y="0"/>
                </a:cubicBezTo>
                <a:close/>
              </a:path>
            </a:pathLst>
          </a:custGeom>
          <a:solidFill>
            <a:schemeClr val="tx1"/>
          </a:solidFill>
          <a:ln w="6117" cap="flat">
            <a:noFill/>
            <a:prstDash val="solid"/>
            <a:miter/>
          </a:ln>
        </p:spPr>
        <p:txBody>
          <a:bodyPr rtlCol="0" anchor="ctr"/>
          <a:lstStyle/>
          <a:p>
            <a:endParaRPr lang="en-US"/>
          </a:p>
        </p:txBody>
      </p:sp>
      <p:sp>
        <p:nvSpPr>
          <p:cNvPr id="11" name="Text Placeholder 4">
            <a:extLst>
              <a:ext uri="{FF2B5EF4-FFF2-40B4-BE49-F238E27FC236}">
                <a16:creationId xmlns:a16="http://schemas.microsoft.com/office/drawing/2014/main" id="{6B8F6EDE-3287-C98A-2287-E97E9546E9E1}"/>
              </a:ext>
            </a:extLst>
          </p:cNvPr>
          <p:cNvSpPr>
            <a:spLocks noGrp="1"/>
          </p:cNvSpPr>
          <p:nvPr>
            <p:ph type="body" sz="quarter" idx="12" hasCustomPrompt="1"/>
          </p:nvPr>
        </p:nvSpPr>
        <p:spPr>
          <a:xfrm>
            <a:off x="1245931" y="4963876"/>
            <a:ext cx="270648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Quote author</a:t>
            </a:r>
          </a:p>
        </p:txBody>
      </p:sp>
    </p:spTree>
    <p:extLst>
      <p:ext uri="{BB962C8B-B14F-4D97-AF65-F5344CB8AC3E}">
        <p14:creationId xmlns:p14="http://schemas.microsoft.com/office/powerpoint/2010/main" val="404377622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creensho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p>
            <a:r>
              <a:rPr lang="en-US"/>
              <a:t>Click to edit Master title style</a:t>
            </a:r>
          </a:p>
        </p:txBody>
      </p:sp>
      <p:sp>
        <p:nvSpPr>
          <p:cNvPr id="3" name="Rectangle 2">
            <a:extLst>
              <a:ext uri="{FF2B5EF4-FFF2-40B4-BE49-F238E27FC236}">
                <a16:creationId xmlns:a16="http://schemas.microsoft.com/office/drawing/2014/main" id="{D565C022-5A4E-84F5-B51B-1431B6A0AE21}"/>
              </a:ext>
            </a:extLst>
          </p:cNvPr>
          <p:cNvSpPr/>
          <p:nvPr userDrawn="1"/>
        </p:nvSpPr>
        <p:spPr bwMode="auto">
          <a:xfrm>
            <a:off x="7228114" y="292100"/>
            <a:ext cx="4659086" cy="6272213"/>
          </a:xfrm>
          <a:prstGeom prst="rect">
            <a:avLst/>
          </a:prstGeom>
          <a:gradFill>
            <a:gsLst>
              <a:gs pos="0">
                <a:srgbClr val="FFB3BB"/>
              </a:gs>
              <a:gs pos="100000">
                <a:srgbClr val="FFB900"/>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60763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59262997"/>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285856811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hotoslide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244596090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1892302724"/>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UI" panose="020B0502040204020203" pitchFamily="34" charset="0"/>
              </a:defRPr>
            </a:lvl1pPr>
          </a:lstStyle>
          <a:p>
            <a:r>
              <a:rPr lang="en-US" dirty="0"/>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dirty="0"/>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876216405"/>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UI" panose="020B0502040204020203" pitchFamily="34" charset="0"/>
              </a:defRPr>
            </a:lvl1pPr>
          </a:lstStyle>
          <a:p>
            <a:r>
              <a:rPr lang="en-US" dirty="0"/>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dirty="0"/>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12760090"/>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27728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08397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75958966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55426872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5174125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Full_Bleed_Top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2F0238-66BE-083C-C773-629AD18C76EA}"/>
              </a:ext>
            </a:extLst>
          </p:cNvPr>
          <p:cNvPicPr>
            <a:picLocks noChangeAspect="1"/>
          </p:cNvPicPr>
          <p:nvPr userDrawn="1"/>
        </p:nvPicPr>
        <p:blipFill>
          <a:blip r:embed="rId2"/>
          <a:srcRect t="42934" b="42934"/>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0" i="0">
                <a:latin typeface="Segoe Sans Text"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A4118093-7D3C-9764-D242-3FF6E0731EF9}"/>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5">
            <a:extLst>
              <a:ext uri="{FF2B5EF4-FFF2-40B4-BE49-F238E27FC236}">
                <a16:creationId xmlns:a16="http://schemas.microsoft.com/office/drawing/2014/main" id="{1BF31E78-AE5B-8A68-9924-540AC5A8867E}"/>
              </a:ext>
            </a:extLst>
          </p:cNvPr>
          <p:cNvSpPr>
            <a:spLocks noGrp="1"/>
          </p:cNvSpPr>
          <p:nvPr>
            <p:ph type="body" sz="quarter" idx="15" hasCustomPrompt="1"/>
          </p:nvPr>
        </p:nvSpPr>
        <p:spPr>
          <a:xfrm>
            <a:off x="584200" y="207604"/>
            <a:ext cx="11025187" cy="553998"/>
          </a:xfrm>
        </p:spPr>
        <p:txBody>
          <a:bodyPr/>
          <a:lstStyle>
            <a:lvl1pPr marL="0" indent="0">
              <a:buNone/>
              <a:defRPr sz="3600" b="1" i="0">
                <a:solidFill>
                  <a:schemeClr val="bg1"/>
                </a:solidFill>
                <a:latin typeface="Segoe Sans Text" pitchFamily="2" charset="0"/>
                <a:cs typeface="Segoe Sans Text" pitchFamily="2" charset="0"/>
              </a:defRPr>
            </a:lvl1pPr>
          </a:lstStyle>
          <a:p>
            <a:pPr lvl="0"/>
            <a:r>
              <a:rPr lang="en-US"/>
              <a:t>Click to edit title</a:t>
            </a:r>
          </a:p>
        </p:txBody>
      </p:sp>
    </p:spTree>
    <p:extLst>
      <p:ext uri="{BB962C8B-B14F-4D97-AF65-F5344CB8AC3E}">
        <p14:creationId xmlns:p14="http://schemas.microsoft.com/office/powerpoint/2010/main" val="131715811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0.xml"/><Relationship Id="rId21" Type="http://schemas.openxmlformats.org/officeDocument/2006/relationships/slideLayout" Target="../slideLayouts/slideLayout35.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63" Type="http://schemas.openxmlformats.org/officeDocument/2006/relationships/slideLayout" Target="../slideLayouts/slideLayout77.xml"/><Relationship Id="rId68" Type="http://schemas.openxmlformats.org/officeDocument/2006/relationships/slideLayout" Target="../slideLayouts/slideLayout8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3" Type="http://schemas.openxmlformats.org/officeDocument/2006/relationships/slideLayout" Target="../slideLayouts/slideLayout67.xml"/><Relationship Id="rId58" Type="http://schemas.openxmlformats.org/officeDocument/2006/relationships/slideLayout" Target="../slideLayouts/slideLayout72.xml"/><Relationship Id="rId66" Type="http://schemas.openxmlformats.org/officeDocument/2006/relationships/slideLayout" Target="../slideLayouts/slideLayout80.xml"/><Relationship Id="rId74" Type="http://schemas.openxmlformats.org/officeDocument/2006/relationships/theme" Target="../theme/theme2.xml"/><Relationship Id="rId5" Type="http://schemas.openxmlformats.org/officeDocument/2006/relationships/slideLayout" Target="../slideLayouts/slideLayout19.xml"/><Relationship Id="rId61" Type="http://schemas.openxmlformats.org/officeDocument/2006/relationships/slideLayout" Target="../slideLayouts/slideLayout75.xml"/><Relationship Id="rId19" Type="http://schemas.openxmlformats.org/officeDocument/2006/relationships/slideLayout" Target="../slideLayouts/slideLayout3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56" Type="http://schemas.openxmlformats.org/officeDocument/2006/relationships/slideLayout" Target="../slideLayouts/slideLayout70.xml"/><Relationship Id="rId64" Type="http://schemas.openxmlformats.org/officeDocument/2006/relationships/slideLayout" Target="../slideLayouts/slideLayout78.xml"/><Relationship Id="rId69" Type="http://schemas.openxmlformats.org/officeDocument/2006/relationships/slideLayout" Target="../slideLayouts/slideLayout83.xml"/><Relationship Id="rId8" Type="http://schemas.openxmlformats.org/officeDocument/2006/relationships/slideLayout" Target="../slideLayouts/slideLayout22.xml"/><Relationship Id="rId51" Type="http://schemas.openxmlformats.org/officeDocument/2006/relationships/slideLayout" Target="../slideLayouts/slideLayout65.xml"/><Relationship Id="rId72" Type="http://schemas.openxmlformats.org/officeDocument/2006/relationships/slideLayout" Target="../slideLayouts/slideLayout86.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59" Type="http://schemas.openxmlformats.org/officeDocument/2006/relationships/slideLayout" Target="../slideLayouts/slideLayout73.xml"/><Relationship Id="rId67" Type="http://schemas.openxmlformats.org/officeDocument/2006/relationships/slideLayout" Target="../slideLayouts/slideLayout81.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54" Type="http://schemas.openxmlformats.org/officeDocument/2006/relationships/slideLayout" Target="../slideLayouts/slideLayout68.xml"/><Relationship Id="rId62" Type="http://schemas.openxmlformats.org/officeDocument/2006/relationships/slideLayout" Target="../slideLayouts/slideLayout76.xml"/><Relationship Id="rId70" Type="http://schemas.openxmlformats.org/officeDocument/2006/relationships/slideLayout" Target="../slideLayouts/slideLayout84.xml"/><Relationship Id="rId75" Type="http://schemas.openxmlformats.org/officeDocument/2006/relationships/image" Target="../media/image4.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57" Type="http://schemas.openxmlformats.org/officeDocument/2006/relationships/slideLayout" Target="../slideLayouts/slideLayout71.xml"/><Relationship Id="rId10" Type="http://schemas.openxmlformats.org/officeDocument/2006/relationships/slideLayout" Target="../slideLayouts/slideLayout24.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slideLayout" Target="../slideLayouts/slideLayout66.xml"/><Relationship Id="rId60" Type="http://schemas.openxmlformats.org/officeDocument/2006/relationships/slideLayout" Target="../slideLayouts/slideLayout74.xml"/><Relationship Id="rId65" Type="http://schemas.openxmlformats.org/officeDocument/2006/relationships/slideLayout" Target="../slideLayouts/slideLayout79.xml"/><Relationship Id="rId73" Type="http://schemas.openxmlformats.org/officeDocument/2006/relationships/slideLayout" Target="../slideLayouts/slideLayout8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9" Type="http://schemas.openxmlformats.org/officeDocument/2006/relationships/slideLayout" Target="../slideLayouts/slideLayout53.xml"/><Relationship Id="rId34" Type="http://schemas.openxmlformats.org/officeDocument/2006/relationships/slideLayout" Target="../slideLayouts/slideLayout48.xml"/><Relationship Id="rId50" Type="http://schemas.openxmlformats.org/officeDocument/2006/relationships/slideLayout" Target="../slideLayouts/slideLayout64.xml"/><Relationship Id="rId55" Type="http://schemas.openxmlformats.org/officeDocument/2006/relationships/slideLayout" Target="../slideLayouts/slideLayout69.xml"/><Relationship Id="rId76" Type="http://schemas.openxmlformats.org/officeDocument/2006/relationships/image" Target="../media/image5.svg"/><Relationship Id="rId7" Type="http://schemas.openxmlformats.org/officeDocument/2006/relationships/slideLayout" Target="../slideLayouts/slideLayout21.xml"/><Relationship Id="rId7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87CED-8199-A6E0-A78F-70EE416ECF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E4A8A01-618E-7C37-89A1-EB4C16DD97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3B7FB0-ACF5-45C6-73E0-47D0CB15C8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8C0D1A-F005-40F1-9F2F-995D3D9B463C}" type="datetimeFigureOut">
              <a:rPr lang="en-GB" smtClean="0"/>
              <a:t>13/01/2026</a:t>
            </a:fld>
            <a:endParaRPr lang="en-GB"/>
          </a:p>
        </p:txBody>
      </p:sp>
      <p:sp>
        <p:nvSpPr>
          <p:cNvPr id="5" name="Footer Placeholder 4">
            <a:extLst>
              <a:ext uri="{FF2B5EF4-FFF2-40B4-BE49-F238E27FC236}">
                <a16:creationId xmlns:a16="http://schemas.microsoft.com/office/drawing/2014/main" id="{EAB85555-4F9A-84C3-7B9B-D9CBFDBD1A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598A6AD-4528-02AE-2307-9C7007A9B3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05EFFE-AC78-43FB-9D97-886165014928}" type="slidenum">
              <a:rPr lang="en-GB" smtClean="0"/>
              <a:t>‹#›</a:t>
            </a:fld>
            <a:endParaRPr lang="en-GB"/>
          </a:p>
        </p:txBody>
      </p:sp>
    </p:spTree>
    <p:extLst>
      <p:ext uri="{BB962C8B-B14F-4D97-AF65-F5344CB8AC3E}">
        <p14:creationId xmlns:p14="http://schemas.microsoft.com/office/powerpoint/2010/main" val="1108263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73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75">
            <a:extLst>
              <a:ext uri="{96DAC541-7B7A-43D3-8B79-37D633B846F1}">
                <asvg:svgBlip xmlns:asvg="http://schemas.microsoft.com/office/drawing/2016/SVG/main" r:embed="rId76"/>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1220065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 id="2147483721" r:id="rId59"/>
    <p:sldLayoutId id="2147483722" r:id="rId60"/>
    <p:sldLayoutId id="2147483723" r:id="rId61"/>
    <p:sldLayoutId id="2147483724" r:id="rId62"/>
    <p:sldLayoutId id="2147483725" r:id="rId63"/>
    <p:sldLayoutId id="2147483726" r:id="rId64"/>
    <p:sldLayoutId id="2147483727" r:id="rId65"/>
    <p:sldLayoutId id="2147483728" r:id="rId66"/>
    <p:sldLayoutId id="2147483729" r:id="rId67"/>
    <p:sldLayoutId id="2147483730" r:id="rId68"/>
    <p:sldLayoutId id="2147483731" r:id="rId69"/>
    <p:sldLayoutId id="2147483732" r:id="rId70"/>
    <p:sldLayoutId id="2147483733" r:id="rId71"/>
    <p:sldLayoutId id="2147483734" r:id="rId72"/>
    <p:sldLayoutId id="2147483736" r:id="rId7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0.sv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s>
</file>

<file path=ppt/slides/_rels/slide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6.sv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5.png"/><Relationship Id="rId2" Type="http://schemas.openxmlformats.org/officeDocument/2006/relationships/notesSlide" Target="../notesSlides/notesSlide17.xml"/><Relationship Id="rId1" Type="http://schemas.openxmlformats.org/officeDocument/2006/relationships/slideLayout" Target="../slideLayouts/slideLayout31.xml"/><Relationship Id="rId6" Type="http://schemas.openxmlformats.org/officeDocument/2006/relationships/image" Target="../media/image61.svg"/><Relationship Id="rId11" Type="http://schemas.openxmlformats.org/officeDocument/2006/relationships/image" Target="../media/image64.svg"/><Relationship Id="rId5" Type="http://schemas.openxmlformats.org/officeDocument/2006/relationships/image" Target="../media/image60.png"/><Relationship Id="rId15" Type="http://schemas.openxmlformats.org/officeDocument/2006/relationships/image" Target="../media/image68.svg"/><Relationship Id="rId10" Type="http://schemas.openxmlformats.org/officeDocument/2006/relationships/image" Target="../media/image53.png"/><Relationship Id="rId4" Type="http://schemas.openxmlformats.org/officeDocument/2006/relationships/image" Target="../media/image59.svg"/><Relationship Id="rId9" Type="http://schemas.openxmlformats.org/officeDocument/2006/relationships/image" Target="../media/image57.png"/><Relationship Id="rId1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5.xml"/><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6.xml"/><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1.xml.rels><?xml version="1.0" encoding="UTF-8" standalone="yes"?>
<Relationships xmlns="http://schemas.openxmlformats.org/package/2006/relationships"><Relationship Id="rId3" Type="http://schemas.openxmlformats.org/officeDocument/2006/relationships/hyperlink" Target="https://learn.microsoft.com/en-us/azure/application-gateway/overview" TargetMode="External"/><Relationship Id="rId7" Type="http://schemas.openxmlformats.org/officeDocument/2006/relationships/hyperlink" Target="https://learn.microsoft.com/en-us/azure/application-gateway/for-containers/quickstart-deploy-application-gateway-for-containers-alb-controller?tabs=install-helm-windows" TargetMode="External"/><Relationship Id="rId2" Type="http://schemas.openxmlformats.org/officeDocument/2006/relationships/hyperlink" Target="https://learn.microsoft.com/en-us/azure/application-gateway/for-containers/overview" TargetMode="External"/><Relationship Id="rId1" Type="http://schemas.openxmlformats.org/officeDocument/2006/relationships/slideLayout" Target="../slideLayouts/slideLayout27.xml"/><Relationship Id="rId6" Type="http://schemas.openxmlformats.org/officeDocument/2006/relationships/hyperlink" Target="https://learn.microsoft.com/en-us/azure/application-gateway/secure-application-gateway" TargetMode="External"/><Relationship Id="rId5" Type="http://schemas.openxmlformats.org/officeDocument/2006/relationships/hyperlink" Target="https://learn.microsoft.com/en-us/azure/application-gateway/how-application-gateway-works" TargetMode="External"/><Relationship Id="rId4" Type="http://schemas.openxmlformats.org/officeDocument/2006/relationships/hyperlink" Target="https://learn.microsoft.com/en-us/azure/application-gateway/feature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B7D3002-809B-A9EE-1DFA-443B52B3F8D4}"/>
              </a:ext>
            </a:extLst>
          </p:cNvPr>
          <p:cNvSpPr>
            <a:spLocks noGrp="1"/>
          </p:cNvSpPr>
          <p:nvPr>
            <p:ph type="title"/>
          </p:nvPr>
        </p:nvSpPr>
        <p:spPr>
          <a:xfrm>
            <a:off x="584200" y="2976187"/>
            <a:ext cx="4978400" cy="557589"/>
          </a:xfrm>
        </p:spPr>
        <p:txBody>
          <a:bodyPr/>
          <a:lstStyle/>
          <a:p>
            <a:r>
              <a:rPr lang="en-US" dirty="0"/>
              <a:t>Application Gateway</a:t>
            </a:r>
            <a:endParaRPr lang="LID4096" dirty="0"/>
          </a:p>
        </p:txBody>
      </p:sp>
      <p:sp>
        <p:nvSpPr>
          <p:cNvPr id="2" name="Text Placeholder 1">
            <a:extLst>
              <a:ext uri="{FF2B5EF4-FFF2-40B4-BE49-F238E27FC236}">
                <a16:creationId xmlns:a16="http://schemas.microsoft.com/office/drawing/2014/main" id="{C56FD410-B685-A316-0239-8E4B6E8B9634}"/>
              </a:ext>
            </a:extLst>
          </p:cNvPr>
          <p:cNvSpPr>
            <a:spLocks noGrp="1"/>
          </p:cNvSpPr>
          <p:nvPr>
            <p:ph type="body" sz="quarter" idx="12"/>
          </p:nvPr>
        </p:nvSpPr>
        <p:spPr/>
        <p:txBody>
          <a:bodyPr/>
          <a:lstStyle/>
          <a:p>
            <a:r>
              <a:rPr lang="en-CA" dirty="0"/>
              <a:t>[Delivery CSA Name]</a:t>
            </a:r>
            <a:endParaRPr lang="LID4096" dirty="0"/>
          </a:p>
        </p:txBody>
      </p:sp>
    </p:spTree>
    <p:extLst>
      <p:ext uri="{BB962C8B-B14F-4D97-AF65-F5344CB8AC3E}">
        <p14:creationId xmlns:p14="http://schemas.microsoft.com/office/powerpoint/2010/main" val="409934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636855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D9B47-93AC-1EAD-CAE2-AA440B2CE6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F8EB4D-EC66-06E1-A230-6CFE25CF8566}"/>
              </a:ext>
            </a:extLst>
          </p:cNvPr>
          <p:cNvSpPr>
            <a:spLocks noGrp="1"/>
          </p:cNvSpPr>
          <p:nvPr>
            <p:ph type="title"/>
          </p:nvPr>
        </p:nvSpPr>
        <p:spPr>
          <a:xfrm>
            <a:off x="585216" y="2976817"/>
            <a:ext cx="9144000" cy="557589"/>
          </a:xfrm>
        </p:spPr>
        <p:txBody>
          <a:bodyPr/>
          <a:lstStyle/>
          <a:p>
            <a:r>
              <a:rPr lang="en-US" dirty="0"/>
              <a:t>App Gateway Fundamentals</a:t>
            </a:r>
            <a:endParaRPr lang="LID4096" dirty="0"/>
          </a:p>
        </p:txBody>
      </p:sp>
    </p:spTree>
    <p:extLst>
      <p:ext uri="{BB962C8B-B14F-4D97-AF65-F5344CB8AC3E}">
        <p14:creationId xmlns:p14="http://schemas.microsoft.com/office/powerpoint/2010/main" val="136082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E19D-37C8-4523-8B15-1678C99097A5}"/>
              </a:ext>
            </a:extLst>
          </p:cNvPr>
          <p:cNvSpPr>
            <a:spLocks noGrp="1"/>
          </p:cNvSpPr>
          <p:nvPr>
            <p:ph type="title"/>
          </p:nvPr>
        </p:nvSpPr>
        <p:spPr/>
        <p:txBody>
          <a:bodyPr/>
          <a:lstStyle/>
          <a:p>
            <a:r>
              <a:rPr lang="en-US" b="1"/>
              <a:t>Load Balancing Portfolio</a:t>
            </a:r>
          </a:p>
        </p:txBody>
      </p:sp>
      <p:sp>
        <p:nvSpPr>
          <p:cNvPr id="4" name="TextBox 3">
            <a:extLst>
              <a:ext uri="{FF2B5EF4-FFF2-40B4-BE49-F238E27FC236}">
                <a16:creationId xmlns:a16="http://schemas.microsoft.com/office/drawing/2014/main" id="{E93BDE2F-D993-4CB3-A979-D9A6CD5298D5}"/>
              </a:ext>
            </a:extLst>
          </p:cNvPr>
          <p:cNvSpPr txBox="1"/>
          <p:nvPr/>
        </p:nvSpPr>
        <p:spPr>
          <a:xfrm>
            <a:off x="2811053" y="2906917"/>
            <a:ext cx="2841977" cy="3046988"/>
          </a:xfrm>
          <a:prstGeom prst="rect">
            <a:avLst/>
          </a:prstGeom>
          <a:noFill/>
        </p:spPr>
        <p:txBody>
          <a:bodyPr wrap="square" rtlCol="0">
            <a:spAutoFit/>
          </a:bodyPr>
          <a:lstStyle/>
          <a:p>
            <a:pPr algn="ctr"/>
            <a:r>
              <a:rPr lang="en-US" sz="2400" b="1"/>
              <a:t>Application Gateway</a:t>
            </a:r>
          </a:p>
          <a:p>
            <a:pPr algn="ctr"/>
            <a:endParaRPr lang="en-US" sz="2400"/>
          </a:p>
          <a:p>
            <a:pPr algn="ctr"/>
            <a:endParaRPr lang="en-US" sz="2400"/>
          </a:p>
          <a:p>
            <a:pPr algn="ctr"/>
            <a:r>
              <a:rPr lang="en-US" sz="2400"/>
              <a:t>VM/VMSS/Hybrid workloads</a:t>
            </a:r>
          </a:p>
          <a:p>
            <a:pPr algn="ctr"/>
            <a:r>
              <a:rPr lang="en-US" sz="2400"/>
              <a:t>L7 regional LB</a:t>
            </a:r>
          </a:p>
          <a:p>
            <a:pPr algn="ctr"/>
            <a:r>
              <a:rPr lang="en-US" sz="2400"/>
              <a:t>TCP/TLS proxy</a:t>
            </a:r>
          </a:p>
          <a:p>
            <a:pPr algn="ctr"/>
            <a:r>
              <a:rPr lang="en-US" sz="2400"/>
              <a:t>WAF</a:t>
            </a:r>
          </a:p>
        </p:txBody>
      </p:sp>
      <p:pic>
        <p:nvPicPr>
          <p:cNvPr id="10" name="Graphic 9">
            <a:extLst>
              <a:ext uri="{FF2B5EF4-FFF2-40B4-BE49-F238E27FC236}">
                <a16:creationId xmlns:a16="http://schemas.microsoft.com/office/drawing/2014/main" id="{921ADAAA-D8F6-405C-9C1B-9315788C66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61174" y="1997664"/>
            <a:ext cx="814412" cy="814412"/>
          </a:xfrm>
          <a:prstGeom prst="rect">
            <a:avLst/>
          </a:prstGeom>
        </p:spPr>
      </p:pic>
      <p:sp>
        <p:nvSpPr>
          <p:cNvPr id="11" name="TextBox 10">
            <a:extLst>
              <a:ext uri="{FF2B5EF4-FFF2-40B4-BE49-F238E27FC236}">
                <a16:creationId xmlns:a16="http://schemas.microsoft.com/office/drawing/2014/main" id="{3FCCA7F9-EAB3-442C-89D8-1BE37A5845C8}"/>
              </a:ext>
            </a:extLst>
          </p:cNvPr>
          <p:cNvSpPr txBox="1"/>
          <p:nvPr/>
        </p:nvSpPr>
        <p:spPr>
          <a:xfrm>
            <a:off x="8151450" y="2906917"/>
            <a:ext cx="3446340" cy="3416320"/>
          </a:xfrm>
          <a:prstGeom prst="rect">
            <a:avLst/>
          </a:prstGeom>
          <a:noFill/>
        </p:spPr>
        <p:txBody>
          <a:bodyPr wrap="square" rtlCol="0">
            <a:spAutoFit/>
          </a:bodyPr>
          <a:lstStyle/>
          <a:p>
            <a:pPr algn="ctr"/>
            <a:r>
              <a:rPr lang="en-US" sz="2400" b="1"/>
              <a:t>Application Gateway for Containers</a:t>
            </a:r>
          </a:p>
          <a:p>
            <a:pPr algn="ctr"/>
            <a:endParaRPr lang="en-US" sz="2400" b="1"/>
          </a:p>
          <a:p>
            <a:pPr algn="ctr"/>
            <a:r>
              <a:rPr lang="en-US" sz="2400" b="1"/>
              <a:t>AKS/container workloads</a:t>
            </a:r>
          </a:p>
          <a:p>
            <a:pPr algn="ctr"/>
            <a:endParaRPr lang="en-US" sz="2400"/>
          </a:p>
          <a:p>
            <a:pPr algn="ctr"/>
            <a:r>
              <a:rPr lang="en-US" sz="2400"/>
              <a:t>Dynamic traffic shifting</a:t>
            </a:r>
          </a:p>
          <a:p>
            <a:pPr algn="ctr"/>
            <a:r>
              <a:rPr lang="en-US" sz="2400"/>
              <a:t>L7 Ingress Controller</a:t>
            </a:r>
          </a:p>
          <a:p>
            <a:pPr algn="ctr"/>
            <a:r>
              <a:rPr lang="en-US" sz="2400"/>
              <a:t>Regional/Global</a:t>
            </a:r>
          </a:p>
          <a:p>
            <a:pPr algn="ctr"/>
            <a:r>
              <a:rPr lang="en-US" sz="2400"/>
              <a:t>WAF</a:t>
            </a:r>
          </a:p>
        </p:txBody>
      </p:sp>
      <p:cxnSp>
        <p:nvCxnSpPr>
          <p:cNvPr id="20" name="Straight Connector 19">
            <a:extLst>
              <a:ext uri="{FF2B5EF4-FFF2-40B4-BE49-F238E27FC236}">
                <a16:creationId xmlns:a16="http://schemas.microsoft.com/office/drawing/2014/main" id="{6195F0DC-3967-4523-9C63-6C3010947B1F}"/>
              </a:ext>
            </a:extLst>
          </p:cNvPr>
          <p:cNvCxnSpPr>
            <a:cxnSpLocks/>
          </p:cNvCxnSpPr>
          <p:nvPr/>
        </p:nvCxnSpPr>
        <p:spPr>
          <a:xfrm>
            <a:off x="5749967" y="1493170"/>
            <a:ext cx="0" cy="4859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B6409B5-B274-4CC7-9207-EAC5ADB18CBB}"/>
              </a:ext>
            </a:extLst>
          </p:cNvPr>
          <p:cNvCxnSpPr>
            <a:cxnSpLocks/>
          </p:cNvCxnSpPr>
          <p:nvPr/>
        </p:nvCxnSpPr>
        <p:spPr>
          <a:xfrm>
            <a:off x="8151450" y="1493170"/>
            <a:ext cx="0" cy="4859567"/>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3AE4BAE-6145-4E5E-BD1D-CC1DB6CA68E7}"/>
              </a:ext>
            </a:extLst>
          </p:cNvPr>
          <p:cNvSpPr txBox="1"/>
          <p:nvPr/>
        </p:nvSpPr>
        <p:spPr>
          <a:xfrm>
            <a:off x="262942" y="2906917"/>
            <a:ext cx="2431578" cy="3046988"/>
          </a:xfrm>
          <a:prstGeom prst="rect">
            <a:avLst/>
          </a:prstGeom>
          <a:noFill/>
        </p:spPr>
        <p:txBody>
          <a:bodyPr wrap="square" rtlCol="0">
            <a:spAutoFit/>
          </a:bodyPr>
          <a:lstStyle/>
          <a:p>
            <a:pPr algn="ctr"/>
            <a:r>
              <a:rPr lang="en-US" sz="2400" b="1"/>
              <a:t>Standard Load Balancer</a:t>
            </a:r>
          </a:p>
          <a:p>
            <a:pPr algn="ctr"/>
            <a:endParaRPr lang="en-US" sz="2400" b="1"/>
          </a:p>
          <a:p>
            <a:pPr algn="ctr"/>
            <a:r>
              <a:rPr lang="en-US" sz="2400"/>
              <a:t>VM/VMSS/AKS workloads</a:t>
            </a:r>
          </a:p>
          <a:p>
            <a:pPr algn="ctr"/>
            <a:r>
              <a:rPr lang="en-US" sz="2400"/>
              <a:t>L4 passthrough LB </a:t>
            </a:r>
          </a:p>
          <a:p>
            <a:pPr algn="ctr"/>
            <a:r>
              <a:rPr lang="en-US" sz="2400"/>
              <a:t>Regional/Global</a:t>
            </a:r>
          </a:p>
          <a:p>
            <a:pPr algn="ctr"/>
            <a:endParaRPr lang="en-US" sz="2400"/>
          </a:p>
        </p:txBody>
      </p:sp>
      <p:pic>
        <p:nvPicPr>
          <p:cNvPr id="27" name="Graphic 26">
            <a:extLst>
              <a:ext uri="{FF2B5EF4-FFF2-40B4-BE49-F238E27FC236}">
                <a16:creationId xmlns:a16="http://schemas.microsoft.com/office/drawing/2014/main" id="{760DFB36-6066-4CFE-ACEF-58D25D8603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1746" y="1997664"/>
            <a:ext cx="814412" cy="814414"/>
          </a:xfrm>
          <a:prstGeom prst="rect">
            <a:avLst/>
          </a:prstGeom>
        </p:spPr>
      </p:pic>
      <p:cxnSp>
        <p:nvCxnSpPr>
          <p:cNvPr id="3" name="Straight Connector 2">
            <a:extLst>
              <a:ext uri="{FF2B5EF4-FFF2-40B4-BE49-F238E27FC236}">
                <a16:creationId xmlns:a16="http://schemas.microsoft.com/office/drawing/2014/main" id="{20CB2BFC-CFDF-056A-908A-C3C063C81813}"/>
              </a:ext>
            </a:extLst>
          </p:cNvPr>
          <p:cNvCxnSpPr>
            <a:cxnSpLocks/>
          </p:cNvCxnSpPr>
          <p:nvPr/>
        </p:nvCxnSpPr>
        <p:spPr>
          <a:xfrm>
            <a:off x="2714116" y="1493170"/>
            <a:ext cx="0" cy="4859567"/>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C4D8575-FEAE-CC04-8395-1C8483D53B59}"/>
              </a:ext>
            </a:extLst>
          </p:cNvPr>
          <p:cNvSpPr txBox="1"/>
          <p:nvPr/>
        </p:nvSpPr>
        <p:spPr>
          <a:xfrm>
            <a:off x="5538573" y="2906917"/>
            <a:ext cx="2841977" cy="3046988"/>
          </a:xfrm>
          <a:prstGeom prst="rect">
            <a:avLst/>
          </a:prstGeom>
          <a:noFill/>
        </p:spPr>
        <p:txBody>
          <a:bodyPr wrap="square" rtlCol="0">
            <a:spAutoFit/>
          </a:bodyPr>
          <a:lstStyle/>
          <a:p>
            <a:pPr algn="ctr"/>
            <a:r>
              <a:rPr lang="en-US" sz="2400" b="1"/>
              <a:t>Front Door</a:t>
            </a:r>
          </a:p>
          <a:p>
            <a:pPr algn="ctr"/>
            <a:endParaRPr lang="en-US" sz="2400"/>
          </a:p>
          <a:p>
            <a:pPr algn="ctr"/>
            <a:endParaRPr lang="en-US" sz="2400"/>
          </a:p>
          <a:p>
            <a:pPr algn="ctr"/>
            <a:r>
              <a:rPr lang="en-US" sz="2400"/>
              <a:t>VM/VMSS/Hybrid workloads</a:t>
            </a:r>
          </a:p>
          <a:p>
            <a:pPr algn="ctr"/>
            <a:r>
              <a:rPr lang="en-US" sz="2400"/>
              <a:t>L7 global LB</a:t>
            </a:r>
          </a:p>
          <a:p>
            <a:pPr algn="ctr"/>
            <a:r>
              <a:rPr lang="en-US" sz="2400"/>
              <a:t>TCP/TLS proxy</a:t>
            </a:r>
          </a:p>
          <a:p>
            <a:pPr algn="ctr"/>
            <a:r>
              <a:rPr lang="en-US" sz="2400"/>
              <a:t>WAF</a:t>
            </a:r>
          </a:p>
        </p:txBody>
      </p:sp>
      <p:pic>
        <p:nvPicPr>
          <p:cNvPr id="7" name="Graphic 6">
            <a:extLst>
              <a:ext uri="{FF2B5EF4-FFF2-40B4-BE49-F238E27FC236}">
                <a16:creationId xmlns:a16="http://schemas.microsoft.com/office/drawing/2014/main" id="{42F15A97-A6F1-D648-40FD-BA348CD4047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60602" y="1997664"/>
            <a:ext cx="797921" cy="797921"/>
          </a:xfrm>
          <a:prstGeom prst="rect">
            <a:avLst/>
          </a:prstGeom>
        </p:spPr>
      </p:pic>
      <p:pic>
        <p:nvPicPr>
          <p:cNvPr id="8" name="Graphic 7">
            <a:extLst>
              <a:ext uri="{FF2B5EF4-FFF2-40B4-BE49-F238E27FC236}">
                <a16:creationId xmlns:a16="http://schemas.microsoft.com/office/drawing/2014/main" id="{156365F8-FFBB-57DC-5E04-6FF07B16994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78783" y="1978450"/>
            <a:ext cx="852839" cy="852839"/>
          </a:xfrm>
          <a:prstGeom prst="rect">
            <a:avLst/>
          </a:prstGeom>
        </p:spPr>
      </p:pic>
    </p:spTree>
    <p:extLst>
      <p:ext uri="{BB962C8B-B14F-4D97-AF65-F5344CB8AC3E}">
        <p14:creationId xmlns:p14="http://schemas.microsoft.com/office/powerpoint/2010/main" val="296688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FB75-C57D-73DF-F11F-A22147571A2F}"/>
              </a:ext>
            </a:extLst>
          </p:cNvPr>
          <p:cNvSpPr>
            <a:spLocks noGrp="1"/>
          </p:cNvSpPr>
          <p:nvPr>
            <p:ph type="title"/>
          </p:nvPr>
        </p:nvSpPr>
        <p:spPr>
          <a:xfrm>
            <a:off x="588263" y="457200"/>
            <a:ext cx="4910837" cy="1107996"/>
          </a:xfrm>
        </p:spPr>
        <p:txBody>
          <a:bodyPr wrap="square" anchor="t">
            <a:normAutofit/>
          </a:bodyPr>
          <a:lstStyle/>
          <a:p>
            <a:r>
              <a:rPr lang="en-GB" dirty="0"/>
              <a:t>What is App Gateway</a:t>
            </a:r>
          </a:p>
        </p:txBody>
      </p:sp>
      <p:sp>
        <p:nvSpPr>
          <p:cNvPr id="1031" name="Content Placeholder 2">
            <a:extLst>
              <a:ext uri="{FF2B5EF4-FFF2-40B4-BE49-F238E27FC236}">
                <a16:creationId xmlns:a16="http://schemas.microsoft.com/office/drawing/2014/main" id="{8234DB6C-01A4-BC65-E14A-0B81F079E103}"/>
              </a:ext>
            </a:extLst>
          </p:cNvPr>
          <p:cNvSpPr>
            <a:spLocks noGrp="1"/>
          </p:cNvSpPr>
          <p:nvPr>
            <p:ph sz="quarter" idx="12"/>
          </p:nvPr>
        </p:nvSpPr>
        <p:spPr>
          <a:xfrm>
            <a:off x="584201" y="1816100"/>
            <a:ext cx="4910138" cy="2720745"/>
          </a:xfrm>
        </p:spPr>
        <p:txBody>
          <a:bodyPr vert="horz" wrap="square" lIns="0" tIns="0" rIns="0" bIns="0" rtlCol="0" anchor="t">
            <a:spAutoFit/>
          </a:bodyPr>
          <a:lstStyle/>
          <a:p>
            <a:r>
              <a:rPr lang="en-US">
                <a:cs typeface="Segoe UI"/>
              </a:rPr>
              <a:t>Web traffic load balancer</a:t>
            </a:r>
            <a:endParaRPr lang="en-US"/>
          </a:p>
          <a:p>
            <a:r>
              <a:rPr lang="en-US">
                <a:cs typeface="Segoe UI"/>
              </a:rPr>
              <a:t>Manage traffic to web apps</a:t>
            </a:r>
          </a:p>
          <a:p>
            <a:r>
              <a:rPr lang="en-US">
                <a:cs typeface="Segoe UI"/>
              </a:rPr>
              <a:t>Intelligent routing</a:t>
            </a:r>
            <a:endParaRPr lang="en-US" dirty="0"/>
          </a:p>
          <a:p>
            <a:r>
              <a:rPr lang="en-US">
                <a:cs typeface="Segoe UI"/>
              </a:rPr>
              <a:t>HTTP Requests</a:t>
            </a:r>
            <a:endParaRPr lang="en-US" dirty="0"/>
          </a:p>
          <a:p>
            <a:pPr lvl="1">
              <a:buFont typeface="Courier New" panose="05000000000000000000" pitchFamily="2" charset="2"/>
              <a:buChar char="o"/>
            </a:pPr>
            <a:r>
              <a:rPr lang="en-US">
                <a:cs typeface="Segoe UI"/>
              </a:rPr>
              <a:t>URL paths</a:t>
            </a:r>
          </a:p>
          <a:p>
            <a:pPr lvl="1">
              <a:buFont typeface="Courier New" panose="05000000000000000000" pitchFamily="2" charset="2"/>
              <a:buChar char="o"/>
            </a:pPr>
            <a:r>
              <a:rPr lang="en-US">
                <a:cs typeface="Segoe UI"/>
              </a:rPr>
              <a:t>Host headers</a:t>
            </a:r>
            <a:endParaRPr lang="en-US" dirty="0">
              <a:cs typeface="Segoe UI"/>
            </a:endParaRPr>
          </a:p>
        </p:txBody>
      </p:sp>
      <p:pic>
        <p:nvPicPr>
          <p:cNvPr id="4" name="Picture 3" descr="Screenshot of URL-based routing diagram showing traffic distribution based on incoming URL paths.">
            <a:extLst>
              <a:ext uri="{FF2B5EF4-FFF2-40B4-BE49-F238E27FC236}">
                <a16:creationId xmlns:a16="http://schemas.microsoft.com/office/drawing/2014/main" id="{ACCECAB8-968C-E392-B586-931E77F3AA7A}"/>
              </a:ext>
            </a:extLst>
          </p:cNvPr>
          <p:cNvPicPr>
            <a:picLocks noChangeAspect="1"/>
          </p:cNvPicPr>
          <p:nvPr/>
        </p:nvPicPr>
        <p:blipFill>
          <a:blip r:embed="rId3"/>
          <a:stretch>
            <a:fillRect/>
          </a:stretch>
        </p:blipFill>
        <p:spPr>
          <a:xfrm>
            <a:off x="5278582" y="1445895"/>
            <a:ext cx="6472381" cy="3966210"/>
          </a:xfrm>
          <a:prstGeom prst="rect">
            <a:avLst/>
          </a:prstGeom>
        </p:spPr>
      </p:pic>
    </p:spTree>
    <p:extLst>
      <p:ext uri="{BB962C8B-B14F-4D97-AF65-F5344CB8AC3E}">
        <p14:creationId xmlns:p14="http://schemas.microsoft.com/office/powerpoint/2010/main" val="168851920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461F0-90AF-67B5-BB2D-DBA0083DB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D3D9C-8EC7-B0A1-8841-BD7162022F65}"/>
              </a:ext>
            </a:extLst>
          </p:cNvPr>
          <p:cNvSpPr>
            <a:spLocks noGrp="1"/>
          </p:cNvSpPr>
          <p:nvPr>
            <p:ph type="title"/>
          </p:nvPr>
        </p:nvSpPr>
        <p:spPr>
          <a:xfrm>
            <a:off x="588263" y="457200"/>
            <a:ext cx="4910837" cy="1107996"/>
          </a:xfrm>
        </p:spPr>
        <p:txBody>
          <a:bodyPr wrap="square" anchor="t">
            <a:normAutofit/>
          </a:bodyPr>
          <a:lstStyle/>
          <a:p>
            <a:r>
              <a:rPr lang="en-GB" dirty="0"/>
              <a:t>What is App Gateway</a:t>
            </a:r>
          </a:p>
        </p:txBody>
      </p:sp>
      <p:sp>
        <p:nvSpPr>
          <p:cNvPr id="1031" name="Content Placeholder 2">
            <a:extLst>
              <a:ext uri="{FF2B5EF4-FFF2-40B4-BE49-F238E27FC236}">
                <a16:creationId xmlns:a16="http://schemas.microsoft.com/office/drawing/2014/main" id="{9A5FD370-F669-CF59-9852-2ED0466E336C}"/>
              </a:ext>
            </a:extLst>
          </p:cNvPr>
          <p:cNvSpPr>
            <a:spLocks noGrp="1"/>
          </p:cNvSpPr>
          <p:nvPr>
            <p:ph sz="quarter" idx="12"/>
          </p:nvPr>
        </p:nvSpPr>
        <p:spPr>
          <a:xfrm>
            <a:off x="584201" y="1712193"/>
            <a:ext cx="4690774" cy="3533275"/>
          </a:xfrm>
        </p:spPr>
        <p:txBody>
          <a:bodyPr vert="horz" wrap="square" lIns="0" tIns="0" rIns="0" bIns="0" rtlCol="0" anchor="t">
            <a:spAutoFit/>
          </a:bodyPr>
          <a:lstStyle/>
          <a:p>
            <a:r>
              <a:rPr lang="en-US" dirty="0">
                <a:cs typeface="Segoe UI"/>
              </a:rPr>
              <a:t>Operates at </a:t>
            </a:r>
            <a:r>
              <a:rPr lang="en-US">
                <a:cs typeface="Segoe UI"/>
              </a:rPr>
              <a:t>application layer (OSI layer 7)</a:t>
            </a:r>
          </a:p>
          <a:p>
            <a:r>
              <a:rPr lang="en-US" dirty="0">
                <a:cs typeface="Segoe UI"/>
              </a:rPr>
              <a:t>Provides features like SSL/TLS termination, autoscaling, zone redundancy and integration with Web Application Firewall for secu</a:t>
            </a:r>
            <a:r>
              <a:rPr lang="en-US">
                <a:cs typeface="Segoe UI"/>
              </a:rPr>
              <a:t>rity</a:t>
            </a:r>
            <a:endParaRPr lang="en-US" dirty="0">
              <a:cs typeface="Segoe UI"/>
            </a:endParaRPr>
          </a:p>
        </p:txBody>
      </p:sp>
      <p:pic>
        <p:nvPicPr>
          <p:cNvPr id="3" name="Picture 2" descr="Screenshot of URL-based routing diagram showing traffic distribution based on incoming URL paths.">
            <a:extLst>
              <a:ext uri="{FF2B5EF4-FFF2-40B4-BE49-F238E27FC236}">
                <a16:creationId xmlns:a16="http://schemas.microsoft.com/office/drawing/2014/main" id="{3F1C26F6-9382-412C-A5FC-DC54FFF4A985}"/>
              </a:ext>
            </a:extLst>
          </p:cNvPr>
          <p:cNvPicPr>
            <a:picLocks noChangeAspect="1"/>
          </p:cNvPicPr>
          <p:nvPr/>
        </p:nvPicPr>
        <p:blipFill>
          <a:blip r:embed="rId3"/>
          <a:stretch>
            <a:fillRect/>
          </a:stretch>
        </p:blipFill>
        <p:spPr>
          <a:xfrm>
            <a:off x="5278582" y="1445895"/>
            <a:ext cx="6472381" cy="3966210"/>
          </a:xfrm>
          <a:prstGeom prst="rect">
            <a:avLst/>
          </a:prstGeom>
        </p:spPr>
      </p:pic>
    </p:spTree>
    <p:extLst>
      <p:ext uri="{BB962C8B-B14F-4D97-AF65-F5344CB8AC3E}">
        <p14:creationId xmlns:p14="http://schemas.microsoft.com/office/powerpoint/2010/main" val="155584014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C2D9F-D188-8410-381A-CC4B678D8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F15B3-ADCC-75AD-6BE6-017E2BFA4B3D}"/>
              </a:ext>
            </a:extLst>
          </p:cNvPr>
          <p:cNvSpPr>
            <a:spLocks noGrp="1"/>
          </p:cNvSpPr>
          <p:nvPr>
            <p:ph type="title"/>
          </p:nvPr>
        </p:nvSpPr>
        <p:spPr>
          <a:xfrm>
            <a:off x="588263" y="457200"/>
            <a:ext cx="6874957" cy="1107996"/>
          </a:xfrm>
        </p:spPr>
        <p:txBody>
          <a:bodyPr wrap="square" anchor="t">
            <a:normAutofit/>
          </a:bodyPr>
          <a:lstStyle/>
          <a:p>
            <a:r>
              <a:rPr lang="en-GB">
                <a:cs typeface="Segoe UI"/>
              </a:rPr>
              <a:t>How does App Gateway work</a:t>
            </a:r>
          </a:p>
        </p:txBody>
      </p:sp>
      <p:sp>
        <p:nvSpPr>
          <p:cNvPr id="1031" name="Content Placeholder 2">
            <a:extLst>
              <a:ext uri="{FF2B5EF4-FFF2-40B4-BE49-F238E27FC236}">
                <a16:creationId xmlns:a16="http://schemas.microsoft.com/office/drawing/2014/main" id="{020CFD62-87AC-4F57-01F0-DD3A4999695E}"/>
              </a:ext>
            </a:extLst>
          </p:cNvPr>
          <p:cNvSpPr>
            <a:spLocks noGrp="1"/>
          </p:cNvSpPr>
          <p:nvPr>
            <p:ph sz="quarter" idx="12"/>
          </p:nvPr>
        </p:nvSpPr>
        <p:spPr>
          <a:xfrm>
            <a:off x="275460" y="1561107"/>
            <a:ext cx="4690774" cy="4653582"/>
          </a:xfrm>
        </p:spPr>
        <p:txBody>
          <a:bodyPr vert="horz" wrap="square" lIns="0" tIns="0" rIns="0" bIns="0" rtlCol="0" anchor="t">
            <a:spAutoFit/>
          </a:bodyPr>
          <a:lstStyle/>
          <a:p>
            <a:pPr marL="514350" indent="-514350">
              <a:buAutoNum type="arabicPeriod"/>
            </a:pPr>
            <a:r>
              <a:rPr lang="en-US" sz="2400">
                <a:cs typeface="Segoe UI"/>
              </a:rPr>
              <a:t>Before client sends request, it resolves domain name of app gateway using Domain Name System (DNS) server</a:t>
            </a:r>
            <a:endParaRPr lang="en-US" sz="2400" dirty="0">
              <a:cs typeface="Segoe UI"/>
            </a:endParaRPr>
          </a:p>
          <a:p>
            <a:pPr marL="514350" indent="-514350">
              <a:buAutoNum type="arabicPeriod"/>
            </a:pPr>
            <a:r>
              <a:rPr lang="en-US" sz="2400">
                <a:cs typeface="Segoe UI"/>
              </a:rPr>
              <a:t>Azure DNS returns IP address to client</a:t>
            </a:r>
            <a:endParaRPr lang="en-US" sz="2400" dirty="0">
              <a:cs typeface="Segoe UI"/>
            </a:endParaRPr>
          </a:p>
          <a:p>
            <a:pPr marL="514350" indent="-514350">
              <a:buAutoNum type="arabicPeriod"/>
            </a:pPr>
            <a:r>
              <a:rPr lang="en-US" sz="2400">
                <a:cs typeface="Segoe UI"/>
              </a:rPr>
              <a:t>App gateway accepts incoming traffic on 1 or more listeners</a:t>
            </a:r>
            <a:endParaRPr lang="en-US" sz="2400" dirty="0">
              <a:cs typeface="Segoe UI"/>
            </a:endParaRPr>
          </a:p>
          <a:p>
            <a:pPr marL="514350" indent="-514350">
              <a:buAutoNum type="arabicPeriod"/>
            </a:pPr>
            <a:r>
              <a:rPr lang="en-US" sz="2400" dirty="0">
                <a:cs typeface="Segoe UI"/>
              </a:rPr>
              <a:t>If Web Application Firewall is in use, app gatewa</a:t>
            </a:r>
            <a:r>
              <a:rPr lang="en-US" sz="2400">
                <a:cs typeface="Segoe UI"/>
              </a:rPr>
              <a:t>y checks request headers and body.</a:t>
            </a:r>
            <a:endParaRPr lang="en-US" sz="2400" dirty="0">
              <a:cs typeface="Segoe UI"/>
            </a:endParaRPr>
          </a:p>
        </p:txBody>
      </p:sp>
      <p:pic>
        <p:nvPicPr>
          <p:cNvPr id="4" name="Picture 3" descr="How an application gateway accepts a request">
            <a:extLst>
              <a:ext uri="{FF2B5EF4-FFF2-40B4-BE49-F238E27FC236}">
                <a16:creationId xmlns:a16="http://schemas.microsoft.com/office/drawing/2014/main" id="{3393E382-9EEA-F078-DDAF-86C3AC1ADB78}"/>
              </a:ext>
            </a:extLst>
          </p:cNvPr>
          <p:cNvPicPr>
            <a:picLocks noChangeAspect="1"/>
          </p:cNvPicPr>
          <p:nvPr/>
        </p:nvPicPr>
        <p:blipFill>
          <a:blip r:embed="rId3"/>
          <a:stretch>
            <a:fillRect/>
          </a:stretch>
        </p:blipFill>
        <p:spPr>
          <a:xfrm>
            <a:off x="5111970" y="2022431"/>
            <a:ext cx="7078715" cy="2813137"/>
          </a:xfrm>
          <a:prstGeom prst="rect">
            <a:avLst/>
          </a:prstGeom>
        </p:spPr>
      </p:pic>
    </p:spTree>
    <p:extLst>
      <p:ext uri="{BB962C8B-B14F-4D97-AF65-F5344CB8AC3E}">
        <p14:creationId xmlns:p14="http://schemas.microsoft.com/office/powerpoint/2010/main" val="297357120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EE19E-34F1-CF10-4783-8235282AF1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1DA4B0-2AD2-602B-055B-263EC5AAE4CA}"/>
              </a:ext>
            </a:extLst>
          </p:cNvPr>
          <p:cNvSpPr>
            <a:spLocks noGrp="1"/>
          </p:cNvSpPr>
          <p:nvPr>
            <p:ph type="title"/>
          </p:nvPr>
        </p:nvSpPr>
        <p:spPr>
          <a:xfrm>
            <a:off x="585216" y="2918853"/>
            <a:ext cx="9144000" cy="615553"/>
          </a:xfrm>
        </p:spPr>
        <p:txBody>
          <a:bodyPr/>
          <a:lstStyle/>
          <a:p>
            <a:r>
              <a:rPr lang="en-US" dirty="0"/>
              <a:t>App Gateway Security</a:t>
            </a:r>
            <a:endParaRPr lang="LID4096" dirty="0"/>
          </a:p>
        </p:txBody>
      </p:sp>
    </p:spTree>
    <p:extLst>
      <p:ext uri="{BB962C8B-B14F-4D97-AF65-F5344CB8AC3E}">
        <p14:creationId xmlns:p14="http://schemas.microsoft.com/office/powerpoint/2010/main" val="353884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0021-CF98-1E2D-50C0-C7665AA74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CA600-AE22-E766-993B-B769EB7325C4}"/>
              </a:ext>
            </a:extLst>
          </p:cNvPr>
          <p:cNvSpPr>
            <a:spLocks noGrp="1"/>
          </p:cNvSpPr>
          <p:nvPr>
            <p:ph type="title"/>
          </p:nvPr>
        </p:nvSpPr>
        <p:spPr>
          <a:xfrm>
            <a:off x="588263" y="457200"/>
            <a:ext cx="8648578" cy="1107996"/>
          </a:xfrm>
        </p:spPr>
        <p:txBody>
          <a:bodyPr wrap="square" anchor="t">
            <a:normAutofit/>
          </a:bodyPr>
          <a:lstStyle/>
          <a:p>
            <a:r>
              <a:rPr lang="en-GB">
                <a:cs typeface="Segoe UI"/>
              </a:rPr>
              <a:t>Secure your Application Gateway</a:t>
            </a:r>
            <a:endParaRPr lang="en-US"/>
          </a:p>
        </p:txBody>
      </p:sp>
      <p:sp>
        <p:nvSpPr>
          <p:cNvPr id="1031" name="Content Placeholder 2">
            <a:extLst>
              <a:ext uri="{FF2B5EF4-FFF2-40B4-BE49-F238E27FC236}">
                <a16:creationId xmlns:a16="http://schemas.microsoft.com/office/drawing/2014/main" id="{61B8AA0F-67E0-E71D-1985-20AE9D19CF5A}"/>
              </a:ext>
            </a:extLst>
          </p:cNvPr>
          <p:cNvSpPr>
            <a:spLocks noGrp="1"/>
          </p:cNvSpPr>
          <p:nvPr>
            <p:ph sz="quarter" idx="12"/>
          </p:nvPr>
        </p:nvSpPr>
        <p:spPr>
          <a:xfrm>
            <a:off x="590770" y="1349704"/>
            <a:ext cx="10112758" cy="4973669"/>
          </a:xfrm>
        </p:spPr>
        <p:txBody>
          <a:bodyPr vert="horz" wrap="square" lIns="0" tIns="0" rIns="0" bIns="0" rtlCol="0" anchor="t">
            <a:spAutoFit/>
          </a:bodyPr>
          <a:lstStyle/>
          <a:p>
            <a:r>
              <a:rPr lang="en-US">
                <a:cs typeface="Segoe UI"/>
              </a:rPr>
              <a:t>App gateway is a web traffic load balancer that enables you to manage traffic to your web applications </a:t>
            </a:r>
            <a:endParaRPr lang="en-US"/>
          </a:p>
          <a:p>
            <a:r>
              <a:rPr lang="en-US">
                <a:cs typeface="Segoe UI"/>
              </a:rPr>
              <a:t>Handles incoming requests and routes them to backend services </a:t>
            </a:r>
          </a:p>
          <a:p>
            <a:r>
              <a:rPr lang="en-US" dirty="0">
                <a:cs typeface="Segoe UI"/>
              </a:rPr>
              <a:t>Components needed to best secure your App Gateway deplo</a:t>
            </a:r>
            <a:r>
              <a:rPr lang="en-US">
                <a:cs typeface="Segoe UI"/>
              </a:rPr>
              <a:t>yments:</a:t>
            </a:r>
            <a:endParaRPr lang="en-US" dirty="0"/>
          </a:p>
          <a:p>
            <a:pPr lvl="1">
              <a:buFont typeface="Courier New" panose="05000000000000000000" pitchFamily="2" charset="2"/>
              <a:buChar char="o"/>
            </a:pPr>
            <a:r>
              <a:rPr lang="en-US">
                <a:cs typeface="Segoe UI"/>
              </a:rPr>
              <a:t>Network Security</a:t>
            </a:r>
            <a:endParaRPr lang="en-US" dirty="0">
              <a:cs typeface="Segoe Sans Text"/>
            </a:endParaRPr>
          </a:p>
          <a:p>
            <a:pPr lvl="1">
              <a:buFont typeface="Courier New" panose="05000000000000000000" pitchFamily="2" charset="2"/>
              <a:buChar char="o"/>
            </a:pPr>
            <a:r>
              <a:rPr lang="en-US">
                <a:cs typeface="Segoe UI"/>
              </a:rPr>
              <a:t>Web Application Protection</a:t>
            </a:r>
          </a:p>
          <a:p>
            <a:pPr lvl="1">
              <a:buFont typeface="Courier New" panose="05000000000000000000" pitchFamily="2" charset="2"/>
              <a:buChar char="o"/>
            </a:pPr>
            <a:r>
              <a:rPr lang="en-US">
                <a:cs typeface="Segoe UI"/>
              </a:rPr>
              <a:t>Identity and access management</a:t>
            </a:r>
            <a:endParaRPr lang="en-US" dirty="0">
              <a:cs typeface="Segoe UI"/>
            </a:endParaRPr>
          </a:p>
          <a:p>
            <a:pPr lvl="1">
              <a:buFont typeface="Courier New" panose="05000000000000000000" pitchFamily="2" charset="2"/>
              <a:buChar char="o"/>
            </a:pPr>
            <a:r>
              <a:rPr lang="en-US">
                <a:cs typeface="Segoe UI"/>
              </a:rPr>
              <a:t>Data protection</a:t>
            </a:r>
            <a:endParaRPr lang="en-US" dirty="0">
              <a:cs typeface="Segoe UI"/>
            </a:endParaRPr>
          </a:p>
          <a:p>
            <a:pPr lvl="1">
              <a:buFont typeface="Courier New" panose="05000000000000000000" pitchFamily="2" charset="2"/>
              <a:buChar char="o"/>
            </a:pPr>
            <a:r>
              <a:rPr lang="en-US">
                <a:cs typeface="Segoe UI"/>
              </a:rPr>
              <a:t>Monitoring and threat detection</a:t>
            </a:r>
            <a:endParaRPr lang="en-US" dirty="0">
              <a:cs typeface="Segoe UI"/>
            </a:endParaRPr>
          </a:p>
          <a:p>
            <a:pPr lvl="1">
              <a:buFont typeface="Courier New" panose="05000000000000000000" pitchFamily="2" charset="2"/>
              <a:buChar char="o"/>
            </a:pPr>
            <a:r>
              <a:rPr lang="en-US">
                <a:cs typeface="Segoe UI"/>
              </a:rPr>
              <a:t>Asset management</a:t>
            </a:r>
            <a:endParaRPr lang="en-US" dirty="0">
              <a:cs typeface="Segoe UI"/>
            </a:endParaRPr>
          </a:p>
        </p:txBody>
      </p:sp>
    </p:spTree>
    <p:extLst>
      <p:ext uri="{BB962C8B-B14F-4D97-AF65-F5344CB8AC3E}">
        <p14:creationId xmlns:p14="http://schemas.microsoft.com/office/powerpoint/2010/main" val="26993718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4B6F-17C7-CF3A-E75A-031A01C94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0B822-F60A-5538-8E3C-CB4C489E427F}"/>
              </a:ext>
            </a:extLst>
          </p:cNvPr>
          <p:cNvSpPr>
            <a:spLocks noGrp="1"/>
          </p:cNvSpPr>
          <p:nvPr>
            <p:ph type="title"/>
          </p:nvPr>
        </p:nvSpPr>
        <p:spPr>
          <a:xfrm>
            <a:off x="588263" y="457200"/>
            <a:ext cx="8648578" cy="1107996"/>
          </a:xfrm>
        </p:spPr>
        <p:txBody>
          <a:bodyPr wrap="square" anchor="t">
            <a:normAutofit/>
          </a:bodyPr>
          <a:lstStyle/>
          <a:p>
            <a:r>
              <a:rPr lang="en-GB">
                <a:cs typeface="Segoe UI"/>
              </a:rPr>
              <a:t>Network Security </a:t>
            </a:r>
            <a:endParaRPr lang="en-US"/>
          </a:p>
        </p:txBody>
      </p:sp>
      <p:sp>
        <p:nvSpPr>
          <p:cNvPr id="1031" name="Content Placeholder 2">
            <a:extLst>
              <a:ext uri="{FF2B5EF4-FFF2-40B4-BE49-F238E27FC236}">
                <a16:creationId xmlns:a16="http://schemas.microsoft.com/office/drawing/2014/main" id="{76725021-9167-DAFF-0B25-797D62755903}"/>
              </a:ext>
            </a:extLst>
          </p:cNvPr>
          <p:cNvSpPr>
            <a:spLocks noGrp="1"/>
          </p:cNvSpPr>
          <p:nvPr>
            <p:ph sz="quarter" idx="12"/>
          </p:nvPr>
        </p:nvSpPr>
        <p:spPr>
          <a:xfrm>
            <a:off x="590770" y="1349704"/>
            <a:ext cx="10112758" cy="4739759"/>
          </a:xfrm>
        </p:spPr>
        <p:txBody>
          <a:bodyPr vert="horz" wrap="square" lIns="0" tIns="0" rIns="0" bIns="0" rtlCol="0" anchor="t">
            <a:spAutoFit/>
          </a:bodyPr>
          <a:lstStyle/>
          <a:p>
            <a:r>
              <a:rPr lang="en-US">
                <a:cs typeface="Segoe UI"/>
              </a:rPr>
              <a:t>Deploy into a dedicated subnet for isolation and traffic control.</a:t>
            </a:r>
            <a:endParaRPr lang="en-US" dirty="0">
              <a:cs typeface="Segoe UI"/>
            </a:endParaRPr>
          </a:p>
          <a:p>
            <a:r>
              <a:rPr lang="en-US">
                <a:cs typeface="Segoe Sans Text"/>
              </a:rPr>
              <a:t>Apply Network Security Groups (NSGs) to restrict ports, protocols, and IPs. </a:t>
            </a:r>
          </a:p>
          <a:p>
            <a:r>
              <a:rPr lang="en-US" dirty="0">
                <a:cs typeface="Segoe Sans Text"/>
              </a:rPr>
              <a:t>Use Private Endpoints to remove public exposure and keep traffic </a:t>
            </a:r>
            <a:r>
              <a:rPr lang="en-US">
                <a:cs typeface="Segoe Sans Text"/>
              </a:rPr>
              <a:t>internal.</a:t>
            </a:r>
          </a:p>
          <a:p>
            <a:r>
              <a:rPr lang="en-US">
                <a:cs typeface="Segoe Sans Text"/>
              </a:rPr>
              <a:t>Enable</a:t>
            </a:r>
            <a:r>
              <a:rPr lang="en-US" dirty="0">
                <a:cs typeface="Segoe Sans Text"/>
              </a:rPr>
              <a:t> Azure DDoS Network Protection for large‑scale attack mitigation. </a:t>
            </a:r>
          </a:p>
          <a:p>
            <a:r>
              <a:rPr lang="en-US">
                <a:cs typeface="Segoe Sans Text"/>
              </a:rPr>
              <a:t>Follow recommended infrastructure configuration (subnets, routing, dependencies).</a:t>
            </a:r>
            <a:endParaRPr lang="en-US"/>
          </a:p>
          <a:p>
            <a:endParaRPr lang="en-US" dirty="0">
              <a:cs typeface="Segoe UI"/>
            </a:endParaRPr>
          </a:p>
        </p:txBody>
      </p:sp>
    </p:spTree>
    <p:extLst>
      <p:ext uri="{BB962C8B-B14F-4D97-AF65-F5344CB8AC3E}">
        <p14:creationId xmlns:p14="http://schemas.microsoft.com/office/powerpoint/2010/main" val="67004078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B725A-B926-7FCF-7476-4FAC02B0A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EF349-FFE8-C6F9-A022-FF4030188036}"/>
              </a:ext>
            </a:extLst>
          </p:cNvPr>
          <p:cNvSpPr>
            <a:spLocks noGrp="1"/>
          </p:cNvSpPr>
          <p:nvPr>
            <p:ph type="title"/>
          </p:nvPr>
        </p:nvSpPr>
        <p:spPr>
          <a:xfrm>
            <a:off x="588263" y="457200"/>
            <a:ext cx="8648578" cy="1107996"/>
          </a:xfrm>
        </p:spPr>
        <p:txBody>
          <a:bodyPr wrap="square" anchor="t">
            <a:normAutofit/>
          </a:bodyPr>
          <a:lstStyle/>
          <a:p>
            <a:r>
              <a:rPr lang="en-GB" dirty="0">
                <a:cs typeface="Segoe UI"/>
              </a:rPr>
              <a:t>Web Applicatio</a:t>
            </a:r>
            <a:r>
              <a:rPr lang="en-GB">
                <a:cs typeface="Segoe UI"/>
              </a:rPr>
              <a:t>n Protection</a:t>
            </a:r>
            <a:endParaRPr lang="en-US"/>
          </a:p>
        </p:txBody>
      </p:sp>
      <p:sp>
        <p:nvSpPr>
          <p:cNvPr id="1031" name="Content Placeholder 2">
            <a:extLst>
              <a:ext uri="{FF2B5EF4-FFF2-40B4-BE49-F238E27FC236}">
                <a16:creationId xmlns:a16="http://schemas.microsoft.com/office/drawing/2014/main" id="{7E81282F-4591-10D9-B76D-125B91D74CCC}"/>
              </a:ext>
            </a:extLst>
          </p:cNvPr>
          <p:cNvSpPr>
            <a:spLocks noGrp="1"/>
          </p:cNvSpPr>
          <p:nvPr>
            <p:ph sz="quarter" idx="12"/>
          </p:nvPr>
        </p:nvSpPr>
        <p:spPr>
          <a:xfrm>
            <a:off x="590770" y="1349704"/>
            <a:ext cx="10112758" cy="4653582"/>
          </a:xfrm>
        </p:spPr>
        <p:txBody>
          <a:bodyPr vert="horz" wrap="square" lIns="0" tIns="0" rIns="0" bIns="0" rtlCol="0" anchor="t">
            <a:spAutoFit/>
          </a:bodyPr>
          <a:lstStyle/>
          <a:p>
            <a:r>
              <a:rPr lang="en-US">
                <a:cs typeface="Segoe UI"/>
              </a:rPr>
              <a:t>Deploy WAF to protect against OWASP Top 10 (SQLi, XSS, common web attacks). Start in Detection, then move to Prevention. </a:t>
            </a:r>
            <a:endParaRPr lang="en-US" dirty="0">
              <a:cs typeface="Segoe UI"/>
            </a:endParaRPr>
          </a:p>
          <a:p>
            <a:r>
              <a:rPr lang="en-US">
                <a:cs typeface="Segoe Sans Text"/>
              </a:rPr>
              <a:t>Custom WAF rules for rate limiting, IP blocking, and geo‑filtering. </a:t>
            </a:r>
            <a:endParaRPr lang="en-US"/>
          </a:p>
          <a:p>
            <a:r>
              <a:rPr lang="en-US" dirty="0">
                <a:cs typeface="Segoe Sans Text"/>
              </a:rPr>
              <a:t>Enable bot protection to block malicious bots and allow legitimate crawlers.</a:t>
            </a:r>
          </a:p>
          <a:p>
            <a:r>
              <a:rPr lang="en-US">
                <a:cs typeface="Segoe Sans Text"/>
              </a:rPr>
              <a:t>Implement rate limiting to prevent abuse and mitigate DDoS patterns.</a:t>
            </a:r>
            <a:endParaRPr lang="en-US"/>
          </a:p>
          <a:p>
            <a:endParaRPr lang="en-US" dirty="0">
              <a:cs typeface="Segoe UI"/>
            </a:endParaRPr>
          </a:p>
        </p:txBody>
      </p:sp>
    </p:spTree>
    <p:extLst>
      <p:ext uri="{BB962C8B-B14F-4D97-AF65-F5344CB8AC3E}">
        <p14:creationId xmlns:p14="http://schemas.microsoft.com/office/powerpoint/2010/main" val="247953804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110F2-739B-E8BD-BF48-4EE41CC44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F3BC8-65B4-7892-3E81-6E9E2460BE06}"/>
              </a:ext>
            </a:extLst>
          </p:cNvPr>
          <p:cNvSpPr>
            <a:spLocks noGrp="1"/>
          </p:cNvSpPr>
          <p:nvPr>
            <p:ph type="title"/>
          </p:nvPr>
        </p:nvSpPr>
        <p:spPr>
          <a:xfrm>
            <a:off x="588263" y="457200"/>
            <a:ext cx="8648578" cy="1107996"/>
          </a:xfrm>
        </p:spPr>
        <p:txBody>
          <a:bodyPr wrap="square" anchor="t">
            <a:normAutofit/>
          </a:bodyPr>
          <a:lstStyle/>
          <a:p>
            <a:r>
              <a:rPr lang="en-GB">
                <a:cs typeface="Segoe UI"/>
              </a:rPr>
              <a:t>Identity and Access Management</a:t>
            </a:r>
            <a:endParaRPr lang="en-US"/>
          </a:p>
        </p:txBody>
      </p:sp>
      <p:sp>
        <p:nvSpPr>
          <p:cNvPr id="1031" name="Content Placeholder 2">
            <a:extLst>
              <a:ext uri="{FF2B5EF4-FFF2-40B4-BE49-F238E27FC236}">
                <a16:creationId xmlns:a16="http://schemas.microsoft.com/office/drawing/2014/main" id="{2E24EDE8-5D30-2723-C702-D33F1926C0E1}"/>
              </a:ext>
            </a:extLst>
          </p:cNvPr>
          <p:cNvSpPr>
            <a:spLocks noGrp="1"/>
          </p:cNvSpPr>
          <p:nvPr>
            <p:ph sz="quarter" idx="12"/>
          </p:nvPr>
        </p:nvSpPr>
        <p:spPr>
          <a:xfrm>
            <a:off x="590770" y="1349704"/>
            <a:ext cx="10112758" cy="2326791"/>
          </a:xfrm>
        </p:spPr>
        <p:txBody>
          <a:bodyPr vert="horz" wrap="square" lIns="0" tIns="0" rIns="0" bIns="0" rtlCol="0" anchor="t">
            <a:spAutoFit/>
          </a:bodyPr>
          <a:lstStyle/>
          <a:p>
            <a:r>
              <a:rPr lang="en-US" dirty="0">
                <a:cs typeface="Segoe UI"/>
              </a:rPr>
              <a:t>Configure mutual authentication (</a:t>
            </a:r>
            <a:r>
              <a:rPr lang="en-US" dirty="0" err="1">
                <a:cs typeface="Segoe UI"/>
              </a:rPr>
              <a:t>mTLS</a:t>
            </a:r>
            <a:r>
              <a:rPr lang="en-US" dirty="0">
                <a:cs typeface="Segoe UI"/>
              </a:rPr>
              <a:t>) to authenticate both client and gateway. </a:t>
            </a:r>
          </a:p>
          <a:p>
            <a:r>
              <a:rPr lang="en-US" dirty="0">
                <a:cs typeface="Segoe Sans Text"/>
              </a:rPr>
              <a:t>Use Azure RBAC to restrict who can modify Application Gateway resources. Apply least‑privilege access.</a:t>
            </a:r>
            <a:endParaRPr lang="en-US" dirty="0"/>
          </a:p>
          <a:p>
            <a:endParaRPr lang="en-US" dirty="0">
              <a:cs typeface="Segoe UI"/>
            </a:endParaRPr>
          </a:p>
        </p:txBody>
      </p:sp>
    </p:spTree>
    <p:extLst>
      <p:ext uri="{BB962C8B-B14F-4D97-AF65-F5344CB8AC3E}">
        <p14:creationId xmlns:p14="http://schemas.microsoft.com/office/powerpoint/2010/main" val="35542415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D55E4-73DA-5623-7BC5-76272367B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912C6-C3C3-97E4-AE01-3D1ED22FB5B8}"/>
              </a:ext>
            </a:extLst>
          </p:cNvPr>
          <p:cNvSpPr>
            <a:spLocks noGrp="1"/>
          </p:cNvSpPr>
          <p:nvPr>
            <p:ph type="title"/>
          </p:nvPr>
        </p:nvSpPr>
        <p:spPr>
          <a:xfrm>
            <a:off x="588263" y="457200"/>
            <a:ext cx="8648578" cy="1107996"/>
          </a:xfrm>
        </p:spPr>
        <p:txBody>
          <a:bodyPr wrap="square" anchor="t">
            <a:normAutofit/>
          </a:bodyPr>
          <a:lstStyle/>
          <a:p>
            <a:r>
              <a:rPr lang="en-GB">
                <a:cs typeface="Segoe UI"/>
              </a:rPr>
              <a:t>Data Protection</a:t>
            </a:r>
            <a:endParaRPr lang="en-US"/>
          </a:p>
        </p:txBody>
      </p:sp>
      <p:sp>
        <p:nvSpPr>
          <p:cNvPr id="1031" name="Content Placeholder 2">
            <a:extLst>
              <a:ext uri="{FF2B5EF4-FFF2-40B4-BE49-F238E27FC236}">
                <a16:creationId xmlns:a16="http://schemas.microsoft.com/office/drawing/2014/main" id="{40CAA84A-64B4-78EF-6FCF-16C8BEB2CB0A}"/>
              </a:ext>
            </a:extLst>
          </p:cNvPr>
          <p:cNvSpPr>
            <a:spLocks noGrp="1"/>
          </p:cNvSpPr>
          <p:nvPr>
            <p:ph sz="quarter" idx="12"/>
          </p:nvPr>
        </p:nvSpPr>
        <p:spPr>
          <a:xfrm>
            <a:off x="590770" y="1349704"/>
            <a:ext cx="10112758" cy="4308872"/>
          </a:xfrm>
        </p:spPr>
        <p:txBody>
          <a:bodyPr vert="horz" wrap="square" lIns="0" tIns="0" rIns="0" bIns="0" rtlCol="0" anchor="t">
            <a:spAutoFit/>
          </a:bodyPr>
          <a:lstStyle/>
          <a:p>
            <a:r>
              <a:rPr lang="en-US">
                <a:cs typeface="Segoe UI"/>
              </a:rPr>
              <a:t>Enable TLS encryption (TLS termination + latest TLS versions). </a:t>
            </a:r>
            <a:endParaRPr lang="en-US" dirty="0">
              <a:cs typeface="Segoe UI"/>
            </a:endParaRPr>
          </a:p>
          <a:p>
            <a:r>
              <a:rPr lang="en-US">
                <a:cs typeface="Segoe Sans Text"/>
              </a:rPr>
              <a:t>Store certificates in Azure Key Vault for secure storage + automatic rotation.</a:t>
            </a:r>
          </a:p>
          <a:p>
            <a:r>
              <a:rPr lang="en-US">
                <a:cs typeface="Segoe Sans Text"/>
              </a:rPr>
              <a:t>Secure certificate management with automated renewal + strong key standards. </a:t>
            </a:r>
          </a:p>
          <a:p>
            <a:r>
              <a:rPr lang="en-US">
                <a:cs typeface="Segoe Sans Text"/>
              </a:rPr>
              <a:t>HTTP → HTTPS redirection to ensure encrypted traffic. </a:t>
            </a:r>
          </a:p>
          <a:p>
            <a:r>
              <a:rPr lang="en-US">
                <a:cs typeface="Segoe Sans Text"/>
              </a:rPr>
              <a:t>Configure end‑to‑end TLS for full-path encryption to backend servers.</a:t>
            </a:r>
            <a:endParaRPr lang="en-US"/>
          </a:p>
          <a:p>
            <a:endParaRPr lang="en-US" dirty="0">
              <a:cs typeface="Segoe UI"/>
            </a:endParaRPr>
          </a:p>
        </p:txBody>
      </p:sp>
    </p:spTree>
    <p:extLst>
      <p:ext uri="{BB962C8B-B14F-4D97-AF65-F5344CB8AC3E}">
        <p14:creationId xmlns:p14="http://schemas.microsoft.com/office/powerpoint/2010/main" val="41133870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D50A5-8CB5-1C48-5533-229419780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EE324-21C8-2949-E560-211B7C7E2A01}"/>
              </a:ext>
            </a:extLst>
          </p:cNvPr>
          <p:cNvSpPr>
            <a:spLocks noGrp="1"/>
          </p:cNvSpPr>
          <p:nvPr>
            <p:ph type="title"/>
          </p:nvPr>
        </p:nvSpPr>
        <p:spPr>
          <a:xfrm>
            <a:off x="588263" y="457200"/>
            <a:ext cx="8648578" cy="1107996"/>
          </a:xfrm>
        </p:spPr>
        <p:txBody>
          <a:bodyPr wrap="square" anchor="t">
            <a:normAutofit/>
          </a:bodyPr>
          <a:lstStyle/>
          <a:p>
            <a:r>
              <a:rPr lang="en-GB" dirty="0">
                <a:cs typeface="Segoe UI"/>
              </a:rPr>
              <a:t>Monitoring and Threat </a:t>
            </a:r>
            <a:r>
              <a:rPr lang="en-GB">
                <a:cs typeface="Segoe UI"/>
              </a:rPr>
              <a:t>Detection</a:t>
            </a:r>
            <a:endParaRPr lang="en-US"/>
          </a:p>
        </p:txBody>
      </p:sp>
      <p:sp>
        <p:nvSpPr>
          <p:cNvPr id="1031" name="Content Placeholder 2">
            <a:extLst>
              <a:ext uri="{FF2B5EF4-FFF2-40B4-BE49-F238E27FC236}">
                <a16:creationId xmlns:a16="http://schemas.microsoft.com/office/drawing/2014/main" id="{09DC4A57-F58A-488C-9B77-E166F50C09C7}"/>
              </a:ext>
            </a:extLst>
          </p:cNvPr>
          <p:cNvSpPr>
            <a:spLocks noGrp="1"/>
          </p:cNvSpPr>
          <p:nvPr>
            <p:ph sz="quarter" idx="12"/>
          </p:nvPr>
        </p:nvSpPr>
        <p:spPr>
          <a:xfrm>
            <a:off x="590770" y="1349704"/>
            <a:ext cx="10112758" cy="3360920"/>
          </a:xfrm>
        </p:spPr>
        <p:txBody>
          <a:bodyPr vert="horz" wrap="square" lIns="0" tIns="0" rIns="0" bIns="0" rtlCol="0" anchor="t">
            <a:spAutoFit/>
          </a:bodyPr>
          <a:lstStyle/>
          <a:p>
            <a:r>
              <a:rPr lang="en-US">
                <a:cs typeface="Segoe UI"/>
              </a:rPr>
              <a:t>Enable diagnostic logging for detailed operational and security insights.</a:t>
            </a:r>
            <a:endParaRPr lang="en-US" dirty="0">
              <a:cs typeface="Segoe UI"/>
            </a:endParaRPr>
          </a:p>
          <a:p>
            <a:r>
              <a:rPr lang="en-US">
                <a:cs typeface="Segoe Sans Text"/>
              </a:rPr>
              <a:t>Configure custom health probes for deeper backend visibility.</a:t>
            </a:r>
            <a:endParaRPr lang="en-US"/>
          </a:p>
          <a:p>
            <a:r>
              <a:rPr lang="en-US">
                <a:cs typeface="Segoe Sans Text"/>
              </a:rPr>
              <a:t>Set up monitoring &amp; alerting with Azure Monitor.</a:t>
            </a:r>
            <a:endParaRPr lang="en-US"/>
          </a:p>
          <a:p>
            <a:r>
              <a:rPr lang="en-US">
                <a:cs typeface="Segoe Sans Text"/>
              </a:rPr>
              <a:t>Centralize log management using SIEM integration.</a:t>
            </a:r>
            <a:endParaRPr lang="en-US"/>
          </a:p>
          <a:p>
            <a:r>
              <a:rPr lang="en-US">
                <a:cs typeface="Segoe Sans Text"/>
              </a:rPr>
              <a:t>Monitor backend health continuously for availability &amp; security issues.</a:t>
            </a:r>
            <a:endParaRPr lang="en-US"/>
          </a:p>
        </p:txBody>
      </p:sp>
    </p:spTree>
    <p:extLst>
      <p:ext uri="{BB962C8B-B14F-4D97-AF65-F5344CB8AC3E}">
        <p14:creationId xmlns:p14="http://schemas.microsoft.com/office/powerpoint/2010/main" val="169436020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629EA-DAA2-3C63-68EC-43A5084A7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95F2D-7428-1EC2-1C26-138CF5C64824}"/>
              </a:ext>
            </a:extLst>
          </p:cNvPr>
          <p:cNvSpPr>
            <a:spLocks noGrp="1"/>
          </p:cNvSpPr>
          <p:nvPr>
            <p:ph type="title"/>
          </p:nvPr>
        </p:nvSpPr>
        <p:spPr>
          <a:xfrm>
            <a:off x="588263" y="457200"/>
            <a:ext cx="8648578" cy="1107996"/>
          </a:xfrm>
        </p:spPr>
        <p:txBody>
          <a:bodyPr wrap="square" anchor="t">
            <a:normAutofit/>
          </a:bodyPr>
          <a:lstStyle/>
          <a:p>
            <a:r>
              <a:rPr lang="en-GB">
                <a:cs typeface="Segoe UI"/>
              </a:rPr>
              <a:t>Asset Management</a:t>
            </a:r>
            <a:endParaRPr lang="en-US"/>
          </a:p>
        </p:txBody>
      </p:sp>
      <p:sp>
        <p:nvSpPr>
          <p:cNvPr id="1031" name="Content Placeholder 2">
            <a:extLst>
              <a:ext uri="{FF2B5EF4-FFF2-40B4-BE49-F238E27FC236}">
                <a16:creationId xmlns:a16="http://schemas.microsoft.com/office/drawing/2014/main" id="{120DCC97-C09A-536C-0D0B-155B52BB52AB}"/>
              </a:ext>
            </a:extLst>
          </p:cNvPr>
          <p:cNvSpPr>
            <a:spLocks noGrp="1"/>
          </p:cNvSpPr>
          <p:nvPr>
            <p:ph sz="quarter" idx="12"/>
          </p:nvPr>
        </p:nvSpPr>
        <p:spPr>
          <a:xfrm>
            <a:off x="590770" y="1349704"/>
            <a:ext cx="10112758" cy="2326791"/>
          </a:xfrm>
        </p:spPr>
        <p:txBody>
          <a:bodyPr vert="horz" wrap="square" lIns="0" tIns="0" rIns="0" bIns="0" rtlCol="0" anchor="t">
            <a:spAutoFit/>
          </a:bodyPr>
          <a:lstStyle/>
          <a:p>
            <a:r>
              <a:rPr lang="en-US">
                <a:cs typeface="Segoe UI"/>
              </a:rPr>
              <a:t>Implement Azure Policy governance to audit &amp; enforce secure configurations. </a:t>
            </a:r>
            <a:endParaRPr lang="en-US"/>
          </a:p>
          <a:p>
            <a:r>
              <a:rPr lang="en-US">
                <a:cs typeface="Segoe Sans Text"/>
              </a:rPr>
              <a:t>Monitor configuration compliance using Microsoft Defender for Cloud alerts &amp; baselines.</a:t>
            </a:r>
            <a:endParaRPr lang="en-US"/>
          </a:p>
          <a:p>
            <a:endParaRPr lang="en-US" dirty="0">
              <a:cs typeface="Segoe UI"/>
            </a:endParaRPr>
          </a:p>
        </p:txBody>
      </p:sp>
    </p:spTree>
    <p:extLst>
      <p:ext uri="{BB962C8B-B14F-4D97-AF65-F5344CB8AC3E}">
        <p14:creationId xmlns:p14="http://schemas.microsoft.com/office/powerpoint/2010/main" val="272363336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044DA-DAFB-14EA-73DC-00C9675F16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153BBE-3472-89F3-BADC-7E54CB9EE00C}"/>
              </a:ext>
            </a:extLst>
          </p:cNvPr>
          <p:cNvSpPr>
            <a:spLocks noGrp="1"/>
          </p:cNvSpPr>
          <p:nvPr>
            <p:ph type="title"/>
          </p:nvPr>
        </p:nvSpPr>
        <p:spPr>
          <a:xfrm>
            <a:off x="585216" y="2918853"/>
            <a:ext cx="9144000" cy="615553"/>
          </a:xfrm>
        </p:spPr>
        <p:txBody>
          <a:bodyPr/>
          <a:lstStyle/>
          <a:p>
            <a:r>
              <a:rPr lang="en-US">
                <a:cs typeface="Segoe UI"/>
              </a:rPr>
              <a:t>App Gateway for Containers</a:t>
            </a:r>
            <a:endParaRPr lang="LID4096" dirty="0"/>
          </a:p>
        </p:txBody>
      </p:sp>
    </p:spTree>
    <p:extLst>
      <p:ext uri="{BB962C8B-B14F-4D97-AF65-F5344CB8AC3E}">
        <p14:creationId xmlns:p14="http://schemas.microsoft.com/office/powerpoint/2010/main" val="1435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F4B7E-A1EB-DDC2-1A32-1F39BDBC5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9D3A3-BAEA-39EB-8B1E-A62335C42EBB}"/>
              </a:ext>
            </a:extLst>
          </p:cNvPr>
          <p:cNvSpPr>
            <a:spLocks noGrp="1"/>
          </p:cNvSpPr>
          <p:nvPr>
            <p:ph type="title"/>
          </p:nvPr>
        </p:nvSpPr>
        <p:spPr>
          <a:xfrm>
            <a:off x="588263" y="457200"/>
            <a:ext cx="8169043" cy="1107996"/>
          </a:xfrm>
        </p:spPr>
        <p:txBody>
          <a:bodyPr wrap="square" anchor="t">
            <a:normAutofit/>
          </a:bodyPr>
          <a:lstStyle/>
          <a:p>
            <a:r>
              <a:rPr lang="en-GB" dirty="0">
                <a:cs typeface="Segoe UI"/>
              </a:rPr>
              <a:t>App Gateway for Containers</a:t>
            </a:r>
            <a:endParaRPr lang="en-GB" dirty="0"/>
          </a:p>
        </p:txBody>
      </p:sp>
      <p:sp>
        <p:nvSpPr>
          <p:cNvPr id="1031" name="Content Placeholder 2">
            <a:extLst>
              <a:ext uri="{FF2B5EF4-FFF2-40B4-BE49-F238E27FC236}">
                <a16:creationId xmlns:a16="http://schemas.microsoft.com/office/drawing/2014/main" id="{FD89FD9B-42CC-89FD-7EEB-B4010924E965}"/>
              </a:ext>
            </a:extLst>
          </p:cNvPr>
          <p:cNvSpPr>
            <a:spLocks noGrp="1"/>
          </p:cNvSpPr>
          <p:nvPr>
            <p:ph sz="quarter" idx="12"/>
          </p:nvPr>
        </p:nvSpPr>
        <p:spPr>
          <a:xfrm>
            <a:off x="6523891" y="1776687"/>
            <a:ext cx="4718291" cy="2930033"/>
          </a:xfrm>
        </p:spPr>
        <p:txBody>
          <a:bodyPr vert="horz" wrap="square" lIns="0" tIns="0" rIns="0" bIns="0" rtlCol="0" anchor="t">
            <a:spAutoFit/>
          </a:bodyPr>
          <a:lstStyle/>
          <a:p>
            <a:r>
              <a:rPr lang="en-US" dirty="0"/>
              <a:t>Microsoft Managed solution</a:t>
            </a:r>
          </a:p>
          <a:p>
            <a:r>
              <a:rPr lang="en-US" dirty="0"/>
              <a:t>Integrates to Azure control plane</a:t>
            </a:r>
          </a:p>
          <a:p>
            <a:r>
              <a:rPr lang="en-US" dirty="0"/>
              <a:t>Scale</a:t>
            </a:r>
          </a:p>
          <a:p>
            <a:r>
              <a:rPr lang="en-US" dirty="0"/>
              <a:t>Mutual authentication</a:t>
            </a:r>
          </a:p>
          <a:p>
            <a:r>
              <a:rPr lang="en-US" dirty="0"/>
              <a:t>Weighted load distribution</a:t>
            </a:r>
          </a:p>
        </p:txBody>
      </p:sp>
      <p:pic>
        <p:nvPicPr>
          <p:cNvPr id="3" name="Picture 2" descr="A diagram of a computer&#10;&#10;Description automatically generated">
            <a:extLst>
              <a:ext uri="{FF2B5EF4-FFF2-40B4-BE49-F238E27FC236}">
                <a16:creationId xmlns:a16="http://schemas.microsoft.com/office/drawing/2014/main" id="{0DA2C032-97D7-435E-869C-E5B686805C7E}"/>
              </a:ext>
            </a:extLst>
          </p:cNvPr>
          <p:cNvPicPr>
            <a:picLocks noChangeAspect="1"/>
          </p:cNvPicPr>
          <p:nvPr/>
        </p:nvPicPr>
        <p:blipFill>
          <a:blip r:embed="rId3"/>
          <a:stretch>
            <a:fillRect/>
          </a:stretch>
        </p:blipFill>
        <p:spPr>
          <a:xfrm>
            <a:off x="584201" y="1776687"/>
            <a:ext cx="5534939" cy="4484454"/>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2628532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32E9-53F4-814A-9AE4-15F857815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A7375-83A3-99E6-02BC-A8118247B852}"/>
              </a:ext>
            </a:extLst>
          </p:cNvPr>
          <p:cNvSpPr>
            <a:spLocks noGrp="1"/>
          </p:cNvSpPr>
          <p:nvPr>
            <p:ph type="title"/>
          </p:nvPr>
        </p:nvSpPr>
        <p:spPr>
          <a:xfrm>
            <a:off x="588263" y="457200"/>
            <a:ext cx="8169043" cy="1107996"/>
          </a:xfrm>
        </p:spPr>
        <p:txBody>
          <a:bodyPr wrap="square" anchor="t">
            <a:normAutofit/>
          </a:bodyPr>
          <a:lstStyle/>
          <a:p>
            <a:r>
              <a:rPr lang="en-GB">
                <a:cs typeface="Segoe UI"/>
              </a:rPr>
              <a:t>What is App Gateway for Containers</a:t>
            </a:r>
            <a:endParaRPr lang="en-GB" dirty="0"/>
          </a:p>
        </p:txBody>
      </p:sp>
      <p:sp>
        <p:nvSpPr>
          <p:cNvPr id="1031" name="Content Placeholder 2">
            <a:extLst>
              <a:ext uri="{FF2B5EF4-FFF2-40B4-BE49-F238E27FC236}">
                <a16:creationId xmlns:a16="http://schemas.microsoft.com/office/drawing/2014/main" id="{AE717374-D0F8-8857-5BD1-DE6432AB8688}"/>
              </a:ext>
            </a:extLst>
          </p:cNvPr>
          <p:cNvSpPr>
            <a:spLocks noGrp="1"/>
          </p:cNvSpPr>
          <p:nvPr>
            <p:ph sz="quarter" idx="12"/>
          </p:nvPr>
        </p:nvSpPr>
        <p:spPr>
          <a:xfrm>
            <a:off x="584201" y="1776687"/>
            <a:ext cx="10657982" cy="3791807"/>
          </a:xfrm>
        </p:spPr>
        <p:txBody>
          <a:bodyPr vert="horz" wrap="square" lIns="0" tIns="0" rIns="0" bIns="0" rtlCol="0" anchor="t">
            <a:spAutoFit/>
          </a:bodyPr>
          <a:lstStyle/>
          <a:p>
            <a:r>
              <a:rPr lang="en-US">
                <a:cs typeface="Segoe UI"/>
              </a:rPr>
              <a:t>L7 load balancing + dynamic traffic management for Kubernetes workloads. </a:t>
            </a:r>
          </a:p>
          <a:p>
            <a:r>
              <a:rPr lang="en-US">
                <a:cs typeface="Segoe Sans Text"/>
              </a:rPr>
              <a:t>Part of the Application Gateway product family; extends Azure Load Balancing. </a:t>
            </a:r>
            <a:endParaRPr lang="en-US"/>
          </a:p>
          <a:p>
            <a:r>
              <a:rPr lang="en-US">
                <a:cs typeface="Segoe Sans Text"/>
              </a:rPr>
              <a:t>Evolution of the Application Gateway Ingress Controller (AGIC). </a:t>
            </a:r>
          </a:p>
          <a:p>
            <a:r>
              <a:rPr lang="en-US" dirty="0">
                <a:cs typeface="Segoe Sans Text"/>
              </a:rPr>
              <a:t>AGIC monitored Kubernetes resources and applied config via ARM.</a:t>
            </a:r>
            <a:endParaRPr lang="en-US" dirty="0"/>
          </a:p>
          <a:p>
            <a:endParaRPr lang="en-US" dirty="0"/>
          </a:p>
        </p:txBody>
      </p:sp>
    </p:spTree>
    <p:extLst>
      <p:ext uri="{BB962C8B-B14F-4D97-AF65-F5344CB8AC3E}">
        <p14:creationId xmlns:p14="http://schemas.microsoft.com/office/powerpoint/2010/main" val="314103972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FC1C-1316-8B56-96B4-345BF99BE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335CE-1DC2-FA93-97BC-D91738912716}"/>
              </a:ext>
            </a:extLst>
          </p:cNvPr>
          <p:cNvSpPr>
            <a:spLocks noGrp="1"/>
          </p:cNvSpPr>
          <p:nvPr>
            <p:ph type="title"/>
          </p:nvPr>
        </p:nvSpPr>
        <p:spPr>
          <a:xfrm>
            <a:off x="588263" y="457200"/>
            <a:ext cx="8169043" cy="1107996"/>
          </a:xfrm>
        </p:spPr>
        <p:txBody>
          <a:bodyPr wrap="square" anchor="t">
            <a:normAutofit/>
          </a:bodyPr>
          <a:lstStyle/>
          <a:p>
            <a:r>
              <a:rPr lang="en-GB">
                <a:cs typeface="Segoe UI"/>
              </a:rPr>
              <a:t>How does it work</a:t>
            </a:r>
            <a:endParaRPr lang="en-US"/>
          </a:p>
        </p:txBody>
      </p:sp>
      <p:sp>
        <p:nvSpPr>
          <p:cNvPr id="1031" name="Content Placeholder 2">
            <a:extLst>
              <a:ext uri="{FF2B5EF4-FFF2-40B4-BE49-F238E27FC236}">
                <a16:creationId xmlns:a16="http://schemas.microsoft.com/office/drawing/2014/main" id="{5C46B62F-FE23-6BBF-1466-A1E004E75C5C}"/>
              </a:ext>
            </a:extLst>
          </p:cNvPr>
          <p:cNvSpPr>
            <a:spLocks noGrp="1"/>
          </p:cNvSpPr>
          <p:nvPr>
            <p:ph sz="quarter" idx="12"/>
          </p:nvPr>
        </p:nvSpPr>
        <p:spPr>
          <a:xfrm>
            <a:off x="584201" y="1571971"/>
            <a:ext cx="10657982" cy="4825937"/>
          </a:xfrm>
        </p:spPr>
        <p:txBody>
          <a:bodyPr vert="horz" wrap="square" lIns="0" tIns="0" rIns="0" bIns="0" rtlCol="0" anchor="t">
            <a:spAutoFit/>
          </a:bodyPr>
          <a:lstStyle/>
          <a:p>
            <a:pPr>
              <a:spcBef>
                <a:spcPts val="20"/>
              </a:spcBef>
            </a:pPr>
            <a:r>
              <a:rPr lang="en-US"/>
              <a:t>Application Gateway for Containers is made up of three components:</a:t>
            </a:r>
            <a:endParaRPr lang="en-US" dirty="0"/>
          </a:p>
          <a:p>
            <a:pPr lvl="1">
              <a:buFont typeface="Courier New" panose="05000000000000000000" pitchFamily="2" charset="2"/>
              <a:buChar char="o"/>
            </a:pPr>
            <a:r>
              <a:rPr lang="en-US">
                <a:cs typeface="Segoe Sans Text"/>
              </a:rPr>
              <a:t>Application Gateway for Containers resource</a:t>
            </a:r>
            <a:endParaRPr lang="en-US">
              <a:cs typeface="Segoe UI"/>
            </a:endParaRPr>
          </a:p>
          <a:p>
            <a:pPr lvl="1">
              <a:buFont typeface="Courier New" panose="05000000000000000000" pitchFamily="2" charset="2"/>
              <a:buChar char="o"/>
            </a:pPr>
            <a:r>
              <a:rPr lang="en-US">
                <a:cs typeface="Segoe Sans Text"/>
              </a:rPr>
              <a:t>Frontends</a:t>
            </a:r>
            <a:endParaRPr lang="en-US">
              <a:cs typeface="Segoe UI"/>
            </a:endParaRPr>
          </a:p>
          <a:p>
            <a:pPr lvl="1">
              <a:buFont typeface="Courier New" panose="05000000000000000000" pitchFamily="2" charset="2"/>
              <a:buChar char="o"/>
            </a:pPr>
            <a:r>
              <a:rPr lang="en-US">
                <a:cs typeface="Segoe Sans Text"/>
              </a:rPr>
              <a:t>Associations</a:t>
            </a:r>
            <a:endParaRPr lang="en-US">
              <a:cs typeface="Segoe UI"/>
            </a:endParaRPr>
          </a:p>
          <a:p>
            <a:pPr marL="228600" lvl="1" indent="0">
              <a:buNone/>
            </a:pPr>
            <a:endParaRPr lang="en-US" dirty="0">
              <a:cs typeface="Segoe Sans Text"/>
            </a:endParaRPr>
          </a:p>
          <a:p>
            <a:pPr>
              <a:spcBef>
                <a:spcPts val="20"/>
              </a:spcBef>
            </a:pPr>
            <a:r>
              <a:rPr lang="en-US">
                <a:cs typeface="Segoe Sans Text"/>
              </a:rPr>
              <a:t>The following dependencies are also referenced in an Application Gateway for Containers deployment:</a:t>
            </a:r>
            <a:endParaRPr lang="en-US"/>
          </a:p>
          <a:p>
            <a:pPr lvl="1">
              <a:buFont typeface="Courier New" panose="05000000000000000000" pitchFamily="2" charset="2"/>
              <a:buChar char="o"/>
            </a:pPr>
            <a:r>
              <a:rPr lang="en-US">
                <a:cs typeface="Segoe Sans Text"/>
              </a:rPr>
              <a:t>Private IP address</a:t>
            </a:r>
            <a:endParaRPr lang="en-US">
              <a:cs typeface="Segoe UI"/>
            </a:endParaRPr>
          </a:p>
          <a:p>
            <a:pPr lvl="1">
              <a:buFont typeface="Courier New" panose="05000000000000000000" pitchFamily="2" charset="2"/>
              <a:buChar char="o"/>
            </a:pPr>
            <a:r>
              <a:rPr lang="en-US">
                <a:cs typeface="Segoe Sans Text"/>
              </a:rPr>
              <a:t>Subnet Delegation</a:t>
            </a:r>
            <a:endParaRPr lang="en-US">
              <a:cs typeface="Segoe UI"/>
            </a:endParaRPr>
          </a:p>
          <a:p>
            <a:pPr lvl="1">
              <a:buFont typeface="Courier New" panose="05000000000000000000" pitchFamily="2" charset="2"/>
              <a:buChar char="o"/>
            </a:pPr>
            <a:r>
              <a:rPr lang="en-US">
                <a:cs typeface="Segoe Sans Text"/>
              </a:rPr>
              <a:t>User-assigned Managed Identity</a:t>
            </a:r>
            <a:endParaRPr lang="en-US">
              <a:cs typeface="Segoe UI"/>
            </a:endParaRPr>
          </a:p>
          <a:p>
            <a:endParaRPr lang="en-US" dirty="0"/>
          </a:p>
        </p:txBody>
      </p:sp>
    </p:spTree>
    <p:extLst>
      <p:ext uri="{BB962C8B-B14F-4D97-AF65-F5344CB8AC3E}">
        <p14:creationId xmlns:p14="http://schemas.microsoft.com/office/powerpoint/2010/main" val="79250016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3D8DE-612D-7428-73B1-57B0FB8B2737}"/>
              </a:ext>
            </a:extLst>
          </p:cNvPr>
          <p:cNvSpPr>
            <a:spLocks noGrp="1"/>
          </p:cNvSpPr>
          <p:nvPr>
            <p:ph type="title"/>
          </p:nvPr>
        </p:nvSpPr>
        <p:spPr/>
        <p:txBody>
          <a:bodyPr/>
          <a:lstStyle/>
          <a:p>
            <a:r>
              <a:rPr lang="en-US"/>
              <a:t>Application Gateway for Containers (AGC)</a:t>
            </a:r>
          </a:p>
        </p:txBody>
      </p:sp>
      <p:sp>
        <p:nvSpPr>
          <p:cNvPr id="4" name="Text Placeholder 3">
            <a:extLst>
              <a:ext uri="{FF2B5EF4-FFF2-40B4-BE49-F238E27FC236}">
                <a16:creationId xmlns:a16="http://schemas.microsoft.com/office/drawing/2014/main" id="{AA896193-F18C-C853-118C-BCDBD408C015}"/>
              </a:ext>
            </a:extLst>
          </p:cNvPr>
          <p:cNvSpPr>
            <a:spLocks noGrp="1"/>
          </p:cNvSpPr>
          <p:nvPr>
            <p:ph type="body" sz="quarter" idx="14"/>
          </p:nvPr>
        </p:nvSpPr>
        <p:spPr/>
        <p:txBody>
          <a:bodyPr/>
          <a:lstStyle/>
          <a:p>
            <a:endParaRPr lang="en-US"/>
          </a:p>
        </p:txBody>
      </p:sp>
      <p:sp>
        <p:nvSpPr>
          <p:cNvPr id="9" name="TextBox 8">
            <a:extLst>
              <a:ext uri="{FF2B5EF4-FFF2-40B4-BE49-F238E27FC236}">
                <a16:creationId xmlns:a16="http://schemas.microsoft.com/office/drawing/2014/main" id="{B0D7AE18-553F-5F7B-9B09-A940A7456090}"/>
              </a:ext>
            </a:extLst>
          </p:cNvPr>
          <p:cNvSpPr txBox="1"/>
          <p:nvPr/>
        </p:nvSpPr>
        <p:spPr>
          <a:xfrm>
            <a:off x="6255117" y="1832893"/>
            <a:ext cx="5734824" cy="553998"/>
          </a:xfrm>
          <a:prstGeom prst="rect">
            <a:avLst/>
          </a:prstGeom>
          <a:noFill/>
        </p:spPr>
        <p:txBody>
          <a:bodyPr wrap="square" lIns="0" tIns="0" rIns="0" bIns="0" rtlCol="0" anchor="t">
            <a:spAutoFit/>
          </a:bodyPr>
          <a:lstStyle/>
          <a:p>
            <a:pPr marL="0" marR="0" lvl="0" indent="0" algn="l" defTabSz="1828383" rtl="0" eaLnBrk="1" fontAlgn="auto" latinLnBrk="0" hangingPunct="1">
              <a:lnSpc>
                <a:spcPct val="90000"/>
              </a:lnSpc>
              <a:spcBef>
                <a:spcPts val="4200"/>
              </a:spcBef>
              <a:spcAft>
                <a:spcPts val="0"/>
              </a:spcAft>
              <a:buClrTx/>
              <a:buSzTx/>
              <a:buFontTx/>
              <a:buNone/>
              <a:tabLst/>
              <a:defRPr/>
            </a:pPr>
            <a:r>
              <a:rPr kumimoji="0" lang="en-US" sz="2000" b="0" i="0" u="none" strike="noStrike" kern="1200" cap="none" spc="0" normalizeH="0" baseline="0" noProof="0">
                <a:ln>
                  <a:noFill/>
                </a:ln>
                <a:solidFill>
                  <a:srgbClr val="0070C0"/>
                </a:solidFill>
                <a:effectLst/>
                <a:uLnTx/>
                <a:uFillTx/>
                <a:latin typeface="Segoe UI Semibold"/>
                <a:ea typeface="+mn-ea"/>
                <a:cs typeface="+mn-cs"/>
              </a:rPr>
              <a:t>Managed Application Load Balancer</a:t>
            </a:r>
            <a:br>
              <a:rPr lang="en-US" sz="2000" b="0" i="0" u="none" strike="noStrike" kern="1200" cap="none" spc="0" normalizeH="0" baseline="0" noProof="0" dirty="0">
                <a:ln>
                  <a:noFill/>
                </a:ln>
                <a:solidFill>
                  <a:srgbClr val="0070C0"/>
                </a:solidFill>
                <a:effectLst/>
                <a:uLnTx/>
                <a:uFillTx/>
                <a:latin typeface="Segoe UI Semibold"/>
              </a:rPr>
            </a:br>
            <a:r>
              <a:rPr kumimoji="0" lang="en-US" sz="2000" b="0" i="0" u="none" strike="noStrike" kern="1200" cap="none" spc="0" normalizeH="0" baseline="0" noProof="0">
                <a:ln>
                  <a:noFill/>
                </a:ln>
                <a:solidFill>
                  <a:srgbClr val="0070C0"/>
                </a:solidFill>
                <a:effectLst/>
                <a:uLnTx/>
                <a:uFillTx/>
                <a:latin typeface="Segoe UI Semibold"/>
                <a:ea typeface="+mn-ea"/>
                <a:cs typeface="+mn-cs"/>
              </a:rPr>
              <a:t>for Kubernetes</a:t>
            </a:r>
            <a:endParaRPr lang="en-US" sz="1800" b="0" i="0" u="none" strike="noStrike" kern="1200" cap="none" spc="0" normalizeH="0" baseline="0" noProof="0">
              <a:ln>
                <a:noFill/>
              </a:ln>
              <a:solidFill>
                <a:srgbClr val="0070C0"/>
              </a:solidFill>
              <a:effectLst/>
              <a:uLnTx/>
              <a:uFillTx/>
              <a:latin typeface="Segoe UI"/>
              <a:cs typeface="Segoe UI"/>
            </a:endParaRPr>
          </a:p>
        </p:txBody>
      </p:sp>
      <p:cxnSp>
        <p:nvCxnSpPr>
          <p:cNvPr id="11" name="Straight Connector 10">
            <a:extLst>
              <a:ext uri="{FF2B5EF4-FFF2-40B4-BE49-F238E27FC236}">
                <a16:creationId xmlns:a16="http://schemas.microsoft.com/office/drawing/2014/main" id="{8033C0E2-D7CF-1A50-9EB1-91D1F39C228D}"/>
              </a:ext>
              <a:ext uri="{C183D7F6-B498-43B3-948B-1728B52AA6E4}">
                <adec:decorative xmlns:adec="http://schemas.microsoft.com/office/drawing/2017/decorative" val="1"/>
              </a:ext>
            </a:extLst>
          </p:cNvPr>
          <p:cNvCxnSpPr>
            <a:cxnSpLocks/>
          </p:cNvCxnSpPr>
          <p:nvPr/>
        </p:nvCxnSpPr>
        <p:spPr>
          <a:xfrm>
            <a:off x="6351380" y="2466050"/>
            <a:ext cx="0" cy="4018603"/>
          </a:xfrm>
          <a:prstGeom prst="line">
            <a:avLst/>
          </a:prstGeom>
          <a:ln w="12700">
            <a:gradFill>
              <a:gsLst>
                <a:gs pos="0">
                  <a:schemeClr val="bg1">
                    <a:lumMod val="50000"/>
                    <a:lumOff val="50000"/>
                    <a:alpha val="0"/>
                  </a:schemeClr>
                </a:gs>
                <a:gs pos="46000">
                  <a:schemeClr val="tx1">
                    <a:lumMod val="65000"/>
                  </a:schemeClr>
                </a:gs>
                <a:gs pos="100000">
                  <a:schemeClr val="bg1">
                    <a:lumMod val="50000"/>
                    <a:lumOff val="50000"/>
                    <a:alpha val="0"/>
                  </a:schemeClr>
                </a:gs>
              </a:gsLst>
              <a:lin ang="5400000" scaled="1"/>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4DBB990-54CC-22F8-E8DD-AF3A1E0CA0C4}"/>
              </a:ext>
            </a:extLst>
          </p:cNvPr>
          <p:cNvSpPr txBox="1"/>
          <p:nvPr/>
        </p:nvSpPr>
        <p:spPr>
          <a:xfrm>
            <a:off x="6649015" y="2644376"/>
            <a:ext cx="5577170" cy="246221"/>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Near real-time configuration updates</a:t>
            </a:r>
          </a:p>
        </p:txBody>
      </p:sp>
      <p:sp>
        <p:nvSpPr>
          <p:cNvPr id="13" name="TextBox 12">
            <a:extLst>
              <a:ext uri="{FF2B5EF4-FFF2-40B4-BE49-F238E27FC236}">
                <a16:creationId xmlns:a16="http://schemas.microsoft.com/office/drawing/2014/main" id="{1911E3EF-7ECE-AD49-4C43-BC2061D8A7BE}"/>
              </a:ext>
            </a:extLst>
          </p:cNvPr>
          <p:cNvSpPr txBox="1"/>
          <p:nvPr/>
        </p:nvSpPr>
        <p:spPr>
          <a:xfrm>
            <a:off x="6649015" y="3493234"/>
            <a:ext cx="5577170" cy="492443"/>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Deploy via ARM, Bicep, PowerShell, CLI, Terraform, Gateway API, and Ingress API</a:t>
            </a: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Box 13">
            <a:extLst>
              <a:ext uri="{FF2B5EF4-FFF2-40B4-BE49-F238E27FC236}">
                <a16:creationId xmlns:a16="http://schemas.microsoft.com/office/drawing/2014/main" id="{821725F7-5FF4-3DDC-A48A-BCF5E0A90391}"/>
              </a:ext>
            </a:extLst>
          </p:cNvPr>
          <p:cNvSpPr txBox="1"/>
          <p:nvPr/>
        </p:nvSpPr>
        <p:spPr>
          <a:xfrm>
            <a:off x="6649015" y="4170021"/>
            <a:ext cx="5577170" cy="246221"/>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TLS offloading and Backend Mutual Authentication </a:t>
            </a:r>
          </a:p>
        </p:txBody>
      </p:sp>
      <p:grpSp>
        <p:nvGrpSpPr>
          <p:cNvPr id="19" name="availability zones" descr="availability zones">
            <a:extLst>
              <a:ext uri="{FF2B5EF4-FFF2-40B4-BE49-F238E27FC236}">
                <a16:creationId xmlns:a16="http://schemas.microsoft.com/office/drawing/2014/main" id="{DE399951-8F98-C651-D767-C0B5BDF64123}"/>
              </a:ext>
            </a:extLst>
          </p:cNvPr>
          <p:cNvGrpSpPr>
            <a:grpSpLocks noChangeAspect="1"/>
          </p:cNvGrpSpPr>
          <p:nvPr/>
        </p:nvGrpSpPr>
        <p:grpSpPr bwMode="auto">
          <a:xfrm>
            <a:off x="6177913" y="3583535"/>
            <a:ext cx="346141" cy="313339"/>
            <a:chOff x="3409" y="755"/>
            <a:chExt cx="306" cy="277"/>
          </a:xfrm>
        </p:grpSpPr>
        <p:sp>
          <p:nvSpPr>
            <p:cNvPr id="20" name="AutoShape 109">
              <a:extLst>
                <a:ext uri="{FF2B5EF4-FFF2-40B4-BE49-F238E27FC236}">
                  <a16:creationId xmlns:a16="http://schemas.microsoft.com/office/drawing/2014/main" id="{F0674E98-23C3-1C2D-086E-61B466E5AE09}"/>
                </a:ext>
              </a:extLst>
            </p:cNvPr>
            <p:cNvSpPr>
              <a:spLocks noChangeAspect="1" noChangeArrowheads="1" noTextEdit="1"/>
            </p:cNvSpPr>
            <p:nvPr/>
          </p:nvSpPr>
          <p:spPr bwMode="auto">
            <a:xfrm>
              <a:off x="3413" y="760"/>
              <a:ext cx="29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1" name="Freeform 111">
              <a:extLst>
                <a:ext uri="{FF2B5EF4-FFF2-40B4-BE49-F238E27FC236}">
                  <a16:creationId xmlns:a16="http://schemas.microsoft.com/office/drawing/2014/main" id="{3FB08F63-99EE-E918-2DBA-DB2FD45695E2}"/>
                </a:ext>
              </a:extLst>
            </p:cNvPr>
            <p:cNvSpPr>
              <a:spLocks/>
            </p:cNvSpPr>
            <p:nvPr/>
          </p:nvSpPr>
          <p:spPr bwMode="auto">
            <a:xfrm>
              <a:off x="3435" y="955"/>
              <a:ext cx="52" cy="51"/>
            </a:xfrm>
            <a:custGeom>
              <a:avLst/>
              <a:gdLst>
                <a:gd name="T0" fmla="*/ 11 w 66"/>
                <a:gd name="T1" fmla="*/ 12 h 66"/>
                <a:gd name="T2" fmla="*/ 54 w 66"/>
                <a:gd name="T3" fmla="*/ 12 h 66"/>
                <a:gd name="T4" fmla="*/ 54 w 66"/>
                <a:gd name="T5" fmla="*/ 54 h 66"/>
                <a:gd name="T6" fmla="*/ 11 w 66"/>
                <a:gd name="T7" fmla="*/ 54 h 66"/>
                <a:gd name="T8" fmla="*/ 11 w 66"/>
                <a:gd name="T9" fmla="*/ 12 h 66"/>
              </a:gdLst>
              <a:ahLst/>
              <a:cxnLst>
                <a:cxn ang="0">
                  <a:pos x="T0" y="T1"/>
                </a:cxn>
                <a:cxn ang="0">
                  <a:pos x="T2" y="T3"/>
                </a:cxn>
                <a:cxn ang="0">
                  <a:pos x="T4" y="T5"/>
                </a:cxn>
                <a:cxn ang="0">
                  <a:pos x="T6" y="T7"/>
                </a:cxn>
                <a:cxn ang="0">
                  <a:pos x="T8" y="T9"/>
                </a:cxn>
              </a:cxnLst>
              <a:rect l="0" t="0" r="r" b="b"/>
              <a:pathLst>
                <a:path w="66" h="66">
                  <a:moveTo>
                    <a:pt x="11" y="12"/>
                  </a:moveTo>
                  <a:cubicBezTo>
                    <a:pt x="23" y="0"/>
                    <a:pt x="42" y="0"/>
                    <a:pt x="54" y="12"/>
                  </a:cubicBezTo>
                  <a:cubicBezTo>
                    <a:pt x="66" y="24"/>
                    <a:pt x="66" y="43"/>
                    <a:pt x="54" y="54"/>
                  </a:cubicBezTo>
                  <a:cubicBezTo>
                    <a:pt x="42" y="66"/>
                    <a:pt x="23" y="66"/>
                    <a:pt x="11" y="54"/>
                  </a:cubicBezTo>
                  <a:cubicBezTo>
                    <a:pt x="0" y="43"/>
                    <a:pt x="0" y="24"/>
                    <a:pt x="11" y="12"/>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2" name="Freeform 112">
              <a:extLst>
                <a:ext uri="{FF2B5EF4-FFF2-40B4-BE49-F238E27FC236}">
                  <a16:creationId xmlns:a16="http://schemas.microsoft.com/office/drawing/2014/main" id="{3ED5802B-5269-BE20-EE8E-408AE589E3FE}"/>
                </a:ext>
              </a:extLst>
            </p:cNvPr>
            <p:cNvSpPr>
              <a:spLocks noEditPoints="1"/>
            </p:cNvSpPr>
            <p:nvPr/>
          </p:nvSpPr>
          <p:spPr bwMode="auto">
            <a:xfrm>
              <a:off x="3409" y="889"/>
              <a:ext cx="146" cy="143"/>
            </a:xfrm>
            <a:custGeom>
              <a:avLst/>
              <a:gdLst>
                <a:gd name="T0" fmla="*/ 181 w 189"/>
                <a:gd name="T1" fmla="*/ 104 h 186"/>
                <a:gd name="T2" fmla="*/ 153 w 189"/>
                <a:gd name="T3" fmla="*/ 104 h 186"/>
                <a:gd name="T4" fmla="*/ 147 w 189"/>
                <a:gd name="T5" fmla="*/ 114 h 186"/>
                <a:gd name="T6" fmla="*/ 127 w 189"/>
                <a:gd name="T7" fmla="*/ 114 h 186"/>
                <a:gd name="T8" fmla="*/ 110 w 189"/>
                <a:gd name="T9" fmla="*/ 76 h 186"/>
                <a:gd name="T10" fmla="*/ 89 w 189"/>
                <a:gd name="T11" fmla="*/ 63 h 186"/>
                <a:gd name="T12" fmla="*/ 102 w 189"/>
                <a:gd name="T13" fmla="*/ 41 h 186"/>
                <a:gd name="T14" fmla="*/ 113 w 189"/>
                <a:gd name="T15" fmla="*/ 42 h 186"/>
                <a:gd name="T16" fmla="*/ 128 w 189"/>
                <a:gd name="T17" fmla="*/ 18 h 186"/>
                <a:gd name="T18" fmla="*/ 104 w 189"/>
                <a:gd name="T19" fmla="*/ 2 h 186"/>
                <a:gd name="T20" fmla="*/ 89 w 189"/>
                <a:gd name="T21" fmla="*/ 27 h 186"/>
                <a:gd name="T22" fmla="*/ 94 w 189"/>
                <a:gd name="T23" fmla="*/ 36 h 186"/>
                <a:gd name="T24" fmla="*/ 79 w 189"/>
                <a:gd name="T25" fmla="*/ 60 h 186"/>
                <a:gd name="T26" fmla="*/ 24 w 189"/>
                <a:gd name="T27" fmla="*/ 76 h 186"/>
                <a:gd name="T28" fmla="*/ 24 w 189"/>
                <a:gd name="T29" fmla="*/ 162 h 186"/>
                <a:gd name="T30" fmla="*/ 110 w 189"/>
                <a:gd name="T31" fmla="*/ 162 h 186"/>
                <a:gd name="T32" fmla="*/ 127 w 189"/>
                <a:gd name="T33" fmla="*/ 124 h 186"/>
                <a:gd name="T34" fmla="*/ 147 w 189"/>
                <a:gd name="T35" fmla="*/ 124 h 186"/>
                <a:gd name="T36" fmla="*/ 153 w 189"/>
                <a:gd name="T37" fmla="*/ 133 h 186"/>
                <a:gd name="T38" fmla="*/ 181 w 189"/>
                <a:gd name="T39" fmla="*/ 133 h 186"/>
                <a:gd name="T40" fmla="*/ 181 w 189"/>
                <a:gd name="T41" fmla="*/ 104 h 186"/>
                <a:gd name="T42" fmla="*/ 100 w 189"/>
                <a:gd name="T43" fmla="*/ 153 h 186"/>
                <a:gd name="T44" fmla="*/ 33 w 189"/>
                <a:gd name="T45" fmla="*/ 153 h 186"/>
                <a:gd name="T46" fmla="*/ 33 w 189"/>
                <a:gd name="T47" fmla="*/ 86 h 186"/>
                <a:gd name="T48" fmla="*/ 100 w 189"/>
                <a:gd name="T49" fmla="*/ 86 h 186"/>
                <a:gd name="T50" fmla="*/ 100 w 189"/>
                <a:gd name="T51" fmla="*/ 15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9" h="186">
                  <a:moveTo>
                    <a:pt x="181" y="104"/>
                  </a:moveTo>
                  <a:cubicBezTo>
                    <a:pt x="173" y="97"/>
                    <a:pt x="160" y="97"/>
                    <a:pt x="153" y="104"/>
                  </a:cubicBezTo>
                  <a:cubicBezTo>
                    <a:pt x="150" y="107"/>
                    <a:pt x="148" y="110"/>
                    <a:pt x="147" y="114"/>
                  </a:cubicBezTo>
                  <a:cubicBezTo>
                    <a:pt x="127" y="114"/>
                    <a:pt x="127" y="114"/>
                    <a:pt x="127" y="114"/>
                  </a:cubicBezTo>
                  <a:cubicBezTo>
                    <a:pt x="126" y="100"/>
                    <a:pt x="120" y="87"/>
                    <a:pt x="110" y="76"/>
                  </a:cubicBezTo>
                  <a:cubicBezTo>
                    <a:pt x="104" y="70"/>
                    <a:pt x="97" y="66"/>
                    <a:pt x="89" y="63"/>
                  </a:cubicBezTo>
                  <a:cubicBezTo>
                    <a:pt x="102" y="41"/>
                    <a:pt x="102" y="41"/>
                    <a:pt x="102" y="41"/>
                  </a:cubicBezTo>
                  <a:cubicBezTo>
                    <a:pt x="106" y="42"/>
                    <a:pt x="109" y="43"/>
                    <a:pt x="113" y="42"/>
                  </a:cubicBezTo>
                  <a:cubicBezTo>
                    <a:pt x="124" y="39"/>
                    <a:pt x="131" y="28"/>
                    <a:pt x="128" y="18"/>
                  </a:cubicBezTo>
                  <a:cubicBezTo>
                    <a:pt x="126" y="7"/>
                    <a:pt x="115" y="0"/>
                    <a:pt x="104" y="2"/>
                  </a:cubicBezTo>
                  <a:cubicBezTo>
                    <a:pt x="93" y="5"/>
                    <a:pt x="86" y="16"/>
                    <a:pt x="89" y="27"/>
                  </a:cubicBezTo>
                  <a:cubicBezTo>
                    <a:pt x="90" y="30"/>
                    <a:pt x="92" y="34"/>
                    <a:pt x="94" y="36"/>
                  </a:cubicBezTo>
                  <a:cubicBezTo>
                    <a:pt x="79" y="60"/>
                    <a:pt x="79" y="60"/>
                    <a:pt x="79" y="60"/>
                  </a:cubicBezTo>
                  <a:cubicBezTo>
                    <a:pt x="60" y="55"/>
                    <a:pt x="39" y="61"/>
                    <a:pt x="24" y="76"/>
                  </a:cubicBezTo>
                  <a:cubicBezTo>
                    <a:pt x="0" y="100"/>
                    <a:pt x="0" y="138"/>
                    <a:pt x="24" y="162"/>
                  </a:cubicBezTo>
                  <a:cubicBezTo>
                    <a:pt x="48" y="186"/>
                    <a:pt x="86" y="186"/>
                    <a:pt x="110" y="162"/>
                  </a:cubicBezTo>
                  <a:cubicBezTo>
                    <a:pt x="121" y="151"/>
                    <a:pt x="126" y="138"/>
                    <a:pt x="127" y="124"/>
                  </a:cubicBezTo>
                  <a:cubicBezTo>
                    <a:pt x="147" y="124"/>
                    <a:pt x="147" y="124"/>
                    <a:pt x="147" y="124"/>
                  </a:cubicBezTo>
                  <a:cubicBezTo>
                    <a:pt x="148" y="127"/>
                    <a:pt x="150" y="130"/>
                    <a:pt x="153" y="133"/>
                  </a:cubicBezTo>
                  <a:cubicBezTo>
                    <a:pt x="160" y="141"/>
                    <a:pt x="173" y="141"/>
                    <a:pt x="181" y="133"/>
                  </a:cubicBezTo>
                  <a:cubicBezTo>
                    <a:pt x="189" y="125"/>
                    <a:pt x="189" y="112"/>
                    <a:pt x="181" y="104"/>
                  </a:cubicBezTo>
                  <a:close/>
                  <a:moveTo>
                    <a:pt x="100" y="153"/>
                  </a:moveTo>
                  <a:cubicBezTo>
                    <a:pt x="82" y="171"/>
                    <a:pt x="52" y="171"/>
                    <a:pt x="33" y="153"/>
                  </a:cubicBezTo>
                  <a:cubicBezTo>
                    <a:pt x="15" y="134"/>
                    <a:pt x="15" y="104"/>
                    <a:pt x="33" y="86"/>
                  </a:cubicBezTo>
                  <a:cubicBezTo>
                    <a:pt x="52" y="67"/>
                    <a:pt x="82" y="67"/>
                    <a:pt x="100" y="86"/>
                  </a:cubicBezTo>
                  <a:cubicBezTo>
                    <a:pt x="119" y="104"/>
                    <a:pt x="119" y="134"/>
                    <a:pt x="100" y="153"/>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3" name="Freeform 113">
              <a:extLst>
                <a:ext uri="{FF2B5EF4-FFF2-40B4-BE49-F238E27FC236}">
                  <a16:creationId xmlns:a16="http://schemas.microsoft.com/office/drawing/2014/main" id="{48BBEDEB-F9ED-06B0-2EBD-9A06B7DB92A3}"/>
                </a:ext>
              </a:extLst>
            </p:cNvPr>
            <p:cNvSpPr>
              <a:spLocks/>
            </p:cNvSpPr>
            <p:nvPr/>
          </p:nvSpPr>
          <p:spPr bwMode="auto">
            <a:xfrm>
              <a:off x="3537" y="782"/>
              <a:ext cx="51" cy="50"/>
            </a:xfrm>
            <a:custGeom>
              <a:avLst/>
              <a:gdLst>
                <a:gd name="T0" fmla="*/ 11 w 66"/>
                <a:gd name="T1" fmla="*/ 11 h 65"/>
                <a:gd name="T2" fmla="*/ 54 w 66"/>
                <a:gd name="T3" fmla="*/ 11 h 65"/>
                <a:gd name="T4" fmla="*/ 54 w 66"/>
                <a:gd name="T5" fmla="*/ 54 h 65"/>
                <a:gd name="T6" fmla="*/ 11 w 66"/>
                <a:gd name="T7" fmla="*/ 54 h 65"/>
                <a:gd name="T8" fmla="*/ 11 w 66"/>
                <a:gd name="T9" fmla="*/ 11 h 65"/>
              </a:gdLst>
              <a:ahLst/>
              <a:cxnLst>
                <a:cxn ang="0">
                  <a:pos x="T0" y="T1"/>
                </a:cxn>
                <a:cxn ang="0">
                  <a:pos x="T2" y="T3"/>
                </a:cxn>
                <a:cxn ang="0">
                  <a:pos x="T4" y="T5"/>
                </a:cxn>
                <a:cxn ang="0">
                  <a:pos x="T6" y="T7"/>
                </a:cxn>
                <a:cxn ang="0">
                  <a:pos x="T8" y="T9"/>
                </a:cxn>
              </a:cxnLst>
              <a:rect l="0" t="0" r="r" b="b"/>
              <a:pathLst>
                <a:path w="66" h="65">
                  <a:moveTo>
                    <a:pt x="11" y="11"/>
                  </a:moveTo>
                  <a:cubicBezTo>
                    <a:pt x="23" y="0"/>
                    <a:pt x="42" y="0"/>
                    <a:pt x="54" y="11"/>
                  </a:cubicBezTo>
                  <a:cubicBezTo>
                    <a:pt x="66" y="23"/>
                    <a:pt x="66" y="42"/>
                    <a:pt x="54" y="54"/>
                  </a:cubicBezTo>
                  <a:cubicBezTo>
                    <a:pt x="42" y="65"/>
                    <a:pt x="23" y="65"/>
                    <a:pt x="11" y="54"/>
                  </a:cubicBezTo>
                  <a:cubicBezTo>
                    <a:pt x="0" y="42"/>
                    <a:pt x="0" y="23"/>
                    <a:pt x="11" y="11"/>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115">
              <a:extLst>
                <a:ext uri="{FF2B5EF4-FFF2-40B4-BE49-F238E27FC236}">
                  <a16:creationId xmlns:a16="http://schemas.microsoft.com/office/drawing/2014/main" id="{D4BA8D72-96FB-3686-49F7-955DEB739BCD}"/>
                </a:ext>
              </a:extLst>
            </p:cNvPr>
            <p:cNvSpPr>
              <a:spLocks/>
            </p:cNvSpPr>
            <p:nvPr/>
          </p:nvSpPr>
          <p:spPr bwMode="auto">
            <a:xfrm>
              <a:off x="3638" y="955"/>
              <a:ext cx="51" cy="51"/>
            </a:xfrm>
            <a:custGeom>
              <a:avLst/>
              <a:gdLst>
                <a:gd name="T0" fmla="*/ 12 w 66"/>
                <a:gd name="T1" fmla="*/ 12 h 66"/>
                <a:gd name="T2" fmla="*/ 54 w 66"/>
                <a:gd name="T3" fmla="*/ 12 h 66"/>
                <a:gd name="T4" fmla="*/ 54 w 66"/>
                <a:gd name="T5" fmla="*/ 54 h 66"/>
                <a:gd name="T6" fmla="*/ 11 w 66"/>
                <a:gd name="T7" fmla="*/ 54 h 66"/>
                <a:gd name="T8" fmla="*/ 12 w 66"/>
                <a:gd name="T9" fmla="*/ 12 h 66"/>
              </a:gdLst>
              <a:ahLst/>
              <a:cxnLst>
                <a:cxn ang="0">
                  <a:pos x="T0" y="T1"/>
                </a:cxn>
                <a:cxn ang="0">
                  <a:pos x="T2" y="T3"/>
                </a:cxn>
                <a:cxn ang="0">
                  <a:pos x="T4" y="T5"/>
                </a:cxn>
                <a:cxn ang="0">
                  <a:pos x="T6" y="T7"/>
                </a:cxn>
                <a:cxn ang="0">
                  <a:pos x="T8" y="T9"/>
                </a:cxn>
              </a:cxnLst>
              <a:rect l="0" t="0" r="r" b="b"/>
              <a:pathLst>
                <a:path w="66" h="66">
                  <a:moveTo>
                    <a:pt x="12" y="12"/>
                  </a:moveTo>
                  <a:cubicBezTo>
                    <a:pt x="23" y="0"/>
                    <a:pt x="42" y="0"/>
                    <a:pt x="54" y="12"/>
                  </a:cubicBezTo>
                  <a:cubicBezTo>
                    <a:pt x="66" y="24"/>
                    <a:pt x="66" y="43"/>
                    <a:pt x="54" y="54"/>
                  </a:cubicBezTo>
                  <a:cubicBezTo>
                    <a:pt x="42" y="66"/>
                    <a:pt x="23" y="66"/>
                    <a:pt x="11" y="54"/>
                  </a:cubicBezTo>
                  <a:cubicBezTo>
                    <a:pt x="0" y="42"/>
                    <a:pt x="0" y="23"/>
                    <a:pt x="12" y="12"/>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116">
              <a:extLst>
                <a:ext uri="{FF2B5EF4-FFF2-40B4-BE49-F238E27FC236}">
                  <a16:creationId xmlns:a16="http://schemas.microsoft.com/office/drawing/2014/main" id="{EE35DAA4-45B4-9BD5-0204-DBDD1651BC99}"/>
                </a:ext>
              </a:extLst>
            </p:cNvPr>
            <p:cNvSpPr>
              <a:spLocks noEditPoints="1"/>
            </p:cNvSpPr>
            <p:nvPr/>
          </p:nvSpPr>
          <p:spPr bwMode="auto">
            <a:xfrm>
              <a:off x="3568" y="889"/>
              <a:ext cx="147" cy="143"/>
            </a:xfrm>
            <a:custGeom>
              <a:avLst/>
              <a:gdLst>
                <a:gd name="T0" fmla="*/ 166 w 190"/>
                <a:gd name="T1" fmla="*/ 76 h 186"/>
                <a:gd name="T2" fmla="*/ 109 w 190"/>
                <a:gd name="T3" fmla="*/ 60 h 186"/>
                <a:gd name="T4" fmla="*/ 95 w 190"/>
                <a:gd name="T5" fmla="*/ 36 h 186"/>
                <a:gd name="T6" fmla="*/ 100 w 190"/>
                <a:gd name="T7" fmla="*/ 27 h 186"/>
                <a:gd name="T8" fmla="*/ 85 w 190"/>
                <a:gd name="T9" fmla="*/ 3 h 186"/>
                <a:gd name="T10" fmla="*/ 61 w 190"/>
                <a:gd name="T11" fmla="*/ 18 h 186"/>
                <a:gd name="T12" fmla="*/ 76 w 190"/>
                <a:gd name="T13" fmla="*/ 42 h 186"/>
                <a:gd name="T14" fmla="*/ 86 w 190"/>
                <a:gd name="T15" fmla="*/ 42 h 186"/>
                <a:gd name="T16" fmla="*/ 99 w 190"/>
                <a:gd name="T17" fmla="*/ 63 h 186"/>
                <a:gd name="T18" fmla="*/ 80 w 190"/>
                <a:gd name="T19" fmla="*/ 76 h 186"/>
                <a:gd name="T20" fmla="*/ 62 w 190"/>
                <a:gd name="T21" fmla="*/ 114 h 186"/>
                <a:gd name="T22" fmla="*/ 41 w 190"/>
                <a:gd name="T23" fmla="*/ 114 h 186"/>
                <a:gd name="T24" fmla="*/ 36 w 190"/>
                <a:gd name="T25" fmla="*/ 104 h 186"/>
                <a:gd name="T26" fmla="*/ 8 w 190"/>
                <a:gd name="T27" fmla="*/ 104 h 186"/>
                <a:gd name="T28" fmla="*/ 8 w 190"/>
                <a:gd name="T29" fmla="*/ 133 h 186"/>
                <a:gd name="T30" fmla="*/ 36 w 190"/>
                <a:gd name="T31" fmla="*/ 133 h 186"/>
                <a:gd name="T32" fmla="*/ 41 w 190"/>
                <a:gd name="T33" fmla="*/ 124 h 186"/>
                <a:gd name="T34" fmla="*/ 62 w 190"/>
                <a:gd name="T35" fmla="*/ 124 h 186"/>
                <a:gd name="T36" fmla="*/ 80 w 190"/>
                <a:gd name="T37" fmla="*/ 162 h 186"/>
                <a:gd name="T38" fmla="*/ 166 w 190"/>
                <a:gd name="T39" fmla="*/ 162 h 186"/>
                <a:gd name="T40" fmla="*/ 166 w 190"/>
                <a:gd name="T41" fmla="*/ 76 h 186"/>
                <a:gd name="T42" fmla="*/ 156 w 190"/>
                <a:gd name="T43" fmla="*/ 153 h 186"/>
                <a:gd name="T44" fmla="*/ 89 w 190"/>
                <a:gd name="T45" fmla="*/ 152 h 186"/>
                <a:gd name="T46" fmla="*/ 89 w 190"/>
                <a:gd name="T47" fmla="*/ 85 h 186"/>
                <a:gd name="T48" fmla="*/ 156 w 190"/>
                <a:gd name="T49" fmla="*/ 86 h 186"/>
                <a:gd name="T50" fmla="*/ 156 w 190"/>
                <a:gd name="T51" fmla="*/ 15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0" h="186">
                  <a:moveTo>
                    <a:pt x="166" y="76"/>
                  </a:moveTo>
                  <a:cubicBezTo>
                    <a:pt x="151" y="61"/>
                    <a:pt x="129" y="55"/>
                    <a:pt x="109" y="60"/>
                  </a:cubicBezTo>
                  <a:cubicBezTo>
                    <a:pt x="95" y="36"/>
                    <a:pt x="95" y="36"/>
                    <a:pt x="95" y="36"/>
                  </a:cubicBezTo>
                  <a:cubicBezTo>
                    <a:pt x="97" y="34"/>
                    <a:pt x="99" y="31"/>
                    <a:pt x="100" y="27"/>
                  </a:cubicBezTo>
                  <a:cubicBezTo>
                    <a:pt x="103" y="16"/>
                    <a:pt x="96" y="5"/>
                    <a:pt x="85" y="3"/>
                  </a:cubicBezTo>
                  <a:cubicBezTo>
                    <a:pt x="74" y="0"/>
                    <a:pt x="63" y="7"/>
                    <a:pt x="61" y="18"/>
                  </a:cubicBezTo>
                  <a:cubicBezTo>
                    <a:pt x="58" y="28"/>
                    <a:pt x="65" y="39"/>
                    <a:pt x="76" y="42"/>
                  </a:cubicBezTo>
                  <a:cubicBezTo>
                    <a:pt x="79" y="43"/>
                    <a:pt x="83" y="43"/>
                    <a:pt x="86" y="42"/>
                  </a:cubicBezTo>
                  <a:cubicBezTo>
                    <a:pt x="99" y="63"/>
                    <a:pt x="99" y="63"/>
                    <a:pt x="99" y="63"/>
                  </a:cubicBezTo>
                  <a:cubicBezTo>
                    <a:pt x="92" y="66"/>
                    <a:pt x="86" y="70"/>
                    <a:pt x="80" y="76"/>
                  </a:cubicBezTo>
                  <a:cubicBezTo>
                    <a:pt x="69" y="86"/>
                    <a:pt x="63" y="100"/>
                    <a:pt x="62" y="114"/>
                  </a:cubicBezTo>
                  <a:cubicBezTo>
                    <a:pt x="41" y="114"/>
                    <a:pt x="41" y="114"/>
                    <a:pt x="41" y="114"/>
                  </a:cubicBezTo>
                  <a:cubicBezTo>
                    <a:pt x="41" y="110"/>
                    <a:pt x="39" y="107"/>
                    <a:pt x="36" y="104"/>
                  </a:cubicBezTo>
                  <a:cubicBezTo>
                    <a:pt x="28" y="97"/>
                    <a:pt x="15" y="97"/>
                    <a:pt x="8" y="104"/>
                  </a:cubicBezTo>
                  <a:cubicBezTo>
                    <a:pt x="0" y="112"/>
                    <a:pt x="0" y="125"/>
                    <a:pt x="8" y="133"/>
                  </a:cubicBezTo>
                  <a:cubicBezTo>
                    <a:pt x="15" y="141"/>
                    <a:pt x="28" y="141"/>
                    <a:pt x="36" y="133"/>
                  </a:cubicBezTo>
                  <a:cubicBezTo>
                    <a:pt x="39" y="130"/>
                    <a:pt x="41" y="127"/>
                    <a:pt x="41" y="124"/>
                  </a:cubicBezTo>
                  <a:cubicBezTo>
                    <a:pt x="62" y="124"/>
                    <a:pt x="62" y="124"/>
                    <a:pt x="62" y="124"/>
                  </a:cubicBezTo>
                  <a:cubicBezTo>
                    <a:pt x="63" y="138"/>
                    <a:pt x="69" y="151"/>
                    <a:pt x="80" y="162"/>
                  </a:cubicBezTo>
                  <a:cubicBezTo>
                    <a:pt x="103" y="186"/>
                    <a:pt x="142" y="186"/>
                    <a:pt x="166" y="162"/>
                  </a:cubicBezTo>
                  <a:cubicBezTo>
                    <a:pt x="189" y="138"/>
                    <a:pt x="190" y="100"/>
                    <a:pt x="166" y="76"/>
                  </a:cubicBezTo>
                  <a:close/>
                  <a:moveTo>
                    <a:pt x="156" y="153"/>
                  </a:moveTo>
                  <a:cubicBezTo>
                    <a:pt x="137" y="171"/>
                    <a:pt x="107" y="171"/>
                    <a:pt x="89" y="152"/>
                  </a:cubicBezTo>
                  <a:cubicBezTo>
                    <a:pt x="71" y="134"/>
                    <a:pt x="71" y="104"/>
                    <a:pt x="89" y="85"/>
                  </a:cubicBezTo>
                  <a:cubicBezTo>
                    <a:pt x="108" y="67"/>
                    <a:pt x="138" y="67"/>
                    <a:pt x="156" y="86"/>
                  </a:cubicBezTo>
                  <a:cubicBezTo>
                    <a:pt x="175" y="104"/>
                    <a:pt x="175" y="134"/>
                    <a:pt x="156" y="153"/>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114">
              <a:extLst>
                <a:ext uri="{FF2B5EF4-FFF2-40B4-BE49-F238E27FC236}">
                  <a16:creationId xmlns:a16="http://schemas.microsoft.com/office/drawing/2014/main" id="{E5AAEC89-7666-6318-CD08-70E1CAEEA3BE}"/>
                </a:ext>
              </a:extLst>
            </p:cNvPr>
            <p:cNvSpPr>
              <a:spLocks noEditPoints="1"/>
            </p:cNvSpPr>
            <p:nvPr/>
          </p:nvSpPr>
          <p:spPr bwMode="auto">
            <a:xfrm>
              <a:off x="3500" y="755"/>
              <a:ext cx="123" cy="128"/>
            </a:xfrm>
            <a:custGeom>
              <a:avLst/>
              <a:gdLst>
                <a:gd name="T0" fmla="*/ 141 w 158"/>
                <a:gd name="T1" fmla="*/ 123 h 165"/>
                <a:gd name="T2" fmla="*/ 130 w 158"/>
                <a:gd name="T3" fmla="*/ 123 h 165"/>
                <a:gd name="T4" fmla="*/ 122 w 158"/>
                <a:gd name="T5" fmla="*/ 110 h 165"/>
                <a:gd name="T6" fmla="*/ 123 w 158"/>
                <a:gd name="T7" fmla="*/ 110 h 165"/>
                <a:gd name="T8" fmla="*/ 123 w 158"/>
                <a:gd name="T9" fmla="*/ 24 h 165"/>
                <a:gd name="T10" fmla="*/ 37 w 158"/>
                <a:gd name="T11" fmla="*/ 24 h 165"/>
                <a:gd name="T12" fmla="*/ 37 w 158"/>
                <a:gd name="T13" fmla="*/ 110 h 165"/>
                <a:gd name="T14" fmla="*/ 37 w 158"/>
                <a:gd name="T15" fmla="*/ 110 h 165"/>
                <a:gd name="T16" fmla="*/ 28 w 158"/>
                <a:gd name="T17" fmla="*/ 123 h 165"/>
                <a:gd name="T18" fmla="*/ 18 w 158"/>
                <a:gd name="T19" fmla="*/ 123 h 165"/>
                <a:gd name="T20" fmla="*/ 3 w 158"/>
                <a:gd name="T21" fmla="*/ 147 h 165"/>
                <a:gd name="T22" fmla="*/ 27 w 158"/>
                <a:gd name="T23" fmla="*/ 162 h 165"/>
                <a:gd name="T24" fmla="*/ 42 w 158"/>
                <a:gd name="T25" fmla="*/ 138 h 165"/>
                <a:gd name="T26" fmla="*/ 37 w 158"/>
                <a:gd name="T27" fmla="*/ 128 h 165"/>
                <a:gd name="T28" fmla="*/ 45 w 158"/>
                <a:gd name="T29" fmla="*/ 116 h 165"/>
                <a:gd name="T30" fmla="*/ 114 w 158"/>
                <a:gd name="T31" fmla="*/ 117 h 165"/>
                <a:gd name="T32" fmla="*/ 122 w 158"/>
                <a:gd name="T33" fmla="*/ 128 h 165"/>
                <a:gd name="T34" fmla="*/ 117 w 158"/>
                <a:gd name="T35" fmla="*/ 138 h 165"/>
                <a:gd name="T36" fmla="*/ 132 w 158"/>
                <a:gd name="T37" fmla="*/ 162 h 165"/>
                <a:gd name="T38" fmla="*/ 156 w 158"/>
                <a:gd name="T39" fmla="*/ 147 h 165"/>
                <a:gd name="T40" fmla="*/ 141 w 158"/>
                <a:gd name="T41" fmla="*/ 123 h 165"/>
                <a:gd name="T42" fmla="*/ 46 w 158"/>
                <a:gd name="T43" fmla="*/ 100 h 165"/>
                <a:gd name="T44" fmla="*/ 46 w 158"/>
                <a:gd name="T45" fmla="*/ 33 h 165"/>
                <a:gd name="T46" fmla="*/ 113 w 158"/>
                <a:gd name="T47" fmla="*/ 33 h 165"/>
                <a:gd name="T48" fmla="*/ 113 w 158"/>
                <a:gd name="T49" fmla="*/ 100 h 165"/>
                <a:gd name="T50" fmla="*/ 46 w 158"/>
                <a:gd name="T51" fmla="*/ 10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 h="165">
                  <a:moveTo>
                    <a:pt x="141" y="123"/>
                  </a:moveTo>
                  <a:cubicBezTo>
                    <a:pt x="137" y="122"/>
                    <a:pt x="134" y="122"/>
                    <a:pt x="130" y="123"/>
                  </a:cubicBezTo>
                  <a:cubicBezTo>
                    <a:pt x="122" y="110"/>
                    <a:pt x="122" y="110"/>
                    <a:pt x="122" y="110"/>
                  </a:cubicBezTo>
                  <a:cubicBezTo>
                    <a:pt x="122" y="110"/>
                    <a:pt x="123" y="110"/>
                    <a:pt x="123" y="110"/>
                  </a:cubicBezTo>
                  <a:cubicBezTo>
                    <a:pt x="146" y="86"/>
                    <a:pt x="146" y="47"/>
                    <a:pt x="123" y="24"/>
                  </a:cubicBezTo>
                  <a:cubicBezTo>
                    <a:pt x="99" y="0"/>
                    <a:pt x="60" y="0"/>
                    <a:pt x="37" y="24"/>
                  </a:cubicBezTo>
                  <a:cubicBezTo>
                    <a:pt x="13" y="47"/>
                    <a:pt x="13" y="86"/>
                    <a:pt x="37" y="110"/>
                  </a:cubicBezTo>
                  <a:cubicBezTo>
                    <a:pt x="37" y="110"/>
                    <a:pt x="37" y="110"/>
                    <a:pt x="37" y="110"/>
                  </a:cubicBezTo>
                  <a:cubicBezTo>
                    <a:pt x="28" y="123"/>
                    <a:pt x="28" y="123"/>
                    <a:pt x="28" y="123"/>
                  </a:cubicBezTo>
                  <a:cubicBezTo>
                    <a:pt x="25" y="122"/>
                    <a:pt x="21" y="122"/>
                    <a:pt x="18" y="123"/>
                  </a:cubicBezTo>
                  <a:cubicBezTo>
                    <a:pt x="7" y="125"/>
                    <a:pt x="0" y="136"/>
                    <a:pt x="3" y="147"/>
                  </a:cubicBezTo>
                  <a:cubicBezTo>
                    <a:pt x="5" y="158"/>
                    <a:pt x="16" y="165"/>
                    <a:pt x="27" y="162"/>
                  </a:cubicBezTo>
                  <a:cubicBezTo>
                    <a:pt x="38" y="159"/>
                    <a:pt x="45" y="149"/>
                    <a:pt x="42" y="138"/>
                  </a:cubicBezTo>
                  <a:cubicBezTo>
                    <a:pt x="41" y="134"/>
                    <a:pt x="39" y="131"/>
                    <a:pt x="37" y="128"/>
                  </a:cubicBezTo>
                  <a:cubicBezTo>
                    <a:pt x="45" y="116"/>
                    <a:pt x="45" y="116"/>
                    <a:pt x="45" y="116"/>
                  </a:cubicBezTo>
                  <a:cubicBezTo>
                    <a:pt x="65" y="131"/>
                    <a:pt x="93" y="131"/>
                    <a:pt x="114" y="117"/>
                  </a:cubicBezTo>
                  <a:cubicBezTo>
                    <a:pt x="122" y="128"/>
                    <a:pt x="122" y="128"/>
                    <a:pt x="122" y="128"/>
                  </a:cubicBezTo>
                  <a:cubicBezTo>
                    <a:pt x="119" y="131"/>
                    <a:pt x="117" y="134"/>
                    <a:pt x="117" y="138"/>
                  </a:cubicBezTo>
                  <a:cubicBezTo>
                    <a:pt x="114" y="149"/>
                    <a:pt x="121" y="160"/>
                    <a:pt x="132" y="162"/>
                  </a:cubicBezTo>
                  <a:cubicBezTo>
                    <a:pt x="142" y="165"/>
                    <a:pt x="153" y="158"/>
                    <a:pt x="156" y="147"/>
                  </a:cubicBezTo>
                  <a:cubicBezTo>
                    <a:pt x="158" y="136"/>
                    <a:pt x="152" y="125"/>
                    <a:pt x="141" y="123"/>
                  </a:cubicBezTo>
                  <a:close/>
                  <a:moveTo>
                    <a:pt x="46" y="100"/>
                  </a:moveTo>
                  <a:cubicBezTo>
                    <a:pt x="28" y="82"/>
                    <a:pt x="28" y="51"/>
                    <a:pt x="46" y="33"/>
                  </a:cubicBezTo>
                  <a:cubicBezTo>
                    <a:pt x="65" y="15"/>
                    <a:pt x="95" y="15"/>
                    <a:pt x="113" y="33"/>
                  </a:cubicBezTo>
                  <a:cubicBezTo>
                    <a:pt x="132" y="52"/>
                    <a:pt x="132" y="82"/>
                    <a:pt x="113" y="100"/>
                  </a:cubicBezTo>
                  <a:cubicBezTo>
                    <a:pt x="95" y="118"/>
                    <a:pt x="65" y="118"/>
                    <a:pt x="46" y="10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7" name="Group 26">
            <a:extLst>
              <a:ext uri="{FF2B5EF4-FFF2-40B4-BE49-F238E27FC236}">
                <a16:creationId xmlns:a16="http://schemas.microsoft.com/office/drawing/2014/main" id="{2A41E1B3-A94A-FC48-8AED-70A44864DA78}"/>
              </a:ext>
            </a:extLst>
          </p:cNvPr>
          <p:cNvGrpSpPr/>
          <p:nvPr/>
        </p:nvGrpSpPr>
        <p:grpSpPr>
          <a:xfrm>
            <a:off x="6225399" y="2589368"/>
            <a:ext cx="272404" cy="325498"/>
            <a:chOff x="6816561" y="3832745"/>
            <a:chExt cx="298961" cy="357232"/>
          </a:xfrm>
        </p:grpSpPr>
        <p:pic>
          <p:nvPicPr>
            <p:cNvPr id="28" name="Graphic 27">
              <a:extLst>
                <a:ext uri="{FF2B5EF4-FFF2-40B4-BE49-F238E27FC236}">
                  <a16:creationId xmlns:a16="http://schemas.microsoft.com/office/drawing/2014/main" id="{C8F31D54-4B83-3B9E-1204-60886FDA531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16561" y="3832745"/>
              <a:ext cx="298961" cy="357232"/>
            </a:xfrm>
            <a:prstGeom prst="rect">
              <a:avLst/>
            </a:prstGeom>
          </p:spPr>
        </p:pic>
        <p:sp>
          <p:nvSpPr>
            <p:cNvPr id="29" name="Freeform: Shape 28">
              <a:extLst>
                <a:ext uri="{FF2B5EF4-FFF2-40B4-BE49-F238E27FC236}">
                  <a16:creationId xmlns:a16="http://schemas.microsoft.com/office/drawing/2014/main" id="{4E356B19-6A81-9B9F-75A6-9C6197886000}"/>
                </a:ext>
              </a:extLst>
            </p:cNvPr>
            <p:cNvSpPr/>
            <p:nvPr/>
          </p:nvSpPr>
          <p:spPr>
            <a:xfrm>
              <a:off x="6841655" y="3915188"/>
              <a:ext cx="247882" cy="250583"/>
            </a:xfrm>
            <a:custGeom>
              <a:avLst/>
              <a:gdLst>
                <a:gd name="connsiteX0" fmla="*/ 134973 w 247882"/>
                <a:gd name="connsiteY0" fmla="*/ 174 h 250583"/>
                <a:gd name="connsiteX1" fmla="*/ 247239 w 247882"/>
                <a:gd name="connsiteY1" fmla="*/ 137676 h 250583"/>
                <a:gd name="connsiteX2" fmla="*/ 109735 w 247882"/>
                <a:gd name="connsiteY2" fmla="*/ 249940 h 250583"/>
                <a:gd name="connsiteX3" fmla="*/ 778 w 247882"/>
                <a:gd name="connsiteY3" fmla="*/ 156300 h 250583"/>
                <a:gd name="connsiteX4" fmla="*/ 81 w 247882"/>
                <a:gd name="connsiteY4" fmla="*/ 153689 h 250583"/>
                <a:gd name="connsiteX5" fmla="*/ 123660 w 247882"/>
                <a:gd name="connsiteY5" fmla="*/ 126363 h 250583"/>
                <a:gd name="connsiteX6" fmla="*/ 118090 w 247882"/>
                <a:gd name="connsiteY6" fmla="*/ 0 h 250583"/>
                <a:gd name="connsiteX7" fmla="*/ 134973 w 247882"/>
                <a:gd name="connsiteY7" fmla="*/ 174 h 250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882" h="250583">
                  <a:moveTo>
                    <a:pt x="134973" y="174"/>
                  </a:moveTo>
                  <a:cubicBezTo>
                    <a:pt x="203899" y="7136"/>
                    <a:pt x="254201" y="68751"/>
                    <a:pt x="247239" y="137676"/>
                  </a:cubicBezTo>
                  <a:cubicBezTo>
                    <a:pt x="240276" y="206601"/>
                    <a:pt x="178661" y="256902"/>
                    <a:pt x="109735" y="249940"/>
                  </a:cubicBezTo>
                  <a:cubicBezTo>
                    <a:pt x="55779" y="244546"/>
                    <a:pt x="13484" y="205732"/>
                    <a:pt x="778" y="156300"/>
                  </a:cubicBezTo>
                  <a:cubicBezTo>
                    <a:pt x="604" y="155430"/>
                    <a:pt x="-267" y="154560"/>
                    <a:pt x="81" y="153689"/>
                  </a:cubicBezTo>
                  <a:cubicBezTo>
                    <a:pt x="430" y="152993"/>
                    <a:pt x="123660" y="126363"/>
                    <a:pt x="123660" y="126363"/>
                  </a:cubicBezTo>
                  <a:lnTo>
                    <a:pt x="118090" y="0"/>
                  </a:lnTo>
                  <a:lnTo>
                    <a:pt x="134973" y="174"/>
                  </a:lnTo>
                  <a:close/>
                </a:path>
              </a:pathLst>
            </a:custGeom>
            <a:gradFill>
              <a:gsLst>
                <a:gs pos="0">
                  <a:srgbClr val="50E6FF"/>
                </a:gs>
                <a:gs pos="100000">
                  <a:srgbClr val="00BBDA"/>
                </a:gs>
              </a:gsLst>
              <a:lin ang="5400000" scaled="1"/>
            </a:gradFill>
            <a:ln w="250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0" name="Group 29">
              <a:extLst>
                <a:ext uri="{FF2B5EF4-FFF2-40B4-BE49-F238E27FC236}">
                  <a16:creationId xmlns:a16="http://schemas.microsoft.com/office/drawing/2014/main" id="{56C4A4B9-424A-7B49-0386-1BA377768714}"/>
                </a:ext>
              </a:extLst>
            </p:cNvPr>
            <p:cNvGrpSpPr/>
            <p:nvPr/>
          </p:nvGrpSpPr>
          <p:grpSpPr>
            <a:xfrm>
              <a:off x="6946130" y="3915346"/>
              <a:ext cx="33534" cy="142074"/>
              <a:chOff x="6414325" y="3718513"/>
              <a:chExt cx="33534" cy="142074"/>
            </a:xfrm>
          </p:grpSpPr>
          <p:sp>
            <p:nvSpPr>
              <p:cNvPr id="31" name="Freeform: Shape 30">
                <a:extLst>
                  <a:ext uri="{FF2B5EF4-FFF2-40B4-BE49-F238E27FC236}">
                    <a16:creationId xmlns:a16="http://schemas.microsoft.com/office/drawing/2014/main" id="{FBD242DC-1873-EC33-717D-DB2726553E7F}"/>
                  </a:ext>
                </a:extLst>
              </p:cNvPr>
              <p:cNvSpPr/>
              <p:nvPr/>
            </p:nvSpPr>
            <p:spPr>
              <a:xfrm>
                <a:off x="6414325" y="3827254"/>
                <a:ext cx="33534" cy="33333"/>
              </a:xfrm>
              <a:custGeom>
                <a:avLst/>
                <a:gdLst>
                  <a:gd name="connsiteX0" fmla="*/ 3900 w 33534"/>
                  <a:gd name="connsiteY0" fmla="*/ 27197 h 33333"/>
                  <a:gd name="connsiteX1" fmla="*/ 27398 w 33534"/>
                  <a:gd name="connsiteY1" fmla="*/ 29633 h 33333"/>
                  <a:gd name="connsiteX2" fmla="*/ 29835 w 33534"/>
                  <a:gd name="connsiteY2" fmla="*/ 6136 h 33333"/>
                  <a:gd name="connsiteX3" fmla="*/ 6337 w 33534"/>
                  <a:gd name="connsiteY3" fmla="*/ 3699 h 33333"/>
                  <a:gd name="connsiteX4" fmla="*/ 3900 w 33534"/>
                  <a:gd name="connsiteY4" fmla="*/ 27197 h 33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34" h="33333">
                    <a:moveTo>
                      <a:pt x="3900" y="27197"/>
                    </a:moveTo>
                    <a:cubicBezTo>
                      <a:pt x="9644" y="34333"/>
                      <a:pt x="20261" y="35377"/>
                      <a:pt x="27398" y="29633"/>
                    </a:cubicBezTo>
                    <a:cubicBezTo>
                      <a:pt x="34534" y="23890"/>
                      <a:pt x="35578" y="13273"/>
                      <a:pt x="29835" y="6136"/>
                    </a:cubicBezTo>
                    <a:cubicBezTo>
                      <a:pt x="24091" y="-1000"/>
                      <a:pt x="13474" y="-2044"/>
                      <a:pt x="6337" y="3699"/>
                    </a:cubicBezTo>
                    <a:cubicBezTo>
                      <a:pt x="-973" y="9617"/>
                      <a:pt x="-2191" y="19887"/>
                      <a:pt x="3900" y="27197"/>
                    </a:cubicBezTo>
                    <a:close/>
                  </a:path>
                </a:pathLst>
              </a:custGeom>
              <a:solidFill>
                <a:srgbClr val="0078D4"/>
              </a:solidFill>
              <a:ln w="250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D578E3EB-48C6-766B-C97A-E9E8F342C009}"/>
                  </a:ext>
                </a:extLst>
              </p:cNvPr>
              <p:cNvSpPr/>
              <p:nvPr/>
            </p:nvSpPr>
            <p:spPr>
              <a:xfrm>
                <a:off x="6425710" y="3718513"/>
                <a:ext cx="10095" cy="118182"/>
              </a:xfrm>
              <a:custGeom>
                <a:avLst/>
                <a:gdLst>
                  <a:gd name="connsiteX0" fmla="*/ 9747 w 10095"/>
                  <a:gd name="connsiteY0" fmla="*/ 0 h 118182"/>
                  <a:gd name="connsiteX1" fmla="*/ 0 w 10095"/>
                  <a:gd name="connsiteY1" fmla="*/ 0 h 118182"/>
                  <a:gd name="connsiteX2" fmla="*/ 348 w 10095"/>
                  <a:gd name="connsiteY2" fmla="*/ 118182 h 118182"/>
                  <a:gd name="connsiteX3" fmla="*/ 10095 w 10095"/>
                  <a:gd name="connsiteY3" fmla="*/ 118182 h 118182"/>
                  <a:gd name="connsiteX4" fmla="*/ 9747 w 10095"/>
                  <a:gd name="connsiteY4" fmla="*/ 0 h 118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5" h="118182">
                    <a:moveTo>
                      <a:pt x="9747" y="0"/>
                    </a:moveTo>
                    <a:lnTo>
                      <a:pt x="0" y="0"/>
                    </a:lnTo>
                    <a:lnTo>
                      <a:pt x="348" y="118182"/>
                    </a:lnTo>
                    <a:lnTo>
                      <a:pt x="10095" y="118182"/>
                    </a:lnTo>
                    <a:lnTo>
                      <a:pt x="9747" y="0"/>
                    </a:lnTo>
                    <a:close/>
                  </a:path>
                </a:pathLst>
              </a:custGeom>
              <a:solidFill>
                <a:srgbClr val="0078D4"/>
              </a:solidFill>
              <a:ln w="250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33" name="Group 32">
            <a:extLst>
              <a:ext uri="{FF2B5EF4-FFF2-40B4-BE49-F238E27FC236}">
                <a16:creationId xmlns:a16="http://schemas.microsoft.com/office/drawing/2014/main" id="{2BDF3FC4-7A87-77FF-A74A-5BFABA896E95}"/>
              </a:ext>
            </a:extLst>
          </p:cNvPr>
          <p:cNvGrpSpPr/>
          <p:nvPr/>
        </p:nvGrpSpPr>
        <p:grpSpPr>
          <a:xfrm>
            <a:off x="6238626" y="4100820"/>
            <a:ext cx="224714" cy="326960"/>
            <a:chOff x="8568743" y="3763384"/>
            <a:chExt cx="295428" cy="429849"/>
          </a:xfrm>
        </p:grpSpPr>
        <p:sp>
          <p:nvSpPr>
            <p:cNvPr id="34" name="Freeform: Shape 33">
              <a:extLst>
                <a:ext uri="{FF2B5EF4-FFF2-40B4-BE49-F238E27FC236}">
                  <a16:creationId xmlns:a16="http://schemas.microsoft.com/office/drawing/2014/main" id="{4E5B4DDB-4E33-D9B3-7138-F39A4731B1B1}"/>
                </a:ext>
              </a:extLst>
            </p:cNvPr>
            <p:cNvSpPr/>
            <p:nvPr/>
          </p:nvSpPr>
          <p:spPr>
            <a:xfrm>
              <a:off x="8568743" y="3964831"/>
              <a:ext cx="295428" cy="228402"/>
            </a:xfrm>
            <a:custGeom>
              <a:avLst/>
              <a:gdLst>
                <a:gd name="connsiteX0" fmla="*/ 295429 w 295428"/>
                <a:gd name="connsiteY0" fmla="*/ 201627 h 228402"/>
                <a:gd name="connsiteX1" fmla="*/ 268654 w 295428"/>
                <a:gd name="connsiteY1" fmla="*/ 228402 h 228402"/>
                <a:gd name="connsiteX2" fmla="*/ 26774 w 295428"/>
                <a:gd name="connsiteY2" fmla="*/ 228402 h 228402"/>
                <a:gd name="connsiteX3" fmla="*/ 0 w 295428"/>
                <a:gd name="connsiteY3" fmla="*/ 201627 h 228402"/>
                <a:gd name="connsiteX4" fmla="*/ 0 w 295428"/>
                <a:gd name="connsiteY4" fmla="*/ 0 h 228402"/>
                <a:gd name="connsiteX5" fmla="*/ 295429 w 295428"/>
                <a:gd name="connsiteY5" fmla="*/ 0 h 228402"/>
                <a:gd name="connsiteX6" fmla="*/ 295429 w 295428"/>
                <a:gd name="connsiteY6" fmla="*/ 201627 h 228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428" h="228402">
                  <a:moveTo>
                    <a:pt x="295429" y="201627"/>
                  </a:moveTo>
                  <a:cubicBezTo>
                    <a:pt x="295429" y="216381"/>
                    <a:pt x="283225" y="228402"/>
                    <a:pt x="268654" y="228402"/>
                  </a:cubicBezTo>
                  <a:lnTo>
                    <a:pt x="26774" y="228402"/>
                  </a:lnTo>
                  <a:cubicBezTo>
                    <a:pt x="12203" y="228402"/>
                    <a:pt x="0" y="216381"/>
                    <a:pt x="0" y="201627"/>
                  </a:cubicBezTo>
                  <a:lnTo>
                    <a:pt x="0" y="0"/>
                  </a:lnTo>
                  <a:lnTo>
                    <a:pt x="295429" y="0"/>
                  </a:lnTo>
                  <a:lnTo>
                    <a:pt x="295429" y="201627"/>
                  </a:lnTo>
                  <a:close/>
                </a:path>
              </a:pathLst>
            </a:custGeom>
            <a:solidFill>
              <a:srgbClr val="0069B8"/>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07D9164C-296F-FC47-C796-3211E7F105FC}"/>
                </a:ext>
              </a:extLst>
            </p:cNvPr>
            <p:cNvSpPr/>
            <p:nvPr/>
          </p:nvSpPr>
          <p:spPr>
            <a:xfrm>
              <a:off x="8568743" y="3911282"/>
              <a:ext cx="295428" cy="80324"/>
            </a:xfrm>
            <a:custGeom>
              <a:avLst/>
              <a:gdLst>
                <a:gd name="connsiteX0" fmla="*/ 295429 w 295428"/>
                <a:gd name="connsiteY0" fmla="*/ 53549 h 80324"/>
                <a:gd name="connsiteX1" fmla="*/ 268654 w 295428"/>
                <a:gd name="connsiteY1" fmla="*/ 80323 h 80324"/>
                <a:gd name="connsiteX2" fmla="*/ 26774 w 295428"/>
                <a:gd name="connsiteY2" fmla="*/ 80323 h 80324"/>
                <a:gd name="connsiteX3" fmla="*/ 0 w 295428"/>
                <a:gd name="connsiteY3" fmla="*/ 53549 h 80324"/>
                <a:gd name="connsiteX4" fmla="*/ 0 w 295428"/>
                <a:gd name="connsiteY4" fmla="*/ 26774 h 80324"/>
                <a:gd name="connsiteX5" fmla="*/ 26774 w 295428"/>
                <a:gd name="connsiteY5" fmla="*/ 0 h 80324"/>
                <a:gd name="connsiteX6" fmla="*/ 268654 w 295428"/>
                <a:gd name="connsiteY6" fmla="*/ 0 h 80324"/>
                <a:gd name="connsiteX7" fmla="*/ 295429 w 295428"/>
                <a:gd name="connsiteY7" fmla="*/ 26774 h 80324"/>
                <a:gd name="connsiteX8" fmla="*/ 295429 w 295428"/>
                <a:gd name="connsiteY8" fmla="*/ 53549 h 8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28" h="80324">
                  <a:moveTo>
                    <a:pt x="295429" y="53549"/>
                  </a:moveTo>
                  <a:cubicBezTo>
                    <a:pt x="295429" y="68302"/>
                    <a:pt x="283225" y="80323"/>
                    <a:pt x="268654" y="80323"/>
                  </a:cubicBezTo>
                  <a:lnTo>
                    <a:pt x="26774" y="80323"/>
                  </a:lnTo>
                  <a:cubicBezTo>
                    <a:pt x="12203" y="80505"/>
                    <a:pt x="0" y="68302"/>
                    <a:pt x="0" y="53549"/>
                  </a:cubicBezTo>
                  <a:lnTo>
                    <a:pt x="0" y="26774"/>
                  </a:lnTo>
                  <a:cubicBezTo>
                    <a:pt x="0" y="12021"/>
                    <a:pt x="12203" y="0"/>
                    <a:pt x="26774" y="0"/>
                  </a:cubicBezTo>
                  <a:lnTo>
                    <a:pt x="268654" y="0"/>
                  </a:lnTo>
                  <a:cubicBezTo>
                    <a:pt x="283408" y="0"/>
                    <a:pt x="295429" y="12203"/>
                    <a:pt x="295429" y="26774"/>
                  </a:cubicBezTo>
                  <a:lnTo>
                    <a:pt x="295429" y="53549"/>
                  </a:lnTo>
                  <a:close/>
                </a:path>
              </a:pathLst>
            </a:custGeom>
            <a:solidFill>
              <a:schemeClr val="accent1"/>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789C6952-FF21-7046-D86E-6AAEB5965F2D}"/>
                </a:ext>
              </a:extLst>
            </p:cNvPr>
            <p:cNvSpPr/>
            <p:nvPr/>
          </p:nvSpPr>
          <p:spPr>
            <a:xfrm>
              <a:off x="8568743" y="3971565"/>
              <a:ext cx="295428" cy="221662"/>
            </a:xfrm>
            <a:custGeom>
              <a:avLst/>
              <a:gdLst>
                <a:gd name="connsiteX0" fmla="*/ 268654 w 295428"/>
                <a:gd name="connsiteY0" fmla="*/ 26956 h 221662"/>
                <a:gd name="connsiteX1" fmla="*/ 161010 w 295428"/>
                <a:gd name="connsiteY1" fmla="*/ 26956 h 221662"/>
                <a:gd name="connsiteX2" fmla="*/ 147532 w 295428"/>
                <a:gd name="connsiteY2" fmla="*/ 40435 h 221662"/>
                <a:gd name="connsiteX3" fmla="*/ 147532 w 295428"/>
                <a:gd name="connsiteY3" fmla="*/ 194888 h 221662"/>
                <a:gd name="connsiteX4" fmla="*/ 134054 w 295428"/>
                <a:gd name="connsiteY4" fmla="*/ 208366 h 221662"/>
                <a:gd name="connsiteX5" fmla="*/ 26774 w 295428"/>
                <a:gd name="connsiteY5" fmla="*/ 208366 h 221662"/>
                <a:gd name="connsiteX6" fmla="*/ 0 w 295428"/>
                <a:gd name="connsiteY6" fmla="*/ 181410 h 221662"/>
                <a:gd name="connsiteX7" fmla="*/ 0 w 295428"/>
                <a:gd name="connsiteY7" fmla="*/ 194888 h 221662"/>
                <a:gd name="connsiteX8" fmla="*/ 26774 w 295428"/>
                <a:gd name="connsiteY8" fmla="*/ 221663 h 221662"/>
                <a:gd name="connsiteX9" fmla="*/ 268654 w 295428"/>
                <a:gd name="connsiteY9" fmla="*/ 221663 h 221662"/>
                <a:gd name="connsiteX10" fmla="*/ 295429 w 295428"/>
                <a:gd name="connsiteY10" fmla="*/ 194888 h 221662"/>
                <a:gd name="connsiteX11" fmla="*/ 295429 w 295428"/>
                <a:gd name="connsiteY11" fmla="*/ 0 h 221662"/>
                <a:gd name="connsiteX12" fmla="*/ 268654 w 295428"/>
                <a:gd name="connsiteY12" fmla="*/ 26956 h 22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5428" h="221662">
                  <a:moveTo>
                    <a:pt x="268654" y="26956"/>
                  </a:moveTo>
                  <a:lnTo>
                    <a:pt x="161010" y="26956"/>
                  </a:lnTo>
                  <a:cubicBezTo>
                    <a:pt x="153725" y="26956"/>
                    <a:pt x="147532" y="32967"/>
                    <a:pt x="147532" y="40435"/>
                  </a:cubicBezTo>
                  <a:lnTo>
                    <a:pt x="147532" y="194888"/>
                  </a:lnTo>
                  <a:cubicBezTo>
                    <a:pt x="147532" y="202174"/>
                    <a:pt x="141522" y="208366"/>
                    <a:pt x="134054" y="208366"/>
                  </a:cubicBezTo>
                  <a:lnTo>
                    <a:pt x="26774" y="208366"/>
                  </a:lnTo>
                  <a:cubicBezTo>
                    <a:pt x="12203" y="208366"/>
                    <a:pt x="0" y="196163"/>
                    <a:pt x="0" y="181410"/>
                  </a:cubicBezTo>
                  <a:lnTo>
                    <a:pt x="0" y="194888"/>
                  </a:lnTo>
                  <a:cubicBezTo>
                    <a:pt x="0" y="209641"/>
                    <a:pt x="12203" y="221663"/>
                    <a:pt x="26774" y="221663"/>
                  </a:cubicBezTo>
                  <a:lnTo>
                    <a:pt x="268654" y="221663"/>
                  </a:lnTo>
                  <a:cubicBezTo>
                    <a:pt x="283408" y="221663"/>
                    <a:pt x="295429" y="209459"/>
                    <a:pt x="295429" y="194888"/>
                  </a:cubicBezTo>
                  <a:lnTo>
                    <a:pt x="295429" y="0"/>
                  </a:lnTo>
                  <a:cubicBezTo>
                    <a:pt x="295429" y="14753"/>
                    <a:pt x="283408" y="26956"/>
                    <a:pt x="268654" y="26956"/>
                  </a:cubicBezTo>
                  <a:close/>
                </a:path>
              </a:pathLst>
            </a:custGeom>
            <a:solidFill>
              <a:srgbClr val="004A82"/>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7" name="Freeform: Shape 36">
              <a:extLst>
                <a:ext uri="{FF2B5EF4-FFF2-40B4-BE49-F238E27FC236}">
                  <a16:creationId xmlns:a16="http://schemas.microsoft.com/office/drawing/2014/main" id="{33FB045C-16D0-4ABD-3DB8-53562270C779}"/>
                </a:ext>
              </a:extLst>
            </p:cNvPr>
            <p:cNvSpPr/>
            <p:nvPr/>
          </p:nvSpPr>
          <p:spPr>
            <a:xfrm>
              <a:off x="8673289" y="4047520"/>
              <a:ext cx="86152" cy="86333"/>
            </a:xfrm>
            <a:custGeom>
              <a:avLst/>
              <a:gdLst>
                <a:gd name="connsiteX0" fmla="*/ 43167 w 86152"/>
                <a:gd name="connsiteY0" fmla="*/ 0 h 86333"/>
                <a:gd name="connsiteX1" fmla="*/ 0 w 86152"/>
                <a:gd name="connsiteY1" fmla="*/ 43167 h 86333"/>
                <a:gd name="connsiteX2" fmla="*/ 43167 w 86152"/>
                <a:gd name="connsiteY2" fmla="*/ 86334 h 86333"/>
                <a:gd name="connsiteX3" fmla="*/ 86152 w 86152"/>
                <a:gd name="connsiteY3" fmla="*/ 43167 h 86333"/>
                <a:gd name="connsiteX4" fmla="*/ 43167 w 86152"/>
                <a:gd name="connsiteY4" fmla="*/ 0 h 86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52" h="86333">
                  <a:moveTo>
                    <a:pt x="43167" y="0"/>
                  </a:moveTo>
                  <a:cubicBezTo>
                    <a:pt x="19307" y="0"/>
                    <a:pt x="0" y="19307"/>
                    <a:pt x="0" y="43167"/>
                  </a:cubicBezTo>
                  <a:cubicBezTo>
                    <a:pt x="0" y="67027"/>
                    <a:pt x="19307" y="86334"/>
                    <a:pt x="43167" y="86334"/>
                  </a:cubicBezTo>
                  <a:cubicBezTo>
                    <a:pt x="67027" y="86334"/>
                    <a:pt x="86152" y="66844"/>
                    <a:pt x="86152" y="43167"/>
                  </a:cubicBezTo>
                  <a:cubicBezTo>
                    <a:pt x="86334" y="19307"/>
                    <a:pt x="67027" y="0"/>
                    <a:pt x="43167" y="0"/>
                  </a:cubicBezTo>
                  <a:close/>
                </a:path>
              </a:pathLst>
            </a:custGeom>
            <a:solidFill>
              <a:srgbClr val="50E6FF"/>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8" name="Freeform: Shape 37">
              <a:extLst>
                <a:ext uri="{FF2B5EF4-FFF2-40B4-BE49-F238E27FC236}">
                  <a16:creationId xmlns:a16="http://schemas.microsoft.com/office/drawing/2014/main" id="{3830585A-C932-65A0-47CC-3E58FB6430A7}"/>
                </a:ext>
              </a:extLst>
            </p:cNvPr>
            <p:cNvSpPr/>
            <p:nvPr/>
          </p:nvSpPr>
          <p:spPr>
            <a:xfrm>
              <a:off x="8602439" y="3931315"/>
              <a:ext cx="53548" cy="40434"/>
            </a:xfrm>
            <a:custGeom>
              <a:avLst/>
              <a:gdLst>
                <a:gd name="connsiteX0" fmla="*/ 53549 w 53548"/>
                <a:gd name="connsiteY0" fmla="*/ 20217 h 40434"/>
                <a:gd name="connsiteX1" fmla="*/ 26774 w 53548"/>
                <a:gd name="connsiteY1" fmla="*/ 40435 h 40434"/>
                <a:gd name="connsiteX2" fmla="*/ 0 w 53548"/>
                <a:gd name="connsiteY2" fmla="*/ 20217 h 40434"/>
                <a:gd name="connsiteX3" fmla="*/ 26774 w 53548"/>
                <a:gd name="connsiteY3" fmla="*/ 0 h 40434"/>
                <a:gd name="connsiteX4" fmla="*/ 53549 w 53548"/>
                <a:gd name="connsiteY4" fmla="*/ 20217 h 40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48" h="40434">
                  <a:moveTo>
                    <a:pt x="53549" y="20217"/>
                  </a:moveTo>
                  <a:cubicBezTo>
                    <a:pt x="53549" y="31328"/>
                    <a:pt x="41527" y="40435"/>
                    <a:pt x="26774" y="40435"/>
                  </a:cubicBezTo>
                  <a:cubicBezTo>
                    <a:pt x="12021" y="40435"/>
                    <a:pt x="0" y="31328"/>
                    <a:pt x="0" y="20217"/>
                  </a:cubicBezTo>
                  <a:cubicBezTo>
                    <a:pt x="0" y="9107"/>
                    <a:pt x="12021" y="0"/>
                    <a:pt x="26774" y="0"/>
                  </a:cubicBezTo>
                  <a:cubicBezTo>
                    <a:pt x="41527" y="0"/>
                    <a:pt x="53549" y="8925"/>
                    <a:pt x="53549" y="20217"/>
                  </a:cubicBezTo>
                  <a:close/>
                </a:path>
              </a:pathLst>
            </a:custGeom>
            <a:solidFill>
              <a:srgbClr val="182A37"/>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9" name="Freeform: Shape 38">
              <a:extLst>
                <a:ext uri="{FF2B5EF4-FFF2-40B4-BE49-F238E27FC236}">
                  <a16:creationId xmlns:a16="http://schemas.microsoft.com/office/drawing/2014/main" id="{82B6EEC7-0EB5-FEB2-B226-55ABF9397C2D}"/>
                </a:ext>
              </a:extLst>
            </p:cNvPr>
            <p:cNvSpPr/>
            <p:nvPr/>
          </p:nvSpPr>
          <p:spPr>
            <a:xfrm>
              <a:off x="8777108" y="3931315"/>
              <a:ext cx="53549" cy="40437"/>
            </a:xfrm>
            <a:custGeom>
              <a:avLst/>
              <a:gdLst>
                <a:gd name="connsiteX0" fmla="*/ 53549 w 53549"/>
                <a:gd name="connsiteY0" fmla="*/ 20220 h 40437"/>
                <a:gd name="connsiteX1" fmla="*/ 26775 w 53549"/>
                <a:gd name="connsiteY1" fmla="*/ 40437 h 40437"/>
                <a:gd name="connsiteX2" fmla="*/ 0 w 53549"/>
                <a:gd name="connsiteY2" fmla="*/ 20220 h 40437"/>
                <a:gd name="connsiteX3" fmla="*/ 26775 w 53549"/>
                <a:gd name="connsiteY3" fmla="*/ 3 h 40437"/>
                <a:gd name="connsiteX4" fmla="*/ 53549 w 53549"/>
                <a:gd name="connsiteY4" fmla="*/ 20220 h 40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49" h="40437">
                  <a:moveTo>
                    <a:pt x="53549" y="20220"/>
                  </a:moveTo>
                  <a:cubicBezTo>
                    <a:pt x="53549" y="31331"/>
                    <a:pt x="41528" y="40437"/>
                    <a:pt x="26775" y="40437"/>
                  </a:cubicBezTo>
                  <a:cubicBezTo>
                    <a:pt x="12021" y="40437"/>
                    <a:pt x="0" y="31513"/>
                    <a:pt x="0" y="20220"/>
                  </a:cubicBezTo>
                  <a:cubicBezTo>
                    <a:pt x="0" y="9109"/>
                    <a:pt x="12021" y="3"/>
                    <a:pt x="26775" y="3"/>
                  </a:cubicBezTo>
                  <a:cubicBezTo>
                    <a:pt x="41528" y="-179"/>
                    <a:pt x="53549" y="8927"/>
                    <a:pt x="53549" y="20220"/>
                  </a:cubicBezTo>
                  <a:close/>
                </a:path>
              </a:pathLst>
            </a:custGeom>
            <a:solidFill>
              <a:srgbClr val="182A37"/>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0" name="Freeform: Shape 39">
              <a:extLst>
                <a:ext uri="{FF2B5EF4-FFF2-40B4-BE49-F238E27FC236}">
                  <a16:creationId xmlns:a16="http://schemas.microsoft.com/office/drawing/2014/main" id="{50BA03D3-47D3-B6A2-764C-074169C9BE34}"/>
                </a:ext>
              </a:extLst>
            </p:cNvPr>
            <p:cNvSpPr/>
            <p:nvPr/>
          </p:nvSpPr>
          <p:spPr>
            <a:xfrm>
              <a:off x="8608814" y="3763384"/>
              <a:ext cx="214923" cy="208366"/>
            </a:xfrm>
            <a:custGeom>
              <a:avLst/>
              <a:gdLst>
                <a:gd name="connsiteX0" fmla="*/ 107644 w 214923"/>
                <a:gd name="connsiteY0" fmla="*/ 0 h 208366"/>
                <a:gd name="connsiteX1" fmla="*/ 0 w 214923"/>
                <a:gd name="connsiteY1" fmla="*/ 107644 h 208366"/>
                <a:gd name="connsiteX2" fmla="*/ 0 w 214923"/>
                <a:gd name="connsiteY2" fmla="*/ 201445 h 208366"/>
                <a:gd name="connsiteX3" fmla="*/ 20217 w 214923"/>
                <a:gd name="connsiteY3" fmla="*/ 208366 h 208366"/>
                <a:gd name="connsiteX4" fmla="*/ 40435 w 214923"/>
                <a:gd name="connsiteY4" fmla="*/ 201445 h 208366"/>
                <a:gd name="connsiteX5" fmla="*/ 40435 w 214923"/>
                <a:gd name="connsiteY5" fmla="*/ 107644 h 208366"/>
                <a:gd name="connsiteX6" fmla="*/ 107462 w 214923"/>
                <a:gd name="connsiteY6" fmla="*/ 40617 h 208366"/>
                <a:gd name="connsiteX7" fmla="*/ 174489 w 214923"/>
                <a:gd name="connsiteY7" fmla="*/ 107644 h 208366"/>
                <a:gd name="connsiteX8" fmla="*/ 174489 w 214923"/>
                <a:gd name="connsiteY8" fmla="*/ 188149 h 208366"/>
                <a:gd name="connsiteX9" fmla="*/ 194706 w 214923"/>
                <a:gd name="connsiteY9" fmla="*/ 201627 h 208366"/>
                <a:gd name="connsiteX10" fmla="*/ 214923 w 214923"/>
                <a:gd name="connsiteY10" fmla="*/ 188149 h 208366"/>
                <a:gd name="connsiteX11" fmla="*/ 214923 w 214923"/>
                <a:gd name="connsiteY11" fmla="*/ 107644 h 208366"/>
                <a:gd name="connsiteX12" fmla="*/ 107644 w 214923"/>
                <a:gd name="connsiteY12" fmla="*/ 0 h 208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4923" h="208366">
                  <a:moveTo>
                    <a:pt x="107644" y="0"/>
                  </a:moveTo>
                  <a:cubicBezTo>
                    <a:pt x="48267" y="0"/>
                    <a:pt x="0" y="48085"/>
                    <a:pt x="0" y="107644"/>
                  </a:cubicBezTo>
                  <a:lnTo>
                    <a:pt x="0" y="201445"/>
                  </a:lnTo>
                  <a:cubicBezTo>
                    <a:pt x="4918" y="205634"/>
                    <a:pt x="12021" y="208366"/>
                    <a:pt x="20217" y="208366"/>
                  </a:cubicBezTo>
                  <a:cubicBezTo>
                    <a:pt x="28414" y="208366"/>
                    <a:pt x="35335" y="205634"/>
                    <a:pt x="40435" y="201445"/>
                  </a:cubicBezTo>
                  <a:lnTo>
                    <a:pt x="40435" y="107644"/>
                  </a:lnTo>
                  <a:cubicBezTo>
                    <a:pt x="40435" y="70670"/>
                    <a:pt x="70670" y="40617"/>
                    <a:pt x="107462" y="40617"/>
                  </a:cubicBezTo>
                  <a:cubicBezTo>
                    <a:pt x="144436" y="40617"/>
                    <a:pt x="174489" y="70852"/>
                    <a:pt x="174489" y="107644"/>
                  </a:cubicBezTo>
                  <a:lnTo>
                    <a:pt x="174489" y="188149"/>
                  </a:lnTo>
                  <a:cubicBezTo>
                    <a:pt x="174489" y="195434"/>
                    <a:pt x="183413" y="201627"/>
                    <a:pt x="194706" y="201627"/>
                  </a:cubicBezTo>
                  <a:cubicBezTo>
                    <a:pt x="205817" y="201627"/>
                    <a:pt x="214923" y="195617"/>
                    <a:pt x="214923" y="188149"/>
                  </a:cubicBezTo>
                  <a:lnTo>
                    <a:pt x="214923" y="107644"/>
                  </a:lnTo>
                  <a:cubicBezTo>
                    <a:pt x="215105" y="48085"/>
                    <a:pt x="166839" y="0"/>
                    <a:pt x="107644" y="0"/>
                  </a:cubicBezTo>
                  <a:close/>
                </a:path>
              </a:pathLst>
            </a:custGeom>
            <a:solidFill>
              <a:srgbClr val="005696"/>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1" name="Freeform: Shape 40">
              <a:extLst>
                <a:ext uri="{FF2B5EF4-FFF2-40B4-BE49-F238E27FC236}">
                  <a16:creationId xmlns:a16="http://schemas.microsoft.com/office/drawing/2014/main" id="{487F6B1A-567D-7D31-DB3C-152CAF65AE1C}"/>
                </a:ext>
              </a:extLst>
            </p:cNvPr>
            <p:cNvSpPr/>
            <p:nvPr/>
          </p:nvSpPr>
          <p:spPr>
            <a:xfrm>
              <a:off x="8608628" y="3803790"/>
              <a:ext cx="100722" cy="167776"/>
            </a:xfrm>
            <a:custGeom>
              <a:avLst/>
              <a:gdLst>
                <a:gd name="connsiteX0" fmla="*/ 69212 w 100722"/>
                <a:gd name="connsiteY0" fmla="*/ 4944 h 167776"/>
                <a:gd name="connsiteX1" fmla="*/ 27139 w 100722"/>
                <a:gd name="connsiteY1" fmla="*/ 70150 h 167776"/>
                <a:gd name="connsiteX2" fmla="*/ 27139 w 100722"/>
                <a:gd name="connsiteY2" fmla="*/ 138998 h 167776"/>
                <a:gd name="connsiteX3" fmla="*/ 10200 w 100722"/>
                <a:gd name="connsiteY3" fmla="*/ 151930 h 167776"/>
                <a:gd name="connsiteX4" fmla="*/ 0 w 100722"/>
                <a:gd name="connsiteY4" fmla="*/ 147377 h 167776"/>
                <a:gd name="connsiteX5" fmla="*/ 0 w 100722"/>
                <a:gd name="connsiteY5" fmla="*/ 160855 h 167776"/>
                <a:gd name="connsiteX6" fmla="*/ 20218 w 100722"/>
                <a:gd name="connsiteY6" fmla="*/ 167776 h 167776"/>
                <a:gd name="connsiteX7" fmla="*/ 26957 w 100722"/>
                <a:gd name="connsiteY7" fmla="*/ 167048 h 167776"/>
                <a:gd name="connsiteX8" fmla="*/ 30964 w 100722"/>
                <a:gd name="connsiteY8" fmla="*/ 166137 h 167776"/>
                <a:gd name="connsiteX9" fmla="*/ 32785 w 100722"/>
                <a:gd name="connsiteY9" fmla="*/ 165408 h 167776"/>
                <a:gd name="connsiteX10" fmla="*/ 35335 w 100722"/>
                <a:gd name="connsiteY10" fmla="*/ 164133 h 167776"/>
                <a:gd name="connsiteX11" fmla="*/ 36610 w 100722"/>
                <a:gd name="connsiteY11" fmla="*/ 163405 h 167776"/>
                <a:gd name="connsiteX12" fmla="*/ 40252 w 100722"/>
                <a:gd name="connsiteY12" fmla="*/ 161037 h 167776"/>
                <a:gd name="connsiteX13" fmla="*/ 40252 w 100722"/>
                <a:gd name="connsiteY13" fmla="*/ 67418 h 167776"/>
                <a:gd name="connsiteX14" fmla="*/ 100722 w 100722"/>
                <a:gd name="connsiteY14" fmla="*/ 573 h 167776"/>
                <a:gd name="connsiteX15" fmla="*/ 69212 w 100722"/>
                <a:gd name="connsiteY15" fmla="*/ 4944 h 16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0722" h="167776">
                  <a:moveTo>
                    <a:pt x="69212" y="4944"/>
                  </a:moveTo>
                  <a:cubicBezTo>
                    <a:pt x="43349" y="15872"/>
                    <a:pt x="27139" y="42101"/>
                    <a:pt x="27139" y="70150"/>
                  </a:cubicBezTo>
                  <a:lnTo>
                    <a:pt x="27139" y="138998"/>
                  </a:lnTo>
                  <a:cubicBezTo>
                    <a:pt x="27139" y="147741"/>
                    <a:pt x="18760" y="154298"/>
                    <a:pt x="10200" y="151930"/>
                  </a:cubicBezTo>
                  <a:cubicBezTo>
                    <a:pt x="6011" y="150837"/>
                    <a:pt x="2368" y="149380"/>
                    <a:pt x="0" y="147377"/>
                  </a:cubicBezTo>
                  <a:lnTo>
                    <a:pt x="0" y="160855"/>
                  </a:lnTo>
                  <a:cubicBezTo>
                    <a:pt x="4918" y="165044"/>
                    <a:pt x="12021" y="167776"/>
                    <a:pt x="20218" y="167776"/>
                  </a:cubicBezTo>
                  <a:cubicBezTo>
                    <a:pt x="22403" y="167776"/>
                    <a:pt x="24771" y="167594"/>
                    <a:pt x="26957" y="167048"/>
                  </a:cubicBezTo>
                  <a:cubicBezTo>
                    <a:pt x="28232" y="166866"/>
                    <a:pt x="29506" y="166501"/>
                    <a:pt x="30964" y="166137"/>
                  </a:cubicBezTo>
                  <a:cubicBezTo>
                    <a:pt x="31510" y="165955"/>
                    <a:pt x="32238" y="165772"/>
                    <a:pt x="32785" y="165408"/>
                  </a:cubicBezTo>
                  <a:cubicBezTo>
                    <a:pt x="33695" y="165044"/>
                    <a:pt x="34606" y="164680"/>
                    <a:pt x="35335" y="164133"/>
                  </a:cubicBezTo>
                  <a:cubicBezTo>
                    <a:pt x="35699" y="163951"/>
                    <a:pt x="36245" y="163769"/>
                    <a:pt x="36610" y="163405"/>
                  </a:cubicBezTo>
                  <a:cubicBezTo>
                    <a:pt x="37885" y="162676"/>
                    <a:pt x="38978" y="161765"/>
                    <a:pt x="40252" y="161037"/>
                  </a:cubicBezTo>
                  <a:lnTo>
                    <a:pt x="40252" y="67418"/>
                  </a:lnTo>
                  <a:cubicBezTo>
                    <a:pt x="40252" y="32629"/>
                    <a:pt x="66845" y="3851"/>
                    <a:pt x="100722" y="573"/>
                  </a:cubicBezTo>
                  <a:cubicBezTo>
                    <a:pt x="91069" y="-884"/>
                    <a:pt x="80323" y="391"/>
                    <a:pt x="69212" y="4944"/>
                  </a:cubicBezTo>
                  <a:close/>
                </a:path>
              </a:pathLst>
            </a:custGeom>
            <a:solidFill>
              <a:srgbClr val="004A82"/>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2" name="Freeform: Shape 41">
              <a:extLst>
                <a:ext uri="{FF2B5EF4-FFF2-40B4-BE49-F238E27FC236}">
                  <a16:creationId xmlns:a16="http://schemas.microsoft.com/office/drawing/2014/main" id="{B16DED56-4CB3-D2C4-6536-06C3FE6F08A5}"/>
                </a:ext>
              </a:extLst>
            </p:cNvPr>
            <p:cNvSpPr/>
            <p:nvPr/>
          </p:nvSpPr>
          <p:spPr>
            <a:xfrm>
              <a:off x="8709719" y="3763384"/>
              <a:ext cx="114018" cy="208002"/>
            </a:xfrm>
            <a:custGeom>
              <a:avLst/>
              <a:gdLst>
                <a:gd name="connsiteX0" fmla="*/ 6739 w 114018"/>
                <a:gd name="connsiteY0" fmla="*/ 0 h 208002"/>
                <a:gd name="connsiteX1" fmla="*/ 0 w 114018"/>
                <a:gd name="connsiteY1" fmla="*/ 364 h 208002"/>
                <a:gd name="connsiteX2" fmla="*/ 100723 w 114018"/>
                <a:gd name="connsiteY2" fmla="*/ 107462 h 208002"/>
                <a:gd name="connsiteX3" fmla="*/ 100723 w 114018"/>
                <a:gd name="connsiteY3" fmla="*/ 179224 h 208002"/>
                <a:gd name="connsiteX4" fmla="*/ 83784 w 114018"/>
                <a:gd name="connsiteY4" fmla="*/ 192156 h 208002"/>
                <a:gd name="connsiteX5" fmla="*/ 73584 w 114018"/>
                <a:gd name="connsiteY5" fmla="*/ 187603 h 208002"/>
                <a:gd name="connsiteX6" fmla="*/ 73584 w 114018"/>
                <a:gd name="connsiteY6" fmla="*/ 201081 h 208002"/>
                <a:gd name="connsiteX7" fmla="*/ 93801 w 114018"/>
                <a:gd name="connsiteY7" fmla="*/ 208002 h 208002"/>
                <a:gd name="connsiteX8" fmla="*/ 114018 w 114018"/>
                <a:gd name="connsiteY8" fmla="*/ 201081 h 208002"/>
                <a:gd name="connsiteX9" fmla="*/ 114018 w 114018"/>
                <a:gd name="connsiteY9" fmla="*/ 107462 h 208002"/>
                <a:gd name="connsiteX10" fmla="*/ 6739 w 114018"/>
                <a:gd name="connsiteY10" fmla="*/ 0 h 20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018" h="208002">
                  <a:moveTo>
                    <a:pt x="6739" y="0"/>
                  </a:moveTo>
                  <a:cubicBezTo>
                    <a:pt x="4553" y="0"/>
                    <a:pt x="2185" y="182"/>
                    <a:pt x="0" y="364"/>
                  </a:cubicBezTo>
                  <a:cubicBezTo>
                    <a:pt x="56280" y="4007"/>
                    <a:pt x="100723" y="50453"/>
                    <a:pt x="100723" y="107462"/>
                  </a:cubicBezTo>
                  <a:lnTo>
                    <a:pt x="100723" y="179224"/>
                  </a:lnTo>
                  <a:cubicBezTo>
                    <a:pt x="100723" y="187967"/>
                    <a:pt x="92344" y="194524"/>
                    <a:pt x="83784" y="192156"/>
                  </a:cubicBezTo>
                  <a:cubicBezTo>
                    <a:pt x="79594" y="191063"/>
                    <a:pt x="75952" y="189606"/>
                    <a:pt x="73584" y="187603"/>
                  </a:cubicBezTo>
                  <a:lnTo>
                    <a:pt x="73584" y="201081"/>
                  </a:lnTo>
                  <a:cubicBezTo>
                    <a:pt x="78501" y="205270"/>
                    <a:pt x="85787" y="208002"/>
                    <a:pt x="93801" y="208002"/>
                  </a:cubicBezTo>
                  <a:cubicBezTo>
                    <a:pt x="101815" y="208002"/>
                    <a:pt x="108919" y="205270"/>
                    <a:pt x="114018" y="201081"/>
                  </a:cubicBezTo>
                  <a:lnTo>
                    <a:pt x="114018" y="107462"/>
                  </a:lnTo>
                  <a:cubicBezTo>
                    <a:pt x="114200" y="48085"/>
                    <a:pt x="65934" y="0"/>
                    <a:pt x="6739" y="0"/>
                  </a:cubicBezTo>
                  <a:close/>
                </a:path>
              </a:pathLst>
            </a:custGeom>
            <a:solidFill>
              <a:srgbClr val="004A82"/>
            </a:solidFill>
            <a:ln w="50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43" name="TextBox 42">
            <a:extLst>
              <a:ext uri="{FF2B5EF4-FFF2-40B4-BE49-F238E27FC236}">
                <a16:creationId xmlns:a16="http://schemas.microsoft.com/office/drawing/2014/main" id="{6CCC4418-C964-3BEF-5414-E9BFFBC08D97}"/>
              </a:ext>
            </a:extLst>
          </p:cNvPr>
          <p:cNvSpPr txBox="1"/>
          <p:nvPr/>
        </p:nvSpPr>
        <p:spPr>
          <a:xfrm>
            <a:off x="6649015" y="5021447"/>
            <a:ext cx="5577170" cy="246221"/>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10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URL / Header Rewrite and Routing</a:t>
            </a:r>
          </a:p>
        </p:txBody>
      </p:sp>
      <p:pic>
        <p:nvPicPr>
          <p:cNvPr id="44" name="Graphic 43">
            <a:extLst>
              <a:ext uri="{FF2B5EF4-FFF2-40B4-BE49-F238E27FC236}">
                <a16:creationId xmlns:a16="http://schemas.microsoft.com/office/drawing/2014/main" id="{088BE53B-581F-3948-C005-3EA3E809942E}"/>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215277" y="5501322"/>
            <a:ext cx="271413" cy="271413"/>
          </a:xfrm>
          <a:prstGeom prst="rect">
            <a:avLst/>
          </a:prstGeom>
        </p:spPr>
      </p:pic>
      <p:sp>
        <p:nvSpPr>
          <p:cNvPr id="61" name="TextBox 60">
            <a:extLst>
              <a:ext uri="{FF2B5EF4-FFF2-40B4-BE49-F238E27FC236}">
                <a16:creationId xmlns:a16="http://schemas.microsoft.com/office/drawing/2014/main" id="{A1292C0F-A6C1-0E07-0C8D-028961443E00}"/>
              </a:ext>
            </a:extLst>
          </p:cNvPr>
          <p:cNvSpPr txBox="1"/>
          <p:nvPr/>
        </p:nvSpPr>
        <p:spPr>
          <a:xfrm>
            <a:off x="6649015" y="5401943"/>
            <a:ext cx="5577170" cy="492443"/>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10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Monitor &amp; Troubleshoot via Azure Monitor, Prometheus, local backend health, and resource status</a:t>
            </a:r>
          </a:p>
        </p:txBody>
      </p:sp>
      <p:sp>
        <p:nvSpPr>
          <p:cNvPr id="62" name="TextBox 61">
            <a:extLst>
              <a:ext uri="{FF2B5EF4-FFF2-40B4-BE49-F238E27FC236}">
                <a16:creationId xmlns:a16="http://schemas.microsoft.com/office/drawing/2014/main" id="{B6331C66-A086-5D73-AFF3-A89E56B85FDC}"/>
              </a:ext>
            </a:extLst>
          </p:cNvPr>
          <p:cNvSpPr txBox="1"/>
          <p:nvPr/>
        </p:nvSpPr>
        <p:spPr>
          <a:xfrm>
            <a:off x="6649015" y="6057824"/>
            <a:ext cx="5577170" cy="246221"/>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10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Weigh traffic for blue/green deployments</a:t>
            </a:r>
          </a:p>
        </p:txBody>
      </p:sp>
      <p:pic>
        <p:nvPicPr>
          <p:cNvPr id="63" name="Graphic 62" descr="Scales of justice with solid fill">
            <a:extLst>
              <a:ext uri="{FF2B5EF4-FFF2-40B4-BE49-F238E27FC236}">
                <a16:creationId xmlns:a16="http://schemas.microsoft.com/office/drawing/2014/main" id="{8569249F-9197-E797-9D08-D39A356EC75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85064" y="6003648"/>
            <a:ext cx="354901" cy="354901"/>
          </a:xfrm>
          <a:prstGeom prst="rect">
            <a:avLst/>
          </a:prstGeom>
        </p:spPr>
      </p:pic>
      <p:pic>
        <p:nvPicPr>
          <p:cNvPr id="65" name="Picture 64" descr="A diagram of a computer&#10;&#10;Description automatically generated">
            <a:extLst>
              <a:ext uri="{FF2B5EF4-FFF2-40B4-BE49-F238E27FC236}">
                <a16:creationId xmlns:a16="http://schemas.microsoft.com/office/drawing/2014/main" id="{45750FE5-EF90-DEA3-BA86-BAB91A27FAC5}"/>
              </a:ext>
            </a:extLst>
          </p:cNvPr>
          <p:cNvPicPr>
            <a:picLocks noChangeAspect="1"/>
          </p:cNvPicPr>
          <p:nvPr/>
        </p:nvPicPr>
        <p:blipFill>
          <a:blip r:embed="rId9"/>
          <a:stretch>
            <a:fillRect/>
          </a:stretch>
        </p:blipFill>
        <p:spPr>
          <a:xfrm>
            <a:off x="386713" y="1824663"/>
            <a:ext cx="5534939" cy="4484454"/>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7" name="Graphic 66">
            <a:extLst>
              <a:ext uri="{FF2B5EF4-FFF2-40B4-BE49-F238E27FC236}">
                <a16:creationId xmlns:a16="http://schemas.microsoft.com/office/drawing/2014/main" id="{D288AF83-4774-0387-5676-15B059FD0C2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44094" y="211138"/>
            <a:ext cx="1336848" cy="1336848"/>
          </a:xfrm>
          <a:prstGeom prst="rect">
            <a:avLst/>
          </a:prstGeom>
        </p:spPr>
      </p:pic>
      <p:sp>
        <p:nvSpPr>
          <p:cNvPr id="69" name="TextBox 68">
            <a:extLst>
              <a:ext uri="{FF2B5EF4-FFF2-40B4-BE49-F238E27FC236}">
                <a16:creationId xmlns:a16="http://schemas.microsoft.com/office/drawing/2014/main" id="{64453E8D-9565-6E16-04F8-5ECD4A71A375}"/>
              </a:ext>
            </a:extLst>
          </p:cNvPr>
          <p:cNvSpPr txBox="1"/>
          <p:nvPr/>
        </p:nvSpPr>
        <p:spPr>
          <a:xfrm>
            <a:off x="6649015" y="3089207"/>
            <a:ext cx="5577170" cy="246221"/>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External to cluster – offload network compute</a:t>
            </a: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pic>
        <p:nvPicPr>
          <p:cNvPr id="79" name="Graphic 78">
            <a:extLst>
              <a:ext uri="{FF2B5EF4-FFF2-40B4-BE49-F238E27FC236}">
                <a16:creationId xmlns:a16="http://schemas.microsoft.com/office/drawing/2014/main" id="{A9B507A8-8632-4BF0-B09F-C20ABCF40CD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80281" y="3081216"/>
            <a:ext cx="341405" cy="341405"/>
          </a:xfrm>
          <a:prstGeom prst="rect">
            <a:avLst/>
          </a:prstGeom>
        </p:spPr>
      </p:pic>
      <p:sp>
        <p:nvSpPr>
          <p:cNvPr id="3" name="TextBox 2">
            <a:extLst>
              <a:ext uri="{FF2B5EF4-FFF2-40B4-BE49-F238E27FC236}">
                <a16:creationId xmlns:a16="http://schemas.microsoft.com/office/drawing/2014/main" id="{422727E1-E141-9321-FAC5-C5AC4A3F1295}"/>
              </a:ext>
            </a:extLst>
          </p:cNvPr>
          <p:cNvSpPr txBox="1"/>
          <p:nvPr/>
        </p:nvSpPr>
        <p:spPr>
          <a:xfrm>
            <a:off x="6649015" y="4581166"/>
            <a:ext cx="5577170" cy="246221"/>
          </a:xfrm>
          <a:prstGeom prst="rect">
            <a:avLst/>
          </a:prstGeom>
          <a:noFill/>
        </p:spPr>
        <p:txBody>
          <a:bodyPr wrap="square" lIns="0" tIns="0" rIns="0" bIns="0" rtlCol="0" anchor="t">
            <a:spAutoFit/>
          </a:bodyPr>
          <a:lstStyle/>
          <a:p>
            <a:pPr marL="0" marR="0" lvl="0" indent="0" algn="l" defTabSz="914192" rtl="0" eaLnBrk="1" fontAlgn="auto" latinLnBrk="0" hangingPunct="1">
              <a:lnSpc>
                <a:spcPct val="100000"/>
              </a:lnSpc>
              <a:spcBef>
                <a:spcPts val="0"/>
              </a:spcBef>
              <a:spcAft>
                <a:spcPts val="10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Manage resource lifecycle via Kubernetes or Azure</a:t>
            </a:r>
          </a:p>
        </p:txBody>
      </p:sp>
      <p:grpSp>
        <p:nvGrpSpPr>
          <p:cNvPr id="5" name="nodes">
            <a:extLst>
              <a:ext uri="{FF2B5EF4-FFF2-40B4-BE49-F238E27FC236}">
                <a16:creationId xmlns:a16="http://schemas.microsoft.com/office/drawing/2014/main" id="{4147DD0F-626D-4965-5898-5847F8AFB0EC}"/>
              </a:ext>
              <a:ext uri="{C183D7F6-B498-43B3-948B-1728B52AA6E4}">
                <adec:decorative xmlns:adec="http://schemas.microsoft.com/office/drawing/2017/decorative" val="1"/>
              </a:ext>
            </a:extLst>
          </p:cNvPr>
          <p:cNvGrpSpPr>
            <a:grpSpLocks noChangeAspect="1"/>
          </p:cNvGrpSpPr>
          <p:nvPr/>
        </p:nvGrpSpPr>
        <p:grpSpPr bwMode="auto">
          <a:xfrm>
            <a:off x="6225399" y="4544818"/>
            <a:ext cx="326950" cy="325922"/>
            <a:chOff x="1016" y="765"/>
            <a:chExt cx="318" cy="317"/>
          </a:xfrm>
        </p:grpSpPr>
        <p:sp>
          <p:nvSpPr>
            <p:cNvPr id="6" name="AutoShape 3">
              <a:extLst>
                <a:ext uri="{FF2B5EF4-FFF2-40B4-BE49-F238E27FC236}">
                  <a16:creationId xmlns:a16="http://schemas.microsoft.com/office/drawing/2014/main" id="{85E8C7AC-7CDF-C200-D61B-337D3AD19222}"/>
                </a:ext>
                <a:ext uri="{C183D7F6-B498-43B3-948B-1728B52AA6E4}">
                  <adec:decorative xmlns:adec="http://schemas.microsoft.com/office/drawing/2017/decorative" val="1"/>
                </a:ext>
              </a:extLst>
            </p:cNvPr>
            <p:cNvSpPr>
              <a:spLocks noChangeAspect="1" noChangeArrowheads="1" noTextEdit="1"/>
            </p:cNvSpPr>
            <p:nvPr/>
          </p:nvSpPr>
          <p:spPr bwMode="auto">
            <a:xfrm>
              <a:off x="1018" y="767"/>
              <a:ext cx="316"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 name="Freeform 5">
              <a:extLst>
                <a:ext uri="{FF2B5EF4-FFF2-40B4-BE49-F238E27FC236}">
                  <a16:creationId xmlns:a16="http://schemas.microsoft.com/office/drawing/2014/main" id="{D4F3038E-E660-4A59-B4D2-01F6AC539C61}"/>
                </a:ext>
                <a:ext uri="{C183D7F6-B498-43B3-948B-1728B52AA6E4}">
                  <adec:decorative xmlns:adec="http://schemas.microsoft.com/office/drawing/2017/decorative" val="1"/>
                </a:ext>
              </a:extLst>
            </p:cNvPr>
            <p:cNvSpPr>
              <a:spLocks/>
            </p:cNvSpPr>
            <p:nvPr/>
          </p:nvSpPr>
          <p:spPr bwMode="auto">
            <a:xfrm>
              <a:off x="1072" y="901"/>
              <a:ext cx="86" cy="89"/>
            </a:xfrm>
            <a:custGeom>
              <a:avLst/>
              <a:gdLst>
                <a:gd name="T0" fmla="*/ 47 w 47"/>
                <a:gd name="T1" fmla="*/ 4 h 48"/>
                <a:gd name="T2" fmla="*/ 44 w 47"/>
                <a:gd name="T3" fmla="*/ 0 h 48"/>
                <a:gd name="T4" fmla="*/ 16 w 47"/>
                <a:gd name="T5" fmla="*/ 29 h 48"/>
                <a:gd name="T6" fmla="*/ 11 w 47"/>
                <a:gd name="T7" fmla="*/ 27 h 48"/>
                <a:gd name="T8" fmla="*/ 0 w 47"/>
                <a:gd name="T9" fmla="*/ 37 h 48"/>
                <a:gd name="T10" fmla="*/ 11 w 47"/>
                <a:gd name="T11" fmla="*/ 48 h 48"/>
                <a:gd name="T12" fmla="*/ 21 w 47"/>
                <a:gd name="T13" fmla="*/ 37 h 48"/>
                <a:gd name="T14" fmla="*/ 19 w 47"/>
                <a:gd name="T15" fmla="*/ 32 h 48"/>
                <a:gd name="T16" fmla="*/ 47 w 47"/>
                <a:gd name="T17"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8">
                  <a:moveTo>
                    <a:pt x="47" y="4"/>
                  </a:moveTo>
                  <a:cubicBezTo>
                    <a:pt x="44" y="0"/>
                    <a:pt x="44" y="0"/>
                    <a:pt x="44" y="0"/>
                  </a:cubicBezTo>
                  <a:cubicBezTo>
                    <a:pt x="16" y="29"/>
                    <a:pt x="16" y="29"/>
                    <a:pt x="16" y="29"/>
                  </a:cubicBezTo>
                  <a:cubicBezTo>
                    <a:pt x="14" y="28"/>
                    <a:pt x="12" y="27"/>
                    <a:pt x="11" y="27"/>
                  </a:cubicBezTo>
                  <a:cubicBezTo>
                    <a:pt x="5" y="27"/>
                    <a:pt x="0" y="32"/>
                    <a:pt x="0" y="37"/>
                  </a:cubicBezTo>
                  <a:cubicBezTo>
                    <a:pt x="0" y="43"/>
                    <a:pt x="5" y="48"/>
                    <a:pt x="11" y="48"/>
                  </a:cubicBezTo>
                  <a:cubicBezTo>
                    <a:pt x="16" y="48"/>
                    <a:pt x="21" y="43"/>
                    <a:pt x="21" y="37"/>
                  </a:cubicBezTo>
                  <a:cubicBezTo>
                    <a:pt x="21" y="36"/>
                    <a:pt x="20" y="34"/>
                    <a:pt x="19" y="32"/>
                  </a:cubicBezTo>
                  <a:lnTo>
                    <a:pt x="47" y="4"/>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0" name="Freeform 6">
              <a:extLst>
                <a:ext uri="{FF2B5EF4-FFF2-40B4-BE49-F238E27FC236}">
                  <a16:creationId xmlns:a16="http://schemas.microsoft.com/office/drawing/2014/main" id="{0C83666D-F6F5-077C-880A-670A00B14034}"/>
                </a:ext>
                <a:ext uri="{C183D7F6-B498-43B3-948B-1728B52AA6E4}">
                  <adec:decorative xmlns:adec="http://schemas.microsoft.com/office/drawing/2017/decorative" val="1"/>
                </a:ext>
              </a:extLst>
            </p:cNvPr>
            <p:cNvSpPr>
              <a:spLocks/>
            </p:cNvSpPr>
            <p:nvPr/>
          </p:nvSpPr>
          <p:spPr bwMode="auto">
            <a:xfrm>
              <a:off x="1151" y="903"/>
              <a:ext cx="70" cy="113"/>
            </a:xfrm>
            <a:custGeom>
              <a:avLst/>
              <a:gdLst>
                <a:gd name="T0" fmla="*/ 23 w 38"/>
                <a:gd name="T1" fmla="*/ 31 h 61"/>
                <a:gd name="T2" fmla="*/ 20 w 38"/>
                <a:gd name="T3" fmla="*/ 31 h 61"/>
                <a:gd name="T4" fmla="*/ 5 w 38"/>
                <a:gd name="T5" fmla="*/ 0 h 61"/>
                <a:gd name="T6" fmla="*/ 0 w 38"/>
                <a:gd name="T7" fmla="*/ 2 h 61"/>
                <a:gd name="T8" fmla="*/ 15 w 38"/>
                <a:gd name="T9" fmla="*/ 33 h 61"/>
                <a:gd name="T10" fmla="*/ 8 w 38"/>
                <a:gd name="T11" fmla="*/ 46 h 61"/>
                <a:gd name="T12" fmla="*/ 23 w 38"/>
                <a:gd name="T13" fmla="*/ 61 h 61"/>
                <a:gd name="T14" fmla="*/ 38 w 38"/>
                <a:gd name="T15" fmla="*/ 46 h 61"/>
                <a:gd name="T16" fmla="*/ 23 w 38"/>
                <a:gd name="T17" fmla="*/ 3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61">
                  <a:moveTo>
                    <a:pt x="23" y="31"/>
                  </a:moveTo>
                  <a:cubicBezTo>
                    <a:pt x="22" y="31"/>
                    <a:pt x="21" y="31"/>
                    <a:pt x="20" y="31"/>
                  </a:cubicBezTo>
                  <a:cubicBezTo>
                    <a:pt x="5" y="0"/>
                    <a:pt x="5" y="0"/>
                    <a:pt x="5" y="0"/>
                  </a:cubicBezTo>
                  <a:cubicBezTo>
                    <a:pt x="0" y="2"/>
                    <a:pt x="0" y="2"/>
                    <a:pt x="0" y="2"/>
                  </a:cubicBezTo>
                  <a:cubicBezTo>
                    <a:pt x="15" y="33"/>
                    <a:pt x="15" y="33"/>
                    <a:pt x="15" y="33"/>
                  </a:cubicBezTo>
                  <a:cubicBezTo>
                    <a:pt x="11" y="36"/>
                    <a:pt x="8" y="41"/>
                    <a:pt x="8" y="46"/>
                  </a:cubicBezTo>
                  <a:cubicBezTo>
                    <a:pt x="8" y="55"/>
                    <a:pt x="15" y="61"/>
                    <a:pt x="23" y="61"/>
                  </a:cubicBezTo>
                  <a:cubicBezTo>
                    <a:pt x="32" y="61"/>
                    <a:pt x="38" y="55"/>
                    <a:pt x="38" y="46"/>
                  </a:cubicBezTo>
                  <a:cubicBezTo>
                    <a:pt x="38" y="38"/>
                    <a:pt x="32" y="31"/>
                    <a:pt x="23" y="3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5" name="Freeform 7">
              <a:extLst>
                <a:ext uri="{FF2B5EF4-FFF2-40B4-BE49-F238E27FC236}">
                  <a16:creationId xmlns:a16="http://schemas.microsoft.com/office/drawing/2014/main" id="{C562DF0A-FDFE-632C-6B5D-166DB09BE82D}"/>
                </a:ext>
                <a:ext uri="{C183D7F6-B498-43B3-948B-1728B52AA6E4}">
                  <adec:decorative xmlns:adec="http://schemas.microsoft.com/office/drawing/2017/decorative" val="1"/>
                </a:ext>
              </a:extLst>
            </p:cNvPr>
            <p:cNvSpPr>
              <a:spLocks/>
            </p:cNvSpPr>
            <p:nvPr/>
          </p:nvSpPr>
          <p:spPr bwMode="auto">
            <a:xfrm>
              <a:off x="1155" y="900"/>
              <a:ext cx="124" cy="51"/>
            </a:xfrm>
            <a:custGeom>
              <a:avLst/>
              <a:gdLst>
                <a:gd name="T0" fmla="*/ 57 w 67"/>
                <a:gd name="T1" fmla="*/ 8 h 28"/>
                <a:gd name="T2" fmla="*/ 48 w 67"/>
                <a:gd name="T3" fmla="*/ 13 h 28"/>
                <a:gd name="T4" fmla="*/ 1 w 67"/>
                <a:gd name="T5" fmla="*/ 0 h 28"/>
                <a:gd name="T6" fmla="*/ 0 w 67"/>
                <a:gd name="T7" fmla="*/ 5 h 28"/>
                <a:gd name="T8" fmla="*/ 46 w 67"/>
                <a:gd name="T9" fmla="*/ 18 h 28"/>
                <a:gd name="T10" fmla="*/ 46 w 67"/>
                <a:gd name="T11" fmla="*/ 18 h 28"/>
                <a:gd name="T12" fmla="*/ 57 w 67"/>
                <a:gd name="T13" fmla="*/ 28 h 28"/>
                <a:gd name="T14" fmla="*/ 67 w 67"/>
                <a:gd name="T15" fmla="*/ 18 h 28"/>
                <a:gd name="T16" fmla="*/ 57 w 67"/>
                <a:gd name="T17" fmla="*/ 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8">
                  <a:moveTo>
                    <a:pt x="57" y="8"/>
                  </a:moveTo>
                  <a:cubicBezTo>
                    <a:pt x="53" y="8"/>
                    <a:pt x="50" y="10"/>
                    <a:pt x="48" y="13"/>
                  </a:cubicBezTo>
                  <a:cubicBezTo>
                    <a:pt x="1" y="0"/>
                    <a:pt x="1" y="0"/>
                    <a:pt x="1" y="0"/>
                  </a:cubicBezTo>
                  <a:cubicBezTo>
                    <a:pt x="0" y="5"/>
                    <a:pt x="0" y="5"/>
                    <a:pt x="0" y="5"/>
                  </a:cubicBezTo>
                  <a:cubicBezTo>
                    <a:pt x="46" y="18"/>
                    <a:pt x="46" y="18"/>
                    <a:pt x="46" y="18"/>
                  </a:cubicBezTo>
                  <a:cubicBezTo>
                    <a:pt x="46" y="18"/>
                    <a:pt x="46" y="18"/>
                    <a:pt x="46" y="18"/>
                  </a:cubicBezTo>
                  <a:cubicBezTo>
                    <a:pt x="46" y="24"/>
                    <a:pt x="51" y="28"/>
                    <a:pt x="57" y="28"/>
                  </a:cubicBezTo>
                  <a:cubicBezTo>
                    <a:pt x="62" y="28"/>
                    <a:pt x="67" y="24"/>
                    <a:pt x="67" y="18"/>
                  </a:cubicBezTo>
                  <a:cubicBezTo>
                    <a:pt x="67" y="13"/>
                    <a:pt x="62" y="8"/>
                    <a:pt x="57" y="8"/>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 name="Freeform 8">
              <a:extLst>
                <a:ext uri="{FF2B5EF4-FFF2-40B4-BE49-F238E27FC236}">
                  <a16:creationId xmlns:a16="http://schemas.microsoft.com/office/drawing/2014/main" id="{B21C5136-3842-4AE4-74B8-7FDCD5993D09}"/>
                </a:ext>
                <a:ext uri="{C183D7F6-B498-43B3-948B-1728B52AA6E4}">
                  <adec:decorative xmlns:adec="http://schemas.microsoft.com/office/drawing/2017/decorative" val="1"/>
                </a:ext>
              </a:extLst>
            </p:cNvPr>
            <p:cNvSpPr>
              <a:spLocks/>
            </p:cNvSpPr>
            <p:nvPr/>
          </p:nvSpPr>
          <p:spPr bwMode="auto">
            <a:xfrm>
              <a:off x="1044" y="839"/>
              <a:ext cx="114" cy="70"/>
            </a:xfrm>
            <a:custGeom>
              <a:avLst/>
              <a:gdLst>
                <a:gd name="T0" fmla="*/ 62 w 62"/>
                <a:gd name="T1" fmla="*/ 34 h 38"/>
                <a:gd name="T2" fmla="*/ 30 w 62"/>
                <a:gd name="T3" fmla="*/ 19 h 38"/>
                <a:gd name="T4" fmla="*/ 31 w 62"/>
                <a:gd name="T5" fmla="*/ 16 h 38"/>
                <a:gd name="T6" fmla="*/ 15 w 62"/>
                <a:gd name="T7" fmla="*/ 0 h 38"/>
                <a:gd name="T8" fmla="*/ 0 w 62"/>
                <a:gd name="T9" fmla="*/ 16 h 38"/>
                <a:gd name="T10" fmla="*/ 15 w 62"/>
                <a:gd name="T11" fmla="*/ 31 h 38"/>
                <a:gd name="T12" fmla="*/ 28 w 62"/>
                <a:gd name="T13" fmla="*/ 23 h 38"/>
                <a:gd name="T14" fmla="*/ 59 w 62"/>
                <a:gd name="T15" fmla="*/ 38 h 38"/>
                <a:gd name="T16" fmla="*/ 62 w 62"/>
                <a:gd name="T17" fmla="*/ 3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38">
                  <a:moveTo>
                    <a:pt x="62" y="34"/>
                  </a:moveTo>
                  <a:cubicBezTo>
                    <a:pt x="30" y="19"/>
                    <a:pt x="30" y="19"/>
                    <a:pt x="30" y="19"/>
                  </a:cubicBezTo>
                  <a:cubicBezTo>
                    <a:pt x="30" y="18"/>
                    <a:pt x="31" y="17"/>
                    <a:pt x="31" y="16"/>
                  </a:cubicBezTo>
                  <a:cubicBezTo>
                    <a:pt x="31" y="7"/>
                    <a:pt x="24" y="0"/>
                    <a:pt x="15" y="0"/>
                  </a:cubicBezTo>
                  <a:cubicBezTo>
                    <a:pt x="7" y="0"/>
                    <a:pt x="0" y="7"/>
                    <a:pt x="0" y="16"/>
                  </a:cubicBezTo>
                  <a:cubicBezTo>
                    <a:pt x="0" y="24"/>
                    <a:pt x="7" y="31"/>
                    <a:pt x="15" y="31"/>
                  </a:cubicBezTo>
                  <a:cubicBezTo>
                    <a:pt x="21" y="31"/>
                    <a:pt x="26" y="28"/>
                    <a:pt x="28" y="23"/>
                  </a:cubicBezTo>
                  <a:cubicBezTo>
                    <a:pt x="59" y="38"/>
                    <a:pt x="59" y="38"/>
                    <a:pt x="59" y="38"/>
                  </a:cubicBezTo>
                  <a:lnTo>
                    <a:pt x="62" y="34"/>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7" name="Freeform 9">
              <a:extLst>
                <a:ext uri="{FF2B5EF4-FFF2-40B4-BE49-F238E27FC236}">
                  <a16:creationId xmlns:a16="http://schemas.microsoft.com/office/drawing/2014/main" id="{83E7A52F-0569-4933-E02F-80187DBE90FD}"/>
                </a:ext>
                <a:ext uri="{C183D7F6-B498-43B3-948B-1728B52AA6E4}">
                  <adec:decorative xmlns:adec="http://schemas.microsoft.com/office/drawing/2017/decorative" val="1"/>
                </a:ext>
              </a:extLst>
            </p:cNvPr>
            <p:cNvSpPr>
              <a:spLocks/>
            </p:cNvSpPr>
            <p:nvPr/>
          </p:nvSpPr>
          <p:spPr bwMode="auto">
            <a:xfrm>
              <a:off x="1155" y="822"/>
              <a:ext cx="179" cy="87"/>
            </a:xfrm>
            <a:custGeom>
              <a:avLst/>
              <a:gdLst>
                <a:gd name="T0" fmla="*/ 87 w 97"/>
                <a:gd name="T1" fmla="*/ 0 h 47"/>
                <a:gd name="T2" fmla="*/ 77 w 97"/>
                <a:gd name="T3" fmla="*/ 10 h 47"/>
                <a:gd name="T4" fmla="*/ 77 w 97"/>
                <a:gd name="T5" fmla="*/ 13 h 47"/>
                <a:gd name="T6" fmla="*/ 0 w 97"/>
                <a:gd name="T7" fmla="*/ 42 h 47"/>
                <a:gd name="T8" fmla="*/ 1 w 97"/>
                <a:gd name="T9" fmla="*/ 47 h 47"/>
                <a:gd name="T10" fmla="*/ 80 w 97"/>
                <a:gd name="T11" fmla="*/ 17 h 47"/>
                <a:gd name="T12" fmla="*/ 87 w 97"/>
                <a:gd name="T13" fmla="*/ 20 h 47"/>
                <a:gd name="T14" fmla="*/ 97 w 97"/>
                <a:gd name="T15" fmla="*/ 10 h 47"/>
                <a:gd name="T16" fmla="*/ 87 w 97"/>
                <a:gd name="T17"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47">
                  <a:moveTo>
                    <a:pt x="87" y="0"/>
                  </a:moveTo>
                  <a:cubicBezTo>
                    <a:pt x="81" y="0"/>
                    <a:pt x="77" y="5"/>
                    <a:pt x="77" y="10"/>
                  </a:cubicBezTo>
                  <a:cubicBezTo>
                    <a:pt x="77" y="11"/>
                    <a:pt x="77" y="12"/>
                    <a:pt x="77" y="13"/>
                  </a:cubicBezTo>
                  <a:cubicBezTo>
                    <a:pt x="0" y="42"/>
                    <a:pt x="0" y="42"/>
                    <a:pt x="0" y="42"/>
                  </a:cubicBezTo>
                  <a:cubicBezTo>
                    <a:pt x="1" y="47"/>
                    <a:pt x="1" y="47"/>
                    <a:pt x="1" y="47"/>
                  </a:cubicBezTo>
                  <a:cubicBezTo>
                    <a:pt x="80" y="17"/>
                    <a:pt x="80" y="17"/>
                    <a:pt x="80" y="17"/>
                  </a:cubicBezTo>
                  <a:cubicBezTo>
                    <a:pt x="81" y="19"/>
                    <a:pt x="84" y="20"/>
                    <a:pt x="87" y="20"/>
                  </a:cubicBezTo>
                  <a:cubicBezTo>
                    <a:pt x="93" y="20"/>
                    <a:pt x="97" y="16"/>
                    <a:pt x="97" y="10"/>
                  </a:cubicBezTo>
                  <a:cubicBezTo>
                    <a:pt x="97" y="5"/>
                    <a:pt x="93" y="0"/>
                    <a:pt x="87"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4" name="Freeform 10">
              <a:extLst>
                <a:ext uri="{FF2B5EF4-FFF2-40B4-BE49-F238E27FC236}">
                  <a16:creationId xmlns:a16="http://schemas.microsoft.com/office/drawing/2014/main" id="{DB63FC7F-8EA9-5E18-47E4-FF9705A166BA}"/>
                </a:ext>
                <a:ext uri="{C183D7F6-B498-43B3-948B-1728B52AA6E4}">
                  <adec:decorative xmlns:adec="http://schemas.microsoft.com/office/drawing/2017/decorative" val="1"/>
                </a:ext>
              </a:extLst>
            </p:cNvPr>
            <p:cNvSpPr>
              <a:spLocks/>
            </p:cNvSpPr>
            <p:nvPr/>
          </p:nvSpPr>
          <p:spPr bwMode="auto">
            <a:xfrm>
              <a:off x="1127" y="802"/>
              <a:ext cx="37" cy="103"/>
            </a:xfrm>
            <a:custGeom>
              <a:avLst/>
              <a:gdLst>
                <a:gd name="T0" fmla="*/ 20 w 20"/>
                <a:gd name="T1" fmla="*/ 10 h 56"/>
                <a:gd name="T2" fmla="*/ 10 w 20"/>
                <a:gd name="T3" fmla="*/ 0 h 56"/>
                <a:gd name="T4" fmla="*/ 0 w 20"/>
                <a:gd name="T5" fmla="*/ 10 h 56"/>
                <a:gd name="T6" fmla="*/ 9 w 20"/>
                <a:gd name="T7" fmla="*/ 20 h 56"/>
                <a:gd name="T8" fmla="*/ 13 w 20"/>
                <a:gd name="T9" fmla="*/ 56 h 56"/>
                <a:gd name="T10" fmla="*/ 18 w 20"/>
                <a:gd name="T11" fmla="*/ 56 h 56"/>
                <a:gd name="T12" fmla="*/ 14 w 20"/>
                <a:gd name="T13" fmla="*/ 20 h 56"/>
                <a:gd name="T14" fmla="*/ 20 w 20"/>
                <a:gd name="T15" fmla="*/ 1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56">
                  <a:moveTo>
                    <a:pt x="20" y="10"/>
                  </a:moveTo>
                  <a:cubicBezTo>
                    <a:pt x="20" y="5"/>
                    <a:pt x="16" y="0"/>
                    <a:pt x="10" y="0"/>
                  </a:cubicBezTo>
                  <a:cubicBezTo>
                    <a:pt x="5" y="0"/>
                    <a:pt x="0" y="5"/>
                    <a:pt x="0" y="10"/>
                  </a:cubicBezTo>
                  <a:cubicBezTo>
                    <a:pt x="0" y="15"/>
                    <a:pt x="4" y="20"/>
                    <a:pt x="9" y="20"/>
                  </a:cubicBezTo>
                  <a:cubicBezTo>
                    <a:pt x="13" y="56"/>
                    <a:pt x="13" y="56"/>
                    <a:pt x="13" y="56"/>
                  </a:cubicBezTo>
                  <a:cubicBezTo>
                    <a:pt x="18" y="56"/>
                    <a:pt x="18" y="56"/>
                    <a:pt x="18" y="56"/>
                  </a:cubicBezTo>
                  <a:cubicBezTo>
                    <a:pt x="14" y="20"/>
                    <a:pt x="14" y="20"/>
                    <a:pt x="14" y="20"/>
                  </a:cubicBezTo>
                  <a:cubicBezTo>
                    <a:pt x="18" y="18"/>
                    <a:pt x="20" y="15"/>
                    <a:pt x="20" y="1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6" name="Oval 11">
              <a:extLst>
                <a:ext uri="{FF2B5EF4-FFF2-40B4-BE49-F238E27FC236}">
                  <a16:creationId xmlns:a16="http://schemas.microsoft.com/office/drawing/2014/main" id="{E33786B5-D8FB-2621-7A96-9A0EB7E6E841}"/>
                </a:ext>
                <a:ext uri="{C183D7F6-B498-43B3-948B-1728B52AA6E4}">
                  <adec:decorative xmlns:adec="http://schemas.microsoft.com/office/drawing/2017/decorative" val="1"/>
                </a:ext>
              </a:extLst>
            </p:cNvPr>
            <p:cNvSpPr>
              <a:spLocks noChangeArrowheads="1"/>
            </p:cNvSpPr>
            <p:nvPr/>
          </p:nvSpPr>
          <p:spPr bwMode="auto">
            <a:xfrm>
              <a:off x="1118" y="868"/>
              <a:ext cx="76" cy="74"/>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8" name="Oval 12">
              <a:extLst>
                <a:ext uri="{FF2B5EF4-FFF2-40B4-BE49-F238E27FC236}">
                  <a16:creationId xmlns:a16="http://schemas.microsoft.com/office/drawing/2014/main" id="{F8AB0D01-3778-ED26-2590-5860AC137329}"/>
                </a:ext>
                <a:ext uri="{C183D7F6-B498-43B3-948B-1728B52AA6E4}">
                  <adec:decorative xmlns:adec="http://schemas.microsoft.com/office/drawing/2017/decorative" val="1"/>
                </a:ext>
              </a:extLst>
            </p:cNvPr>
            <p:cNvSpPr>
              <a:spLocks noChangeArrowheads="1"/>
            </p:cNvSpPr>
            <p:nvPr/>
          </p:nvSpPr>
          <p:spPr bwMode="auto">
            <a:xfrm>
              <a:off x="1110" y="765"/>
              <a:ext cx="19" cy="20"/>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0" name="Oval 13">
              <a:extLst>
                <a:ext uri="{FF2B5EF4-FFF2-40B4-BE49-F238E27FC236}">
                  <a16:creationId xmlns:a16="http://schemas.microsoft.com/office/drawing/2014/main" id="{33F10911-3754-5F9A-F9F9-9111D274B411}"/>
                </a:ext>
                <a:ext uri="{C183D7F6-B498-43B3-948B-1728B52AA6E4}">
                  <adec:decorative xmlns:adec="http://schemas.microsoft.com/office/drawing/2017/decorative" val="1"/>
                </a:ext>
              </a:extLst>
            </p:cNvPr>
            <p:cNvSpPr>
              <a:spLocks noChangeArrowheads="1"/>
            </p:cNvSpPr>
            <p:nvPr/>
          </p:nvSpPr>
          <p:spPr bwMode="auto">
            <a:xfrm>
              <a:off x="1035" y="1006"/>
              <a:ext cx="18" cy="1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1" name="Oval 14">
              <a:extLst>
                <a:ext uri="{FF2B5EF4-FFF2-40B4-BE49-F238E27FC236}">
                  <a16:creationId xmlns:a16="http://schemas.microsoft.com/office/drawing/2014/main" id="{B80F108A-171E-676B-F3AE-CAEC80893D27}"/>
                </a:ext>
                <a:ext uri="{C183D7F6-B498-43B3-948B-1728B52AA6E4}">
                  <adec:decorative xmlns:adec="http://schemas.microsoft.com/office/drawing/2017/decorative" val="1"/>
                </a:ext>
              </a:extLst>
            </p:cNvPr>
            <p:cNvSpPr>
              <a:spLocks noChangeArrowheads="1"/>
            </p:cNvSpPr>
            <p:nvPr/>
          </p:nvSpPr>
          <p:spPr bwMode="auto">
            <a:xfrm>
              <a:off x="1297" y="935"/>
              <a:ext cx="19" cy="18"/>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2" name="Freeform 15">
              <a:extLst>
                <a:ext uri="{FF2B5EF4-FFF2-40B4-BE49-F238E27FC236}">
                  <a16:creationId xmlns:a16="http://schemas.microsoft.com/office/drawing/2014/main" id="{251F51A3-2962-B917-EC25-874B11B32F33}"/>
                </a:ext>
                <a:ext uri="{C183D7F6-B498-43B3-948B-1728B52AA6E4}">
                  <adec:decorative xmlns:adec="http://schemas.microsoft.com/office/drawing/2017/decorative" val="1"/>
                </a:ext>
              </a:extLst>
            </p:cNvPr>
            <p:cNvSpPr>
              <a:spLocks/>
            </p:cNvSpPr>
            <p:nvPr/>
          </p:nvSpPr>
          <p:spPr bwMode="auto">
            <a:xfrm>
              <a:off x="1016" y="900"/>
              <a:ext cx="146" cy="182"/>
            </a:xfrm>
            <a:custGeom>
              <a:avLst/>
              <a:gdLst>
                <a:gd name="T0" fmla="*/ 65 w 79"/>
                <a:gd name="T1" fmla="*/ 80 h 99"/>
                <a:gd name="T2" fmla="*/ 79 w 79"/>
                <a:gd name="T3" fmla="*/ 0 h 99"/>
                <a:gd name="T4" fmla="*/ 19 w 79"/>
                <a:gd name="T5" fmla="*/ 13 h 99"/>
                <a:gd name="T6" fmla="*/ 10 w 79"/>
                <a:gd name="T7" fmla="*/ 8 h 99"/>
                <a:gd name="T8" fmla="*/ 0 w 79"/>
                <a:gd name="T9" fmla="*/ 18 h 99"/>
                <a:gd name="T10" fmla="*/ 10 w 79"/>
                <a:gd name="T11" fmla="*/ 28 h 99"/>
                <a:gd name="T12" fmla="*/ 21 w 79"/>
                <a:gd name="T13" fmla="*/ 18 h 99"/>
                <a:gd name="T14" fmla="*/ 72 w 79"/>
                <a:gd name="T15" fmla="*/ 6 h 99"/>
                <a:gd name="T16" fmla="*/ 60 w 79"/>
                <a:gd name="T17" fmla="*/ 79 h 99"/>
                <a:gd name="T18" fmla="*/ 51 w 79"/>
                <a:gd name="T19" fmla="*/ 89 h 99"/>
                <a:gd name="T20" fmla="*/ 61 w 79"/>
                <a:gd name="T21" fmla="*/ 99 h 99"/>
                <a:gd name="T22" fmla="*/ 71 w 79"/>
                <a:gd name="T23" fmla="*/ 89 h 99"/>
                <a:gd name="T24" fmla="*/ 65 w 79"/>
                <a:gd name="T25" fmla="*/ 8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99">
                  <a:moveTo>
                    <a:pt x="65" y="80"/>
                  </a:moveTo>
                  <a:cubicBezTo>
                    <a:pt x="79" y="0"/>
                    <a:pt x="79" y="0"/>
                    <a:pt x="79" y="0"/>
                  </a:cubicBezTo>
                  <a:cubicBezTo>
                    <a:pt x="19" y="13"/>
                    <a:pt x="19" y="13"/>
                    <a:pt x="19" y="13"/>
                  </a:cubicBezTo>
                  <a:cubicBezTo>
                    <a:pt x="18" y="10"/>
                    <a:pt x="14" y="8"/>
                    <a:pt x="10" y="8"/>
                  </a:cubicBezTo>
                  <a:cubicBezTo>
                    <a:pt x="5" y="8"/>
                    <a:pt x="0" y="12"/>
                    <a:pt x="0" y="18"/>
                  </a:cubicBezTo>
                  <a:cubicBezTo>
                    <a:pt x="0" y="23"/>
                    <a:pt x="5" y="28"/>
                    <a:pt x="10" y="28"/>
                  </a:cubicBezTo>
                  <a:cubicBezTo>
                    <a:pt x="16" y="28"/>
                    <a:pt x="20" y="24"/>
                    <a:pt x="21" y="18"/>
                  </a:cubicBezTo>
                  <a:cubicBezTo>
                    <a:pt x="72" y="6"/>
                    <a:pt x="72" y="6"/>
                    <a:pt x="72" y="6"/>
                  </a:cubicBezTo>
                  <a:cubicBezTo>
                    <a:pt x="60" y="79"/>
                    <a:pt x="60" y="79"/>
                    <a:pt x="60" y="79"/>
                  </a:cubicBezTo>
                  <a:cubicBezTo>
                    <a:pt x="55" y="79"/>
                    <a:pt x="51" y="84"/>
                    <a:pt x="51" y="89"/>
                  </a:cubicBezTo>
                  <a:cubicBezTo>
                    <a:pt x="51" y="95"/>
                    <a:pt x="55" y="99"/>
                    <a:pt x="61" y="99"/>
                  </a:cubicBezTo>
                  <a:cubicBezTo>
                    <a:pt x="66" y="99"/>
                    <a:pt x="71" y="94"/>
                    <a:pt x="71" y="89"/>
                  </a:cubicBezTo>
                  <a:cubicBezTo>
                    <a:pt x="71" y="85"/>
                    <a:pt x="68" y="81"/>
                    <a:pt x="65" y="8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3" name="Freeform 16">
              <a:extLst>
                <a:ext uri="{FF2B5EF4-FFF2-40B4-BE49-F238E27FC236}">
                  <a16:creationId xmlns:a16="http://schemas.microsoft.com/office/drawing/2014/main" id="{E1B9B7BB-6621-672F-9598-859688B467A6}"/>
                </a:ext>
                <a:ext uri="{C183D7F6-B498-43B3-948B-1728B52AA6E4}">
                  <adec:decorative xmlns:adec="http://schemas.microsoft.com/office/drawing/2017/decorative" val="1"/>
                </a:ext>
              </a:extLst>
            </p:cNvPr>
            <p:cNvSpPr>
              <a:spLocks/>
            </p:cNvSpPr>
            <p:nvPr/>
          </p:nvSpPr>
          <p:spPr bwMode="auto">
            <a:xfrm>
              <a:off x="1153" y="802"/>
              <a:ext cx="107" cy="107"/>
            </a:xfrm>
            <a:custGeom>
              <a:avLst/>
              <a:gdLst>
                <a:gd name="T0" fmla="*/ 47 w 58"/>
                <a:gd name="T1" fmla="*/ 0 h 58"/>
                <a:gd name="T2" fmla="*/ 37 w 58"/>
                <a:gd name="T3" fmla="*/ 10 h 58"/>
                <a:gd name="T4" fmla="*/ 39 w 58"/>
                <a:gd name="T5" fmla="*/ 15 h 58"/>
                <a:gd name="T6" fmla="*/ 0 w 58"/>
                <a:gd name="T7" fmla="*/ 54 h 58"/>
                <a:gd name="T8" fmla="*/ 3 w 58"/>
                <a:gd name="T9" fmla="*/ 58 h 58"/>
                <a:gd name="T10" fmla="*/ 42 w 58"/>
                <a:gd name="T11" fmla="*/ 19 h 58"/>
                <a:gd name="T12" fmla="*/ 47 w 58"/>
                <a:gd name="T13" fmla="*/ 20 h 58"/>
                <a:gd name="T14" fmla="*/ 58 w 58"/>
                <a:gd name="T15" fmla="*/ 10 h 58"/>
                <a:gd name="T16" fmla="*/ 47 w 58"/>
                <a:gd name="T17"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58">
                  <a:moveTo>
                    <a:pt x="47" y="0"/>
                  </a:moveTo>
                  <a:cubicBezTo>
                    <a:pt x="42" y="0"/>
                    <a:pt x="37" y="5"/>
                    <a:pt x="37" y="10"/>
                  </a:cubicBezTo>
                  <a:cubicBezTo>
                    <a:pt x="37" y="12"/>
                    <a:pt x="38" y="14"/>
                    <a:pt x="39" y="15"/>
                  </a:cubicBezTo>
                  <a:cubicBezTo>
                    <a:pt x="0" y="54"/>
                    <a:pt x="0" y="54"/>
                    <a:pt x="0" y="54"/>
                  </a:cubicBezTo>
                  <a:cubicBezTo>
                    <a:pt x="3" y="58"/>
                    <a:pt x="3" y="58"/>
                    <a:pt x="3" y="58"/>
                  </a:cubicBezTo>
                  <a:cubicBezTo>
                    <a:pt x="42" y="19"/>
                    <a:pt x="42" y="19"/>
                    <a:pt x="42" y="19"/>
                  </a:cubicBezTo>
                  <a:cubicBezTo>
                    <a:pt x="44" y="20"/>
                    <a:pt x="46" y="20"/>
                    <a:pt x="47" y="20"/>
                  </a:cubicBezTo>
                  <a:cubicBezTo>
                    <a:pt x="53" y="20"/>
                    <a:pt x="58" y="16"/>
                    <a:pt x="58" y="10"/>
                  </a:cubicBezTo>
                  <a:cubicBezTo>
                    <a:pt x="58" y="5"/>
                    <a:pt x="53" y="0"/>
                    <a:pt x="47"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4" name="Freeform 17">
              <a:extLst>
                <a:ext uri="{FF2B5EF4-FFF2-40B4-BE49-F238E27FC236}">
                  <a16:creationId xmlns:a16="http://schemas.microsoft.com/office/drawing/2014/main" id="{550CE95C-B9CA-7FAB-9573-9C1B5D2695E8}"/>
                </a:ext>
                <a:ext uri="{C183D7F6-B498-43B3-948B-1728B52AA6E4}">
                  <adec:decorative xmlns:adec="http://schemas.microsoft.com/office/drawing/2017/decorative" val="1"/>
                </a:ext>
              </a:extLst>
            </p:cNvPr>
            <p:cNvSpPr>
              <a:spLocks/>
            </p:cNvSpPr>
            <p:nvPr/>
          </p:nvSpPr>
          <p:spPr bwMode="auto">
            <a:xfrm>
              <a:off x="1203" y="1025"/>
              <a:ext cx="18" cy="20"/>
            </a:xfrm>
            <a:custGeom>
              <a:avLst/>
              <a:gdLst>
                <a:gd name="T0" fmla="*/ 5 w 10"/>
                <a:gd name="T1" fmla="*/ 11 h 11"/>
                <a:gd name="T2" fmla="*/ 0 w 10"/>
                <a:gd name="T3" fmla="*/ 6 h 11"/>
                <a:gd name="T4" fmla="*/ 5 w 10"/>
                <a:gd name="T5" fmla="*/ 0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2" y="11"/>
                    <a:pt x="0" y="8"/>
                    <a:pt x="0" y="6"/>
                  </a:cubicBezTo>
                  <a:cubicBezTo>
                    <a:pt x="0" y="3"/>
                    <a:pt x="3" y="0"/>
                    <a:pt x="5" y="0"/>
                  </a:cubicBezTo>
                  <a:cubicBezTo>
                    <a:pt x="8" y="0"/>
                    <a:pt x="10" y="3"/>
                    <a:pt x="10" y="6"/>
                  </a:cubicBezTo>
                  <a:cubicBezTo>
                    <a:pt x="10" y="8"/>
                    <a:pt x="8" y="11"/>
                    <a:pt x="5" y="11"/>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5" name="Oval 18">
              <a:extLst>
                <a:ext uri="{FF2B5EF4-FFF2-40B4-BE49-F238E27FC236}">
                  <a16:creationId xmlns:a16="http://schemas.microsoft.com/office/drawing/2014/main" id="{F53C0D61-4396-0100-4BCE-C5FF43F4AE6C}"/>
                </a:ext>
                <a:ext uri="{C183D7F6-B498-43B3-948B-1728B52AA6E4}">
                  <adec:decorative xmlns:adec="http://schemas.microsoft.com/office/drawing/2017/decorative" val="1"/>
                </a:ext>
              </a:extLst>
            </p:cNvPr>
            <p:cNvSpPr>
              <a:spLocks noChangeArrowheads="1"/>
            </p:cNvSpPr>
            <p:nvPr/>
          </p:nvSpPr>
          <p:spPr bwMode="auto">
            <a:xfrm>
              <a:off x="1277" y="765"/>
              <a:ext cx="20" cy="1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pic>
        <p:nvPicPr>
          <p:cNvPr id="77" name="Graphic 76" descr="Pencil outline">
            <a:extLst>
              <a:ext uri="{FF2B5EF4-FFF2-40B4-BE49-F238E27FC236}">
                <a16:creationId xmlns:a16="http://schemas.microsoft.com/office/drawing/2014/main" id="{F6CDADD4-2775-4328-DC3D-4BDD391E2D2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31154" y="4998036"/>
            <a:ext cx="290325" cy="290325"/>
          </a:xfrm>
          <a:prstGeom prst="rect">
            <a:avLst/>
          </a:prstGeom>
        </p:spPr>
      </p:pic>
    </p:spTree>
    <p:extLst>
      <p:ext uri="{BB962C8B-B14F-4D97-AF65-F5344CB8AC3E}">
        <p14:creationId xmlns:p14="http://schemas.microsoft.com/office/powerpoint/2010/main" val="30105018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grpId="1" nodeType="withEffect">
                                  <p:stCondLst>
                                    <p:cond delay="100"/>
                                  </p:stCondLst>
                                  <p:childTnLst>
                                    <p:animMotion origin="layout" path="M 2.29167E-6 1.11111E-6 L 2.29167E-6 0.01967 " pathEditMode="relative" rAng="0" ptsTypes="AA">
                                      <p:cBhvr>
                                        <p:cTn id="9" dur="500" spd="-100000" fill="hold"/>
                                        <p:tgtEl>
                                          <p:spTgt spid="9"/>
                                        </p:tgtEl>
                                        <p:attrNameLst>
                                          <p:attrName>ppt_x</p:attrName>
                                          <p:attrName>ppt_y</p:attrName>
                                        </p:attrNameLst>
                                      </p:cBhvr>
                                      <p:rCtr x="0" y="972"/>
                                    </p:animMotion>
                                  </p:childTnLst>
                                </p:cTn>
                              </p:par>
                              <p:par>
                                <p:cTn id="10" presetID="22" presetClass="entr" presetSubtype="1"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par>
                          <p:cTn id="13" fill="hold">
                            <p:stCondLst>
                              <p:cond delay="600"/>
                            </p:stCondLst>
                            <p:childTnLst>
                              <p:par>
                                <p:cTn id="14" presetID="10" presetClass="entr" presetSubtype="0"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42" presetClass="path" presetSubtype="0" decel="100000" fill="hold" grpId="1" nodeType="withEffect">
                                  <p:stCondLst>
                                    <p:cond delay="300"/>
                                  </p:stCondLst>
                                  <p:childTnLst>
                                    <p:animMotion origin="layout" path="M -8.33333E-7 1.11111E-6 L -0.01575 0.00023 " pathEditMode="relative" rAng="0" ptsTypes="AA">
                                      <p:cBhvr>
                                        <p:cTn id="30" dur="500" spd="-100000" fill="hold"/>
                                        <p:tgtEl>
                                          <p:spTgt spid="12"/>
                                        </p:tgtEl>
                                        <p:attrNameLst>
                                          <p:attrName>ppt_x</p:attrName>
                                          <p:attrName>ppt_y</p:attrName>
                                        </p:attrNameLst>
                                      </p:cBhvr>
                                      <p:rCtr x="-794" y="0"/>
                                    </p:animMotion>
                                  </p:childTnLst>
                                </p:cTn>
                              </p:par>
                              <p:par>
                                <p:cTn id="31" presetID="10" presetClass="entr" presetSubtype="0" fill="hold" grpId="0" nodeType="withEffect">
                                  <p:stCondLst>
                                    <p:cond delay="35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42" presetClass="path" presetSubtype="0" decel="100000" fill="hold" grpId="1" nodeType="withEffect">
                                  <p:stCondLst>
                                    <p:cond delay="350"/>
                                  </p:stCondLst>
                                  <p:childTnLst>
                                    <p:animMotion origin="layout" path="M 6.25E-7 1.11111E-6 L -0.01576 0.00023 " pathEditMode="relative" rAng="0" ptsTypes="AA">
                                      <p:cBhvr>
                                        <p:cTn id="35" dur="500" spd="-100000" fill="hold"/>
                                        <p:tgtEl>
                                          <p:spTgt spid="13"/>
                                        </p:tgtEl>
                                        <p:attrNameLst>
                                          <p:attrName>ppt_x</p:attrName>
                                          <p:attrName>ppt_y</p:attrName>
                                        </p:attrNameLst>
                                      </p:cBhvr>
                                      <p:rCtr x="-794" y="0"/>
                                    </p:animMotion>
                                  </p:childTnLst>
                                </p:cTn>
                              </p:par>
                              <p:par>
                                <p:cTn id="36" presetID="10" presetClass="entr" presetSubtype="0" fill="hold" grpId="0" nodeType="withEffect">
                                  <p:stCondLst>
                                    <p:cond delay="4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42" presetClass="path" presetSubtype="0" decel="100000" fill="hold" grpId="1" nodeType="withEffect">
                                  <p:stCondLst>
                                    <p:cond delay="400"/>
                                  </p:stCondLst>
                                  <p:childTnLst>
                                    <p:animMotion origin="layout" path="M 6.25E-7 4.07407E-6 L -0.01576 0.00023 " pathEditMode="relative" rAng="0" ptsTypes="AA">
                                      <p:cBhvr>
                                        <p:cTn id="40" dur="500" spd="-100000" fill="hold"/>
                                        <p:tgtEl>
                                          <p:spTgt spid="14"/>
                                        </p:tgtEl>
                                        <p:attrNameLst>
                                          <p:attrName>ppt_x</p:attrName>
                                          <p:attrName>ppt_y</p:attrName>
                                        </p:attrNameLst>
                                      </p:cBhvr>
                                      <p:rCtr x="-794" y="0"/>
                                    </p:animMotion>
                                  </p:childTnLst>
                                </p:cTn>
                              </p:par>
                              <p:par>
                                <p:cTn id="41" presetID="10" presetClass="entr" presetSubtype="0" fill="hold" grpId="0" nodeType="withEffect">
                                  <p:stCondLst>
                                    <p:cond delay="45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4" presetID="42" presetClass="path" presetSubtype="0" decel="100000" fill="hold" grpId="1" nodeType="withEffect">
                                  <p:stCondLst>
                                    <p:cond delay="400"/>
                                  </p:stCondLst>
                                  <p:childTnLst>
                                    <p:animMotion origin="layout" path="M 6.25E-7 -3.33333E-6 L -0.01576 0.00023 " pathEditMode="relative" rAng="0" ptsTypes="AA">
                                      <p:cBhvr>
                                        <p:cTn id="45" dur="500" spd="-100000" fill="hold"/>
                                        <p:tgtEl>
                                          <p:spTgt spid="43"/>
                                        </p:tgtEl>
                                        <p:attrNameLst>
                                          <p:attrName>ppt_x</p:attrName>
                                          <p:attrName>ppt_y</p:attrName>
                                        </p:attrNameLst>
                                      </p:cBhvr>
                                      <p:rCtr x="-794" y="0"/>
                                    </p:animMotion>
                                  </p:childTnLst>
                                </p:cTn>
                              </p:par>
                              <p:par>
                                <p:cTn id="46" presetID="10" presetClass="entr" presetSubtype="0" fill="hold" grpId="0" nodeType="withEffect">
                                  <p:stCondLst>
                                    <p:cond delay="500"/>
                                  </p:stCondLst>
                                  <p:childTnLst>
                                    <p:set>
                                      <p:cBhvr>
                                        <p:cTn id="47" dur="1" fill="hold">
                                          <p:stCondLst>
                                            <p:cond delay="0"/>
                                          </p:stCondLst>
                                        </p:cTn>
                                        <p:tgtEl>
                                          <p:spTgt spid="61"/>
                                        </p:tgtEl>
                                        <p:attrNameLst>
                                          <p:attrName>style.visibility</p:attrName>
                                        </p:attrNameLst>
                                      </p:cBhvr>
                                      <p:to>
                                        <p:strVal val="visible"/>
                                      </p:to>
                                    </p:set>
                                    <p:animEffect transition="in" filter="fade">
                                      <p:cBhvr>
                                        <p:cTn id="48" dur="500"/>
                                        <p:tgtEl>
                                          <p:spTgt spid="61"/>
                                        </p:tgtEl>
                                      </p:cBhvr>
                                    </p:animEffect>
                                  </p:childTnLst>
                                </p:cTn>
                              </p:par>
                              <p:par>
                                <p:cTn id="49" presetID="42" presetClass="path" presetSubtype="0" decel="100000" fill="hold" grpId="1" nodeType="withEffect">
                                  <p:stCondLst>
                                    <p:cond delay="400"/>
                                  </p:stCondLst>
                                  <p:childTnLst>
                                    <p:animMotion origin="layout" path="M 6.25E-7 -2.96296E-6 L -0.01576 0.00023 " pathEditMode="relative" rAng="0" ptsTypes="AA">
                                      <p:cBhvr>
                                        <p:cTn id="50" dur="500" spd="-100000" fill="hold"/>
                                        <p:tgtEl>
                                          <p:spTgt spid="61"/>
                                        </p:tgtEl>
                                        <p:attrNameLst>
                                          <p:attrName>ppt_x</p:attrName>
                                          <p:attrName>ppt_y</p:attrName>
                                        </p:attrNameLst>
                                      </p:cBhvr>
                                      <p:rCtr x="-794" y="0"/>
                                    </p:animMotion>
                                  </p:childTnLst>
                                </p:cTn>
                              </p:par>
                              <p:par>
                                <p:cTn id="51" presetID="10" presetClass="entr" presetSubtype="0" fill="hold" grpId="0" nodeType="withEffect">
                                  <p:stCondLst>
                                    <p:cond delay="500"/>
                                  </p:stCondLst>
                                  <p:childTnLst>
                                    <p:set>
                                      <p:cBhvr>
                                        <p:cTn id="52" dur="1" fill="hold">
                                          <p:stCondLst>
                                            <p:cond delay="0"/>
                                          </p:stCondLst>
                                        </p:cTn>
                                        <p:tgtEl>
                                          <p:spTgt spid="62"/>
                                        </p:tgtEl>
                                        <p:attrNameLst>
                                          <p:attrName>style.visibility</p:attrName>
                                        </p:attrNameLst>
                                      </p:cBhvr>
                                      <p:to>
                                        <p:strVal val="visible"/>
                                      </p:to>
                                    </p:set>
                                    <p:animEffect transition="in" filter="fade">
                                      <p:cBhvr>
                                        <p:cTn id="53" dur="500"/>
                                        <p:tgtEl>
                                          <p:spTgt spid="62"/>
                                        </p:tgtEl>
                                      </p:cBhvr>
                                    </p:animEffect>
                                  </p:childTnLst>
                                </p:cTn>
                              </p:par>
                              <p:par>
                                <p:cTn id="54" presetID="42" presetClass="path" presetSubtype="0" decel="100000" fill="hold" grpId="1" nodeType="withEffect">
                                  <p:stCondLst>
                                    <p:cond delay="400"/>
                                  </p:stCondLst>
                                  <p:childTnLst>
                                    <p:animMotion origin="layout" path="M 6.25E-7 -7.40741E-7 L -0.01576 0.00023 " pathEditMode="relative" rAng="0" ptsTypes="AA">
                                      <p:cBhvr>
                                        <p:cTn id="55" dur="500" spd="-100000" fill="hold"/>
                                        <p:tgtEl>
                                          <p:spTgt spid="62"/>
                                        </p:tgtEl>
                                        <p:attrNameLst>
                                          <p:attrName>ppt_x</p:attrName>
                                          <p:attrName>ppt_y</p:attrName>
                                        </p:attrNameLst>
                                      </p:cBhvr>
                                      <p:rCtr x="-794" y="0"/>
                                    </p:animMotion>
                                  </p:childTnLst>
                                </p:cTn>
                              </p:par>
                              <p:par>
                                <p:cTn id="56" presetID="10" presetClass="entr" presetSubtype="0" fill="hold" grpId="0" nodeType="withEffect">
                                  <p:stCondLst>
                                    <p:cond delay="350"/>
                                  </p:stCondLst>
                                  <p:childTnLst>
                                    <p:set>
                                      <p:cBhvr>
                                        <p:cTn id="57" dur="1" fill="hold">
                                          <p:stCondLst>
                                            <p:cond delay="0"/>
                                          </p:stCondLst>
                                        </p:cTn>
                                        <p:tgtEl>
                                          <p:spTgt spid="69"/>
                                        </p:tgtEl>
                                        <p:attrNameLst>
                                          <p:attrName>style.visibility</p:attrName>
                                        </p:attrNameLst>
                                      </p:cBhvr>
                                      <p:to>
                                        <p:strVal val="visible"/>
                                      </p:to>
                                    </p:set>
                                    <p:animEffect transition="in" filter="fade">
                                      <p:cBhvr>
                                        <p:cTn id="58" dur="500"/>
                                        <p:tgtEl>
                                          <p:spTgt spid="69"/>
                                        </p:tgtEl>
                                      </p:cBhvr>
                                    </p:animEffect>
                                  </p:childTnLst>
                                </p:cTn>
                              </p:par>
                              <p:par>
                                <p:cTn id="59" presetID="42" presetClass="path" presetSubtype="0" decel="100000" fill="hold" grpId="1" nodeType="withEffect">
                                  <p:stCondLst>
                                    <p:cond delay="350"/>
                                  </p:stCondLst>
                                  <p:childTnLst>
                                    <p:animMotion origin="layout" path="M 6.25E-7 2.96296E-6 L -0.01576 0.00023 " pathEditMode="relative" rAng="0" ptsTypes="AA">
                                      <p:cBhvr>
                                        <p:cTn id="60" dur="500" spd="-100000" fill="hold"/>
                                        <p:tgtEl>
                                          <p:spTgt spid="69"/>
                                        </p:tgtEl>
                                        <p:attrNameLst>
                                          <p:attrName>ppt_x</p:attrName>
                                          <p:attrName>ppt_y</p:attrName>
                                        </p:attrNameLst>
                                      </p:cBhvr>
                                      <p:rCtr x="-794" y="0"/>
                                    </p:animMotion>
                                  </p:childTnLst>
                                </p:cTn>
                              </p:par>
                              <p:par>
                                <p:cTn id="61" presetID="10" presetClass="entr" presetSubtype="0" fill="hold" nodeType="with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fade">
                                      <p:cBhvr>
                                        <p:cTn id="63" dur="500"/>
                                        <p:tgtEl>
                                          <p:spTgt spid="5"/>
                                        </p:tgtEl>
                                      </p:cBhvr>
                                    </p:animEffect>
                                  </p:childTnLst>
                                </p:cTn>
                              </p:par>
                              <p:par>
                                <p:cTn id="64" presetID="10" presetClass="entr" presetSubtype="0" fill="hold" grpId="0" nodeType="withEffect">
                                  <p:stCondLst>
                                    <p:cond delay="450"/>
                                  </p:stCondLst>
                                  <p:childTnLst>
                                    <p:set>
                                      <p:cBhvr>
                                        <p:cTn id="65" dur="1" fill="hold">
                                          <p:stCondLst>
                                            <p:cond delay="0"/>
                                          </p:stCondLst>
                                        </p:cTn>
                                        <p:tgtEl>
                                          <p:spTgt spid="3"/>
                                        </p:tgtEl>
                                        <p:attrNameLst>
                                          <p:attrName>style.visibility</p:attrName>
                                        </p:attrNameLst>
                                      </p:cBhvr>
                                      <p:to>
                                        <p:strVal val="visible"/>
                                      </p:to>
                                    </p:set>
                                    <p:animEffect transition="in" filter="fade">
                                      <p:cBhvr>
                                        <p:cTn id="66" dur="500"/>
                                        <p:tgtEl>
                                          <p:spTgt spid="3"/>
                                        </p:tgtEl>
                                      </p:cBhvr>
                                    </p:animEffect>
                                  </p:childTnLst>
                                </p:cTn>
                              </p:par>
                              <p:par>
                                <p:cTn id="67" presetID="42" presetClass="path" presetSubtype="0" decel="100000" fill="hold" grpId="1" nodeType="withEffect">
                                  <p:stCondLst>
                                    <p:cond delay="400"/>
                                  </p:stCondLst>
                                  <p:childTnLst>
                                    <p:animMotion origin="layout" path="M 6.25E-7 -3.33333E-6 L -0.01576 0.00023 " pathEditMode="relative" rAng="0" ptsTypes="AA">
                                      <p:cBhvr>
                                        <p:cTn id="68" dur="500" spd="-100000" fill="hold"/>
                                        <p:tgtEl>
                                          <p:spTgt spid="3"/>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2" grpId="0"/>
      <p:bldP spid="12" grpId="1"/>
      <p:bldP spid="13" grpId="0"/>
      <p:bldP spid="13" grpId="1"/>
      <p:bldP spid="14" grpId="0"/>
      <p:bldP spid="14" grpId="1"/>
      <p:bldP spid="43" grpId="0"/>
      <p:bldP spid="43" grpId="1"/>
      <p:bldP spid="61" grpId="0"/>
      <p:bldP spid="61" grpId="1"/>
      <p:bldP spid="62" grpId="0"/>
      <p:bldP spid="62" grpId="1"/>
      <p:bldP spid="69" grpId="0"/>
      <p:bldP spid="69" grpId="1"/>
      <p:bldP spid="3" grpId="0"/>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84926-71BD-2BB1-6ECF-27B59B231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51857-E027-D007-329C-4E910C508E16}"/>
              </a:ext>
            </a:extLst>
          </p:cNvPr>
          <p:cNvSpPr>
            <a:spLocks noGrp="1"/>
          </p:cNvSpPr>
          <p:nvPr>
            <p:ph type="title"/>
          </p:nvPr>
        </p:nvSpPr>
        <p:spPr>
          <a:xfrm>
            <a:off x="588263" y="457200"/>
            <a:ext cx="10862318" cy="1114564"/>
          </a:xfrm>
        </p:spPr>
        <p:txBody>
          <a:bodyPr wrap="square" anchor="t">
            <a:normAutofit/>
          </a:bodyPr>
          <a:lstStyle/>
          <a:p>
            <a:r>
              <a:rPr lang="en-GB">
                <a:cs typeface="Segoe UI"/>
              </a:rPr>
              <a:t>Architecture of Application Gateway for Containers</a:t>
            </a:r>
            <a:endParaRPr lang="en-US"/>
          </a:p>
        </p:txBody>
      </p:sp>
      <p:sp>
        <p:nvSpPr>
          <p:cNvPr id="1031" name="Content Placeholder 2">
            <a:extLst>
              <a:ext uri="{FF2B5EF4-FFF2-40B4-BE49-F238E27FC236}">
                <a16:creationId xmlns:a16="http://schemas.microsoft.com/office/drawing/2014/main" id="{FE6A37FF-D429-3C55-23BA-B5E3E8DD0BFA}"/>
              </a:ext>
            </a:extLst>
          </p:cNvPr>
          <p:cNvSpPr>
            <a:spLocks noGrp="1"/>
          </p:cNvSpPr>
          <p:nvPr>
            <p:ph sz="quarter" idx="12"/>
          </p:nvPr>
        </p:nvSpPr>
        <p:spPr>
          <a:xfrm>
            <a:off x="584201" y="1571971"/>
            <a:ext cx="4869057" cy="5170646"/>
          </a:xfrm>
        </p:spPr>
        <p:txBody>
          <a:bodyPr vert="horz" wrap="square" lIns="0" tIns="0" rIns="0" bIns="0" rtlCol="0" anchor="t">
            <a:spAutoFit/>
          </a:bodyPr>
          <a:lstStyle/>
          <a:p>
            <a:r>
              <a:rPr lang="en-US" sz="2400" dirty="0">
                <a:cs typeface="Segoe UI"/>
              </a:rPr>
              <a:t>Internet traffic enters via Application Gateway for </a:t>
            </a:r>
            <a:r>
              <a:rPr lang="en-US" sz="2400">
                <a:cs typeface="Segoe UI"/>
              </a:rPr>
              <a:t>Containers </a:t>
            </a:r>
          </a:p>
          <a:p>
            <a:pPr>
              <a:spcBef>
                <a:spcPts val="20"/>
              </a:spcBef>
            </a:pPr>
            <a:r>
              <a:rPr lang="en-US" sz="2400">
                <a:cs typeface="Segoe Sans Text"/>
              </a:rPr>
              <a:t>AKS Pods receive routed L7 traffic (Pod A / Pod B)</a:t>
            </a:r>
            <a:endParaRPr lang="en-US" sz="2400" dirty="0"/>
          </a:p>
          <a:p>
            <a:pPr>
              <a:spcBef>
                <a:spcPts val="20"/>
              </a:spcBef>
            </a:pPr>
            <a:r>
              <a:rPr lang="en-US" sz="2400">
                <a:cs typeface="Segoe Sans Text"/>
              </a:rPr>
              <a:t>ALB Controller syncs Kubernetes Gateway API → Azure Resource Manager</a:t>
            </a:r>
            <a:endParaRPr lang="en-US" sz="2400" dirty="0"/>
          </a:p>
          <a:p>
            <a:pPr>
              <a:spcBef>
                <a:spcPts val="20"/>
              </a:spcBef>
            </a:pPr>
            <a:r>
              <a:rPr lang="en-US" sz="2400" dirty="0">
                <a:cs typeface="Segoe Sans Text"/>
              </a:rPr>
              <a:t>ARM stores and updates </a:t>
            </a:r>
            <a:r>
              <a:rPr lang="en-US" sz="2400">
                <a:cs typeface="Segoe Sans Text"/>
              </a:rPr>
              <a:t>configuration</a:t>
            </a:r>
            <a:endParaRPr lang="en-US" sz="2400"/>
          </a:p>
          <a:p>
            <a:pPr>
              <a:spcBef>
                <a:spcPts val="20"/>
              </a:spcBef>
            </a:pPr>
            <a:r>
              <a:rPr lang="en-US" sz="2400">
                <a:cs typeface="Segoe Sans Text"/>
              </a:rPr>
              <a:t>Config Propagation (K8s → Controller → ARM → Gateway)</a:t>
            </a:r>
            <a:endParaRPr lang="en-US" sz="2400" dirty="0"/>
          </a:p>
          <a:p>
            <a:pPr>
              <a:spcBef>
                <a:spcPts val="20"/>
              </a:spcBef>
            </a:pPr>
            <a:r>
              <a:rPr lang="en-US" sz="2400">
                <a:cs typeface="Segoe Sans Text"/>
              </a:rPr>
              <a:t>Traffic Flow (Gateway → Pods)</a:t>
            </a:r>
            <a:endParaRPr lang="en-US" sz="2400" dirty="0"/>
          </a:p>
          <a:p>
            <a:pPr>
              <a:spcBef>
                <a:spcPts val="20"/>
              </a:spcBef>
            </a:pPr>
            <a:endParaRPr lang="en-US" sz="2400" dirty="0"/>
          </a:p>
        </p:txBody>
      </p:sp>
      <p:pic>
        <p:nvPicPr>
          <p:cNvPr id="5" name="Picture 4" descr="Diagram depicting traffic from the Internet ingressing into Application Gateway for Containers and being sent to backend pods in AKS.">
            <a:extLst>
              <a:ext uri="{FF2B5EF4-FFF2-40B4-BE49-F238E27FC236}">
                <a16:creationId xmlns:a16="http://schemas.microsoft.com/office/drawing/2014/main" id="{4E9BE417-9060-ED5E-57BE-DCCCB7B2C5EF}"/>
              </a:ext>
            </a:extLst>
          </p:cNvPr>
          <p:cNvPicPr>
            <a:picLocks noChangeAspect="1"/>
          </p:cNvPicPr>
          <p:nvPr/>
        </p:nvPicPr>
        <p:blipFill>
          <a:blip r:embed="rId3"/>
          <a:stretch>
            <a:fillRect/>
          </a:stretch>
        </p:blipFill>
        <p:spPr>
          <a:xfrm>
            <a:off x="5468850" y="1009808"/>
            <a:ext cx="6723796" cy="5429786"/>
          </a:xfrm>
          <a:prstGeom prst="rect">
            <a:avLst/>
          </a:prstGeom>
        </p:spPr>
      </p:pic>
    </p:spTree>
    <p:extLst>
      <p:ext uri="{BB962C8B-B14F-4D97-AF65-F5344CB8AC3E}">
        <p14:creationId xmlns:p14="http://schemas.microsoft.com/office/powerpoint/2010/main" val="240196132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8C101-8288-ACEE-E3EE-6189010F2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FE2C0-541C-0412-5009-A128029C966C}"/>
              </a:ext>
            </a:extLst>
          </p:cNvPr>
          <p:cNvSpPr>
            <a:spLocks noGrp="1"/>
          </p:cNvSpPr>
          <p:nvPr>
            <p:ph type="title"/>
          </p:nvPr>
        </p:nvSpPr>
        <p:spPr>
          <a:xfrm>
            <a:off x="588263" y="457200"/>
            <a:ext cx="10862318" cy="1114564"/>
          </a:xfrm>
        </p:spPr>
        <p:txBody>
          <a:bodyPr wrap="square" anchor="t">
            <a:normAutofit/>
          </a:bodyPr>
          <a:lstStyle/>
          <a:p>
            <a:r>
              <a:rPr lang="en-GB">
                <a:cs typeface="Segoe UI"/>
              </a:rPr>
              <a:t>Application Gateway for Containers</a:t>
            </a:r>
            <a:endParaRPr lang="en-US"/>
          </a:p>
        </p:txBody>
      </p:sp>
      <p:sp>
        <p:nvSpPr>
          <p:cNvPr id="1031" name="Content Placeholder 2">
            <a:extLst>
              <a:ext uri="{FF2B5EF4-FFF2-40B4-BE49-F238E27FC236}">
                <a16:creationId xmlns:a16="http://schemas.microsoft.com/office/drawing/2014/main" id="{561E4315-9E70-6159-4F02-3FF3445EC2F4}"/>
              </a:ext>
            </a:extLst>
          </p:cNvPr>
          <p:cNvSpPr>
            <a:spLocks noGrp="1"/>
          </p:cNvSpPr>
          <p:nvPr>
            <p:ph sz="quarter" idx="12"/>
          </p:nvPr>
        </p:nvSpPr>
        <p:spPr>
          <a:xfrm>
            <a:off x="584201" y="1571971"/>
            <a:ext cx="4869057" cy="3693319"/>
          </a:xfrm>
        </p:spPr>
        <p:txBody>
          <a:bodyPr vert="horz" wrap="square" lIns="0" tIns="0" rIns="0" bIns="0" rtlCol="0" anchor="t">
            <a:spAutoFit/>
          </a:bodyPr>
          <a:lstStyle/>
          <a:p>
            <a:pPr marL="0" indent="0">
              <a:spcBef>
                <a:spcPts val="0"/>
              </a:spcBef>
              <a:buNone/>
            </a:pPr>
            <a:r>
              <a:rPr lang="en-US" sz="2400">
                <a:cs typeface="Segoe Sans Text"/>
              </a:rPr>
              <a:t>Components of AGC</a:t>
            </a:r>
            <a:endParaRPr lang="en-US"/>
          </a:p>
          <a:p>
            <a:pPr>
              <a:spcBef>
                <a:spcPts val="0"/>
              </a:spcBef>
            </a:pPr>
            <a:endParaRPr lang="en-US" sz="2400" dirty="0">
              <a:cs typeface="Segoe Sans Text"/>
            </a:endParaRPr>
          </a:p>
          <a:p>
            <a:pPr>
              <a:spcBef>
                <a:spcPts val="0"/>
              </a:spcBef>
            </a:pPr>
            <a:r>
              <a:rPr lang="en-US" sz="2400">
                <a:cs typeface="Segoe Sans Text"/>
              </a:rPr>
              <a:t>Azure Resource Manager</a:t>
            </a:r>
          </a:p>
          <a:p>
            <a:pPr>
              <a:spcBef>
                <a:spcPts val="0"/>
              </a:spcBef>
            </a:pPr>
            <a:r>
              <a:rPr lang="en-US" sz="2400">
                <a:cs typeface="Segoe Sans Text"/>
              </a:rPr>
              <a:t>AGC</a:t>
            </a:r>
          </a:p>
          <a:p>
            <a:pPr>
              <a:spcBef>
                <a:spcPts val="0"/>
              </a:spcBef>
            </a:pPr>
            <a:r>
              <a:rPr lang="en-US" sz="2400">
                <a:cs typeface="Segoe Sans Text"/>
              </a:rPr>
              <a:t>Frontend</a:t>
            </a:r>
          </a:p>
          <a:p>
            <a:pPr>
              <a:spcBef>
                <a:spcPts val="0"/>
              </a:spcBef>
            </a:pPr>
            <a:r>
              <a:rPr lang="en-US" sz="2400">
                <a:cs typeface="Segoe Sans Text"/>
              </a:rPr>
              <a:t>Association</a:t>
            </a:r>
          </a:p>
          <a:p>
            <a:pPr>
              <a:spcBef>
                <a:spcPts val="0"/>
              </a:spcBef>
            </a:pPr>
            <a:endParaRPr lang="en-US" sz="2400" dirty="0">
              <a:cs typeface="Segoe Sans Text"/>
            </a:endParaRPr>
          </a:p>
          <a:p>
            <a:pPr marL="0" indent="0">
              <a:spcBef>
                <a:spcPts val="0"/>
              </a:spcBef>
              <a:buNone/>
            </a:pPr>
            <a:r>
              <a:rPr lang="en-US" sz="2400">
                <a:cs typeface="Segoe Sans Text"/>
              </a:rPr>
              <a:t>Kubernetes</a:t>
            </a:r>
          </a:p>
          <a:p>
            <a:pPr>
              <a:spcBef>
                <a:spcPts val="0"/>
              </a:spcBef>
            </a:pPr>
            <a:r>
              <a:rPr lang="en-US" sz="2400">
                <a:cs typeface="Segoe Sans Text"/>
              </a:rPr>
              <a:t>ALB Controller</a:t>
            </a:r>
          </a:p>
          <a:p>
            <a:pPr>
              <a:spcBef>
                <a:spcPts val="0"/>
              </a:spcBef>
            </a:pPr>
            <a:r>
              <a:rPr lang="en-US" sz="2400" dirty="0" err="1">
                <a:cs typeface="Segoe Sans Text"/>
              </a:rPr>
              <a:t>ApplicationLoadBalancer</a:t>
            </a:r>
            <a:r>
              <a:rPr lang="en-US" sz="2400" dirty="0">
                <a:cs typeface="Segoe Sans Text"/>
              </a:rPr>
              <a:t> CR</a:t>
            </a:r>
            <a:endParaRPr lang="en-US" sz="2400">
              <a:cs typeface="Segoe Sans Text"/>
            </a:endParaRPr>
          </a:p>
        </p:txBody>
      </p:sp>
      <p:pic>
        <p:nvPicPr>
          <p:cNvPr id="4" name="Picture 3" descr="Diagram depicting traffic from the Internet ingressing into Application Gateway for Containers and being sent to backend pods in AKS.">
            <a:extLst>
              <a:ext uri="{FF2B5EF4-FFF2-40B4-BE49-F238E27FC236}">
                <a16:creationId xmlns:a16="http://schemas.microsoft.com/office/drawing/2014/main" id="{521A7837-4E20-B545-58AB-1DEF2AB0F381}"/>
              </a:ext>
            </a:extLst>
          </p:cNvPr>
          <p:cNvPicPr>
            <a:picLocks noChangeAspect="1"/>
          </p:cNvPicPr>
          <p:nvPr/>
        </p:nvPicPr>
        <p:blipFill>
          <a:blip r:embed="rId3"/>
          <a:stretch>
            <a:fillRect/>
          </a:stretch>
        </p:blipFill>
        <p:spPr>
          <a:xfrm>
            <a:off x="5468850" y="1009808"/>
            <a:ext cx="6723796" cy="5429786"/>
          </a:xfrm>
          <a:prstGeom prst="rect">
            <a:avLst/>
          </a:prstGeom>
        </p:spPr>
      </p:pic>
    </p:spTree>
    <p:extLst>
      <p:ext uri="{BB962C8B-B14F-4D97-AF65-F5344CB8AC3E}">
        <p14:creationId xmlns:p14="http://schemas.microsoft.com/office/powerpoint/2010/main" val="396033903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3D47C-A0C9-2297-14CC-7731EAEB7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B447A-A35B-8042-2204-4FD95C6D54E8}"/>
              </a:ext>
            </a:extLst>
          </p:cNvPr>
          <p:cNvSpPr>
            <a:spLocks noGrp="1"/>
          </p:cNvSpPr>
          <p:nvPr>
            <p:ph type="title"/>
          </p:nvPr>
        </p:nvSpPr>
        <p:spPr>
          <a:xfrm>
            <a:off x="588263" y="457200"/>
            <a:ext cx="8169043" cy="1107996"/>
          </a:xfrm>
        </p:spPr>
        <p:txBody>
          <a:bodyPr wrap="square" anchor="t">
            <a:normAutofit/>
          </a:bodyPr>
          <a:lstStyle/>
          <a:p>
            <a:r>
              <a:rPr lang="en-GB">
                <a:cs typeface="Segoe UI"/>
              </a:rPr>
              <a:t>Features &amp; Benefits</a:t>
            </a:r>
            <a:endParaRPr lang="en-US"/>
          </a:p>
        </p:txBody>
      </p:sp>
      <p:sp>
        <p:nvSpPr>
          <p:cNvPr id="1031" name="Content Placeholder 2">
            <a:extLst>
              <a:ext uri="{FF2B5EF4-FFF2-40B4-BE49-F238E27FC236}">
                <a16:creationId xmlns:a16="http://schemas.microsoft.com/office/drawing/2014/main" id="{0F85406B-69D7-7262-AE94-A4698A7FC41B}"/>
              </a:ext>
            </a:extLst>
          </p:cNvPr>
          <p:cNvSpPr>
            <a:spLocks noGrp="1"/>
          </p:cNvSpPr>
          <p:nvPr>
            <p:ph sz="quarter" idx="12"/>
          </p:nvPr>
        </p:nvSpPr>
        <p:spPr>
          <a:xfrm>
            <a:off x="584201" y="1565403"/>
            <a:ext cx="8757884" cy="4308872"/>
          </a:xfrm>
        </p:spPr>
        <p:txBody>
          <a:bodyPr vert="horz" wrap="square" lIns="0" tIns="0" rIns="0" bIns="0" rtlCol="0" anchor="t">
            <a:spAutoFit/>
          </a:bodyPr>
          <a:lstStyle/>
          <a:p>
            <a:r>
              <a:rPr lang="en-US">
                <a:cs typeface="Segoe UI"/>
              </a:rPr>
              <a:t>Traffic splitting / Weighted round‑robin</a:t>
            </a:r>
            <a:endParaRPr lang="en-US" dirty="0">
              <a:cs typeface="Segoe UI"/>
            </a:endParaRPr>
          </a:p>
          <a:p>
            <a:pPr>
              <a:spcBef>
                <a:spcPts val="20"/>
              </a:spcBef>
            </a:pPr>
            <a:r>
              <a:rPr lang="en-US">
                <a:cs typeface="Segoe Sans Text"/>
              </a:rPr>
              <a:t>Mutual authentication to backend targets</a:t>
            </a:r>
            <a:endParaRPr lang="en-US"/>
          </a:p>
          <a:p>
            <a:pPr>
              <a:spcBef>
                <a:spcPts val="20"/>
              </a:spcBef>
            </a:pPr>
            <a:r>
              <a:rPr lang="en-US">
                <a:cs typeface="Segoe Sans Text"/>
              </a:rPr>
              <a:t>Supports Kubernetes Ingress &amp; Gateway API</a:t>
            </a:r>
            <a:endParaRPr lang="en-US"/>
          </a:p>
          <a:p>
            <a:pPr>
              <a:spcBef>
                <a:spcPts val="20"/>
              </a:spcBef>
            </a:pPr>
            <a:r>
              <a:rPr lang="en-US">
                <a:cs typeface="Segoe Sans Text"/>
              </a:rPr>
              <a:t>Flexible deployment models (BYO or ALB‑managed)</a:t>
            </a:r>
            <a:endParaRPr lang="en-US"/>
          </a:p>
          <a:p>
            <a:pPr>
              <a:spcBef>
                <a:spcPts val="20"/>
              </a:spcBef>
            </a:pPr>
            <a:r>
              <a:rPr lang="en-US">
                <a:cs typeface="Segoe Sans Text"/>
              </a:rPr>
              <a:t>Near real‑time updates for pods, routes, probes</a:t>
            </a:r>
            <a:endParaRPr lang="en-US"/>
          </a:p>
          <a:p>
            <a:pPr>
              <a:spcBef>
                <a:spcPts val="20"/>
              </a:spcBef>
            </a:pPr>
            <a:r>
              <a:rPr lang="en-US">
                <a:cs typeface="Segoe Sans Text"/>
              </a:rPr>
              <a:t>Elastic, scalable ingress with new data &amp; control plane, using new ARM APIs</a:t>
            </a:r>
            <a:endParaRPr lang="en-US"/>
          </a:p>
          <a:p>
            <a:pPr>
              <a:spcBef>
                <a:spcPts val="20"/>
              </a:spcBef>
            </a:pPr>
            <a:r>
              <a:rPr lang="en-US">
                <a:cs typeface="Segoe Sans Text"/>
              </a:rPr>
              <a:t>Outside AKS data plane, ingress managed by ALB controller inside cluster</a:t>
            </a:r>
            <a:endParaRPr lang="en-US"/>
          </a:p>
          <a:p>
            <a:pPr>
              <a:spcBef>
                <a:spcPts val="20"/>
              </a:spcBef>
            </a:pPr>
            <a:endParaRPr lang="en-US" dirty="0"/>
          </a:p>
        </p:txBody>
      </p:sp>
    </p:spTree>
    <p:extLst>
      <p:ext uri="{BB962C8B-B14F-4D97-AF65-F5344CB8AC3E}">
        <p14:creationId xmlns:p14="http://schemas.microsoft.com/office/powerpoint/2010/main" val="43997400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5CD97-FDCA-DF6F-7034-83FCB53BC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E205B-54B5-9C99-B3A9-3EDCF56DFE63}"/>
              </a:ext>
            </a:extLst>
          </p:cNvPr>
          <p:cNvSpPr>
            <a:spLocks noGrp="1"/>
          </p:cNvSpPr>
          <p:nvPr>
            <p:ph type="title"/>
          </p:nvPr>
        </p:nvSpPr>
        <p:spPr>
          <a:xfrm>
            <a:off x="588263" y="457200"/>
            <a:ext cx="8169043" cy="1107996"/>
          </a:xfrm>
        </p:spPr>
        <p:txBody>
          <a:bodyPr wrap="square" anchor="t">
            <a:normAutofit/>
          </a:bodyPr>
          <a:lstStyle/>
          <a:p>
            <a:r>
              <a:rPr lang="en-GB">
                <a:cs typeface="Segoe UI"/>
              </a:rPr>
              <a:t>Deployment Strategies</a:t>
            </a:r>
            <a:endParaRPr lang="en-US"/>
          </a:p>
        </p:txBody>
      </p:sp>
      <p:sp>
        <p:nvSpPr>
          <p:cNvPr id="1031" name="Content Placeholder 2">
            <a:extLst>
              <a:ext uri="{FF2B5EF4-FFF2-40B4-BE49-F238E27FC236}">
                <a16:creationId xmlns:a16="http://schemas.microsoft.com/office/drawing/2014/main" id="{6C4BCCEE-296A-8B96-A230-1DFB69FFF510}"/>
              </a:ext>
            </a:extLst>
          </p:cNvPr>
          <p:cNvSpPr>
            <a:spLocks noGrp="1"/>
          </p:cNvSpPr>
          <p:nvPr>
            <p:ph sz="quarter" idx="12"/>
          </p:nvPr>
        </p:nvSpPr>
        <p:spPr>
          <a:xfrm>
            <a:off x="584201" y="1565403"/>
            <a:ext cx="11247522" cy="3877985"/>
          </a:xfrm>
        </p:spPr>
        <p:txBody>
          <a:bodyPr vert="horz" wrap="square" lIns="0" tIns="0" rIns="0" bIns="0" rtlCol="0" anchor="t">
            <a:spAutoFit/>
          </a:bodyPr>
          <a:lstStyle/>
          <a:p>
            <a:r>
              <a:rPr lang="en-US" b="1">
                <a:cs typeface="Segoe UI"/>
              </a:rPr>
              <a:t>Bring‑Your‑Own (BYO): </a:t>
            </a:r>
            <a:r>
              <a:rPr lang="en-US">
                <a:cs typeface="Segoe UI"/>
              </a:rPr>
              <a:t>You manage lifecycle of AGFC + sub‑resources via Azure Portal/CLI/ARM/Terraform.</a:t>
            </a:r>
            <a:endParaRPr lang="en-US" dirty="0">
              <a:cs typeface="Segoe UI"/>
            </a:endParaRPr>
          </a:p>
          <a:p>
            <a:pPr>
              <a:spcBef>
                <a:spcPts val="20"/>
              </a:spcBef>
            </a:pPr>
            <a:r>
              <a:rPr lang="en-US" b="1">
                <a:cs typeface="Segoe Sans Text"/>
              </a:rPr>
              <a:t>Gateway API (BYO model):</a:t>
            </a:r>
            <a:r>
              <a:rPr lang="en-US">
                <a:cs typeface="Segoe Sans Text"/>
              </a:rPr>
              <a:t> Frontend must be provisioned in Azure first; deletion is manual.</a:t>
            </a:r>
            <a:endParaRPr lang="en-US"/>
          </a:p>
          <a:p>
            <a:pPr>
              <a:spcBef>
                <a:spcPts val="20"/>
              </a:spcBef>
            </a:pPr>
            <a:r>
              <a:rPr lang="en-US" b="1">
                <a:cs typeface="Segoe Sans Text"/>
              </a:rPr>
              <a:t>Managed by ALB Controller:</a:t>
            </a:r>
            <a:r>
              <a:rPr lang="en-US">
                <a:cs typeface="Segoe Sans Text"/>
              </a:rPr>
              <a:t> ALB manages lifecycle of AGFC + sub‑resources based on Kubernetes custom resources.</a:t>
            </a:r>
            <a:endParaRPr lang="en-US"/>
          </a:p>
          <a:p>
            <a:pPr>
              <a:spcBef>
                <a:spcPts val="20"/>
              </a:spcBef>
            </a:pPr>
            <a:r>
              <a:rPr lang="en-US" b="1">
                <a:cs typeface="Segoe Sans Text"/>
              </a:rPr>
              <a:t>Gateway API (ALB‑managed): </a:t>
            </a:r>
            <a:r>
              <a:rPr lang="en-US">
                <a:cs typeface="Segoe Sans Text"/>
              </a:rPr>
              <a:t>ALB provisions &amp; manages Frontend resources automatically.</a:t>
            </a:r>
            <a:endParaRPr lang="en-US"/>
          </a:p>
          <a:p>
            <a:pPr>
              <a:spcBef>
                <a:spcPts val="20"/>
              </a:spcBef>
            </a:pPr>
            <a:endParaRPr lang="en-US" dirty="0"/>
          </a:p>
        </p:txBody>
      </p:sp>
    </p:spTree>
    <p:extLst>
      <p:ext uri="{BB962C8B-B14F-4D97-AF65-F5344CB8AC3E}">
        <p14:creationId xmlns:p14="http://schemas.microsoft.com/office/powerpoint/2010/main" val="186394899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2AEB9-23A0-D6D0-2969-993A8A13C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534FA-D0F1-609B-9058-40A8361438B9}"/>
              </a:ext>
            </a:extLst>
          </p:cNvPr>
          <p:cNvSpPr>
            <a:spLocks noGrp="1"/>
          </p:cNvSpPr>
          <p:nvPr>
            <p:ph type="title"/>
          </p:nvPr>
        </p:nvSpPr>
        <p:spPr>
          <a:xfrm>
            <a:off x="588263" y="457200"/>
            <a:ext cx="8169043" cy="1107996"/>
          </a:xfrm>
        </p:spPr>
        <p:txBody>
          <a:bodyPr wrap="square" anchor="t">
            <a:normAutofit/>
          </a:bodyPr>
          <a:lstStyle/>
          <a:p>
            <a:r>
              <a:rPr lang="en-GB">
                <a:cs typeface="Segoe UI"/>
              </a:rPr>
              <a:t>Multi-Site Hosting</a:t>
            </a:r>
            <a:endParaRPr lang="en-US"/>
          </a:p>
        </p:txBody>
      </p:sp>
      <p:sp>
        <p:nvSpPr>
          <p:cNvPr id="1031" name="Content Placeholder 2">
            <a:extLst>
              <a:ext uri="{FF2B5EF4-FFF2-40B4-BE49-F238E27FC236}">
                <a16:creationId xmlns:a16="http://schemas.microsoft.com/office/drawing/2014/main" id="{6DCAB2E9-4990-D548-EB4E-91359DFF3575}"/>
              </a:ext>
            </a:extLst>
          </p:cNvPr>
          <p:cNvSpPr>
            <a:spLocks noGrp="1"/>
          </p:cNvSpPr>
          <p:nvPr>
            <p:ph sz="quarter" idx="12"/>
          </p:nvPr>
        </p:nvSpPr>
        <p:spPr>
          <a:xfrm>
            <a:off x="584201" y="1565403"/>
            <a:ext cx="11247522" cy="430887"/>
          </a:xfrm>
        </p:spPr>
        <p:txBody>
          <a:bodyPr vert="horz" wrap="square" lIns="0" tIns="0" rIns="0" bIns="0" rtlCol="0" anchor="t">
            <a:spAutoFit/>
          </a:bodyPr>
          <a:lstStyle/>
          <a:p>
            <a:r>
              <a:rPr lang="en-US">
                <a:cs typeface="Segoe UI"/>
              </a:rPr>
              <a:t>Support 200 unique hostnames on a single AGC resource</a:t>
            </a:r>
            <a:endParaRPr lang="en-US"/>
          </a:p>
        </p:txBody>
      </p:sp>
      <p:pic>
        <p:nvPicPr>
          <p:cNvPr id="3" name="Picture 2" descr="A figure showing multisite hosting with Application Gateway for Containers.">
            <a:extLst>
              <a:ext uri="{FF2B5EF4-FFF2-40B4-BE49-F238E27FC236}">
                <a16:creationId xmlns:a16="http://schemas.microsoft.com/office/drawing/2014/main" id="{F3ECFFCB-89CF-29F2-A078-9007237D3FE0}"/>
              </a:ext>
            </a:extLst>
          </p:cNvPr>
          <p:cNvPicPr>
            <a:picLocks noChangeAspect="1"/>
          </p:cNvPicPr>
          <p:nvPr/>
        </p:nvPicPr>
        <p:blipFill>
          <a:blip r:embed="rId3"/>
          <a:stretch>
            <a:fillRect/>
          </a:stretch>
        </p:blipFill>
        <p:spPr>
          <a:xfrm>
            <a:off x="1045780" y="2215957"/>
            <a:ext cx="10317214" cy="3739878"/>
          </a:xfrm>
          <a:prstGeom prst="rect">
            <a:avLst/>
          </a:prstGeom>
        </p:spPr>
      </p:pic>
    </p:spTree>
    <p:extLst>
      <p:ext uri="{BB962C8B-B14F-4D97-AF65-F5344CB8AC3E}">
        <p14:creationId xmlns:p14="http://schemas.microsoft.com/office/powerpoint/2010/main" val="24748811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2E862-A4E7-01BA-F935-B45AF1925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A656B-30AC-0AC1-A4FE-1F86D162166B}"/>
              </a:ext>
            </a:extLst>
          </p:cNvPr>
          <p:cNvSpPr>
            <a:spLocks noGrp="1"/>
          </p:cNvSpPr>
          <p:nvPr>
            <p:ph type="title"/>
          </p:nvPr>
        </p:nvSpPr>
        <p:spPr>
          <a:xfrm>
            <a:off x="588263" y="457200"/>
            <a:ext cx="8169043" cy="1107996"/>
          </a:xfrm>
        </p:spPr>
        <p:txBody>
          <a:bodyPr wrap="square" anchor="t">
            <a:normAutofit/>
          </a:bodyPr>
          <a:lstStyle/>
          <a:p>
            <a:r>
              <a:rPr lang="en-GB">
                <a:cs typeface="Segoe UI"/>
              </a:rPr>
              <a:t>Traffic Spitting / Weighted Round Robin</a:t>
            </a:r>
            <a:endParaRPr lang="en-US"/>
          </a:p>
        </p:txBody>
      </p:sp>
      <p:sp>
        <p:nvSpPr>
          <p:cNvPr id="1031" name="Content Placeholder 2">
            <a:extLst>
              <a:ext uri="{FF2B5EF4-FFF2-40B4-BE49-F238E27FC236}">
                <a16:creationId xmlns:a16="http://schemas.microsoft.com/office/drawing/2014/main" id="{593EFE30-0E18-0F6D-1D41-29F9F57E90D2}"/>
              </a:ext>
            </a:extLst>
          </p:cNvPr>
          <p:cNvSpPr>
            <a:spLocks noGrp="1"/>
          </p:cNvSpPr>
          <p:nvPr>
            <p:ph sz="quarter" idx="12"/>
          </p:nvPr>
        </p:nvSpPr>
        <p:spPr>
          <a:xfrm>
            <a:off x="584201" y="1565403"/>
            <a:ext cx="11247522" cy="947952"/>
          </a:xfrm>
        </p:spPr>
        <p:txBody>
          <a:bodyPr vert="horz" wrap="square" lIns="0" tIns="0" rIns="0" bIns="0" rtlCol="0" anchor="t">
            <a:spAutoFit/>
          </a:bodyPr>
          <a:lstStyle/>
          <a:p>
            <a:r>
              <a:rPr lang="en-US">
                <a:cs typeface="Segoe UI"/>
              </a:rPr>
              <a:t>Weights can be added per service</a:t>
            </a:r>
            <a:endParaRPr lang="en-US" dirty="0"/>
          </a:p>
          <a:p>
            <a:r>
              <a:rPr lang="en-US">
                <a:cs typeface="Segoe UI"/>
              </a:rPr>
              <a:t>Excellent for blue/green deployments </a:t>
            </a:r>
            <a:endParaRPr lang="en-US" dirty="0"/>
          </a:p>
        </p:txBody>
      </p:sp>
      <p:pic>
        <p:nvPicPr>
          <p:cNvPr id="4" name="Picture 3" descr="A figure showing traffic splitting with Application Gateway for Containers.">
            <a:extLst>
              <a:ext uri="{FF2B5EF4-FFF2-40B4-BE49-F238E27FC236}">
                <a16:creationId xmlns:a16="http://schemas.microsoft.com/office/drawing/2014/main" id="{E2AD2303-86F3-6211-2614-42F3B96AE26A}"/>
              </a:ext>
            </a:extLst>
          </p:cNvPr>
          <p:cNvPicPr>
            <a:picLocks noChangeAspect="1"/>
          </p:cNvPicPr>
          <p:nvPr/>
        </p:nvPicPr>
        <p:blipFill>
          <a:blip r:embed="rId3"/>
          <a:stretch>
            <a:fillRect/>
          </a:stretch>
        </p:blipFill>
        <p:spPr>
          <a:xfrm>
            <a:off x="1564729" y="2751454"/>
            <a:ext cx="9528939" cy="3286367"/>
          </a:xfrm>
          <a:prstGeom prst="rect">
            <a:avLst/>
          </a:prstGeom>
        </p:spPr>
      </p:pic>
    </p:spTree>
    <p:extLst>
      <p:ext uri="{BB962C8B-B14F-4D97-AF65-F5344CB8AC3E}">
        <p14:creationId xmlns:p14="http://schemas.microsoft.com/office/powerpoint/2010/main" val="23014674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760D5-CF9E-624A-B8C9-42F4B4731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50B5A-CD84-B705-025A-9E636EAEFDE7}"/>
              </a:ext>
            </a:extLst>
          </p:cNvPr>
          <p:cNvSpPr>
            <a:spLocks noGrp="1"/>
          </p:cNvSpPr>
          <p:nvPr>
            <p:ph type="title"/>
          </p:nvPr>
        </p:nvSpPr>
        <p:spPr>
          <a:xfrm>
            <a:off x="588263" y="457200"/>
            <a:ext cx="8169043" cy="1107996"/>
          </a:xfrm>
        </p:spPr>
        <p:txBody>
          <a:bodyPr wrap="square" anchor="t">
            <a:normAutofit/>
          </a:bodyPr>
          <a:lstStyle/>
          <a:p>
            <a:r>
              <a:rPr lang="en-GB" dirty="0">
                <a:cs typeface="Segoe UI"/>
              </a:rPr>
              <a:t>Path, </a:t>
            </a:r>
            <a:r>
              <a:rPr lang="en-GB">
                <a:cs typeface="Segoe UI"/>
              </a:rPr>
              <a:t>Header,</a:t>
            </a:r>
            <a:r>
              <a:rPr lang="en-GB" dirty="0">
                <a:cs typeface="Segoe UI"/>
              </a:rPr>
              <a:t> and Query String Routing</a:t>
            </a:r>
            <a:endParaRPr lang="en-US" dirty="0"/>
          </a:p>
        </p:txBody>
      </p:sp>
      <p:sp>
        <p:nvSpPr>
          <p:cNvPr id="1031" name="Content Placeholder 2">
            <a:extLst>
              <a:ext uri="{FF2B5EF4-FFF2-40B4-BE49-F238E27FC236}">
                <a16:creationId xmlns:a16="http://schemas.microsoft.com/office/drawing/2014/main" id="{BC4B7DCF-B979-1D35-2660-32146EAAE805}"/>
              </a:ext>
            </a:extLst>
          </p:cNvPr>
          <p:cNvSpPr>
            <a:spLocks noGrp="1"/>
          </p:cNvSpPr>
          <p:nvPr>
            <p:ph sz="quarter" idx="12"/>
          </p:nvPr>
        </p:nvSpPr>
        <p:spPr>
          <a:xfrm>
            <a:off x="584201" y="1565403"/>
            <a:ext cx="11247522" cy="430887"/>
          </a:xfrm>
        </p:spPr>
        <p:txBody>
          <a:bodyPr vert="horz" wrap="square" lIns="0" tIns="0" rIns="0" bIns="0" rtlCol="0" anchor="t">
            <a:spAutoFit/>
          </a:bodyPr>
          <a:lstStyle/>
          <a:p>
            <a:r>
              <a:rPr lang="en-US" dirty="0">
                <a:cs typeface="Segoe UI"/>
              </a:rPr>
              <a:t>Route requests by path, query string and header value</a:t>
            </a:r>
            <a:endParaRPr lang="en-US" dirty="0"/>
          </a:p>
        </p:txBody>
      </p:sp>
      <p:pic>
        <p:nvPicPr>
          <p:cNvPr id="3" name="Picture 2" descr="A figure showing path, header, and query string routing with Application Gateway for Containers.">
            <a:extLst>
              <a:ext uri="{FF2B5EF4-FFF2-40B4-BE49-F238E27FC236}">
                <a16:creationId xmlns:a16="http://schemas.microsoft.com/office/drawing/2014/main" id="{EA489629-94D2-DDD7-AC82-D9CB83C76DFF}"/>
              </a:ext>
            </a:extLst>
          </p:cNvPr>
          <p:cNvPicPr>
            <a:picLocks noChangeAspect="1"/>
          </p:cNvPicPr>
          <p:nvPr/>
        </p:nvPicPr>
        <p:blipFill>
          <a:blip r:embed="rId3"/>
          <a:stretch>
            <a:fillRect/>
          </a:stretch>
        </p:blipFill>
        <p:spPr>
          <a:xfrm>
            <a:off x="868418" y="2926020"/>
            <a:ext cx="10671939" cy="3259114"/>
          </a:xfrm>
          <a:prstGeom prst="rect">
            <a:avLst/>
          </a:prstGeom>
        </p:spPr>
      </p:pic>
    </p:spTree>
    <p:extLst>
      <p:ext uri="{BB962C8B-B14F-4D97-AF65-F5344CB8AC3E}">
        <p14:creationId xmlns:p14="http://schemas.microsoft.com/office/powerpoint/2010/main" val="114785605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E1964-B032-CAA3-BC5A-EE0B949F7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24BD7-9D92-7083-7033-84BCFB543CBB}"/>
              </a:ext>
            </a:extLst>
          </p:cNvPr>
          <p:cNvSpPr>
            <a:spLocks noGrp="1"/>
          </p:cNvSpPr>
          <p:nvPr>
            <p:ph type="title"/>
          </p:nvPr>
        </p:nvSpPr>
        <p:spPr>
          <a:xfrm>
            <a:off x="588263" y="457200"/>
            <a:ext cx="8169043" cy="1107996"/>
          </a:xfrm>
        </p:spPr>
        <p:txBody>
          <a:bodyPr wrap="square" anchor="t">
            <a:normAutofit/>
          </a:bodyPr>
          <a:lstStyle/>
          <a:p>
            <a:r>
              <a:rPr lang="en-GB">
                <a:cs typeface="Segoe UI"/>
              </a:rPr>
              <a:t>Session Affinity</a:t>
            </a:r>
            <a:endParaRPr lang="en-US"/>
          </a:p>
        </p:txBody>
      </p:sp>
      <p:sp>
        <p:nvSpPr>
          <p:cNvPr id="1031" name="Content Placeholder 2">
            <a:extLst>
              <a:ext uri="{FF2B5EF4-FFF2-40B4-BE49-F238E27FC236}">
                <a16:creationId xmlns:a16="http://schemas.microsoft.com/office/drawing/2014/main" id="{7A608EC0-8630-8F58-EE07-1A0D8E7D57BF}"/>
              </a:ext>
            </a:extLst>
          </p:cNvPr>
          <p:cNvSpPr>
            <a:spLocks noGrp="1"/>
          </p:cNvSpPr>
          <p:nvPr>
            <p:ph sz="quarter" idx="12"/>
          </p:nvPr>
        </p:nvSpPr>
        <p:spPr>
          <a:xfrm>
            <a:off x="584201" y="1315194"/>
            <a:ext cx="3843613" cy="5047536"/>
          </a:xfrm>
        </p:spPr>
        <p:txBody>
          <a:bodyPr vert="horz" wrap="square" lIns="0" tIns="0" rIns="0" bIns="0" rtlCol="0" anchor="t">
            <a:spAutoFit/>
          </a:bodyPr>
          <a:lstStyle/>
          <a:p>
            <a:pPr marL="514350" indent="-514350">
              <a:buAutoNum type="arabicPeriod"/>
            </a:pPr>
            <a:r>
              <a:rPr lang="en-US" sz="2000">
                <a:cs typeface="Segoe UI"/>
              </a:rPr>
              <a:t>Client makes a request </a:t>
            </a:r>
            <a:endParaRPr lang="en-US" sz="2000"/>
          </a:p>
          <a:p>
            <a:pPr marL="514350" indent="-514350">
              <a:buAutoNum type="arabicPeriod"/>
            </a:pPr>
            <a:r>
              <a:rPr lang="en-US" sz="2000" dirty="0">
                <a:cs typeface="Segoe UI"/>
              </a:rPr>
              <a:t>AGC </a:t>
            </a:r>
            <a:r>
              <a:rPr lang="en-US" sz="2000">
                <a:cs typeface="Segoe UI"/>
              </a:rPr>
              <a:t>initiates</a:t>
            </a:r>
            <a:r>
              <a:rPr lang="en-US" sz="2000" dirty="0">
                <a:cs typeface="Segoe UI"/>
              </a:rPr>
              <a:t> request to random pod available</a:t>
            </a:r>
          </a:p>
          <a:p>
            <a:pPr marL="514350" indent="-514350">
              <a:buAutoNum type="arabicPeriod"/>
            </a:pPr>
            <a:r>
              <a:rPr lang="en-US" sz="2000">
                <a:cs typeface="Segoe UI"/>
              </a:rPr>
              <a:t>Pod selected returns response</a:t>
            </a:r>
          </a:p>
          <a:p>
            <a:pPr marL="514350" indent="-514350">
              <a:buAutoNum type="arabicPeriod"/>
            </a:pPr>
            <a:r>
              <a:rPr lang="en-US" sz="2000" dirty="0">
                <a:cs typeface="Segoe UI"/>
              </a:rPr>
              <a:t>AGC returns response back to client with </a:t>
            </a:r>
            <a:r>
              <a:rPr lang="en-US" sz="2000">
                <a:cs typeface="Segoe UI"/>
              </a:rPr>
              <a:t>cookie</a:t>
            </a:r>
            <a:r>
              <a:rPr lang="en-US" sz="2000" dirty="0">
                <a:cs typeface="Segoe UI"/>
              </a:rPr>
              <a:t> </a:t>
            </a:r>
          </a:p>
          <a:p>
            <a:pPr marL="514350" indent="-514350">
              <a:buAutoNum type="arabicPeriod"/>
            </a:pPr>
            <a:r>
              <a:rPr lang="en-US" sz="2000">
                <a:cs typeface="Segoe UI"/>
              </a:rPr>
              <a:t>Client makes request to AGC with cookie</a:t>
            </a:r>
          </a:p>
          <a:p>
            <a:pPr marL="514350" indent="-514350">
              <a:buAutoNum type="arabicPeriod"/>
            </a:pPr>
            <a:r>
              <a:rPr lang="en-US" sz="2000">
                <a:cs typeface="Segoe UI"/>
              </a:rPr>
              <a:t>AGC sees cookie and initiates request to same pod that processed original request</a:t>
            </a:r>
          </a:p>
          <a:p>
            <a:pPr marL="514350" indent="-514350">
              <a:buAutoNum type="arabicPeriod"/>
            </a:pPr>
            <a:r>
              <a:rPr lang="en-US" sz="2000">
                <a:cs typeface="Segoe UI"/>
              </a:rPr>
              <a:t>Pod returns response to AGC</a:t>
            </a:r>
          </a:p>
          <a:p>
            <a:pPr marL="514350" indent="-514350">
              <a:buAutoNum type="arabicPeriod"/>
            </a:pPr>
            <a:r>
              <a:rPr lang="en-US" sz="2000">
                <a:cs typeface="Segoe UI"/>
              </a:rPr>
              <a:t>AGC returns response back to client</a:t>
            </a:r>
            <a:endParaRPr lang="en-US" sz="2000" dirty="0">
              <a:cs typeface="Segoe UI"/>
            </a:endParaRPr>
          </a:p>
        </p:txBody>
      </p:sp>
      <p:pic>
        <p:nvPicPr>
          <p:cNvPr id="4" name="Picture 3" descr="A diagram depicting Application Gateway for Containers session affinity.">
            <a:extLst>
              <a:ext uri="{FF2B5EF4-FFF2-40B4-BE49-F238E27FC236}">
                <a16:creationId xmlns:a16="http://schemas.microsoft.com/office/drawing/2014/main" id="{A0BAEC9D-8AE7-6F8A-4596-6388C0A47F60}"/>
              </a:ext>
            </a:extLst>
          </p:cNvPr>
          <p:cNvPicPr>
            <a:picLocks noChangeAspect="1"/>
          </p:cNvPicPr>
          <p:nvPr/>
        </p:nvPicPr>
        <p:blipFill>
          <a:blip r:embed="rId3"/>
          <a:stretch>
            <a:fillRect/>
          </a:stretch>
        </p:blipFill>
        <p:spPr>
          <a:xfrm>
            <a:off x="4667535" y="1641442"/>
            <a:ext cx="7508541" cy="3563741"/>
          </a:xfrm>
          <a:prstGeom prst="rect">
            <a:avLst/>
          </a:prstGeom>
        </p:spPr>
      </p:pic>
    </p:spTree>
    <p:extLst>
      <p:ext uri="{BB962C8B-B14F-4D97-AF65-F5344CB8AC3E}">
        <p14:creationId xmlns:p14="http://schemas.microsoft.com/office/powerpoint/2010/main" val="211012329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2AD4-AC87-D681-BECC-5C0D12DD5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B4786-45CA-D2DB-B3C7-F96A0CBC8043}"/>
              </a:ext>
            </a:extLst>
          </p:cNvPr>
          <p:cNvSpPr>
            <a:spLocks noGrp="1"/>
          </p:cNvSpPr>
          <p:nvPr>
            <p:ph type="title"/>
          </p:nvPr>
        </p:nvSpPr>
        <p:spPr>
          <a:xfrm>
            <a:off x="588263" y="457200"/>
            <a:ext cx="8169043" cy="1107996"/>
          </a:xfrm>
        </p:spPr>
        <p:txBody>
          <a:bodyPr wrap="square" anchor="t">
            <a:normAutofit/>
          </a:bodyPr>
          <a:lstStyle/>
          <a:p>
            <a:r>
              <a:rPr lang="en-GB">
                <a:cs typeface="Segoe UI"/>
              </a:rPr>
              <a:t>Backend Mutual Authentication</a:t>
            </a:r>
            <a:endParaRPr lang="en-US"/>
          </a:p>
        </p:txBody>
      </p:sp>
      <p:sp>
        <p:nvSpPr>
          <p:cNvPr id="1031" name="Content Placeholder 2">
            <a:extLst>
              <a:ext uri="{FF2B5EF4-FFF2-40B4-BE49-F238E27FC236}">
                <a16:creationId xmlns:a16="http://schemas.microsoft.com/office/drawing/2014/main" id="{59BEE7C6-7A40-896D-67CC-D20444A72479}"/>
              </a:ext>
            </a:extLst>
          </p:cNvPr>
          <p:cNvSpPr>
            <a:spLocks noGrp="1"/>
          </p:cNvSpPr>
          <p:nvPr>
            <p:ph sz="quarter" idx="12"/>
          </p:nvPr>
        </p:nvSpPr>
        <p:spPr>
          <a:xfrm>
            <a:off x="584201" y="1315194"/>
            <a:ext cx="9905493" cy="430887"/>
          </a:xfrm>
        </p:spPr>
        <p:txBody>
          <a:bodyPr vert="horz" wrap="square" lIns="0" tIns="0" rIns="0" bIns="0" rtlCol="0" anchor="t">
            <a:spAutoFit/>
          </a:bodyPr>
          <a:lstStyle/>
          <a:p>
            <a:pPr marL="0" indent="0">
              <a:buNone/>
            </a:pPr>
            <a:r>
              <a:rPr lang="en-US">
                <a:cs typeface="Segoe UI"/>
              </a:rPr>
              <a:t>Authenticate to backend targets via client certificate</a:t>
            </a:r>
          </a:p>
        </p:txBody>
      </p:sp>
      <p:pic>
        <p:nvPicPr>
          <p:cNvPr id="3" name="Picture 2" descr="A diagram showing the Application Gateway for Containers backend MTLS process.">
            <a:extLst>
              <a:ext uri="{FF2B5EF4-FFF2-40B4-BE49-F238E27FC236}">
                <a16:creationId xmlns:a16="http://schemas.microsoft.com/office/drawing/2014/main" id="{FC4B5878-36B7-3AB1-F92F-5579FD8F624C}"/>
              </a:ext>
            </a:extLst>
          </p:cNvPr>
          <p:cNvPicPr>
            <a:picLocks noChangeAspect="1"/>
          </p:cNvPicPr>
          <p:nvPr/>
        </p:nvPicPr>
        <p:blipFill>
          <a:blip r:embed="rId3"/>
          <a:stretch>
            <a:fillRect/>
          </a:stretch>
        </p:blipFill>
        <p:spPr>
          <a:xfrm>
            <a:off x="1619534" y="1883531"/>
            <a:ext cx="9260004" cy="4478460"/>
          </a:xfrm>
          <a:prstGeom prst="rect">
            <a:avLst/>
          </a:prstGeom>
        </p:spPr>
      </p:pic>
    </p:spTree>
    <p:extLst>
      <p:ext uri="{BB962C8B-B14F-4D97-AF65-F5344CB8AC3E}">
        <p14:creationId xmlns:p14="http://schemas.microsoft.com/office/powerpoint/2010/main" val="129663920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E8C9-97A0-4FD5-162A-25DA9CEDA6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44F4AE-B9C9-9015-492C-68B9B2B44C3F}"/>
              </a:ext>
            </a:extLst>
          </p:cNvPr>
          <p:cNvSpPr>
            <a:spLocks noGrp="1"/>
          </p:cNvSpPr>
          <p:nvPr>
            <p:ph type="title"/>
          </p:nvPr>
        </p:nvSpPr>
        <p:spPr>
          <a:xfrm>
            <a:off x="585216" y="2918853"/>
            <a:ext cx="9144000" cy="615553"/>
          </a:xfrm>
        </p:spPr>
        <p:txBody>
          <a:bodyPr/>
          <a:lstStyle/>
          <a:p>
            <a:r>
              <a:rPr lang="en-US" dirty="0"/>
              <a:t>References</a:t>
            </a:r>
            <a:endParaRPr lang="LID4096" dirty="0"/>
          </a:p>
        </p:txBody>
      </p:sp>
    </p:spTree>
    <p:extLst>
      <p:ext uri="{BB962C8B-B14F-4D97-AF65-F5344CB8AC3E}">
        <p14:creationId xmlns:p14="http://schemas.microsoft.com/office/powerpoint/2010/main" val="179578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E35D0-9510-73B8-5671-8B09815E1B53}"/>
              </a:ext>
            </a:extLst>
          </p:cNvPr>
          <p:cNvSpPr>
            <a:spLocks noGrp="1"/>
          </p:cNvSpPr>
          <p:nvPr>
            <p:ph type="title"/>
          </p:nvPr>
        </p:nvSpPr>
        <p:spPr/>
        <p:txBody>
          <a:bodyPr/>
          <a:lstStyle/>
          <a:p>
            <a:r>
              <a:rPr lang="en-US" dirty="0"/>
              <a:t>Documentation</a:t>
            </a:r>
            <a:endParaRPr lang="LID4096" dirty="0"/>
          </a:p>
        </p:txBody>
      </p:sp>
      <p:sp>
        <p:nvSpPr>
          <p:cNvPr id="3" name="Content Placeholder 2">
            <a:extLst>
              <a:ext uri="{FF2B5EF4-FFF2-40B4-BE49-F238E27FC236}">
                <a16:creationId xmlns:a16="http://schemas.microsoft.com/office/drawing/2014/main" id="{F5E569F0-E686-6504-4074-A2ABC36D3758}"/>
              </a:ext>
            </a:extLst>
          </p:cNvPr>
          <p:cNvSpPr>
            <a:spLocks noGrp="1"/>
          </p:cNvSpPr>
          <p:nvPr>
            <p:ph sz="quarter" idx="10"/>
          </p:nvPr>
        </p:nvSpPr>
        <p:spPr>
          <a:xfrm>
            <a:off x="584200" y="1435100"/>
            <a:ext cx="11018838" cy="3447098"/>
          </a:xfrm>
        </p:spPr>
        <p:txBody>
          <a:bodyPr vert="horz" wrap="square" lIns="0" tIns="0" rIns="0" bIns="0" rtlCol="0" anchor="t">
            <a:spAutoFit/>
          </a:bodyPr>
          <a:lstStyle/>
          <a:p>
            <a:pPr lvl="0"/>
            <a:r>
              <a:rPr lang="en-GB" dirty="0">
                <a:hlinkClick r:id="rId2"/>
              </a:rPr>
              <a:t>What is Application Gateway for Containers? | Microsoft Learn</a:t>
            </a:r>
            <a:endParaRPr lang="en-GB" dirty="0"/>
          </a:p>
          <a:p>
            <a:r>
              <a:rPr lang="en-GB" dirty="0">
                <a:ea typeface="+mn-lt"/>
                <a:cs typeface="+mn-lt"/>
                <a:hlinkClick r:id="rId3"/>
              </a:rPr>
              <a:t>What is Azure Application Gateway | Microsoft Learn</a:t>
            </a:r>
          </a:p>
          <a:p>
            <a:r>
              <a:rPr lang="en-GB" dirty="0">
                <a:ea typeface="+mn-lt"/>
                <a:cs typeface="+mn-lt"/>
                <a:hlinkClick r:id="rId4"/>
              </a:rPr>
              <a:t>Azure Application Gateway features | Microsoft Learn</a:t>
            </a:r>
          </a:p>
          <a:p>
            <a:r>
              <a:rPr lang="en-GB" dirty="0">
                <a:ea typeface="+mn-lt"/>
                <a:cs typeface="+mn-lt"/>
                <a:hlinkClick r:id="rId5"/>
              </a:rPr>
              <a:t>How an application gateway works | Microsoft Learn</a:t>
            </a:r>
            <a:endParaRPr lang="en-GB" dirty="0">
              <a:ea typeface="+mn-lt"/>
              <a:cs typeface="+mn-lt"/>
            </a:endParaRPr>
          </a:p>
          <a:p>
            <a:r>
              <a:rPr lang="en-GB" dirty="0">
                <a:ea typeface="+mn-lt"/>
                <a:cs typeface="+mn-lt"/>
                <a:hlinkClick r:id="rId6"/>
              </a:rPr>
              <a:t>Secure Your Azure Application Gateway | Microsoft Learn</a:t>
            </a:r>
          </a:p>
          <a:p>
            <a:r>
              <a:rPr lang="en-GB" dirty="0" err="1">
                <a:ea typeface="+mn-lt"/>
                <a:cs typeface="+mn-lt"/>
                <a:hlinkClick r:id="rId7"/>
              </a:rPr>
              <a:t>Quickstart</a:t>
            </a:r>
            <a:r>
              <a:rPr lang="en-GB" dirty="0">
                <a:ea typeface="+mn-lt"/>
                <a:cs typeface="+mn-lt"/>
                <a:hlinkClick r:id="rId7"/>
              </a:rPr>
              <a:t>: Deploy Application Gateway for Containers ALB Controller | Microsoft Learn</a:t>
            </a:r>
            <a:endParaRPr lang="en-GB" dirty="0">
              <a:ea typeface="+mn-lt"/>
              <a:cs typeface="+mn-lt"/>
            </a:endParaRPr>
          </a:p>
        </p:txBody>
      </p:sp>
    </p:spTree>
    <p:extLst>
      <p:ext uri="{BB962C8B-B14F-4D97-AF65-F5344CB8AC3E}">
        <p14:creationId xmlns:p14="http://schemas.microsoft.com/office/powerpoint/2010/main" val="249144072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AB71-6C59-ED9E-E101-C5DF8B80B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04851-FA7C-9659-0842-120454B8B01F}"/>
              </a:ext>
            </a:extLst>
          </p:cNvPr>
          <p:cNvSpPr>
            <a:spLocks noGrp="1"/>
          </p:cNvSpPr>
          <p:nvPr>
            <p:ph type="title"/>
          </p:nvPr>
        </p:nvSpPr>
        <p:spPr>
          <a:xfrm>
            <a:off x="585216" y="2918853"/>
            <a:ext cx="10222428" cy="615553"/>
          </a:xfrm>
        </p:spPr>
        <p:txBody>
          <a:bodyPr/>
          <a:lstStyle/>
          <a:p>
            <a:r>
              <a:rPr lang="en-AU" dirty="0"/>
              <a:t>Useful links</a:t>
            </a:r>
          </a:p>
        </p:txBody>
      </p:sp>
    </p:spTree>
    <p:extLst>
      <p:ext uri="{BB962C8B-B14F-4D97-AF65-F5344CB8AC3E}">
        <p14:creationId xmlns:p14="http://schemas.microsoft.com/office/powerpoint/2010/main" val="68023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34A9A-01C3-DA0E-0446-E52F60BFB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BFF77-E997-1378-54E5-9B67618669D7}"/>
              </a:ext>
            </a:extLst>
          </p:cNvPr>
          <p:cNvSpPr>
            <a:spLocks noGrp="1"/>
          </p:cNvSpPr>
          <p:nvPr>
            <p:ph type="title"/>
          </p:nvPr>
        </p:nvSpPr>
        <p:spPr/>
        <p:txBody>
          <a:bodyPr/>
          <a:lstStyle/>
          <a:p>
            <a:r>
              <a:rPr lang="en-AU" dirty="0"/>
              <a:t>Useful Azure Kubernetes links</a:t>
            </a:r>
          </a:p>
        </p:txBody>
      </p:sp>
      <p:sp>
        <p:nvSpPr>
          <p:cNvPr id="3" name="Content Placeholder 2">
            <a:extLst>
              <a:ext uri="{FF2B5EF4-FFF2-40B4-BE49-F238E27FC236}">
                <a16:creationId xmlns:a16="http://schemas.microsoft.com/office/drawing/2014/main" id="{315FFD67-A134-1A33-B7C4-1F124C6C540C}"/>
              </a:ext>
            </a:extLst>
          </p:cNvPr>
          <p:cNvSpPr>
            <a:spLocks noGrp="1"/>
          </p:cNvSpPr>
          <p:nvPr>
            <p:ph sz="quarter" idx="10"/>
          </p:nvPr>
        </p:nvSpPr>
        <p:spPr>
          <a:xfrm>
            <a:off x="584200" y="1435100"/>
            <a:ext cx="11018838" cy="1465016"/>
          </a:xfrm>
        </p:spPr>
        <p:txBody>
          <a:bodyPr vert="horz" wrap="square" lIns="0" tIns="0" rIns="0" bIns="0" rtlCol="0" anchor="t">
            <a:spAutoFit/>
          </a:bodyPr>
          <a:lstStyle/>
          <a:p>
            <a:pPr marL="0" indent="0">
              <a:buNone/>
            </a:pPr>
            <a:r>
              <a:rPr lang="en-AU" dirty="0">
                <a:cs typeface="Segoe UI"/>
              </a:rPr>
              <a:t>Public Roadmap:</a:t>
            </a:r>
          </a:p>
          <a:p>
            <a:pPr marL="0" indent="0">
              <a:buNone/>
            </a:pPr>
            <a:endParaRPr lang="en-AU" dirty="0"/>
          </a:p>
          <a:p>
            <a:pPr marL="0" indent="0">
              <a:buNone/>
            </a:pPr>
            <a:r>
              <a:rPr lang="en-AU" dirty="0">
                <a:cs typeface="Segoe UI"/>
              </a:rPr>
              <a:t>Documentation:</a:t>
            </a:r>
          </a:p>
        </p:txBody>
      </p:sp>
    </p:spTree>
    <p:extLst>
      <p:ext uri="{BB962C8B-B14F-4D97-AF65-F5344CB8AC3E}">
        <p14:creationId xmlns:p14="http://schemas.microsoft.com/office/powerpoint/2010/main" val="190342144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B29FEA7-AE9D-BBB7-3508-EC54BB69AFCE}"/>
              </a:ext>
            </a:extLst>
          </p:cNvPr>
          <p:cNvSpPr>
            <a:spLocks noGrp="1"/>
          </p:cNvSpPr>
          <p:nvPr>
            <p:ph type="title"/>
          </p:nvPr>
        </p:nvSpPr>
        <p:spPr/>
        <p:txBody>
          <a:bodyPr/>
          <a:lstStyle/>
          <a:p>
            <a:r>
              <a:rPr lang="en-US"/>
              <a:t>Thank you</a:t>
            </a:r>
          </a:p>
        </p:txBody>
      </p:sp>
    </p:spTree>
    <p:extLst>
      <p:ext uri="{BB962C8B-B14F-4D97-AF65-F5344CB8AC3E}">
        <p14:creationId xmlns:p14="http://schemas.microsoft.com/office/powerpoint/2010/main" val="1051295312"/>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E9A7E5E-32B2-4F2D-8256-B964A49FBD87}"/>
</file>

<file path=customXml/itemProps2.xml><?xml version="1.0" encoding="utf-8"?>
<ds:datastoreItem xmlns:ds="http://schemas.openxmlformats.org/officeDocument/2006/customXml" ds:itemID="{9C54EC27-BCDA-4891-BFB8-F72EC454F69F}"/>
</file>

<file path=customXml/itemProps3.xml><?xml version="1.0" encoding="utf-8"?>
<ds:datastoreItem xmlns:ds="http://schemas.openxmlformats.org/officeDocument/2006/customXml" ds:itemID="{87E2EA2F-C1A0-4178-87F5-307940B0BBE3}"/>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6924</Words>
  <Application>Microsoft Office PowerPoint</Application>
  <PresentationFormat>Widescreen</PresentationFormat>
  <Paragraphs>656</Paragraphs>
  <Slides>34</Slides>
  <Notes>27</Notes>
  <HiddenSlides>1</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34</vt:i4>
      </vt:variant>
    </vt:vector>
  </HeadingPairs>
  <TitlesOfParts>
    <vt:vector size="47" baseType="lpstr">
      <vt:lpstr>Aptos</vt:lpstr>
      <vt:lpstr>Aptos Display</vt:lpstr>
      <vt:lpstr>Arial</vt:lpstr>
      <vt:lpstr>Consolas</vt:lpstr>
      <vt:lpstr>Courier New</vt:lpstr>
      <vt:lpstr>Segoe Sans Text</vt:lpstr>
      <vt:lpstr>Segoe Sans Text Semibold</vt:lpstr>
      <vt:lpstr>Segoe UI</vt:lpstr>
      <vt:lpstr>Segoe UI Semibold</vt:lpstr>
      <vt:lpstr>Segoe UI Variable Small Light</vt:lpstr>
      <vt:lpstr>Wingdings</vt:lpstr>
      <vt:lpstr>Office Theme</vt:lpstr>
      <vt:lpstr>Azure 2023 Template</vt:lpstr>
      <vt:lpstr>Application Gateway</vt:lpstr>
      <vt:lpstr>PowerPoint Presentation</vt:lpstr>
      <vt:lpstr>App Gateway Fundamentals</vt:lpstr>
      <vt:lpstr>Load Balancing Portfolio</vt:lpstr>
      <vt:lpstr>What is App Gateway</vt:lpstr>
      <vt:lpstr>What is App Gateway</vt:lpstr>
      <vt:lpstr>How does App Gateway work</vt:lpstr>
      <vt:lpstr>App Gateway Security</vt:lpstr>
      <vt:lpstr>Secure your Application Gateway</vt:lpstr>
      <vt:lpstr>Network Security </vt:lpstr>
      <vt:lpstr>Web Application Protection</vt:lpstr>
      <vt:lpstr>Identity and Access Management</vt:lpstr>
      <vt:lpstr>Data Protection</vt:lpstr>
      <vt:lpstr>Monitoring and Threat Detection</vt:lpstr>
      <vt:lpstr>Asset Management</vt:lpstr>
      <vt:lpstr>App Gateway for Containers</vt:lpstr>
      <vt:lpstr>App Gateway for Containers</vt:lpstr>
      <vt:lpstr>What is App Gateway for Containers</vt:lpstr>
      <vt:lpstr>How does it work</vt:lpstr>
      <vt:lpstr>Application Gateway for Containers (AGC)</vt:lpstr>
      <vt:lpstr>Architecture of Application Gateway for Containers</vt:lpstr>
      <vt:lpstr>Application Gateway for Containers</vt:lpstr>
      <vt:lpstr>Features &amp; Benefits</vt:lpstr>
      <vt:lpstr>Deployment Strategies</vt:lpstr>
      <vt:lpstr>Multi-Site Hosting</vt:lpstr>
      <vt:lpstr>Traffic Spitting / Weighted Round Robin</vt:lpstr>
      <vt:lpstr>Path, Header, and Query String Routing</vt:lpstr>
      <vt:lpstr>Session Affinity</vt:lpstr>
      <vt:lpstr>Backend Mutual Authentication</vt:lpstr>
      <vt:lpstr>References</vt:lpstr>
      <vt:lpstr>Documentation</vt:lpstr>
      <vt:lpstr>Useful links</vt:lpstr>
      <vt:lpstr>Useful Azure Kubernetes links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Ore Akin-Odidi</dc:creator>
  <cp:lastModifiedBy>Ore Akin-Odidi</cp:lastModifiedBy>
  <cp:revision>289</cp:revision>
  <dcterms:created xsi:type="dcterms:W3CDTF">2025-12-12T15:23:34Z</dcterms:created>
  <dcterms:modified xsi:type="dcterms:W3CDTF">2026-01-14T12:10:46Z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0x010100E69BC7A8EC74B74F8EB826872BF35821</vt:lpwstr>
  </property>
</Properties>
</file>