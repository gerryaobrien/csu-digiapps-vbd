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9.xml" ContentType="application/vnd.openxmlformats-officedocument.presentationml.tags+xml"/>
  <Override PartName="/ppt/notesSlides/notesSlide16.xml" ContentType="application/vnd.openxmlformats-officedocument.presentationml.notesSlide+xml"/>
  <Override PartName="/ppt/tags/tag10.xml" ContentType="application/vnd.openxmlformats-officedocument.presentationml.tags+xml"/>
  <Override PartName="/ppt/notesSlides/notesSlide17.xml" ContentType="application/vnd.openxmlformats-officedocument.presentationml.notesSlide+xml"/>
  <Override PartName="/ppt/tags/tag1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Lst>
  <p:notesMasterIdLst>
    <p:notesMasterId r:id="rId77"/>
  </p:notesMasterIdLst>
  <p:sldIdLst>
    <p:sldId id="256" r:id="rId45"/>
    <p:sldId id="257" r:id="rId46"/>
    <p:sldId id="2147469889" r:id="rId47"/>
    <p:sldId id="274" r:id="rId48"/>
    <p:sldId id="259" r:id="rId49"/>
    <p:sldId id="2076138497" r:id="rId50"/>
    <p:sldId id="2076138629" r:id="rId51"/>
    <p:sldId id="2076138631" r:id="rId52"/>
    <p:sldId id="2076138637" r:id="rId53"/>
    <p:sldId id="2076138632" r:id="rId54"/>
    <p:sldId id="2076138635" r:id="rId55"/>
    <p:sldId id="2076138636" r:id="rId56"/>
    <p:sldId id="2076138634" r:id="rId57"/>
    <p:sldId id="2147469921" r:id="rId58"/>
    <p:sldId id="2147469909" r:id="rId59"/>
    <p:sldId id="2076138627" r:id="rId60"/>
    <p:sldId id="2076138581" r:id="rId61"/>
    <p:sldId id="2147469912" r:id="rId62"/>
    <p:sldId id="2076138619" r:id="rId63"/>
    <p:sldId id="2076138622" r:id="rId64"/>
    <p:sldId id="2147469916" r:id="rId65"/>
    <p:sldId id="2147469915" r:id="rId66"/>
    <p:sldId id="265" r:id="rId67"/>
    <p:sldId id="2147469911" r:id="rId68"/>
    <p:sldId id="2147469922" r:id="rId69"/>
    <p:sldId id="2147469888" r:id="rId70"/>
    <p:sldId id="2147469853" r:id="rId71"/>
    <p:sldId id="2147469917" r:id="rId72"/>
    <p:sldId id="2147469918" r:id="rId73"/>
    <p:sldId id="2147469919" r:id="rId74"/>
    <p:sldId id="2147469913" r:id="rId75"/>
    <p:sldId id="2147469920" r:id="rId76"/>
  </p:sldIdLst>
  <p:sldSz cx="12192000" cy="6858000"/>
  <p:notesSz cx="6858000" cy="9144000"/>
  <p:custDataLst>
    <p:tags r:id="rId7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BCE72B-2998-F7E9-0F7A-22BDB58B6F36}" v="114" dt="2025-09-08T18:30:24.855"/>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70" autoAdjust="0"/>
    <p:restoredTop sz="66551" autoAdjust="0"/>
  </p:normalViewPr>
  <p:slideViewPr>
    <p:cSldViewPr snapToGrid="0">
      <p:cViewPr varScale="1">
        <p:scale>
          <a:sx n="68" d="100"/>
          <a:sy n="68" d="100"/>
        </p:scale>
        <p:origin x="726"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3.xml"/><Relationship Id="rId63" Type="http://schemas.openxmlformats.org/officeDocument/2006/relationships/slide" Target="slides/slide19.xml"/><Relationship Id="rId68" Type="http://schemas.openxmlformats.org/officeDocument/2006/relationships/slide" Target="slides/slide24.xml"/><Relationship Id="rId84" Type="http://schemas.microsoft.com/office/2016/11/relationships/changesInfo" Target="changesInfos/changesInfo1.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9.xml"/><Relationship Id="rId58" Type="http://schemas.openxmlformats.org/officeDocument/2006/relationships/slide" Target="slides/slide14.xml"/><Relationship Id="rId74" Type="http://schemas.openxmlformats.org/officeDocument/2006/relationships/slide" Target="slides/slide30.xml"/><Relationship Id="rId79" Type="http://schemas.openxmlformats.org/officeDocument/2006/relationships/commentAuthors" Target="commentAuthors.xml"/><Relationship Id="rId5" Type="http://schemas.openxmlformats.org/officeDocument/2006/relationships/customXml" Target="../customXml/item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slide" Target="slides/slide4.xml"/><Relationship Id="rId56" Type="http://schemas.openxmlformats.org/officeDocument/2006/relationships/slide" Target="slides/slide12.xml"/><Relationship Id="rId64" Type="http://schemas.openxmlformats.org/officeDocument/2006/relationships/slide" Target="slides/slide20.xml"/><Relationship Id="rId69" Type="http://schemas.openxmlformats.org/officeDocument/2006/relationships/slide" Target="slides/slide25.xml"/><Relationship Id="rId77" Type="http://schemas.openxmlformats.org/officeDocument/2006/relationships/notesMaster" Target="notesMasters/notesMaster1.xml"/><Relationship Id="rId8" Type="http://schemas.openxmlformats.org/officeDocument/2006/relationships/customXml" Target="../customXml/item8.xml"/><Relationship Id="rId51" Type="http://schemas.openxmlformats.org/officeDocument/2006/relationships/slide" Target="slides/slide7.xml"/><Relationship Id="rId72" Type="http://schemas.openxmlformats.org/officeDocument/2006/relationships/slide" Target="slides/slide28.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2.xml"/><Relationship Id="rId59" Type="http://schemas.openxmlformats.org/officeDocument/2006/relationships/slide" Target="slides/slide15.xml"/><Relationship Id="rId67" Type="http://schemas.openxmlformats.org/officeDocument/2006/relationships/slide" Target="slides/slide23.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10.xml"/><Relationship Id="rId62" Type="http://schemas.openxmlformats.org/officeDocument/2006/relationships/slide" Target="slides/slide18.xml"/><Relationship Id="rId70" Type="http://schemas.openxmlformats.org/officeDocument/2006/relationships/slide" Target="slides/slide26.xml"/><Relationship Id="rId75" Type="http://schemas.openxmlformats.org/officeDocument/2006/relationships/slide" Target="slides/slide31.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5.xml"/><Relationship Id="rId57" Type="http://schemas.openxmlformats.org/officeDocument/2006/relationships/slide" Target="slides/slide13.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Master" Target="slideMasters/slideMaster1.xml"/><Relationship Id="rId52" Type="http://schemas.openxmlformats.org/officeDocument/2006/relationships/slide" Target="slides/slide8.xml"/><Relationship Id="rId60" Type="http://schemas.openxmlformats.org/officeDocument/2006/relationships/slide" Target="slides/slide16.xml"/><Relationship Id="rId65" Type="http://schemas.openxmlformats.org/officeDocument/2006/relationships/slide" Target="slides/slide21.xml"/><Relationship Id="rId73" Type="http://schemas.openxmlformats.org/officeDocument/2006/relationships/slide" Target="slides/slide29.xml"/><Relationship Id="rId78" Type="http://schemas.openxmlformats.org/officeDocument/2006/relationships/tags" Target="tags/tag1.xml"/><Relationship Id="rId81" Type="http://schemas.openxmlformats.org/officeDocument/2006/relationships/viewProps" Target="viewProps.xml"/><Relationship Id="rId86" Type="http://schemas.microsoft.com/office/2018/10/relationships/authors" Target="author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6.xml"/><Relationship Id="rId55" Type="http://schemas.openxmlformats.org/officeDocument/2006/relationships/slide" Target="slides/slide11.xml"/><Relationship Id="rId76" Type="http://schemas.openxmlformats.org/officeDocument/2006/relationships/slide" Target="slides/slide32.xml"/><Relationship Id="rId7" Type="http://schemas.openxmlformats.org/officeDocument/2006/relationships/customXml" Target="../customXml/item7.xml"/><Relationship Id="rId71" Type="http://schemas.openxmlformats.org/officeDocument/2006/relationships/slide" Target="slides/slide27.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 Target="slides/slide1.xml"/><Relationship Id="rId66" Type="http://schemas.openxmlformats.org/officeDocument/2006/relationships/slide" Target="slides/slide22.xml"/><Relationship Id="rId61" Type="http://schemas.openxmlformats.org/officeDocument/2006/relationships/slide" Target="slides/slide17.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Albers" userId="S::andrewalbers@microsoft.com::05a0db6f-a93d-4086-9310-e241c2ed23ed" providerId="AD" clId="Web-{1EC6652A-3182-0C95-FED9-199358E6ED1D}"/>
    <pc:docChg chg="modSld">
      <pc:chgData name="Andrew Albers" userId="S::andrewalbers@microsoft.com::05a0db6f-a93d-4086-9310-e241c2ed23ed" providerId="AD" clId="Web-{1EC6652A-3182-0C95-FED9-199358E6ED1D}" dt="2025-07-17T17:02:54.433" v="0"/>
      <pc:docMkLst>
        <pc:docMk/>
      </pc:docMkLst>
      <pc:sldChg chg="delSp">
        <pc:chgData name="Andrew Albers" userId="S::andrewalbers@microsoft.com::05a0db6f-a93d-4086-9310-e241c2ed23ed" providerId="AD" clId="Web-{1EC6652A-3182-0C95-FED9-199358E6ED1D}" dt="2025-07-17T17:02:54.433" v="0"/>
        <pc:sldMkLst>
          <pc:docMk/>
          <pc:sldMk cId="3833674747" sldId="2147469853"/>
        </pc:sldMkLst>
      </pc:sldChg>
    </pc:docChg>
  </pc:docChgLst>
  <pc:docChgLst>
    <pc:chgData name="Andrew Albers" userId="S::andrewalbers@microsoft.com::05a0db6f-a93d-4086-9310-e241c2ed23ed" providerId="AD" clId="Web-{A3BCE72B-2998-F7E9-0F7A-22BDB58B6F36}"/>
    <pc:docChg chg="addSld delSld modSld">
      <pc:chgData name="Andrew Albers" userId="S::andrewalbers@microsoft.com::05a0db6f-a93d-4086-9310-e241c2ed23ed" providerId="AD" clId="Web-{A3BCE72B-2998-F7E9-0F7A-22BDB58B6F36}" dt="2025-09-08T18:30:24.855" v="69"/>
      <pc:docMkLst>
        <pc:docMk/>
      </pc:docMkLst>
      <pc:sldChg chg="del">
        <pc:chgData name="Andrew Albers" userId="S::andrewalbers@microsoft.com::05a0db6f-a93d-4086-9310-e241c2ed23ed" providerId="AD" clId="Web-{A3BCE72B-2998-F7E9-0F7A-22BDB58B6F36}" dt="2025-09-08T18:29:15.339" v="25"/>
        <pc:sldMkLst>
          <pc:docMk/>
          <pc:sldMk cId="4128843134" sldId="2076138623"/>
        </pc:sldMkLst>
      </pc:sldChg>
      <pc:sldChg chg="modSp mod modShow">
        <pc:chgData name="Andrew Albers" userId="S::andrewalbers@microsoft.com::05a0db6f-a93d-4086-9310-e241c2ed23ed" providerId="AD" clId="Web-{A3BCE72B-2998-F7E9-0F7A-22BDB58B6F36}" dt="2025-09-08T18:29:37.058" v="50" actId="20577"/>
        <pc:sldMkLst>
          <pc:docMk/>
          <pc:sldMk cId="1304554791" sldId="2147469911"/>
        </pc:sldMkLst>
        <pc:spChg chg="mod">
          <ac:chgData name="Andrew Albers" userId="S::andrewalbers@microsoft.com::05a0db6f-a93d-4086-9310-e241c2ed23ed" providerId="AD" clId="Web-{A3BCE72B-2998-F7E9-0F7A-22BDB58B6F36}" dt="2025-09-08T18:29:06.933" v="24" actId="20577"/>
          <ac:spMkLst>
            <pc:docMk/>
            <pc:sldMk cId="1304554791" sldId="2147469911"/>
            <ac:spMk id="2" creationId="{FB765AA4-939F-8070-DF31-F0E210E5F503}"/>
          </ac:spMkLst>
        </pc:spChg>
        <pc:spChg chg="mod">
          <ac:chgData name="Andrew Albers" userId="S::andrewalbers@microsoft.com::05a0db6f-a93d-4086-9310-e241c2ed23ed" providerId="AD" clId="Web-{A3BCE72B-2998-F7E9-0F7A-22BDB58B6F36}" dt="2025-09-08T18:29:37.058" v="50" actId="20577"/>
          <ac:spMkLst>
            <pc:docMk/>
            <pc:sldMk cId="1304554791" sldId="2147469911"/>
            <ac:spMk id="14" creationId="{26DC99EA-0D17-ABED-DA5C-56CE8D91514E}"/>
          </ac:spMkLst>
        </pc:spChg>
      </pc:sldChg>
      <pc:sldChg chg="addSp modSp new mod modShow chgLayout">
        <pc:chgData name="Andrew Albers" userId="S::andrewalbers@microsoft.com::05a0db6f-a93d-4086-9310-e241c2ed23ed" providerId="AD" clId="Web-{A3BCE72B-2998-F7E9-0F7A-22BDB58B6F36}" dt="2025-09-08T18:30:24.855" v="69"/>
        <pc:sldMkLst>
          <pc:docMk/>
          <pc:sldMk cId="835547572" sldId="2147469922"/>
        </pc:sldMkLst>
        <pc:spChg chg="mod ord">
          <ac:chgData name="Andrew Albers" userId="S::andrewalbers@microsoft.com::05a0db6f-a93d-4086-9310-e241c2ed23ed" providerId="AD" clId="Web-{A3BCE72B-2998-F7E9-0F7A-22BDB58B6F36}" dt="2025-09-08T18:30:19.808" v="68" actId="20577"/>
          <ac:spMkLst>
            <pc:docMk/>
            <pc:sldMk cId="835547572" sldId="2147469922"/>
            <ac:spMk id="2" creationId="{D37F7036-DF49-BDBC-68AA-6C0F15E04DDF}"/>
          </ac:spMkLst>
        </pc:spChg>
        <pc:spChg chg="mod ord">
          <ac:chgData name="Andrew Albers" userId="S::andrewalbers@microsoft.com::05a0db6f-a93d-4086-9310-e241c2ed23ed" providerId="AD" clId="Web-{A3BCE72B-2998-F7E9-0F7A-22BDB58B6F36}" dt="2025-09-08T18:29:56.449" v="53"/>
          <ac:spMkLst>
            <pc:docMk/>
            <pc:sldMk cId="835547572" sldId="2147469922"/>
            <ac:spMk id="3" creationId="{FDE08AED-EF95-F07D-3142-906565EA7DC9}"/>
          </ac:spMkLst>
        </pc:spChg>
        <pc:spChg chg="mod ord">
          <ac:chgData name="Andrew Albers" userId="S::andrewalbers@microsoft.com::05a0db6f-a93d-4086-9310-e241c2ed23ed" providerId="AD" clId="Web-{A3BCE72B-2998-F7E9-0F7A-22BDB58B6F36}" dt="2025-09-08T18:29:56.449" v="53"/>
          <ac:spMkLst>
            <pc:docMk/>
            <pc:sldMk cId="835547572" sldId="2147469922"/>
            <ac:spMk id="4" creationId="{62AAF609-B793-A801-FE15-F32082EC4DD1}"/>
          </ac:spMkLst>
        </pc:spChg>
        <pc:spChg chg="add mod ord">
          <ac:chgData name="Andrew Albers" userId="S::andrewalbers@microsoft.com::05a0db6f-a93d-4086-9310-e241c2ed23ed" providerId="AD" clId="Web-{A3BCE72B-2998-F7E9-0F7A-22BDB58B6F36}" dt="2025-09-08T18:29:56.449" v="53"/>
          <ac:spMkLst>
            <pc:docMk/>
            <pc:sldMk cId="835547572" sldId="2147469922"/>
            <ac:spMk id="5" creationId="{40E6088C-93E5-F440-D39C-96E5600A6E12}"/>
          </ac:spMkLst>
        </pc:spChg>
      </pc:sldChg>
    </pc:docChg>
  </pc:docChgLst>
  <pc:docChgLst>
    <pc:chgData name="Emily Shockley" userId="a55e4893-a8d8-4ae8-b1b2-aa78ff14ed1d" providerId="ADAL" clId="{8E24F19E-006F-4A96-952E-67F7C6E50A1F}"/>
    <pc:docChg chg="undo custSel addSld delSld modSld sldOrd">
      <pc:chgData name="Emily Shockley" userId="a55e4893-a8d8-4ae8-b1b2-aa78ff14ed1d" providerId="ADAL" clId="{8E24F19E-006F-4A96-952E-67F7C6E50A1F}" dt="2025-06-16T01:08:42.982" v="1082" actId="20577"/>
      <pc:docMkLst>
        <pc:docMk/>
      </pc:docMkLst>
      <pc:sldChg chg="del">
        <pc:chgData name="Emily Shockley" userId="a55e4893-a8d8-4ae8-b1b2-aa78ff14ed1d" providerId="ADAL" clId="{8E24F19E-006F-4A96-952E-67F7C6E50A1F}" dt="2025-06-14T00:41:31.875" v="60" actId="47"/>
        <pc:sldMkLst>
          <pc:docMk/>
          <pc:sldMk cId="596524640" sldId="2065"/>
        </pc:sldMkLst>
      </pc:sldChg>
      <pc:sldChg chg="del">
        <pc:chgData name="Emily Shockley" userId="a55e4893-a8d8-4ae8-b1b2-aa78ff14ed1d" providerId="ADAL" clId="{8E24F19E-006F-4A96-952E-67F7C6E50A1F}" dt="2025-06-14T00:41:30.478" v="58" actId="47"/>
        <pc:sldMkLst>
          <pc:docMk/>
          <pc:sldMk cId="1398734143" sldId="2066"/>
        </pc:sldMkLst>
      </pc:sldChg>
      <pc:sldChg chg="del">
        <pc:chgData name="Emily Shockley" userId="a55e4893-a8d8-4ae8-b1b2-aa78ff14ed1d" providerId="ADAL" clId="{8E24F19E-006F-4A96-952E-67F7C6E50A1F}" dt="2025-06-14T00:41:29.137" v="56" actId="47"/>
        <pc:sldMkLst>
          <pc:docMk/>
          <pc:sldMk cId="2382552501" sldId="4478"/>
        </pc:sldMkLst>
      </pc:sldChg>
      <pc:sldChg chg="del">
        <pc:chgData name="Emily Shockley" userId="a55e4893-a8d8-4ae8-b1b2-aa78ff14ed1d" providerId="ADAL" clId="{8E24F19E-006F-4A96-952E-67F7C6E50A1F}" dt="2025-06-14T00:41:28.522" v="55" actId="47"/>
        <pc:sldMkLst>
          <pc:docMk/>
          <pc:sldMk cId="1168219790" sldId="4479"/>
        </pc:sldMkLst>
      </pc:sldChg>
      <pc:sldChg chg="del">
        <pc:chgData name="Emily Shockley" userId="a55e4893-a8d8-4ae8-b1b2-aa78ff14ed1d" providerId="ADAL" clId="{8E24F19E-006F-4A96-952E-67F7C6E50A1F}" dt="2025-06-14T00:41:27.923" v="54" actId="47"/>
        <pc:sldMkLst>
          <pc:docMk/>
          <pc:sldMk cId="2297312889" sldId="4480"/>
        </pc:sldMkLst>
      </pc:sldChg>
      <pc:sldChg chg="del">
        <pc:chgData name="Emily Shockley" userId="a55e4893-a8d8-4ae8-b1b2-aa78ff14ed1d" providerId="ADAL" clId="{8E24F19E-006F-4A96-952E-67F7C6E50A1F}" dt="2025-06-14T00:41:27.304" v="53" actId="47"/>
        <pc:sldMkLst>
          <pc:docMk/>
          <pc:sldMk cId="695900476" sldId="4481"/>
        </pc:sldMkLst>
      </pc:sldChg>
      <pc:sldChg chg="del">
        <pc:chgData name="Emily Shockley" userId="a55e4893-a8d8-4ae8-b1b2-aa78ff14ed1d" providerId="ADAL" clId="{8E24F19E-006F-4A96-952E-67F7C6E50A1F}" dt="2025-06-14T00:41:26.350" v="52" actId="47"/>
        <pc:sldMkLst>
          <pc:docMk/>
          <pc:sldMk cId="1028115571" sldId="4482"/>
        </pc:sldMkLst>
      </pc:sldChg>
      <pc:sldChg chg="del">
        <pc:chgData name="Emily Shockley" userId="a55e4893-a8d8-4ae8-b1b2-aa78ff14ed1d" providerId="ADAL" clId="{8E24F19E-006F-4A96-952E-67F7C6E50A1F}" dt="2025-06-14T00:41:25.806" v="51" actId="47"/>
        <pc:sldMkLst>
          <pc:docMk/>
          <pc:sldMk cId="644073378" sldId="4483"/>
        </pc:sldMkLst>
      </pc:sldChg>
      <pc:sldChg chg="del">
        <pc:chgData name="Emily Shockley" userId="a55e4893-a8d8-4ae8-b1b2-aa78ff14ed1d" providerId="ADAL" clId="{8E24F19E-006F-4A96-952E-67F7C6E50A1F}" dt="2025-06-14T00:41:25.242" v="50" actId="47"/>
        <pc:sldMkLst>
          <pc:docMk/>
          <pc:sldMk cId="239421901" sldId="4484"/>
        </pc:sldMkLst>
      </pc:sldChg>
      <pc:sldChg chg="del">
        <pc:chgData name="Emily Shockley" userId="a55e4893-a8d8-4ae8-b1b2-aa78ff14ed1d" providerId="ADAL" clId="{8E24F19E-006F-4A96-952E-67F7C6E50A1F}" dt="2025-06-14T00:41:24.798" v="49" actId="47"/>
        <pc:sldMkLst>
          <pc:docMk/>
          <pc:sldMk cId="1500392918" sldId="4485"/>
        </pc:sldMkLst>
      </pc:sldChg>
      <pc:sldChg chg="del">
        <pc:chgData name="Emily Shockley" userId="a55e4893-a8d8-4ae8-b1b2-aa78ff14ed1d" providerId="ADAL" clId="{8E24F19E-006F-4A96-952E-67F7C6E50A1F}" dt="2025-06-14T00:41:24.033" v="48" actId="47"/>
        <pc:sldMkLst>
          <pc:docMk/>
          <pc:sldMk cId="3907173977" sldId="4486"/>
        </pc:sldMkLst>
      </pc:sldChg>
      <pc:sldChg chg="del">
        <pc:chgData name="Emily Shockley" userId="a55e4893-a8d8-4ae8-b1b2-aa78ff14ed1d" providerId="ADAL" clId="{8E24F19E-006F-4A96-952E-67F7C6E50A1F}" dt="2025-06-14T00:41:22.753" v="47" actId="47"/>
        <pc:sldMkLst>
          <pc:docMk/>
          <pc:sldMk cId="44891446" sldId="4490"/>
        </pc:sldMkLst>
      </pc:sldChg>
      <pc:sldChg chg="delSp mod modNotesTx">
        <pc:chgData name="Emily Shockley" userId="a55e4893-a8d8-4ae8-b1b2-aa78ff14ed1d" providerId="ADAL" clId="{8E24F19E-006F-4A96-952E-67F7C6E50A1F}" dt="2025-06-16T00:56:58.519" v="752" actId="20577"/>
        <pc:sldMkLst>
          <pc:docMk/>
          <pc:sldMk cId="1307160766" sldId="2076138634"/>
        </pc:sldMkLst>
      </pc:sldChg>
      <pc:sldChg chg="del">
        <pc:chgData name="Emily Shockley" userId="a55e4893-a8d8-4ae8-b1b2-aa78ff14ed1d" providerId="ADAL" clId="{8E24F19E-006F-4A96-952E-67F7C6E50A1F}" dt="2025-06-14T00:41:20.665" v="45" actId="47"/>
        <pc:sldMkLst>
          <pc:docMk/>
          <pc:sldMk cId="61196204" sldId="2147469784"/>
        </pc:sldMkLst>
      </pc:sldChg>
      <pc:sldChg chg="del">
        <pc:chgData name="Emily Shockley" userId="a55e4893-a8d8-4ae8-b1b2-aa78ff14ed1d" providerId="ADAL" clId="{8E24F19E-006F-4A96-952E-67F7C6E50A1F}" dt="2025-06-14T00:41:33.306" v="63" actId="47"/>
        <pc:sldMkLst>
          <pc:docMk/>
          <pc:sldMk cId="615209057" sldId="2147469785"/>
        </pc:sldMkLst>
      </pc:sldChg>
      <pc:sldChg chg="del">
        <pc:chgData name="Emily Shockley" userId="a55e4893-a8d8-4ae8-b1b2-aa78ff14ed1d" providerId="ADAL" clId="{8E24F19E-006F-4A96-952E-67F7C6E50A1F}" dt="2025-06-14T00:41:33.810" v="64" actId="47"/>
        <pc:sldMkLst>
          <pc:docMk/>
          <pc:sldMk cId="3320859369" sldId="2147469786"/>
        </pc:sldMkLst>
      </pc:sldChg>
      <pc:sldChg chg="del">
        <pc:chgData name="Emily Shockley" userId="a55e4893-a8d8-4ae8-b1b2-aa78ff14ed1d" providerId="ADAL" clId="{8E24F19E-006F-4A96-952E-67F7C6E50A1F}" dt="2025-06-14T00:41:34.385" v="65" actId="47"/>
        <pc:sldMkLst>
          <pc:docMk/>
          <pc:sldMk cId="793519299" sldId="2147469787"/>
        </pc:sldMkLst>
      </pc:sldChg>
      <pc:sldChg chg="del">
        <pc:chgData name="Emily Shockley" userId="a55e4893-a8d8-4ae8-b1b2-aa78ff14ed1d" providerId="ADAL" clId="{8E24F19E-006F-4A96-952E-67F7C6E50A1F}" dt="2025-06-14T00:41:34.883" v="66" actId="47"/>
        <pc:sldMkLst>
          <pc:docMk/>
          <pc:sldMk cId="1750121600" sldId="2147469788"/>
        </pc:sldMkLst>
      </pc:sldChg>
      <pc:sldChg chg="del">
        <pc:chgData name="Emily Shockley" userId="a55e4893-a8d8-4ae8-b1b2-aa78ff14ed1d" providerId="ADAL" clId="{8E24F19E-006F-4A96-952E-67F7C6E50A1F}" dt="2025-06-14T00:41:30.999" v="59" actId="47"/>
        <pc:sldMkLst>
          <pc:docMk/>
          <pc:sldMk cId="3457369424" sldId="2147469790"/>
        </pc:sldMkLst>
      </pc:sldChg>
      <pc:sldChg chg="del">
        <pc:chgData name="Emily Shockley" userId="a55e4893-a8d8-4ae8-b1b2-aa78ff14ed1d" providerId="ADAL" clId="{8E24F19E-006F-4A96-952E-67F7C6E50A1F}" dt="2025-06-14T00:41:35.362" v="67" actId="47"/>
        <pc:sldMkLst>
          <pc:docMk/>
          <pc:sldMk cId="4064413298" sldId="2147469792"/>
        </pc:sldMkLst>
      </pc:sldChg>
      <pc:sldChg chg="del">
        <pc:chgData name="Emily Shockley" userId="a55e4893-a8d8-4ae8-b1b2-aa78ff14ed1d" providerId="ADAL" clId="{8E24F19E-006F-4A96-952E-67F7C6E50A1F}" dt="2025-06-14T00:41:35.988" v="68" actId="47"/>
        <pc:sldMkLst>
          <pc:docMk/>
          <pc:sldMk cId="682416994" sldId="2147469794"/>
        </pc:sldMkLst>
      </pc:sldChg>
      <pc:sldChg chg="del">
        <pc:chgData name="Emily Shockley" userId="a55e4893-a8d8-4ae8-b1b2-aa78ff14ed1d" providerId="ADAL" clId="{8E24F19E-006F-4A96-952E-67F7C6E50A1F}" dt="2025-06-14T00:41:22.148" v="46" actId="47"/>
        <pc:sldMkLst>
          <pc:docMk/>
          <pc:sldMk cId="3788446741" sldId="2147469798"/>
        </pc:sldMkLst>
      </pc:sldChg>
      <pc:sldChg chg="del">
        <pc:chgData name="Emily Shockley" userId="a55e4893-a8d8-4ae8-b1b2-aa78ff14ed1d" providerId="ADAL" clId="{8E24F19E-006F-4A96-952E-67F7C6E50A1F}" dt="2025-06-14T00:15:10.839" v="0" actId="2696"/>
        <pc:sldMkLst>
          <pc:docMk/>
          <pc:sldMk cId="1504679980" sldId="2147469810"/>
        </pc:sldMkLst>
      </pc:sldChg>
      <pc:sldChg chg="del">
        <pc:chgData name="Emily Shockley" userId="a55e4893-a8d8-4ae8-b1b2-aa78ff14ed1d" providerId="ADAL" clId="{8E24F19E-006F-4A96-952E-67F7C6E50A1F}" dt="2025-06-14T00:41:36.579" v="69" actId="47"/>
        <pc:sldMkLst>
          <pc:docMk/>
          <pc:sldMk cId="859227491" sldId="2147469835"/>
        </pc:sldMkLst>
      </pc:sldChg>
      <pc:sldChg chg="del">
        <pc:chgData name="Emily Shockley" userId="a55e4893-a8d8-4ae8-b1b2-aa78ff14ed1d" providerId="ADAL" clId="{8E24F19E-006F-4A96-952E-67F7C6E50A1F}" dt="2025-06-14T00:41:37.753" v="70" actId="47"/>
        <pc:sldMkLst>
          <pc:docMk/>
          <pc:sldMk cId="3304016034" sldId="2147469836"/>
        </pc:sldMkLst>
      </pc:sldChg>
      <pc:sldChg chg="del">
        <pc:chgData name="Emily Shockley" userId="a55e4893-a8d8-4ae8-b1b2-aa78ff14ed1d" providerId="ADAL" clId="{8E24F19E-006F-4A96-952E-67F7C6E50A1F}" dt="2025-06-14T00:41:10.203" v="38" actId="47"/>
        <pc:sldMkLst>
          <pc:docMk/>
          <pc:sldMk cId="3906565222" sldId="2147469849"/>
        </pc:sldMkLst>
      </pc:sldChg>
      <pc:sldChg chg="modSp mod ord">
        <pc:chgData name="Emily Shockley" userId="a55e4893-a8d8-4ae8-b1b2-aa78ff14ed1d" providerId="ADAL" clId="{8E24F19E-006F-4A96-952E-67F7C6E50A1F}" dt="2025-06-14T19:20:41.177" v="437" actId="313"/>
        <pc:sldMkLst>
          <pc:docMk/>
          <pc:sldMk cId="3833674747" sldId="2147469853"/>
        </pc:sldMkLst>
      </pc:sldChg>
      <pc:sldChg chg="del">
        <pc:chgData name="Emily Shockley" userId="a55e4893-a8d8-4ae8-b1b2-aa78ff14ed1d" providerId="ADAL" clId="{8E24F19E-006F-4A96-952E-67F7C6E50A1F}" dt="2025-06-14T00:41:08.253" v="37" actId="47"/>
        <pc:sldMkLst>
          <pc:docMk/>
          <pc:sldMk cId="3096303819" sldId="2147469859"/>
        </pc:sldMkLst>
      </pc:sldChg>
      <pc:sldChg chg="del">
        <pc:chgData name="Emily Shockley" userId="a55e4893-a8d8-4ae8-b1b2-aa78ff14ed1d" providerId="ADAL" clId="{8E24F19E-006F-4A96-952E-67F7C6E50A1F}" dt="2025-06-14T00:41:32.320" v="61" actId="47"/>
        <pc:sldMkLst>
          <pc:docMk/>
          <pc:sldMk cId="3358395208" sldId="2147469864"/>
        </pc:sldMkLst>
      </pc:sldChg>
      <pc:sldChg chg="del">
        <pc:chgData name="Emily Shockley" userId="a55e4893-a8d8-4ae8-b1b2-aa78ff14ed1d" providerId="ADAL" clId="{8E24F19E-006F-4A96-952E-67F7C6E50A1F}" dt="2025-06-14T00:41:14.843" v="42" actId="47"/>
        <pc:sldMkLst>
          <pc:docMk/>
          <pc:sldMk cId="1590938168" sldId="2147469867"/>
        </pc:sldMkLst>
      </pc:sldChg>
      <pc:sldChg chg="del">
        <pc:chgData name="Emily Shockley" userId="a55e4893-a8d8-4ae8-b1b2-aa78ff14ed1d" providerId="ADAL" clId="{8E24F19E-006F-4A96-952E-67F7C6E50A1F}" dt="2025-06-14T00:41:32.833" v="62" actId="47"/>
        <pc:sldMkLst>
          <pc:docMk/>
          <pc:sldMk cId="591597269" sldId="2147469868"/>
        </pc:sldMkLst>
      </pc:sldChg>
      <pc:sldChg chg="del">
        <pc:chgData name="Emily Shockley" userId="a55e4893-a8d8-4ae8-b1b2-aa78ff14ed1d" providerId="ADAL" clId="{8E24F19E-006F-4A96-952E-67F7C6E50A1F}" dt="2025-06-14T00:41:13.668" v="41" actId="47"/>
        <pc:sldMkLst>
          <pc:docMk/>
          <pc:sldMk cId="4015218864" sldId="2147469872"/>
        </pc:sldMkLst>
      </pc:sldChg>
      <pc:sldChg chg="del">
        <pc:chgData name="Emily Shockley" userId="a55e4893-a8d8-4ae8-b1b2-aa78ff14ed1d" providerId="ADAL" clId="{8E24F19E-006F-4A96-952E-67F7C6E50A1F}" dt="2025-06-14T00:41:15.494" v="43" actId="47"/>
        <pc:sldMkLst>
          <pc:docMk/>
          <pc:sldMk cId="2635820762" sldId="2147469873"/>
        </pc:sldMkLst>
      </pc:sldChg>
      <pc:sldChg chg="del">
        <pc:chgData name="Emily Shockley" userId="a55e4893-a8d8-4ae8-b1b2-aa78ff14ed1d" providerId="ADAL" clId="{8E24F19E-006F-4A96-952E-67F7C6E50A1F}" dt="2025-06-14T00:41:13.173" v="40" actId="47"/>
        <pc:sldMkLst>
          <pc:docMk/>
          <pc:sldMk cId="2235235484" sldId="2147469875"/>
        </pc:sldMkLst>
      </pc:sldChg>
      <pc:sldChg chg="del">
        <pc:chgData name="Emily Shockley" userId="a55e4893-a8d8-4ae8-b1b2-aa78ff14ed1d" providerId="ADAL" clId="{8E24F19E-006F-4A96-952E-67F7C6E50A1F}" dt="2025-06-14T00:41:11.862" v="39" actId="47"/>
        <pc:sldMkLst>
          <pc:docMk/>
          <pc:sldMk cId="1497532563" sldId="2147469876"/>
        </pc:sldMkLst>
      </pc:sldChg>
      <pc:sldChg chg="del">
        <pc:chgData name="Emily Shockley" userId="a55e4893-a8d8-4ae8-b1b2-aa78ff14ed1d" providerId="ADAL" clId="{8E24F19E-006F-4A96-952E-67F7C6E50A1F}" dt="2025-06-14T00:34:57.162" v="10" actId="2696"/>
        <pc:sldMkLst>
          <pc:docMk/>
          <pc:sldMk cId="522795473" sldId="2147469885"/>
        </pc:sldMkLst>
      </pc:sldChg>
      <pc:sldChg chg="del modNotesTx">
        <pc:chgData name="Emily Shockley" userId="a55e4893-a8d8-4ae8-b1b2-aa78ff14ed1d" providerId="ADAL" clId="{8E24F19E-006F-4A96-952E-67F7C6E50A1F}" dt="2025-06-14T00:40:57.453" v="36" actId="47"/>
        <pc:sldMkLst>
          <pc:docMk/>
          <pc:sldMk cId="1952507436" sldId="2147469886"/>
        </pc:sldMkLst>
      </pc:sldChg>
      <pc:sldChg chg="del">
        <pc:chgData name="Emily Shockley" userId="a55e4893-a8d8-4ae8-b1b2-aa78ff14ed1d" providerId="ADAL" clId="{8E24F19E-006F-4A96-952E-67F7C6E50A1F}" dt="2025-06-14T00:41:16.142" v="44" actId="47"/>
        <pc:sldMkLst>
          <pc:docMk/>
          <pc:sldMk cId="3592306970" sldId="2147469887"/>
        </pc:sldMkLst>
      </pc:sldChg>
      <pc:sldChg chg="delSp modSp mod">
        <pc:chgData name="Emily Shockley" userId="a55e4893-a8d8-4ae8-b1b2-aa78ff14ed1d" providerId="ADAL" clId="{8E24F19E-006F-4A96-952E-67F7C6E50A1F}" dt="2025-06-14T00:40:26.662" v="33" actId="478"/>
        <pc:sldMkLst>
          <pc:docMk/>
          <pc:sldMk cId="3486580683" sldId="2147469888"/>
        </pc:sldMkLst>
      </pc:sldChg>
      <pc:sldChg chg="del">
        <pc:chgData name="Emily Shockley" userId="a55e4893-a8d8-4ae8-b1b2-aa78ff14ed1d" providerId="ADAL" clId="{8E24F19E-006F-4A96-952E-67F7C6E50A1F}" dt="2025-06-14T00:15:14.468" v="1" actId="2696"/>
        <pc:sldMkLst>
          <pc:docMk/>
          <pc:sldMk cId="178267060" sldId="2147469907"/>
        </pc:sldMkLst>
      </pc:sldChg>
      <pc:sldChg chg="del">
        <pc:chgData name="Emily Shockley" userId="a55e4893-a8d8-4ae8-b1b2-aa78ff14ed1d" providerId="ADAL" clId="{8E24F19E-006F-4A96-952E-67F7C6E50A1F}" dt="2025-06-14T00:41:30.077" v="57" actId="47"/>
        <pc:sldMkLst>
          <pc:docMk/>
          <pc:sldMk cId="1440339225" sldId="2147469908"/>
        </pc:sldMkLst>
      </pc:sldChg>
      <pc:sldChg chg="addSp modSp mod ord">
        <pc:chgData name="Emily Shockley" userId="a55e4893-a8d8-4ae8-b1b2-aa78ff14ed1d" providerId="ADAL" clId="{8E24F19E-006F-4A96-952E-67F7C6E50A1F}" dt="2025-06-16T00:10:51.051" v="666"/>
        <pc:sldMkLst>
          <pc:docMk/>
          <pc:sldMk cId="198348467" sldId="2147469913"/>
        </pc:sldMkLst>
      </pc:sldChg>
      <pc:sldChg chg="delSp modSp mod">
        <pc:chgData name="Emily Shockley" userId="a55e4893-a8d8-4ae8-b1b2-aa78ff14ed1d" providerId="ADAL" clId="{8E24F19E-006F-4A96-952E-67F7C6E50A1F}" dt="2025-06-14T00:21:58.099" v="4" actId="14100"/>
        <pc:sldMkLst>
          <pc:docMk/>
          <pc:sldMk cId="1071208998" sldId="2147469915"/>
        </pc:sldMkLst>
      </pc:sldChg>
      <pc:sldChg chg="addSp delSp modSp add del mod delAnim modAnim">
        <pc:chgData name="Emily Shockley" userId="a55e4893-a8d8-4ae8-b1b2-aa78ff14ed1d" providerId="ADAL" clId="{8E24F19E-006F-4A96-952E-67F7C6E50A1F}" dt="2025-06-14T00:39:03.223" v="23" actId="2696"/>
        <pc:sldMkLst>
          <pc:docMk/>
          <pc:sldMk cId="680931279" sldId="2147469916"/>
        </pc:sldMkLst>
      </pc:sldChg>
      <pc:sldChg chg="addSp delSp modSp add mod delAnim">
        <pc:chgData name="Emily Shockley" userId="a55e4893-a8d8-4ae8-b1b2-aa78ff14ed1d" providerId="ADAL" clId="{8E24F19E-006F-4A96-952E-67F7C6E50A1F}" dt="2025-06-14T00:40:15.747" v="32" actId="14100"/>
        <pc:sldMkLst>
          <pc:docMk/>
          <pc:sldMk cId="1668317254" sldId="2147469916"/>
        </pc:sldMkLst>
      </pc:sldChg>
      <pc:sldChg chg="addSp delSp modSp add mod modNotesTx">
        <pc:chgData name="Emily Shockley" userId="a55e4893-a8d8-4ae8-b1b2-aa78ff14ed1d" providerId="ADAL" clId="{8E24F19E-006F-4A96-952E-67F7C6E50A1F}" dt="2025-06-16T00:17:11.457" v="703" actId="6549"/>
        <pc:sldMkLst>
          <pc:docMk/>
          <pc:sldMk cId="2031753747" sldId="2147469917"/>
        </pc:sldMkLst>
      </pc:sldChg>
      <pc:sldChg chg="addSp delSp modSp add mod">
        <pc:chgData name="Emily Shockley" userId="a55e4893-a8d8-4ae8-b1b2-aa78ff14ed1d" providerId="ADAL" clId="{8E24F19E-006F-4A96-952E-67F7C6E50A1F}" dt="2025-06-16T00:12:11.216" v="671" actId="1076"/>
        <pc:sldMkLst>
          <pc:docMk/>
          <pc:sldMk cId="3551040339" sldId="2147469918"/>
        </pc:sldMkLst>
      </pc:sldChg>
      <pc:sldChg chg="addSp delSp modSp add mod modNotesTx">
        <pc:chgData name="Emily Shockley" userId="a55e4893-a8d8-4ae8-b1b2-aa78ff14ed1d" providerId="ADAL" clId="{8E24F19E-006F-4A96-952E-67F7C6E50A1F}" dt="2025-06-16T00:21:41.625" v="748" actId="20577"/>
        <pc:sldMkLst>
          <pc:docMk/>
          <pc:sldMk cId="1639050689" sldId="2147469919"/>
        </pc:sldMkLst>
      </pc:sldChg>
      <pc:sldChg chg="addSp delSp modSp add mod modNotesTx">
        <pc:chgData name="Emily Shockley" userId="a55e4893-a8d8-4ae8-b1b2-aa78ff14ed1d" providerId="ADAL" clId="{8E24F19E-006F-4A96-952E-67F7C6E50A1F}" dt="2025-06-16T00:19:01.973" v="738" actId="1076"/>
        <pc:sldMkLst>
          <pc:docMk/>
          <pc:sldMk cId="1886252930" sldId="2147469920"/>
        </pc:sldMkLst>
      </pc:sldChg>
      <pc:sldChg chg="addSp delSp modSp add mod ord modNotesTx">
        <pc:chgData name="Emily Shockley" userId="a55e4893-a8d8-4ae8-b1b2-aa78ff14ed1d" providerId="ADAL" clId="{8E24F19E-006F-4A96-952E-67F7C6E50A1F}" dt="2025-06-16T01:08:42.982" v="1082" actId="20577"/>
        <pc:sldMkLst>
          <pc:docMk/>
          <pc:sldMk cId="1516897192" sldId="2147469921"/>
        </pc:sldMkLst>
      </pc:sldChg>
    </pc:docChg>
  </pc:docChgLst>
  <pc:docChgLst>
    <pc:chgData name="Andrew Albers" userId="05a0db6f-a93d-4086-9310-e241c2ed23ed" providerId="ADAL" clId="{BE1E33FA-961B-41C7-8652-B362F0B5F477}"/>
    <pc:docChg chg="custSel modSld">
      <pc:chgData name="Andrew Albers" userId="05a0db6f-a93d-4086-9310-e241c2ed23ed" providerId="ADAL" clId="{BE1E33FA-961B-41C7-8652-B362F0B5F477}" dt="2025-07-16T18:27:58.491" v="0" actId="478"/>
      <pc:docMkLst>
        <pc:docMk/>
      </pc:docMkLst>
      <pc:sldChg chg="delSp mod">
        <pc:chgData name="Andrew Albers" userId="05a0db6f-a93d-4086-9310-e241c2ed23ed" providerId="ADAL" clId="{BE1E33FA-961B-41C7-8652-B362F0B5F477}" dt="2025-07-16T18:27:58.491" v="0" actId="478"/>
        <pc:sldMkLst>
          <pc:docMk/>
          <pc:sldMk cId="1071208998" sldId="2147469915"/>
        </pc:sldMkLst>
      </pc:sldChg>
    </pc:docChg>
  </pc:docChgLst>
  <pc:docChgLst>
    <pc:chgData name="Emily Shockley" userId="S::eshockley@microsoft.com::a55e4893-a8d8-4ae8-b1b2-aa78ff14ed1d" providerId="AD" clId="Web-{7C0631AA-DBE0-8103-1B44-E95FA690F0D4}"/>
    <pc:docChg chg="modSld">
      <pc:chgData name="Emily Shockley" userId="S::eshockley@microsoft.com::a55e4893-a8d8-4ae8-b1b2-aa78ff14ed1d" providerId="AD" clId="Web-{7C0631AA-DBE0-8103-1B44-E95FA690F0D4}" dt="2025-07-06T05:50:38.542" v="38" actId="14100"/>
      <pc:docMkLst>
        <pc:docMk/>
      </pc:docMkLst>
      <pc:sldChg chg="addSp delSp modSp">
        <pc:chgData name="Emily Shockley" userId="S::eshockley@microsoft.com::a55e4893-a8d8-4ae8-b1b2-aa78ff14ed1d" providerId="AD" clId="Web-{7C0631AA-DBE0-8103-1B44-E95FA690F0D4}" dt="2025-07-06T05:50:38.542" v="38" actId="14100"/>
        <pc:sldMkLst>
          <pc:docMk/>
          <pc:sldMk cId="2181956486" sldId="256"/>
        </pc:sldMkLst>
      </pc:sldChg>
      <pc:sldChg chg="delSp">
        <pc:chgData name="Emily Shockley" userId="S::eshockley@microsoft.com::a55e4893-a8d8-4ae8-b1b2-aa78ff14ed1d" providerId="AD" clId="Web-{7C0631AA-DBE0-8103-1B44-E95FA690F0D4}" dt="2025-07-06T05:43:31.546" v="3"/>
        <pc:sldMkLst>
          <pc:docMk/>
          <pc:sldMk cId="2242852715" sldId="257"/>
        </pc:sldMkLst>
      </pc:sldChg>
      <pc:sldChg chg="delSp">
        <pc:chgData name="Emily Shockley" userId="S::eshockley@microsoft.com::a55e4893-a8d8-4ae8-b1b2-aa78ff14ed1d" providerId="AD" clId="Web-{7C0631AA-DBE0-8103-1B44-E95FA690F0D4}" dt="2025-07-06T05:43:40.468" v="5"/>
        <pc:sldMkLst>
          <pc:docMk/>
          <pc:sldMk cId="2901160637" sldId="274"/>
        </pc:sldMkLst>
      </pc:sldChg>
      <pc:sldChg chg="delSp">
        <pc:chgData name="Emily Shockley" userId="S::eshockley@microsoft.com::a55e4893-a8d8-4ae8-b1b2-aa78ff14ed1d" providerId="AD" clId="Web-{7C0631AA-DBE0-8103-1B44-E95FA690F0D4}" dt="2025-07-06T05:43:35.640" v="4"/>
        <pc:sldMkLst>
          <pc:docMk/>
          <pc:sldMk cId="3291269963" sldId="21474698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earn.microsoft.com/en-us/azure/architecture/guide/aks/aks-cicd-github-actions-and-gitop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github.com/Azure/login"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9/8/2025</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9/8/2025</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9/8/2025</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47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smtClean="0"/>
              <a:pPr lvl="0"/>
              <a:t>4</a:t>
            </a:fld>
            <a:endParaRPr lang="en-US" noProof="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smtClean="0"/>
              <a:t>9/8/2025</a:t>
            </a:fld>
            <a:endParaRPr lang="en-US"/>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664352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5</a:t>
            </a:fld>
            <a:endParaRPr lang="en-US"/>
          </a:p>
        </p:txBody>
      </p:sp>
      <p:sp>
        <p:nvSpPr>
          <p:cNvPr id="3" name="Date Placeholder 2">
            <a:extLst>
              <a:ext uri="{FF2B5EF4-FFF2-40B4-BE49-F238E27FC236}">
                <a16:creationId xmlns:a16="http://schemas.microsoft.com/office/drawing/2014/main" id="{253F21FE-6D90-469E-9047-D9E85B68DF6B}"/>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C7B11183-186A-4BBC-B2F8-7884666DA1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F5BB2EB-6EC5-46BF-B848-AF78DF3313FB}"/>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D2DE8FA8-BD65-4569-8095-2AAA0C0CEA0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38753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CI/CD for AKS apps with GitHub Actions and </a:t>
            </a:r>
            <a:r>
              <a:rPr lang="en-US" dirty="0" err="1">
                <a:hlinkClick r:id="rId3"/>
              </a:rPr>
              <a:t>GitFlow</a:t>
            </a:r>
            <a:r>
              <a:rPr lang="en-US" dirty="0">
                <a:hlinkClick r:id="rId3"/>
              </a:rPr>
              <a:t> - Azure Example Scenarios | Microsoft Learn</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10</a:t>
            </a:fld>
            <a:endParaRPr lang="en-US"/>
          </a:p>
        </p:txBody>
      </p:sp>
    </p:spTree>
    <p:extLst>
      <p:ext uri="{BB962C8B-B14F-4D97-AF65-F5344CB8AC3E}">
        <p14:creationId xmlns:p14="http://schemas.microsoft.com/office/powerpoint/2010/main" val="1290396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1200"/>
              </a:spcBef>
              <a:spcAft>
                <a:spcPts val="1200"/>
              </a:spcAft>
              <a:buFont typeface="+mj-lt"/>
              <a:buAutoNum type="arabicPeriod"/>
            </a:pPr>
            <a:r>
              <a:rPr lang="en-GB" b="0" i="0">
                <a:solidFill>
                  <a:srgbClr val="E6E6E6"/>
                </a:solidFill>
                <a:effectLst/>
                <a:latin typeface="Segoe UI" panose="020B0502040204020203" pitchFamily="34" charset="0"/>
              </a:rPr>
              <a:t>The Kubernetes administrator makes configuration changes in YAML files and commits the changes to the GitHub repository.</a:t>
            </a:r>
          </a:p>
          <a:p>
            <a:pPr algn="l">
              <a:spcBef>
                <a:spcPts val="1200"/>
              </a:spcBef>
              <a:spcAft>
                <a:spcPts val="1200"/>
              </a:spcAft>
              <a:buFont typeface="+mj-lt"/>
              <a:buAutoNum type="arabicPeriod"/>
            </a:pPr>
            <a:r>
              <a:rPr lang="en-GB" b="0" i="0">
                <a:solidFill>
                  <a:srgbClr val="E6E6E6"/>
                </a:solidFill>
                <a:effectLst/>
                <a:latin typeface="Segoe UI" panose="020B0502040204020203" pitchFamily="34" charset="0"/>
              </a:rPr>
              <a:t>Argo CD pulls the changes from the Git repository.</a:t>
            </a:r>
          </a:p>
          <a:p>
            <a:pPr algn="l">
              <a:spcBef>
                <a:spcPts val="1200"/>
              </a:spcBef>
              <a:spcAft>
                <a:spcPts val="1200"/>
              </a:spcAft>
              <a:buFont typeface="+mj-lt"/>
              <a:buAutoNum type="arabicPeriod"/>
            </a:pPr>
            <a:r>
              <a:rPr lang="en-GB" b="0" i="0">
                <a:solidFill>
                  <a:srgbClr val="E6E6E6"/>
                </a:solidFill>
                <a:effectLst/>
                <a:latin typeface="Segoe UI" panose="020B0502040204020203" pitchFamily="34" charset="0"/>
              </a:rPr>
              <a:t>Argo CD reconciles the configuration changes to the AKS cluster.</a:t>
            </a:r>
          </a:p>
          <a:p>
            <a:endParaRPr lang="en-GB"/>
          </a:p>
        </p:txBody>
      </p:sp>
      <p:sp>
        <p:nvSpPr>
          <p:cNvPr id="4" name="Slide Number Placeholder 3"/>
          <p:cNvSpPr>
            <a:spLocks noGrp="1"/>
          </p:cNvSpPr>
          <p:nvPr>
            <p:ph type="sldNum" sz="quarter" idx="5"/>
          </p:nvPr>
        </p:nvSpPr>
        <p:spPr/>
        <p:txBody>
          <a:bodyPr/>
          <a:lstStyle/>
          <a:p>
            <a:fld id="{2625FF2B-9848-40D4-A961-E928D17E1660}" type="slidenum">
              <a:rPr lang="en-US" smtClean="0"/>
              <a:t>11</a:t>
            </a:fld>
            <a:endParaRPr lang="en-US"/>
          </a:p>
        </p:txBody>
      </p:sp>
    </p:spTree>
    <p:extLst>
      <p:ext uri="{BB962C8B-B14F-4D97-AF65-F5344CB8AC3E}">
        <p14:creationId xmlns:p14="http://schemas.microsoft.com/office/powerpoint/2010/main" val="1102216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1200"/>
              </a:spcBef>
              <a:spcAft>
                <a:spcPts val="1200"/>
              </a:spcAft>
              <a:buFont typeface="+mj-lt"/>
              <a:buAutoNum type="arabicPeriod"/>
            </a:pPr>
            <a:r>
              <a:rPr lang="en-GB" b="0" i="0">
                <a:solidFill>
                  <a:srgbClr val="E6E6E6"/>
                </a:solidFill>
                <a:effectLst/>
                <a:latin typeface="Segoe UI" panose="020B0502040204020203" pitchFamily="34" charset="0"/>
              </a:rPr>
              <a:t>The app code is developed by using an IDE such as Visual Studio Code.</a:t>
            </a:r>
          </a:p>
          <a:p>
            <a:pPr algn="l">
              <a:spcBef>
                <a:spcPts val="1200"/>
              </a:spcBef>
              <a:spcAft>
                <a:spcPts val="1200"/>
              </a:spcAft>
              <a:buFont typeface="+mj-lt"/>
              <a:buAutoNum type="arabicPeriod"/>
            </a:pPr>
            <a:r>
              <a:rPr lang="en-GB" b="0" i="0">
                <a:solidFill>
                  <a:srgbClr val="E6E6E6"/>
                </a:solidFill>
                <a:effectLst/>
                <a:latin typeface="Segoe UI" panose="020B0502040204020203" pitchFamily="34" charset="0"/>
              </a:rPr>
              <a:t>The app code is committed to a GitHub repository.</a:t>
            </a:r>
          </a:p>
          <a:p>
            <a:pPr algn="l">
              <a:spcBef>
                <a:spcPts val="1200"/>
              </a:spcBef>
              <a:spcAft>
                <a:spcPts val="1200"/>
              </a:spcAft>
              <a:buFont typeface="+mj-lt"/>
              <a:buAutoNum type="arabicPeriod"/>
            </a:pPr>
            <a:r>
              <a:rPr lang="en-GB" b="0" i="0">
                <a:solidFill>
                  <a:srgbClr val="E6E6E6"/>
                </a:solidFill>
                <a:effectLst/>
                <a:latin typeface="Segoe UI" panose="020B0502040204020203" pitchFamily="34" charset="0"/>
              </a:rPr>
              <a:t>GitHub Actions builds a container image from the app code and pushes the container image to Azure Container Registry.</a:t>
            </a:r>
          </a:p>
          <a:p>
            <a:pPr algn="l">
              <a:spcBef>
                <a:spcPts val="1200"/>
              </a:spcBef>
              <a:spcAft>
                <a:spcPts val="1200"/>
              </a:spcAft>
              <a:buFont typeface="+mj-lt"/>
              <a:buAutoNum type="arabicPeriod"/>
            </a:pPr>
            <a:r>
              <a:rPr lang="en-GB" b="0" i="0">
                <a:solidFill>
                  <a:srgbClr val="E6E6E6"/>
                </a:solidFill>
                <a:effectLst/>
                <a:latin typeface="Segoe UI" panose="020B0502040204020203" pitchFamily="34" charset="0"/>
              </a:rPr>
              <a:t>GitHub Actions updates a Kubernetes manifest deployment file with the current image version that's based on the version number of the container image in Azure Container Registry.</a:t>
            </a:r>
          </a:p>
          <a:p>
            <a:pPr algn="l">
              <a:spcBef>
                <a:spcPts val="1200"/>
              </a:spcBef>
              <a:spcAft>
                <a:spcPts val="1200"/>
              </a:spcAft>
              <a:buFont typeface="+mj-lt"/>
              <a:buAutoNum type="arabicPeriod"/>
            </a:pPr>
            <a:r>
              <a:rPr lang="en-GB" b="0" i="0">
                <a:solidFill>
                  <a:srgbClr val="E6E6E6"/>
                </a:solidFill>
                <a:effectLst/>
                <a:latin typeface="Segoe UI" panose="020B0502040204020203" pitchFamily="34" charset="0"/>
              </a:rPr>
              <a:t>Argo CD pulls from the Git repository.</a:t>
            </a:r>
          </a:p>
          <a:p>
            <a:pPr algn="l">
              <a:spcBef>
                <a:spcPts val="1200"/>
              </a:spcBef>
              <a:spcAft>
                <a:spcPts val="1200"/>
              </a:spcAft>
              <a:buFont typeface="+mj-lt"/>
              <a:buAutoNum type="arabicPeriod"/>
            </a:pPr>
            <a:r>
              <a:rPr lang="en-GB" b="0" i="0">
                <a:solidFill>
                  <a:srgbClr val="E6E6E6"/>
                </a:solidFill>
                <a:effectLst/>
                <a:latin typeface="Segoe UI" panose="020B0502040204020203" pitchFamily="34" charset="0"/>
              </a:rPr>
              <a:t>Argo CD deploys the app to the AKS cluster.</a:t>
            </a:r>
          </a:p>
          <a:p>
            <a:endParaRPr lang="en-GB"/>
          </a:p>
          <a:p>
            <a:r>
              <a:rPr lang="en-GB"/>
              <a:t>Pull vs Push</a:t>
            </a:r>
          </a:p>
          <a:p>
            <a:endParaRPr lang="en-GB"/>
          </a:p>
          <a:p>
            <a:r>
              <a:rPr lang="en-GB"/>
              <a:t>Large scale</a:t>
            </a:r>
          </a:p>
          <a:p>
            <a:r>
              <a:rPr lang="en-GB"/>
              <a:t>Semi disconnected</a:t>
            </a:r>
          </a:p>
          <a:p>
            <a:endParaRPr lang="en-GB"/>
          </a:p>
        </p:txBody>
      </p:sp>
      <p:sp>
        <p:nvSpPr>
          <p:cNvPr id="4" name="Slide Number Placeholder 3"/>
          <p:cNvSpPr>
            <a:spLocks noGrp="1"/>
          </p:cNvSpPr>
          <p:nvPr>
            <p:ph type="sldNum" sz="quarter" idx="5"/>
          </p:nvPr>
        </p:nvSpPr>
        <p:spPr/>
        <p:txBody>
          <a:bodyPr/>
          <a:lstStyle/>
          <a:p>
            <a:fld id="{2625FF2B-9848-40D4-A961-E928D17E1660}" type="slidenum">
              <a:rPr lang="en-US" smtClean="0"/>
              <a:t>12</a:t>
            </a:fld>
            <a:endParaRPr lang="en-US"/>
          </a:p>
        </p:txBody>
      </p:sp>
    </p:spTree>
    <p:extLst>
      <p:ext uri="{BB962C8B-B14F-4D97-AF65-F5344CB8AC3E}">
        <p14:creationId xmlns:p14="http://schemas.microsoft.com/office/powerpoint/2010/main" val="1540014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1200"/>
              </a:spcAft>
              <a:buFont typeface="+mj-lt"/>
              <a:buAutoNum type="arabicPeriod"/>
            </a:pPr>
            <a:r>
              <a:rPr lang="en-GB" b="0" i="0" dirty="0">
                <a:solidFill>
                  <a:srgbClr val="E6EDF3"/>
                </a:solidFill>
                <a:effectLst/>
                <a:latin typeface="-apple-system"/>
              </a:rPr>
              <a:t>In your cloud provider, create an OIDC trust between your cloud role and your GitHub workflow(s) that need access to the cloud.</a:t>
            </a:r>
          </a:p>
          <a:p>
            <a:pPr algn="l">
              <a:spcAft>
                <a:spcPts val="1200"/>
              </a:spcAft>
              <a:buFont typeface="+mj-lt"/>
              <a:buAutoNum type="arabicPeriod"/>
            </a:pPr>
            <a:r>
              <a:rPr lang="en-GB" b="0" i="0" dirty="0">
                <a:solidFill>
                  <a:srgbClr val="E6EDF3"/>
                </a:solidFill>
                <a:effectLst/>
                <a:latin typeface="-apple-system"/>
              </a:rPr>
              <a:t>Every time your job runs, GitHub's OIDC Provider auto-generates an OIDC token. This token contains multiple claims to establish a security-hardened and verifiable identity about the specific workflow that is trying to authenticate.</a:t>
            </a:r>
          </a:p>
          <a:p>
            <a:pPr algn="l">
              <a:spcAft>
                <a:spcPts val="1200"/>
              </a:spcAft>
              <a:buFont typeface="+mj-lt"/>
              <a:buAutoNum type="arabicPeriod"/>
            </a:pPr>
            <a:r>
              <a:rPr lang="en-GB" b="0" i="0" dirty="0">
                <a:solidFill>
                  <a:srgbClr val="E6EDF3"/>
                </a:solidFill>
                <a:effectLst/>
                <a:latin typeface="-apple-system"/>
              </a:rPr>
              <a:t>You could include a step or action in your job to request this token from GitHub's OIDC provider, and present it to the cloud provider.</a:t>
            </a:r>
          </a:p>
          <a:p>
            <a:pPr algn="l">
              <a:spcAft>
                <a:spcPts val="1200"/>
              </a:spcAft>
              <a:buFont typeface="+mj-lt"/>
              <a:buAutoNum type="arabicPeriod"/>
            </a:pPr>
            <a:r>
              <a:rPr lang="en-GB" b="0" i="0" dirty="0">
                <a:solidFill>
                  <a:srgbClr val="E6EDF3"/>
                </a:solidFill>
                <a:effectLst/>
                <a:latin typeface="-apple-system"/>
              </a:rPr>
              <a:t>Once the cloud provider successfully validates the claims presented in the token, it then provides a short-lived cloud access token that is available only for the duration of the job.</a:t>
            </a:r>
          </a:p>
          <a:p>
            <a:endParaRPr lang="en-GB" dirty="0"/>
          </a:p>
          <a:p>
            <a:endParaRPr lang="en-GB" dirty="0"/>
          </a:p>
          <a:p>
            <a:endParaRPr lang="en-GB" dirty="0"/>
          </a:p>
          <a:p>
            <a:r>
              <a:rPr lang="en-GB" dirty="0"/>
              <a:t>https://learn.microsoft.com/en-us/entra/workload-id/workload-identity-federation</a:t>
            </a:r>
          </a:p>
        </p:txBody>
      </p:sp>
      <p:sp>
        <p:nvSpPr>
          <p:cNvPr id="4" name="Slide Number Placeholder 3"/>
          <p:cNvSpPr>
            <a:spLocks noGrp="1"/>
          </p:cNvSpPr>
          <p:nvPr>
            <p:ph type="sldNum" sz="quarter" idx="5"/>
          </p:nvPr>
        </p:nvSpPr>
        <p:spPr/>
        <p:txBody>
          <a:bodyPr/>
          <a:lstStyle/>
          <a:p>
            <a:fld id="{2625FF2B-9848-40D4-A961-E928D17E1660}" type="slidenum">
              <a:rPr lang="en-US" smtClean="0"/>
              <a:t>13</a:t>
            </a:fld>
            <a:endParaRPr lang="en-US"/>
          </a:p>
        </p:txBody>
      </p:sp>
    </p:spTree>
    <p:extLst>
      <p:ext uri="{BB962C8B-B14F-4D97-AF65-F5344CB8AC3E}">
        <p14:creationId xmlns:p14="http://schemas.microsoft.com/office/powerpoint/2010/main" val="1819246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FF21-1DE1-9753-242F-15958807EF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5E3F8-E888-DF32-AAB4-6D5E28E43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02155F-CCD8-4CA2-132E-7DC29F9D9DAF}"/>
              </a:ext>
            </a:extLst>
          </p:cNvPr>
          <p:cNvSpPr>
            <a:spLocks noGrp="1"/>
          </p:cNvSpPr>
          <p:nvPr>
            <p:ph type="body" idx="1"/>
          </p:nvPr>
        </p:nvSpPr>
        <p:spPr/>
        <p:txBody>
          <a:bodyPr/>
          <a:lstStyle/>
          <a:p>
            <a:endParaRPr lang="en-GB" dirty="0"/>
          </a:p>
          <a:p>
            <a:r>
              <a:rPr lang="en-US" dirty="0"/>
              <a:t>Adding the federated credentials to Azure</a:t>
            </a:r>
          </a:p>
          <a:p>
            <a:r>
              <a:rPr lang="en-US" dirty="0"/>
              <a:t>	</a:t>
            </a:r>
            <a:r>
              <a:rPr lang="en-US" sz="1200" b="0" i="0" kern="1200" dirty="0">
                <a:solidFill>
                  <a:schemeClr val="tx1"/>
                </a:solidFill>
                <a:effectLst/>
                <a:latin typeface="+mn-lt"/>
                <a:ea typeface="+mn-ea"/>
                <a:cs typeface="+mn-cs"/>
              </a:rPr>
              <a:t>Create an Entra ID application and a service principal.</a:t>
            </a:r>
          </a:p>
          <a:p>
            <a:r>
              <a:rPr lang="en-US" sz="1200" b="0" i="0" kern="1200" dirty="0">
                <a:solidFill>
                  <a:schemeClr val="tx1"/>
                </a:solidFill>
                <a:effectLst/>
                <a:latin typeface="+mn-lt"/>
                <a:ea typeface="+mn-ea"/>
                <a:cs typeface="+mn-cs"/>
              </a:rPr>
              <a:t>	Add federated credentials for the Entra ID application.</a:t>
            </a:r>
          </a:p>
          <a:p>
            <a:r>
              <a:rPr lang="en-US" sz="1200" b="0" i="0" kern="1200" dirty="0">
                <a:solidFill>
                  <a:schemeClr val="tx1"/>
                </a:solidFill>
                <a:effectLst/>
                <a:latin typeface="+mn-lt"/>
                <a:ea typeface="+mn-ea"/>
                <a:cs typeface="+mn-cs"/>
              </a:rPr>
              <a:t>	Create GitHub secrets for storing Azure configuration.</a:t>
            </a:r>
          </a:p>
          <a:p>
            <a:endParaRPr lang="en-US" dirty="0"/>
          </a:p>
          <a:p>
            <a:endParaRPr lang="en-US" dirty="0"/>
          </a:p>
          <a:p>
            <a:r>
              <a:rPr lang="en-US" dirty="0"/>
              <a:t>Updating your GitHub Actions workflow </a:t>
            </a:r>
            <a:r>
              <a:rPr lang="en-US" dirty="0" err="1"/>
              <a:t>yml</a:t>
            </a:r>
            <a:r>
              <a:rPr lang="en-US" dirty="0"/>
              <a:t> file</a:t>
            </a:r>
          </a:p>
          <a:p>
            <a:r>
              <a:rPr lang="en-US" dirty="0"/>
              <a:t>	</a:t>
            </a:r>
            <a:r>
              <a:rPr lang="en-US" sz="1200" b="0" i="0" kern="1200" dirty="0">
                <a:solidFill>
                  <a:schemeClr val="tx1"/>
                </a:solidFill>
                <a:effectLst/>
                <a:latin typeface="+mn-lt"/>
                <a:ea typeface="+mn-ea"/>
                <a:cs typeface="+mn-cs"/>
              </a:rPr>
              <a:t>Add permissions settings for the token.</a:t>
            </a:r>
          </a:p>
          <a:p>
            <a:r>
              <a:rPr lang="en-US" sz="1200" b="0" i="0" kern="1200" dirty="0">
                <a:solidFill>
                  <a:schemeClr val="tx1"/>
                </a:solidFill>
                <a:effectLst/>
                <a:latin typeface="+mn-lt"/>
                <a:ea typeface="+mn-ea"/>
                <a:cs typeface="+mn-cs"/>
              </a:rPr>
              <a:t>                        Use the </a:t>
            </a:r>
            <a:r>
              <a:rPr lang="en-US" sz="1200" b="0" i="0" u="sng" kern="1200" dirty="0">
                <a:solidFill>
                  <a:schemeClr val="tx1"/>
                </a:solidFill>
                <a:effectLst/>
                <a:latin typeface="+mn-lt"/>
                <a:ea typeface="+mn-ea"/>
                <a:cs typeface="+mn-cs"/>
                <a:hlinkClick r:id="rId3"/>
              </a:rPr>
              <a:t>azure/login</a:t>
            </a:r>
            <a:r>
              <a:rPr lang="en-US" sz="1200" b="0" i="0" kern="1200" dirty="0">
                <a:solidFill>
                  <a:schemeClr val="tx1"/>
                </a:solidFill>
                <a:effectLst/>
                <a:latin typeface="+mn-lt"/>
                <a:ea typeface="+mn-ea"/>
                <a:cs typeface="+mn-cs"/>
              </a:rPr>
              <a:t> action to exchange the OIDC token (JWT) for a cloud access token.</a:t>
            </a:r>
          </a:p>
          <a:p>
            <a:endParaRPr lang="en-US" dirty="0"/>
          </a:p>
          <a:p>
            <a:endParaRPr lang="en-US" dirty="0"/>
          </a:p>
          <a:p>
            <a:r>
              <a:rPr lang="en-US" dirty="0"/>
              <a:t>Adding permissions settings – Sample in </a:t>
            </a:r>
            <a:r>
              <a:rPr lang="en-US" dirty="0" err="1"/>
              <a:t>yml</a:t>
            </a:r>
            <a:r>
              <a:rPr lang="en-US" dirty="0"/>
              <a:t> file using permission key word</a:t>
            </a:r>
          </a:p>
          <a:p>
            <a:r>
              <a:rPr lang="en-US" dirty="0"/>
              <a:t>	permissions:   id-token: write # This is required for requesting the JWT</a:t>
            </a:r>
          </a:p>
          <a:p>
            <a:r>
              <a:rPr lang="en-US" dirty="0"/>
              <a:t>  	contents: read  # This is required for actions/checkout</a:t>
            </a:r>
          </a:p>
          <a:p>
            <a:endParaRPr lang="en-US" dirty="0"/>
          </a:p>
          <a:p>
            <a:endParaRPr lang="en-US" dirty="0"/>
          </a:p>
          <a:p>
            <a:r>
              <a:rPr lang="en-US" dirty="0"/>
              <a:t>Requesting the access token – use azure/login action. See the </a:t>
            </a:r>
            <a:r>
              <a:rPr lang="en-US" dirty="0" err="1"/>
              <a:t>sameple</a:t>
            </a:r>
            <a:r>
              <a:rPr lang="en-US" dirty="0"/>
              <a:t> </a:t>
            </a:r>
            <a:r>
              <a:rPr lang="en-US" dirty="0" err="1"/>
              <a:t>yml</a:t>
            </a:r>
            <a:r>
              <a:rPr lang="en-US" dirty="0"/>
              <a:t>. The </a:t>
            </a:r>
            <a:r>
              <a:rPr lang="en-US" dirty="0" err="1"/>
              <a:t>Client_ID</a:t>
            </a:r>
            <a:r>
              <a:rPr lang="en-US" dirty="0"/>
              <a:t>, TENANT_ID and SUB_ID should be set up in Step 1</a:t>
            </a:r>
          </a:p>
          <a:p>
            <a:endParaRPr lang="en-US" dirty="0"/>
          </a:p>
          <a:p>
            <a:r>
              <a:rPr lang="en-US" dirty="0"/>
              <a:t>name: Run Azure Login with OIDC</a:t>
            </a:r>
          </a:p>
          <a:p>
            <a:r>
              <a:rPr lang="en-US" dirty="0"/>
              <a:t>on: [push]</a:t>
            </a:r>
          </a:p>
          <a:p>
            <a:endParaRPr lang="en-US" dirty="0"/>
          </a:p>
          <a:p>
            <a:r>
              <a:rPr lang="en-US" dirty="0"/>
              <a:t>permissions:</a:t>
            </a:r>
          </a:p>
          <a:p>
            <a:r>
              <a:rPr lang="en-US" dirty="0"/>
              <a:t>  id-token: write</a:t>
            </a:r>
          </a:p>
          <a:p>
            <a:r>
              <a:rPr lang="en-US" dirty="0"/>
              <a:t>  contents: read</a:t>
            </a:r>
          </a:p>
          <a:p>
            <a:r>
              <a:rPr lang="en-US" dirty="0"/>
              <a:t>jobs:</a:t>
            </a:r>
          </a:p>
          <a:p>
            <a:r>
              <a:rPr lang="en-US" dirty="0"/>
              <a:t>  build-and-deploy:</a:t>
            </a:r>
          </a:p>
          <a:p>
            <a:r>
              <a:rPr lang="en-US" dirty="0"/>
              <a:t>    runs-on: ubuntu-latest</a:t>
            </a:r>
          </a:p>
          <a:p>
            <a:r>
              <a:rPr lang="en-US" dirty="0"/>
              <a:t>    steps:</a:t>
            </a:r>
          </a:p>
          <a:p>
            <a:r>
              <a:rPr lang="en-US" dirty="0"/>
              <a:t>      - name: 'Az CLI login'</a:t>
            </a:r>
          </a:p>
          <a:p>
            <a:r>
              <a:rPr lang="en-US" dirty="0"/>
              <a:t>        uses: azure/login@a1b2c3d4e5f6a7b8c9d0e1f2a3b4c5d6e7f8a9b0</a:t>
            </a:r>
          </a:p>
          <a:p>
            <a:r>
              <a:rPr lang="en-US" dirty="0"/>
              <a:t>        with:</a:t>
            </a:r>
          </a:p>
          <a:p>
            <a:r>
              <a:rPr lang="en-US" dirty="0"/>
              <a:t>          client-id: ${{ </a:t>
            </a:r>
            <a:r>
              <a:rPr lang="en-US" dirty="0" err="1"/>
              <a:t>secrets.AZURE_CLIENT_ID</a:t>
            </a:r>
            <a:r>
              <a:rPr lang="en-US" dirty="0"/>
              <a:t> }}</a:t>
            </a:r>
          </a:p>
          <a:p>
            <a:r>
              <a:rPr lang="en-US" dirty="0"/>
              <a:t>          tenant-id: ${{ </a:t>
            </a:r>
            <a:r>
              <a:rPr lang="en-US" dirty="0" err="1"/>
              <a:t>secrets.AZURE_TENANT_ID</a:t>
            </a:r>
            <a:r>
              <a:rPr lang="en-US" dirty="0"/>
              <a:t> }}</a:t>
            </a:r>
          </a:p>
          <a:p>
            <a:r>
              <a:rPr lang="en-US" dirty="0"/>
              <a:t>          subscription-id: ${{ </a:t>
            </a:r>
            <a:r>
              <a:rPr lang="en-US" dirty="0" err="1"/>
              <a:t>secrets.AZURE_SUBSCRIPTION_ID</a:t>
            </a:r>
            <a:r>
              <a:rPr lang="en-US" dirty="0"/>
              <a:t> }}</a:t>
            </a:r>
          </a:p>
          <a:p>
            <a:endParaRPr lang="en-US" dirty="0"/>
          </a:p>
          <a:p>
            <a:r>
              <a:rPr lang="en-US" dirty="0"/>
              <a:t>      - name: 'Run </a:t>
            </a:r>
            <a:r>
              <a:rPr lang="en-US" dirty="0" err="1"/>
              <a:t>az</a:t>
            </a:r>
            <a:r>
              <a:rPr lang="en-US" dirty="0"/>
              <a:t> commands'</a:t>
            </a:r>
          </a:p>
          <a:p>
            <a:r>
              <a:rPr lang="en-US" dirty="0"/>
              <a:t>        run: |</a:t>
            </a:r>
          </a:p>
          <a:p>
            <a:r>
              <a:rPr lang="en-US" dirty="0"/>
              <a:t>          </a:t>
            </a:r>
            <a:r>
              <a:rPr lang="en-US" dirty="0" err="1"/>
              <a:t>az</a:t>
            </a:r>
            <a:r>
              <a:rPr lang="en-US" dirty="0"/>
              <a:t> account show</a:t>
            </a:r>
          </a:p>
          <a:p>
            <a:r>
              <a:rPr lang="en-US" dirty="0"/>
              <a:t>          </a:t>
            </a:r>
            <a:r>
              <a:rPr lang="en-US" dirty="0" err="1"/>
              <a:t>az</a:t>
            </a:r>
            <a:r>
              <a:rPr lang="en-US" dirty="0"/>
              <a:t> group list</a:t>
            </a:r>
          </a:p>
          <a:p>
            <a:endParaRPr lang="en-US" dirty="0"/>
          </a:p>
          <a:p>
            <a:endParaRPr lang="en-GB" dirty="0"/>
          </a:p>
          <a:p>
            <a:endParaRPr lang="en-GB" dirty="0"/>
          </a:p>
          <a:p>
            <a:endParaRPr lang="en-GB" dirty="0"/>
          </a:p>
          <a:p>
            <a:endParaRPr lang="en-GB" dirty="0"/>
          </a:p>
          <a:p>
            <a:endParaRPr lang="en-GB" dirty="0"/>
          </a:p>
          <a:p>
            <a:r>
              <a:rPr lang="en-GB" dirty="0"/>
              <a:t>https://learn.microsoft.com/en-us/azure/developer/github/connect-from-azure-openid-connect</a:t>
            </a:r>
          </a:p>
          <a:p>
            <a:endParaRPr lang="en-GB" dirty="0"/>
          </a:p>
          <a:p>
            <a:r>
              <a:rPr lang="en-GB" dirty="0"/>
              <a:t>https://docs.github.com/en/actions/security-for-github-actions/security-hardening-your-deployments/configuring-openid-connect-in-azure</a:t>
            </a:r>
          </a:p>
        </p:txBody>
      </p:sp>
      <p:sp>
        <p:nvSpPr>
          <p:cNvPr id="4" name="Slide Number Placeholder 3">
            <a:extLst>
              <a:ext uri="{FF2B5EF4-FFF2-40B4-BE49-F238E27FC236}">
                <a16:creationId xmlns:a16="http://schemas.microsoft.com/office/drawing/2014/main" id="{F2B8D560-5275-0805-7DBD-D97D7B1B05C2}"/>
              </a:ext>
            </a:extLst>
          </p:cNvPr>
          <p:cNvSpPr>
            <a:spLocks noGrp="1"/>
          </p:cNvSpPr>
          <p:nvPr>
            <p:ph type="sldNum" sz="quarter" idx="5"/>
          </p:nvPr>
        </p:nvSpPr>
        <p:spPr/>
        <p:txBody>
          <a:bodyPr/>
          <a:lstStyle/>
          <a:p>
            <a:fld id="{2625FF2B-9848-40D4-A961-E928D17E1660}" type="slidenum">
              <a:rPr lang="en-US" smtClean="0"/>
              <a:t>14</a:t>
            </a:fld>
            <a:endParaRPr lang="en-US"/>
          </a:p>
        </p:txBody>
      </p:sp>
    </p:spTree>
    <p:extLst>
      <p:ext uri="{BB962C8B-B14F-4D97-AF65-F5344CB8AC3E}">
        <p14:creationId xmlns:p14="http://schemas.microsoft.com/office/powerpoint/2010/main" val="3857321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CD4C9-C1E6-2D45-01A6-1A4980A9407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948C91-A353-DCE8-8E71-F85CD9A37844}"/>
              </a:ext>
            </a:extLst>
          </p:cNvPr>
          <p:cNvSpPr>
            <a:spLocks noGrp="1"/>
          </p:cNvSpPr>
          <p:nvPr>
            <p:ph type="sldNum" sz="quarter" idx="10"/>
          </p:nvPr>
        </p:nvSpPr>
        <p:spPr/>
        <p:txBody>
          <a:bodyPr/>
          <a:lstStyle/>
          <a:p>
            <a:fld id="{F475C4C8-7DEA-455A-9336-A4C7DB3AE516}" type="slidenum">
              <a:rPr lang="en-US"/>
              <a:pPr/>
              <a:t>15</a:t>
            </a:fld>
            <a:endParaRPr lang="en-US"/>
          </a:p>
        </p:txBody>
      </p:sp>
      <p:sp>
        <p:nvSpPr>
          <p:cNvPr id="3" name="Date Placeholder 2">
            <a:extLst>
              <a:ext uri="{FF2B5EF4-FFF2-40B4-BE49-F238E27FC236}">
                <a16:creationId xmlns:a16="http://schemas.microsoft.com/office/drawing/2014/main" id="{6F50AC19-C53D-09F8-745B-CDA6A4B9B56E}"/>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BF7566A4-13DA-F57D-0A6D-4FDFA0C7D5A9}"/>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59442070-2C46-3058-A54B-72A36080C71F}"/>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7776B893-9EB7-C31C-6538-1BCAA2261775}"/>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189503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open source alternatives are mentioned in this slide its important to mention the end to end integration that is present in leveraging things like defender for image scanning since its directly integrated into things like ACR and requires no additional config to gather logs etc.</a:t>
            </a:r>
          </a:p>
        </p:txBody>
      </p:sp>
      <p:sp>
        <p:nvSpPr>
          <p:cNvPr id="4" name="Slide Number Placeholder 3"/>
          <p:cNvSpPr>
            <a:spLocks noGrp="1"/>
          </p:cNvSpPr>
          <p:nvPr>
            <p:ph type="sldNum" sz="quarter" idx="5"/>
          </p:nvPr>
        </p:nvSpPr>
        <p:spPr/>
        <p:txBody>
          <a:bodyPr/>
          <a:lstStyle/>
          <a:p>
            <a:fld id="{2625FF2B-9848-40D4-A961-E928D17E1660}" type="slidenum">
              <a:rPr lang="en-US" smtClean="0"/>
              <a:t>17</a:t>
            </a:fld>
            <a:endParaRPr lang="en-US"/>
          </a:p>
        </p:txBody>
      </p:sp>
    </p:spTree>
    <p:extLst>
      <p:ext uri="{BB962C8B-B14F-4D97-AF65-F5344CB8AC3E}">
        <p14:creationId xmlns:p14="http://schemas.microsoft.com/office/powerpoint/2010/main" val="824506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AEF5F-3C80-4CEE-1ADE-6A2F25FC6EA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B4E7DD-9550-8ADE-EB1F-E4C0B8D253E0}"/>
              </a:ext>
            </a:extLst>
          </p:cNvPr>
          <p:cNvSpPr>
            <a:spLocks noGrp="1"/>
          </p:cNvSpPr>
          <p:nvPr>
            <p:ph type="sldNum" sz="quarter" idx="10"/>
          </p:nvPr>
        </p:nvSpPr>
        <p:spPr/>
        <p:txBody>
          <a:bodyPr/>
          <a:lstStyle/>
          <a:p>
            <a:fld id="{F475C4C8-7DEA-455A-9336-A4C7DB3AE516}" type="slidenum">
              <a:rPr lang="en-US"/>
              <a:pPr/>
              <a:t>18</a:t>
            </a:fld>
            <a:endParaRPr lang="en-US"/>
          </a:p>
        </p:txBody>
      </p:sp>
      <p:sp>
        <p:nvSpPr>
          <p:cNvPr id="3" name="Date Placeholder 2">
            <a:extLst>
              <a:ext uri="{FF2B5EF4-FFF2-40B4-BE49-F238E27FC236}">
                <a16:creationId xmlns:a16="http://schemas.microsoft.com/office/drawing/2014/main" id="{2780A074-3BDA-668C-89B0-EBD02D96F0BC}"/>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E93EC8D7-B382-D7AE-2B82-FF92E052FDE0}"/>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3226381E-CFEE-7F4B-8E7E-E1386E02286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1DD61057-DFAC-9E91-1639-37C918AC1AE7}"/>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820693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19</a:t>
            </a:fld>
            <a:endParaRPr lang="en-US"/>
          </a:p>
        </p:txBody>
      </p:sp>
    </p:spTree>
    <p:extLst>
      <p:ext uri="{BB962C8B-B14F-4D97-AF65-F5344CB8AC3E}">
        <p14:creationId xmlns:p14="http://schemas.microsoft.com/office/powerpoint/2010/main" val="2139339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21</a:t>
            </a:fld>
            <a:endParaRPr lang="en-US"/>
          </a:p>
        </p:txBody>
      </p:sp>
    </p:spTree>
    <p:extLst>
      <p:ext uri="{BB962C8B-B14F-4D97-AF65-F5344CB8AC3E}">
        <p14:creationId xmlns:p14="http://schemas.microsoft.com/office/powerpoint/2010/main" val="329348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291E1-B230-CC03-B6AD-DC2DFE0A184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CC527A-838A-5FCF-7FA3-5121EE54C808}"/>
              </a:ext>
            </a:extLst>
          </p:cNvPr>
          <p:cNvSpPr>
            <a:spLocks noGrp="1"/>
          </p:cNvSpPr>
          <p:nvPr>
            <p:ph type="sldNum" sz="quarter" idx="10"/>
          </p:nvPr>
        </p:nvSpPr>
        <p:spPr/>
        <p:txBody>
          <a:bodyPr/>
          <a:lstStyle/>
          <a:p>
            <a:fld id="{F475C4C8-7DEA-455A-9336-A4C7DB3AE516}" type="slidenum">
              <a:rPr lang="en-US" smtClean="0"/>
              <a:pPr/>
              <a:t>22</a:t>
            </a:fld>
            <a:endParaRPr lang="en-US"/>
          </a:p>
        </p:txBody>
      </p:sp>
      <p:sp>
        <p:nvSpPr>
          <p:cNvPr id="6" name="Date Placeholder 5">
            <a:extLst>
              <a:ext uri="{FF2B5EF4-FFF2-40B4-BE49-F238E27FC236}">
                <a16:creationId xmlns:a16="http://schemas.microsoft.com/office/drawing/2014/main" id="{357401B0-1EBA-41DE-B603-4852B6DCD7B5}"/>
              </a:ext>
            </a:extLst>
          </p:cNvPr>
          <p:cNvSpPr>
            <a:spLocks noGrp="1"/>
          </p:cNvSpPr>
          <p:nvPr>
            <p:ph type="dt" idx="12"/>
          </p:nvPr>
        </p:nvSpPr>
        <p:spPr/>
        <p:txBody>
          <a:bodyPr/>
          <a:lstStyle/>
          <a:p>
            <a:fld id="{997C9337-20C5-41EF-80F6-63D1F94ABC0C}" type="datetime1">
              <a:rPr lang="en-US" smtClean="0"/>
              <a:t>9/8/2025</a:t>
            </a:fld>
            <a:endParaRPr lang="en-US"/>
          </a:p>
        </p:txBody>
      </p:sp>
      <p:sp>
        <p:nvSpPr>
          <p:cNvPr id="10" name="Slide Image Placeholder 9">
            <a:extLst>
              <a:ext uri="{FF2B5EF4-FFF2-40B4-BE49-F238E27FC236}">
                <a16:creationId xmlns:a16="http://schemas.microsoft.com/office/drawing/2014/main" id="{DAA5236D-31AD-0A65-084A-F5A1E1AB855C}"/>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B42667E8-84D5-B865-DD5B-69D3ADF77365}"/>
              </a:ext>
            </a:extLst>
          </p:cNvPr>
          <p:cNvSpPr>
            <a:spLocks noGrp="1"/>
          </p:cNvSpPr>
          <p:nvPr>
            <p:ph type="body" idx="1"/>
          </p:nvPr>
        </p:nvSpPr>
        <p:spPr>
          <a:xfrm>
            <a:off x="685800" y="4400550"/>
            <a:ext cx="5486400" cy="3600450"/>
          </a:xfrm>
          <a:prstGeom prst="rect">
            <a:avLst/>
          </a:prstGeom>
        </p:spPr>
        <p:txBody>
          <a:bodyPr/>
          <a:lstStyle/>
          <a:p>
            <a:pPr lvl="0" defTabSz="914460">
              <a:lnSpc>
                <a:spcPct val="90000"/>
              </a:lnSpc>
              <a:spcAft>
                <a:spcPts val="333"/>
              </a:spcAft>
              <a:defRPr/>
            </a:pPr>
            <a:r>
              <a:rPr lang="en-US" sz="882" noProof="1">
                <a:solidFill>
                  <a:prstClr val="black"/>
                </a:solidFill>
                <a:latin typeface="Segoe UI Light" pitchFamily="34" charset="0"/>
              </a:rPr>
              <a:t>Consider demoing the following:</a:t>
            </a:r>
          </a:p>
          <a:p>
            <a:pPr lvl="0" defTabSz="914460">
              <a:lnSpc>
                <a:spcPct val="90000"/>
              </a:lnSpc>
              <a:spcAft>
                <a:spcPts val="333"/>
              </a:spcAft>
              <a:defRPr/>
            </a:pPr>
            <a:endParaRPr lang="en-US" sz="882" noProof="1">
              <a:solidFill>
                <a:prstClr val="black"/>
              </a:solidFill>
              <a:latin typeface="Segoe UI Light"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Use the existing lab to create a CI pipeline in </a:t>
            </a:r>
            <a:r>
              <a:rPr lang="en-US" b="0" dirty="0" err="1"/>
              <a:t>Github</a:t>
            </a:r>
            <a:r>
              <a:rPr lang="en-US" b="0" dirty="0"/>
              <a:t> Actions to show off the matrix image build strategy being used. Talk about each stage in the build pipeline.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Walk through the entire pipeline explaining the steps.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Use the existing lab to create a CI pipeline in </a:t>
            </a:r>
            <a:r>
              <a:rPr lang="en-US" b="0" dirty="0" err="1"/>
              <a:t>Github</a:t>
            </a:r>
            <a:r>
              <a:rPr lang="en-US" b="0" dirty="0"/>
              <a:t> Actions to show off how the helm chart is used.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Walk through the entire pipeline explain some of the additional things that could be done make it more like a production quality pipeline.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lvl="0" defTabSz="914460">
              <a:lnSpc>
                <a:spcPct val="90000"/>
              </a:lnSpc>
              <a:spcAft>
                <a:spcPts val="333"/>
              </a:spcAft>
            </a:pPr>
            <a:endParaRPr lang="en-US" sz="882" dirty="0">
              <a:solidFill>
                <a:prstClr val="black"/>
              </a:solidFill>
              <a:latin typeface="Segoe UI Light" pitchFamily="34" charset="0"/>
            </a:endParaRPr>
          </a:p>
        </p:txBody>
      </p:sp>
      <p:sp>
        <p:nvSpPr>
          <p:cNvPr id="2" name="Header Placeholder 1">
            <a:extLst>
              <a:ext uri="{FF2B5EF4-FFF2-40B4-BE49-F238E27FC236}">
                <a16:creationId xmlns:a16="http://schemas.microsoft.com/office/drawing/2014/main" id="{004D63B6-CA37-4362-1621-D10A04D46BD9}"/>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593945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smtClean="0"/>
              <a:pPr/>
              <a:t>23</a:t>
            </a:fld>
            <a:endParaRPr lang="en-US"/>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smtClean="0"/>
              <a:t>9/8/2025</a:t>
            </a:fld>
            <a:endParaRPr lang="en-US"/>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93605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DBD01-E28F-4AA1-DDC9-F83DB72C479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D19C5818-73EC-48E3-62BD-614128E17078}"/>
              </a:ext>
            </a:extLst>
          </p:cNvPr>
          <p:cNvSpPr>
            <a:spLocks noGrp="1"/>
          </p:cNvSpPr>
          <p:nvPr>
            <p:ph type="body" idx="1"/>
          </p:nvPr>
        </p:nvSpPr>
        <p:spPr/>
        <p:txBody>
          <a:bodyPr/>
          <a:lstStyle/>
          <a:p>
            <a:r>
              <a:rPr lang="en-US" dirty="0"/>
              <a:t>Link to lab: https://labondemand.com/LabProfile/</a:t>
            </a:r>
          </a:p>
          <a:p>
            <a:endParaRPr lang="en-US"/>
          </a:p>
          <a:p>
            <a:r>
              <a:rPr lang="en-US" dirty="0"/>
              <a:t>##########</a:t>
            </a:r>
          </a:p>
        </p:txBody>
      </p:sp>
      <p:sp>
        <p:nvSpPr>
          <p:cNvPr id="4" name="Slide Number Placeholder 3">
            <a:extLst>
              <a:ext uri="{FF2B5EF4-FFF2-40B4-BE49-F238E27FC236}">
                <a16:creationId xmlns:a16="http://schemas.microsoft.com/office/drawing/2014/main" id="{CA05403E-3F47-7749-11DC-9CD433D87D5F}"/>
              </a:ext>
            </a:extLst>
          </p:cNvPr>
          <p:cNvSpPr>
            <a:spLocks noGrp="1"/>
          </p:cNvSpPr>
          <p:nvPr>
            <p:ph type="sldNum" sz="quarter" idx="10"/>
          </p:nvPr>
        </p:nvSpPr>
        <p:spPr/>
        <p:txBody>
          <a:bodyPr/>
          <a:lstStyle/>
          <a:p>
            <a:fld id="{B4008EB6-D09E-4580-8CD6-DDB14511944F}" type="slidenum">
              <a:rPr lang="en-US" smtClean="0"/>
              <a:pPr/>
              <a:t>25</a:t>
            </a:fld>
            <a:endParaRPr lang="en-US"/>
          </a:p>
        </p:txBody>
      </p:sp>
      <p:sp>
        <p:nvSpPr>
          <p:cNvPr id="5" name="Footer Placeholder 4">
            <a:extLst>
              <a:ext uri="{FF2B5EF4-FFF2-40B4-BE49-F238E27FC236}">
                <a16:creationId xmlns:a16="http://schemas.microsoft.com/office/drawing/2014/main" id="{9C16BB46-FDB9-1C0C-8098-AF9B8A9D943D}"/>
              </a:ext>
            </a:extLst>
          </p:cNvPr>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DE347AD0-E417-C006-3555-EE8DD2131A57}"/>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104603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15049-C340-7C2C-AC4B-FD6FE82A8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C9DBC-121F-6360-8A36-FCD86D119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B3248-C09D-E328-9DB2-42DFEA69B7F4}"/>
              </a:ext>
            </a:extLst>
          </p:cNvPr>
          <p:cNvSpPr>
            <a:spLocks noGrp="1"/>
          </p:cNvSpPr>
          <p:nvPr>
            <p:ph type="body" idx="1"/>
          </p:nvPr>
        </p:nvSpPr>
        <p:spPr/>
        <p:txBody>
          <a:bodyPr/>
          <a:lstStyle/>
          <a:p>
            <a:r>
              <a:rPr lang="en-US" dirty="0"/>
              <a:t>https://opengitops.dev/#principles</a:t>
            </a:r>
          </a:p>
        </p:txBody>
      </p:sp>
      <p:sp>
        <p:nvSpPr>
          <p:cNvPr id="4" name="Slide Number Placeholder 3">
            <a:extLst>
              <a:ext uri="{FF2B5EF4-FFF2-40B4-BE49-F238E27FC236}">
                <a16:creationId xmlns:a16="http://schemas.microsoft.com/office/drawing/2014/main" id="{ADE8F82A-15E0-B7FB-1D7C-42AB56CE133F}"/>
              </a:ext>
            </a:extLst>
          </p:cNvPr>
          <p:cNvSpPr>
            <a:spLocks noGrp="1"/>
          </p:cNvSpPr>
          <p:nvPr>
            <p:ph type="sldNum" sz="quarter" idx="5"/>
          </p:nvPr>
        </p:nvSpPr>
        <p:spPr/>
        <p:txBody>
          <a:bodyPr/>
          <a:lstStyle/>
          <a:p>
            <a:fld id="{2625FF2B-9848-40D4-A961-E928D17E1660}" type="slidenum">
              <a:rPr lang="en-US" smtClean="0"/>
              <a:t>28</a:t>
            </a:fld>
            <a:endParaRPr lang="en-US"/>
          </a:p>
        </p:txBody>
      </p:sp>
    </p:spTree>
    <p:extLst>
      <p:ext uri="{BB962C8B-B14F-4D97-AF65-F5344CB8AC3E}">
        <p14:creationId xmlns:p14="http://schemas.microsoft.com/office/powerpoint/2010/main" val="3320791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5D7DE-4009-5F51-F4FE-8EE910A76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36F79-A2BD-E739-2260-28DAC4426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73B94-41F8-EC2D-6C8F-E8A4A1601F3D}"/>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Set up Flux and GH Steps: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Install and Configure Flux Agent</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 There options: </a:t>
            </a:r>
            <a:r>
              <a:rPr lang="en-US" sz="1200" b="1" kern="1200" dirty="0" err="1">
                <a:solidFill>
                  <a:schemeClr val="tx1"/>
                </a:solidFill>
                <a:effectLst/>
                <a:latin typeface="+mn-lt"/>
                <a:ea typeface="+mn-ea"/>
                <a:cs typeface="+mn-cs"/>
              </a:rPr>
              <a:t>aks</a:t>
            </a:r>
            <a:r>
              <a:rPr lang="en-US" sz="1200" b="1" kern="1200" dirty="0">
                <a:solidFill>
                  <a:schemeClr val="tx1"/>
                </a:solidFill>
                <a:effectLst/>
                <a:latin typeface="+mn-lt"/>
                <a:ea typeface="+mn-ea"/>
                <a:cs typeface="+mn-cs"/>
              </a:rPr>
              <a:t> cluster in azure </a:t>
            </a:r>
            <a:r>
              <a:rPr lang="en-US" sz="1200" b="1" kern="1200" dirty="0" err="1">
                <a:solidFill>
                  <a:schemeClr val="tx1"/>
                </a:solidFill>
                <a:effectLst/>
                <a:latin typeface="+mn-lt"/>
                <a:ea typeface="+mn-ea"/>
                <a:cs typeface="+mn-cs"/>
              </a:rPr>
              <a:t>GitOps</a:t>
            </a:r>
            <a:r>
              <a:rPr lang="en-US" sz="1200" b="1" kern="1200" dirty="0">
                <a:solidFill>
                  <a:schemeClr val="tx1"/>
                </a:solidFill>
                <a:effectLst/>
                <a:latin typeface="+mn-lt"/>
                <a:ea typeface="+mn-ea"/>
                <a:cs typeface="+mn-cs"/>
              </a:rPr>
              <a:t> feature, Install GH Flux using command line bootstraps in repo to AKS Cluste, azure CLI</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Configure Flux Agent to connect to the GH Repo/Branch which contains the deployment files and source code for the app</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GH repo - The deployment files for app and infra, source code for app should be structured in the GH repo. The app customization and </a:t>
            </a:r>
            <a:r>
              <a:rPr lang="en-US" sz="1200" b="1" kern="1200" dirty="0" err="1">
                <a:solidFill>
                  <a:schemeClr val="tx1"/>
                </a:solidFill>
                <a:effectLst/>
                <a:latin typeface="+mn-lt"/>
                <a:ea typeface="+mn-ea"/>
                <a:cs typeface="+mn-cs"/>
              </a:rPr>
              <a:t>aks</a:t>
            </a:r>
            <a:r>
              <a:rPr lang="en-US" sz="1200" b="1" kern="1200" dirty="0">
                <a:solidFill>
                  <a:schemeClr val="tx1"/>
                </a:solidFill>
                <a:effectLst/>
                <a:latin typeface="+mn-lt"/>
                <a:ea typeface="+mn-ea"/>
                <a:cs typeface="+mn-cs"/>
              </a:rPr>
              <a:t> customization files should define the files path and names and etc. When the source code changed/pushed, GH Action CI should be triggered to build the source code and push the images to Container registry.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Flux Agent - Pull the deployment files from the GH repo to deploy the app automatically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Flux Controllers - A set of controllers are used in Flux agent.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The customize controller and help controller</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Reflection: look up the images in the container registry</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Automation controller: deploy the image to the k8s </a:t>
            </a: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7CC47D9-3DF1-3E1B-E528-0A68F3405076}"/>
              </a:ext>
            </a:extLst>
          </p:cNvPr>
          <p:cNvSpPr>
            <a:spLocks noGrp="1"/>
          </p:cNvSpPr>
          <p:nvPr>
            <p:ph type="sldNum" sz="quarter" idx="5"/>
          </p:nvPr>
        </p:nvSpPr>
        <p:spPr/>
        <p:txBody>
          <a:bodyPr/>
          <a:lstStyle/>
          <a:p>
            <a:fld id="{2625FF2B-9848-40D4-A961-E928D17E1660}" type="slidenum">
              <a:rPr lang="en-US" smtClean="0"/>
              <a:t>29</a:t>
            </a:fld>
            <a:endParaRPr lang="en-US"/>
          </a:p>
        </p:txBody>
      </p:sp>
    </p:spTree>
    <p:extLst>
      <p:ext uri="{BB962C8B-B14F-4D97-AF65-F5344CB8AC3E}">
        <p14:creationId xmlns:p14="http://schemas.microsoft.com/office/powerpoint/2010/main" val="23728094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7D390-DA0F-879E-7A0E-AB2807312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42CA0-1115-1DA7-369C-F5F116E2E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49D6B-EAED-9061-F822-2400C05B816F}"/>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Set up Flux and GH Steps: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Install and Configure Flux Agent</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 Three options: </a:t>
            </a:r>
            <a:r>
              <a:rPr lang="en-US" sz="1200" b="1" kern="1200" dirty="0" err="1">
                <a:solidFill>
                  <a:schemeClr val="tx1"/>
                </a:solidFill>
                <a:effectLst/>
                <a:latin typeface="+mn-lt"/>
                <a:ea typeface="+mn-ea"/>
                <a:cs typeface="+mn-cs"/>
              </a:rPr>
              <a:t>aks</a:t>
            </a:r>
            <a:r>
              <a:rPr lang="en-US" sz="1200" b="1" kern="1200" dirty="0">
                <a:solidFill>
                  <a:schemeClr val="tx1"/>
                </a:solidFill>
                <a:effectLst/>
                <a:latin typeface="+mn-lt"/>
                <a:ea typeface="+mn-ea"/>
                <a:cs typeface="+mn-cs"/>
              </a:rPr>
              <a:t> cluster in azure </a:t>
            </a:r>
            <a:r>
              <a:rPr lang="en-US" sz="1200" b="1" kern="1200" dirty="0" err="1">
                <a:solidFill>
                  <a:schemeClr val="tx1"/>
                </a:solidFill>
                <a:effectLst/>
                <a:latin typeface="+mn-lt"/>
                <a:ea typeface="+mn-ea"/>
                <a:cs typeface="+mn-cs"/>
              </a:rPr>
              <a:t>GitOps</a:t>
            </a:r>
            <a:r>
              <a:rPr lang="en-US" sz="1200" b="1" kern="1200" dirty="0">
                <a:solidFill>
                  <a:schemeClr val="tx1"/>
                </a:solidFill>
                <a:effectLst/>
                <a:latin typeface="+mn-lt"/>
                <a:ea typeface="+mn-ea"/>
                <a:cs typeface="+mn-cs"/>
              </a:rPr>
              <a:t> feature, Install GH Flux using command line bootstraps in repo to AKS Cluste, azure CLI</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Configure Flux Agent to connect to the GH Repo/Branch which contains the deployment files and source code for the app</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GH repo - The deployment files for app and infra, source code for app should be structured in the GH repo. The app customization and </a:t>
            </a:r>
            <a:r>
              <a:rPr lang="en-US" sz="1200" b="1" kern="1200" dirty="0" err="1">
                <a:solidFill>
                  <a:schemeClr val="tx1"/>
                </a:solidFill>
                <a:effectLst/>
                <a:latin typeface="+mn-lt"/>
                <a:ea typeface="+mn-ea"/>
                <a:cs typeface="+mn-cs"/>
              </a:rPr>
              <a:t>aks</a:t>
            </a:r>
            <a:r>
              <a:rPr lang="en-US" sz="1200" b="1" kern="1200" dirty="0">
                <a:solidFill>
                  <a:schemeClr val="tx1"/>
                </a:solidFill>
                <a:effectLst/>
                <a:latin typeface="+mn-lt"/>
                <a:ea typeface="+mn-ea"/>
                <a:cs typeface="+mn-cs"/>
              </a:rPr>
              <a:t> customization files should define the files path and names and etc. When the source code changed/pushed, GH Action CI should be triggered to build the source code and push the images to Container registry.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Flux Agent - Pull the deployment files from the GH repo to deploy the app automatically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Flux Controllers - A set of controllers are used in Flux agent.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The customize controller and help controller</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Reflection: look up the images in the container registry</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Automation controller: deploy the image to the k8s </a:t>
            </a: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E7D5C4C-9109-8F96-DCBF-486EEF65D83D}"/>
              </a:ext>
            </a:extLst>
          </p:cNvPr>
          <p:cNvSpPr>
            <a:spLocks noGrp="1"/>
          </p:cNvSpPr>
          <p:nvPr>
            <p:ph type="sldNum" sz="quarter" idx="5"/>
          </p:nvPr>
        </p:nvSpPr>
        <p:spPr/>
        <p:txBody>
          <a:bodyPr/>
          <a:lstStyle/>
          <a:p>
            <a:fld id="{2625FF2B-9848-40D4-A961-E928D17E1660}" type="slidenum">
              <a:rPr lang="en-US" smtClean="0"/>
              <a:t>30</a:t>
            </a:fld>
            <a:endParaRPr lang="en-US"/>
          </a:p>
        </p:txBody>
      </p:sp>
    </p:spTree>
    <p:extLst>
      <p:ext uri="{BB962C8B-B14F-4D97-AF65-F5344CB8AC3E}">
        <p14:creationId xmlns:p14="http://schemas.microsoft.com/office/powerpoint/2010/main" val="3508451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9C997-FDE4-C940-0016-2D704D8CE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6CAD0-2FD9-F0BB-1620-A7578AF3B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4EA30-A704-9391-C77A-0B594437E7DA}"/>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Improve developer productivity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Argo CD provides developers with a self-service environment for application deployment. Software development teams can focus on creativity and writing business logic instead of time and energy on manual and remedial deployments.</a:t>
            </a:r>
          </a:p>
          <a:p>
            <a:r>
              <a:rPr lang="en-US" sz="1200" b="1" i="0" kern="1200" dirty="0">
                <a:solidFill>
                  <a:schemeClr val="tx1"/>
                </a:solidFill>
                <a:effectLst/>
                <a:latin typeface="+mn-lt"/>
                <a:ea typeface="+mn-ea"/>
                <a:cs typeface="+mn-cs"/>
              </a:rPr>
              <a:t>2. Improved software delivery compliance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Allow your developers, Ops, and DevOps teams to use a single platform for infrastructure change management. Apply organizational policies to restrict access to Kubernetes resources and minimize your application downtime and outages.</a:t>
            </a:r>
          </a:p>
          <a:p>
            <a:r>
              <a:rPr lang="en-US" sz="1200" b="1" i="0" kern="1200" dirty="0">
                <a:solidFill>
                  <a:schemeClr val="tx1"/>
                </a:solidFill>
                <a:effectLst/>
                <a:latin typeface="+mn-lt"/>
                <a:ea typeface="+mn-ea"/>
                <a:cs typeface="+mn-cs"/>
              </a:rPr>
              <a:t>3. Increased collaboration in SDLC</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While working on Argo CD, every team member can work from the same system to achieve </a:t>
            </a:r>
            <a:r>
              <a:rPr lang="en-US" sz="1200" b="0" i="0" kern="1200" dirty="0" err="1">
                <a:solidFill>
                  <a:schemeClr val="tx1"/>
                </a:solidFill>
                <a:effectLst/>
                <a:latin typeface="+mn-lt"/>
                <a:ea typeface="+mn-ea"/>
                <a:cs typeface="+mn-cs"/>
              </a:rPr>
              <a:t>GitOps</a:t>
            </a:r>
            <a:r>
              <a:rPr lang="en-US" sz="1200" b="0" i="0" kern="1200" dirty="0">
                <a:solidFill>
                  <a:schemeClr val="tx1"/>
                </a:solidFill>
                <a:effectLst/>
                <a:latin typeface="+mn-lt"/>
                <a:ea typeface="+mn-ea"/>
                <a:cs typeface="+mn-cs"/>
              </a:rPr>
              <a:t> and understand the status of individual processes. The single Git repository fosters collaboration amongst team members by assigning tasks to individuals and deploying code from each person as necessary.</a:t>
            </a:r>
          </a:p>
          <a:p>
            <a:r>
              <a:rPr lang="en-US" sz="1200" b="1" i="0" kern="1200" dirty="0">
                <a:solidFill>
                  <a:schemeClr val="tx1"/>
                </a:solidFill>
                <a:effectLst/>
                <a:latin typeface="+mn-lt"/>
                <a:ea typeface="+mn-ea"/>
                <a:cs typeface="+mn-cs"/>
              </a:rPr>
              <a:t>4. Faster deployments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Argo CD allows teams to perform more rapid deployments into Kubernetes clusters across multi-cloud. Quicker releases of application changes mean shorter time to market and more flexibility in responding to customer demand.</a:t>
            </a:r>
          </a:p>
          <a:p>
            <a:endParaRPr lang="en-US" dirty="0"/>
          </a:p>
          <a:p>
            <a:endParaRPr lang="en-US" dirty="0"/>
          </a:p>
          <a:p>
            <a:r>
              <a:rPr lang="en-US" dirty="0"/>
              <a:t>https://medium.com/@veerababu.narni232/a-complete-overview-of-argocd-with-a-practical-example-f4a9a8488cf9</a:t>
            </a:r>
          </a:p>
          <a:p>
            <a:endParaRPr lang="en-US" dirty="0"/>
          </a:p>
          <a:p>
            <a:r>
              <a:rPr lang="en-US" dirty="0"/>
              <a:t>https://techcommunity.microsoft.com/blog/azureinfrastructureblog/argocd-integration-with-private-aks-cluster/4313208</a:t>
            </a:r>
          </a:p>
        </p:txBody>
      </p:sp>
      <p:sp>
        <p:nvSpPr>
          <p:cNvPr id="4" name="Slide Number Placeholder 3">
            <a:extLst>
              <a:ext uri="{FF2B5EF4-FFF2-40B4-BE49-F238E27FC236}">
                <a16:creationId xmlns:a16="http://schemas.microsoft.com/office/drawing/2014/main" id="{2E19F9D9-5D25-C683-8B07-5846B8D2C52A}"/>
              </a:ext>
            </a:extLst>
          </p:cNvPr>
          <p:cNvSpPr>
            <a:spLocks noGrp="1"/>
          </p:cNvSpPr>
          <p:nvPr>
            <p:ph type="sldNum" sz="quarter" idx="5"/>
          </p:nvPr>
        </p:nvSpPr>
        <p:spPr/>
        <p:txBody>
          <a:bodyPr/>
          <a:lstStyle/>
          <a:p>
            <a:fld id="{2625FF2B-9848-40D4-A961-E928D17E1660}" type="slidenum">
              <a:rPr lang="en-US" smtClean="0"/>
              <a:t>31</a:t>
            </a:fld>
            <a:endParaRPr lang="en-US"/>
          </a:p>
        </p:txBody>
      </p:sp>
    </p:spTree>
    <p:extLst>
      <p:ext uri="{BB962C8B-B14F-4D97-AF65-F5344CB8AC3E}">
        <p14:creationId xmlns:p14="http://schemas.microsoft.com/office/powerpoint/2010/main" val="19655394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74214-3559-24F9-0D8F-5EF6D6509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1948E-79CA-30F4-2578-FCB8F4B25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6DAED-BB8E-85ED-D122-C6D6DF176E27}"/>
              </a:ext>
            </a:extLst>
          </p:cNvPr>
          <p:cNvSpPr>
            <a:spLocks noGrp="1"/>
          </p:cNvSpPr>
          <p:nvPr>
            <p:ph type="body" idx="1"/>
          </p:nvPr>
        </p:nvSpPr>
        <p:spPr/>
        <p:txBody>
          <a:bodyPr/>
          <a:lstStyle/>
          <a:p>
            <a:r>
              <a:rPr lang="en-US" dirty="0"/>
              <a:t>https://learn.microsoft.com/en-us/azure/architecture/example-scenario/gitops-aks/gitops-blueprint-aks</a:t>
            </a:r>
          </a:p>
        </p:txBody>
      </p:sp>
      <p:sp>
        <p:nvSpPr>
          <p:cNvPr id="4" name="Slide Number Placeholder 3">
            <a:extLst>
              <a:ext uri="{FF2B5EF4-FFF2-40B4-BE49-F238E27FC236}">
                <a16:creationId xmlns:a16="http://schemas.microsoft.com/office/drawing/2014/main" id="{1DADC7C9-F89F-0275-2B19-848382642E15}"/>
              </a:ext>
            </a:extLst>
          </p:cNvPr>
          <p:cNvSpPr>
            <a:spLocks noGrp="1"/>
          </p:cNvSpPr>
          <p:nvPr>
            <p:ph type="sldNum" sz="quarter" idx="5"/>
          </p:nvPr>
        </p:nvSpPr>
        <p:spPr/>
        <p:txBody>
          <a:bodyPr/>
          <a:lstStyle/>
          <a:p>
            <a:fld id="{2625FF2B-9848-40D4-A961-E928D17E1660}" type="slidenum">
              <a:rPr lang="en-US" smtClean="0"/>
              <a:t>32</a:t>
            </a:fld>
            <a:endParaRPr lang="en-US"/>
          </a:p>
        </p:txBody>
      </p:sp>
    </p:spTree>
    <p:extLst>
      <p:ext uri="{BB962C8B-B14F-4D97-AF65-F5344CB8AC3E}">
        <p14:creationId xmlns:p14="http://schemas.microsoft.com/office/powerpoint/2010/main" val="2228093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5452814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1843582"/>
          </a:xfrm>
        </p:spPr>
        <p:txBody>
          <a:bodyPr/>
          <a:lstStyle>
            <a:lvl1pPr marL="0" indent="0">
              <a:spcAft>
                <a:spcPts val="600"/>
              </a:spcAft>
              <a:buNone/>
              <a:defRPr>
                <a:solidFill>
                  <a:schemeClr val="tx1"/>
                </a:solidFill>
              </a:defRPr>
            </a:lvl1pPr>
            <a:lvl2pPr>
              <a:spcAft>
                <a:spcPts val="600"/>
              </a:spcAft>
              <a:defRPr>
                <a:solidFill>
                  <a:schemeClr val="tx1"/>
                </a:solidFill>
              </a:defRPr>
            </a:lvl2pPr>
            <a:lvl3pPr>
              <a:spcAft>
                <a:spcPts val="600"/>
              </a:spcAft>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81656004"/>
      </p:ext>
    </p:extLst>
  </p:cSld>
  <p:clrMapOvr>
    <a:masterClrMapping/>
  </p:clrMapOvr>
  <p:transition>
    <p:fade/>
  </p:transition>
  <p:extLst>
    <p:ext uri="{DCECCB84-F9BA-43D5-87BE-67443E8EF086}">
      <p15:sldGuideLst xmlns:p15="http://schemas.microsoft.com/office/powerpoint/2012/main">
        <p15:guide id="2" orient="horz" pos="1162">
          <p15:clr>
            <a:srgbClr val="5ACBF0"/>
          </p15:clr>
        </p15:guide>
        <p15:guide id="3" orient="horz" pos="288">
          <p15:clr>
            <a:srgbClr val="5ACBF0"/>
          </p15:clr>
        </p15:guide>
        <p15:guide id="5" orient="horz" pos="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679608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 id="2147484100" r:id="rId32"/>
    <p:sldLayoutId id="2147484101" r:id="rId33"/>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35.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40.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42.xml"/><Relationship Id="rId1" Type="http://schemas.openxmlformats.org/officeDocument/2006/relationships/tags" Target="../tags/tag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image" Target="../media/image3.emf"/><Relationship Id="rId1" Type="http://schemas.openxmlformats.org/officeDocument/2006/relationships/slideLayout" Target="../slideLayouts/slideLayout3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12.xml"/><Relationship Id="rId1" Type="http://schemas.openxmlformats.org/officeDocument/2006/relationships/tags" Target="../tags/tag7.xml"/><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goodwithtech/dockle" TargetMode="External"/><Relationship Id="rId2" Type="http://schemas.openxmlformats.org/officeDocument/2006/relationships/notesSlide" Target="../notesSlides/notesSlide12.xml"/><Relationship Id="rId1" Type="http://schemas.openxmlformats.org/officeDocument/2006/relationships/slideLayout" Target="../slideLayouts/slideLayout31.xml"/><Relationship Id="rId4" Type="http://schemas.openxmlformats.org/officeDocument/2006/relationships/hyperlink" Target="https://github.com/aquasecurity/trivy" TargetMode="Externa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15.xml"/><Relationship Id="rId1" Type="http://schemas.openxmlformats.org/officeDocument/2006/relationships/tags" Target="../tags/tag8.xml"/><Relationship Id="rId4"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3318975"/>
            <a:ext cx="9401808" cy="2031325"/>
          </a:xfrm>
        </p:spPr>
        <p:txBody>
          <a:bodyPr/>
          <a:lstStyle/>
          <a:p>
            <a:r>
              <a:rPr lang="en-US">
                <a:latin typeface="Segoe UI Semibold"/>
                <a:cs typeface="Segoe UI Semibold"/>
              </a:rPr>
              <a:t>Application Deployment</a:t>
            </a:r>
            <a:endParaRPr lang="en-US"/>
          </a:p>
        </p:txBody>
      </p:sp>
      <p:sp>
        <p:nvSpPr>
          <p:cNvPr id="8" name="Subtitle 5">
            <a:extLst>
              <a:ext uri="{FF2B5EF4-FFF2-40B4-BE49-F238E27FC236}">
                <a16:creationId xmlns:a16="http://schemas.microsoft.com/office/drawing/2014/main" id="{12808BD5-6BEE-4164-9264-E55A823F2E3D}"/>
              </a:ext>
            </a:extLst>
          </p:cNvPr>
          <p:cNvSpPr>
            <a:spLocks noGrp="1"/>
          </p:cNvSpPr>
          <p:nvPr/>
        </p:nvSpPr>
        <p:spPr>
          <a:xfrm>
            <a:off x="582042" y="5691298"/>
            <a:ext cx="5654635" cy="338554"/>
          </a:xfrm>
          <a:prstGeom prst="rect">
            <a:avLst/>
          </a:prstGeom>
          <a:noFill/>
        </p:spPr>
        <p:txBody>
          <a:bodyPr vert="horz" wrap="square" lIns="0" tIns="0" rIns="0" bIns="0" rtlCol="0">
            <a:norm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WorkshopPlus</a:t>
            </a:r>
            <a:r>
              <a:rPr lang="en-US" dirty="0"/>
              <a:t> – Kubernetes Tech Briefing</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p:txBody>
          <a:bodyPr lIns="0" tIns="0" rIns="0" bIns="0" anchor="t"/>
          <a:lstStyle/>
          <a:p>
            <a:r>
              <a:rPr lang="en-US"/>
              <a:t>Learning Units covered </a:t>
            </a:r>
            <a:br>
              <a:rPr lang="en-US"/>
            </a:br>
            <a:r>
              <a:rPr lang="en-US"/>
              <a:t>in this Module</a:t>
            </a:r>
          </a:p>
        </p:txBody>
      </p:sp>
      <p:graphicFrame>
        <p:nvGraphicFramePr>
          <p:cNvPr id="112" name="Table 3">
            <a:extLst>
              <a:ext uri="{FF2B5EF4-FFF2-40B4-BE49-F238E27FC236}">
                <a16:creationId xmlns:a16="http://schemas.microsoft.com/office/drawing/2014/main" id="{45AD0972-9AFC-406A-BE0A-DFF9FDD00D65}"/>
              </a:ext>
            </a:extLst>
          </p:cNvPr>
          <p:cNvGraphicFramePr>
            <a:graphicFrameLocks noGrp="1"/>
          </p:cNvGraphicFramePr>
          <p:nvPr>
            <p:extLst>
              <p:ext uri="{D42A27DB-BD31-4B8C-83A1-F6EECF244321}">
                <p14:modId xmlns:p14="http://schemas.microsoft.com/office/powerpoint/2010/main" val="797533366"/>
              </p:ext>
            </p:extLst>
          </p:nvPr>
        </p:nvGraphicFramePr>
        <p:xfrm>
          <a:off x="575481" y="1815577"/>
          <a:ext cx="5669280" cy="4453461"/>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DevOps and GitOps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dirty="0"/>
                        <a:t>Continuous Integration Pipeline with Kubernetes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r>
                        <a:rPr lang="en-US" dirty="0"/>
                        <a:t>Continuous Delivery Pipeline with Kubernetes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88902310"/>
                  </a:ext>
                </a:extLst>
              </a:tr>
            </a:tbl>
          </a:graphicData>
        </a:graphic>
      </p:graphicFrame>
      <p:grpSp>
        <p:nvGrpSpPr>
          <p:cNvPr id="141" name="Group 140">
            <a:extLst>
              <a:ext uri="{FF2B5EF4-FFF2-40B4-BE49-F238E27FC236}">
                <a16:creationId xmlns:a16="http://schemas.microsoft.com/office/drawing/2014/main" id="{27BF13F4-E0FF-4E0D-8D3F-E5716F8C4FFC}"/>
              </a:ext>
              <a:ext uri="{C183D7F6-B498-43B3-948B-1728B52AA6E4}">
                <adec:decorative xmlns:adec="http://schemas.microsoft.com/office/drawing/2017/decorative" val="1"/>
              </a:ext>
            </a:extLst>
          </p:cNvPr>
          <p:cNvGrpSpPr>
            <a:grpSpLocks noChangeAspect="1"/>
          </p:cNvGrpSpPr>
          <p:nvPr/>
        </p:nvGrpSpPr>
        <p:grpSpPr>
          <a:xfrm>
            <a:off x="722184" y="2307171"/>
            <a:ext cx="522238" cy="522238"/>
            <a:chOff x="10323474" y="1468393"/>
            <a:chExt cx="751672" cy="751672"/>
          </a:xfrm>
        </p:grpSpPr>
        <p:sp>
          <p:nvSpPr>
            <p:cNvPr id="142" name="Oval 141">
              <a:extLst>
                <a:ext uri="{FF2B5EF4-FFF2-40B4-BE49-F238E27FC236}">
                  <a16:creationId xmlns:a16="http://schemas.microsoft.com/office/drawing/2014/main" id="{6C5EA0E7-F61F-4807-8925-4019D8289A8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3" name="Group 142">
              <a:extLst>
                <a:ext uri="{FF2B5EF4-FFF2-40B4-BE49-F238E27FC236}">
                  <a16:creationId xmlns:a16="http://schemas.microsoft.com/office/drawing/2014/main" id="{E17734FA-7052-4385-9C3F-7476E48B2A9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4" name="Freeform: Shape 143">
                <a:extLst>
                  <a:ext uri="{FF2B5EF4-FFF2-40B4-BE49-F238E27FC236}">
                    <a16:creationId xmlns:a16="http://schemas.microsoft.com/office/drawing/2014/main" id="{7B30EEDD-248E-40B3-8BDB-830FD42D10D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E7E6FA4-6A0E-4023-A290-81458375DFA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1BDFD5CF-E9DB-480F-B75C-67DE7088254C}"/>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F1D18E4A-5504-4BF0-BA73-AF1A27F741E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FF7483BE-1FCD-45D4-BDCF-4970A89C4BED}"/>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B83FF2B8-DB01-41ED-A40D-888FD6673EBC}"/>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2CBB42B-C150-4420-A23B-B6E09320C63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EBC0F9DC-C657-43FE-831D-ECA77D07CBDB}"/>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FA06B8CA-FC95-4BC2-B74C-EC554BEDE826}"/>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6CC598E-EC81-457D-9E79-393DE65067FF}"/>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366FC206-3649-4105-BD6F-ADD6A8E9D6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67" name="Straight Connector 166">
            <a:extLst>
              <a:ext uri="{FF2B5EF4-FFF2-40B4-BE49-F238E27FC236}">
                <a16:creationId xmlns:a16="http://schemas.microsoft.com/office/drawing/2014/main" id="{7B195598-F76A-4EA1-BF44-B801A69B2AEB}"/>
              </a:ext>
              <a:ext uri="{C183D7F6-B498-43B3-948B-1728B52AA6E4}">
                <adec:decorative xmlns:adec="http://schemas.microsoft.com/office/drawing/2017/decorative" val="1"/>
              </a:ext>
            </a:extLst>
          </p:cNvPr>
          <p:cNvCxnSpPr>
            <a:cxnSpLocks/>
          </p:cNvCxnSpPr>
          <p:nvPr/>
        </p:nvCxnSpPr>
        <p:spPr>
          <a:xfrm>
            <a:off x="5771254" y="329609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CFA8B499-6B1B-4EFC-93B7-524975374A05}"/>
              </a:ext>
              <a:ext uri="{C183D7F6-B498-43B3-948B-1728B52AA6E4}">
                <adec:decorative xmlns:adec="http://schemas.microsoft.com/office/drawing/2017/decorative" val="1"/>
              </a:ext>
            </a:extLst>
          </p:cNvPr>
          <p:cNvGrpSpPr/>
          <p:nvPr/>
        </p:nvGrpSpPr>
        <p:grpSpPr>
          <a:xfrm>
            <a:off x="722184" y="3802549"/>
            <a:ext cx="522238" cy="522238"/>
            <a:chOff x="724354" y="2781602"/>
            <a:chExt cx="438218" cy="438964"/>
          </a:xfrm>
        </p:grpSpPr>
        <p:sp>
          <p:nvSpPr>
            <p:cNvPr id="179" name="Oval 178">
              <a:extLst>
                <a:ext uri="{FF2B5EF4-FFF2-40B4-BE49-F238E27FC236}">
                  <a16:creationId xmlns:a16="http://schemas.microsoft.com/office/drawing/2014/main" id="{411DDA84-71CD-44BA-9140-44D1A91A655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80" name="Trackers_EADF">
              <a:extLst>
                <a:ext uri="{FF2B5EF4-FFF2-40B4-BE49-F238E27FC236}">
                  <a16:creationId xmlns:a16="http://schemas.microsoft.com/office/drawing/2014/main" id="{B21AA2D5-3452-4E03-BA76-5FD47784B1FC}"/>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92" name="Straight Connector 191">
            <a:extLst>
              <a:ext uri="{FF2B5EF4-FFF2-40B4-BE49-F238E27FC236}">
                <a16:creationId xmlns:a16="http://schemas.microsoft.com/office/drawing/2014/main" id="{E0224169-9119-47EF-96EE-DDA203D7C417}"/>
              </a:ext>
              <a:ext uri="{C183D7F6-B498-43B3-948B-1728B52AA6E4}">
                <adec:decorative xmlns:adec="http://schemas.microsoft.com/office/drawing/2017/decorative" val="1"/>
              </a:ext>
            </a:extLst>
          </p:cNvPr>
          <p:cNvCxnSpPr>
            <a:cxnSpLocks/>
          </p:cNvCxnSpPr>
          <p:nvPr/>
        </p:nvCxnSpPr>
        <p:spPr>
          <a:xfrm>
            <a:off x="5771254" y="4787423"/>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9" name="Group 198">
            <a:extLst>
              <a:ext uri="{FF2B5EF4-FFF2-40B4-BE49-F238E27FC236}">
                <a16:creationId xmlns:a16="http://schemas.microsoft.com/office/drawing/2014/main" id="{026E5944-69DF-4321-BDB3-841BA2C11C04}"/>
              </a:ext>
              <a:ext uri="{C183D7F6-B498-43B3-948B-1728B52AA6E4}">
                <adec:decorative xmlns:adec="http://schemas.microsoft.com/office/drawing/2017/decorative" val="1"/>
              </a:ext>
            </a:extLst>
          </p:cNvPr>
          <p:cNvGrpSpPr>
            <a:grpSpLocks/>
          </p:cNvGrpSpPr>
          <p:nvPr/>
        </p:nvGrpSpPr>
        <p:grpSpPr>
          <a:xfrm>
            <a:off x="722184" y="5297927"/>
            <a:ext cx="522238" cy="522238"/>
            <a:chOff x="7039782" y="1468393"/>
            <a:chExt cx="751672" cy="751672"/>
          </a:xfrm>
        </p:grpSpPr>
        <p:sp>
          <p:nvSpPr>
            <p:cNvPr id="200" name="Oval 199">
              <a:extLst>
                <a:ext uri="{FF2B5EF4-FFF2-40B4-BE49-F238E27FC236}">
                  <a16:creationId xmlns:a16="http://schemas.microsoft.com/office/drawing/2014/main" id="{9FCF0032-1DAB-434C-8E68-E23616E5312F}"/>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1" name="list_4">
              <a:extLst>
                <a:ext uri="{FF2B5EF4-FFF2-40B4-BE49-F238E27FC236}">
                  <a16:creationId xmlns:a16="http://schemas.microsoft.com/office/drawing/2014/main" id="{5949B67D-CC59-478A-AB79-3C00B775DB3E}"/>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3" name="Footer Placeholder 4">
            <a:extLst>
              <a:ext uri="{FF2B5EF4-FFF2-40B4-BE49-F238E27FC236}">
                <a16:creationId xmlns:a16="http://schemas.microsoft.com/office/drawing/2014/main" id="{10E54606-57C2-4DE8-9859-0E9A1418A5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14" name="Picture 213" descr="Two young employees sitting in a coffee table working on a laptop">
            <a:extLst>
              <a:ext uri="{FF2B5EF4-FFF2-40B4-BE49-F238E27FC236}">
                <a16:creationId xmlns:a16="http://schemas.microsoft.com/office/drawing/2014/main" id="{862DE29E-5032-41FF-9267-7440425DBBCA}"/>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16" name="Slide Number Placeholder 5">
            <a:extLst>
              <a:ext uri="{FF2B5EF4-FFF2-40B4-BE49-F238E27FC236}">
                <a16:creationId xmlns:a16="http://schemas.microsoft.com/office/drawing/2014/main" id="{063ECB81-19EB-41B2-B6F9-134822DB43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2912699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a:t>Objectives </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body" sz="quarter" idx="12"/>
            <p:custDataLst>
              <p:custData r:id="rId2"/>
            </p:custDataLst>
          </p:nvPr>
        </p:nvSpPr>
        <p:spPr/>
        <p:txBody>
          <a:bodyPr vert="horz" lIns="0" tIns="0" rIns="0" bIns="0" rtlCol="0" anchor="t">
            <a:normAutofit/>
          </a:bodyPr>
          <a:lstStyle/>
          <a:p>
            <a:r>
              <a:rPr lang="en-US"/>
              <a:t>After completing this Learning, you will be able to:</a:t>
            </a:r>
          </a:p>
        </p:txBody>
      </p:sp>
      <p:sp>
        <p:nvSpPr>
          <p:cNvPr id="29" name="Rectangle 28">
            <a:extLst>
              <a:ext uri="{FF2B5EF4-FFF2-40B4-BE49-F238E27FC236}">
                <a16:creationId xmlns:a16="http://schemas.microsoft.com/office/drawing/2014/main" id="{135AE57B-006B-45B8-B573-5C98485B4112}"/>
              </a:ext>
            </a:extLst>
          </p:cNvPr>
          <p:cNvSpPr/>
          <p:nvPr/>
        </p:nvSpPr>
        <p:spPr>
          <a:xfrm>
            <a:off x="-17461" y="1955801"/>
            <a:ext cx="12209460" cy="584775"/>
          </a:xfrm>
          <a:prstGeom prst="rect">
            <a:avLst/>
          </a:prstGeom>
          <a:solidFill>
            <a:schemeClr val="tx2"/>
          </a:solidFill>
        </p:spPr>
        <p:txBody>
          <a:bodyPr wrap="square" lIns="91440" tIns="137160" rIns="91440" bIns="137160" anchor="t">
            <a:spAutoFit/>
          </a:bodyPr>
          <a:lstStyle/>
          <a:p>
            <a:pPr algn="ctr" defTabSz="932563">
              <a:spcBef>
                <a:spcPts val="204"/>
              </a:spcBef>
              <a:spcAft>
                <a:spcPts val="408"/>
              </a:spcAft>
            </a:pPr>
            <a:r>
              <a:rPr lang="en-US" sz="2000">
                <a:solidFill>
                  <a:schemeClr val="bg1"/>
                </a:solidFill>
                <a:latin typeface="+mj-lt"/>
                <a:cs typeface="Segoe UI Semibold" panose="020B0702040204020203" pitchFamily="34" charset="0"/>
              </a:rPr>
              <a:t>Understand….</a:t>
            </a:r>
          </a:p>
        </p:txBody>
      </p:sp>
      <p:cxnSp>
        <p:nvCxnSpPr>
          <p:cNvPr id="101" name="Straight Connector 100">
            <a:extLst>
              <a:ext uri="{FF2B5EF4-FFF2-40B4-BE49-F238E27FC236}">
                <a16:creationId xmlns:a16="http://schemas.microsoft.com/office/drawing/2014/main" id="{376E7A99-B502-4054-9C2C-BAF18E5E5171}"/>
              </a:ext>
              <a:ext uri="{C183D7F6-B498-43B3-948B-1728B52AA6E4}">
                <adec:decorative xmlns:adec="http://schemas.microsoft.com/office/drawing/2017/decorative" val="1"/>
              </a:ext>
            </a:extLst>
          </p:cNvPr>
          <p:cNvCxnSpPr>
            <a:cxnSpLocks/>
          </p:cNvCxnSpPr>
          <p:nvPr/>
        </p:nvCxnSpPr>
        <p:spPr>
          <a:xfrm>
            <a:off x="571500" y="5214303"/>
            <a:ext cx="11031538" cy="0"/>
          </a:xfrm>
          <a:prstGeom prst="line">
            <a:avLst/>
          </a:prstGeom>
          <a:noFill/>
          <a:ln w="12700" cap="flat" cmpd="sng" algn="ctr">
            <a:solidFill>
              <a:schemeClr val="accent2"/>
            </a:solidFill>
            <a:prstDash val="solid"/>
            <a:headEnd type="none" w="lg" len="med"/>
            <a:tailEnd type="none" w="lg" len="med"/>
          </a:ln>
          <a:effectLst/>
        </p:spPr>
      </p:cxnSp>
      <p:grpSp>
        <p:nvGrpSpPr>
          <p:cNvPr id="6" name="Group 5">
            <a:extLst>
              <a:ext uri="{FF2B5EF4-FFF2-40B4-BE49-F238E27FC236}">
                <a16:creationId xmlns:a16="http://schemas.microsoft.com/office/drawing/2014/main" id="{712EAA30-0D82-4470-B816-03E60E1EF15F}"/>
              </a:ext>
            </a:extLst>
          </p:cNvPr>
          <p:cNvGrpSpPr/>
          <p:nvPr/>
        </p:nvGrpSpPr>
        <p:grpSpPr>
          <a:xfrm>
            <a:off x="571500" y="2740193"/>
            <a:ext cx="2316603" cy="2806533"/>
            <a:chOff x="571500" y="2740193"/>
            <a:chExt cx="2316603" cy="2806533"/>
          </a:xfrm>
        </p:grpSpPr>
        <p:sp>
          <p:nvSpPr>
            <p:cNvPr id="75" name="Rectangle 74">
              <a:extLst>
                <a:ext uri="{FF2B5EF4-FFF2-40B4-BE49-F238E27FC236}">
                  <a16:creationId xmlns:a16="http://schemas.microsoft.com/office/drawing/2014/main" id="{D521F3AE-02DA-4716-8E81-BCE211F1FA3F}"/>
                </a:ext>
              </a:extLst>
            </p:cNvPr>
            <p:cNvSpPr/>
            <p:nvPr/>
          </p:nvSpPr>
          <p:spPr>
            <a:xfrm>
              <a:off x="571500" y="2740193"/>
              <a:ext cx="2316603" cy="553998"/>
            </a:xfrm>
            <a:prstGeom prst="rect">
              <a:avLst/>
            </a:prstGeom>
            <a:noFill/>
          </p:spPr>
          <p:txBody>
            <a:bodyPr wrap="square" lIns="0" tIns="0" rIns="0" bIns="0">
              <a:spAutoFit/>
            </a:bodyPr>
            <a:lstStyle/>
            <a:p>
              <a:pPr defTabSz="914224" fontAlgn="base">
                <a:spcAft>
                  <a:spcPts val="200"/>
                </a:spcAft>
                <a:defRPr/>
              </a:pPr>
              <a:r>
                <a:rPr lang="en-US" dirty="0">
                  <a:ea typeface="Times New Roman" panose="02020603050405020304" pitchFamily="18" charset="0"/>
                  <a:cs typeface="Times New Roman" panose="02020603050405020304" pitchFamily="18" charset="0"/>
                </a:rPr>
                <a:t>The concepts of DevOps and </a:t>
              </a:r>
              <a:r>
                <a:rPr lang="en-US" dirty="0" err="1">
                  <a:ea typeface="Times New Roman" panose="02020603050405020304" pitchFamily="18" charset="0"/>
                  <a:cs typeface="Times New Roman" panose="02020603050405020304" pitchFamily="18" charset="0"/>
                </a:rPr>
                <a:t>GitOps</a:t>
              </a:r>
              <a:endParaRPr lang="en-US" dirty="0">
                <a:ea typeface="Times New Roman" panose="02020603050405020304" pitchFamily="18" charset="0"/>
                <a:cs typeface="Times New Roman" panose="02020603050405020304" pitchFamily="18" charset="0"/>
              </a:endParaRPr>
            </a:p>
          </p:txBody>
        </p:sp>
        <p:grpSp>
          <p:nvGrpSpPr>
            <p:cNvPr id="122" name="Group 121" descr="Icon of a person with a box around them">
              <a:extLst>
                <a:ext uri="{FF2B5EF4-FFF2-40B4-BE49-F238E27FC236}">
                  <a16:creationId xmlns:a16="http://schemas.microsoft.com/office/drawing/2014/main" id="{702961B0-EEBA-47B9-8957-73784E6E72CF}"/>
                </a:ext>
              </a:extLst>
            </p:cNvPr>
            <p:cNvGrpSpPr>
              <a:grpSpLocks/>
            </p:cNvGrpSpPr>
            <p:nvPr/>
          </p:nvGrpSpPr>
          <p:grpSpPr>
            <a:xfrm>
              <a:off x="2231789" y="4890415"/>
              <a:ext cx="656314" cy="656311"/>
              <a:chOff x="4850654" y="510655"/>
              <a:chExt cx="751672" cy="751672"/>
            </a:xfrm>
          </p:grpSpPr>
          <p:sp>
            <p:nvSpPr>
              <p:cNvPr id="123" name="Oval 122">
                <a:extLst>
                  <a:ext uri="{FF2B5EF4-FFF2-40B4-BE49-F238E27FC236}">
                    <a16:creationId xmlns:a16="http://schemas.microsoft.com/office/drawing/2014/main" id="{94644C06-1E5A-4880-AF33-FC37A83D58CD}"/>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24" name="people_5">
                <a:extLst>
                  <a:ext uri="{FF2B5EF4-FFF2-40B4-BE49-F238E27FC236}">
                    <a16:creationId xmlns:a16="http://schemas.microsoft.com/office/drawing/2014/main" id="{42BF7F76-EE8F-4FD6-AFAB-B3C918F2B584}"/>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grpSp>
        <p:nvGrpSpPr>
          <p:cNvPr id="5" name="Group 4">
            <a:extLst>
              <a:ext uri="{FF2B5EF4-FFF2-40B4-BE49-F238E27FC236}">
                <a16:creationId xmlns:a16="http://schemas.microsoft.com/office/drawing/2014/main" id="{8FCF99D1-8603-4229-A10D-C9FCC2123D75}"/>
              </a:ext>
            </a:extLst>
          </p:cNvPr>
          <p:cNvGrpSpPr/>
          <p:nvPr/>
        </p:nvGrpSpPr>
        <p:grpSpPr>
          <a:xfrm>
            <a:off x="3185201" y="2740193"/>
            <a:ext cx="2613701" cy="2806533"/>
            <a:chOff x="3185201" y="2740193"/>
            <a:chExt cx="2613701" cy="2806533"/>
          </a:xfrm>
        </p:grpSpPr>
        <p:cxnSp>
          <p:nvCxnSpPr>
            <p:cNvPr id="140" name="Straight Connector 139">
              <a:extLst>
                <a:ext uri="{FF2B5EF4-FFF2-40B4-BE49-F238E27FC236}">
                  <a16:creationId xmlns:a16="http://schemas.microsoft.com/office/drawing/2014/main" id="{594D34D9-A54F-4124-BA8E-155CD0796BBC}"/>
                </a:ext>
                <a:ext uri="{C183D7F6-B498-43B3-948B-1728B52AA6E4}">
                  <adec:decorative xmlns:adec="http://schemas.microsoft.com/office/drawing/2017/decorative" val="1"/>
                </a:ext>
              </a:extLst>
            </p:cNvPr>
            <p:cNvCxnSpPr>
              <a:cxnSpLocks/>
            </p:cNvCxnSpPr>
            <p:nvPr/>
          </p:nvCxnSpPr>
          <p:spPr>
            <a:xfrm>
              <a:off x="3185201"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57E8BE0-257A-45ED-AB34-50EDBFCF2AD9}"/>
                </a:ext>
              </a:extLst>
            </p:cNvPr>
            <p:cNvSpPr/>
            <p:nvPr/>
          </p:nvSpPr>
          <p:spPr>
            <a:xfrm>
              <a:off x="3482299" y="2740193"/>
              <a:ext cx="2316603" cy="553998"/>
            </a:xfrm>
            <a:prstGeom prst="rect">
              <a:avLst/>
            </a:prstGeom>
            <a:noFill/>
          </p:spPr>
          <p:txBody>
            <a:bodyPr wrap="square" lIns="0" tIns="0" rIns="0" bIns="0">
              <a:spAutoFit/>
            </a:bodyPr>
            <a:lstStyle/>
            <a:p>
              <a:pPr defTabSz="914224" fontAlgn="base">
                <a:spcAft>
                  <a:spcPts val="200"/>
                </a:spcAft>
                <a:defRPr/>
              </a:pPr>
              <a:r>
                <a:rPr lang="en-US" dirty="0">
                  <a:ea typeface="Times New Roman" panose="02020603050405020304" pitchFamily="18" charset="0"/>
                  <a:cs typeface="Times New Roman" panose="02020603050405020304" pitchFamily="18" charset="0"/>
                </a:rPr>
                <a:t>Source code repo structure</a:t>
              </a:r>
            </a:p>
          </p:txBody>
        </p:sp>
        <p:grpSp>
          <p:nvGrpSpPr>
            <p:cNvPr id="173" name="Group 172" descr="Icon of a person wearing a headset">
              <a:extLst>
                <a:ext uri="{FF2B5EF4-FFF2-40B4-BE49-F238E27FC236}">
                  <a16:creationId xmlns:a16="http://schemas.microsoft.com/office/drawing/2014/main" id="{A2A27087-1681-4B2D-87E1-116A3365C347}"/>
                </a:ext>
              </a:extLst>
            </p:cNvPr>
            <p:cNvGrpSpPr>
              <a:grpSpLocks/>
            </p:cNvGrpSpPr>
            <p:nvPr/>
          </p:nvGrpSpPr>
          <p:grpSpPr>
            <a:xfrm>
              <a:off x="5142588" y="4890415"/>
              <a:ext cx="656314" cy="656311"/>
              <a:chOff x="4850654" y="1468393"/>
              <a:chExt cx="751672" cy="751672"/>
            </a:xfrm>
          </p:grpSpPr>
          <p:sp>
            <p:nvSpPr>
              <p:cNvPr id="174" name="Oval 173">
                <a:extLst>
                  <a:ext uri="{FF2B5EF4-FFF2-40B4-BE49-F238E27FC236}">
                    <a16:creationId xmlns:a16="http://schemas.microsoft.com/office/drawing/2014/main" id="{412DC491-22AC-4A6D-B3A8-64A23F8112D2}"/>
                  </a:ext>
                  <a:ext uri="{C183D7F6-B498-43B3-948B-1728B52AA6E4}">
                    <adec:decorative xmlns:adec="http://schemas.microsoft.com/office/drawing/2017/decorative" val="1"/>
                  </a:ext>
                </a:extLst>
              </p:cNvPr>
              <p:cNvSpPr>
                <a:spLocks/>
              </p:cNvSpPr>
              <p:nvPr/>
            </p:nvSpPr>
            <p:spPr bwMode="auto">
              <a:xfrm>
                <a:off x="485065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5" name="Telemarketer_E7B9">
                <a:extLst>
                  <a:ext uri="{FF2B5EF4-FFF2-40B4-BE49-F238E27FC236}">
                    <a16:creationId xmlns:a16="http://schemas.microsoft.com/office/drawing/2014/main" id="{7C2E0D0C-F69B-4C27-9BB2-A7FC9E4CBFF3}"/>
                  </a:ext>
                  <a:ext uri="{C183D7F6-B498-43B3-948B-1728B52AA6E4}">
                    <adec:decorative xmlns:adec="http://schemas.microsoft.com/office/drawing/2017/decorative" val="1"/>
                  </a:ext>
                </a:extLst>
              </p:cNvPr>
              <p:cNvSpPr>
                <a:spLocks noChangeAspect="1" noEditPoints="1"/>
              </p:cNvSpPr>
              <p:nvPr/>
            </p:nvSpPr>
            <p:spPr bwMode="auto">
              <a:xfrm>
                <a:off x="5076466" y="1665306"/>
                <a:ext cx="300048" cy="357846"/>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3" name="Group 2">
            <a:extLst>
              <a:ext uri="{FF2B5EF4-FFF2-40B4-BE49-F238E27FC236}">
                <a16:creationId xmlns:a16="http://schemas.microsoft.com/office/drawing/2014/main" id="{940D0125-9918-41B5-A494-E8DF6585BF4C}"/>
              </a:ext>
            </a:extLst>
          </p:cNvPr>
          <p:cNvGrpSpPr/>
          <p:nvPr/>
        </p:nvGrpSpPr>
        <p:grpSpPr>
          <a:xfrm>
            <a:off x="6096000" y="2740193"/>
            <a:ext cx="2613701" cy="2806533"/>
            <a:chOff x="6096000" y="2740193"/>
            <a:chExt cx="2613701" cy="2806533"/>
          </a:xfrm>
        </p:grpSpPr>
        <p:cxnSp>
          <p:nvCxnSpPr>
            <p:cNvPr id="187" name="Straight Connector 186">
              <a:extLst>
                <a:ext uri="{FF2B5EF4-FFF2-40B4-BE49-F238E27FC236}">
                  <a16:creationId xmlns:a16="http://schemas.microsoft.com/office/drawing/2014/main" id="{96DA2106-45CC-42DE-AE3C-C5187C2EC187}"/>
                </a:ext>
                <a:ext uri="{C183D7F6-B498-43B3-948B-1728B52AA6E4}">
                  <adec:decorative xmlns:adec="http://schemas.microsoft.com/office/drawing/2017/decorative" val="1"/>
                </a:ext>
              </a:extLst>
            </p:cNvPr>
            <p:cNvCxnSpPr>
              <a:cxnSpLocks/>
            </p:cNvCxnSpPr>
            <p:nvPr/>
          </p:nvCxnSpPr>
          <p:spPr>
            <a:xfrm>
              <a:off x="6096000"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8" name="Rectangle 197">
              <a:extLst>
                <a:ext uri="{FF2B5EF4-FFF2-40B4-BE49-F238E27FC236}">
                  <a16:creationId xmlns:a16="http://schemas.microsoft.com/office/drawing/2014/main" id="{89DA1F94-0267-4937-B0EB-354553751953}"/>
                </a:ext>
              </a:extLst>
            </p:cNvPr>
            <p:cNvSpPr/>
            <p:nvPr/>
          </p:nvSpPr>
          <p:spPr>
            <a:xfrm>
              <a:off x="6393098" y="2740193"/>
              <a:ext cx="2316603" cy="553998"/>
            </a:xfrm>
            <a:prstGeom prst="rect">
              <a:avLst/>
            </a:prstGeom>
            <a:noFill/>
          </p:spPr>
          <p:txBody>
            <a:bodyPr wrap="square" lIns="0" tIns="0" rIns="0" bIns="0">
              <a:spAutoFit/>
            </a:bodyPr>
            <a:lstStyle/>
            <a:p>
              <a:pPr defTabSz="914224" fontAlgn="base">
                <a:spcAft>
                  <a:spcPts val="200"/>
                </a:spcAft>
                <a:defRPr/>
              </a:pPr>
              <a:r>
                <a:rPr lang="en-US" dirty="0">
                  <a:ea typeface="Times New Roman" panose="02020603050405020304" pitchFamily="18" charset="0"/>
                  <a:cs typeface="Times New Roman" panose="02020603050405020304" pitchFamily="18" charset="0"/>
                </a:rPr>
                <a:t>CI/CD workflow using GitHub</a:t>
              </a:r>
            </a:p>
          </p:txBody>
        </p:sp>
        <p:grpSp>
          <p:nvGrpSpPr>
            <p:cNvPr id="209" name="Group 208" descr="Icon of three people with an arrow above them pointing down">
              <a:extLst>
                <a:ext uri="{FF2B5EF4-FFF2-40B4-BE49-F238E27FC236}">
                  <a16:creationId xmlns:a16="http://schemas.microsoft.com/office/drawing/2014/main" id="{8B1DCB89-7AA3-4C66-995D-D1902E3F06C5}"/>
                </a:ext>
              </a:extLst>
            </p:cNvPr>
            <p:cNvGrpSpPr>
              <a:grpSpLocks/>
            </p:cNvGrpSpPr>
            <p:nvPr/>
          </p:nvGrpSpPr>
          <p:grpSpPr>
            <a:xfrm>
              <a:off x="8053387" y="4890415"/>
              <a:ext cx="656314" cy="656311"/>
              <a:chOff x="4850654" y="2426131"/>
              <a:chExt cx="751672" cy="751672"/>
            </a:xfrm>
          </p:grpSpPr>
          <p:sp>
            <p:nvSpPr>
              <p:cNvPr id="210" name="Oval 209">
                <a:extLst>
                  <a:ext uri="{FF2B5EF4-FFF2-40B4-BE49-F238E27FC236}">
                    <a16:creationId xmlns:a16="http://schemas.microsoft.com/office/drawing/2014/main" id="{5DE676EE-3A8D-48EB-9CAC-F9A2EC4D2617}"/>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1" name="people_2">
                <a:extLst>
                  <a:ext uri="{FF2B5EF4-FFF2-40B4-BE49-F238E27FC236}">
                    <a16:creationId xmlns:a16="http://schemas.microsoft.com/office/drawing/2014/main" id="{E6DBAC5C-6B90-414F-8BD0-7D63B25582E8}"/>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2" name="Group 1">
            <a:extLst>
              <a:ext uri="{FF2B5EF4-FFF2-40B4-BE49-F238E27FC236}">
                <a16:creationId xmlns:a16="http://schemas.microsoft.com/office/drawing/2014/main" id="{8B696FA0-67CE-4A24-9D09-45AE8A5DF18E}"/>
              </a:ext>
            </a:extLst>
          </p:cNvPr>
          <p:cNvGrpSpPr/>
          <p:nvPr/>
        </p:nvGrpSpPr>
        <p:grpSpPr>
          <a:xfrm>
            <a:off x="9006799" y="2740193"/>
            <a:ext cx="2613701" cy="2806533"/>
            <a:chOff x="9006799" y="2740193"/>
            <a:chExt cx="2613701" cy="2806533"/>
          </a:xfrm>
        </p:grpSpPr>
        <p:cxnSp>
          <p:nvCxnSpPr>
            <p:cNvPr id="220" name="Straight Connector 219">
              <a:extLst>
                <a:ext uri="{FF2B5EF4-FFF2-40B4-BE49-F238E27FC236}">
                  <a16:creationId xmlns:a16="http://schemas.microsoft.com/office/drawing/2014/main" id="{958418FD-4AD9-4AF0-AD84-999BED91B804}"/>
                </a:ext>
                <a:ext uri="{C183D7F6-B498-43B3-948B-1728B52AA6E4}">
                  <adec:decorative xmlns:adec="http://schemas.microsoft.com/office/drawing/2017/decorative" val="1"/>
                </a:ext>
              </a:extLst>
            </p:cNvPr>
            <p:cNvCxnSpPr>
              <a:cxnSpLocks/>
            </p:cNvCxnSpPr>
            <p:nvPr/>
          </p:nvCxnSpPr>
          <p:spPr>
            <a:xfrm>
              <a:off x="9006799"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6" name="Rectangle 225">
              <a:extLst>
                <a:ext uri="{FF2B5EF4-FFF2-40B4-BE49-F238E27FC236}">
                  <a16:creationId xmlns:a16="http://schemas.microsoft.com/office/drawing/2014/main" id="{7576A04A-DB64-4AE2-A020-A9363E3180A2}"/>
                </a:ext>
              </a:extLst>
            </p:cNvPr>
            <p:cNvSpPr/>
            <p:nvPr/>
          </p:nvSpPr>
          <p:spPr>
            <a:xfrm>
              <a:off x="9303897" y="2740193"/>
              <a:ext cx="2316603" cy="553998"/>
            </a:xfrm>
            <a:prstGeom prst="rect">
              <a:avLst/>
            </a:prstGeom>
            <a:noFill/>
          </p:spPr>
          <p:txBody>
            <a:bodyPr wrap="square" lIns="0" tIns="0" rIns="0" bIns="0">
              <a:spAutoFit/>
            </a:bodyPr>
            <a:lstStyle/>
            <a:p>
              <a:pPr defTabSz="914224" fontAlgn="base">
                <a:spcAft>
                  <a:spcPts val="200"/>
                </a:spcAft>
                <a:defRPr/>
              </a:pPr>
              <a:r>
                <a:rPr lang="en-US" dirty="0">
                  <a:ea typeface="Times New Roman" panose="02020603050405020304" pitchFamily="18" charset="0"/>
                  <a:cs typeface="Times New Roman" panose="02020603050405020304" pitchFamily="18" charset="0"/>
                </a:rPr>
                <a:t>Authentication and authorization</a:t>
              </a:r>
            </a:p>
          </p:txBody>
        </p:sp>
        <p:grpSp>
          <p:nvGrpSpPr>
            <p:cNvPr id="232" name="Group 231" descr="Icon of a dotted line circle made of a curved arrow pointing clockwise">
              <a:extLst>
                <a:ext uri="{FF2B5EF4-FFF2-40B4-BE49-F238E27FC236}">
                  <a16:creationId xmlns:a16="http://schemas.microsoft.com/office/drawing/2014/main" id="{BB3035A0-BC21-4B40-AED1-A6A82C189967}"/>
                </a:ext>
              </a:extLst>
            </p:cNvPr>
            <p:cNvGrpSpPr>
              <a:grpSpLocks/>
            </p:cNvGrpSpPr>
            <p:nvPr/>
          </p:nvGrpSpPr>
          <p:grpSpPr>
            <a:xfrm>
              <a:off x="10964186" y="4890415"/>
              <a:ext cx="656314" cy="656311"/>
              <a:chOff x="5945218" y="3383869"/>
              <a:chExt cx="751672" cy="751672"/>
            </a:xfrm>
          </p:grpSpPr>
          <p:sp>
            <p:nvSpPr>
              <p:cNvPr id="233" name="Oval 232">
                <a:extLst>
                  <a:ext uri="{FF2B5EF4-FFF2-40B4-BE49-F238E27FC236}">
                    <a16:creationId xmlns:a16="http://schemas.microsoft.com/office/drawing/2014/main" id="{224AADF5-0B86-45A3-AC2B-70FE0D390DC8}"/>
                  </a:ext>
                  <a:ext uri="{C183D7F6-B498-43B3-948B-1728B52AA6E4}">
                    <adec:decorative xmlns:adec="http://schemas.microsoft.com/office/drawing/2017/decorative" val="1"/>
                  </a:ext>
                </a:extLst>
              </p:cNvPr>
              <p:cNvSpPr>
                <a:spLocks/>
              </p:cNvSpPr>
              <p:nvPr/>
            </p:nvSpPr>
            <p:spPr bwMode="auto">
              <a:xfrm>
                <a:off x="5945218"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34" name="arrow_26">
                <a:extLst>
                  <a:ext uri="{FF2B5EF4-FFF2-40B4-BE49-F238E27FC236}">
                    <a16:creationId xmlns:a16="http://schemas.microsoft.com/office/drawing/2014/main" id="{83FA8140-00D5-4B54-AE34-9770E1C4208F}"/>
                  </a:ext>
                  <a:ext uri="{C183D7F6-B498-43B3-948B-1728B52AA6E4}">
                    <adec:decorative xmlns:adec="http://schemas.microsoft.com/office/drawing/2017/decorative" val="1"/>
                  </a:ext>
                </a:extLst>
              </p:cNvPr>
              <p:cNvSpPr>
                <a:spLocks noChangeAspect="1" noEditPoints="1"/>
              </p:cNvSpPr>
              <p:nvPr/>
            </p:nvSpPr>
            <p:spPr bwMode="auto">
              <a:xfrm>
                <a:off x="6132619" y="3577120"/>
                <a:ext cx="376872" cy="365172"/>
              </a:xfrm>
              <a:custGeom>
                <a:avLst/>
                <a:gdLst>
                  <a:gd name="T0" fmla="*/ 18 w 328"/>
                  <a:gd name="T1" fmla="*/ 80 h 319"/>
                  <a:gd name="T2" fmla="*/ 110 w 328"/>
                  <a:gd name="T3" fmla="*/ 0 h 319"/>
                  <a:gd name="T4" fmla="*/ 8 w 328"/>
                  <a:gd name="T5" fmla="*/ 206 h 319"/>
                  <a:gd name="T6" fmla="*/ 0 w 328"/>
                  <a:gd name="T7" fmla="*/ 155 h 319"/>
                  <a:gd name="T8" fmla="*/ 7 w 328"/>
                  <a:gd name="T9" fmla="*/ 105 h 319"/>
                  <a:gd name="T10" fmla="*/ 88 w 328"/>
                  <a:gd name="T11" fmla="*/ 301 h 319"/>
                  <a:gd name="T12" fmla="*/ 19 w 328"/>
                  <a:gd name="T13" fmla="*/ 232 h 319"/>
                  <a:gd name="T14" fmla="*/ 18 w 328"/>
                  <a:gd name="T15" fmla="*/ 230 h 319"/>
                  <a:gd name="T16" fmla="*/ 213 w 328"/>
                  <a:gd name="T17" fmla="*/ 311 h 319"/>
                  <a:gd name="T18" fmla="*/ 164 w 328"/>
                  <a:gd name="T19" fmla="*/ 319 h 319"/>
                  <a:gd name="T20" fmla="*/ 114 w 328"/>
                  <a:gd name="T21" fmla="*/ 311 h 319"/>
                  <a:gd name="T22" fmla="*/ 309 w 328"/>
                  <a:gd name="T23" fmla="*/ 231 h 319"/>
                  <a:gd name="T24" fmla="*/ 239 w 328"/>
                  <a:gd name="T25" fmla="*/ 301 h 319"/>
                  <a:gd name="T26" fmla="*/ 320 w 328"/>
                  <a:gd name="T27" fmla="*/ 105 h 319"/>
                  <a:gd name="T28" fmla="*/ 328 w 328"/>
                  <a:gd name="T29" fmla="*/ 155 h 319"/>
                  <a:gd name="T30" fmla="*/ 320 w 328"/>
                  <a:gd name="T31" fmla="*/ 204 h 319"/>
                  <a:gd name="T32" fmla="*/ 239 w 328"/>
                  <a:gd name="T33" fmla="*/ 9 h 319"/>
                  <a:gd name="T34" fmla="*/ 310 w 328"/>
                  <a:gd name="T35" fmla="*/ 80 h 319"/>
                  <a:gd name="T36" fmla="*/ 110 w 328"/>
                  <a:gd name="T37" fmla="*/ 75 h 319"/>
                  <a:gd name="T38" fmla="*/ 110 w 328"/>
                  <a:gd name="T39" fmla="*/ 0 h 319"/>
                  <a:gd name="T40" fmla="*/ 36 w 328"/>
                  <a:gd name="T41"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8" h="319">
                    <a:moveTo>
                      <a:pt x="18" y="80"/>
                    </a:moveTo>
                    <a:cubicBezTo>
                      <a:pt x="37" y="43"/>
                      <a:pt x="70" y="14"/>
                      <a:pt x="110" y="0"/>
                    </a:cubicBezTo>
                    <a:moveTo>
                      <a:pt x="8" y="206"/>
                    </a:moveTo>
                    <a:cubicBezTo>
                      <a:pt x="2" y="190"/>
                      <a:pt x="0" y="173"/>
                      <a:pt x="0" y="155"/>
                    </a:cubicBezTo>
                    <a:cubicBezTo>
                      <a:pt x="0" y="138"/>
                      <a:pt x="2" y="121"/>
                      <a:pt x="7" y="105"/>
                    </a:cubicBezTo>
                    <a:moveTo>
                      <a:pt x="88" y="301"/>
                    </a:moveTo>
                    <a:cubicBezTo>
                      <a:pt x="59" y="285"/>
                      <a:pt x="34" y="261"/>
                      <a:pt x="19" y="232"/>
                    </a:cubicBezTo>
                    <a:cubicBezTo>
                      <a:pt x="19" y="231"/>
                      <a:pt x="18" y="231"/>
                      <a:pt x="18" y="230"/>
                    </a:cubicBezTo>
                    <a:moveTo>
                      <a:pt x="213" y="311"/>
                    </a:moveTo>
                    <a:cubicBezTo>
                      <a:pt x="197" y="316"/>
                      <a:pt x="181" y="319"/>
                      <a:pt x="164" y="319"/>
                    </a:cubicBezTo>
                    <a:cubicBezTo>
                      <a:pt x="147" y="319"/>
                      <a:pt x="130" y="316"/>
                      <a:pt x="114" y="311"/>
                    </a:cubicBezTo>
                    <a:moveTo>
                      <a:pt x="309" y="231"/>
                    </a:moveTo>
                    <a:cubicBezTo>
                      <a:pt x="294" y="260"/>
                      <a:pt x="269" y="285"/>
                      <a:pt x="239" y="301"/>
                    </a:cubicBezTo>
                    <a:moveTo>
                      <a:pt x="320" y="105"/>
                    </a:moveTo>
                    <a:cubicBezTo>
                      <a:pt x="325" y="120"/>
                      <a:pt x="328" y="138"/>
                      <a:pt x="328" y="155"/>
                    </a:cubicBezTo>
                    <a:cubicBezTo>
                      <a:pt x="328" y="172"/>
                      <a:pt x="325" y="189"/>
                      <a:pt x="320" y="204"/>
                    </a:cubicBezTo>
                    <a:moveTo>
                      <a:pt x="239" y="9"/>
                    </a:moveTo>
                    <a:cubicBezTo>
                      <a:pt x="269" y="25"/>
                      <a:pt x="294" y="50"/>
                      <a:pt x="310" y="80"/>
                    </a:cubicBezTo>
                    <a:moveTo>
                      <a:pt x="110" y="75"/>
                    </a:moveTo>
                    <a:cubicBezTo>
                      <a:pt x="110" y="0"/>
                      <a:pt x="110" y="0"/>
                      <a:pt x="110" y="0"/>
                    </a:cubicBezTo>
                    <a:cubicBezTo>
                      <a:pt x="36" y="0"/>
                      <a:pt x="36" y="0"/>
                      <a:pt x="36" y="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sp>
        <p:nvSpPr>
          <p:cNvPr id="110" name="Footer Placeholder 7">
            <a:extLst>
              <a:ext uri="{FF2B5EF4-FFF2-40B4-BE49-F238E27FC236}">
                <a16:creationId xmlns:a16="http://schemas.microsoft.com/office/drawing/2014/main" id="{9CAB8FC4-BA4D-40F2-A5E4-7325D132B66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1" name="Slide Number Placeholder 5">
            <a:extLst>
              <a:ext uri="{FF2B5EF4-FFF2-40B4-BE49-F238E27FC236}">
                <a16:creationId xmlns:a16="http://schemas.microsoft.com/office/drawing/2014/main" id="{6B90DC93-3B04-424D-9759-558344B062B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901160637"/>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name="HIDDEN - Slide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132E6D-A6EE-402B-895A-D0B053AB702A}"/>
              </a:ext>
            </a:extLst>
          </p:cNvPr>
          <p:cNvSpPr>
            <a:spLocks noGrp="1"/>
          </p:cNvSpPr>
          <p:nvPr>
            <p:ph type="title"/>
            <p:custDataLst>
              <p:custData r:id="rId2"/>
            </p:custDataLst>
          </p:nvPr>
        </p:nvSpPr>
        <p:spPr/>
        <p:txBody>
          <a:bodyPr/>
          <a:lstStyle/>
          <a:p>
            <a:r>
              <a:rPr lang="en-US" dirty="0"/>
              <a:t>DevOps</a:t>
            </a:r>
          </a:p>
        </p:txBody>
      </p:sp>
      <p:sp>
        <p:nvSpPr>
          <p:cNvPr id="2" name="Text Placeholder 1">
            <a:extLst>
              <a:ext uri="{FF2B5EF4-FFF2-40B4-BE49-F238E27FC236}">
                <a16:creationId xmlns:a16="http://schemas.microsoft.com/office/drawing/2014/main" id="{482FEA19-2650-4EE7-9268-C5AD0D758CBB}"/>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B6557B7F-8930-45B3-8C92-8E2F48E4CF5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3D1B8DB-CDB5-4538-B1E2-EE9AC4FA8B6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63588133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wrap="square" anchor="ctr">
            <a:normAutofit fontScale="90000"/>
          </a:bodyPr>
          <a:lstStyle/>
          <a:p>
            <a:r>
              <a:rPr lang="en-US" dirty="0"/>
              <a:t>What is DevOps?                  </a:t>
            </a:r>
            <a:r>
              <a:rPr lang="en-US" sz="3600" dirty="0"/>
              <a:t>People.  Process.  Products.</a:t>
            </a:r>
            <a:endParaRPr lang="en-US" dirty="0"/>
          </a:p>
        </p:txBody>
      </p:sp>
      <p:sp>
        <p:nvSpPr>
          <p:cNvPr id="5" name="Text Placeholder 6">
            <a:extLst>
              <a:ext uri="{FF2B5EF4-FFF2-40B4-BE49-F238E27FC236}">
                <a16:creationId xmlns:a16="http://schemas.microsoft.com/office/drawing/2014/main" id="{0E18C8E1-7753-4082-AC9B-B8C5A9C4D5F0}"/>
              </a:ext>
            </a:extLst>
          </p:cNvPr>
          <p:cNvSpPr txBox="1">
            <a:spLocks/>
          </p:cNvSpPr>
          <p:nvPr/>
        </p:nvSpPr>
        <p:spPr>
          <a:xfrm>
            <a:off x="451110" y="1670378"/>
            <a:ext cx="4966415" cy="384105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DevOps is the union of </a:t>
            </a:r>
            <a:r>
              <a:rPr lang="en-US" sz="2400" b="1" dirty="0">
                <a:solidFill>
                  <a:srgbClr val="0078D7"/>
                </a:solidFill>
              </a:rPr>
              <a:t>people</a:t>
            </a:r>
            <a:r>
              <a:rPr lang="en-US" sz="2400" dirty="0"/>
              <a:t>, </a:t>
            </a:r>
            <a:r>
              <a:rPr lang="en-US" sz="2400" b="1" dirty="0">
                <a:solidFill>
                  <a:srgbClr val="0078D7"/>
                </a:solidFill>
              </a:rPr>
              <a:t>process</a:t>
            </a:r>
            <a:r>
              <a:rPr lang="en-US" sz="2400" dirty="0"/>
              <a:t>, and </a:t>
            </a:r>
            <a:r>
              <a:rPr lang="en-US" sz="2400" b="1" dirty="0">
                <a:solidFill>
                  <a:srgbClr val="0078D7"/>
                </a:solidFill>
              </a:rPr>
              <a:t>products</a:t>
            </a:r>
            <a:r>
              <a:rPr lang="en-US" sz="2400" dirty="0"/>
              <a:t> to enable continuous delivery of value to your end users.</a:t>
            </a:r>
          </a:p>
          <a:p>
            <a:r>
              <a:rPr lang="en-US" sz="2400" dirty="0"/>
              <a:t>This training modules covers only basic functionality of tools like  </a:t>
            </a:r>
            <a:r>
              <a:rPr lang="en-US" sz="2400" b="1" i="1" dirty="0"/>
              <a:t>Azure DevOps </a:t>
            </a:r>
            <a:r>
              <a:rPr lang="en-US" sz="2400" dirty="0"/>
              <a:t>and </a:t>
            </a:r>
            <a:r>
              <a:rPr lang="en-US" sz="2400" b="1" i="1" dirty="0"/>
              <a:t>GitHub</a:t>
            </a:r>
            <a:r>
              <a:rPr lang="en-US" sz="2400" dirty="0"/>
              <a:t>.</a:t>
            </a:r>
          </a:p>
          <a:p>
            <a:r>
              <a:rPr lang="en-US" sz="2400" dirty="0"/>
              <a:t>Please refer to our other Microsoft DevOps workshops for more details.</a:t>
            </a:r>
            <a:endParaRPr lang="en-US" sz="2000" dirty="0"/>
          </a:p>
        </p:txBody>
      </p:sp>
      <p:grpSp>
        <p:nvGrpSpPr>
          <p:cNvPr id="6" name="Group 5">
            <a:extLst>
              <a:ext uri="{FF2B5EF4-FFF2-40B4-BE49-F238E27FC236}">
                <a16:creationId xmlns:a16="http://schemas.microsoft.com/office/drawing/2014/main" id="{67891B34-7FD7-4E52-AE3F-83303025BE62}"/>
              </a:ext>
            </a:extLst>
          </p:cNvPr>
          <p:cNvGrpSpPr/>
          <p:nvPr/>
        </p:nvGrpSpPr>
        <p:grpSpPr>
          <a:xfrm>
            <a:off x="5257800" y="1670378"/>
            <a:ext cx="6588525" cy="5016111"/>
            <a:chOff x="5654955" y="1043577"/>
            <a:chExt cx="7110287" cy="5422234"/>
          </a:xfrm>
        </p:grpSpPr>
        <p:sp>
          <p:nvSpPr>
            <p:cNvPr id="7" name="Oval 6">
              <a:extLst>
                <a:ext uri="{FF2B5EF4-FFF2-40B4-BE49-F238E27FC236}">
                  <a16:creationId xmlns:a16="http://schemas.microsoft.com/office/drawing/2014/main" id="{C2428050-399C-4B3D-818F-9AC4548DDF98}"/>
                </a:ext>
              </a:extLst>
            </p:cNvPr>
            <p:cNvSpPr/>
            <p:nvPr/>
          </p:nvSpPr>
          <p:spPr bwMode="auto">
            <a:xfrm>
              <a:off x="6732425" y="1697852"/>
              <a:ext cx="4767959" cy="4767959"/>
            </a:xfrm>
            <a:prstGeom prst="ellipse">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 name="Oval 7">
              <a:extLst>
                <a:ext uri="{FF2B5EF4-FFF2-40B4-BE49-F238E27FC236}">
                  <a16:creationId xmlns:a16="http://schemas.microsoft.com/office/drawing/2014/main" id="{F41357C9-69B0-4CFC-B20E-987B639A52DA}"/>
                </a:ext>
              </a:extLst>
            </p:cNvPr>
            <p:cNvSpPr/>
            <p:nvPr/>
          </p:nvSpPr>
          <p:spPr bwMode="auto">
            <a:xfrm>
              <a:off x="7018892" y="1984319"/>
              <a:ext cx="4195027" cy="4195027"/>
            </a:xfrm>
            <a:prstGeom prst="ellipse">
              <a:avLst/>
            </a:prstGeom>
            <a:noFill/>
            <a:ln w="19050" cap="flat">
              <a:solidFill>
                <a:schemeClr val="bg1"/>
              </a:solidFill>
              <a:prstDash val="dash"/>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cs typeface="Segoe UI" pitchFamily="34" charset="0"/>
              </a:endParaRPr>
            </a:p>
          </p:txBody>
        </p:sp>
        <p:grpSp>
          <p:nvGrpSpPr>
            <p:cNvPr id="10" name="Group 9">
              <a:extLst>
                <a:ext uri="{FF2B5EF4-FFF2-40B4-BE49-F238E27FC236}">
                  <a16:creationId xmlns:a16="http://schemas.microsoft.com/office/drawing/2014/main" id="{07E3B634-05BE-44DE-9727-239D69EBB64D}"/>
                </a:ext>
              </a:extLst>
            </p:cNvPr>
            <p:cNvGrpSpPr/>
            <p:nvPr/>
          </p:nvGrpSpPr>
          <p:grpSpPr>
            <a:xfrm rot="13765054">
              <a:off x="10756739" y="2809974"/>
              <a:ext cx="225781" cy="189120"/>
              <a:chOff x="5899816" y="2353437"/>
              <a:chExt cx="250241" cy="209609"/>
            </a:xfrm>
            <a:solidFill>
              <a:srgbClr val="D2D2D2"/>
            </a:solidFill>
          </p:grpSpPr>
          <p:sp>
            <p:nvSpPr>
              <p:cNvPr id="30" name="Rectangle 29">
                <a:extLst>
                  <a:ext uri="{FF2B5EF4-FFF2-40B4-BE49-F238E27FC236}">
                    <a16:creationId xmlns:a16="http://schemas.microsoft.com/office/drawing/2014/main" id="{2419A2B0-8BB6-4E88-A457-F8F8E3E8F1E9}"/>
                  </a:ext>
                </a:extLst>
              </p:cNvPr>
              <p:cNvSpPr/>
              <p:nvPr/>
            </p:nvSpPr>
            <p:spPr bwMode="auto">
              <a:xfrm>
                <a:off x="5899816" y="2353437"/>
                <a:ext cx="217357" cy="20960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1" name="Rectangle 13">
                <a:extLst>
                  <a:ext uri="{FF2B5EF4-FFF2-40B4-BE49-F238E27FC236}">
                    <a16:creationId xmlns:a16="http://schemas.microsoft.com/office/drawing/2014/main" id="{4EE4C007-5C22-4139-B6CD-1CA4456B1051}"/>
                  </a:ext>
                </a:extLst>
              </p:cNvPr>
              <p:cNvSpPr/>
              <p:nvPr/>
            </p:nvSpPr>
            <p:spPr bwMode="auto">
              <a:xfrm rot="18900000">
                <a:off x="6001842" y="2384134"/>
                <a:ext cx="148215" cy="148215"/>
              </a:xfrm>
              <a:custGeom>
                <a:avLst/>
                <a:gdLst>
                  <a:gd name="connsiteX0" fmla="*/ 0 w 508000"/>
                  <a:gd name="connsiteY0" fmla="*/ 0 h 508000"/>
                  <a:gd name="connsiteX1" fmla="*/ 508000 w 508000"/>
                  <a:gd name="connsiteY1" fmla="*/ 0 h 508000"/>
                  <a:gd name="connsiteX2" fmla="*/ 508000 w 508000"/>
                  <a:gd name="connsiteY2" fmla="*/ 508000 h 508000"/>
                  <a:gd name="connsiteX3" fmla="*/ 0 w 508000"/>
                  <a:gd name="connsiteY3" fmla="*/ 508000 h 508000"/>
                  <a:gd name="connsiteX4" fmla="*/ 0 w 508000"/>
                  <a:gd name="connsiteY4" fmla="*/ 0 h 508000"/>
                  <a:gd name="connsiteX0" fmla="*/ 508000 w 599440"/>
                  <a:gd name="connsiteY0" fmla="*/ 508000 h 599440"/>
                  <a:gd name="connsiteX1" fmla="*/ 0 w 599440"/>
                  <a:gd name="connsiteY1" fmla="*/ 508000 h 599440"/>
                  <a:gd name="connsiteX2" fmla="*/ 0 w 599440"/>
                  <a:gd name="connsiteY2" fmla="*/ 0 h 599440"/>
                  <a:gd name="connsiteX3" fmla="*/ 508000 w 599440"/>
                  <a:gd name="connsiteY3" fmla="*/ 0 h 599440"/>
                  <a:gd name="connsiteX4" fmla="*/ 599440 w 599440"/>
                  <a:gd name="connsiteY4" fmla="*/ 599440 h 599440"/>
                  <a:gd name="connsiteX0" fmla="*/ 508000 w 508000"/>
                  <a:gd name="connsiteY0" fmla="*/ 508000 h 508000"/>
                  <a:gd name="connsiteX1" fmla="*/ 0 w 508000"/>
                  <a:gd name="connsiteY1" fmla="*/ 508000 h 508000"/>
                  <a:gd name="connsiteX2" fmla="*/ 0 w 508000"/>
                  <a:gd name="connsiteY2" fmla="*/ 0 h 508000"/>
                  <a:gd name="connsiteX3" fmla="*/ 508000 w 508000"/>
                  <a:gd name="connsiteY3" fmla="*/ 0 h 508000"/>
                  <a:gd name="connsiteX0" fmla="*/ 0 w 508000"/>
                  <a:gd name="connsiteY0" fmla="*/ 508000 h 508000"/>
                  <a:gd name="connsiteX1" fmla="*/ 0 w 508000"/>
                  <a:gd name="connsiteY1" fmla="*/ 0 h 508000"/>
                  <a:gd name="connsiteX2" fmla="*/ 508000 w 508000"/>
                  <a:gd name="connsiteY2" fmla="*/ 0 h 508000"/>
                </a:gdLst>
                <a:ahLst/>
                <a:cxnLst>
                  <a:cxn ang="0">
                    <a:pos x="connsiteX0" y="connsiteY0"/>
                  </a:cxn>
                  <a:cxn ang="0">
                    <a:pos x="connsiteX1" y="connsiteY1"/>
                  </a:cxn>
                  <a:cxn ang="0">
                    <a:pos x="connsiteX2" y="connsiteY2"/>
                  </a:cxn>
                </a:cxnLst>
                <a:rect l="l" t="t" r="r" b="b"/>
                <a:pathLst>
                  <a:path w="508000" h="508000">
                    <a:moveTo>
                      <a:pt x="0" y="508000"/>
                    </a:moveTo>
                    <a:lnTo>
                      <a:pt x="0" y="0"/>
                    </a:lnTo>
                    <a:lnTo>
                      <a:pt x="508000" y="0"/>
                    </a:lnTo>
                  </a:path>
                </a:pathLst>
              </a:custGeom>
              <a:grpFill/>
              <a:ln w="19050">
                <a:solidFill>
                  <a:schemeClr val="bg1"/>
                </a:soli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11" name="Group 10">
              <a:extLst>
                <a:ext uri="{FF2B5EF4-FFF2-40B4-BE49-F238E27FC236}">
                  <a16:creationId xmlns:a16="http://schemas.microsoft.com/office/drawing/2014/main" id="{84F1F0B2-FE90-407A-ABBF-A037B1ACD20E}"/>
                </a:ext>
              </a:extLst>
            </p:cNvPr>
            <p:cNvGrpSpPr/>
            <p:nvPr/>
          </p:nvGrpSpPr>
          <p:grpSpPr>
            <a:xfrm rot="7370490">
              <a:off x="7252263" y="2830766"/>
              <a:ext cx="225781" cy="189120"/>
              <a:chOff x="5899816" y="2353437"/>
              <a:chExt cx="250241" cy="209609"/>
            </a:xfrm>
            <a:solidFill>
              <a:srgbClr val="D2D2D2"/>
            </a:solidFill>
          </p:grpSpPr>
          <p:sp>
            <p:nvSpPr>
              <p:cNvPr id="28" name="Rectangle 27">
                <a:extLst>
                  <a:ext uri="{FF2B5EF4-FFF2-40B4-BE49-F238E27FC236}">
                    <a16:creationId xmlns:a16="http://schemas.microsoft.com/office/drawing/2014/main" id="{F6C80FF3-75FE-4568-8852-10D9531256E7}"/>
                  </a:ext>
                </a:extLst>
              </p:cNvPr>
              <p:cNvSpPr/>
              <p:nvPr/>
            </p:nvSpPr>
            <p:spPr bwMode="auto">
              <a:xfrm>
                <a:off x="5899816" y="2353437"/>
                <a:ext cx="217357" cy="20960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9" name="Rectangle 13">
                <a:extLst>
                  <a:ext uri="{FF2B5EF4-FFF2-40B4-BE49-F238E27FC236}">
                    <a16:creationId xmlns:a16="http://schemas.microsoft.com/office/drawing/2014/main" id="{52357D0D-253E-4F8B-A9A2-264DF95B34C6}"/>
                  </a:ext>
                </a:extLst>
              </p:cNvPr>
              <p:cNvSpPr/>
              <p:nvPr/>
            </p:nvSpPr>
            <p:spPr bwMode="auto">
              <a:xfrm rot="18900000">
                <a:off x="6001842" y="2384134"/>
                <a:ext cx="148215" cy="148215"/>
              </a:xfrm>
              <a:custGeom>
                <a:avLst/>
                <a:gdLst>
                  <a:gd name="connsiteX0" fmla="*/ 0 w 508000"/>
                  <a:gd name="connsiteY0" fmla="*/ 0 h 508000"/>
                  <a:gd name="connsiteX1" fmla="*/ 508000 w 508000"/>
                  <a:gd name="connsiteY1" fmla="*/ 0 h 508000"/>
                  <a:gd name="connsiteX2" fmla="*/ 508000 w 508000"/>
                  <a:gd name="connsiteY2" fmla="*/ 508000 h 508000"/>
                  <a:gd name="connsiteX3" fmla="*/ 0 w 508000"/>
                  <a:gd name="connsiteY3" fmla="*/ 508000 h 508000"/>
                  <a:gd name="connsiteX4" fmla="*/ 0 w 508000"/>
                  <a:gd name="connsiteY4" fmla="*/ 0 h 508000"/>
                  <a:gd name="connsiteX0" fmla="*/ 508000 w 599440"/>
                  <a:gd name="connsiteY0" fmla="*/ 508000 h 599440"/>
                  <a:gd name="connsiteX1" fmla="*/ 0 w 599440"/>
                  <a:gd name="connsiteY1" fmla="*/ 508000 h 599440"/>
                  <a:gd name="connsiteX2" fmla="*/ 0 w 599440"/>
                  <a:gd name="connsiteY2" fmla="*/ 0 h 599440"/>
                  <a:gd name="connsiteX3" fmla="*/ 508000 w 599440"/>
                  <a:gd name="connsiteY3" fmla="*/ 0 h 599440"/>
                  <a:gd name="connsiteX4" fmla="*/ 599440 w 599440"/>
                  <a:gd name="connsiteY4" fmla="*/ 599440 h 599440"/>
                  <a:gd name="connsiteX0" fmla="*/ 508000 w 508000"/>
                  <a:gd name="connsiteY0" fmla="*/ 508000 h 508000"/>
                  <a:gd name="connsiteX1" fmla="*/ 0 w 508000"/>
                  <a:gd name="connsiteY1" fmla="*/ 508000 h 508000"/>
                  <a:gd name="connsiteX2" fmla="*/ 0 w 508000"/>
                  <a:gd name="connsiteY2" fmla="*/ 0 h 508000"/>
                  <a:gd name="connsiteX3" fmla="*/ 508000 w 508000"/>
                  <a:gd name="connsiteY3" fmla="*/ 0 h 508000"/>
                  <a:gd name="connsiteX0" fmla="*/ 0 w 508000"/>
                  <a:gd name="connsiteY0" fmla="*/ 508000 h 508000"/>
                  <a:gd name="connsiteX1" fmla="*/ 0 w 508000"/>
                  <a:gd name="connsiteY1" fmla="*/ 0 h 508000"/>
                  <a:gd name="connsiteX2" fmla="*/ 508000 w 508000"/>
                  <a:gd name="connsiteY2" fmla="*/ 0 h 508000"/>
                </a:gdLst>
                <a:ahLst/>
                <a:cxnLst>
                  <a:cxn ang="0">
                    <a:pos x="connsiteX0" y="connsiteY0"/>
                  </a:cxn>
                  <a:cxn ang="0">
                    <a:pos x="connsiteX1" y="connsiteY1"/>
                  </a:cxn>
                  <a:cxn ang="0">
                    <a:pos x="connsiteX2" y="connsiteY2"/>
                  </a:cxn>
                </a:cxnLst>
                <a:rect l="l" t="t" r="r" b="b"/>
                <a:pathLst>
                  <a:path w="508000" h="508000">
                    <a:moveTo>
                      <a:pt x="0" y="508000"/>
                    </a:moveTo>
                    <a:lnTo>
                      <a:pt x="0" y="0"/>
                    </a:lnTo>
                    <a:lnTo>
                      <a:pt x="508000" y="0"/>
                    </a:lnTo>
                  </a:path>
                </a:pathLst>
              </a:custGeom>
              <a:grpFill/>
              <a:ln w="19050">
                <a:solidFill>
                  <a:schemeClr val="bg1"/>
                </a:soli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12" name="Group 11">
              <a:extLst>
                <a:ext uri="{FF2B5EF4-FFF2-40B4-BE49-F238E27FC236}">
                  <a16:creationId xmlns:a16="http://schemas.microsoft.com/office/drawing/2014/main" id="{B7A15E74-E9A8-4334-BAF0-24550D0136C0}"/>
                </a:ext>
              </a:extLst>
            </p:cNvPr>
            <p:cNvGrpSpPr/>
            <p:nvPr/>
          </p:nvGrpSpPr>
          <p:grpSpPr>
            <a:xfrm>
              <a:off x="9039306" y="6095343"/>
              <a:ext cx="225781" cy="189120"/>
              <a:chOff x="5899816" y="2353437"/>
              <a:chExt cx="250241" cy="209609"/>
            </a:xfrm>
            <a:solidFill>
              <a:srgbClr val="D2D2D2"/>
            </a:solidFill>
          </p:grpSpPr>
          <p:sp>
            <p:nvSpPr>
              <p:cNvPr id="26" name="Rectangle 25">
                <a:extLst>
                  <a:ext uri="{FF2B5EF4-FFF2-40B4-BE49-F238E27FC236}">
                    <a16:creationId xmlns:a16="http://schemas.microsoft.com/office/drawing/2014/main" id="{C0E97234-0C26-4EF4-A291-89311B8A6829}"/>
                  </a:ext>
                </a:extLst>
              </p:cNvPr>
              <p:cNvSpPr/>
              <p:nvPr/>
            </p:nvSpPr>
            <p:spPr bwMode="auto">
              <a:xfrm>
                <a:off x="5899816" y="2353437"/>
                <a:ext cx="217357" cy="209609"/>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7" name="Rectangle 13">
                <a:extLst>
                  <a:ext uri="{FF2B5EF4-FFF2-40B4-BE49-F238E27FC236}">
                    <a16:creationId xmlns:a16="http://schemas.microsoft.com/office/drawing/2014/main" id="{776B89F0-0185-44B4-AC3E-D54BF4868DC3}"/>
                  </a:ext>
                </a:extLst>
              </p:cNvPr>
              <p:cNvSpPr/>
              <p:nvPr/>
            </p:nvSpPr>
            <p:spPr bwMode="auto">
              <a:xfrm rot="18900000">
                <a:off x="6001842" y="2384134"/>
                <a:ext cx="148215" cy="148215"/>
              </a:xfrm>
              <a:custGeom>
                <a:avLst/>
                <a:gdLst>
                  <a:gd name="connsiteX0" fmla="*/ 0 w 508000"/>
                  <a:gd name="connsiteY0" fmla="*/ 0 h 508000"/>
                  <a:gd name="connsiteX1" fmla="*/ 508000 w 508000"/>
                  <a:gd name="connsiteY1" fmla="*/ 0 h 508000"/>
                  <a:gd name="connsiteX2" fmla="*/ 508000 w 508000"/>
                  <a:gd name="connsiteY2" fmla="*/ 508000 h 508000"/>
                  <a:gd name="connsiteX3" fmla="*/ 0 w 508000"/>
                  <a:gd name="connsiteY3" fmla="*/ 508000 h 508000"/>
                  <a:gd name="connsiteX4" fmla="*/ 0 w 508000"/>
                  <a:gd name="connsiteY4" fmla="*/ 0 h 508000"/>
                  <a:gd name="connsiteX0" fmla="*/ 508000 w 599440"/>
                  <a:gd name="connsiteY0" fmla="*/ 508000 h 599440"/>
                  <a:gd name="connsiteX1" fmla="*/ 0 w 599440"/>
                  <a:gd name="connsiteY1" fmla="*/ 508000 h 599440"/>
                  <a:gd name="connsiteX2" fmla="*/ 0 w 599440"/>
                  <a:gd name="connsiteY2" fmla="*/ 0 h 599440"/>
                  <a:gd name="connsiteX3" fmla="*/ 508000 w 599440"/>
                  <a:gd name="connsiteY3" fmla="*/ 0 h 599440"/>
                  <a:gd name="connsiteX4" fmla="*/ 599440 w 599440"/>
                  <a:gd name="connsiteY4" fmla="*/ 599440 h 599440"/>
                  <a:gd name="connsiteX0" fmla="*/ 508000 w 508000"/>
                  <a:gd name="connsiteY0" fmla="*/ 508000 h 508000"/>
                  <a:gd name="connsiteX1" fmla="*/ 0 w 508000"/>
                  <a:gd name="connsiteY1" fmla="*/ 508000 h 508000"/>
                  <a:gd name="connsiteX2" fmla="*/ 0 w 508000"/>
                  <a:gd name="connsiteY2" fmla="*/ 0 h 508000"/>
                  <a:gd name="connsiteX3" fmla="*/ 508000 w 508000"/>
                  <a:gd name="connsiteY3" fmla="*/ 0 h 508000"/>
                  <a:gd name="connsiteX0" fmla="*/ 0 w 508000"/>
                  <a:gd name="connsiteY0" fmla="*/ 508000 h 508000"/>
                  <a:gd name="connsiteX1" fmla="*/ 0 w 508000"/>
                  <a:gd name="connsiteY1" fmla="*/ 0 h 508000"/>
                  <a:gd name="connsiteX2" fmla="*/ 508000 w 508000"/>
                  <a:gd name="connsiteY2" fmla="*/ 0 h 508000"/>
                </a:gdLst>
                <a:ahLst/>
                <a:cxnLst>
                  <a:cxn ang="0">
                    <a:pos x="connsiteX0" y="connsiteY0"/>
                  </a:cxn>
                  <a:cxn ang="0">
                    <a:pos x="connsiteX1" y="connsiteY1"/>
                  </a:cxn>
                  <a:cxn ang="0">
                    <a:pos x="connsiteX2" y="connsiteY2"/>
                  </a:cxn>
                </a:cxnLst>
                <a:rect l="l" t="t" r="r" b="b"/>
                <a:pathLst>
                  <a:path w="508000" h="508000">
                    <a:moveTo>
                      <a:pt x="0" y="508000"/>
                    </a:moveTo>
                    <a:lnTo>
                      <a:pt x="0" y="0"/>
                    </a:lnTo>
                    <a:lnTo>
                      <a:pt x="508000" y="0"/>
                    </a:lnTo>
                  </a:path>
                </a:pathLst>
              </a:custGeom>
              <a:grpFill/>
              <a:ln w="19050">
                <a:solidFill>
                  <a:schemeClr val="bg1"/>
                </a:soli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sp>
          <p:nvSpPr>
            <p:cNvPr id="13" name="Rectangle 12">
              <a:extLst>
                <a:ext uri="{FF2B5EF4-FFF2-40B4-BE49-F238E27FC236}">
                  <a16:creationId xmlns:a16="http://schemas.microsoft.com/office/drawing/2014/main" id="{07C96157-686B-4344-85E8-70344E2EB3BF}"/>
                </a:ext>
              </a:extLst>
            </p:cNvPr>
            <p:cNvSpPr/>
            <p:nvPr/>
          </p:nvSpPr>
          <p:spPr bwMode="auto">
            <a:xfrm>
              <a:off x="8449840" y="1043577"/>
              <a:ext cx="1333132" cy="27861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55" tIns="146204" rIns="182755" bIns="146204" numCol="1" spcCol="0" rtlCol="0" fromWordArt="0" anchor="ctr" anchorCtr="0" forceAA="0" compatLnSpc="1">
              <a:prstTxWarp prst="textNoShape">
                <a:avLst/>
              </a:prstTxWarp>
              <a:noAutofit/>
            </a:bodyPr>
            <a:lstStyle/>
            <a:p>
              <a:pPr algn="ctr" defTabSz="931745" fontAlgn="base">
                <a:spcBef>
                  <a:spcPct val="0"/>
                </a:spcBef>
                <a:spcAft>
                  <a:spcPct val="0"/>
                </a:spcAft>
                <a:defRPr/>
              </a:pPr>
              <a:r>
                <a:rPr lang="en-US" sz="1400" kern="0" dirty="0">
                  <a:gradFill>
                    <a:gsLst>
                      <a:gs pos="9735">
                        <a:srgbClr val="0078D4"/>
                      </a:gs>
                      <a:gs pos="41204">
                        <a:srgbClr val="0078D4"/>
                      </a:gs>
                    </a:gsLst>
                    <a:lin ang="5400000" scaled="1"/>
                  </a:gradFill>
                  <a:latin typeface="Segoe UI Semibold"/>
                </a:rPr>
                <a:t>Develop</a:t>
              </a:r>
            </a:p>
          </p:txBody>
        </p:sp>
        <p:sp>
          <p:nvSpPr>
            <p:cNvPr id="14" name="Oval 13">
              <a:extLst>
                <a:ext uri="{FF2B5EF4-FFF2-40B4-BE49-F238E27FC236}">
                  <a16:creationId xmlns:a16="http://schemas.microsoft.com/office/drawing/2014/main" id="{F103EA4D-F536-4691-A4D0-BDE8831E0BBA}"/>
                </a:ext>
              </a:extLst>
            </p:cNvPr>
            <p:cNvSpPr/>
            <p:nvPr/>
          </p:nvSpPr>
          <p:spPr bwMode="auto">
            <a:xfrm>
              <a:off x="7258276" y="2223702"/>
              <a:ext cx="3716260" cy="3716260"/>
            </a:xfrm>
            <a:prstGeom prst="ellipse">
              <a:avLst/>
            </a:prstGeom>
            <a:solidFill>
              <a:srgbClr val="FFFFFF"/>
            </a:solidFill>
            <a:ln w="10795" cap="flat" cmpd="sng" algn="ctr">
              <a:noFill/>
              <a:prstDash val="solid"/>
            </a:ln>
            <a:effectLst>
              <a:outerShdw blurRad="254000" dist="50800" dir="2700000" sx="101000" sy="101000" algn="t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cs typeface="Segoe UI" pitchFamily="34" charset="0"/>
              </a:endParaRPr>
            </a:p>
          </p:txBody>
        </p:sp>
        <p:grpSp>
          <p:nvGrpSpPr>
            <p:cNvPr id="15" name="Group 14">
              <a:extLst>
                <a:ext uri="{FF2B5EF4-FFF2-40B4-BE49-F238E27FC236}">
                  <a16:creationId xmlns:a16="http://schemas.microsoft.com/office/drawing/2014/main" id="{2C602BBE-7282-4791-AA69-32DDB93441C5}"/>
                </a:ext>
              </a:extLst>
            </p:cNvPr>
            <p:cNvGrpSpPr/>
            <p:nvPr/>
          </p:nvGrpSpPr>
          <p:grpSpPr>
            <a:xfrm>
              <a:off x="8631539" y="1407198"/>
              <a:ext cx="969736" cy="969736"/>
              <a:chOff x="7709560" y="946149"/>
              <a:chExt cx="950808" cy="950808"/>
            </a:xfrm>
          </p:grpSpPr>
          <p:sp>
            <p:nvSpPr>
              <p:cNvPr id="24" name="Oval 23">
                <a:extLst>
                  <a:ext uri="{FF2B5EF4-FFF2-40B4-BE49-F238E27FC236}">
                    <a16:creationId xmlns:a16="http://schemas.microsoft.com/office/drawing/2014/main" id="{AE154D6A-2732-4581-B51D-BBFF5165E1DE}"/>
                  </a:ext>
                </a:extLst>
              </p:cNvPr>
              <p:cNvSpPr/>
              <p:nvPr/>
            </p:nvSpPr>
            <p:spPr bwMode="auto">
              <a:xfrm>
                <a:off x="7709560" y="946149"/>
                <a:ext cx="950808" cy="950808"/>
              </a:xfrm>
              <a:prstGeom prst="ellipse">
                <a:avLst/>
              </a:prstGeom>
              <a:solidFill>
                <a:schemeClr val="bg1"/>
              </a:solidFill>
              <a:ln w="10795" cap="flat" cmpd="sng" algn="ctr">
                <a:noFill/>
                <a:prstDash val="solid"/>
              </a:ln>
              <a:effectLst>
                <a:outerShdw blurRad="254000" dist="50800" dir="2700000" sx="101000" sy="101000" algn="tl" rotWithShape="0">
                  <a:prstClr val="black">
                    <a:alpha val="3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cs typeface="Segoe UI" pitchFamily="34" charset="0"/>
                </a:endParaRPr>
              </a:p>
            </p:txBody>
          </p:sp>
          <p:sp>
            <p:nvSpPr>
              <p:cNvPr id="25" name="tool">
                <a:extLst>
                  <a:ext uri="{FF2B5EF4-FFF2-40B4-BE49-F238E27FC236}">
                    <a16:creationId xmlns:a16="http://schemas.microsoft.com/office/drawing/2014/main" id="{5750A855-7999-4AD4-A68B-18B562DEFC3C}"/>
                  </a:ext>
                </a:extLst>
              </p:cNvPr>
              <p:cNvSpPr>
                <a:spLocks noChangeAspect="1" noEditPoints="1"/>
              </p:cNvSpPr>
              <p:nvPr/>
            </p:nvSpPr>
            <p:spPr bwMode="auto">
              <a:xfrm>
                <a:off x="8041158" y="1218988"/>
                <a:ext cx="287612" cy="405131"/>
              </a:xfrm>
              <a:custGeom>
                <a:avLst/>
                <a:gdLst>
                  <a:gd name="T0" fmla="*/ 196 w 256"/>
                  <a:gd name="T1" fmla="*/ 0 h 360"/>
                  <a:gd name="T2" fmla="*/ 256 w 256"/>
                  <a:gd name="T3" fmla="*/ 60 h 360"/>
                  <a:gd name="T4" fmla="*/ 230 w 256"/>
                  <a:gd name="T5" fmla="*/ 110 h 360"/>
                  <a:gd name="T6" fmla="*/ 222 w 256"/>
                  <a:gd name="T7" fmla="*/ 114 h 360"/>
                  <a:gd name="T8" fmla="*/ 222 w 256"/>
                  <a:gd name="T9" fmla="*/ 334 h 360"/>
                  <a:gd name="T10" fmla="*/ 196 w 256"/>
                  <a:gd name="T11" fmla="*/ 360 h 360"/>
                  <a:gd name="T12" fmla="*/ 170 w 256"/>
                  <a:gd name="T13" fmla="*/ 334 h 360"/>
                  <a:gd name="T14" fmla="*/ 170 w 256"/>
                  <a:gd name="T15" fmla="*/ 114 h 360"/>
                  <a:gd name="T16" fmla="*/ 162 w 256"/>
                  <a:gd name="T17" fmla="*/ 110 h 360"/>
                  <a:gd name="T18" fmla="*/ 136 w 256"/>
                  <a:gd name="T19" fmla="*/ 60 h 360"/>
                  <a:gd name="T20" fmla="*/ 196 w 256"/>
                  <a:gd name="T21" fmla="*/ 0 h 360"/>
                  <a:gd name="T22" fmla="*/ 0 w 256"/>
                  <a:gd name="T23" fmla="*/ 193 h 360"/>
                  <a:gd name="T24" fmla="*/ 0 w 256"/>
                  <a:gd name="T25" fmla="*/ 219 h 360"/>
                  <a:gd name="T26" fmla="*/ 0 w 256"/>
                  <a:gd name="T27" fmla="*/ 287 h 360"/>
                  <a:gd name="T28" fmla="*/ 0 w 256"/>
                  <a:gd name="T29" fmla="*/ 334 h 360"/>
                  <a:gd name="T30" fmla="*/ 26 w 256"/>
                  <a:gd name="T31" fmla="*/ 360 h 360"/>
                  <a:gd name="T32" fmla="*/ 53 w 256"/>
                  <a:gd name="T33" fmla="*/ 334 h 360"/>
                  <a:gd name="T34" fmla="*/ 53 w 256"/>
                  <a:gd name="T35" fmla="*/ 287 h 360"/>
                  <a:gd name="T36" fmla="*/ 53 w 256"/>
                  <a:gd name="T37" fmla="*/ 219 h 360"/>
                  <a:gd name="T38" fmla="*/ 53 w 256"/>
                  <a:gd name="T39" fmla="*/ 193 h 360"/>
                  <a:gd name="T40" fmla="*/ 26 w 256"/>
                  <a:gd name="T41" fmla="*/ 193 h 360"/>
                  <a:gd name="T42" fmla="*/ 0 w 256"/>
                  <a:gd name="T43" fmla="*/ 193 h 360"/>
                  <a:gd name="T44" fmla="*/ 53 w 256"/>
                  <a:gd name="T45" fmla="*/ 0 h 360"/>
                  <a:gd name="T46" fmla="*/ 0 w 256"/>
                  <a:gd name="T47" fmla="*/ 0 h 360"/>
                  <a:gd name="T48" fmla="*/ 0 w 256"/>
                  <a:gd name="T49" fmla="*/ 42 h 360"/>
                  <a:gd name="T50" fmla="*/ 26 w 256"/>
                  <a:gd name="T51" fmla="*/ 68 h 360"/>
                  <a:gd name="T52" fmla="*/ 53 w 256"/>
                  <a:gd name="T53" fmla="*/ 42 h 360"/>
                  <a:gd name="T54" fmla="*/ 53 w 256"/>
                  <a:gd name="T55" fmla="*/ 0 h 360"/>
                  <a:gd name="T56" fmla="*/ 26 w 256"/>
                  <a:gd name="T57" fmla="*/ 68 h 360"/>
                  <a:gd name="T58" fmla="*/ 26 w 256"/>
                  <a:gd name="T59" fmla="*/ 193 h 360"/>
                  <a:gd name="T60" fmla="*/ 193 w 256"/>
                  <a:gd name="T61" fmla="*/ 0 h 360"/>
                  <a:gd name="T62" fmla="*/ 193 w 256"/>
                  <a:gd name="T63" fmla="*/ 57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6" h="360">
                    <a:moveTo>
                      <a:pt x="196" y="0"/>
                    </a:moveTo>
                    <a:cubicBezTo>
                      <a:pt x="229" y="0"/>
                      <a:pt x="256" y="27"/>
                      <a:pt x="256" y="60"/>
                    </a:cubicBezTo>
                    <a:cubicBezTo>
                      <a:pt x="256" y="81"/>
                      <a:pt x="246" y="99"/>
                      <a:pt x="230" y="110"/>
                    </a:cubicBezTo>
                    <a:cubicBezTo>
                      <a:pt x="222" y="114"/>
                      <a:pt x="222" y="114"/>
                      <a:pt x="222" y="114"/>
                    </a:cubicBezTo>
                    <a:cubicBezTo>
                      <a:pt x="222" y="334"/>
                      <a:pt x="222" y="334"/>
                      <a:pt x="222" y="334"/>
                    </a:cubicBezTo>
                    <a:cubicBezTo>
                      <a:pt x="222" y="348"/>
                      <a:pt x="210" y="360"/>
                      <a:pt x="196" y="360"/>
                    </a:cubicBezTo>
                    <a:cubicBezTo>
                      <a:pt x="182" y="360"/>
                      <a:pt x="170" y="348"/>
                      <a:pt x="170" y="334"/>
                    </a:cubicBezTo>
                    <a:cubicBezTo>
                      <a:pt x="170" y="114"/>
                      <a:pt x="170" y="114"/>
                      <a:pt x="170" y="114"/>
                    </a:cubicBezTo>
                    <a:cubicBezTo>
                      <a:pt x="162" y="110"/>
                      <a:pt x="162" y="110"/>
                      <a:pt x="162" y="110"/>
                    </a:cubicBezTo>
                    <a:cubicBezTo>
                      <a:pt x="147" y="99"/>
                      <a:pt x="136" y="81"/>
                      <a:pt x="136" y="60"/>
                    </a:cubicBezTo>
                    <a:cubicBezTo>
                      <a:pt x="136" y="27"/>
                      <a:pt x="163" y="0"/>
                      <a:pt x="196" y="0"/>
                    </a:cubicBezTo>
                    <a:close/>
                    <a:moveTo>
                      <a:pt x="0" y="193"/>
                    </a:moveTo>
                    <a:cubicBezTo>
                      <a:pt x="0" y="219"/>
                      <a:pt x="0" y="219"/>
                      <a:pt x="0" y="219"/>
                    </a:cubicBezTo>
                    <a:cubicBezTo>
                      <a:pt x="0" y="287"/>
                      <a:pt x="0" y="287"/>
                      <a:pt x="0" y="287"/>
                    </a:cubicBezTo>
                    <a:cubicBezTo>
                      <a:pt x="0" y="334"/>
                      <a:pt x="0" y="334"/>
                      <a:pt x="0" y="334"/>
                    </a:cubicBezTo>
                    <a:cubicBezTo>
                      <a:pt x="0" y="348"/>
                      <a:pt x="12" y="360"/>
                      <a:pt x="26" y="360"/>
                    </a:cubicBezTo>
                    <a:cubicBezTo>
                      <a:pt x="41" y="360"/>
                      <a:pt x="53" y="348"/>
                      <a:pt x="53" y="334"/>
                    </a:cubicBezTo>
                    <a:cubicBezTo>
                      <a:pt x="53" y="287"/>
                      <a:pt x="53" y="287"/>
                      <a:pt x="53" y="287"/>
                    </a:cubicBezTo>
                    <a:cubicBezTo>
                      <a:pt x="53" y="219"/>
                      <a:pt x="53" y="219"/>
                      <a:pt x="53" y="219"/>
                    </a:cubicBezTo>
                    <a:cubicBezTo>
                      <a:pt x="53" y="193"/>
                      <a:pt x="53" y="193"/>
                      <a:pt x="53" y="193"/>
                    </a:cubicBezTo>
                    <a:cubicBezTo>
                      <a:pt x="26" y="193"/>
                      <a:pt x="26" y="193"/>
                      <a:pt x="26" y="193"/>
                    </a:cubicBezTo>
                    <a:cubicBezTo>
                      <a:pt x="0" y="193"/>
                      <a:pt x="0" y="193"/>
                      <a:pt x="0" y="193"/>
                    </a:cubicBezTo>
                    <a:close/>
                    <a:moveTo>
                      <a:pt x="53" y="0"/>
                    </a:moveTo>
                    <a:cubicBezTo>
                      <a:pt x="0" y="0"/>
                      <a:pt x="0" y="0"/>
                      <a:pt x="0" y="0"/>
                    </a:cubicBezTo>
                    <a:cubicBezTo>
                      <a:pt x="0" y="42"/>
                      <a:pt x="0" y="42"/>
                      <a:pt x="0" y="42"/>
                    </a:cubicBezTo>
                    <a:cubicBezTo>
                      <a:pt x="26" y="68"/>
                      <a:pt x="26" y="68"/>
                      <a:pt x="26" y="68"/>
                    </a:cubicBezTo>
                    <a:cubicBezTo>
                      <a:pt x="53" y="42"/>
                      <a:pt x="53" y="42"/>
                      <a:pt x="53" y="42"/>
                    </a:cubicBezTo>
                    <a:cubicBezTo>
                      <a:pt x="53" y="0"/>
                      <a:pt x="53" y="0"/>
                      <a:pt x="53" y="0"/>
                    </a:cubicBezTo>
                    <a:close/>
                    <a:moveTo>
                      <a:pt x="26" y="68"/>
                    </a:moveTo>
                    <a:cubicBezTo>
                      <a:pt x="26" y="193"/>
                      <a:pt x="26" y="193"/>
                      <a:pt x="26" y="193"/>
                    </a:cubicBezTo>
                    <a:moveTo>
                      <a:pt x="193" y="0"/>
                    </a:moveTo>
                    <a:cubicBezTo>
                      <a:pt x="193" y="57"/>
                      <a:pt x="193" y="57"/>
                      <a:pt x="193" y="57"/>
                    </a:cubicBezTo>
                  </a:path>
                </a:pathLst>
              </a:custGeom>
              <a:noFill/>
              <a:ln w="15875" cap="flat">
                <a:solidFill>
                  <a:srgbClr val="3C3C4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557" tIns="44780" rIns="89557" bIns="44780" numCol="1" anchor="t" anchorCtr="0" compatLnSpc="1">
                <a:prstTxWarp prst="textNoShape">
                  <a:avLst/>
                </a:prstTxWarp>
              </a:bodyPr>
              <a:lstStyle/>
              <a:p>
                <a:pPr defTabSz="913467">
                  <a:defRPr/>
                </a:pPr>
                <a:endParaRPr lang="en-US" sz="1600" dirty="0">
                  <a:gradFill>
                    <a:gsLst>
                      <a:gs pos="0">
                        <a:srgbClr val="505050"/>
                      </a:gs>
                      <a:gs pos="100000">
                        <a:srgbClr val="505050"/>
                      </a:gs>
                    </a:gsLst>
                  </a:gradFill>
                  <a:latin typeface="Segoe UI Semilight"/>
                </a:endParaRPr>
              </a:p>
            </p:txBody>
          </p:sp>
        </p:grpSp>
        <p:sp>
          <p:nvSpPr>
            <p:cNvPr id="16" name="people_12">
              <a:extLst>
                <a:ext uri="{FF2B5EF4-FFF2-40B4-BE49-F238E27FC236}">
                  <a16:creationId xmlns:a16="http://schemas.microsoft.com/office/drawing/2014/main" id="{96D18F5C-1796-459E-A362-A7098BADDA04}"/>
                </a:ext>
              </a:extLst>
            </p:cNvPr>
            <p:cNvSpPr>
              <a:spLocks noChangeAspect="1" noEditPoints="1"/>
            </p:cNvSpPr>
            <p:nvPr/>
          </p:nvSpPr>
          <p:spPr bwMode="auto">
            <a:xfrm>
              <a:off x="8737965" y="3501116"/>
              <a:ext cx="756879" cy="64575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593" tIns="44798" rIns="89593" bIns="44798" numCol="1" anchor="t" anchorCtr="0" compatLnSpc="1">
              <a:prstTxWarp prst="textNoShape">
                <a:avLst/>
              </a:prstTxWarp>
            </a:bodyPr>
            <a:lstStyle/>
            <a:p>
              <a:pPr defTabSz="913869">
                <a:defRPr/>
              </a:pPr>
              <a:endParaRPr lang="en-US" sz="1764" dirty="0">
                <a:gradFill>
                  <a:gsLst>
                    <a:gs pos="0">
                      <a:srgbClr val="505050"/>
                    </a:gs>
                    <a:gs pos="100000">
                      <a:srgbClr val="505050"/>
                    </a:gs>
                  </a:gsLst>
                </a:gradFill>
                <a:latin typeface="Segoe UI"/>
              </a:endParaRPr>
            </a:p>
          </p:txBody>
        </p:sp>
        <p:sp>
          <p:nvSpPr>
            <p:cNvPr id="17" name="Rectangle 16">
              <a:extLst>
                <a:ext uri="{FF2B5EF4-FFF2-40B4-BE49-F238E27FC236}">
                  <a16:creationId xmlns:a16="http://schemas.microsoft.com/office/drawing/2014/main" id="{B68F7B9A-A53D-4BDF-8723-7DC7F106851B}"/>
                </a:ext>
              </a:extLst>
            </p:cNvPr>
            <p:cNvSpPr/>
            <p:nvPr/>
          </p:nvSpPr>
          <p:spPr bwMode="auto">
            <a:xfrm>
              <a:off x="8449840" y="4383932"/>
              <a:ext cx="1333132" cy="27861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55" tIns="146204" rIns="182755" bIns="146204" numCol="1" spcCol="0" rtlCol="0" fromWordArt="0" anchor="ctr" anchorCtr="0" forceAA="0" compatLnSpc="1">
              <a:prstTxWarp prst="textNoShape">
                <a:avLst/>
              </a:prstTxWarp>
              <a:noAutofit/>
            </a:bodyPr>
            <a:lstStyle/>
            <a:p>
              <a:pPr algn="ctr" defTabSz="931745" fontAlgn="base">
                <a:spcBef>
                  <a:spcPct val="0"/>
                </a:spcBef>
                <a:spcAft>
                  <a:spcPct val="0"/>
                </a:spcAft>
                <a:defRPr/>
              </a:pPr>
              <a:r>
                <a:rPr lang="en-US" sz="2800" kern="0" dirty="0">
                  <a:gradFill>
                    <a:gsLst>
                      <a:gs pos="9735">
                        <a:schemeClr val="tx1"/>
                      </a:gs>
                      <a:gs pos="41204">
                        <a:schemeClr val="tx1"/>
                      </a:gs>
                    </a:gsLst>
                    <a:lin ang="5400000" scaled="1"/>
                  </a:gradFill>
                  <a:latin typeface="Segoe UI Semibold"/>
                </a:rPr>
                <a:t>DevOps</a:t>
              </a:r>
            </a:p>
          </p:txBody>
        </p:sp>
        <p:sp>
          <p:nvSpPr>
            <p:cNvPr id="18" name="Rectangle 17">
              <a:extLst>
                <a:ext uri="{FF2B5EF4-FFF2-40B4-BE49-F238E27FC236}">
                  <a16:creationId xmlns:a16="http://schemas.microsoft.com/office/drawing/2014/main" id="{BE3D1F1E-3C55-4D83-AE22-D806668C34D7}"/>
                </a:ext>
              </a:extLst>
            </p:cNvPr>
            <p:cNvSpPr/>
            <p:nvPr/>
          </p:nvSpPr>
          <p:spPr bwMode="auto">
            <a:xfrm>
              <a:off x="5654955" y="5081764"/>
              <a:ext cx="1133639" cy="27861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55" tIns="146204" rIns="182755" bIns="146204" numCol="1" spcCol="0" rtlCol="0" fromWordArt="0" anchor="ctr" anchorCtr="0" forceAA="0" compatLnSpc="1">
              <a:prstTxWarp prst="textNoShape">
                <a:avLst/>
              </a:prstTxWarp>
              <a:noAutofit/>
            </a:bodyPr>
            <a:lstStyle/>
            <a:p>
              <a:pPr algn="r" defTabSz="931745" fontAlgn="base">
                <a:spcBef>
                  <a:spcPct val="0"/>
                </a:spcBef>
                <a:spcAft>
                  <a:spcPct val="0"/>
                </a:spcAft>
                <a:defRPr/>
              </a:pPr>
              <a:r>
                <a:rPr lang="en-US" sz="1400" kern="0" dirty="0">
                  <a:gradFill>
                    <a:gsLst>
                      <a:gs pos="9735">
                        <a:srgbClr val="0078D4"/>
                      </a:gs>
                      <a:gs pos="41204">
                        <a:srgbClr val="0078D4"/>
                      </a:gs>
                    </a:gsLst>
                    <a:lin ang="5400000" scaled="1"/>
                  </a:gradFill>
                  <a:latin typeface="Segoe UI Semibold"/>
                </a:rPr>
                <a:t>Operate</a:t>
              </a:r>
            </a:p>
          </p:txBody>
        </p:sp>
        <p:sp>
          <p:nvSpPr>
            <p:cNvPr id="19" name="Oval 18">
              <a:extLst>
                <a:ext uri="{FF2B5EF4-FFF2-40B4-BE49-F238E27FC236}">
                  <a16:creationId xmlns:a16="http://schemas.microsoft.com/office/drawing/2014/main" id="{6B2B6F57-AFE1-41C8-A48C-920FE880F3FD}"/>
                </a:ext>
              </a:extLst>
            </p:cNvPr>
            <p:cNvSpPr/>
            <p:nvPr/>
          </p:nvSpPr>
          <p:spPr bwMode="auto">
            <a:xfrm>
              <a:off x="6779362" y="4736203"/>
              <a:ext cx="969736" cy="969736"/>
            </a:xfrm>
            <a:prstGeom prst="ellipse">
              <a:avLst/>
            </a:prstGeom>
            <a:solidFill>
              <a:schemeClr val="bg1"/>
            </a:solidFill>
            <a:ln w="10795" cap="flat" cmpd="sng" algn="ctr">
              <a:noFill/>
              <a:prstDash val="solid"/>
            </a:ln>
            <a:effectLst>
              <a:outerShdw blurRad="254000" dist="50800" dir="2700000" sx="101000" sy="101000" algn="tl" rotWithShape="0">
                <a:prstClr val="black">
                  <a:alpha val="3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cs typeface="Segoe UI" pitchFamily="34" charset="0"/>
              </a:endParaRPr>
            </a:p>
          </p:txBody>
        </p:sp>
        <p:sp>
          <p:nvSpPr>
            <p:cNvPr id="20" name="Rectangle 19">
              <a:extLst>
                <a:ext uri="{FF2B5EF4-FFF2-40B4-BE49-F238E27FC236}">
                  <a16:creationId xmlns:a16="http://schemas.microsoft.com/office/drawing/2014/main" id="{33E71359-D6E6-4F51-A797-61BAC6BF98AE}"/>
                </a:ext>
              </a:extLst>
            </p:cNvPr>
            <p:cNvSpPr/>
            <p:nvPr/>
          </p:nvSpPr>
          <p:spPr bwMode="auto">
            <a:xfrm>
              <a:off x="11432110" y="5051480"/>
              <a:ext cx="1333132" cy="27861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55" tIns="146204" rIns="182755" bIns="146204" numCol="1" spcCol="0" rtlCol="0" fromWordArt="0" anchor="ctr" anchorCtr="0" forceAA="0" compatLnSpc="1">
              <a:prstTxWarp prst="textNoShape">
                <a:avLst/>
              </a:prstTxWarp>
              <a:noAutofit/>
            </a:bodyPr>
            <a:lstStyle/>
            <a:p>
              <a:pPr defTabSz="931745" fontAlgn="base">
                <a:spcBef>
                  <a:spcPct val="0"/>
                </a:spcBef>
                <a:spcAft>
                  <a:spcPct val="0"/>
                </a:spcAft>
                <a:defRPr/>
              </a:pPr>
              <a:r>
                <a:rPr lang="en-US" sz="1400" kern="0" dirty="0">
                  <a:gradFill>
                    <a:gsLst>
                      <a:gs pos="9735">
                        <a:srgbClr val="0078D4"/>
                      </a:gs>
                      <a:gs pos="41204">
                        <a:srgbClr val="0078D4"/>
                      </a:gs>
                    </a:gsLst>
                    <a:lin ang="5400000" scaled="1"/>
                  </a:gradFill>
                  <a:latin typeface="Segoe UI Semibold"/>
                </a:rPr>
                <a:t>Deliver</a:t>
              </a:r>
            </a:p>
          </p:txBody>
        </p:sp>
        <p:sp>
          <p:nvSpPr>
            <p:cNvPr id="21" name="Oval 20">
              <a:extLst>
                <a:ext uri="{FF2B5EF4-FFF2-40B4-BE49-F238E27FC236}">
                  <a16:creationId xmlns:a16="http://schemas.microsoft.com/office/drawing/2014/main" id="{0AE23D3E-826C-4BBB-9C13-DF204550284D}"/>
                </a:ext>
              </a:extLst>
            </p:cNvPr>
            <p:cNvSpPr/>
            <p:nvPr/>
          </p:nvSpPr>
          <p:spPr bwMode="auto">
            <a:xfrm>
              <a:off x="10460692" y="4705917"/>
              <a:ext cx="969736" cy="969736"/>
            </a:xfrm>
            <a:prstGeom prst="ellipse">
              <a:avLst/>
            </a:prstGeom>
            <a:solidFill>
              <a:schemeClr val="bg1"/>
            </a:solidFill>
            <a:ln w="10795" cap="flat" cmpd="sng" algn="ctr">
              <a:noFill/>
              <a:prstDash val="solid"/>
            </a:ln>
            <a:effectLst>
              <a:outerShdw blurRad="254000" dist="50800" dir="2700000" sx="101000" sy="101000" algn="tl" rotWithShape="0">
                <a:prstClr val="black">
                  <a:alpha val="3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55" tIns="146204" rIns="182755" bIns="146204" numCol="1" spcCol="0" rtlCol="0" fromWordArt="0" anchor="t" anchorCtr="0" forceAA="0" compatLnSpc="1">
              <a:prstTxWarp prst="textNoShape">
                <a:avLst/>
              </a:prstTxWarp>
              <a:noAutofit/>
            </a:bodyPr>
            <a:lstStyle/>
            <a:p>
              <a:pPr defTabSz="931745" fontAlgn="base">
                <a:spcBef>
                  <a:spcPct val="0"/>
                </a:spcBef>
                <a:spcAft>
                  <a:spcPct val="0"/>
                </a:spcAft>
                <a:defRPr/>
              </a:pPr>
              <a:endParaRPr lang="en-US" sz="1764" dirty="0">
                <a:gradFill>
                  <a:gsLst>
                    <a:gs pos="0">
                      <a:srgbClr val="FFFFFF"/>
                    </a:gs>
                    <a:gs pos="100000">
                      <a:srgbClr val="FFFFFF"/>
                    </a:gs>
                  </a:gsLst>
                  <a:lin ang="5400000" scaled="0"/>
                </a:gradFill>
                <a:latin typeface="Segoe UI"/>
                <a:cs typeface="Segoe UI" pitchFamily="34" charset="0"/>
              </a:endParaRPr>
            </a:p>
          </p:txBody>
        </p:sp>
        <p:sp>
          <p:nvSpPr>
            <p:cNvPr id="22" name="algorithm">
              <a:extLst>
                <a:ext uri="{FF2B5EF4-FFF2-40B4-BE49-F238E27FC236}">
                  <a16:creationId xmlns:a16="http://schemas.microsoft.com/office/drawing/2014/main" id="{A064BB74-733A-42C3-A5AF-71B02C25D693}"/>
                </a:ext>
              </a:extLst>
            </p:cNvPr>
            <p:cNvSpPr>
              <a:spLocks noChangeAspect="1" noEditPoints="1"/>
            </p:cNvSpPr>
            <p:nvPr/>
          </p:nvSpPr>
          <p:spPr bwMode="auto">
            <a:xfrm>
              <a:off x="7024386" y="5036639"/>
              <a:ext cx="426395" cy="368864"/>
            </a:xfrm>
            <a:custGeom>
              <a:avLst/>
              <a:gdLst>
                <a:gd name="T0" fmla="*/ 0 w 349"/>
                <a:gd name="T1" fmla="*/ 148 h 302"/>
                <a:gd name="T2" fmla="*/ 78 w 349"/>
                <a:gd name="T3" fmla="*/ 148 h 302"/>
                <a:gd name="T4" fmla="*/ 127 w 349"/>
                <a:gd name="T5" fmla="*/ 0 h 302"/>
                <a:gd name="T6" fmla="*/ 204 w 349"/>
                <a:gd name="T7" fmla="*/ 302 h 302"/>
                <a:gd name="T8" fmla="*/ 265 w 349"/>
                <a:gd name="T9" fmla="*/ 50 h 302"/>
                <a:gd name="T10" fmla="*/ 288 w 349"/>
                <a:gd name="T11" fmla="*/ 148 h 302"/>
                <a:gd name="T12" fmla="*/ 335 w 349"/>
                <a:gd name="T13" fmla="*/ 148 h 302"/>
                <a:gd name="T14" fmla="*/ 335 w 349"/>
                <a:gd name="T15" fmla="*/ 148 h 302"/>
                <a:gd name="T16" fmla="*/ 342 w 349"/>
                <a:gd name="T17" fmla="*/ 155 h 302"/>
                <a:gd name="T18" fmla="*/ 349 w 349"/>
                <a:gd name="T19" fmla="*/ 148 h 302"/>
                <a:gd name="T20" fmla="*/ 342 w 349"/>
                <a:gd name="T21" fmla="*/ 140 h 302"/>
                <a:gd name="T22" fmla="*/ 335 w 349"/>
                <a:gd name="T23" fmla="*/ 148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9" h="302">
                  <a:moveTo>
                    <a:pt x="0" y="148"/>
                  </a:moveTo>
                  <a:cubicBezTo>
                    <a:pt x="78" y="148"/>
                    <a:pt x="78" y="148"/>
                    <a:pt x="78" y="148"/>
                  </a:cubicBezTo>
                  <a:cubicBezTo>
                    <a:pt x="127" y="0"/>
                    <a:pt x="127" y="0"/>
                    <a:pt x="127" y="0"/>
                  </a:cubicBezTo>
                  <a:cubicBezTo>
                    <a:pt x="204" y="302"/>
                    <a:pt x="204" y="302"/>
                    <a:pt x="204" y="302"/>
                  </a:cubicBezTo>
                  <a:cubicBezTo>
                    <a:pt x="265" y="50"/>
                    <a:pt x="265" y="50"/>
                    <a:pt x="265" y="50"/>
                  </a:cubicBezTo>
                  <a:cubicBezTo>
                    <a:pt x="288" y="148"/>
                    <a:pt x="288" y="148"/>
                    <a:pt x="288" y="148"/>
                  </a:cubicBezTo>
                  <a:cubicBezTo>
                    <a:pt x="335" y="148"/>
                    <a:pt x="335" y="148"/>
                    <a:pt x="335" y="148"/>
                  </a:cubicBezTo>
                  <a:moveTo>
                    <a:pt x="335" y="148"/>
                  </a:moveTo>
                  <a:cubicBezTo>
                    <a:pt x="335" y="152"/>
                    <a:pt x="338" y="155"/>
                    <a:pt x="342" y="155"/>
                  </a:cubicBezTo>
                  <a:cubicBezTo>
                    <a:pt x="346" y="155"/>
                    <a:pt x="349" y="152"/>
                    <a:pt x="349" y="148"/>
                  </a:cubicBezTo>
                  <a:cubicBezTo>
                    <a:pt x="349" y="144"/>
                    <a:pt x="346" y="140"/>
                    <a:pt x="342" y="140"/>
                  </a:cubicBezTo>
                  <a:cubicBezTo>
                    <a:pt x="338" y="140"/>
                    <a:pt x="335" y="144"/>
                    <a:pt x="335" y="148"/>
                  </a:cubicBezTo>
                  <a:close/>
                </a:path>
              </a:pathLst>
            </a:custGeom>
            <a:noFill/>
            <a:ln w="15875" cap="flat">
              <a:solidFill>
                <a:srgbClr val="3C3C4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09" tIns="43905" rIns="87809" bIns="43905" numCol="1" anchor="t" anchorCtr="0" compatLnSpc="1">
              <a:prstTxWarp prst="textNoShape">
                <a:avLst/>
              </a:prstTxWarp>
            </a:bodyPr>
            <a:lstStyle/>
            <a:p>
              <a:pPr defTabSz="895644">
                <a:defRPr/>
              </a:pPr>
              <a:endParaRPr lang="en-US" sz="1727" dirty="0">
                <a:gradFill>
                  <a:gsLst>
                    <a:gs pos="0">
                      <a:srgbClr val="505050"/>
                    </a:gs>
                    <a:gs pos="100000">
                      <a:srgbClr val="505050"/>
                    </a:gs>
                  </a:gsLst>
                </a:gradFill>
                <a:latin typeface="Segoe UI Semilight"/>
              </a:endParaRPr>
            </a:p>
          </p:txBody>
        </p:sp>
        <p:sp>
          <p:nvSpPr>
            <p:cNvPr id="23" name="rocket">
              <a:extLst>
                <a:ext uri="{FF2B5EF4-FFF2-40B4-BE49-F238E27FC236}">
                  <a16:creationId xmlns:a16="http://schemas.microsoft.com/office/drawing/2014/main" id="{D5EFDE50-C929-4E12-8861-DCF445F35E97}"/>
                </a:ext>
              </a:extLst>
            </p:cNvPr>
            <p:cNvSpPr>
              <a:spLocks noChangeAspect="1" noEditPoints="1"/>
            </p:cNvSpPr>
            <p:nvPr/>
          </p:nvSpPr>
          <p:spPr bwMode="auto">
            <a:xfrm>
              <a:off x="10763179" y="5011981"/>
              <a:ext cx="364762" cy="357609"/>
            </a:xfrm>
            <a:custGeom>
              <a:avLst/>
              <a:gdLst>
                <a:gd name="T0" fmla="*/ 352 w 352"/>
                <a:gd name="T1" fmla="*/ 3 h 346"/>
                <a:gd name="T2" fmla="*/ 305 w 352"/>
                <a:gd name="T3" fmla="*/ 142 h 346"/>
                <a:gd name="T4" fmla="*/ 118 w 352"/>
                <a:gd name="T5" fmla="*/ 326 h 346"/>
                <a:gd name="T6" fmla="*/ 50 w 352"/>
                <a:gd name="T7" fmla="*/ 346 h 346"/>
                <a:gd name="T8" fmla="*/ 0 w 352"/>
                <a:gd name="T9" fmla="*/ 295 h 346"/>
                <a:gd name="T10" fmla="*/ 30 w 352"/>
                <a:gd name="T11" fmla="*/ 227 h 346"/>
                <a:gd name="T12" fmla="*/ 203 w 352"/>
                <a:gd name="T13" fmla="*/ 54 h 346"/>
                <a:gd name="T14" fmla="*/ 352 w 352"/>
                <a:gd name="T15" fmla="*/ 3 h 346"/>
                <a:gd name="T16" fmla="*/ 203 w 352"/>
                <a:gd name="T17" fmla="*/ 55 h 346"/>
                <a:gd name="T18" fmla="*/ 301 w 352"/>
                <a:gd name="T19" fmla="*/ 146 h 346"/>
                <a:gd name="T20" fmla="*/ 144 w 352"/>
                <a:gd name="T21" fmla="*/ 113 h 346"/>
                <a:gd name="T22" fmla="*/ 0 w 352"/>
                <a:gd name="T23" fmla="*/ 113 h 346"/>
                <a:gd name="T24" fmla="*/ 0 w 352"/>
                <a:gd name="T25" fmla="*/ 197 h 346"/>
                <a:gd name="T26" fmla="*/ 30 w 352"/>
                <a:gd name="T27" fmla="*/ 227 h 346"/>
                <a:gd name="T28" fmla="*/ 30 w 352"/>
                <a:gd name="T29" fmla="*/ 227 h 346"/>
                <a:gd name="T30" fmla="*/ 120 w 352"/>
                <a:gd name="T31" fmla="*/ 324 h 346"/>
                <a:gd name="T32" fmla="*/ 141 w 352"/>
                <a:gd name="T33" fmla="*/ 346 h 346"/>
                <a:gd name="T34" fmla="*/ 232 w 352"/>
                <a:gd name="T35" fmla="*/ 346 h 346"/>
                <a:gd name="T36" fmla="*/ 232 w 352"/>
                <a:gd name="T37" fmla="*/ 214 h 346"/>
                <a:gd name="T38" fmla="*/ 176 w 352"/>
                <a:gd name="T39" fmla="*/ 159 h 346"/>
                <a:gd name="T40" fmla="*/ 194 w 352"/>
                <a:gd name="T41" fmla="*/ 177 h 346"/>
                <a:gd name="T42" fmla="*/ 211 w 352"/>
                <a:gd name="T43" fmla="*/ 159 h 346"/>
                <a:gd name="T44" fmla="*/ 194 w 352"/>
                <a:gd name="T45" fmla="*/ 141 h 346"/>
                <a:gd name="T46" fmla="*/ 176 w 352"/>
                <a:gd name="T47" fmla="*/ 159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2" h="346">
                  <a:moveTo>
                    <a:pt x="352" y="3"/>
                  </a:moveTo>
                  <a:cubicBezTo>
                    <a:pt x="346" y="85"/>
                    <a:pt x="305" y="142"/>
                    <a:pt x="305" y="142"/>
                  </a:cubicBezTo>
                  <a:cubicBezTo>
                    <a:pt x="305" y="142"/>
                    <a:pt x="305" y="142"/>
                    <a:pt x="118" y="326"/>
                  </a:cubicBezTo>
                  <a:cubicBezTo>
                    <a:pt x="118" y="326"/>
                    <a:pt x="118" y="326"/>
                    <a:pt x="50" y="346"/>
                  </a:cubicBezTo>
                  <a:cubicBezTo>
                    <a:pt x="50" y="346"/>
                    <a:pt x="50" y="346"/>
                    <a:pt x="0" y="295"/>
                  </a:cubicBezTo>
                  <a:cubicBezTo>
                    <a:pt x="0" y="295"/>
                    <a:pt x="0" y="295"/>
                    <a:pt x="30" y="227"/>
                  </a:cubicBezTo>
                  <a:cubicBezTo>
                    <a:pt x="30" y="227"/>
                    <a:pt x="149" y="109"/>
                    <a:pt x="203" y="54"/>
                  </a:cubicBezTo>
                  <a:cubicBezTo>
                    <a:pt x="257" y="0"/>
                    <a:pt x="352" y="3"/>
                    <a:pt x="352" y="3"/>
                  </a:cubicBezTo>
                  <a:close/>
                  <a:moveTo>
                    <a:pt x="203" y="55"/>
                  </a:moveTo>
                  <a:cubicBezTo>
                    <a:pt x="301" y="146"/>
                    <a:pt x="301" y="146"/>
                    <a:pt x="301" y="146"/>
                  </a:cubicBezTo>
                  <a:moveTo>
                    <a:pt x="144" y="113"/>
                  </a:moveTo>
                  <a:cubicBezTo>
                    <a:pt x="0" y="113"/>
                    <a:pt x="0" y="113"/>
                    <a:pt x="0" y="113"/>
                  </a:cubicBezTo>
                  <a:cubicBezTo>
                    <a:pt x="0" y="197"/>
                    <a:pt x="0" y="197"/>
                    <a:pt x="0" y="197"/>
                  </a:cubicBezTo>
                  <a:cubicBezTo>
                    <a:pt x="30" y="227"/>
                    <a:pt x="30" y="227"/>
                    <a:pt x="30" y="227"/>
                  </a:cubicBezTo>
                  <a:moveTo>
                    <a:pt x="30" y="227"/>
                  </a:moveTo>
                  <a:cubicBezTo>
                    <a:pt x="120" y="324"/>
                    <a:pt x="120" y="324"/>
                    <a:pt x="120" y="324"/>
                  </a:cubicBezTo>
                  <a:cubicBezTo>
                    <a:pt x="141" y="346"/>
                    <a:pt x="141" y="346"/>
                    <a:pt x="141" y="346"/>
                  </a:cubicBezTo>
                  <a:cubicBezTo>
                    <a:pt x="232" y="346"/>
                    <a:pt x="232" y="346"/>
                    <a:pt x="232" y="346"/>
                  </a:cubicBezTo>
                  <a:cubicBezTo>
                    <a:pt x="232" y="214"/>
                    <a:pt x="232" y="214"/>
                    <a:pt x="232" y="214"/>
                  </a:cubicBezTo>
                  <a:moveTo>
                    <a:pt x="176" y="159"/>
                  </a:moveTo>
                  <a:cubicBezTo>
                    <a:pt x="176" y="169"/>
                    <a:pt x="184" y="177"/>
                    <a:pt x="194" y="177"/>
                  </a:cubicBezTo>
                  <a:cubicBezTo>
                    <a:pt x="203" y="177"/>
                    <a:pt x="211" y="169"/>
                    <a:pt x="211" y="159"/>
                  </a:cubicBezTo>
                  <a:cubicBezTo>
                    <a:pt x="211" y="149"/>
                    <a:pt x="203" y="141"/>
                    <a:pt x="194" y="141"/>
                  </a:cubicBezTo>
                  <a:cubicBezTo>
                    <a:pt x="184" y="141"/>
                    <a:pt x="176" y="149"/>
                    <a:pt x="176" y="159"/>
                  </a:cubicBezTo>
                  <a:close/>
                </a:path>
              </a:pathLst>
            </a:custGeom>
            <a:noFill/>
            <a:ln w="15875" cap="flat">
              <a:solidFill>
                <a:srgbClr val="3C3C4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557" tIns="44780" rIns="89557" bIns="44780" numCol="1" anchor="t" anchorCtr="0" compatLnSpc="1">
              <a:prstTxWarp prst="textNoShape">
                <a:avLst/>
              </a:prstTxWarp>
            </a:bodyPr>
            <a:lstStyle/>
            <a:p>
              <a:pPr defTabSz="913467">
                <a:defRPr/>
              </a:pPr>
              <a:endParaRPr lang="en-US" sz="1600" dirty="0">
                <a:gradFill>
                  <a:gsLst>
                    <a:gs pos="0">
                      <a:srgbClr val="505050"/>
                    </a:gs>
                    <a:gs pos="100000">
                      <a:srgbClr val="505050"/>
                    </a:gs>
                  </a:gsLst>
                </a:gradFill>
                <a:latin typeface="Segoe UI Semilight"/>
              </a:endParaRPr>
            </a:p>
          </p:txBody>
        </p:sp>
      </p:grpSp>
    </p:spTree>
    <p:extLst>
      <p:ext uri="{BB962C8B-B14F-4D97-AF65-F5344CB8AC3E}">
        <p14:creationId xmlns:p14="http://schemas.microsoft.com/office/powerpoint/2010/main" val="9742932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wrap="square" anchor="ctr">
            <a:normAutofit/>
          </a:bodyPr>
          <a:lstStyle/>
          <a:p>
            <a:r>
              <a:rPr lang="en-US" dirty="0"/>
              <a:t>What is </a:t>
            </a:r>
            <a:r>
              <a:rPr lang="en-US" dirty="0" err="1"/>
              <a:t>GitOps</a:t>
            </a:r>
            <a:r>
              <a:rPr lang="en-US" dirty="0"/>
              <a:t>?</a:t>
            </a:r>
          </a:p>
        </p:txBody>
      </p:sp>
      <p:sp>
        <p:nvSpPr>
          <p:cNvPr id="5" name="Text Placeholder 6">
            <a:extLst>
              <a:ext uri="{FF2B5EF4-FFF2-40B4-BE49-F238E27FC236}">
                <a16:creationId xmlns:a16="http://schemas.microsoft.com/office/drawing/2014/main" id="{0E18C8E1-7753-4082-AC9B-B8C5A9C4D5F0}"/>
              </a:ext>
            </a:extLst>
          </p:cNvPr>
          <p:cNvSpPr txBox="1">
            <a:spLocks/>
          </p:cNvSpPr>
          <p:nvPr/>
        </p:nvSpPr>
        <p:spPr>
          <a:xfrm>
            <a:off x="451110" y="1670378"/>
            <a:ext cx="11359890" cy="2733056"/>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err="1"/>
              <a:t>GitOps</a:t>
            </a:r>
            <a:r>
              <a:rPr lang="en-US" sz="2400" dirty="0"/>
              <a:t> is an operational framework that takes DevOps best practices used for application development such as version control, collaboration, compliance, and CI/CD, and applies them to infrastructure automation.</a:t>
            </a:r>
          </a:p>
          <a:p>
            <a:r>
              <a:rPr lang="en-US" sz="2400" dirty="0" err="1"/>
              <a:t>GitOps</a:t>
            </a:r>
            <a:r>
              <a:rPr lang="en-US" sz="2400" dirty="0"/>
              <a:t> uses a </a:t>
            </a:r>
            <a:r>
              <a:rPr lang="en-US" sz="2400" b="1" i="1" dirty="0"/>
              <a:t>Git repository</a:t>
            </a:r>
            <a:r>
              <a:rPr lang="en-US" sz="2400" dirty="0"/>
              <a:t> as the single source of truth for infrastructure definitions.</a:t>
            </a:r>
          </a:p>
          <a:p>
            <a:r>
              <a:rPr lang="en-US" sz="2400" dirty="0" err="1"/>
              <a:t>GitOps</a:t>
            </a:r>
            <a:r>
              <a:rPr lang="en-US" sz="2400" dirty="0"/>
              <a:t> automates infrastructure updates using a Git workflow with continuous integration (CI) and continuous delivery (CD).</a:t>
            </a:r>
          </a:p>
        </p:txBody>
      </p:sp>
    </p:spTree>
    <p:extLst>
      <p:ext uri="{BB962C8B-B14F-4D97-AF65-F5344CB8AC3E}">
        <p14:creationId xmlns:p14="http://schemas.microsoft.com/office/powerpoint/2010/main" val="3927724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0E18C8E1-7753-4082-AC9B-B8C5A9C4D5F0}"/>
              </a:ext>
            </a:extLst>
          </p:cNvPr>
          <p:cNvSpPr txBox="1">
            <a:spLocks/>
          </p:cNvSpPr>
          <p:nvPr/>
        </p:nvSpPr>
        <p:spPr>
          <a:xfrm>
            <a:off x="451110" y="1670378"/>
            <a:ext cx="11359890" cy="295465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u="sng" dirty="0"/>
              <a:t>DevOps</a:t>
            </a:r>
            <a:r>
              <a:rPr lang="en-US" sz="2400" dirty="0"/>
              <a:t> uses pipelines that </a:t>
            </a:r>
            <a:r>
              <a:rPr lang="en-US" sz="2400" b="1" i="1" dirty="0"/>
              <a:t>Push</a:t>
            </a:r>
            <a:r>
              <a:rPr lang="en-US" sz="2400" dirty="0"/>
              <a:t> changes to a destination cluster.</a:t>
            </a:r>
          </a:p>
          <a:p>
            <a:endParaRPr lang="en-US" sz="2400" dirty="0"/>
          </a:p>
          <a:p>
            <a:endParaRPr lang="en-US" sz="2400" dirty="0"/>
          </a:p>
          <a:p>
            <a:endParaRPr lang="en-US" sz="2400" dirty="0"/>
          </a:p>
          <a:p>
            <a:endParaRPr lang="en-US" sz="2400" dirty="0"/>
          </a:p>
          <a:p>
            <a:r>
              <a:rPr lang="en-US" sz="2400" b="1" u="sng" dirty="0" err="1"/>
              <a:t>GitOps</a:t>
            </a:r>
            <a:r>
              <a:rPr lang="en-US" sz="2400" dirty="0"/>
              <a:t> monitors a Git repo and </a:t>
            </a:r>
            <a:r>
              <a:rPr lang="en-US" sz="2400" b="1" i="1" dirty="0"/>
              <a:t>Pulls</a:t>
            </a:r>
            <a:r>
              <a:rPr lang="en-US" sz="2400" dirty="0"/>
              <a:t> changes from the Git repo to synchronize a destination cluster.</a:t>
            </a:r>
          </a:p>
        </p:txBody>
      </p:sp>
      <p:sp>
        <p:nvSpPr>
          <p:cNvPr id="51" name="TextBox 8">
            <a:extLst>
              <a:ext uri="{FF2B5EF4-FFF2-40B4-BE49-F238E27FC236}">
                <a16:creationId xmlns:a16="http://schemas.microsoft.com/office/drawing/2014/main" id="{728CB6F5-767E-DB59-77B9-DD56ED9A70D6}"/>
              </a:ext>
            </a:extLst>
          </p:cNvPr>
          <p:cNvSpPr txBox="1"/>
          <p:nvPr/>
        </p:nvSpPr>
        <p:spPr>
          <a:xfrm>
            <a:off x="8962359" y="2388412"/>
            <a:ext cx="1057941"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Helm Upgrade</a:t>
            </a:r>
          </a:p>
        </p:txBody>
      </p:sp>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wrap="square" anchor="ctr">
            <a:normAutofit/>
          </a:bodyPr>
          <a:lstStyle/>
          <a:p>
            <a:r>
              <a:rPr lang="en-US" dirty="0"/>
              <a:t>DevOps vs </a:t>
            </a:r>
            <a:r>
              <a:rPr lang="en-US" dirty="0" err="1"/>
              <a:t>GitOps</a:t>
            </a:r>
            <a:endParaRPr lang="en-US" dirty="0"/>
          </a:p>
        </p:txBody>
      </p:sp>
      <p:grpSp>
        <p:nvGrpSpPr>
          <p:cNvPr id="98" name="Group 97">
            <a:extLst>
              <a:ext uri="{FF2B5EF4-FFF2-40B4-BE49-F238E27FC236}">
                <a16:creationId xmlns:a16="http://schemas.microsoft.com/office/drawing/2014/main" id="{A623B32A-F039-8DA7-64F5-97A1409F5A36}"/>
              </a:ext>
            </a:extLst>
          </p:cNvPr>
          <p:cNvGrpSpPr/>
          <p:nvPr/>
        </p:nvGrpSpPr>
        <p:grpSpPr>
          <a:xfrm>
            <a:off x="1261069" y="2365935"/>
            <a:ext cx="980499" cy="1295400"/>
            <a:chOff x="1261069" y="2365935"/>
            <a:chExt cx="980499" cy="1295400"/>
          </a:xfrm>
        </p:grpSpPr>
        <p:sp>
          <p:nvSpPr>
            <p:cNvPr id="3" name="Rounded Rectangle 6">
              <a:extLst>
                <a:ext uri="{FF2B5EF4-FFF2-40B4-BE49-F238E27FC236}">
                  <a16:creationId xmlns:a16="http://schemas.microsoft.com/office/drawing/2014/main" id="{FB391287-D70A-0EA0-8EFE-AAAA424DD541}"/>
                </a:ext>
              </a:extLst>
            </p:cNvPr>
            <p:cNvSpPr/>
            <p:nvPr/>
          </p:nvSpPr>
          <p:spPr bwMode="auto">
            <a:xfrm>
              <a:off x="1261069" y="2365935"/>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7" name="TextBox 8">
              <a:extLst>
                <a:ext uri="{FF2B5EF4-FFF2-40B4-BE49-F238E27FC236}">
                  <a16:creationId xmlns:a16="http://schemas.microsoft.com/office/drawing/2014/main" id="{B4A1B987-2F5B-A3DD-38C2-43F688FFEDEF}"/>
                </a:ext>
              </a:extLst>
            </p:cNvPr>
            <p:cNvSpPr txBox="1"/>
            <p:nvPr/>
          </p:nvSpPr>
          <p:spPr>
            <a:xfrm>
              <a:off x="1261070" y="2978071"/>
              <a:ext cx="980498"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Source Code</a:t>
              </a:r>
            </a:p>
          </p:txBody>
        </p:sp>
        <p:pic>
          <p:nvPicPr>
            <p:cNvPr id="9" name="Picture 8">
              <a:extLst>
                <a:ext uri="{FF2B5EF4-FFF2-40B4-BE49-F238E27FC236}">
                  <a16:creationId xmlns:a16="http://schemas.microsoft.com/office/drawing/2014/main" id="{60222F9A-9DFF-F6A1-6558-64F252847EEE}"/>
                </a:ext>
              </a:extLst>
            </p:cNvPr>
            <p:cNvPicPr>
              <a:picLocks noChangeAspect="1"/>
            </p:cNvPicPr>
            <p:nvPr/>
          </p:nvPicPr>
          <p:blipFill>
            <a:blip r:embed="rId2"/>
            <a:stretch>
              <a:fillRect/>
            </a:stretch>
          </p:blipFill>
          <p:spPr>
            <a:xfrm>
              <a:off x="1413469" y="2518335"/>
              <a:ext cx="687150" cy="610133"/>
            </a:xfrm>
            <a:prstGeom prst="rect">
              <a:avLst/>
            </a:prstGeom>
          </p:spPr>
        </p:pic>
      </p:grpSp>
      <p:grpSp>
        <p:nvGrpSpPr>
          <p:cNvPr id="99" name="Group 98">
            <a:extLst>
              <a:ext uri="{FF2B5EF4-FFF2-40B4-BE49-F238E27FC236}">
                <a16:creationId xmlns:a16="http://schemas.microsoft.com/office/drawing/2014/main" id="{573E77E9-93FB-51D9-F71C-9632FE347079}"/>
              </a:ext>
            </a:extLst>
          </p:cNvPr>
          <p:cNvGrpSpPr/>
          <p:nvPr/>
        </p:nvGrpSpPr>
        <p:grpSpPr>
          <a:xfrm>
            <a:off x="2819400" y="2377884"/>
            <a:ext cx="980499" cy="1295400"/>
            <a:chOff x="2819400" y="2377884"/>
            <a:chExt cx="980499" cy="1295400"/>
          </a:xfrm>
        </p:grpSpPr>
        <p:sp>
          <p:nvSpPr>
            <p:cNvPr id="10" name="Rounded Rectangle 6">
              <a:extLst>
                <a:ext uri="{FF2B5EF4-FFF2-40B4-BE49-F238E27FC236}">
                  <a16:creationId xmlns:a16="http://schemas.microsoft.com/office/drawing/2014/main" id="{5200C8B0-381F-0FB3-AA75-5ACFEC0C1005}"/>
                </a:ext>
              </a:extLst>
            </p:cNvPr>
            <p:cNvSpPr/>
            <p:nvPr/>
          </p:nvSpPr>
          <p:spPr bwMode="auto">
            <a:xfrm>
              <a:off x="2819400" y="2377884"/>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11" name="TextBox 8">
              <a:extLst>
                <a:ext uri="{FF2B5EF4-FFF2-40B4-BE49-F238E27FC236}">
                  <a16:creationId xmlns:a16="http://schemas.microsoft.com/office/drawing/2014/main" id="{C9A13416-41E7-C6A1-475A-70760D39F85F}"/>
                </a:ext>
              </a:extLst>
            </p:cNvPr>
            <p:cNvSpPr txBox="1"/>
            <p:nvPr/>
          </p:nvSpPr>
          <p:spPr>
            <a:xfrm>
              <a:off x="2819401" y="2990020"/>
              <a:ext cx="980498"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Git Repo</a:t>
              </a:r>
            </a:p>
          </p:txBody>
        </p:sp>
        <p:pic>
          <p:nvPicPr>
            <p:cNvPr id="14" name="Picture 13" descr="Icon&#10;&#10;Description automatically generated">
              <a:extLst>
                <a:ext uri="{FF2B5EF4-FFF2-40B4-BE49-F238E27FC236}">
                  <a16:creationId xmlns:a16="http://schemas.microsoft.com/office/drawing/2014/main" id="{2F5D165A-0C33-43F5-00B2-735BEC2C95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184" y="2493941"/>
              <a:ext cx="616327" cy="610133"/>
            </a:xfrm>
            <a:prstGeom prst="rect">
              <a:avLst/>
            </a:prstGeom>
          </p:spPr>
        </p:pic>
      </p:grpSp>
      <p:cxnSp>
        <p:nvCxnSpPr>
          <p:cNvPr id="16" name="Straight Arrow Connector 15">
            <a:extLst>
              <a:ext uri="{FF2B5EF4-FFF2-40B4-BE49-F238E27FC236}">
                <a16:creationId xmlns:a16="http://schemas.microsoft.com/office/drawing/2014/main" id="{2FDEBF5D-924B-16C8-E407-A62EFD7FCBD5}"/>
              </a:ext>
            </a:extLst>
          </p:cNvPr>
          <p:cNvCxnSpPr>
            <a:cxnSpLocks/>
          </p:cNvCxnSpPr>
          <p:nvPr/>
        </p:nvCxnSpPr>
        <p:spPr>
          <a:xfrm>
            <a:off x="2252122" y="2959191"/>
            <a:ext cx="546739" cy="0"/>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8090B4EC-9AE8-DC51-15CC-FE12A658258F}"/>
              </a:ext>
            </a:extLst>
          </p:cNvPr>
          <p:cNvGrpSpPr/>
          <p:nvPr/>
        </p:nvGrpSpPr>
        <p:grpSpPr>
          <a:xfrm>
            <a:off x="4953551" y="2417012"/>
            <a:ext cx="1010074" cy="1295400"/>
            <a:chOff x="4953551" y="2417012"/>
            <a:chExt cx="1010074" cy="1295400"/>
          </a:xfrm>
        </p:grpSpPr>
        <p:sp>
          <p:nvSpPr>
            <p:cNvPr id="23" name="Rounded Rectangle 6">
              <a:extLst>
                <a:ext uri="{FF2B5EF4-FFF2-40B4-BE49-F238E27FC236}">
                  <a16:creationId xmlns:a16="http://schemas.microsoft.com/office/drawing/2014/main" id="{C21B510C-C42C-0ABF-5494-73F9C35E6B85}"/>
                </a:ext>
              </a:extLst>
            </p:cNvPr>
            <p:cNvSpPr/>
            <p:nvPr/>
          </p:nvSpPr>
          <p:spPr bwMode="auto">
            <a:xfrm>
              <a:off x="4962016" y="2417012"/>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24" name="TextBox 8">
              <a:extLst>
                <a:ext uri="{FF2B5EF4-FFF2-40B4-BE49-F238E27FC236}">
                  <a16:creationId xmlns:a16="http://schemas.microsoft.com/office/drawing/2014/main" id="{2EFB1B53-4D0D-82C5-E24B-9A8A9BDE1A88}"/>
                </a:ext>
              </a:extLst>
            </p:cNvPr>
            <p:cNvSpPr txBox="1"/>
            <p:nvPr/>
          </p:nvSpPr>
          <p:spPr>
            <a:xfrm>
              <a:off x="4953551" y="3029148"/>
              <a:ext cx="1010074"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CI Build Pipeline</a:t>
              </a:r>
            </a:p>
          </p:txBody>
        </p:sp>
        <p:pic>
          <p:nvPicPr>
            <p:cNvPr id="27" name="Picture 26" descr="Shape, icon, circle&#10;&#10;Description automatically generated">
              <a:extLst>
                <a:ext uri="{FF2B5EF4-FFF2-40B4-BE49-F238E27FC236}">
                  <a16:creationId xmlns:a16="http://schemas.microsoft.com/office/drawing/2014/main" id="{16F1E403-CC4E-D501-9696-381099982E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2233" y="2543434"/>
              <a:ext cx="714227" cy="598355"/>
            </a:xfrm>
            <a:prstGeom prst="rect">
              <a:avLst/>
            </a:prstGeom>
          </p:spPr>
        </p:pic>
      </p:grpSp>
      <p:cxnSp>
        <p:nvCxnSpPr>
          <p:cNvPr id="28" name="Straight Arrow Connector 27">
            <a:extLst>
              <a:ext uri="{FF2B5EF4-FFF2-40B4-BE49-F238E27FC236}">
                <a16:creationId xmlns:a16="http://schemas.microsoft.com/office/drawing/2014/main" id="{B6070CBE-FF7D-F882-AC27-3A0DBBA3921E}"/>
              </a:ext>
            </a:extLst>
          </p:cNvPr>
          <p:cNvCxnSpPr>
            <a:cxnSpLocks/>
          </p:cNvCxnSpPr>
          <p:nvPr/>
        </p:nvCxnSpPr>
        <p:spPr>
          <a:xfrm>
            <a:off x="3799898" y="2991391"/>
            <a:ext cx="1173568" cy="0"/>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01" name="Group 100">
            <a:extLst>
              <a:ext uri="{FF2B5EF4-FFF2-40B4-BE49-F238E27FC236}">
                <a16:creationId xmlns:a16="http://schemas.microsoft.com/office/drawing/2014/main" id="{F0CE1CD1-7989-2B73-FDB4-88F7B7532D42}"/>
              </a:ext>
            </a:extLst>
          </p:cNvPr>
          <p:cNvGrpSpPr/>
          <p:nvPr/>
        </p:nvGrpSpPr>
        <p:grpSpPr>
          <a:xfrm>
            <a:off x="6408120" y="2417012"/>
            <a:ext cx="1143000" cy="1276522"/>
            <a:chOff x="6408120" y="2417012"/>
            <a:chExt cx="1143000" cy="1276522"/>
          </a:xfrm>
        </p:grpSpPr>
        <p:sp>
          <p:nvSpPr>
            <p:cNvPr id="29" name="Rounded Rectangle 6">
              <a:extLst>
                <a:ext uri="{FF2B5EF4-FFF2-40B4-BE49-F238E27FC236}">
                  <a16:creationId xmlns:a16="http://schemas.microsoft.com/office/drawing/2014/main" id="{0CE6054F-3DCA-1B37-C94A-430361B4F384}"/>
                </a:ext>
              </a:extLst>
            </p:cNvPr>
            <p:cNvSpPr/>
            <p:nvPr/>
          </p:nvSpPr>
          <p:spPr bwMode="auto">
            <a:xfrm>
              <a:off x="6491663" y="2417012"/>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30" name="TextBox 8">
              <a:extLst>
                <a:ext uri="{FF2B5EF4-FFF2-40B4-BE49-F238E27FC236}">
                  <a16:creationId xmlns:a16="http://schemas.microsoft.com/office/drawing/2014/main" id="{33ACB529-A9E9-6D4E-DB4F-54BCC4AEF136}"/>
                </a:ext>
              </a:extLst>
            </p:cNvPr>
            <p:cNvSpPr txBox="1"/>
            <p:nvPr/>
          </p:nvSpPr>
          <p:spPr>
            <a:xfrm>
              <a:off x="6408120" y="3010270"/>
              <a:ext cx="1143000"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Container Registry</a:t>
              </a:r>
            </a:p>
          </p:txBody>
        </p:sp>
        <p:pic>
          <p:nvPicPr>
            <p:cNvPr id="33" name="Picture 32" descr="Icon&#10;&#10;Description automatically generated">
              <a:extLst>
                <a:ext uri="{FF2B5EF4-FFF2-40B4-BE49-F238E27FC236}">
                  <a16:creationId xmlns:a16="http://schemas.microsoft.com/office/drawing/2014/main" id="{F615B72E-23FD-FADD-69D9-CB90F097EA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4763" y="2545201"/>
              <a:ext cx="1136357" cy="596588"/>
            </a:xfrm>
            <a:prstGeom prst="rect">
              <a:avLst/>
            </a:prstGeom>
          </p:spPr>
        </p:pic>
      </p:grpSp>
      <p:grpSp>
        <p:nvGrpSpPr>
          <p:cNvPr id="103" name="Group 102">
            <a:extLst>
              <a:ext uri="{FF2B5EF4-FFF2-40B4-BE49-F238E27FC236}">
                <a16:creationId xmlns:a16="http://schemas.microsoft.com/office/drawing/2014/main" id="{D34CDB28-58E1-1BCD-E521-79ECB31CB36E}"/>
              </a:ext>
            </a:extLst>
          </p:cNvPr>
          <p:cNvGrpSpPr/>
          <p:nvPr/>
        </p:nvGrpSpPr>
        <p:grpSpPr>
          <a:xfrm>
            <a:off x="9972588" y="2439951"/>
            <a:ext cx="1143000" cy="1201583"/>
            <a:chOff x="9972588" y="2439951"/>
            <a:chExt cx="1143000" cy="1201583"/>
          </a:xfrm>
        </p:grpSpPr>
        <p:sp>
          <p:nvSpPr>
            <p:cNvPr id="34" name="Rounded Rectangle 6">
              <a:extLst>
                <a:ext uri="{FF2B5EF4-FFF2-40B4-BE49-F238E27FC236}">
                  <a16:creationId xmlns:a16="http://schemas.microsoft.com/office/drawing/2014/main" id="{89662182-6CA9-A088-6A3C-2979C3237DA9}"/>
                </a:ext>
              </a:extLst>
            </p:cNvPr>
            <p:cNvSpPr/>
            <p:nvPr/>
          </p:nvSpPr>
          <p:spPr bwMode="auto">
            <a:xfrm>
              <a:off x="10056131" y="2439951"/>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35" name="TextBox 8">
              <a:extLst>
                <a:ext uri="{FF2B5EF4-FFF2-40B4-BE49-F238E27FC236}">
                  <a16:creationId xmlns:a16="http://schemas.microsoft.com/office/drawing/2014/main" id="{65F0E7BB-5090-5EAE-CBB0-25D935C48BC5}"/>
                </a:ext>
              </a:extLst>
            </p:cNvPr>
            <p:cNvSpPr txBox="1"/>
            <p:nvPr/>
          </p:nvSpPr>
          <p:spPr>
            <a:xfrm>
              <a:off x="9972588" y="3152169"/>
              <a:ext cx="1143000" cy="489365"/>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AKS</a:t>
              </a:r>
            </a:p>
          </p:txBody>
        </p:sp>
        <p:pic>
          <p:nvPicPr>
            <p:cNvPr id="40" name="Graphic 39">
              <a:extLst>
                <a:ext uri="{FF2B5EF4-FFF2-40B4-BE49-F238E27FC236}">
                  <a16:creationId xmlns:a16="http://schemas.microsoft.com/office/drawing/2014/main" id="{CA208833-BDDB-866E-920A-8F49BE852C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04269" y="2554595"/>
              <a:ext cx="743655" cy="743655"/>
            </a:xfrm>
            <a:prstGeom prst="rect">
              <a:avLst/>
            </a:prstGeom>
          </p:spPr>
        </p:pic>
      </p:grpSp>
      <p:cxnSp>
        <p:nvCxnSpPr>
          <p:cNvPr id="41" name="Straight Arrow Connector 40">
            <a:extLst>
              <a:ext uri="{FF2B5EF4-FFF2-40B4-BE49-F238E27FC236}">
                <a16:creationId xmlns:a16="http://schemas.microsoft.com/office/drawing/2014/main" id="{CF5305F9-F557-4184-CBE3-7A75BF3FC8D8}"/>
              </a:ext>
            </a:extLst>
          </p:cNvPr>
          <p:cNvCxnSpPr>
            <a:cxnSpLocks/>
          </p:cNvCxnSpPr>
          <p:nvPr/>
        </p:nvCxnSpPr>
        <p:spPr>
          <a:xfrm>
            <a:off x="5949157" y="3010269"/>
            <a:ext cx="528039" cy="1"/>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a16="http://schemas.microsoft.com/office/drawing/2014/main" id="{E633DAB6-45BE-3A97-88FB-011903ECFEBA}"/>
              </a:ext>
            </a:extLst>
          </p:cNvPr>
          <p:cNvGrpSpPr/>
          <p:nvPr/>
        </p:nvGrpSpPr>
        <p:grpSpPr>
          <a:xfrm>
            <a:off x="7999904" y="2436062"/>
            <a:ext cx="1010074" cy="1306391"/>
            <a:chOff x="7999904" y="2436062"/>
            <a:chExt cx="1010074" cy="1306391"/>
          </a:xfrm>
        </p:grpSpPr>
        <p:sp>
          <p:nvSpPr>
            <p:cNvPr id="45" name="Rounded Rectangle 6">
              <a:extLst>
                <a:ext uri="{FF2B5EF4-FFF2-40B4-BE49-F238E27FC236}">
                  <a16:creationId xmlns:a16="http://schemas.microsoft.com/office/drawing/2014/main" id="{D307952B-84F1-7CA8-EE1C-B39ED539E5EF}"/>
                </a:ext>
              </a:extLst>
            </p:cNvPr>
            <p:cNvSpPr/>
            <p:nvPr/>
          </p:nvSpPr>
          <p:spPr bwMode="auto">
            <a:xfrm>
              <a:off x="8014692" y="2436062"/>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46" name="TextBox 8">
              <a:extLst>
                <a:ext uri="{FF2B5EF4-FFF2-40B4-BE49-F238E27FC236}">
                  <a16:creationId xmlns:a16="http://schemas.microsoft.com/office/drawing/2014/main" id="{048A34DF-1544-F2AB-0CB8-F9927344A178}"/>
                </a:ext>
              </a:extLst>
            </p:cNvPr>
            <p:cNvSpPr txBox="1"/>
            <p:nvPr/>
          </p:nvSpPr>
          <p:spPr>
            <a:xfrm>
              <a:off x="7999904" y="2865290"/>
              <a:ext cx="1010074" cy="877163"/>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CD Release Pipeline</a:t>
              </a:r>
            </a:p>
          </p:txBody>
        </p:sp>
        <p:sp>
          <p:nvSpPr>
            <p:cNvPr id="48" name="Arrow: Right 47">
              <a:extLst>
                <a:ext uri="{FF2B5EF4-FFF2-40B4-BE49-F238E27FC236}">
                  <a16:creationId xmlns:a16="http://schemas.microsoft.com/office/drawing/2014/main" id="{74904F87-ADED-C86C-30A9-B7E0912EE40B}"/>
                </a:ext>
              </a:extLst>
            </p:cNvPr>
            <p:cNvSpPr/>
            <p:nvPr/>
          </p:nvSpPr>
          <p:spPr bwMode="auto">
            <a:xfrm>
              <a:off x="8269625" y="2555938"/>
              <a:ext cx="533400" cy="364068"/>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grpSp>
      <p:cxnSp>
        <p:nvCxnSpPr>
          <p:cNvPr id="49" name="Straight Arrow Connector 48">
            <a:extLst>
              <a:ext uri="{FF2B5EF4-FFF2-40B4-BE49-F238E27FC236}">
                <a16:creationId xmlns:a16="http://schemas.microsoft.com/office/drawing/2014/main" id="{40026F2C-85A1-73E9-80D4-14827B882BD8}"/>
              </a:ext>
            </a:extLst>
          </p:cNvPr>
          <p:cNvCxnSpPr>
            <a:cxnSpLocks/>
          </p:cNvCxnSpPr>
          <p:nvPr/>
        </p:nvCxnSpPr>
        <p:spPr>
          <a:xfrm>
            <a:off x="7479259" y="3010268"/>
            <a:ext cx="528039" cy="1"/>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C05E048-3260-9EFF-2D69-C4824EA9BDA9}"/>
              </a:ext>
            </a:extLst>
          </p:cNvPr>
          <p:cNvCxnSpPr>
            <a:cxnSpLocks/>
          </p:cNvCxnSpPr>
          <p:nvPr/>
        </p:nvCxnSpPr>
        <p:spPr>
          <a:xfrm>
            <a:off x="9009361" y="3010267"/>
            <a:ext cx="1051164" cy="0"/>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4" name="TextBox 8">
            <a:extLst>
              <a:ext uri="{FF2B5EF4-FFF2-40B4-BE49-F238E27FC236}">
                <a16:creationId xmlns:a16="http://schemas.microsoft.com/office/drawing/2014/main" id="{7E9AF569-EDE2-A1B8-6F14-86FFBCB5B710}"/>
              </a:ext>
            </a:extLst>
          </p:cNvPr>
          <p:cNvSpPr txBox="1"/>
          <p:nvPr/>
        </p:nvSpPr>
        <p:spPr>
          <a:xfrm>
            <a:off x="3680637" y="2103603"/>
            <a:ext cx="1331503" cy="954107"/>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Triggers on </a:t>
            </a:r>
          </a:p>
          <a:p>
            <a:pPr algn="ctr">
              <a:lnSpc>
                <a:spcPct val="90000"/>
              </a:lnSpc>
              <a:spcAft>
                <a:spcPts val="600"/>
              </a:spcAft>
            </a:pPr>
            <a:r>
              <a:rPr lang="en-US" sz="1400" dirty="0">
                <a:gradFill>
                  <a:gsLst>
                    <a:gs pos="2917">
                      <a:schemeClr val="tx1"/>
                    </a:gs>
                    <a:gs pos="30000">
                      <a:schemeClr val="tx1"/>
                    </a:gs>
                  </a:gsLst>
                  <a:lin ang="5400000" scaled="0"/>
                </a:gradFill>
              </a:rPr>
              <a:t>Check-in or Pull Request</a:t>
            </a:r>
          </a:p>
        </p:txBody>
      </p:sp>
      <p:sp>
        <p:nvSpPr>
          <p:cNvPr id="57" name="TextBox 8">
            <a:extLst>
              <a:ext uri="{FF2B5EF4-FFF2-40B4-BE49-F238E27FC236}">
                <a16:creationId xmlns:a16="http://schemas.microsoft.com/office/drawing/2014/main" id="{21137821-CDE0-F13E-BF51-3113CBA1A816}"/>
              </a:ext>
            </a:extLst>
          </p:cNvPr>
          <p:cNvSpPr txBox="1"/>
          <p:nvPr/>
        </p:nvSpPr>
        <p:spPr>
          <a:xfrm>
            <a:off x="8210870" y="4567961"/>
            <a:ext cx="1888557"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Applies Manifest or Helm Charts</a:t>
            </a:r>
          </a:p>
        </p:txBody>
      </p:sp>
      <p:grpSp>
        <p:nvGrpSpPr>
          <p:cNvPr id="108" name="Group 107">
            <a:extLst>
              <a:ext uri="{FF2B5EF4-FFF2-40B4-BE49-F238E27FC236}">
                <a16:creationId xmlns:a16="http://schemas.microsoft.com/office/drawing/2014/main" id="{C1640B75-2582-DB35-F872-7A5D3D46A28D}"/>
              </a:ext>
            </a:extLst>
          </p:cNvPr>
          <p:cNvGrpSpPr/>
          <p:nvPr/>
        </p:nvGrpSpPr>
        <p:grpSpPr>
          <a:xfrm>
            <a:off x="1270681" y="5157375"/>
            <a:ext cx="980499" cy="1295400"/>
            <a:chOff x="1270681" y="5157375"/>
            <a:chExt cx="980499" cy="1295400"/>
          </a:xfrm>
        </p:grpSpPr>
        <p:sp>
          <p:nvSpPr>
            <p:cNvPr id="58" name="Rounded Rectangle 6">
              <a:extLst>
                <a:ext uri="{FF2B5EF4-FFF2-40B4-BE49-F238E27FC236}">
                  <a16:creationId xmlns:a16="http://schemas.microsoft.com/office/drawing/2014/main" id="{8BB1AE09-F358-8C6A-A96D-D45DD2D9D9ED}"/>
                </a:ext>
              </a:extLst>
            </p:cNvPr>
            <p:cNvSpPr/>
            <p:nvPr/>
          </p:nvSpPr>
          <p:spPr bwMode="auto">
            <a:xfrm>
              <a:off x="1270681" y="5157375"/>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59" name="TextBox 8">
              <a:extLst>
                <a:ext uri="{FF2B5EF4-FFF2-40B4-BE49-F238E27FC236}">
                  <a16:creationId xmlns:a16="http://schemas.microsoft.com/office/drawing/2014/main" id="{CF988BF8-3EDB-289F-03E1-34772A7E1912}"/>
                </a:ext>
              </a:extLst>
            </p:cNvPr>
            <p:cNvSpPr txBox="1"/>
            <p:nvPr/>
          </p:nvSpPr>
          <p:spPr>
            <a:xfrm>
              <a:off x="1270682" y="5769511"/>
              <a:ext cx="980498"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Source Code</a:t>
              </a:r>
            </a:p>
          </p:txBody>
        </p:sp>
        <p:pic>
          <p:nvPicPr>
            <p:cNvPr id="60" name="Picture 59">
              <a:extLst>
                <a:ext uri="{FF2B5EF4-FFF2-40B4-BE49-F238E27FC236}">
                  <a16:creationId xmlns:a16="http://schemas.microsoft.com/office/drawing/2014/main" id="{25F380FF-F6A2-9A99-3666-1BE897C08410}"/>
                </a:ext>
              </a:extLst>
            </p:cNvPr>
            <p:cNvPicPr>
              <a:picLocks noChangeAspect="1"/>
            </p:cNvPicPr>
            <p:nvPr/>
          </p:nvPicPr>
          <p:blipFill>
            <a:blip r:embed="rId2"/>
            <a:stretch>
              <a:fillRect/>
            </a:stretch>
          </p:blipFill>
          <p:spPr>
            <a:xfrm>
              <a:off x="1423081" y="5309775"/>
              <a:ext cx="687150" cy="610133"/>
            </a:xfrm>
            <a:prstGeom prst="rect">
              <a:avLst/>
            </a:prstGeom>
          </p:spPr>
        </p:pic>
      </p:grpSp>
      <p:grpSp>
        <p:nvGrpSpPr>
          <p:cNvPr id="107" name="Group 106">
            <a:extLst>
              <a:ext uri="{FF2B5EF4-FFF2-40B4-BE49-F238E27FC236}">
                <a16:creationId xmlns:a16="http://schemas.microsoft.com/office/drawing/2014/main" id="{9678918E-037A-4719-0753-73CDB5194E6C}"/>
              </a:ext>
            </a:extLst>
          </p:cNvPr>
          <p:cNvGrpSpPr/>
          <p:nvPr/>
        </p:nvGrpSpPr>
        <p:grpSpPr>
          <a:xfrm>
            <a:off x="2829012" y="5169324"/>
            <a:ext cx="980499" cy="1295400"/>
            <a:chOff x="2829012" y="5169324"/>
            <a:chExt cx="980499" cy="1295400"/>
          </a:xfrm>
        </p:grpSpPr>
        <p:sp>
          <p:nvSpPr>
            <p:cNvPr id="61" name="Rounded Rectangle 6">
              <a:extLst>
                <a:ext uri="{FF2B5EF4-FFF2-40B4-BE49-F238E27FC236}">
                  <a16:creationId xmlns:a16="http://schemas.microsoft.com/office/drawing/2014/main" id="{173765FE-DFDA-E2CE-5C45-88D843845787}"/>
                </a:ext>
              </a:extLst>
            </p:cNvPr>
            <p:cNvSpPr/>
            <p:nvPr/>
          </p:nvSpPr>
          <p:spPr bwMode="auto">
            <a:xfrm>
              <a:off x="2829012" y="5169324"/>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62" name="TextBox 8">
              <a:extLst>
                <a:ext uri="{FF2B5EF4-FFF2-40B4-BE49-F238E27FC236}">
                  <a16:creationId xmlns:a16="http://schemas.microsoft.com/office/drawing/2014/main" id="{B1173BDD-C554-56BE-6D73-C1243068C93C}"/>
                </a:ext>
              </a:extLst>
            </p:cNvPr>
            <p:cNvSpPr txBox="1"/>
            <p:nvPr/>
          </p:nvSpPr>
          <p:spPr>
            <a:xfrm>
              <a:off x="2829013" y="5781460"/>
              <a:ext cx="980498"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Git Repo</a:t>
              </a:r>
            </a:p>
          </p:txBody>
        </p:sp>
        <p:pic>
          <p:nvPicPr>
            <p:cNvPr id="63" name="Picture 62" descr="Icon&#10;&#10;Description automatically generated">
              <a:extLst>
                <a:ext uri="{FF2B5EF4-FFF2-40B4-BE49-F238E27FC236}">
                  <a16:creationId xmlns:a16="http://schemas.microsoft.com/office/drawing/2014/main" id="{FD6D5C9B-31B8-00A6-83F2-BE65023D8E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3796" y="5285381"/>
              <a:ext cx="616327" cy="610133"/>
            </a:xfrm>
            <a:prstGeom prst="rect">
              <a:avLst/>
            </a:prstGeom>
          </p:spPr>
        </p:pic>
      </p:grpSp>
      <p:cxnSp>
        <p:nvCxnSpPr>
          <p:cNvPr id="64" name="Straight Arrow Connector 63">
            <a:extLst>
              <a:ext uri="{FF2B5EF4-FFF2-40B4-BE49-F238E27FC236}">
                <a16:creationId xmlns:a16="http://schemas.microsoft.com/office/drawing/2014/main" id="{77A9E403-9EB5-0E2F-0140-164890B31967}"/>
              </a:ext>
            </a:extLst>
          </p:cNvPr>
          <p:cNvCxnSpPr>
            <a:cxnSpLocks/>
          </p:cNvCxnSpPr>
          <p:nvPr/>
        </p:nvCxnSpPr>
        <p:spPr>
          <a:xfrm>
            <a:off x="2261734" y="5750631"/>
            <a:ext cx="546739" cy="0"/>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E923F1A4-8615-BECC-88D1-C6C40138FA69}"/>
              </a:ext>
            </a:extLst>
          </p:cNvPr>
          <p:cNvGrpSpPr/>
          <p:nvPr/>
        </p:nvGrpSpPr>
        <p:grpSpPr>
          <a:xfrm>
            <a:off x="5254376" y="5410200"/>
            <a:ext cx="1010074" cy="1295400"/>
            <a:chOff x="5254376" y="5410200"/>
            <a:chExt cx="1010074" cy="1295400"/>
          </a:xfrm>
        </p:grpSpPr>
        <p:sp>
          <p:nvSpPr>
            <p:cNvPr id="65" name="Rounded Rectangle 6">
              <a:extLst>
                <a:ext uri="{FF2B5EF4-FFF2-40B4-BE49-F238E27FC236}">
                  <a16:creationId xmlns:a16="http://schemas.microsoft.com/office/drawing/2014/main" id="{C6C206B9-66BB-9463-120F-317C1CD75D5B}"/>
                </a:ext>
              </a:extLst>
            </p:cNvPr>
            <p:cNvSpPr/>
            <p:nvPr/>
          </p:nvSpPr>
          <p:spPr bwMode="auto">
            <a:xfrm>
              <a:off x="5262841" y="5410200"/>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66" name="TextBox 8">
              <a:extLst>
                <a:ext uri="{FF2B5EF4-FFF2-40B4-BE49-F238E27FC236}">
                  <a16:creationId xmlns:a16="http://schemas.microsoft.com/office/drawing/2014/main" id="{4819F12B-0F3E-0567-6504-2F9726311691}"/>
                </a:ext>
              </a:extLst>
            </p:cNvPr>
            <p:cNvSpPr txBox="1"/>
            <p:nvPr/>
          </p:nvSpPr>
          <p:spPr>
            <a:xfrm>
              <a:off x="5254376" y="6022336"/>
              <a:ext cx="1010074"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Build Image</a:t>
              </a:r>
            </a:p>
          </p:txBody>
        </p:sp>
        <p:pic>
          <p:nvPicPr>
            <p:cNvPr id="67" name="Picture 66" descr="Shape, icon, circle&#10;&#10;Description automatically generated">
              <a:extLst>
                <a:ext uri="{FF2B5EF4-FFF2-40B4-BE49-F238E27FC236}">
                  <a16:creationId xmlns:a16="http://schemas.microsoft.com/office/drawing/2014/main" id="{FB923A8B-105F-F97C-675D-AF97BACD75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3058" y="5536622"/>
              <a:ext cx="714227" cy="598355"/>
            </a:xfrm>
            <a:prstGeom prst="rect">
              <a:avLst/>
            </a:prstGeom>
          </p:spPr>
        </p:pic>
      </p:grpSp>
      <p:cxnSp>
        <p:nvCxnSpPr>
          <p:cNvPr id="68" name="Straight Arrow Connector 67">
            <a:extLst>
              <a:ext uri="{FF2B5EF4-FFF2-40B4-BE49-F238E27FC236}">
                <a16:creationId xmlns:a16="http://schemas.microsoft.com/office/drawing/2014/main" id="{668E52D5-525C-1E7C-48F5-DE416E2FD4A6}"/>
              </a:ext>
            </a:extLst>
          </p:cNvPr>
          <p:cNvCxnSpPr>
            <a:cxnSpLocks/>
            <a:endCxn id="61" idx="3"/>
          </p:cNvCxnSpPr>
          <p:nvPr/>
        </p:nvCxnSpPr>
        <p:spPr>
          <a:xfrm flipH="1">
            <a:off x="3809510" y="4805600"/>
            <a:ext cx="1591412" cy="956982"/>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05" name="Group 104">
            <a:extLst>
              <a:ext uri="{FF2B5EF4-FFF2-40B4-BE49-F238E27FC236}">
                <a16:creationId xmlns:a16="http://schemas.microsoft.com/office/drawing/2014/main" id="{DF28ECE9-4A5D-F166-BAC4-FB6032E1B639}"/>
              </a:ext>
            </a:extLst>
          </p:cNvPr>
          <p:cNvGrpSpPr/>
          <p:nvPr/>
        </p:nvGrpSpPr>
        <p:grpSpPr>
          <a:xfrm>
            <a:off x="6708945" y="5410200"/>
            <a:ext cx="1143000" cy="1276522"/>
            <a:chOff x="6708945" y="5410200"/>
            <a:chExt cx="1143000" cy="1276522"/>
          </a:xfrm>
        </p:grpSpPr>
        <p:sp>
          <p:nvSpPr>
            <p:cNvPr id="69" name="Rounded Rectangle 6">
              <a:extLst>
                <a:ext uri="{FF2B5EF4-FFF2-40B4-BE49-F238E27FC236}">
                  <a16:creationId xmlns:a16="http://schemas.microsoft.com/office/drawing/2014/main" id="{AC85C458-9798-B228-95B5-88417F5E9AD8}"/>
                </a:ext>
              </a:extLst>
            </p:cNvPr>
            <p:cNvSpPr/>
            <p:nvPr/>
          </p:nvSpPr>
          <p:spPr bwMode="auto">
            <a:xfrm>
              <a:off x="6792488" y="5410200"/>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70" name="TextBox 8">
              <a:extLst>
                <a:ext uri="{FF2B5EF4-FFF2-40B4-BE49-F238E27FC236}">
                  <a16:creationId xmlns:a16="http://schemas.microsoft.com/office/drawing/2014/main" id="{F15B4BA6-F7A7-9052-F730-E3C9DB842611}"/>
                </a:ext>
              </a:extLst>
            </p:cNvPr>
            <p:cNvSpPr txBox="1"/>
            <p:nvPr/>
          </p:nvSpPr>
          <p:spPr>
            <a:xfrm>
              <a:off x="6708945" y="6003458"/>
              <a:ext cx="1143000"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Container Registry</a:t>
              </a:r>
            </a:p>
          </p:txBody>
        </p:sp>
        <p:pic>
          <p:nvPicPr>
            <p:cNvPr id="71" name="Picture 70" descr="Icon&#10;&#10;Description automatically generated">
              <a:extLst>
                <a:ext uri="{FF2B5EF4-FFF2-40B4-BE49-F238E27FC236}">
                  <a16:creationId xmlns:a16="http://schemas.microsoft.com/office/drawing/2014/main" id="{836A0DE1-811A-470F-8325-9604C458FB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15588" y="5538389"/>
              <a:ext cx="1136357" cy="596588"/>
            </a:xfrm>
            <a:prstGeom prst="rect">
              <a:avLst/>
            </a:prstGeom>
          </p:spPr>
        </p:pic>
      </p:grpSp>
      <p:grpSp>
        <p:nvGrpSpPr>
          <p:cNvPr id="109" name="Group 108">
            <a:extLst>
              <a:ext uri="{FF2B5EF4-FFF2-40B4-BE49-F238E27FC236}">
                <a16:creationId xmlns:a16="http://schemas.microsoft.com/office/drawing/2014/main" id="{00741D8E-EE9F-9F90-5562-CA8B3E59ECA5}"/>
              </a:ext>
            </a:extLst>
          </p:cNvPr>
          <p:cNvGrpSpPr/>
          <p:nvPr/>
        </p:nvGrpSpPr>
        <p:grpSpPr>
          <a:xfrm>
            <a:off x="9982200" y="5231391"/>
            <a:ext cx="1143000" cy="1201583"/>
            <a:chOff x="9982200" y="5231391"/>
            <a:chExt cx="1143000" cy="1201583"/>
          </a:xfrm>
        </p:grpSpPr>
        <p:sp>
          <p:nvSpPr>
            <p:cNvPr id="73" name="TextBox 8">
              <a:extLst>
                <a:ext uri="{FF2B5EF4-FFF2-40B4-BE49-F238E27FC236}">
                  <a16:creationId xmlns:a16="http://schemas.microsoft.com/office/drawing/2014/main" id="{A1F40259-EEE9-2CB4-9067-2507047E086E}"/>
                </a:ext>
              </a:extLst>
            </p:cNvPr>
            <p:cNvSpPr txBox="1"/>
            <p:nvPr/>
          </p:nvSpPr>
          <p:spPr>
            <a:xfrm>
              <a:off x="9982200" y="5943609"/>
              <a:ext cx="1143000" cy="489365"/>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AKS</a:t>
              </a:r>
            </a:p>
          </p:txBody>
        </p:sp>
        <p:grpSp>
          <p:nvGrpSpPr>
            <p:cNvPr id="104" name="Group 103">
              <a:extLst>
                <a:ext uri="{FF2B5EF4-FFF2-40B4-BE49-F238E27FC236}">
                  <a16:creationId xmlns:a16="http://schemas.microsoft.com/office/drawing/2014/main" id="{76AC70FD-E5CD-FBDA-9D4C-55982FB1F13A}"/>
                </a:ext>
              </a:extLst>
            </p:cNvPr>
            <p:cNvGrpSpPr/>
            <p:nvPr/>
          </p:nvGrpSpPr>
          <p:grpSpPr>
            <a:xfrm>
              <a:off x="10065743" y="5231391"/>
              <a:ext cx="980498" cy="1186515"/>
              <a:chOff x="10065743" y="5231391"/>
              <a:chExt cx="980498" cy="1186515"/>
            </a:xfrm>
          </p:grpSpPr>
          <p:sp>
            <p:nvSpPr>
              <p:cNvPr id="72" name="Rounded Rectangle 6">
                <a:extLst>
                  <a:ext uri="{FF2B5EF4-FFF2-40B4-BE49-F238E27FC236}">
                    <a16:creationId xmlns:a16="http://schemas.microsoft.com/office/drawing/2014/main" id="{54D6D6BF-E849-2BCA-D46C-51F60794607C}"/>
                  </a:ext>
                </a:extLst>
              </p:cNvPr>
              <p:cNvSpPr/>
              <p:nvPr/>
            </p:nvSpPr>
            <p:spPr bwMode="auto">
              <a:xfrm>
                <a:off x="10065743" y="5231391"/>
                <a:ext cx="980498" cy="1186515"/>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pic>
            <p:nvPicPr>
              <p:cNvPr id="74" name="Graphic 73">
                <a:extLst>
                  <a:ext uri="{FF2B5EF4-FFF2-40B4-BE49-F238E27FC236}">
                    <a16:creationId xmlns:a16="http://schemas.microsoft.com/office/drawing/2014/main" id="{D7C0D478-20E9-C490-0B22-477A4D62D5B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13881" y="5346035"/>
                <a:ext cx="743655" cy="743655"/>
              </a:xfrm>
              <a:prstGeom prst="rect">
                <a:avLst/>
              </a:prstGeom>
            </p:spPr>
          </p:pic>
        </p:grpSp>
      </p:grpSp>
      <p:cxnSp>
        <p:nvCxnSpPr>
          <p:cNvPr id="75" name="Straight Arrow Connector 74">
            <a:extLst>
              <a:ext uri="{FF2B5EF4-FFF2-40B4-BE49-F238E27FC236}">
                <a16:creationId xmlns:a16="http://schemas.microsoft.com/office/drawing/2014/main" id="{742FC7EA-B384-9E77-6539-862ECAFB4C64}"/>
              </a:ext>
            </a:extLst>
          </p:cNvPr>
          <p:cNvCxnSpPr>
            <a:cxnSpLocks/>
          </p:cNvCxnSpPr>
          <p:nvPr/>
        </p:nvCxnSpPr>
        <p:spPr>
          <a:xfrm>
            <a:off x="6249982" y="6003457"/>
            <a:ext cx="528039" cy="1"/>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D477B9DC-D0DC-D59D-131E-F95C17D4082E}"/>
              </a:ext>
            </a:extLst>
          </p:cNvPr>
          <p:cNvGrpSpPr/>
          <p:nvPr/>
        </p:nvGrpSpPr>
        <p:grpSpPr>
          <a:xfrm>
            <a:off x="5267076" y="4563061"/>
            <a:ext cx="2392248" cy="489365"/>
            <a:chOff x="4796005" y="4340597"/>
            <a:chExt cx="2392248" cy="489365"/>
          </a:xfrm>
        </p:grpSpPr>
        <p:sp>
          <p:nvSpPr>
            <p:cNvPr id="76" name="Rounded Rectangle 6">
              <a:extLst>
                <a:ext uri="{FF2B5EF4-FFF2-40B4-BE49-F238E27FC236}">
                  <a16:creationId xmlns:a16="http://schemas.microsoft.com/office/drawing/2014/main" id="{81949084-141F-FB79-0B10-F9D7D3E5FC02}"/>
                </a:ext>
              </a:extLst>
            </p:cNvPr>
            <p:cNvSpPr/>
            <p:nvPr/>
          </p:nvSpPr>
          <p:spPr bwMode="auto">
            <a:xfrm>
              <a:off x="4936494" y="4363812"/>
              <a:ext cx="2210272" cy="426489"/>
            </a:xfrm>
            <a:prstGeom prst="roundRect">
              <a:avLst/>
            </a:prstGeom>
            <a:noFill/>
            <a:ln>
              <a:solidFill>
                <a:schemeClr val="tx1"/>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6637" rIns="0" bIns="46637" numCol="1" rtlCol="0" anchor="t" anchorCtr="0" compatLnSpc="1">
              <a:prstTxWarp prst="textNoShape">
                <a:avLst/>
              </a:prstTxWarp>
            </a:bodyPr>
            <a:lstStyle>
              <a:defPPr>
                <a:defRPr lang="en-US"/>
              </a:defPPr>
              <a:lvl1pPr marL="0" algn="l" defTabSz="914363" rtl="0" eaLnBrk="1" latinLnBrk="0" hangingPunct="1">
                <a:defRPr sz="1800" kern="1200">
                  <a:solidFill>
                    <a:schemeClr val="dk1"/>
                  </a:solidFill>
                  <a:latin typeface="+mn-lt"/>
                  <a:ea typeface="+mn-ea"/>
                  <a:cs typeface="+mn-cs"/>
                </a:defRPr>
              </a:lvl1pPr>
              <a:lvl2pPr marL="457182" algn="l" defTabSz="914363" rtl="0" eaLnBrk="1" latinLnBrk="0" hangingPunct="1">
                <a:defRPr sz="1800" kern="1200">
                  <a:solidFill>
                    <a:schemeClr val="dk1"/>
                  </a:solidFill>
                  <a:latin typeface="+mn-lt"/>
                  <a:ea typeface="+mn-ea"/>
                  <a:cs typeface="+mn-cs"/>
                </a:defRPr>
              </a:lvl2pPr>
              <a:lvl3pPr marL="914363" algn="l" defTabSz="914363" rtl="0" eaLnBrk="1" latinLnBrk="0" hangingPunct="1">
                <a:defRPr sz="1800" kern="1200">
                  <a:solidFill>
                    <a:schemeClr val="dk1"/>
                  </a:solidFill>
                  <a:latin typeface="+mn-lt"/>
                  <a:ea typeface="+mn-ea"/>
                  <a:cs typeface="+mn-cs"/>
                </a:defRPr>
              </a:lvl3pPr>
              <a:lvl4pPr marL="1371545" algn="l" defTabSz="914363" rtl="0" eaLnBrk="1" latinLnBrk="0" hangingPunct="1">
                <a:defRPr sz="1800" kern="1200">
                  <a:solidFill>
                    <a:schemeClr val="dk1"/>
                  </a:solidFill>
                  <a:latin typeface="+mn-lt"/>
                  <a:ea typeface="+mn-ea"/>
                  <a:cs typeface="+mn-cs"/>
                </a:defRPr>
              </a:lvl4pPr>
              <a:lvl5pPr marL="1828727" algn="l" defTabSz="914363" rtl="0" eaLnBrk="1" latinLnBrk="0" hangingPunct="1">
                <a:defRPr sz="1800" kern="1200">
                  <a:solidFill>
                    <a:schemeClr val="dk1"/>
                  </a:solidFill>
                  <a:latin typeface="+mn-lt"/>
                  <a:ea typeface="+mn-ea"/>
                  <a:cs typeface="+mn-cs"/>
                </a:defRPr>
              </a:lvl5pPr>
              <a:lvl6pPr marL="2285909" algn="l" defTabSz="914363" rtl="0" eaLnBrk="1" latinLnBrk="0" hangingPunct="1">
                <a:defRPr sz="1800" kern="1200">
                  <a:solidFill>
                    <a:schemeClr val="dk1"/>
                  </a:solidFill>
                  <a:latin typeface="+mn-lt"/>
                  <a:ea typeface="+mn-ea"/>
                  <a:cs typeface="+mn-cs"/>
                </a:defRPr>
              </a:lvl6pPr>
              <a:lvl7pPr marL="2743090" algn="l" defTabSz="914363" rtl="0" eaLnBrk="1" latinLnBrk="0" hangingPunct="1">
                <a:defRPr sz="1800" kern="1200">
                  <a:solidFill>
                    <a:schemeClr val="dk1"/>
                  </a:solidFill>
                  <a:latin typeface="+mn-lt"/>
                  <a:ea typeface="+mn-ea"/>
                  <a:cs typeface="+mn-cs"/>
                </a:defRPr>
              </a:lvl7pPr>
              <a:lvl8pPr marL="3200272" algn="l" defTabSz="914363" rtl="0" eaLnBrk="1" latinLnBrk="0" hangingPunct="1">
                <a:defRPr sz="1800" kern="1200">
                  <a:solidFill>
                    <a:schemeClr val="dk1"/>
                  </a:solidFill>
                  <a:latin typeface="+mn-lt"/>
                  <a:ea typeface="+mn-ea"/>
                  <a:cs typeface="+mn-cs"/>
                </a:defRPr>
              </a:lvl8pPr>
              <a:lvl9pPr marL="3657454" algn="l" defTabSz="914363" rtl="0" eaLnBrk="1" latinLnBrk="0" hangingPunct="1">
                <a:defRPr sz="1800" kern="1200">
                  <a:solidFill>
                    <a:schemeClr val="dk1"/>
                  </a:solidFill>
                  <a:latin typeface="+mn-lt"/>
                  <a:ea typeface="+mn-ea"/>
                  <a:cs typeface="+mn-cs"/>
                </a:defRPr>
              </a:lvl9pPr>
            </a:lstStyle>
            <a:p>
              <a:pPr algn="ctr" defTabSz="932472" fontAlgn="base">
                <a:spcBef>
                  <a:spcPct val="0"/>
                </a:spcBef>
                <a:spcAft>
                  <a:spcPct val="0"/>
                </a:spcAft>
              </a:pPr>
              <a:r>
                <a:rPr lang="en-US" sz="2000" dirty="0">
                  <a:gradFill>
                    <a:gsLst>
                      <a:gs pos="0">
                        <a:srgbClr val="FFFFFF"/>
                      </a:gs>
                      <a:gs pos="100000">
                        <a:srgbClr val="FFFFFF"/>
                      </a:gs>
                    </a:gsLst>
                    <a:lin ang="5400000" scaled="0"/>
                  </a:gradFill>
                </a:rPr>
                <a:t>Dev</a:t>
              </a:r>
            </a:p>
          </p:txBody>
        </p:sp>
        <p:sp>
          <p:nvSpPr>
            <p:cNvPr id="77" name="TextBox 8">
              <a:extLst>
                <a:ext uri="{FF2B5EF4-FFF2-40B4-BE49-F238E27FC236}">
                  <a16:creationId xmlns:a16="http://schemas.microsoft.com/office/drawing/2014/main" id="{F5C5617B-507A-4450-193E-9FFB29D8BB33}"/>
                </a:ext>
              </a:extLst>
            </p:cNvPr>
            <p:cNvSpPr txBox="1"/>
            <p:nvPr/>
          </p:nvSpPr>
          <p:spPr>
            <a:xfrm>
              <a:off x="4796005" y="4340597"/>
              <a:ext cx="2392248" cy="489365"/>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err="1">
                  <a:gradFill>
                    <a:gsLst>
                      <a:gs pos="2917">
                        <a:schemeClr val="tx1"/>
                      </a:gs>
                      <a:gs pos="30000">
                        <a:schemeClr val="tx1"/>
                      </a:gs>
                    </a:gsLst>
                    <a:lin ang="5400000" scaled="0"/>
                  </a:gradFill>
                </a:rPr>
                <a:t>GitOps</a:t>
              </a:r>
              <a:r>
                <a:rPr lang="en-US" sz="1400" dirty="0">
                  <a:gradFill>
                    <a:gsLst>
                      <a:gs pos="2917">
                        <a:schemeClr val="tx1"/>
                      </a:gs>
                      <a:gs pos="30000">
                        <a:schemeClr val="tx1"/>
                      </a:gs>
                    </a:gsLst>
                    <a:lin ang="5400000" scaled="0"/>
                  </a:gradFill>
                </a:rPr>
                <a:t> monitors repo</a:t>
              </a:r>
            </a:p>
          </p:txBody>
        </p:sp>
      </p:grpSp>
      <p:cxnSp>
        <p:nvCxnSpPr>
          <p:cNvPr id="79" name="Straight Arrow Connector 78">
            <a:extLst>
              <a:ext uri="{FF2B5EF4-FFF2-40B4-BE49-F238E27FC236}">
                <a16:creationId xmlns:a16="http://schemas.microsoft.com/office/drawing/2014/main" id="{194382BB-3E08-4A01-8E81-7436C021E4DE}"/>
              </a:ext>
            </a:extLst>
          </p:cNvPr>
          <p:cNvCxnSpPr>
            <a:cxnSpLocks/>
            <a:stCxn id="77" idx="3"/>
            <a:endCxn id="72" idx="1"/>
          </p:cNvCxnSpPr>
          <p:nvPr/>
        </p:nvCxnSpPr>
        <p:spPr>
          <a:xfrm>
            <a:off x="7659324" y="4807744"/>
            <a:ext cx="2406419" cy="1016905"/>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8812A2CA-78B1-B281-A8BB-7D0ECDF4B7DB}"/>
              </a:ext>
            </a:extLst>
          </p:cNvPr>
          <p:cNvCxnSpPr>
            <a:cxnSpLocks/>
            <a:endCxn id="65" idx="0"/>
          </p:cNvCxnSpPr>
          <p:nvPr/>
        </p:nvCxnSpPr>
        <p:spPr>
          <a:xfrm>
            <a:off x="5753090" y="5012765"/>
            <a:ext cx="0" cy="397435"/>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97" name="TextBox 8">
            <a:extLst>
              <a:ext uri="{FF2B5EF4-FFF2-40B4-BE49-F238E27FC236}">
                <a16:creationId xmlns:a16="http://schemas.microsoft.com/office/drawing/2014/main" id="{D0AB2817-4BEB-270A-C790-E3136FF2BD54}"/>
              </a:ext>
            </a:extLst>
          </p:cNvPr>
          <p:cNvSpPr txBox="1"/>
          <p:nvPr/>
        </p:nvSpPr>
        <p:spPr>
          <a:xfrm>
            <a:off x="3614709" y="4474111"/>
            <a:ext cx="1888557" cy="683264"/>
          </a:xfrm>
          <a:prstGeom prst="rect">
            <a:avLst/>
          </a:prstGeom>
          <a:noFill/>
        </p:spPr>
        <p:txBody>
          <a:bodyPr wrap="square" lIns="182880" tIns="146304" rIns="182880" bIns="146304"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US" sz="1400" dirty="0">
                <a:gradFill>
                  <a:gsLst>
                    <a:gs pos="2917">
                      <a:schemeClr val="tx1"/>
                    </a:gs>
                    <a:gs pos="30000">
                      <a:schemeClr val="tx1"/>
                    </a:gs>
                  </a:gsLst>
                  <a:lin ang="5400000" scaled="0"/>
                </a:gradFill>
              </a:rPr>
              <a:t>Monitors for changes</a:t>
            </a:r>
          </a:p>
        </p:txBody>
      </p:sp>
    </p:spTree>
    <p:extLst>
      <p:ext uri="{BB962C8B-B14F-4D97-AF65-F5344CB8AC3E}">
        <p14:creationId xmlns:p14="http://schemas.microsoft.com/office/powerpoint/2010/main" val="76986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fade">
                                      <p:cBhvr>
                                        <p:cTn id="15" dur="500"/>
                                        <p:tgtEl>
                                          <p:spTgt spid="9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wipe(left)">
                                      <p:cBhvr>
                                        <p:cTn id="22" dur="500"/>
                                        <p:tgtEl>
                                          <p:spTgt spid="54"/>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100"/>
                                        </p:tgtEl>
                                        <p:attrNameLst>
                                          <p:attrName>style.visibility</p:attrName>
                                        </p:attrNameLst>
                                      </p:cBhvr>
                                      <p:to>
                                        <p:strVal val="visible"/>
                                      </p:to>
                                    </p:set>
                                    <p:animEffect transition="in" filter="fade">
                                      <p:cBhvr>
                                        <p:cTn id="26" dur="500"/>
                                        <p:tgtEl>
                                          <p:spTgt spid="100"/>
                                        </p:tgtEl>
                                      </p:cBhvr>
                                    </p:animEffect>
                                  </p:childTnLst>
                                </p:cTn>
                              </p:par>
                            </p:childTnLst>
                          </p:cTn>
                        </p:par>
                        <p:par>
                          <p:cTn id="27" fill="hold">
                            <p:stCondLst>
                              <p:cond delay="2500"/>
                            </p:stCondLst>
                            <p:childTnLst>
                              <p:par>
                                <p:cTn id="28" presetID="22" presetClass="entr" presetSubtype="8" fill="hold" nodeType="after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wipe(left)">
                                      <p:cBhvr>
                                        <p:cTn id="30" dur="500"/>
                                        <p:tgtEl>
                                          <p:spTgt spid="41"/>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101"/>
                                        </p:tgtEl>
                                        <p:attrNameLst>
                                          <p:attrName>style.visibility</p:attrName>
                                        </p:attrNameLst>
                                      </p:cBhvr>
                                      <p:to>
                                        <p:strVal val="visible"/>
                                      </p:to>
                                    </p:set>
                                    <p:animEffect transition="in" filter="fade">
                                      <p:cBhvr>
                                        <p:cTn id="34" dur="500"/>
                                        <p:tgtEl>
                                          <p:spTgt spid="101"/>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wipe(left)">
                                      <p:cBhvr>
                                        <p:cTn id="38" dur="500"/>
                                        <p:tgtEl>
                                          <p:spTgt spid="49"/>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102"/>
                                        </p:tgtEl>
                                        <p:attrNameLst>
                                          <p:attrName>style.visibility</p:attrName>
                                        </p:attrNameLst>
                                      </p:cBhvr>
                                      <p:to>
                                        <p:strVal val="visible"/>
                                      </p:to>
                                    </p:set>
                                    <p:animEffect transition="in" filter="fade">
                                      <p:cBhvr>
                                        <p:cTn id="42" dur="500"/>
                                        <p:tgtEl>
                                          <p:spTgt spid="102"/>
                                        </p:tgtEl>
                                      </p:cBhvr>
                                    </p:animEffect>
                                  </p:childTnLst>
                                </p:cTn>
                              </p:par>
                            </p:childTnLst>
                          </p:cTn>
                        </p:par>
                        <p:par>
                          <p:cTn id="43" fill="hold">
                            <p:stCondLst>
                              <p:cond delay="4500"/>
                            </p:stCondLst>
                            <p:childTnLst>
                              <p:par>
                                <p:cTn id="44" presetID="22" presetClass="entr" presetSubtype="8" fill="hold"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left)">
                                      <p:cBhvr>
                                        <p:cTn id="46" dur="500"/>
                                        <p:tgtEl>
                                          <p:spTgt spid="50"/>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wipe(left)">
                                      <p:cBhvr>
                                        <p:cTn id="49" dur="500"/>
                                        <p:tgtEl>
                                          <p:spTgt spid="51"/>
                                        </p:tgtEl>
                                      </p:cBhvr>
                                    </p:animEffect>
                                  </p:childTnLst>
                                </p:cTn>
                              </p:par>
                            </p:childTnLst>
                          </p:cTn>
                        </p:par>
                        <p:par>
                          <p:cTn id="50" fill="hold">
                            <p:stCondLst>
                              <p:cond delay="5000"/>
                            </p:stCondLst>
                            <p:childTnLst>
                              <p:par>
                                <p:cTn id="51" presetID="10" presetClass="entr" presetSubtype="0" fill="hold" nodeType="afterEffect">
                                  <p:stCondLst>
                                    <p:cond delay="0"/>
                                  </p:stCondLst>
                                  <p:childTnLst>
                                    <p:set>
                                      <p:cBhvr>
                                        <p:cTn id="52" dur="1" fill="hold">
                                          <p:stCondLst>
                                            <p:cond delay="0"/>
                                          </p:stCondLst>
                                        </p:cTn>
                                        <p:tgtEl>
                                          <p:spTgt spid="103"/>
                                        </p:tgtEl>
                                        <p:attrNameLst>
                                          <p:attrName>style.visibility</p:attrName>
                                        </p:attrNameLst>
                                      </p:cBhvr>
                                      <p:to>
                                        <p:strVal val="visible"/>
                                      </p:to>
                                    </p:set>
                                    <p:animEffect transition="in" filter="fade">
                                      <p:cBhvr>
                                        <p:cTn id="53" dur="500"/>
                                        <p:tgtEl>
                                          <p:spTgt spid="10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5">
                                            <p:txEl>
                                              <p:pRg st="5" end="5"/>
                                            </p:txEl>
                                          </p:spTgt>
                                        </p:tgtEl>
                                        <p:attrNameLst>
                                          <p:attrName>style.visibility</p:attrName>
                                        </p:attrNameLst>
                                      </p:cBhvr>
                                      <p:to>
                                        <p:strVal val="visible"/>
                                      </p:to>
                                    </p:set>
                                    <p:animEffect transition="in" filter="fade">
                                      <p:cBhvr>
                                        <p:cTn id="58" dur="500"/>
                                        <p:tgtEl>
                                          <p:spTgt spid="5">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08"/>
                                        </p:tgtEl>
                                        <p:attrNameLst>
                                          <p:attrName>style.visibility</p:attrName>
                                        </p:attrNameLst>
                                      </p:cBhvr>
                                      <p:to>
                                        <p:strVal val="visible"/>
                                      </p:to>
                                    </p:set>
                                    <p:animEffect transition="in" filter="fade">
                                      <p:cBhvr>
                                        <p:cTn id="63" dur="500"/>
                                        <p:tgtEl>
                                          <p:spTgt spid="108"/>
                                        </p:tgtEl>
                                      </p:cBhvr>
                                    </p:animEffec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64"/>
                                        </p:tgtEl>
                                        <p:attrNameLst>
                                          <p:attrName>style.visibility</p:attrName>
                                        </p:attrNameLst>
                                      </p:cBhvr>
                                      <p:to>
                                        <p:strVal val="visible"/>
                                      </p:to>
                                    </p:set>
                                    <p:animEffect transition="in" filter="wipe(left)">
                                      <p:cBhvr>
                                        <p:cTn id="67" dur="500"/>
                                        <p:tgtEl>
                                          <p:spTgt spid="64"/>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107"/>
                                        </p:tgtEl>
                                        <p:attrNameLst>
                                          <p:attrName>style.visibility</p:attrName>
                                        </p:attrNameLst>
                                      </p:cBhvr>
                                      <p:to>
                                        <p:strVal val="visible"/>
                                      </p:to>
                                    </p:set>
                                    <p:animEffect transition="in" filter="fade">
                                      <p:cBhvr>
                                        <p:cTn id="71" dur="500"/>
                                        <p:tgtEl>
                                          <p:spTgt spid="107"/>
                                        </p:tgtEl>
                                      </p:cBhvr>
                                    </p:animEffect>
                                  </p:childTnLst>
                                </p:cTn>
                              </p:par>
                            </p:childTnLst>
                          </p:cTn>
                        </p:par>
                        <p:par>
                          <p:cTn id="72" fill="hold">
                            <p:stCondLst>
                              <p:cond delay="1500"/>
                            </p:stCondLst>
                            <p:childTnLst>
                              <p:par>
                                <p:cTn id="73" presetID="10" presetClass="entr" presetSubtype="0" fill="hold" nodeType="afterEffect">
                                  <p:stCondLst>
                                    <p:cond delay="0"/>
                                  </p:stCondLst>
                                  <p:childTnLst>
                                    <p:set>
                                      <p:cBhvr>
                                        <p:cTn id="74" dur="1" fill="hold">
                                          <p:stCondLst>
                                            <p:cond delay="0"/>
                                          </p:stCondLst>
                                        </p:cTn>
                                        <p:tgtEl>
                                          <p:spTgt spid="88"/>
                                        </p:tgtEl>
                                        <p:attrNameLst>
                                          <p:attrName>style.visibility</p:attrName>
                                        </p:attrNameLst>
                                      </p:cBhvr>
                                      <p:to>
                                        <p:strVal val="visible"/>
                                      </p:to>
                                    </p:set>
                                    <p:animEffect transition="in" filter="fade">
                                      <p:cBhvr>
                                        <p:cTn id="75" dur="500"/>
                                        <p:tgtEl>
                                          <p:spTgt spid="88"/>
                                        </p:tgtEl>
                                      </p:cBhvr>
                                    </p:animEffect>
                                  </p:childTnLst>
                                </p:cTn>
                              </p:par>
                            </p:childTnLst>
                          </p:cTn>
                        </p:par>
                        <p:par>
                          <p:cTn id="76" fill="hold">
                            <p:stCondLst>
                              <p:cond delay="2000"/>
                            </p:stCondLst>
                            <p:childTnLst>
                              <p:par>
                                <p:cTn id="77" presetID="22" presetClass="entr" presetSubtype="2" fill="hold" grpId="0" nodeType="afterEffect">
                                  <p:stCondLst>
                                    <p:cond delay="0"/>
                                  </p:stCondLst>
                                  <p:childTnLst>
                                    <p:set>
                                      <p:cBhvr>
                                        <p:cTn id="78" dur="1" fill="hold">
                                          <p:stCondLst>
                                            <p:cond delay="0"/>
                                          </p:stCondLst>
                                        </p:cTn>
                                        <p:tgtEl>
                                          <p:spTgt spid="97"/>
                                        </p:tgtEl>
                                        <p:attrNameLst>
                                          <p:attrName>style.visibility</p:attrName>
                                        </p:attrNameLst>
                                      </p:cBhvr>
                                      <p:to>
                                        <p:strVal val="visible"/>
                                      </p:to>
                                    </p:set>
                                    <p:animEffect transition="in" filter="wipe(right)">
                                      <p:cBhvr>
                                        <p:cTn id="79" dur="500"/>
                                        <p:tgtEl>
                                          <p:spTgt spid="97"/>
                                        </p:tgtEl>
                                      </p:cBhvr>
                                    </p:animEffect>
                                  </p:childTnLst>
                                </p:cTn>
                              </p:par>
                              <p:par>
                                <p:cTn id="80" presetID="22" presetClass="entr" presetSubtype="2"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wipe(right)">
                                      <p:cBhvr>
                                        <p:cTn id="82" dur="500"/>
                                        <p:tgtEl>
                                          <p:spTgt spid="68"/>
                                        </p:tgtEl>
                                      </p:cBhvr>
                                    </p:animEffect>
                                  </p:childTnLst>
                                </p:cTn>
                              </p:par>
                            </p:childTnLst>
                          </p:cTn>
                        </p:par>
                        <p:par>
                          <p:cTn id="83" fill="hold">
                            <p:stCondLst>
                              <p:cond delay="2500"/>
                            </p:stCondLst>
                            <p:childTnLst>
                              <p:par>
                                <p:cTn id="84" presetID="22" presetClass="entr" presetSubtype="1" fill="hold" nodeType="afterEffect">
                                  <p:stCondLst>
                                    <p:cond delay="0"/>
                                  </p:stCondLst>
                                  <p:childTnLst>
                                    <p:set>
                                      <p:cBhvr>
                                        <p:cTn id="85" dur="1" fill="hold">
                                          <p:stCondLst>
                                            <p:cond delay="0"/>
                                          </p:stCondLst>
                                        </p:cTn>
                                        <p:tgtEl>
                                          <p:spTgt spid="91"/>
                                        </p:tgtEl>
                                        <p:attrNameLst>
                                          <p:attrName>style.visibility</p:attrName>
                                        </p:attrNameLst>
                                      </p:cBhvr>
                                      <p:to>
                                        <p:strVal val="visible"/>
                                      </p:to>
                                    </p:set>
                                    <p:animEffect transition="in" filter="wipe(up)">
                                      <p:cBhvr>
                                        <p:cTn id="86" dur="500"/>
                                        <p:tgtEl>
                                          <p:spTgt spid="91"/>
                                        </p:tgtEl>
                                      </p:cBhvr>
                                    </p:animEffect>
                                  </p:childTnLst>
                                </p:cTn>
                              </p:par>
                            </p:childTnLst>
                          </p:cTn>
                        </p:par>
                        <p:par>
                          <p:cTn id="87" fill="hold">
                            <p:stCondLst>
                              <p:cond delay="3000"/>
                            </p:stCondLst>
                            <p:childTnLst>
                              <p:par>
                                <p:cTn id="88" presetID="10" presetClass="entr" presetSubtype="0" fill="hold" nodeType="afterEffect">
                                  <p:stCondLst>
                                    <p:cond delay="0"/>
                                  </p:stCondLst>
                                  <p:childTnLst>
                                    <p:set>
                                      <p:cBhvr>
                                        <p:cTn id="89" dur="1" fill="hold">
                                          <p:stCondLst>
                                            <p:cond delay="0"/>
                                          </p:stCondLst>
                                        </p:cTn>
                                        <p:tgtEl>
                                          <p:spTgt spid="106"/>
                                        </p:tgtEl>
                                        <p:attrNameLst>
                                          <p:attrName>style.visibility</p:attrName>
                                        </p:attrNameLst>
                                      </p:cBhvr>
                                      <p:to>
                                        <p:strVal val="visible"/>
                                      </p:to>
                                    </p:set>
                                    <p:animEffect transition="in" filter="fade">
                                      <p:cBhvr>
                                        <p:cTn id="90" dur="500"/>
                                        <p:tgtEl>
                                          <p:spTgt spid="106"/>
                                        </p:tgtEl>
                                      </p:cBhvr>
                                    </p:animEffect>
                                  </p:childTnLst>
                                </p:cTn>
                              </p:par>
                            </p:childTnLst>
                          </p:cTn>
                        </p:par>
                        <p:par>
                          <p:cTn id="91" fill="hold">
                            <p:stCondLst>
                              <p:cond delay="3500"/>
                            </p:stCondLst>
                            <p:childTnLst>
                              <p:par>
                                <p:cTn id="92" presetID="22" presetClass="entr" presetSubtype="8" fill="hold" nodeType="afterEffect">
                                  <p:stCondLst>
                                    <p:cond delay="0"/>
                                  </p:stCondLst>
                                  <p:childTnLst>
                                    <p:set>
                                      <p:cBhvr>
                                        <p:cTn id="93" dur="1" fill="hold">
                                          <p:stCondLst>
                                            <p:cond delay="0"/>
                                          </p:stCondLst>
                                        </p:cTn>
                                        <p:tgtEl>
                                          <p:spTgt spid="75"/>
                                        </p:tgtEl>
                                        <p:attrNameLst>
                                          <p:attrName>style.visibility</p:attrName>
                                        </p:attrNameLst>
                                      </p:cBhvr>
                                      <p:to>
                                        <p:strVal val="visible"/>
                                      </p:to>
                                    </p:set>
                                    <p:animEffect transition="in" filter="wipe(left)">
                                      <p:cBhvr>
                                        <p:cTn id="94" dur="500"/>
                                        <p:tgtEl>
                                          <p:spTgt spid="75"/>
                                        </p:tgtEl>
                                      </p:cBhvr>
                                    </p:animEffect>
                                  </p:childTnLst>
                                </p:cTn>
                              </p:par>
                            </p:childTnLst>
                          </p:cTn>
                        </p:par>
                        <p:par>
                          <p:cTn id="95" fill="hold">
                            <p:stCondLst>
                              <p:cond delay="4000"/>
                            </p:stCondLst>
                            <p:childTnLst>
                              <p:par>
                                <p:cTn id="96" presetID="10" presetClass="entr" presetSubtype="0" fill="hold" nodeType="afterEffect">
                                  <p:stCondLst>
                                    <p:cond delay="0"/>
                                  </p:stCondLst>
                                  <p:childTnLst>
                                    <p:set>
                                      <p:cBhvr>
                                        <p:cTn id="97" dur="1" fill="hold">
                                          <p:stCondLst>
                                            <p:cond delay="0"/>
                                          </p:stCondLst>
                                        </p:cTn>
                                        <p:tgtEl>
                                          <p:spTgt spid="105"/>
                                        </p:tgtEl>
                                        <p:attrNameLst>
                                          <p:attrName>style.visibility</p:attrName>
                                        </p:attrNameLst>
                                      </p:cBhvr>
                                      <p:to>
                                        <p:strVal val="visible"/>
                                      </p:to>
                                    </p:set>
                                    <p:animEffect transition="in" filter="fade">
                                      <p:cBhvr>
                                        <p:cTn id="98" dur="500"/>
                                        <p:tgtEl>
                                          <p:spTgt spid="105"/>
                                        </p:tgtEl>
                                      </p:cBhvr>
                                    </p:animEffect>
                                  </p:childTnLst>
                                </p:cTn>
                              </p:par>
                            </p:childTnLst>
                          </p:cTn>
                        </p:par>
                        <p:par>
                          <p:cTn id="99" fill="hold">
                            <p:stCondLst>
                              <p:cond delay="4500"/>
                            </p:stCondLst>
                            <p:childTnLst>
                              <p:par>
                                <p:cTn id="100" presetID="22" presetClass="entr" presetSubtype="8" fill="hold" nodeType="afterEffect">
                                  <p:stCondLst>
                                    <p:cond delay="0"/>
                                  </p:stCondLst>
                                  <p:childTnLst>
                                    <p:set>
                                      <p:cBhvr>
                                        <p:cTn id="101" dur="1" fill="hold">
                                          <p:stCondLst>
                                            <p:cond delay="0"/>
                                          </p:stCondLst>
                                        </p:cTn>
                                        <p:tgtEl>
                                          <p:spTgt spid="79"/>
                                        </p:tgtEl>
                                        <p:attrNameLst>
                                          <p:attrName>style.visibility</p:attrName>
                                        </p:attrNameLst>
                                      </p:cBhvr>
                                      <p:to>
                                        <p:strVal val="visible"/>
                                      </p:to>
                                    </p:set>
                                    <p:animEffect transition="in" filter="wipe(left)">
                                      <p:cBhvr>
                                        <p:cTn id="102" dur="500"/>
                                        <p:tgtEl>
                                          <p:spTgt spid="79"/>
                                        </p:tgtEl>
                                      </p:cBhvr>
                                    </p:animEffect>
                                  </p:childTnLst>
                                </p:cTn>
                              </p:par>
                              <p:par>
                                <p:cTn id="103" presetID="22" presetClass="entr" presetSubtype="8"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wipe(left)">
                                      <p:cBhvr>
                                        <p:cTn id="105" dur="500"/>
                                        <p:tgtEl>
                                          <p:spTgt spid="57"/>
                                        </p:tgtEl>
                                      </p:cBhvr>
                                    </p:animEffect>
                                  </p:childTnLst>
                                </p:cTn>
                              </p:par>
                            </p:childTnLst>
                          </p:cTn>
                        </p:par>
                        <p:par>
                          <p:cTn id="106" fill="hold">
                            <p:stCondLst>
                              <p:cond delay="5000"/>
                            </p:stCondLst>
                            <p:childTnLst>
                              <p:par>
                                <p:cTn id="107" presetID="10" presetClass="entr" presetSubtype="0" fill="hold" nodeType="afterEffect">
                                  <p:stCondLst>
                                    <p:cond delay="0"/>
                                  </p:stCondLst>
                                  <p:childTnLst>
                                    <p:set>
                                      <p:cBhvr>
                                        <p:cTn id="108" dur="1" fill="hold">
                                          <p:stCondLst>
                                            <p:cond delay="0"/>
                                          </p:stCondLst>
                                        </p:cTn>
                                        <p:tgtEl>
                                          <p:spTgt spid="109"/>
                                        </p:tgtEl>
                                        <p:attrNameLst>
                                          <p:attrName>style.visibility</p:attrName>
                                        </p:attrNameLst>
                                      </p:cBhvr>
                                      <p:to>
                                        <p:strVal val="visible"/>
                                      </p:to>
                                    </p:set>
                                    <p:animEffect transition="in" filter="fade">
                                      <p:cBhvr>
                                        <p:cTn id="109"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4" grpId="0"/>
      <p:bldP spid="57" grpId="0"/>
      <p:bldP spid="9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9168D-3028-25F0-0B61-102F246104DC}"/>
              </a:ext>
            </a:extLst>
          </p:cNvPr>
          <p:cNvSpPr>
            <a:spLocks noGrp="1"/>
          </p:cNvSpPr>
          <p:nvPr>
            <p:ph type="title"/>
          </p:nvPr>
        </p:nvSpPr>
        <p:spPr/>
        <p:txBody>
          <a:bodyPr/>
          <a:lstStyle/>
          <a:p>
            <a:r>
              <a:rPr lang="en-US" dirty="0"/>
              <a:t>Repository Structure</a:t>
            </a:r>
          </a:p>
        </p:txBody>
      </p:sp>
      <p:sp>
        <p:nvSpPr>
          <p:cNvPr id="5" name="Content Placeholder 4">
            <a:extLst>
              <a:ext uri="{FF2B5EF4-FFF2-40B4-BE49-F238E27FC236}">
                <a16:creationId xmlns:a16="http://schemas.microsoft.com/office/drawing/2014/main" id="{B38BB454-9512-6BCC-8A51-0E3373C23418}"/>
              </a:ext>
            </a:extLst>
          </p:cNvPr>
          <p:cNvSpPr>
            <a:spLocks noGrp="1"/>
          </p:cNvSpPr>
          <p:nvPr>
            <p:ph sz="quarter" idx="10"/>
          </p:nvPr>
        </p:nvSpPr>
        <p:spPr>
          <a:xfrm>
            <a:off x="584200" y="1844675"/>
            <a:ext cx="11018838" cy="5118324"/>
          </a:xfrm>
        </p:spPr>
        <p:txBody>
          <a:bodyPr/>
          <a:lstStyle/>
          <a:p>
            <a:pPr marL="457200" indent="-457200">
              <a:buFont typeface="Arial" panose="020B0604020202020204" pitchFamily="34" charset="0"/>
              <a:buChar char="•"/>
            </a:pPr>
            <a:r>
              <a:rPr lang="en-US" dirty="0"/>
              <a:t>Application Repo</a:t>
            </a:r>
          </a:p>
          <a:p>
            <a:pPr marL="914400" lvl="1" indent="-457200">
              <a:buFont typeface="Arial" panose="020B0604020202020204" pitchFamily="34" charset="0"/>
              <a:buChar char="•"/>
            </a:pPr>
            <a:r>
              <a:rPr lang="en-US" dirty="0"/>
              <a:t>Application code resides here and Dockerfiles</a:t>
            </a:r>
          </a:p>
          <a:p>
            <a:pPr marL="914400" lvl="1" indent="-457200">
              <a:buFont typeface="Arial" panose="020B0604020202020204" pitchFamily="34" charset="0"/>
              <a:buChar char="•"/>
            </a:pPr>
            <a:r>
              <a:rPr lang="en-US" dirty="0"/>
              <a:t>Image building and pushing occurs here to ACR</a:t>
            </a:r>
          </a:p>
          <a:p>
            <a:pPr marL="457200" indent="-457200">
              <a:buFont typeface="Arial" panose="020B0604020202020204" pitchFamily="34" charset="0"/>
              <a:buChar char="•"/>
            </a:pPr>
            <a:r>
              <a:rPr lang="en-US" dirty="0"/>
              <a:t>Deployment</a:t>
            </a:r>
          </a:p>
          <a:p>
            <a:pPr marL="914400" lvl="1" indent="-457200">
              <a:buFont typeface="Arial" panose="020B0604020202020204" pitchFamily="34" charset="0"/>
              <a:buChar char="•"/>
            </a:pPr>
            <a:r>
              <a:rPr lang="en-US" dirty="0"/>
              <a:t>Ideally a separate repo at a minimum can be a mono repo structure or </a:t>
            </a:r>
            <a:r>
              <a:rPr lang="en-US" dirty="0" err="1"/>
              <a:t>polyrepo</a:t>
            </a:r>
            <a:endParaRPr lang="en-US" dirty="0"/>
          </a:p>
          <a:p>
            <a:pPr marL="914400" lvl="1" indent="-457200">
              <a:buFont typeface="Arial" panose="020B0604020202020204" pitchFamily="34" charset="0"/>
              <a:buChar char="•"/>
            </a:pPr>
            <a:r>
              <a:rPr lang="en-US" dirty="0"/>
              <a:t>Mono repo</a:t>
            </a:r>
          </a:p>
          <a:p>
            <a:pPr marL="1114425" lvl="2" indent="-457200">
              <a:buFont typeface="Arial" panose="020B0604020202020204" pitchFamily="34" charset="0"/>
              <a:buChar char="•"/>
            </a:pPr>
            <a:r>
              <a:rPr lang="en-US" dirty="0"/>
              <a:t>Good for small projects with not a lot of environments</a:t>
            </a:r>
          </a:p>
          <a:p>
            <a:pPr marL="1114425" lvl="2" indent="-457200">
              <a:buFont typeface="Arial" panose="020B0604020202020204" pitchFamily="34" charset="0"/>
              <a:buChar char="•"/>
            </a:pPr>
            <a:r>
              <a:rPr lang="en-US" dirty="0"/>
              <a:t>Can be harder to scale as projects grow </a:t>
            </a:r>
          </a:p>
          <a:p>
            <a:pPr marL="1114425" lvl="2" indent="-457200">
              <a:buFont typeface="Arial" panose="020B0604020202020204" pitchFamily="34" charset="0"/>
              <a:buChar char="•"/>
            </a:pPr>
            <a:r>
              <a:rPr lang="en-US" dirty="0"/>
              <a:t>If using </a:t>
            </a:r>
            <a:r>
              <a:rPr lang="en-US" dirty="0" err="1"/>
              <a:t>GitOps</a:t>
            </a:r>
            <a:r>
              <a:rPr lang="en-US" dirty="0"/>
              <a:t> creates slower deployments by the </a:t>
            </a:r>
            <a:r>
              <a:rPr lang="en-US" dirty="0" err="1"/>
              <a:t>GitOps</a:t>
            </a:r>
            <a:r>
              <a:rPr lang="en-US" dirty="0"/>
              <a:t> Agents</a:t>
            </a:r>
          </a:p>
          <a:p>
            <a:pPr marL="914400" lvl="1" indent="-457200">
              <a:buFont typeface="Arial" panose="020B0604020202020204" pitchFamily="34" charset="0"/>
              <a:buChar char="•"/>
            </a:pPr>
            <a:r>
              <a:rPr lang="en-US" dirty="0"/>
              <a:t>Polyrepos</a:t>
            </a:r>
          </a:p>
          <a:p>
            <a:pPr marL="1114425" lvl="2" indent="-457200">
              <a:buFont typeface="Arial" panose="020B0604020202020204" pitchFamily="34" charset="0"/>
              <a:buChar char="•"/>
            </a:pPr>
            <a:r>
              <a:rPr lang="en-US" dirty="0"/>
              <a:t>Multiple repos per service used in deployments</a:t>
            </a:r>
          </a:p>
          <a:p>
            <a:pPr marL="1114425" lvl="2" indent="-457200">
              <a:buFont typeface="Arial" panose="020B0604020202020204" pitchFamily="34" charset="0"/>
              <a:buChar char="•"/>
            </a:pPr>
            <a:endParaRPr lang="en-US" dirty="0"/>
          </a:p>
        </p:txBody>
      </p:sp>
    </p:spTree>
    <p:extLst>
      <p:ext uri="{BB962C8B-B14F-4D97-AF65-F5344CB8AC3E}">
        <p14:creationId xmlns:p14="http://schemas.microsoft.com/office/powerpoint/2010/main" val="274275315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E1839-1EB2-6048-420C-3853457CBAE3}"/>
              </a:ext>
            </a:extLst>
          </p:cNvPr>
          <p:cNvSpPr>
            <a:spLocks noGrp="1"/>
          </p:cNvSpPr>
          <p:nvPr>
            <p:ph type="title"/>
          </p:nvPr>
        </p:nvSpPr>
        <p:spPr>
          <a:xfrm>
            <a:off x="435863" y="723900"/>
            <a:ext cx="11018520" cy="553998"/>
          </a:xfrm>
        </p:spPr>
        <p:txBody>
          <a:bodyPr/>
          <a:lstStyle/>
          <a:p>
            <a:r>
              <a:rPr lang="en-US"/>
              <a:t>Git Hub CICD - Push</a:t>
            </a:r>
            <a:endParaRPr lang="en-GB"/>
          </a:p>
        </p:txBody>
      </p:sp>
      <p:sp>
        <p:nvSpPr>
          <p:cNvPr id="3" name="Content Placeholder 2">
            <a:extLst>
              <a:ext uri="{FF2B5EF4-FFF2-40B4-BE49-F238E27FC236}">
                <a16:creationId xmlns:a16="http://schemas.microsoft.com/office/drawing/2014/main" id="{66994A30-E1C0-16ED-0217-CCF4B4ED06A6}"/>
              </a:ext>
            </a:extLst>
          </p:cNvPr>
          <p:cNvSpPr>
            <a:spLocks noGrp="1"/>
          </p:cNvSpPr>
          <p:nvPr>
            <p:ph sz="quarter" idx="12"/>
          </p:nvPr>
        </p:nvSpPr>
        <p:spPr/>
        <p:txBody>
          <a:bodyPr/>
          <a:lstStyle/>
          <a:p>
            <a:endParaRPr lang="en-GB"/>
          </a:p>
        </p:txBody>
      </p:sp>
      <p:sp>
        <p:nvSpPr>
          <p:cNvPr id="4" name="Content Placeholder 3">
            <a:extLst>
              <a:ext uri="{FF2B5EF4-FFF2-40B4-BE49-F238E27FC236}">
                <a16:creationId xmlns:a16="http://schemas.microsoft.com/office/drawing/2014/main" id="{5DC68932-2402-A47C-0330-CC77BECFF1D4}"/>
              </a:ext>
            </a:extLst>
          </p:cNvPr>
          <p:cNvSpPr>
            <a:spLocks noGrp="1"/>
          </p:cNvSpPr>
          <p:nvPr>
            <p:ph sz="quarter" idx="13"/>
          </p:nvPr>
        </p:nvSpPr>
        <p:spPr/>
        <p:txBody>
          <a:bodyPr/>
          <a:lstStyle/>
          <a:p>
            <a:endParaRPr lang="en-GB"/>
          </a:p>
        </p:txBody>
      </p:sp>
      <p:pic>
        <p:nvPicPr>
          <p:cNvPr id="1026" name="Picture 2" descr="Diagram of the push-based architecture with GitHub Actions.">
            <a:extLst>
              <a:ext uri="{FF2B5EF4-FFF2-40B4-BE49-F238E27FC236}">
                <a16:creationId xmlns:a16="http://schemas.microsoft.com/office/drawing/2014/main" id="{8074CDFD-48E9-4DFE-1D14-131CA70D2C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676400"/>
            <a:ext cx="762000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31553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2891A-498C-EDAA-D7DB-81D219A79F1E}"/>
              </a:ext>
            </a:extLst>
          </p:cNvPr>
          <p:cNvSpPr>
            <a:spLocks noGrp="1"/>
          </p:cNvSpPr>
          <p:nvPr>
            <p:ph type="title"/>
          </p:nvPr>
        </p:nvSpPr>
        <p:spPr/>
        <p:txBody>
          <a:bodyPr/>
          <a:lstStyle/>
          <a:p>
            <a:r>
              <a:rPr lang="en-GB"/>
              <a:t>Git Hub CICD – Pull 	</a:t>
            </a:r>
          </a:p>
        </p:txBody>
      </p:sp>
      <p:sp>
        <p:nvSpPr>
          <p:cNvPr id="4" name="Content Placeholder 3">
            <a:extLst>
              <a:ext uri="{FF2B5EF4-FFF2-40B4-BE49-F238E27FC236}">
                <a16:creationId xmlns:a16="http://schemas.microsoft.com/office/drawing/2014/main" id="{D8468D35-9490-1D6B-B2A9-4D6906F94D3D}"/>
              </a:ext>
            </a:extLst>
          </p:cNvPr>
          <p:cNvSpPr>
            <a:spLocks noGrp="1"/>
          </p:cNvSpPr>
          <p:nvPr>
            <p:ph sz="quarter" idx="13"/>
          </p:nvPr>
        </p:nvSpPr>
        <p:spPr/>
        <p:txBody>
          <a:bodyPr/>
          <a:lstStyle/>
          <a:p>
            <a:endParaRPr lang="en-GB"/>
          </a:p>
        </p:txBody>
      </p:sp>
      <p:pic>
        <p:nvPicPr>
          <p:cNvPr id="4098" name="Picture 2" descr="Diagram of GitOps with Argo CD, GitHub and AKS.">
            <a:extLst>
              <a:ext uri="{FF2B5EF4-FFF2-40B4-BE49-F238E27FC236}">
                <a16:creationId xmlns:a16="http://schemas.microsoft.com/office/drawing/2014/main" id="{EB6BD4D6-EA72-A329-1BEF-EA764E3A2965}"/>
              </a:ext>
            </a:extLst>
          </p:cNvPr>
          <p:cNvPicPr>
            <a:picLocks noGrp="1" noChangeAspect="1" noChangeArrowheads="1"/>
          </p:cNvPicPr>
          <p:nvPr>
            <p:ph sz="quarter" idx="12"/>
          </p:nvPr>
        </p:nvPicPr>
        <p:blipFill>
          <a:blip r:embed="rId3">
            <a:extLst>
              <a:ext uri="{28A0092B-C50C-407E-A947-70E740481C1C}">
                <a14:useLocalDpi xmlns:a14="http://schemas.microsoft.com/office/drawing/2010/main" val="0"/>
              </a:ext>
            </a:extLst>
          </a:blip>
          <a:srcRect/>
          <a:stretch>
            <a:fillRect/>
          </a:stretch>
        </p:blipFill>
        <p:spPr bwMode="auto">
          <a:xfrm>
            <a:off x="3657600" y="1752600"/>
            <a:ext cx="4587473" cy="4424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60705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796BE-BF7D-F1BB-B3BA-9BE1BC4CE07E}"/>
              </a:ext>
            </a:extLst>
          </p:cNvPr>
          <p:cNvSpPr>
            <a:spLocks noGrp="1"/>
          </p:cNvSpPr>
          <p:nvPr>
            <p:ph type="title"/>
          </p:nvPr>
        </p:nvSpPr>
        <p:spPr/>
        <p:txBody>
          <a:bodyPr/>
          <a:lstStyle/>
          <a:p>
            <a:r>
              <a:rPr lang="en-GB"/>
              <a:t>Git Hub CICD – Pull 	</a:t>
            </a:r>
          </a:p>
        </p:txBody>
      </p:sp>
      <p:sp>
        <p:nvSpPr>
          <p:cNvPr id="4" name="Content Placeholder 3">
            <a:extLst>
              <a:ext uri="{FF2B5EF4-FFF2-40B4-BE49-F238E27FC236}">
                <a16:creationId xmlns:a16="http://schemas.microsoft.com/office/drawing/2014/main" id="{FCC7C3CE-DF03-5AD5-842D-2F89FA69BB50}"/>
              </a:ext>
            </a:extLst>
          </p:cNvPr>
          <p:cNvSpPr>
            <a:spLocks noGrp="1"/>
          </p:cNvSpPr>
          <p:nvPr>
            <p:ph sz="quarter" idx="13"/>
          </p:nvPr>
        </p:nvSpPr>
        <p:spPr/>
        <p:txBody>
          <a:bodyPr/>
          <a:lstStyle/>
          <a:p>
            <a:endParaRPr lang="en-GB"/>
          </a:p>
        </p:txBody>
      </p:sp>
      <p:pic>
        <p:nvPicPr>
          <p:cNvPr id="5122" name="Picture 2" descr="Diagram of implementing CI/CD using GitOps with Argo CD, GitHub and AKS.">
            <a:extLst>
              <a:ext uri="{FF2B5EF4-FFF2-40B4-BE49-F238E27FC236}">
                <a16:creationId xmlns:a16="http://schemas.microsoft.com/office/drawing/2014/main" id="{8E6CD2CE-C839-206F-9343-A50FA3B957B8}"/>
              </a:ext>
            </a:extLst>
          </p:cNvPr>
          <p:cNvPicPr>
            <a:picLocks noGrp="1" noChangeAspect="1" noChangeArrowheads="1"/>
          </p:cNvPicPr>
          <p:nvPr>
            <p:ph sz="quarter" idx="12"/>
          </p:nvPr>
        </p:nvPicPr>
        <p:blipFill>
          <a:blip r:embed="rId3">
            <a:extLst>
              <a:ext uri="{28A0092B-C50C-407E-A947-70E740481C1C}">
                <a14:useLocalDpi xmlns:a14="http://schemas.microsoft.com/office/drawing/2010/main" val="0"/>
              </a:ext>
            </a:extLst>
          </a:blip>
          <a:srcRect/>
          <a:stretch>
            <a:fillRect/>
          </a:stretch>
        </p:blipFill>
        <p:spPr bwMode="auto">
          <a:xfrm>
            <a:off x="1598613" y="1524000"/>
            <a:ext cx="8407400" cy="4789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16616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3407B-819D-5FD7-0321-1508845D5810}"/>
              </a:ext>
            </a:extLst>
          </p:cNvPr>
          <p:cNvSpPr>
            <a:spLocks noGrp="1"/>
          </p:cNvSpPr>
          <p:nvPr>
            <p:ph type="title"/>
          </p:nvPr>
        </p:nvSpPr>
        <p:spPr/>
        <p:txBody>
          <a:bodyPr/>
          <a:lstStyle/>
          <a:p>
            <a:r>
              <a:rPr lang="en-GB"/>
              <a:t>Git Hub Federate Identity	</a:t>
            </a:r>
          </a:p>
        </p:txBody>
      </p:sp>
      <p:pic>
        <p:nvPicPr>
          <p:cNvPr id="3074" name="Picture 2" descr="Diagram of how a cloud provider integrates with GitHub Actions through access tokens and JSON web token cloud role IDs.">
            <a:extLst>
              <a:ext uri="{FF2B5EF4-FFF2-40B4-BE49-F238E27FC236}">
                <a16:creationId xmlns:a16="http://schemas.microsoft.com/office/drawing/2014/main" id="{DACC636B-36EE-5EF8-C9E6-129BC119EF4C}"/>
              </a:ext>
            </a:extLst>
          </p:cNvPr>
          <p:cNvPicPr>
            <a:picLocks noGrp="1" noChangeAspect="1" noChangeArrowheads="1"/>
          </p:cNvPicPr>
          <p:nvPr>
            <p:ph sz="quarter" idx="12"/>
          </p:nvPr>
        </p:nvPicPr>
        <p:blipFill>
          <a:blip r:embed="rId3">
            <a:extLst>
              <a:ext uri="{28A0092B-C50C-407E-A947-70E740481C1C}">
                <a14:useLocalDpi xmlns:a14="http://schemas.microsoft.com/office/drawing/2010/main" val="0"/>
              </a:ext>
            </a:extLst>
          </a:blip>
          <a:srcRect/>
          <a:stretch>
            <a:fillRect/>
          </a:stretch>
        </p:blipFill>
        <p:spPr bwMode="auto">
          <a:xfrm>
            <a:off x="1295400" y="1981200"/>
            <a:ext cx="9426759"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16076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E7AB3-6DEB-85DF-2CCB-353203057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22939-6C04-7BA5-0F47-618B19ADEFB5}"/>
              </a:ext>
            </a:extLst>
          </p:cNvPr>
          <p:cNvSpPr>
            <a:spLocks noGrp="1"/>
          </p:cNvSpPr>
          <p:nvPr>
            <p:ph type="title"/>
          </p:nvPr>
        </p:nvSpPr>
        <p:spPr/>
        <p:txBody>
          <a:bodyPr/>
          <a:lstStyle/>
          <a:p>
            <a:r>
              <a:rPr lang="en-GB" dirty="0"/>
              <a:t>OIDC Authenticate Azure from GitHub Action 	</a:t>
            </a:r>
          </a:p>
        </p:txBody>
      </p:sp>
      <p:sp>
        <p:nvSpPr>
          <p:cNvPr id="3" name="Content Placeholder 2">
            <a:extLst>
              <a:ext uri="{FF2B5EF4-FFF2-40B4-BE49-F238E27FC236}">
                <a16:creationId xmlns:a16="http://schemas.microsoft.com/office/drawing/2014/main" id="{3E48F19E-5825-1243-25F3-BCA2D3B03FDF}"/>
              </a:ext>
            </a:extLst>
          </p:cNvPr>
          <p:cNvSpPr>
            <a:spLocks noGrp="1"/>
          </p:cNvSpPr>
          <p:nvPr>
            <p:ph sz="quarter" idx="12"/>
          </p:nvPr>
        </p:nvSpPr>
        <p:spPr>
          <a:xfrm>
            <a:off x="584200" y="1844674"/>
            <a:ext cx="8901444" cy="3533275"/>
          </a:xfrm>
        </p:spPr>
        <p:txBody>
          <a:bodyPr/>
          <a:lstStyle/>
          <a:p>
            <a:r>
              <a:rPr lang="en-US" dirty="0"/>
              <a:t>Adding the federated credentials to Azure</a:t>
            </a:r>
          </a:p>
          <a:p>
            <a:endParaRPr lang="en-US" dirty="0"/>
          </a:p>
          <a:p>
            <a:r>
              <a:rPr lang="en-US" dirty="0"/>
              <a:t>Updating your GitHub Actions workflow</a:t>
            </a:r>
          </a:p>
          <a:p>
            <a:endParaRPr lang="en-US" dirty="0"/>
          </a:p>
          <a:p>
            <a:r>
              <a:rPr lang="en-US" dirty="0"/>
              <a:t>Adding permissions settings</a:t>
            </a:r>
          </a:p>
          <a:p>
            <a:endParaRPr lang="en-US" dirty="0"/>
          </a:p>
          <a:p>
            <a:r>
              <a:rPr lang="en-US" dirty="0"/>
              <a:t>Requesting the access token</a:t>
            </a:r>
          </a:p>
        </p:txBody>
      </p:sp>
    </p:spTree>
    <p:extLst>
      <p:ext uri="{BB962C8B-B14F-4D97-AF65-F5344CB8AC3E}">
        <p14:creationId xmlns:p14="http://schemas.microsoft.com/office/powerpoint/2010/main" val="151689719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573C0-6EC9-EBBD-259E-39B7C3B9BCA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A1AC40-735E-CB74-0017-236D837C389D}"/>
              </a:ext>
            </a:extLst>
          </p:cNvPr>
          <p:cNvSpPr>
            <a:spLocks noGrp="1"/>
          </p:cNvSpPr>
          <p:nvPr>
            <p:ph type="title"/>
            <p:custDataLst>
              <p:custData r:id="rId2"/>
            </p:custDataLst>
          </p:nvPr>
        </p:nvSpPr>
        <p:spPr/>
        <p:txBody>
          <a:bodyPr/>
          <a:lstStyle/>
          <a:p>
            <a:r>
              <a:rPr lang="en-US" dirty="0"/>
              <a:t>CI with Kubernetes</a:t>
            </a:r>
          </a:p>
        </p:txBody>
      </p:sp>
      <p:sp>
        <p:nvSpPr>
          <p:cNvPr id="2" name="Text Placeholder 1">
            <a:extLst>
              <a:ext uri="{FF2B5EF4-FFF2-40B4-BE49-F238E27FC236}">
                <a16:creationId xmlns:a16="http://schemas.microsoft.com/office/drawing/2014/main" id="{B3B27F9A-38CF-206D-84D2-E01D70CAE890}"/>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FA0B6446-0A13-60AE-4AF9-59E47F21E476}"/>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1BA7E13F-8985-0877-C1A0-894F0D65F4F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657891821"/>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wrap="square" anchor="ctr">
            <a:normAutofit/>
          </a:bodyPr>
          <a:lstStyle/>
          <a:p>
            <a:r>
              <a:rPr lang="en-US" dirty="0"/>
              <a:t>Typical CI workflow</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2"/>
          </p:nvPr>
        </p:nvSpPr>
        <p:spPr>
          <a:xfrm>
            <a:off x="437320" y="1650983"/>
            <a:ext cx="11297480" cy="4710059"/>
          </a:xfrm>
        </p:spPr>
        <p:txBody>
          <a:bodyPr wrap="square">
            <a:noAutofit/>
          </a:bodyPr>
          <a:lstStyle/>
          <a:p>
            <a:pPr marL="457200" indent="-457200">
              <a:lnSpc>
                <a:spcPct val="90000"/>
              </a:lnSpc>
              <a:buFont typeface="+mj-lt"/>
              <a:buAutoNum type="arabicPeriod"/>
            </a:pPr>
            <a:r>
              <a:rPr lang="en-US" sz="2200" dirty="0"/>
              <a:t>Developer uses an IDE, such as Visual Studio, to commit changes to GitHub or Azure DevOps.</a:t>
            </a:r>
          </a:p>
          <a:p>
            <a:pPr marL="457200" indent="-457200">
              <a:lnSpc>
                <a:spcPct val="90000"/>
              </a:lnSpc>
              <a:buFont typeface="+mj-lt"/>
              <a:buAutoNum type="arabicPeriod"/>
            </a:pPr>
            <a:r>
              <a:rPr lang="en-US" sz="2200" dirty="0"/>
              <a:t>A push to the backing git repo triggers a CI pipeline</a:t>
            </a:r>
          </a:p>
          <a:p>
            <a:pPr marL="457200" indent="-457200">
              <a:lnSpc>
                <a:spcPct val="90000"/>
              </a:lnSpc>
              <a:buFont typeface="+mj-lt"/>
              <a:buAutoNum type="arabicPeriod"/>
            </a:pPr>
            <a:r>
              <a:rPr lang="en-US" sz="2200" dirty="0"/>
              <a:t>CI Pipeline runs through standard linting, unit tests, SAST code scanning, secret scanning and DAST stages</a:t>
            </a:r>
          </a:p>
          <a:p>
            <a:pPr marL="457200" indent="-457200">
              <a:lnSpc>
                <a:spcPct val="90000"/>
              </a:lnSpc>
              <a:buFont typeface="+mj-lt"/>
              <a:buAutoNum type="arabicPeriod"/>
            </a:pPr>
            <a:r>
              <a:rPr lang="en-US" sz="2200" dirty="0"/>
              <a:t>Container </a:t>
            </a:r>
            <a:r>
              <a:rPr lang="en-US" sz="2200" dirty="0" err="1"/>
              <a:t>dockerfile</a:t>
            </a:r>
            <a:r>
              <a:rPr lang="en-US" sz="2200" dirty="0"/>
              <a:t> is linted for best practices</a:t>
            </a:r>
          </a:p>
          <a:p>
            <a:pPr marL="457200" indent="-457200">
              <a:lnSpc>
                <a:spcPct val="90000"/>
              </a:lnSpc>
              <a:buFont typeface="+mj-lt"/>
              <a:buAutoNum type="arabicPeriod"/>
            </a:pPr>
            <a:r>
              <a:rPr lang="en-US" sz="2200" dirty="0"/>
              <a:t>Pipeline then builds the container image using the </a:t>
            </a:r>
            <a:r>
              <a:rPr lang="en-US" sz="2200" dirty="0" err="1"/>
              <a:t>dockerfile</a:t>
            </a:r>
            <a:endParaRPr lang="en-US" sz="2200" dirty="0"/>
          </a:p>
          <a:p>
            <a:pPr marL="457200" indent="-457200">
              <a:lnSpc>
                <a:spcPct val="90000"/>
              </a:lnSpc>
              <a:buFont typeface="+mj-lt"/>
              <a:buAutoNum type="arabicPeriod"/>
            </a:pPr>
            <a:r>
              <a:rPr lang="en-US" sz="2200" dirty="0"/>
              <a:t>Container is then built, stamped with a unique tag (typically the </a:t>
            </a:r>
            <a:r>
              <a:rPr lang="en-US" sz="2200" dirty="0" err="1"/>
              <a:t>github</a:t>
            </a:r>
            <a:r>
              <a:rPr lang="en-US" sz="2200" dirty="0"/>
              <a:t> sha) and pushed to a container registry to be consumed by the CD pipeline or </a:t>
            </a:r>
            <a:r>
              <a:rPr lang="en-US" sz="2200" dirty="0" err="1"/>
              <a:t>GitOps</a:t>
            </a:r>
            <a:r>
              <a:rPr lang="en-US" sz="2200" dirty="0"/>
              <a:t> agent</a:t>
            </a:r>
          </a:p>
          <a:p>
            <a:pPr marL="457200" indent="-457200">
              <a:lnSpc>
                <a:spcPct val="90000"/>
              </a:lnSpc>
              <a:buFont typeface="+mj-lt"/>
              <a:buAutoNum type="arabicPeriod"/>
            </a:pPr>
            <a:endParaRPr lang="en-US" sz="2200" dirty="0"/>
          </a:p>
          <a:p>
            <a:pPr marL="0" indent="0">
              <a:lnSpc>
                <a:spcPct val="90000"/>
              </a:lnSpc>
              <a:buNone/>
            </a:pPr>
            <a:r>
              <a:rPr lang="en-US" sz="2200" dirty="0"/>
              <a:t>We are mainly concerned with the container stages here. </a:t>
            </a:r>
          </a:p>
        </p:txBody>
      </p:sp>
    </p:spTree>
    <p:extLst>
      <p:ext uri="{BB962C8B-B14F-4D97-AF65-F5344CB8AC3E}">
        <p14:creationId xmlns:p14="http://schemas.microsoft.com/office/powerpoint/2010/main" val="21763833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wrap="square" anchor="ctr">
            <a:normAutofit/>
          </a:bodyPr>
          <a:lstStyle/>
          <a:p>
            <a:r>
              <a:rPr lang="en-US" dirty="0"/>
              <a:t>Image linting </a:t>
            </a:r>
            <a:r>
              <a:rPr lang="en-US" dirty="0" err="1"/>
              <a:t>dockerfiles</a:t>
            </a:r>
            <a:r>
              <a:rPr lang="en-US" dirty="0"/>
              <a:t>, building, and scanning</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2"/>
          </p:nvPr>
        </p:nvSpPr>
        <p:spPr>
          <a:xfrm>
            <a:off x="584201" y="1844674"/>
            <a:ext cx="11018520" cy="4424363"/>
          </a:xfrm>
        </p:spPr>
        <p:txBody>
          <a:bodyPr wrap="square">
            <a:normAutofit/>
          </a:bodyPr>
          <a:lstStyle/>
          <a:p>
            <a:pPr marL="233363" indent="-233363">
              <a:buFont typeface="Arial" panose="020B0604020202020204" pitchFamily="34" charset="0"/>
              <a:buChar char="•"/>
            </a:pPr>
            <a:r>
              <a:rPr lang="en-US" sz="2400" dirty="0"/>
              <a:t>Security is core piece of effective DevOps and </a:t>
            </a:r>
            <a:r>
              <a:rPr lang="en-US" sz="2400" dirty="0" err="1"/>
              <a:t>GitOps</a:t>
            </a:r>
            <a:r>
              <a:rPr lang="en-US" sz="2400" dirty="0"/>
              <a:t> practices.</a:t>
            </a:r>
          </a:p>
          <a:p>
            <a:pPr marL="233363" indent="-233363">
              <a:buFont typeface="Arial" panose="020B0604020202020204" pitchFamily="34" charset="0"/>
              <a:buChar char="•"/>
            </a:pPr>
            <a:r>
              <a:rPr lang="en-US" sz="2400" dirty="0"/>
              <a:t>Incorporating a </a:t>
            </a:r>
            <a:r>
              <a:rPr lang="en-US" sz="2400" dirty="0" err="1"/>
              <a:t>Dockerfile</a:t>
            </a:r>
            <a:r>
              <a:rPr lang="en-US" sz="2400" dirty="0"/>
              <a:t> linting stage in the CI Pipeline is essential to finding issues within the file before the image is built</a:t>
            </a:r>
          </a:p>
          <a:p>
            <a:pPr marL="233363" indent="-233363">
              <a:buFont typeface="Arial" panose="020B0604020202020204" pitchFamily="34" charset="0"/>
              <a:buChar char="•"/>
            </a:pPr>
            <a:r>
              <a:rPr lang="en-US" sz="2400" dirty="0"/>
              <a:t>Tools like </a:t>
            </a:r>
            <a:r>
              <a:rPr lang="en-US" sz="2400" dirty="0">
                <a:hlinkClick r:id="rId3"/>
              </a:rPr>
              <a:t>Dockle</a:t>
            </a:r>
            <a:r>
              <a:rPr lang="en-US" sz="2400" dirty="0"/>
              <a:t> can be used here to lint those files. This should run before an image build.</a:t>
            </a:r>
          </a:p>
          <a:p>
            <a:pPr marL="233363" indent="-233363">
              <a:buFont typeface="Arial" panose="020B0604020202020204" pitchFamily="34" charset="0"/>
              <a:buChar char="•"/>
            </a:pPr>
            <a:r>
              <a:rPr lang="en-US" sz="2400" dirty="0"/>
              <a:t>After the image is built an image scanner should run in the pipeline to scan the completed image for issues present. </a:t>
            </a:r>
          </a:p>
          <a:p>
            <a:pPr marL="233363" indent="-233363">
              <a:buFont typeface="Arial" panose="020B0604020202020204" pitchFamily="34" charset="0"/>
              <a:buChar char="•"/>
            </a:pPr>
            <a:r>
              <a:rPr lang="en-US" sz="2400" dirty="0"/>
              <a:t>Defender can be leveraged here or other 3</a:t>
            </a:r>
            <a:r>
              <a:rPr lang="en-US" sz="2400" baseline="30000" dirty="0"/>
              <a:t>rd</a:t>
            </a:r>
            <a:r>
              <a:rPr lang="en-US" sz="2400" dirty="0"/>
              <a:t> parties or open-source alternatives like </a:t>
            </a:r>
            <a:r>
              <a:rPr lang="en-US" sz="2400" dirty="0">
                <a:hlinkClick r:id="rId4"/>
              </a:rPr>
              <a:t>Trivy</a:t>
            </a:r>
            <a:r>
              <a:rPr lang="en-US" sz="2400" dirty="0"/>
              <a:t> </a:t>
            </a:r>
          </a:p>
          <a:p>
            <a:pPr marL="233363" indent="-233363">
              <a:buFont typeface="Arial" panose="020B0604020202020204" pitchFamily="34" charset="0"/>
              <a:buChar char="•"/>
            </a:pPr>
            <a:endParaRPr lang="en-US" sz="2400" dirty="0"/>
          </a:p>
        </p:txBody>
      </p:sp>
    </p:spTree>
    <p:extLst>
      <p:ext uri="{BB962C8B-B14F-4D97-AF65-F5344CB8AC3E}">
        <p14:creationId xmlns:p14="http://schemas.microsoft.com/office/powerpoint/2010/main" val="199333685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2295C-B744-3D12-055A-E5EA30ACF34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ADC902-A7F2-60CC-71CF-1BCDAB1BB558}"/>
              </a:ext>
            </a:extLst>
          </p:cNvPr>
          <p:cNvSpPr>
            <a:spLocks noGrp="1"/>
          </p:cNvSpPr>
          <p:nvPr>
            <p:ph type="title"/>
            <p:custDataLst>
              <p:custData r:id="rId2"/>
            </p:custDataLst>
          </p:nvPr>
        </p:nvSpPr>
        <p:spPr/>
        <p:txBody>
          <a:bodyPr/>
          <a:lstStyle/>
          <a:p>
            <a:r>
              <a:rPr lang="en-US" dirty="0"/>
              <a:t>CD with Kubernetes</a:t>
            </a:r>
          </a:p>
        </p:txBody>
      </p:sp>
      <p:sp>
        <p:nvSpPr>
          <p:cNvPr id="2" name="Text Placeholder 1">
            <a:extLst>
              <a:ext uri="{FF2B5EF4-FFF2-40B4-BE49-F238E27FC236}">
                <a16:creationId xmlns:a16="http://schemas.microsoft.com/office/drawing/2014/main" id="{3963BCA2-999B-D00B-3541-216F0D283AA0}"/>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1FC8FFF2-EF43-20FC-2082-182B81341805}"/>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ED3BCB55-E013-9466-02B3-17CC826AB966}"/>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618174709"/>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wrap="square" anchor="ctr">
            <a:normAutofit/>
          </a:bodyPr>
          <a:lstStyle/>
          <a:p>
            <a:r>
              <a:rPr lang="en-US" dirty="0"/>
              <a:t>Complex Deployments with Helm</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2"/>
          </p:nvPr>
        </p:nvSpPr>
        <p:spPr>
          <a:xfrm>
            <a:off x="437321" y="1600200"/>
            <a:ext cx="8249479" cy="5029200"/>
          </a:xfrm>
        </p:spPr>
        <p:txBody>
          <a:bodyPr wrap="square">
            <a:noAutofit/>
          </a:bodyPr>
          <a:lstStyle/>
          <a:p>
            <a:pPr>
              <a:buFont typeface="Arial" panose="020B0604020202020204" pitchFamily="34" charset="0"/>
              <a:buChar char="•"/>
            </a:pPr>
            <a:r>
              <a:rPr lang="en-US" sz="2200" dirty="0"/>
              <a:t>Complex applications, that utilize multiple microservices, need a more detailed deployment process.</a:t>
            </a:r>
          </a:p>
          <a:p>
            <a:pPr>
              <a:buFont typeface="Arial" panose="020B0604020202020204" pitchFamily="34" charset="0"/>
              <a:buChar char="•"/>
            </a:pPr>
            <a:r>
              <a:rPr lang="en-US" sz="2200" dirty="0"/>
              <a:t>Rather than updating individual deployments using “</a:t>
            </a:r>
            <a:r>
              <a:rPr lang="en-US" sz="2200" b="1" dirty="0" err="1"/>
              <a:t>kubectl</a:t>
            </a:r>
            <a:r>
              <a:rPr lang="en-US" sz="2200" b="1" dirty="0"/>
              <a:t> apply</a:t>
            </a:r>
            <a:r>
              <a:rPr lang="en-US" sz="2200" dirty="0"/>
              <a:t>”, the CD process uses </a:t>
            </a:r>
            <a:r>
              <a:rPr lang="en-US" sz="2200" b="1" dirty="0"/>
              <a:t>Helm</a:t>
            </a:r>
            <a:r>
              <a:rPr lang="en-US" sz="2200" dirty="0"/>
              <a:t> to upgrade the application as a complete system.</a:t>
            </a:r>
          </a:p>
          <a:p>
            <a:pPr>
              <a:buFont typeface="Arial" panose="020B0604020202020204" pitchFamily="34" charset="0"/>
              <a:buChar char="•"/>
            </a:pPr>
            <a:r>
              <a:rPr lang="en-US" sz="2200" dirty="0"/>
              <a:t>If the “latest” version of each microservice is deployed, then Helm can simply do an upgrade without any changes.</a:t>
            </a:r>
          </a:p>
          <a:p>
            <a:pPr>
              <a:buFont typeface="Arial" panose="020B0604020202020204" pitchFamily="34" charset="0"/>
              <a:buChar char="•"/>
            </a:pPr>
            <a:r>
              <a:rPr lang="en-US" sz="2200" dirty="0"/>
              <a:t>However, it’s best practice not to use the “latest” tag of any container (public or custom) in a production application.</a:t>
            </a:r>
          </a:p>
          <a:p>
            <a:pPr>
              <a:buFont typeface="Arial" panose="020B0604020202020204" pitchFamily="34" charset="0"/>
              <a:buChar char="•"/>
            </a:pPr>
            <a:r>
              <a:rPr lang="en-US" sz="2200" dirty="0"/>
              <a:t>To correctly upgrade a chart, Helm needs to know the specific version of each microservice to deploy.</a:t>
            </a:r>
          </a:p>
          <a:p>
            <a:pPr>
              <a:buFont typeface="Arial" panose="020B0604020202020204" pitchFamily="34" charset="0"/>
              <a:buChar char="•"/>
            </a:pPr>
            <a:r>
              <a:rPr lang="en-US" sz="2200" dirty="0"/>
              <a:t>Staging and production pipelines usually need to be able to deploy different versions of each microservice.</a:t>
            </a:r>
          </a:p>
        </p:txBody>
      </p:sp>
    </p:spTree>
    <p:extLst>
      <p:ext uri="{BB962C8B-B14F-4D97-AF65-F5344CB8AC3E}">
        <p14:creationId xmlns:p14="http://schemas.microsoft.com/office/powerpoint/2010/main" val="14867018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a:xfrm>
            <a:off x="588263" y="457200"/>
            <a:ext cx="11018520" cy="553998"/>
          </a:xfrm>
        </p:spPr>
        <p:txBody>
          <a:bodyPr wrap="square" anchor="ctr">
            <a:normAutofit/>
          </a:bodyPr>
          <a:lstStyle/>
          <a:p>
            <a:r>
              <a:rPr lang="en-US" dirty="0"/>
              <a:t>Microservice Azure DevOps CI/CD Process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2"/>
          </p:nvPr>
        </p:nvSpPr>
        <p:spPr>
          <a:xfrm>
            <a:off x="584201" y="1447800"/>
            <a:ext cx="11074399" cy="5029200"/>
          </a:xfrm>
        </p:spPr>
        <p:txBody>
          <a:bodyPr wrap="square">
            <a:noAutofit/>
          </a:bodyPr>
          <a:lstStyle/>
          <a:p>
            <a:pPr marL="0" indent="0">
              <a:buNone/>
            </a:pPr>
            <a:r>
              <a:rPr lang="en-US" sz="2400" dirty="0"/>
              <a:t>The microservice DevOps CI/CD process consists of the following parts:</a:t>
            </a:r>
          </a:p>
          <a:p>
            <a:pPr marL="233363" indent="-233363">
              <a:buFont typeface="Arial" panose="020B0604020202020204" pitchFamily="34" charset="0"/>
              <a:buChar char="•"/>
            </a:pPr>
            <a:r>
              <a:rPr lang="en-US" sz="2000" b="1" dirty="0"/>
              <a:t>Code Repository</a:t>
            </a:r>
            <a:r>
              <a:rPr lang="en-US" sz="2000" dirty="0"/>
              <a:t> – Contains the microservice source code.</a:t>
            </a:r>
          </a:p>
          <a:p>
            <a:pPr marL="233363" indent="-233363">
              <a:buFont typeface="Arial" panose="020B0604020202020204" pitchFamily="34" charset="0"/>
              <a:buChar char="•"/>
            </a:pPr>
            <a:r>
              <a:rPr lang="en-US" sz="2000" b="1" dirty="0"/>
              <a:t>Build Pipeline</a:t>
            </a:r>
            <a:r>
              <a:rPr lang="en-US" sz="2000" dirty="0"/>
              <a:t> – Triggers when source code is checked in or a pull request is made.</a:t>
            </a:r>
          </a:p>
          <a:p>
            <a:pPr marL="461963" lvl="1" indent="-233363">
              <a:buFont typeface="Arial" panose="020B0604020202020204" pitchFamily="34" charset="0"/>
              <a:buChar char="•"/>
            </a:pPr>
            <a:r>
              <a:rPr lang="en-US" sz="1800" dirty="0"/>
              <a:t>A Build Number is used to uniquely identify the image about to be built.  Can be built-in or generated.</a:t>
            </a:r>
          </a:p>
          <a:p>
            <a:pPr marL="461963" lvl="1" indent="-233363">
              <a:buFont typeface="Arial" panose="020B0604020202020204" pitchFamily="34" charset="0"/>
              <a:buChar char="•"/>
            </a:pPr>
            <a:r>
              <a:rPr lang="en-US" sz="1800" dirty="0"/>
              <a:t>A Docker </a:t>
            </a:r>
            <a:r>
              <a:rPr lang="en-US" sz="1800" i="1" u="sng" dirty="0"/>
              <a:t>build</a:t>
            </a:r>
            <a:r>
              <a:rPr lang="en-US" sz="1800" dirty="0"/>
              <a:t> task builds an image based on the </a:t>
            </a:r>
            <a:r>
              <a:rPr lang="en-US" sz="1800" dirty="0" err="1"/>
              <a:t>Dockerfile</a:t>
            </a:r>
            <a:r>
              <a:rPr lang="en-US" sz="1800" dirty="0"/>
              <a:t> included with the source code.  It uses the Build Number (or variation of it) as the image’s tag.</a:t>
            </a:r>
          </a:p>
          <a:p>
            <a:pPr marL="461963" lvl="1" indent="-233363">
              <a:buFont typeface="Arial" panose="020B0604020202020204" pitchFamily="34" charset="0"/>
              <a:buChar char="•"/>
            </a:pPr>
            <a:r>
              <a:rPr lang="en-US" sz="1800" dirty="0"/>
              <a:t>A Docker </a:t>
            </a:r>
            <a:r>
              <a:rPr lang="en-US" sz="1800" i="1" u="sng" dirty="0"/>
              <a:t>push</a:t>
            </a:r>
            <a:r>
              <a:rPr lang="en-US" sz="1800" dirty="0"/>
              <a:t> task pushes the image to a container registry.</a:t>
            </a:r>
          </a:p>
          <a:p>
            <a:pPr marL="233363" indent="-233363">
              <a:buFont typeface="Arial" panose="020B0604020202020204" pitchFamily="34" charset="0"/>
              <a:buChar char="•"/>
            </a:pPr>
            <a:endParaRPr lang="en-US" sz="2200" dirty="0"/>
          </a:p>
        </p:txBody>
      </p:sp>
      <p:sp>
        <p:nvSpPr>
          <p:cNvPr id="5" name="Content Placeholder 2">
            <a:extLst>
              <a:ext uri="{FF2B5EF4-FFF2-40B4-BE49-F238E27FC236}">
                <a16:creationId xmlns:a16="http://schemas.microsoft.com/office/drawing/2014/main" id="{0AC7745E-2953-43B1-A3AF-4B148A83F1C1}"/>
              </a:ext>
            </a:extLst>
          </p:cNvPr>
          <p:cNvSpPr txBox="1">
            <a:spLocks/>
          </p:cNvSpPr>
          <p:nvPr/>
        </p:nvSpPr>
        <p:spPr>
          <a:xfrm>
            <a:off x="584201" y="3868327"/>
            <a:ext cx="8712199" cy="1541873"/>
          </a:xfrm>
          <a:prstGeom prst="rect">
            <a:avLst/>
          </a:prstGeom>
        </p:spPr>
        <p:txBody>
          <a:bodyPr vert="horz" wrap="square" lIns="0" tIns="0" rIns="0" bIns="0" rtlCol="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33363" indent="-233363">
              <a:buFont typeface="Arial" panose="020B0604020202020204" pitchFamily="34" charset="0"/>
              <a:buChar char="•"/>
            </a:pPr>
            <a:r>
              <a:rPr lang="en-US" sz="2000" b="1" dirty="0"/>
              <a:t>Release Pipeline</a:t>
            </a:r>
            <a:r>
              <a:rPr lang="en-US" sz="2000" dirty="0"/>
              <a:t> – Triggers when </a:t>
            </a:r>
            <a:r>
              <a:rPr lang="en-US" sz="2000" u="sng" dirty="0"/>
              <a:t>ANY</a:t>
            </a:r>
            <a:r>
              <a:rPr lang="en-US" sz="2000" dirty="0"/>
              <a:t> associated Build completes</a:t>
            </a:r>
          </a:p>
          <a:p>
            <a:pPr marL="461963" lvl="1" indent="-233363">
              <a:buFont typeface="Arial" panose="020B0604020202020204" pitchFamily="34" charset="0"/>
              <a:buChar char="•"/>
            </a:pPr>
            <a:r>
              <a:rPr lang="en-US" sz="1800" dirty="0"/>
              <a:t>A </a:t>
            </a:r>
            <a:r>
              <a:rPr lang="en-US" sz="1800" dirty="0" err="1"/>
              <a:t>RegEx</a:t>
            </a:r>
            <a:r>
              <a:rPr lang="en-US" sz="1800" dirty="0"/>
              <a:t> task updates all the tags in a copy of the </a:t>
            </a:r>
            <a:r>
              <a:rPr lang="en-US" sz="1800" b="1" dirty="0" err="1"/>
              <a:t>values.yaml</a:t>
            </a:r>
            <a:r>
              <a:rPr lang="en-US" sz="1800" b="1" dirty="0"/>
              <a:t> </a:t>
            </a:r>
            <a:r>
              <a:rPr lang="en-US" sz="1800" dirty="0"/>
              <a:t>file.</a:t>
            </a:r>
          </a:p>
          <a:p>
            <a:pPr marL="461963" lvl="1" indent="-233363">
              <a:buFont typeface="Arial" panose="020B0604020202020204" pitchFamily="34" charset="0"/>
              <a:buChar char="•"/>
            </a:pPr>
            <a:r>
              <a:rPr lang="en-US" sz="1800" dirty="0"/>
              <a:t>A Helm task uses the updated values file to upgrade the chart:</a:t>
            </a:r>
          </a:p>
          <a:p>
            <a:pPr marL="228600" lvl="1" indent="0">
              <a:buFont typeface="Wingdings" panose="05000000000000000000" pitchFamily="2" charset="2"/>
              <a:buNone/>
            </a:pPr>
            <a:r>
              <a:rPr lang="en-US" sz="1600" b="1" dirty="0">
                <a:solidFill>
                  <a:schemeClr val="accent1"/>
                </a:solidFill>
                <a:latin typeface="Courier New" panose="02070309020205020404" pitchFamily="49" charset="0"/>
                <a:ea typeface="Segoe UI" pitchFamily="34" charset="0"/>
                <a:cs typeface="Courier New" panose="02070309020205020404" pitchFamily="49" charset="0"/>
              </a:rPr>
              <a:t>	helm upgrade </a:t>
            </a:r>
            <a:r>
              <a:rPr lang="en-US" sz="1600" b="1" dirty="0" err="1">
                <a:solidFill>
                  <a:schemeClr val="accent1"/>
                </a:solidFill>
                <a:latin typeface="Courier New" panose="02070309020205020404" pitchFamily="49" charset="0"/>
                <a:ea typeface="Segoe UI" pitchFamily="34" charset="0"/>
                <a:cs typeface="Courier New" panose="02070309020205020404" pitchFamily="49" charset="0"/>
              </a:rPr>
              <a:t>myrelease</a:t>
            </a:r>
            <a:r>
              <a:rPr lang="en-US" sz="16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600" b="1" dirty="0" err="1">
                <a:solidFill>
                  <a:schemeClr val="accent1"/>
                </a:solidFill>
                <a:latin typeface="Courier New" panose="02070309020205020404" pitchFamily="49" charset="0"/>
                <a:ea typeface="Segoe UI" pitchFamily="34" charset="0"/>
                <a:cs typeface="Courier New" panose="02070309020205020404" pitchFamily="49" charset="0"/>
              </a:rPr>
              <a:t>mychart</a:t>
            </a:r>
            <a:r>
              <a:rPr lang="en-US" sz="1600" b="1" dirty="0">
                <a:solidFill>
                  <a:schemeClr val="accent1"/>
                </a:solidFill>
                <a:latin typeface="Courier New" panose="02070309020205020404" pitchFamily="49" charset="0"/>
                <a:ea typeface="Segoe UI" pitchFamily="34" charset="0"/>
                <a:cs typeface="Courier New" panose="02070309020205020404" pitchFamily="49" charset="0"/>
              </a:rPr>
              <a:t> –-install –f </a:t>
            </a:r>
            <a:r>
              <a:rPr lang="en-US" sz="1600" b="1" dirty="0" err="1">
                <a:solidFill>
                  <a:schemeClr val="accent1"/>
                </a:solidFill>
                <a:latin typeface="Courier New" panose="02070309020205020404" pitchFamily="49" charset="0"/>
                <a:ea typeface="Segoe UI" pitchFamily="34" charset="0"/>
                <a:cs typeface="Courier New" panose="02070309020205020404" pitchFamily="49" charset="0"/>
              </a:rPr>
              <a:t>updatedvalues.yaml</a:t>
            </a:r>
            <a:endParaRPr lang="en-US" dirty="0"/>
          </a:p>
        </p:txBody>
      </p:sp>
    </p:spTree>
    <p:extLst>
      <p:ext uri="{BB962C8B-B14F-4D97-AF65-F5344CB8AC3E}">
        <p14:creationId xmlns:p14="http://schemas.microsoft.com/office/powerpoint/2010/main" val="1949840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fade">
                                      <p:cBhvr>
                                        <p:cTn id="32" dur="5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fade">
                                      <p:cBhvr>
                                        <p:cTn id="37" dur="500"/>
                                        <p:tgtEl>
                                          <p:spTgt spid="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fade">
                                      <p:cBhvr>
                                        <p:cTn id="42" dur="500"/>
                                        <p:tgtEl>
                                          <p:spTgt spid="5">
                                            <p:txEl>
                                              <p:pRg st="2" end="2"/>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animEffect transition="in" filter="fade">
                                      <p:cBhvr>
                                        <p:cTn id="4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C155-E879-C845-C016-26C2E0EFB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E9411-5DFD-3C6B-3164-8116E7D6F591}"/>
              </a:ext>
            </a:extLst>
          </p:cNvPr>
          <p:cNvSpPr>
            <a:spLocks noGrp="1"/>
          </p:cNvSpPr>
          <p:nvPr>
            <p:ph type="title"/>
          </p:nvPr>
        </p:nvSpPr>
        <p:spPr>
          <a:xfrm>
            <a:off x="588263" y="457200"/>
            <a:ext cx="11018520" cy="553998"/>
          </a:xfrm>
        </p:spPr>
        <p:txBody>
          <a:bodyPr wrap="square" anchor="ctr">
            <a:normAutofit/>
          </a:bodyPr>
          <a:lstStyle/>
          <a:p>
            <a:r>
              <a:rPr lang="en-US" dirty="0"/>
              <a:t>Microservice Azure DevOps CI/CD Process</a:t>
            </a:r>
          </a:p>
        </p:txBody>
      </p:sp>
      <p:pic>
        <p:nvPicPr>
          <p:cNvPr id="8" name="Content Placeholder 7">
            <a:extLst>
              <a:ext uri="{FF2B5EF4-FFF2-40B4-BE49-F238E27FC236}">
                <a16:creationId xmlns:a16="http://schemas.microsoft.com/office/drawing/2014/main" id="{51ECA423-1E9E-7C87-16A2-0F38D2ACFEC8}"/>
              </a:ext>
            </a:extLst>
          </p:cNvPr>
          <p:cNvPicPr>
            <a:picLocks noGrp="1" noChangeAspect="1"/>
          </p:cNvPicPr>
          <p:nvPr>
            <p:ph sz="quarter" idx="12"/>
          </p:nvPr>
        </p:nvPicPr>
        <p:blipFill>
          <a:blip r:embed="rId3"/>
          <a:stretch>
            <a:fillRect/>
          </a:stretch>
        </p:blipFill>
        <p:spPr>
          <a:xfrm>
            <a:off x="976085" y="1863665"/>
            <a:ext cx="10368503" cy="4466797"/>
          </a:xfrm>
          <a:prstGeom prst="rect">
            <a:avLst/>
          </a:prstGeom>
        </p:spPr>
      </p:pic>
    </p:spTree>
    <p:extLst>
      <p:ext uri="{BB962C8B-B14F-4D97-AF65-F5344CB8AC3E}">
        <p14:creationId xmlns:p14="http://schemas.microsoft.com/office/powerpoint/2010/main" val="166831725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ABC78-A9A4-0048-C3F3-4EEF6E49FA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0EB7C9-AE49-90CE-CC2D-769C5E0DB37C}"/>
              </a:ext>
            </a:extLst>
          </p:cNvPr>
          <p:cNvSpPr>
            <a:spLocks noGrp="1"/>
          </p:cNvSpPr>
          <p:nvPr>
            <p:ph type="title"/>
          </p:nvPr>
        </p:nvSpPr>
        <p:spPr/>
        <p:txBody>
          <a:bodyPr/>
          <a:lstStyle/>
          <a:p>
            <a:r>
              <a:rPr lang="en-US"/>
              <a:t>Demonstration </a:t>
            </a:r>
          </a:p>
        </p:txBody>
      </p:sp>
      <p:sp>
        <p:nvSpPr>
          <p:cNvPr id="17" name="Rectangle 16">
            <a:extLst>
              <a:ext uri="{FF2B5EF4-FFF2-40B4-BE49-F238E27FC236}">
                <a16:creationId xmlns:a16="http://schemas.microsoft.com/office/drawing/2014/main" id="{01C35FF7-A83D-EDFC-BD3B-C736A94AFD0C}"/>
              </a:ext>
            </a:extLst>
          </p:cNvPr>
          <p:cNvSpPr>
            <a:spLocks/>
          </p:cNvSpPr>
          <p:nvPr/>
        </p:nvSpPr>
        <p:spPr bwMode="auto">
          <a:xfrm>
            <a:off x="0" y="2343006"/>
            <a:ext cx="12068070" cy="356100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66928" tIns="192024" rIns="182880" bIns="18288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2000" dirty="0">
                <a:solidFill>
                  <a:schemeClr val="tx1"/>
                </a:solidFill>
                <a:latin typeface="+mj-lt"/>
                <a:ea typeface="Segoe UI" pitchFamily="34" charset="0"/>
                <a:cs typeface="Segoe UI" pitchFamily="34" charset="0"/>
              </a:rPr>
              <a:t>Build App using CI</a:t>
            </a:r>
          </a:p>
          <a:p>
            <a:pPr algn="l" defTabSz="932472" fontAlgn="base">
              <a:spcBef>
                <a:spcPts val="100"/>
              </a:spcBef>
              <a:spcAft>
                <a:spcPts val="100"/>
              </a:spcAft>
            </a:pPr>
            <a:endParaRPr lang="en-US" sz="2000" dirty="0">
              <a:solidFill>
                <a:schemeClr val="tx1"/>
              </a:solidFill>
              <a:latin typeface="+mj-lt"/>
              <a:ea typeface="Segoe UI" pitchFamily="34" charset="0"/>
              <a:cs typeface="Segoe UI" pitchFamily="34" charset="0"/>
            </a:endParaRPr>
          </a:p>
          <a:p>
            <a:pPr algn="l" defTabSz="932472" fontAlgn="base">
              <a:spcBef>
                <a:spcPts val="100"/>
              </a:spcBef>
              <a:spcAft>
                <a:spcPts val="100"/>
              </a:spcAft>
            </a:pPr>
            <a:r>
              <a:rPr lang="en-US" sz="2000" dirty="0">
                <a:solidFill>
                  <a:schemeClr val="tx1"/>
                </a:solidFill>
                <a:latin typeface="+mj-lt"/>
                <a:ea typeface="Segoe UI" pitchFamily="34" charset="0"/>
                <a:cs typeface="Segoe UI" pitchFamily="34" charset="0"/>
              </a:rPr>
              <a:t>Deploy to AKS using CD</a:t>
            </a:r>
          </a:p>
        </p:txBody>
      </p:sp>
      <p:sp>
        <p:nvSpPr>
          <p:cNvPr id="12" name="Footer Placeholder 3">
            <a:extLst>
              <a:ext uri="{FF2B5EF4-FFF2-40B4-BE49-F238E27FC236}">
                <a16:creationId xmlns:a16="http://schemas.microsoft.com/office/drawing/2014/main" id="{2904AA74-13F0-A926-699B-2A2CF0652922}"/>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3" name="Slide Number Placeholder 7">
            <a:extLst>
              <a:ext uri="{FF2B5EF4-FFF2-40B4-BE49-F238E27FC236}">
                <a16:creationId xmlns:a16="http://schemas.microsoft.com/office/drawing/2014/main" id="{CCFC3CFB-0770-7D0B-D021-220A93B842EF}"/>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22</a:t>
            </a:fld>
            <a:endParaRPr lang="en-US" noProof="0"/>
          </a:p>
        </p:txBody>
      </p:sp>
      <p:sp>
        <p:nvSpPr>
          <p:cNvPr id="5" name="Text Placeholder 4">
            <a:extLst>
              <a:ext uri="{FF2B5EF4-FFF2-40B4-BE49-F238E27FC236}">
                <a16:creationId xmlns:a16="http://schemas.microsoft.com/office/drawing/2014/main" id="{13A46ADC-57D1-052F-955A-3744EFAB161E}"/>
              </a:ext>
            </a:extLst>
          </p:cNvPr>
          <p:cNvSpPr>
            <a:spLocks noGrp="1"/>
          </p:cNvSpPr>
          <p:nvPr>
            <p:ph type="body" sz="quarter" idx="12"/>
          </p:nvPr>
        </p:nvSpPr>
        <p:spPr/>
        <p:txBody>
          <a:bodyPr/>
          <a:lstStyle/>
          <a:p>
            <a:endParaRPr lang="en-US"/>
          </a:p>
        </p:txBody>
      </p:sp>
    </p:spTree>
    <p:custDataLst>
      <p:tags r:id="rId1"/>
    </p:custDataLst>
    <p:extLst>
      <p:ext uri="{BB962C8B-B14F-4D97-AF65-F5344CB8AC3E}">
        <p14:creationId xmlns:p14="http://schemas.microsoft.com/office/powerpoint/2010/main" val="1071208998"/>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9F8841-BBBD-4248-A6AA-670EAC63CDC4}"/>
              </a:ext>
              <a:ext uri="{C183D7F6-B498-43B3-948B-1728B52AA6E4}">
                <adec:decorative xmlns:adec="http://schemas.microsoft.com/office/drawing/2017/decorative" val="1"/>
              </a:ext>
            </a:extLst>
          </p:cNvPr>
          <p:cNvSpPr/>
          <p:nvPr/>
        </p:nvSpPr>
        <p:spPr bwMode="auto">
          <a:xfrm>
            <a:off x="0" y="1963513"/>
            <a:ext cx="12192000" cy="292780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a:xfrm>
            <a:off x="575481" y="2965749"/>
            <a:ext cx="11018520" cy="923330"/>
          </a:xfrm>
        </p:spPr>
        <p:txBody>
          <a:bodyPr>
            <a:spAutoFit/>
          </a:bodyPr>
          <a:lstStyle/>
          <a:p>
            <a:r>
              <a:rPr lang="en-US" sz="6000">
                <a:solidFill>
                  <a:schemeClr val="bg1"/>
                </a:solidFill>
              </a:rPr>
              <a:t>Questions?</a:t>
            </a:r>
          </a:p>
        </p:txBody>
      </p:sp>
      <p:sp>
        <p:nvSpPr>
          <p:cNvPr id="9" name="Footer Placeholder 2">
            <a:extLst>
              <a:ext uri="{FF2B5EF4-FFF2-40B4-BE49-F238E27FC236}">
                <a16:creationId xmlns:a16="http://schemas.microsoft.com/office/drawing/2014/main" id="{7AC4F3CB-40F5-4D01-8BB6-1D1FE1099E9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8E0686E-B166-4606-8464-829D5D0B6AA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23</a:t>
            </a:fld>
            <a:endParaRPr lang="en-US" noProof="0"/>
          </a:p>
        </p:txBody>
      </p:sp>
    </p:spTree>
    <p:custDataLst>
      <p:tags r:id="rId1"/>
    </p:custDataLst>
    <p:extLst>
      <p:ext uri="{BB962C8B-B14F-4D97-AF65-F5344CB8AC3E}">
        <p14:creationId xmlns:p14="http://schemas.microsoft.com/office/powerpoint/2010/main" val="4145703054"/>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A76C6-1EAF-F61F-5DF8-CEF5C81755A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C954A3F-D14D-55DA-9564-852F1E197F53}"/>
              </a:ext>
              <a:ext uri="{C183D7F6-B498-43B3-948B-1728B52AA6E4}">
                <adec:decorative xmlns:adec="http://schemas.microsoft.com/office/drawing/2017/decorative" val="1"/>
              </a:ext>
            </a:extLst>
          </p:cNvPr>
          <p:cNvSpPr>
            <a:spLocks/>
          </p:cNvSpPr>
          <p:nvPr/>
        </p:nvSpPr>
        <p:spPr>
          <a:xfrm>
            <a:off x="571500" y="1508338"/>
            <a:ext cx="11049000" cy="4760700"/>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2" name="Title 1">
            <a:extLst>
              <a:ext uri="{FF2B5EF4-FFF2-40B4-BE49-F238E27FC236}">
                <a16:creationId xmlns:a16="http://schemas.microsoft.com/office/drawing/2014/main" id="{FB765AA4-939F-8070-DF31-F0E210E5F503}"/>
              </a:ext>
            </a:extLst>
          </p:cNvPr>
          <p:cNvSpPr>
            <a:spLocks noGrp="1"/>
          </p:cNvSpPr>
          <p:nvPr>
            <p:ph type="title"/>
          </p:nvPr>
        </p:nvSpPr>
        <p:spPr>
          <a:xfrm>
            <a:off x="575481" y="599436"/>
            <a:ext cx="11018520" cy="553998"/>
          </a:xfrm>
        </p:spPr>
        <p:txBody>
          <a:bodyPr/>
          <a:lstStyle/>
          <a:p>
            <a:r>
              <a:rPr lang="en-US">
                <a:cs typeface="Segoe UI"/>
              </a:rPr>
              <a:t>Lab Application Deployment to Kubernetes</a:t>
            </a:r>
            <a:endParaRPr lang="en-US"/>
          </a:p>
        </p:txBody>
      </p:sp>
      <p:sp>
        <p:nvSpPr>
          <p:cNvPr id="8" name="Rectangle 7">
            <a:extLst>
              <a:ext uri="{FF2B5EF4-FFF2-40B4-BE49-F238E27FC236}">
                <a16:creationId xmlns:a16="http://schemas.microsoft.com/office/drawing/2014/main" id="{E71CBBB8-B3DF-1FE5-9B8A-5F46327A0786}"/>
              </a:ext>
            </a:extLst>
          </p:cNvPr>
          <p:cNvSpPr>
            <a:spLocks/>
          </p:cNvSpPr>
          <p:nvPr/>
        </p:nvSpPr>
        <p:spPr>
          <a:xfrm>
            <a:off x="571499" y="1751640"/>
            <a:ext cx="110490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a:solidFill>
                  <a:srgbClr val="FFFFFF"/>
                </a:solidFill>
                <a:latin typeface="Segoe Semibold"/>
                <a:cs typeface="Segoe UI Semibold"/>
              </a:rPr>
              <a:t>Lab Description</a:t>
            </a:r>
          </a:p>
        </p:txBody>
      </p:sp>
      <p:grpSp>
        <p:nvGrpSpPr>
          <p:cNvPr id="9" name="Group 8">
            <a:extLst>
              <a:ext uri="{FF2B5EF4-FFF2-40B4-BE49-F238E27FC236}">
                <a16:creationId xmlns:a16="http://schemas.microsoft.com/office/drawing/2014/main" id="{F9E38555-2D71-9669-5D85-DF5A83262F27}"/>
              </a:ext>
              <a:ext uri="{C183D7F6-B498-43B3-948B-1728B52AA6E4}">
                <adec:decorative xmlns:adec="http://schemas.microsoft.com/office/drawing/2017/decorative" val="1"/>
              </a:ext>
            </a:extLst>
          </p:cNvPr>
          <p:cNvGrpSpPr>
            <a:grpSpLocks/>
          </p:cNvGrpSpPr>
          <p:nvPr/>
        </p:nvGrpSpPr>
        <p:grpSpPr>
          <a:xfrm>
            <a:off x="574674" y="1751640"/>
            <a:ext cx="11045826" cy="465121"/>
            <a:chOff x="574675" y="1519848"/>
            <a:chExt cx="7312025" cy="465121"/>
          </a:xfrm>
        </p:grpSpPr>
        <p:cxnSp>
          <p:nvCxnSpPr>
            <p:cNvPr id="12" name="Straight Connector 11">
              <a:extLst>
                <a:ext uri="{FF2B5EF4-FFF2-40B4-BE49-F238E27FC236}">
                  <a16:creationId xmlns:a16="http://schemas.microsoft.com/office/drawing/2014/main" id="{9642DAD3-3B60-48B6-16FC-7F81448B43AB}"/>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4B96C86-ADA0-5D64-DC68-310FDAE4AE30}"/>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26DC99EA-0D17-ABED-DA5C-56CE8D91514E}"/>
              </a:ext>
            </a:extLst>
          </p:cNvPr>
          <p:cNvSpPr txBox="1">
            <a:spLocks/>
          </p:cNvSpPr>
          <p:nvPr/>
        </p:nvSpPr>
        <p:spPr>
          <a:xfrm>
            <a:off x="571500" y="2339873"/>
            <a:ext cx="11048999" cy="3669041"/>
          </a:xfrm>
          <a:prstGeom prst="rect">
            <a:avLst/>
          </a:prstGeom>
        </p:spPr>
        <p:txBody>
          <a:bodyPr wrap="square" lIns="91440" tIns="45720" rIns="91440" bIns="45720" anchor="t">
            <a:noAutofit/>
          </a:bodyPr>
          <a:lstStyle/>
          <a:p>
            <a:pPr marL="229870" indent="-229870" defTabSz="914192">
              <a:spcBef>
                <a:spcPts val="600"/>
              </a:spcBef>
              <a:spcAft>
                <a:spcPts val="600"/>
              </a:spcAft>
              <a:buFont typeface="Arial" panose="020B0604020202020204" pitchFamily="34" charset="0"/>
              <a:buChar char="•"/>
              <a:defRPr/>
            </a:pPr>
            <a:r>
              <a:rPr lang="en-US" sz="1600" dirty="0">
                <a:cs typeface="Segoe UI Semibold"/>
              </a:rPr>
              <a:t>Deploy the AKS Store Demo app to </a:t>
            </a:r>
            <a:r>
              <a:rPr lang="en-US" sz="1600" dirty="0" err="1">
                <a:cs typeface="Segoe UI Semibold"/>
              </a:rPr>
              <a:t>kubernetes</a:t>
            </a:r>
            <a:endParaRPr lang="en-US" sz="1600" dirty="0" err="1">
              <a:cs typeface="Segoe UI Semibold" panose="020B0702040204020203" pitchFamily="34" charset="0"/>
            </a:endParaRPr>
          </a:p>
        </p:txBody>
      </p:sp>
      <p:sp>
        <p:nvSpPr>
          <p:cNvPr id="17" name="Footer Placeholder 4">
            <a:extLst>
              <a:ext uri="{FF2B5EF4-FFF2-40B4-BE49-F238E27FC236}">
                <a16:creationId xmlns:a16="http://schemas.microsoft.com/office/drawing/2014/main" id="{70859878-5B45-3F07-8C0F-8D6C8D408E82}"/>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3">
            <a:extLst>
              <a:ext uri="{FF2B5EF4-FFF2-40B4-BE49-F238E27FC236}">
                <a16:creationId xmlns:a16="http://schemas.microsoft.com/office/drawing/2014/main" id="{74F93F81-C9CE-9589-CCC7-2D36FBF7409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304554791"/>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F7036-DF49-BDBC-68AA-6C0F15E04DDF}"/>
              </a:ext>
            </a:extLst>
          </p:cNvPr>
          <p:cNvSpPr>
            <a:spLocks noGrp="1"/>
          </p:cNvSpPr>
          <p:nvPr>
            <p:ph type="title"/>
          </p:nvPr>
        </p:nvSpPr>
        <p:spPr/>
        <p:txBody>
          <a:bodyPr/>
          <a:lstStyle/>
          <a:p>
            <a:r>
              <a:rPr lang="en-US" dirty="0">
                <a:latin typeface="Segoe UI Semibold"/>
                <a:cs typeface="Segoe UI Semibold"/>
              </a:rPr>
              <a:t>Optional Section</a:t>
            </a:r>
            <a:endParaRPr lang="en-US" dirty="0"/>
          </a:p>
        </p:txBody>
      </p:sp>
      <p:sp>
        <p:nvSpPr>
          <p:cNvPr id="5" name="Text Placeholder 4">
            <a:extLst>
              <a:ext uri="{FF2B5EF4-FFF2-40B4-BE49-F238E27FC236}">
                <a16:creationId xmlns:a16="http://schemas.microsoft.com/office/drawing/2014/main" id="{40E6088C-93E5-F440-D39C-96E5600A6E12}"/>
              </a:ext>
            </a:extLst>
          </p:cNvPr>
          <p:cNvSpPr>
            <a:spLocks noGrp="1"/>
          </p:cNvSpPr>
          <p:nvPr>
            <p:ph type="body" sz="quarter" idx="12"/>
          </p:nvPr>
        </p:nvSpPr>
        <p:spPr/>
        <p:txBody>
          <a:bodyPr/>
          <a:lstStyle/>
          <a:p>
            <a:endParaRPr lang="en-US"/>
          </a:p>
        </p:txBody>
      </p:sp>
      <p:sp>
        <p:nvSpPr>
          <p:cNvPr id="3" name="Footer Placeholder 2">
            <a:extLst>
              <a:ext uri="{FF2B5EF4-FFF2-40B4-BE49-F238E27FC236}">
                <a16:creationId xmlns:a16="http://schemas.microsoft.com/office/drawing/2014/main" id="{FDE08AED-EF95-F07D-3142-906565EA7DC9}"/>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62AAF609-B793-A801-FE15-F32082EC4DD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83554757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05ECB58-FA44-4C6A-8D93-CF7FED16C42A}"/>
              </a:ext>
            </a:extLst>
          </p:cNvPr>
          <p:cNvSpPr>
            <a:spLocks noGrp="1"/>
          </p:cNvSpPr>
          <p:nvPr>
            <p:ph type="title"/>
          </p:nvPr>
        </p:nvSpPr>
        <p:spPr>
          <a:xfrm>
            <a:off x="584200" y="4334637"/>
            <a:ext cx="9169400" cy="1015663"/>
          </a:xfrm>
        </p:spPr>
        <p:txBody>
          <a:bodyPr/>
          <a:lstStyle/>
          <a:p>
            <a:r>
              <a:rPr lang="en-US" dirty="0" err="1"/>
              <a:t>GitOps</a:t>
            </a:r>
            <a:endParaRPr lang="en-US" dirty="0"/>
          </a:p>
        </p:txBody>
      </p:sp>
      <p:sp>
        <p:nvSpPr>
          <p:cNvPr id="6" name="Text Placeholder 5">
            <a:extLst>
              <a:ext uri="{FF2B5EF4-FFF2-40B4-BE49-F238E27FC236}">
                <a16:creationId xmlns:a16="http://schemas.microsoft.com/office/drawing/2014/main" id="{EC409877-4205-4CFF-821F-218EC58354C0}"/>
              </a:ext>
            </a:extLst>
          </p:cNvPr>
          <p:cNvSpPr>
            <a:spLocks noGrp="1"/>
          </p:cNvSpPr>
          <p:nvPr>
            <p:ph type="body" sz="quarter" idx="12"/>
          </p:nvPr>
        </p:nvSpPr>
        <p:spPr/>
        <p:txBody>
          <a:bodyPr/>
          <a:lstStyle/>
          <a:p>
            <a:endParaRPr lang="en-US"/>
          </a:p>
        </p:txBody>
      </p:sp>
      <p:sp>
        <p:nvSpPr>
          <p:cNvPr id="3" name="Footer Placeholder 2">
            <a:extLst>
              <a:ext uri="{FF2B5EF4-FFF2-40B4-BE49-F238E27FC236}">
                <a16:creationId xmlns:a16="http://schemas.microsoft.com/office/drawing/2014/main" id="{319455A4-7A0E-4478-B2F5-D60DE29EC75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DAF5B400-F554-4922-B4E8-3CF8CA7C98E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8658068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19C8-5577-4C89-AF6B-668048344556}"/>
              </a:ext>
            </a:extLst>
          </p:cNvPr>
          <p:cNvSpPr>
            <a:spLocks noGrp="1"/>
          </p:cNvSpPr>
          <p:nvPr>
            <p:ph type="title"/>
          </p:nvPr>
        </p:nvSpPr>
        <p:spPr/>
        <p:txBody>
          <a:bodyPr/>
          <a:lstStyle/>
          <a:p>
            <a:r>
              <a:rPr lang="en-US" dirty="0" err="1">
                <a:cs typeface="Segoe UI"/>
              </a:rPr>
              <a:t>GitOps</a:t>
            </a:r>
            <a:r>
              <a:rPr lang="en-US" dirty="0">
                <a:cs typeface="Segoe UI"/>
              </a:rPr>
              <a:t> For AKS</a:t>
            </a:r>
          </a:p>
        </p:txBody>
      </p:sp>
      <p:graphicFrame>
        <p:nvGraphicFramePr>
          <p:cNvPr id="6" name="Table 6">
            <a:extLst>
              <a:ext uri="{FF2B5EF4-FFF2-40B4-BE49-F238E27FC236}">
                <a16:creationId xmlns:a16="http://schemas.microsoft.com/office/drawing/2014/main" id="{3C95B714-F2D9-45DF-BCB7-32DC2818A312}"/>
              </a:ext>
            </a:extLst>
          </p:cNvPr>
          <p:cNvGraphicFramePr>
            <a:graphicFrameLocks noGrp="1"/>
          </p:cNvGraphicFramePr>
          <p:nvPr>
            <p:extLst>
              <p:ext uri="{D42A27DB-BD31-4B8C-83A1-F6EECF244321}">
                <p14:modId xmlns:p14="http://schemas.microsoft.com/office/powerpoint/2010/main" val="2718447500"/>
              </p:ext>
            </p:extLst>
          </p:nvPr>
        </p:nvGraphicFramePr>
        <p:xfrm>
          <a:off x="575482" y="1464741"/>
          <a:ext cx="7102575" cy="4793823"/>
        </p:xfrm>
        <a:graphic>
          <a:graphicData uri="http://schemas.openxmlformats.org/drawingml/2006/table">
            <a:tbl>
              <a:tblPr firstRow="1" bandRow="1">
                <a:tableStyleId>{5C22544A-7EE6-4342-B048-85BDC9FD1C3A}</a:tableStyleId>
              </a:tblPr>
              <a:tblGrid>
                <a:gridCol w="1675349">
                  <a:extLst>
                    <a:ext uri="{9D8B030D-6E8A-4147-A177-3AD203B41FA5}">
                      <a16:colId xmlns:a16="http://schemas.microsoft.com/office/drawing/2014/main" val="2466241477"/>
                    </a:ext>
                  </a:extLst>
                </a:gridCol>
                <a:gridCol w="5427226">
                  <a:extLst>
                    <a:ext uri="{9D8B030D-6E8A-4147-A177-3AD203B41FA5}">
                      <a16:colId xmlns:a16="http://schemas.microsoft.com/office/drawing/2014/main" val="481073633"/>
                    </a:ext>
                  </a:extLst>
                </a:gridCol>
              </a:tblGrid>
              <a:tr h="1597941">
                <a:tc>
                  <a:txBody>
                    <a:bodyPr/>
                    <a:lstStyle/>
                    <a:p>
                      <a:pPr marL="0" marR="0" lvl="0" indent="0" algn="l" defTabSz="932742" rtl="0" eaLnBrk="1" fontAlgn="auto" latinLnBrk="0" hangingPunct="1">
                        <a:lnSpc>
                          <a:spcPct val="100000"/>
                        </a:lnSpc>
                        <a:spcBef>
                          <a:spcPts val="200"/>
                        </a:spcBef>
                        <a:spcAft>
                          <a:spcPts val="400"/>
                        </a:spcAft>
                        <a:buClrTx/>
                        <a:buSzTx/>
                        <a:buFontTx/>
                        <a:buNone/>
                        <a:tabLst/>
                        <a:defRPr/>
                      </a:pPr>
                      <a:r>
                        <a:rPr kumimoji="0" lang="da-DK" sz="1800" b="0" i="0" u="none" strike="noStrike" kern="1200" cap="none" spc="0" normalizeH="0" baseline="0" noProof="0" dirty="0">
                          <a:ln>
                            <a:noFill/>
                          </a:ln>
                          <a:solidFill>
                            <a:schemeClr val="tx2"/>
                          </a:solidFill>
                          <a:effectLst/>
                          <a:uLnTx/>
                          <a:uFillTx/>
                          <a:latin typeface="+mj-lt"/>
                          <a:ea typeface="+mn-ea"/>
                          <a:cs typeface="Segoe UI" panose="020B0502040204020203" pitchFamily="34" charset="0"/>
                        </a:rPr>
                        <a:t>GitOps Concept</a:t>
                      </a:r>
                      <a:endParaRPr kumimoji="0" lang="en-US" sz="1800" b="0" i="0" u="none" strike="noStrike" kern="1200" cap="none" spc="0" normalizeH="0" baseline="0" noProof="0" dirty="0">
                        <a:ln>
                          <a:noFill/>
                        </a:ln>
                        <a:solidFill>
                          <a:schemeClr val="tx2"/>
                        </a:solidFill>
                        <a:effectLst/>
                        <a:uLnTx/>
                        <a:uFillTx/>
                        <a:latin typeface="+mj-lt"/>
                        <a:ea typeface="+mn-ea"/>
                        <a:cs typeface="Segoe UI" panose="020B0502040204020203" pitchFamily="34" charset="0"/>
                      </a:endParaRPr>
                    </a:p>
                  </a:txBody>
                  <a:tcPr marL="182880"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defTabSz="932563">
                        <a:lnSpc>
                          <a:spcPct val="100000"/>
                        </a:lnSpc>
                        <a:spcBef>
                          <a:spcPts val="200"/>
                        </a:spcBef>
                        <a:spcAft>
                          <a:spcPts val="400"/>
                        </a:spcAft>
                      </a:pPr>
                      <a:r>
                        <a:rPr lang="en-GB" sz="1600" b="0" dirty="0">
                          <a:solidFill>
                            <a:schemeClr val="accent6"/>
                          </a:solidFill>
                          <a:latin typeface="+mn-lt"/>
                          <a:cs typeface="Segoe UI Semibold" panose="020B0702040204020203" pitchFamily="34" charset="0"/>
                        </a:rPr>
                        <a:t>Understanding the concept of </a:t>
                      </a:r>
                      <a:r>
                        <a:rPr lang="en-GB" sz="1600" b="0" dirty="0" err="1">
                          <a:solidFill>
                            <a:schemeClr val="accent6"/>
                          </a:solidFill>
                          <a:latin typeface="+mn-lt"/>
                          <a:cs typeface="Segoe UI Semibold" panose="020B0702040204020203" pitchFamily="34" charset="0"/>
                        </a:rPr>
                        <a:t>GitOps</a:t>
                      </a:r>
                      <a:endParaRPr lang="en-GB" sz="1600" b="0" dirty="0">
                        <a:solidFill>
                          <a:schemeClr val="accent6"/>
                        </a:solidFill>
                        <a:latin typeface="+mn-lt"/>
                        <a:cs typeface="Segoe UI Semibold" panose="020B0702040204020203" pitchFamily="34" charset="0"/>
                      </a:endParaRPr>
                    </a:p>
                  </a:txBody>
                  <a:tcPr marL="182880"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023937"/>
                  </a:ext>
                </a:extLst>
              </a:tr>
              <a:tr h="1597941">
                <a:tc>
                  <a:txBody>
                    <a:bodyPr/>
                    <a:lstStyle/>
                    <a:p>
                      <a:pPr marL="0" marR="0" lvl="0" indent="0" algn="l" defTabSz="932742" rtl="0" eaLnBrk="1" fontAlgn="auto" latinLnBrk="0" hangingPunct="1">
                        <a:lnSpc>
                          <a:spcPct val="100000"/>
                        </a:lnSpc>
                        <a:spcBef>
                          <a:spcPts val="200"/>
                        </a:spcBef>
                        <a:spcAft>
                          <a:spcPts val="400"/>
                        </a:spcAft>
                        <a:buClrTx/>
                        <a:buSzTx/>
                        <a:buFontTx/>
                        <a:buNone/>
                        <a:tabLst/>
                        <a:defRPr/>
                      </a:pPr>
                      <a:r>
                        <a:rPr kumimoji="0" lang="da-DK" sz="1800" b="0" i="0" u="none" strike="noStrike" kern="1200" cap="none" spc="0" normalizeH="0" baseline="0" noProof="0" dirty="0">
                          <a:ln>
                            <a:noFill/>
                          </a:ln>
                          <a:solidFill>
                            <a:schemeClr val="tx2"/>
                          </a:solidFill>
                          <a:effectLst/>
                          <a:uLnTx/>
                          <a:uFillTx/>
                          <a:latin typeface="+mj-lt"/>
                          <a:ea typeface="+mn-ea"/>
                          <a:cs typeface="Segoe UI" panose="020B0502040204020203" pitchFamily="34" charset="0"/>
                        </a:rPr>
                        <a:t>Deployment</a:t>
                      </a:r>
                      <a:endParaRPr kumimoji="0" lang="en-US" sz="1800" b="0" i="0" u="none" strike="noStrike" kern="1200" cap="none" spc="0" normalizeH="0" baseline="0" noProof="0" dirty="0">
                        <a:ln>
                          <a:noFill/>
                        </a:ln>
                        <a:solidFill>
                          <a:schemeClr val="tx2"/>
                        </a:solidFill>
                        <a:effectLst/>
                        <a:uLnTx/>
                        <a:uFillTx/>
                        <a:latin typeface="+mj-lt"/>
                        <a:ea typeface="+mn-ea"/>
                        <a:cs typeface="Segoe UI" panose="020B0502040204020203" pitchFamily="34" charset="0"/>
                      </a:endParaRPr>
                    </a:p>
                  </a:txBody>
                  <a:tcPr marL="182880"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32742" rtl="0" eaLnBrk="1" fontAlgn="auto" latinLnBrk="0" hangingPunct="1">
                        <a:lnSpc>
                          <a:spcPct val="100000"/>
                        </a:lnSpc>
                        <a:spcBef>
                          <a:spcPts val="200"/>
                        </a:spcBef>
                        <a:spcAft>
                          <a:spcPts val="400"/>
                        </a:spcAft>
                        <a:buClrTx/>
                        <a:buSzTx/>
                        <a:buFontTx/>
                        <a:buNone/>
                        <a:tabLst/>
                        <a:defRPr/>
                      </a:pPr>
                      <a:r>
                        <a:rPr lang="en-GB" sz="1600" b="0" dirty="0">
                          <a:solidFill>
                            <a:schemeClr val="accent6"/>
                          </a:solidFill>
                          <a:latin typeface="+mn-lt"/>
                          <a:cs typeface="Segoe UI Semibold" panose="020B0702040204020203" pitchFamily="34" charset="0"/>
                        </a:rPr>
                        <a:t>Overview of deployment flow using GitHub and basic steps to set up </a:t>
                      </a:r>
                      <a:r>
                        <a:rPr lang="en-GB" sz="1600" b="0" dirty="0" err="1">
                          <a:solidFill>
                            <a:schemeClr val="accent6"/>
                          </a:solidFill>
                          <a:latin typeface="+mn-lt"/>
                          <a:cs typeface="Segoe UI Semibold" panose="020B0702040204020203" pitchFamily="34" charset="0"/>
                        </a:rPr>
                        <a:t>GitOps</a:t>
                      </a:r>
                      <a:endParaRPr lang="en-GB" sz="1600" b="0" dirty="0">
                        <a:solidFill>
                          <a:schemeClr val="accent6"/>
                        </a:solidFill>
                        <a:latin typeface="+mn-lt"/>
                        <a:cs typeface="Segoe UI Semibold" panose="020B0702040204020203" pitchFamily="34" charset="0"/>
                      </a:endParaRPr>
                    </a:p>
                  </a:txBody>
                  <a:tcPr marL="182880"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0886448"/>
                  </a:ext>
                </a:extLst>
              </a:tr>
              <a:tr h="1597941">
                <a:tc>
                  <a:txBody>
                    <a:bodyPr/>
                    <a:lstStyle/>
                    <a:p>
                      <a:pPr marL="0" marR="0" lvl="0" indent="0" algn="l" defTabSz="932742" rtl="0" eaLnBrk="1" fontAlgn="auto" latinLnBrk="0" hangingPunct="1">
                        <a:lnSpc>
                          <a:spcPct val="100000"/>
                        </a:lnSpc>
                        <a:spcBef>
                          <a:spcPts val="200"/>
                        </a:spcBef>
                        <a:spcAft>
                          <a:spcPts val="400"/>
                        </a:spcAft>
                        <a:buClrTx/>
                        <a:buSzTx/>
                        <a:buFontTx/>
                        <a:buNone/>
                        <a:tabLst/>
                        <a:defRPr/>
                      </a:pPr>
                      <a:r>
                        <a:rPr kumimoji="0" lang="da-DK" sz="1800" b="0" i="0" u="none" strike="noStrike" kern="1200" cap="none" spc="0" normalizeH="0" baseline="0" noProof="0" dirty="0">
                          <a:ln>
                            <a:noFill/>
                          </a:ln>
                          <a:solidFill>
                            <a:schemeClr val="tx2"/>
                          </a:solidFill>
                          <a:effectLst/>
                          <a:uLnTx/>
                          <a:uFillTx/>
                          <a:latin typeface="+mj-lt"/>
                          <a:ea typeface="+mn-ea"/>
                          <a:cs typeface="Segoe UI" panose="020B0502040204020203" pitchFamily="34" charset="0"/>
                        </a:rPr>
                        <a:t>Operators</a:t>
                      </a:r>
                      <a:endParaRPr kumimoji="0" lang="en-US" sz="1800" b="0" i="0" u="none" strike="noStrike" kern="1200" cap="none" spc="0" normalizeH="0" baseline="0" noProof="0" dirty="0">
                        <a:ln>
                          <a:noFill/>
                        </a:ln>
                        <a:solidFill>
                          <a:schemeClr val="tx2"/>
                        </a:solidFill>
                        <a:effectLst/>
                        <a:uLnTx/>
                        <a:uFillTx/>
                        <a:latin typeface="+mj-lt"/>
                        <a:ea typeface="+mn-ea"/>
                        <a:cs typeface="Segoe UI" panose="020B0502040204020203" pitchFamily="34" charset="0"/>
                      </a:endParaRPr>
                    </a:p>
                  </a:txBody>
                  <a:tcPr marL="182880" anchor="ctr">
                    <a:lnL w="6350" cap="flat" cmpd="sng" algn="ctr">
                      <a:solidFill>
                        <a:schemeClr val="bg1">
                          <a:lumMod val="8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32742" rtl="0" eaLnBrk="1" fontAlgn="auto" latinLnBrk="0" hangingPunct="1">
                        <a:lnSpc>
                          <a:spcPct val="100000"/>
                        </a:lnSpc>
                        <a:spcBef>
                          <a:spcPts val="200"/>
                        </a:spcBef>
                        <a:spcAft>
                          <a:spcPts val="400"/>
                        </a:spcAft>
                        <a:buClrTx/>
                        <a:buSzTx/>
                        <a:buFontTx/>
                        <a:buNone/>
                        <a:tabLst/>
                        <a:defRPr/>
                      </a:pPr>
                      <a:r>
                        <a:rPr lang="en-GB" sz="1600" b="0" dirty="0">
                          <a:solidFill>
                            <a:schemeClr val="accent6"/>
                          </a:solidFill>
                          <a:latin typeface="+mn-lt"/>
                          <a:cs typeface="Segoe UI Semibold" panose="020B0702040204020203" pitchFamily="34" charset="0"/>
                        </a:rPr>
                        <a:t>Introduction of two operators: </a:t>
                      </a:r>
                      <a:r>
                        <a:rPr lang="en-GB" sz="1600" b="0" dirty="0" err="1">
                          <a:solidFill>
                            <a:schemeClr val="accent6"/>
                          </a:solidFill>
                          <a:latin typeface="+mn-lt"/>
                          <a:cs typeface="Segoe UI Semibold" panose="020B0702040204020203" pitchFamily="34" charset="0"/>
                        </a:rPr>
                        <a:t>ArgoCD</a:t>
                      </a:r>
                      <a:r>
                        <a:rPr lang="en-GB" sz="1600" b="0" dirty="0">
                          <a:solidFill>
                            <a:schemeClr val="accent6"/>
                          </a:solidFill>
                          <a:latin typeface="+mn-lt"/>
                          <a:cs typeface="Segoe UI Semibold" panose="020B0702040204020203" pitchFamily="34" charset="0"/>
                        </a:rPr>
                        <a:t> and Flux</a:t>
                      </a:r>
                    </a:p>
                  </a:txBody>
                  <a:tcPr marL="182880"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8774277"/>
                  </a:ext>
                </a:extLst>
              </a:tr>
            </a:tbl>
          </a:graphicData>
        </a:graphic>
      </p:graphicFrame>
      <p:sp>
        <p:nvSpPr>
          <p:cNvPr id="11" name="Footer Placeholder 4">
            <a:extLst>
              <a:ext uri="{FF2B5EF4-FFF2-40B4-BE49-F238E27FC236}">
                <a16:creationId xmlns:a16="http://schemas.microsoft.com/office/drawing/2014/main" id="{4149C5EA-E04D-4DFC-8CA2-10B07841CC51}"/>
              </a:ext>
            </a:extLst>
          </p:cNvPr>
          <p:cNvSpPr>
            <a:spLocks noGrp="1"/>
          </p:cNvSpPr>
          <p:nvPr>
            <p:ph type="ftr" sz="quarter" idx="3"/>
          </p:nvPr>
        </p:nvSpPr>
        <p:spPr>
          <a:xfrm>
            <a:off x="5589451" y="6539518"/>
            <a:ext cx="1013098" cy="123111"/>
          </a:xfrm>
        </p:spPr>
        <p:txBody>
          <a:bodyPr wrap="none"/>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13" name="Picture 12" descr="Small conference meeting in modern workspace">
            <a:extLst>
              <a:ext uri="{FF2B5EF4-FFF2-40B4-BE49-F238E27FC236}">
                <a16:creationId xmlns:a16="http://schemas.microsoft.com/office/drawing/2014/main" id="{3C37E4DE-C609-4AD3-9A60-3A8AE23BE345}"/>
              </a:ext>
            </a:extLst>
          </p:cNvPr>
          <p:cNvPicPr>
            <a:picLocks/>
          </p:cNvPicPr>
          <p:nvPr/>
        </p:nvPicPr>
        <p:blipFill rotWithShape="1">
          <a:blip r:embed="rId2"/>
          <a:srcRect l="48377" r="10941"/>
          <a:stretch/>
        </p:blipFill>
        <p:spPr>
          <a:xfrm>
            <a:off x="8001002" y="0"/>
            <a:ext cx="4190999" cy="6858000"/>
          </a:xfrm>
          <a:custGeom>
            <a:avLst/>
            <a:gdLst>
              <a:gd name="connsiteX0" fmla="*/ 0 w 5337917"/>
              <a:gd name="connsiteY0" fmla="*/ 0 h 4736687"/>
              <a:gd name="connsiteX1" fmla="*/ 5337917 w 5337917"/>
              <a:gd name="connsiteY1" fmla="*/ 0 h 4736687"/>
              <a:gd name="connsiteX2" fmla="*/ 5337917 w 5337917"/>
              <a:gd name="connsiteY2" fmla="*/ 4736687 h 4736687"/>
              <a:gd name="connsiteX3" fmla="*/ 0 w 5337917"/>
              <a:gd name="connsiteY3" fmla="*/ 4736687 h 4736687"/>
            </a:gdLst>
            <a:ahLst/>
            <a:cxnLst>
              <a:cxn ang="0">
                <a:pos x="connsiteX0" y="connsiteY0"/>
              </a:cxn>
              <a:cxn ang="0">
                <a:pos x="connsiteX1" y="connsiteY1"/>
              </a:cxn>
              <a:cxn ang="0">
                <a:pos x="connsiteX2" y="connsiteY2"/>
              </a:cxn>
              <a:cxn ang="0">
                <a:pos x="connsiteX3" y="connsiteY3"/>
              </a:cxn>
            </a:cxnLst>
            <a:rect l="l" t="t" r="r" b="b"/>
            <a:pathLst>
              <a:path w="5337917" h="4736687">
                <a:moveTo>
                  <a:pt x="0" y="0"/>
                </a:moveTo>
                <a:lnTo>
                  <a:pt x="5337917" y="0"/>
                </a:lnTo>
                <a:lnTo>
                  <a:pt x="5337917" y="4736687"/>
                </a:lnTo>
                <a:lnTo>
                  <a:pt x="0" y="4736687"/>
                </a:lnTo>
                <a:close/>
              </a:path>
            </a:pathLst>
          </a:custGeom>
        </p:spPr>
      </p:pic>
      <p:sp>
        <p:nvSpPr>
          <p:cNvPr id="15" name="Slide Number Placeholder 6">
            <a:extLst>
              <a:ext uri="{FF2B5EF4-FFF2-40B4-BE49-F238E27FC236}">
                <a16:creationId xmlns:a16="http://schemas.microsoft.com/office/drawing/2014/main" id="{2D869AC9-F003-42FF-9B5F-29B6261BF05C}"/>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83367474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EDA55-3060-E649-4EB8-8F6673811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1C28C-A74C-E65B-0A44-82EC3E9FE872}"/>
              </a:ext>
            </a:extLst>
          </p:cNvPr>
          <p:cNvSpPr>
            <a:spLocks noGrp="1"/>
          </p:cNvSpPr>
          <p:nvPr>
            <p:ph type="title"/>
          </p:nvPr>
        </p:nvSpPr>
        <p:spPr>
          <a:xfrm>
            <a:off x="588263" y="457200"/>
            <a:ext cx="11018520" cy="553998"/>
          </a:xfrm>
        </p:spPr>
        <p:txBody>
          <a:bodyPr wrap="square" anchor="ctr">
            <a:normAutofit/>
          </a:bodyPr>
          <a:lstStyle/>
          <a:p>
            <a:r>
              <a:rPr lang="en-US" dirty="0"/>
              <a:t>What is </a:t>
            </a:r>
            <a:r>
              <a:rPr lang="en-US" dirty="0" err="1"/>
              <a:t>GitOps</a:t>
            </a:r>
            <a:endParaRPr lang="en-US" dirty="0"/>
          </a:p>
        </p:txBody>
      </p:sp>
      <p:sp>
        <p:nvSpPr>
          <p:cNvPr id="3" name="Content Placeholder 2">
            <a:extLst>
              <a:ext uri="{FF2B5EF4-FFF2-40B4-BE49-F238E27FC236}">
                <a16:creationId xmlns:a16="http://schemas.microsoft.com/office/drawing/2014/main" id="{28E18718-8440-35EE-7E00-4B4B6A198D3B}"/>
              </a:ext>
            </a:extLst>
          </p:cNvPr>
          <p:cNvSpPr>
            <a:spLocks noGrp="1"/>
          </p:cNvSpPr>
          <p:nvPr>
            <p:ph sz="quarter" idx="12"/>
          </p:nvPr>
        </p:nvSpPr>
        <p:spPr>
          <a:xfrm>
            <a:off x="869400" y="2223198"/>
            <a:ext cx="3893519" cy="3162719"/>
          </a:xfrm>
        </p:spPr>
        <p:txBody>
          <a:bodyPr wrap="square">
            <a:noAutofit/>
          </a:bodyPr>
          <a:lstStyle/>
          <a:p>
            <a:pPr>
              <a:buFont typeface="Arial" panose="020B0604020202020204" pitchFamily="34" charset="0"/>
              <a:buChar char="•"/>
            </a:pPr>
            <a:r>
              <a:rPr lang="en-US" sz="2200" dirty="0"/>
              <a:t>Improve developer productivity</a:t>
            </a:r>
          </a:p>
          <a:p>
            <a:pPr>
              <a:buFont typeface="Arial" panose="020B0604020202020204" pitchFamily="34" charset="0"/>
              <a:buChar char="•"/>
            </a:pPr>
            <a:r>
              <a:rPr lang="en-US" sz="2200" dirty="0"/>
              <a:t>Improve software delivery compliance</a:t>
            </a:r>
          </a:p>
          <a:p>
            <a:pPr>
              <a:buFont typeface="Arial" panose="020B0604020202020204" pitchFamily="34" charset="0"/>
              <a:buChar char="•"/>
            </a:pPr>
            <a:r>
              <a:rPr lang="en-US" sz="2200" dirty="0"/>
              <a:t> Increased collaboration in SDLC</a:t>
            </a:r>
          </a:p>
          <a:p>
            <a:pPr>
              <a:buFont typeface="Arial" panose="020B0604020202020204" pitchFamily="34" charset="0"/>
              <a:buChar char="•"/>
            </a:pPr>
            <a:r>
              <a:rPr lang="en-US" sz="2200" dirty="0"/>
              <a:t> Faster deployments</a:t>
            </a:r>
          </a:p>
          <a:p>
            <a:pPr marL="0" indent="0">
              <a:buNone/>
            </a:pPr>
            <a:endParaRPr lang="en-US" sz="2200" dirty="0"/>
          </a:p>
          <a:p>
            <a:pPr>
              <a:buFont typeface="Arial" panose="020B0604020202020204" pitchFamily="34" charset="0"/>
              <a:buChar char="•"/>
            </a:pPr>
            <a:endParaRPr lang="en-US" sz="2200" dirty="0"/>
          </a:p>
          <a:p>
            <a:pPr>
              <a:buFont typeface="Arial" panose="020B0604020202020204" pitchFamily="34" charset="0"/>
              <a:buChar char="•"/>
            </a:pPr>
            <a:endParaRPr lang="en-US" sz="2200" dirty="0"/>
          </a:p>
        </p:txBody>
      </p:sp>
      <p:sp>
        <p:nvSpPr>
          <p:cNvPr id="5" name="TextBox 4">
            <a:extLst>
              <a:ext uri="{FF2B5EF4-FFF2-40B4-BE49-F238E27FC236}">
                <a16:creationId xmlns:a16="http://schemas.microsoft.com/office/drawing/2014/main" id="{BF342581-80B3-9413-7852-F63109FDF91D}"/>
              </a:ext>
            </a:extLst>
          </p:cNvPr>
          <p:cNvSpPr txBox="1"/>
          <p:nvPr/>
        </p:nvSpPr>
        <p:spPr>
          <a:xfrm>
            <a:off x="6157128" y="2168156"/>
            <a:ext cx="4102239" cy="2462213"/>
          </a:xfrm>
          <a:prstGeom prst="rect">
            <a:avLst/>
          </a:prstGeom>
          <a:noFill/>
        </p:spPr>
        <p:txBody>
          <a:bodyPr wrap="square">
            <a:spAutoFit/>
          </a:bodyPr>
          <a:lstStyle/>
          <a:p>
            <a:pPr marL="285750" indent="-285750">
              <a:buFont typeface="Arial" panose="020B0604020202020204" pitchFamily="34" charset="0"/>
              <a:buChar char="•"/>
            </a:pPr>
            <a:r>
              <a:rPr lang="en-US" sz="2200" dirty="0"/>
              <a:t>Declarative</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Versioned and Immutable</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 Pull automatically</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 Continually reconcile</a:t>
            </a:r>
          </a:p>
        </p:txBody>
      </p:sp>
    </p:spTree>
    <p:extLst>
      <p:ext uri="{BB962C8B-B14F-4D97-AF65-F5344CB8AC3E}">
        <p14:creationId xmlns:p14="http://schemas.microsoft.com/office/powerpoint/2010/main" val="203175374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466F1-938E-08B2-24A7-F2903000E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E9E5D-716B-786E-9421-D990B15C9D6A}"/>
              </a:ext>
            </a:extLst>
          </p:cNvPr>
          <p:cNvSpPr>
            <a:spLocks noGrp="1"/>
          </p:cNvSpPr>
          <p:nvPr>
            <p:ph type="title"/>
          </p:nvPr>
        </p:nvSpPr>
        <p:spPr>
          <a:xfrm>
            <a:off x="588263" y="457200"/>
            <a:ext cx="11018520" cy="553998"/>
          </a:xfrm>
        </p:spPr>
        <p:txBody>
          <a:bodyPr wrap="square" anchor="ctr">
            <a:normAutofit/>
          </a:bodyPr>
          <a:lstStyle/>
          <a:p>
            <a:r>
              <a:rPr lang="en-US" dirty="0"/>
              <a:t>Deployments with Flux</a:t>
            </a:r>
          </a:p>
        </p:txBody>
      </p:sp>
      <p:sp>
        <p:nvSpPr>
          <p:cNvPr id="3" name="Content Placeholder 2">
            <a:extLst>
              <a:ext uri="{FF2B5EF4-FFF2-40B4-BE49-F238E27FC236}">
                <a16:creationId xmlns:a16="http://schemas.microsoft.com/office/drawing/2014/main" id="{338C9680-18CA-C5B4-8A2C-65E52002DAE4}"/>
              </a:ext>
            </a:extLst>
          </p:cNvPr>
          <p:cNvSpPr>
            <a:spLocks noGrp="1"/>
          </p:cNvSpPr>
          <p:nvPr>
            <p:ph sz="quarter" idx="12"/>
          </p:nvPr>
        </p:nvSpPr>
        <p:spPr>
          <a:xfrm>
            <a:off x="437321" y="1600200"/>
            <a:ext cx="8249479" cy="5029200"/>
          </a:xfrm>
        </p:spPr>
        <p:txBody>
          <a:bodyPr wrap="square">
            <a:noAutofit/>
          </a:bodyPr>
          <a:lstStyle/>
          <a:p>
            <a:pPr>
              <a:buFont typeface="Arial" panose="020B0604020202020204" pitchFamily="34" charset="0"/>
              <a:buChar char="•"/>
            </a:pPr>
            <a:r>
              <a:rPr lang="en-US" sz="2200" dirty="0"/>
              <a:t>Improve developer productivity</a:t>
            </a:r>
          </a:p>
          <a:p>
            <a:pPr>
              <a:buFont typeface="Arial" panose="020B0604020202020204" pitchFamily="34" charset="0"/>
              <a:buChar char="•"/>
            </a:pPr>
            <a:r>
              <a:rPr lang="en-US" sz="2200" dirty="0"/>
              <a:t> Improved software delivery compliance</a:t>
            </a:r>
          </a:p>
          <a:p>
            <a:pPr>
              <a:buFont typeface="Arial" panose="020B0604020202020204" pitchFamily="34" charset="0"/>
              <a:buChar char="•"/>
            </a:pPr>
            <a:r>
              <a:rPr lang="en-US" sz="2200" dirty="0"/>
              <a:t> Increased collaboration in SDLC</a:t>
            </a:r>
          </a:p>
          <a:p>
            <a:pPr>
              <a:buFont typeface="Arial" panose="020B0604020202020204" pitchFamily="34" charset="0"/>
              <a:buChar char="•"/>
            </a:pPr>
            <a:r>
              <a:rPr lang="en-US" sz="2200" dirty="0"/>
              <a:t> Faster deployments</a:t>
            </a:r>
          </a:p>
          <a:p>
            <a:pPr>
              <a:buFont typeface="Arial" panose="020B0604020202020204" pitchFamily="34" charset="0"/>
              <a:buChar char="•"/>
            </a:pPr>
            <a:endParaRPr lang="en-US" sz="2200" dirty="0"/>
          </a:p>
        </p:txBody>
      </p:sp>
      <p:pic>
        <p:nvPicPr>
          <p:cNvPr id="3074" name="Picture 2" descr="Diagram of GitOps with Flux v2, GitHub and AKS.">
            <a:extLst>
              <a:ext uri="{FF2B5EF4-FFF2-40B4-BE49-F238E27FC236}">
                <a16:creationId xmlns:a16="http://schemas.microsoft.com/office/drawing/2014/main" id="{080FD88D-8950-2C0A-D775-807E20F48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9828" y="1446962"/>
            <a:ext cx="5223939" cy="5124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104033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F91A-8D51-48F9-02FC-DD01D1122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F3DF0-82BF-B1A3-F3A4-20131B0FCD94}"/>
              </a:ext>
            </a:extLst>
          </p:cNvPr>
          <p:cNvSpPr>
            <a:spLocks noGrp="1"/>
          </p:cNvSpPr>
          <p:nvPr>
            <p:ph type="title"/>
          </p:nvPr>
        </p:nvSpPr>
        <p:spPr>
          <a:xfrm>
            <a:off x="588263" y="457200"/>
            <a:ext cx="11018520" cy="553998"/>
          </a:xfrm>
        </p:spPr>
        <p:txBody>
          <a:bodyPr wrap="square" anchor="ctr">
            <a:normAutofit/>
          </a:bodyPr>
          <a:lstStyle/>
          <a:p>
            <a:r>
              <a:rPr lang="en-US" dirty="0"/>
              <a:t>Deployments with GitHub, Flux and AKS</a:t>
            </a:r>
          </a:p>
        </p:txBody>
      </p:sp>
      <p:sp>
        <p:nvSpPr>
          <p:cNvPr id="3" name="Content Placeholder 2">
            <a:extLst>
              <a:ext uri="{FF2B5EF4-FFF2-40B4-BE49-F238E27FC236}">
                <a16:creationId xmlns:a16="http://schemas.microsoft.com/office/drawing/2014/main" id="{4EC931FA-B82C-4199-08E3-F6EEE02F6C1D}"/>
              </a:ext>
            </a:extLst>
          </p:cNvPr>
          <p:cNvSpPr>
            <a:spLocks noGrp="1"/>
          </p:cNvSpPr>
          <p:nvPr>
            <p:ph sz="quarter" idx="12"/>
          </p:nvPr>
        </p:nvSpPr>
        <p:spPr>
          <a:xfrm>
            <a:off x="437321" y="1600200"/>
            <a:ext cx="5852947" cy="5029200"/>
          </a:xfrm>
        </p:spPr>
        <p:txBody>
          <a:bodyPr wrap="square">
            <a:noAutofit/>
          </a:bodyPr>
          <a:lstStyle/>
          <a:p>
            <a:r>
              <a:rPr lang="en-US" sz="1800" dirty="0"/>
              <a:t>The app code is developed by using an IDE such as Visual Studio Code.</a:t>
            </a:r>
          </a:p>
          <a:p>
            <a:r>
              <a:rPr lang="en-US" sz="1800" dirty="0"/>
              <a:t>The app code is committed to a GitHub repository.</a:t>
            </a:r>
          </a:p>
          <a:p>
            <a:r>
              <a:rPr lang="en-US" sz="1800" dirty="0"/>
              <a:t>GitHub Actions builds a container image from the app code and pushes the container image to Azure Container Registry.</a:t>
            </a:r>
          </a:p>
          <a:p>
            <a:r>
              <a:rPr lang="en-US" sz="1800" dirty="0"/>
              <a:t>GitHub Actions updates a Kubernetes manifest deployment file with the current image version that's based on the version number of the container image in Azure Container Registry.</a:t>
            </a:r>
          </a:p>
          <a:p>
            <a:r>
              <a:rPr lang="en-US" sz="1800" dirty="0"/>
              <a:t>The Flux operator detects configuration drift in the Git repository and pulls the configuration changes.</a:t>
            </a:r>
          </a:p>
          <a:p>
            <a:r>
              <a:rPr lang="en-US" sz="1800" dirty="0"/>
              <a:t>Flux uses manifest files to deploy the app to the AKS cluster.</a:t>
            </a:r>
          </a:p>
          <a:p>
            <a:pPr>
              <a:buFont typeface="Arial" panose="020B0604020202020204" pitchFamily="34" charset="0"/>
              <a:buChar char="•"/>
            </a:pPr>
            <a:endParaRPr lang="en-US" sz="2200" dirty="0"/>
          </a:p>
        </p:txBody>
      </p:sp>
      <p:pic>
        <p:nvPicPr>
          <p:cNvPr id="5122" name="Picture 2" descr="Diagram of implementing CI/CD by using GitOps with Flux, GitHub and AKS.">
            <a:extLst>
              <a:ext uri="{FF2B5EF4-FFF2-40B4-BE49-F238E27FC236}">
                <a16:creationId xmlns:a16="http://schemas.microsoft.com/office/drawing/2014/main" id="{2B482851-F612-54BC-622A-23D51070E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488" y="1647928"/>
            <a:ext cx="5844582" cy="4682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05068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98D6C-C182-EB9C-0E15-4DC04FDE5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B1CB2-5E6D-926B-E9F9-AD7590D39C2B}"/>
              </a:ext>
            </a:extLst>
          </p:cNvPr>
          <p:cNvSpPr>
            <a:spLocks noGrp="1"/>
          </p:cNvSpPr>
          <p:nvPr>
            <p:ph type="title"/>
          </p:nvPr>
        </p:nvSpPr>
        <p:spPr>
          <a:xfrm>
            <a:off x="588263" y="457200"/>
            <a:ext cx="11018520" cy="553998"/>
          </a:xfrm>
        </p:spPr>
        <p:txBody>
          <a:bodyPr wrap="square" anchor="ctr">
            <a:normAutofit/>
          </a:bodyPr>
          <a:lstStyle/>
          <a:p>
            <a:r>
              <a:rPr lang="en-US" dirty="0"/>
              <a:t>Deployments with ARGO</a:t>
            </a:r>
          </a:p>
        </p:txBody>
      </p:sp>
      <p:sp>
        <p:nvSpPr>
          <p:cNvPr id="3" name="Content Placeholder 2">
            <a:extLst>
              <a:ext uri="{FF2B5EF4-FFF2-40B4-BE49-F238E27FC236}">
                <a16:creationId xmlns:a16="http://schemas.microsoft.com/office/drawing/2014/main" id="{8F9AF5DC-F137-997D-0B9D-5DC74A8138D1}"/>
              </a:ext>
            </a:extLst>
          </p:cNvPr>
          <p:cNvSpPr>
            <a:spLocks noGrp="1"/>
          </p:cNvSpPr>
          <p:nvPr>
            <p:ph sz="quarter" idx="12"/>
          </p:nvPr>
        </p:nvSpPr>
        <p:spPr>
          <a:xfrm>
            <a:off x="437321" y="1600200"/>
            <a:ext cx="8249479" cy="5029200"/>
          </a:xfrm>
        </p:spPr>
        <p:txBody>
          <a:bodyPr wrap="square">
            <a:noAutofit/>
          </a:bodyPr>
          <a:lstStyle/>
          <a:p>
            <a:pPr>
              <a:buFont typeface="Arial" panose="020B0604020202020204" pitchFamily="34" charset="0"/>
              <a:buChar char="•"/>
            </a:pPr>
            <a:r>
              <a:rPr lang="en-US" sz="2200" dirty="0"/>
              <a:t>Improve developer productivity</a:t>
            </a:r>
          </a:p>
          <a:p>
            <a:pPr>
              <a:buFont typeface="Arial" panose="020B0604020202020204" pitchFamily="34" charset="0"/>
              <a:buChar char="•"/>
            </a:pPr>
            <a:r>
              <a:rPr lang="en-US" sz="2200" dirty="0"/>
              <a:t> Improved software delivery compliance</a:t>
            </a:r>
          </a:p>
          <a:p>
            <a:pPr>
              <a:buFont typeface="Arial" panose="020B0604020202020204" pitchFamily="34" charset="0"/>
              <a:buChar char="•"/>
            </a:pPr>
            <a:r>
              <a:rPr lang="en-US" sz="2200" dirty="0"/>
              <a:t> Increased collaboration in SDLC</a:t>
            </a:r>
          </a:p>
          <a:p>
            <a:pPr>
              <a:buFont typeface="Arial" panose="020B0604020202020204" pitchFamily="34" charset="0"/>
              <a:buChar char="•"/>
            </a:pPr>
            <a:r>
              <a:rPr lang="en-US" sz="2200" dirty="0"/>
              <a:t> Faster deployments</a:t>
            </a:r>
          </a:p>
          <a:p>
            <a:pPr>
              <a:buFont typeface="Arial" panose="020B0604020202020204" pitchFamily="34" charset="0"/>
              <a:buChar char="•"/>
            </a:pPr>
            <a:endParaRPr lang="en-US" sz="2200" dirty="0"/>
          </a:p>
        </p:txBody>
      </p:sp>
      <p:pic>
        <p:nvPicPr>
          <p:cNvPr id="1026" name="Picture 2" descr="Diagram of GitOps with Argo CD, GitHub and AKS.">
            <a:extLst>
              <a:ext uri="{FF2B5EF4-FFF2-40B4-BE49-F238E27FC236}">
                <a16:creationId xmlns:a16="http://schemas.microsoft.com/office/drawing/2014/main" id="{69FBB48D-E8A2-F4FC-7691-9E4BCFD056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7994" y="1959428"/>
            <a:ext cx="5408577" cy="4409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34846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37643-1F7D-03B3-07F6-69345486EF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EF73C-9D00-E2D1-66BF-A571440A4F45}"/>
              </a:ext>
            </a:extLst>
          </p:cNvPr>
          <p:cNvSpPr>
            <a:spLocks noGrp="1"/>
          </p:cNvSpPr>
          <p:nvPr>
            <p:ph type="title"/>
          </p:nvPr>
        </p:nvSpPr>
        <p:spPr>
          <a:xfrm>
            <a:off x="588263" y="457200"/>
            <a:ext cx="11018520" cy="553998"/>
          </a:xfrm>
        </p:spPr>
        <p:txBody>
          <a:bodyPr wrap="square" anchor="ctr">
            <a:normAutofit/>
          </a:bodyPr>
          <a:lstStyle/>
          <a:p>
            <a:r>
              <a:rPr lang="en-US" dirty="0"/>
              <a:t>Deployments with ARGO, GitHub and AKS</a:t>
            </a:r>
          </a:p>
        </p:txBody>
      </p:sp>
      <p:sp>
        <p:nvSpPr>
          <p:cNvPr id="3" name="Content Placeholder 2">
            <a:extLst>
              <a:ext uri="{FF2B5EF4-FFF2-40B4-BE49-F238E27FC236}">
                <a16:creationId xmlns:a16="http://schemas.microsoft.com/office/drawing/2014/main" id="{2B3D7E8B-A80A-D629-89FE-538E63FF8940}"/>
              </a:ext>
            </a:extLst>
          </p:cNvPr>
          <p:cNvSpPr>
            <a:spLocks noGrp="1"/>
          </p:cNvSpPr>
          <p:nvPr>
            <p:ph sz="quarter" idx="12"/>
          </p:nvPr>
        </p:nvSpPr>
        <p:spPr>
          <a:xfrm>
            <a:off x="437322" y="1600200"/>
            <a:ext cx="5591690" cy="5029200"/>
          </a:xfrm>
        </p:spPr>
        <p:txBody>
          <a:bodyPr wrap="square">
            <a:noAutofit/>
          </a:bodyPr>
          <a:lstStyle/>
          <a:p>
            <a:r>
              <a:rPr lang="en-US" sz="1800" dirty="0"/>
              <a:t>The app code is developed by using an IDE such as Visual Studio Code.</a:t>
            </a:r>
          </a:p>
          <a:p>
            <a:r>
              <a:rPr lang="en-US" sz="1800" dirty="0"/>
              <a:t>The app code is committed to a GitHub repository.</a:t>
            </a:r>
          </a:p>
          <a:p>
            <a:r>
              <a:rPr lang="en-US" sz="1800" dirty="0"/>
              <a:t>GitHub Actions builds a container image from the app code and pushes the container image to Azure Container Registry.</a:t>
            </a:r>
          </a:p>
          <a:p>
            <a:r>
              <a:rPr lang="en-US" sz="1800" dirty="0"/>
              <a:t>GitHub Actions updates a Kubernetes manifest deployment file with the current image version that's based on the version number of the container image in Azure Container Registry.</a:t>
            </a:r>
          </a:p>
          <a:p>
            <a:r>
              <a:rPr lang="en-US" sz="1800" dirty="0"/>
              <a:t>Argo CD pulls from the Git repository.</a:t>
            </a:r>
          </a:p>
          <a:p>
            <a:r>
              <a:rPr lang="en-US" sz="1800" dirty="0"/>
              <a:t>Argo CD deploys the app to the AKS cluster.</a:t>
            </a:r>
          </a:p>
          <a:p>
            <a:pPr>
              <a:buFont typeface="Arial" panose="020B0604020202020204" pitchFamily="34" charset="0"/>
              <a:buChar char="•"/>
            </a:pPr>
            <a:endParaRPr lang="en-US" sz="2200" dirty="0"/>
          </a:p>
        </p:txBody>
      </p:sp>
      <p:pic>
        <p:nvPicPr>
          <p:cNvPr id="6146" name="Picture 2" descr="Diagram of implementing CI/CD using GitOps with Argo CD, GitHub and AKS.">
            <a:extLst>
              <a:ext uri="{FF2B5EF4-FFF2-40B4-BE49-F238E27FC236}">
                <a16:creationId xmlns:a16="http://schemas.microsoft.com/office/drawing/2014/main" id="{82E949CE-06EE-0238-0542-1A3E7F3A7F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0994" y="1450260"/>
            <a:ext cx="5569875" cy="5322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25293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7064166-1785-404d-8156-350ee872403d"/>
  <p:tag name="MIO_UPDATE" val="True"/>
  <p:tag name="MIO_VERSION" val="30.03.2020 15:44:05"/>
  <p:tag name="MIO_DBID" val="12b0c59e-2253-4124-a5e9-470adf4cb168"/>
  <p:tag name="MIO_LASTDOWNLOADED" val="30.03.2020 15:44:52"/>
  <p:tag name="MIO_OBJECTNAME" val="Demonstration"/>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b0bc2a4e-b359-41fd-8d02-f26205a8e61a"/>
  <p:tag name="MIO_UPDATE" val="True"/>
  <p:tag name="MIO_VERSION" val="30.03.2020 15:44:05"/>
  <p:tag name="MIO_DBID" val="12b0c59e-2253-4124-a5e9-470adf4cb168"/>
  <p:tag name="MIO_LASTDOWNLOADED" val="30.03.2020 15:44:52"/>
  <p:tag name="MIO_OBJECTNAME" val="Questions?"/>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mso-contentType ?>
<FormTemplates xmlns="http://schemas.microsoft.com/sharepoint/v3/contenttype/forms">
  <Display>DocumentLibraryForm</Display>
  <Edit>DocumentLibraryForm</Edit>
  <New>DocumentLibraryForm</New>
</FormTemplates>
</file>

<file path=customXml/item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3.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4.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fe7a4c3d-94ce-45db-961b-252eaa2a0914" xsi:nil="true"/>
  </documentManagement>
</p:properties>
</file>

<file path=customXml/item3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13A5538B-5199-4900-941A-B01E377F2065}">
  <ds:schemaRefs>
    <ds:schemaRef ds:uri="Strauss.PersonalizationDefinition"/>
  </ds:schemaRefs>
</ds:datastoreItem>
</file>

<file path=customXml/itemProps2.xml><?xml version="1.0" encoding="utf-8"?>
<ds:datastoreItem xmlns:ds="http://schemas.openxmlformats.org/officeDocument/2006/customXml" ds:itemID="{406127A5-B8F7-4F8A-95A9-8E20F72EA129}">
  <ds:schemaRefs>
    <ds:schemaRef ds:uri="Strauss.PersonalizationDefinition"/>
  </ds:schemaRefs>
</ds:datastoreItem>
</file>

<file path=customXml/itemProps3.xml><?xml version="1.0" encoding="utf-8"?>
<ds:datastoreItem xmlns:ds="http://schemas.openxmlformats.org/officeDocument/2006/customXml" ds:itemID="{82C716E8-B770-4139-99B0-F35B9C64B90F}">
  <ds:schemaRefs>
    <ds:schemaRef ds:uri="Strauss.PersonalizationDefinition"/>
  </ds:schemaRefs>
</ds:datastoreItem>
</file>

<file path=customXml/itemProps4.xml><?xml version="1.0" encoding="utf-8"?>
<ds:datastoreItem xmlns:ds="http://schemas.openxmlformats.org/officeDocument/2006/customXml" ds:itemID="{C1060A51-5976-4775-97EE-ABE1B1E4972A}">
  <ds:schemaRefs>
    <ds:schemaRef ds:uri="Strauss.PersonalizationDefinition"/>
  </ds:schemaRefs>
</ds:datastoreItem>
</file>

<file path=customXml/itemProps5.xml><?xml version="1.0" encoding="utf-8"?>
<ds:datastoreItem xmlns:ds="http://schemas.openxmlformats.org/officeDocument/2006/customXml" ds:itemID="{712108F3-86F2-4B95-AF2D-FE4E45965FCC}">
  <ds:schemaRefs>
    <ds:schemaRef ds:uri="Strauss.PersonalizationDefinition"/>
  </ds:schemaRefs>
</ds:datastoreItem>
</file>

<file path=customXml/itemProps6.xml><?xml version="1.0" encoding="utf-8"?>
<ds:datastoreItem xmlns:ds="http://schemas.openxmlformats.org/officeDocument/2006/customXml" ds:itemID="{6F485757-9F3C-4A1E-9E86-E1C1551910BA}">
  <ds:schemaRefs>
    <ds:schemaRef ds:uri="Strauss.PersonalizationDefinition"/>
  </ds:schemaRefs>
</ds:datastoreItem>
</file>

<file path=customXml/itemProps7.xml><?xml version="1.0" encoding="utf-8"?>
<ds:datastoreItem xmlns:ds="http://schemas.openxmlformats.org/officeDocument/2006/customXml" ds:itemID="{F56EB5D8-3CD5-48EE-9536-13CF2B9AC25D}">
  <ds:schemaRefs>
    <ds:schemaRef ds:uri="Strauss.PersonalizationDefinition"/>
  </ds:schemaRefs>
</ds:datastoreItem>
</file>

<file path=customXml/itemProps8.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9.xml><?xml version="1.0" encoding="utf-8"?>
<ds:datastoreItem xmlns:ds="http://schemas.openxmlformats.org/officeDocument/2006/customXml" ds:itemID="{2BCFCE7B-4A43-491B-887D-365E2A1C50B2}">
  <ds:schemaRefs>
    <ds:schemaRef ds:uri="Strauss.PersonalizationDefinition"/>
  </ds:schemaRefs>
</ds:datastoreItem>
</file>

<file path=customXml/itemProps10.xml><?xml version="1.0" encoding="utf-8"?>
<ds:datastoreItem xmlns:ds="http://schemas.openxmlformats.org/officeDocument/2006/customXml" ds:itemID="{B09E3EAE-66CA-4A91-A5FE-A34A70B099ED}">
  <ds:schemaRefs>
    <ds:schemaRef ds:uri="Strauss.PersonalizationDefinition"/>
  </ds:schemaRefs>
</ds:datastoreItem>
</file>

<file path=customXml/itemProps11.xml><?xml version="1.0" encoding="utf-8"?>
<ds:datastoreItem xmlns:ds="http://schemas.openxmlformats.org/officeDocument/2006/customXml" ds:itemID="{FC25CD5D-A9DA-407F-9106-47BDA14BCED9}">
  <ds:schemaRefs>
    <ds:schemaRef ds:uri="Strauss.PersonalizationDefinition"/>
  </ds:schemaRefs>
</ds:datastoreItem>
</file>

<file path=customXml/itemProps12.xml><?xml version="1.0" encoding="utf-8"?>
<ds:datastoreItem xmlns:ds="http://schemas.openxmlformats.org/officeDocument/2006/customXml" ds:itemID="{E4108E94-074D-4F33-9511-EAA8BC38FF60}">
  <ds:schemaRefs>
    <ds:schemaRef ds:uri="Strauss.PersonalizationDefinition"/>
  </ds:schemaRefs>
</ds:datastoreItem>
</file>

<file path=customXml/itemProps13.xml><?xml version="1.0" encoding="utf-8"?>
<ds:datastoreItem xmlns:ds="http://schemas.openxmlformats.org/officeDocument/2006/customXml" ds:itemID="{D7FDC28F-4CBD-40ED-9D33-0A1360D5DEC4}">
  <ds:schemaRefs>
    <ds:schemaRef ds:uri="Strauss.PersonalizationDefinition"/>
  </ds:schemaRefs>
</ds:datastoreItem>
</file>

<file path=customXml/itemProps14.xml><?xml version="1.0" encoding="utf-8"?>
<ds:datastoreItem xmlns:ds="http://schemas.openxmlformats.org/officeDocument/2006/customXml" ds:itemID="{FBC13881-F2DC-4AA3-88C8-97C40CA1EBC7}">
  <ds:schemaRefs>
    <ds:schemaRef ds:uri="Strauss.PersonalizationDefinition"/>
  </ds:schemaRefs>
</ds:datastoreItem>
</file>

<file path=customXml/itemProps15.xml><?xml version="1.0" encoding="utf-8"?>
<ds:datastoreItem xmlns:ds="http://schemas.openxmlformats.org/officeDocument/2006/customXml" ds:itemID="{26224A5F-ED1C-4570-AF3F-EFBB18B6D38F}">
  <ds:schemaRefs>
    <ds:schemaRef ds:uri="Strauss.PersonalizationDefinition"/>
  </ds:schemaRefs>
</ds:datastoreItem>
</file>

<file path=customXml/itemProps16.xml><?xml version="1.0" encoding="utf-8"?>
<ds:datastoreItem xmlns:ds="http://schemas.openxmlformats.org/officeDocument/2006/customXml" ds:itemID="{D55AC15F-0A03-4D96-AA43-65FC3DCE2717}">
  <ds:schemaRefs>
    <ds:schemaRef ds:uri="Strauss.PersonalizationDefinition"/>
  </ds:schemaRefs>
</ds:datastoreItem>
</file>

<file path=customXml/itemProps17.xml><?xml version="1.0" encoding="utf-8"?>
<ds:datastoreItem xmlns:ds="http://schemas.openxmlformats.org/officeDocument/2006/customXml" ds:itemID="{4EA01338-72BB-48B6-B6A4-05B31FE21105}">
  <ds:schemaRefs>
    <ds:schemaRef ds:uri="Strauss.PersonalizationDefinition"/>
  </ds:schemaRefs>
</ds:datastoreItem>
</file>

<file path=customXml/itemProps18.xml><?xml version="1.0" encoding="utf-8"?>
<ds:datastoreItem xmlns:ds="http://schemas.openxmlformats.org/officeDocument/2006/customXml" ds:itemID="{08068EAD-DA6C-4DC8-843E-9CB0982D15F3}">
  <ds:schemaRefs>
    <ds:schemaRef ds:uri="Strauss.PersonalizationDefinition"/>
  </ds:schemaRefs>
</ds:datastoreItem>
</file>

<file path=customXml/itemProps19.xml><?xml version="1.0" encoding="utf-8"?>
<ds:datastoreItem xmlns:ds="http://schemas.openxmlformats.org/officeDocument/2006/customXml" ds:itemID="{4C485A9E-99A8-4277-BE90-E837A967DB2E}">
  <ds:schemaRefs>
    <ds:schemaRef ds:uri="Strauss.PersonalizationDefinition"/>
  </ds:schemaRefs>
</ds:datastoreItem>
</file>

<file path=customXml/itemProps20.xml><?xml version="1.0" encoding="utf-8"?>
<ds:datastoreItem xmlns:ds="http://schemas.openxmlformats.org/officeDocument/2006/customXml" ds:itemID="{EDFBA6C8-3A38-44F0-B645-B6B0034983DA}">
  <ds:schemaRefs>
    <ds:schemaRef ds:uri="Strauss.PersonalizationDefinition"/>
  </ds:schemaRefs>
</ds:datastoreItem>
</file>

<file path=customXml/itemProps21.xml><?xml version="1.0" encoding="utf-8"?>
<ds:datastoreItem xmlns:ds="http://schemas.openxmlformats.org/officeDocument/2006/customXml" ds:itemID="{E7EBEF02-C69B-46E0-B38A-E51611CE5254}">
  <ds:schemaRefs>
    <ds:schemaRef ds:uri="Strauss.PersonalizationDefinition"/>
  </ds:schemaRefs>
</ds:datastoreItem>
</file>

<file path=customXml/itemProps22.xml><?xml version="1.0" encoding="utf-8"?>
<ds:datastoreItem xmlns:ds="http://schemas.openxmlformats.org/officeDocument/2006/customXml" ds:itemID="{DF333A1B-0A9C-4DA8-ADAB-4378B69FDC48}">
  <ds:schemaRefs>
    <ds:schemaRef ds:uri="Strauss.PersonalizationDefinition"/>
  </ds:schemaRefs>
</ds:datastoreItem>
</file>

<file path=customXml/itemProps23.xml><?xml version="1.0" encoding="utf-8"?>
<ds:datastoreItem xmlns:ds="http://schemas.openxmlformats.org/officeDocument/2006/customXml" ds:itemID="{AB5E1E54-4770-4368-A1BD-05F4AA6ED97B}"/>
</file>

<file path=customXml/itemProps24.xml><?xml version="1.0" encoding="utf-8"?>
<ds:datastoreItem xmlns:ds="http://schemas.openxmlformats.org/officeDocument/2006/customXml" ds:itemID="{4A3F169F-E27D-4A25-888C-4C5D83BAC082}">
  <ds:schemaRefs>
    <ds:schemaRef ds:uri="Strauss.PersonalizationDefinition"/>
  </ds:schemaRefs>
</ds:datastoreItem>
</file>

<file path=customXml/itemProps25.xml><?xml version="1.0" encoding="utf-8"?>
<ds:datastoreItem xmlns:ds="http://schemas.openxmlformats.org/officeDocument/2006/customXml" ds:itemID="{DE0DC7DC-A960-4E6E-BF1B-D3D906B081A2}">
  <ds:schemaRefs>
    <ds:schemaRef ds:uri="Strauss.PersonalizationDefinition"/>
  </ds:schemaRefs>
</ds:datastoreItem>
</file>

<file path=customXml/itemProps26.xml><?xml version="1.0" encoding="utf-8"?>
<ds:datastoreItem xmlns:ds="http://schemas.openxmlformats.org/officeDocument/2006/customXml" ds:itemID="{6552B3D2-5F72-49FB-8B35-AFE12BF36804}">
  <ds:schemaRefs>
    <ds:schemaRef ds:uri="Strauss.PersonalizationDefinition"/>
  </ds:schemaRefs>
</ds:datastoreItem>
</file>

<file path=customXml/itemProps27.xml><?xml version="1.0" encoding="utf-8"?>
<ds:datastoreItem xmlns:ds="http://schemas.openxmlformats.org/officeDocument/2006/customXml" ds:itemID="{A09B3D8F-A36C-4B6D-871D-C53F61DFD219}">
  <ds:schemaRefs>
    <ds:schemaRef ds:uri="Strauss.PersonalizationDefinition"/>
  </ds:schemaRefs>
</ds:datastoreItem>
</file>

<file path=customXml/itemProps28.xml><?xml version="1.0" encoding="utf-8"?>
<ds:datastoreItem xmlns:ds="http://schemas.openxmlformats.org/officeDocument/2006/customXml" ds:itemID="{32920470-F086-4197-B6FE-12027DE25DCC}">
  <ds:schemaRefs>
    <ds:schemaRef ds:uri="Strauss.PersonalizationDefinition"/>
  </ds:schemaRefs>
</ds:datastoreItem>
</file>

<file path=customXml/itemProps29.xml><?xml version="1.0" encoding="utf-8"?>
<ds:datastoreItem xmlns:ds="http://schemas.openxmlformats.org/officeDocument/2006/customXml" ds:itemID="{103AB8E4-C30A-4895-9606-8D77F2E70F19}">
  <ds:schemaRefs>
    <ds:schemaRef ds:uri="Strauss.PersonalizationDefinition"/>
  </ds:schemaRefs>
</ds:datastoreItem>
</file>

<file path=customXml/itemProps30.xml><?xml version="1.0" encoding="utf-8"?>
<ds:datastoreItem xmlns:ds="http://schemas.openxmlformats.org/officeDocument/2006/customXml" ds:itemID="{68BE9F8F-073F-46B7-B2D0-86DC8E2E9DCE}">
  <ds:schemaRefs>
    <ds:schemaRef ds:uri="Strauss.PersonalizationDefinition"/>
  </ds:schemaRefs>
</ds:datastoreItem>
</file>

<file path=customXml/itemProps31.xml><?xml version="1.0" encoding="utf-8"?>
<ds:datastoreItem xmlns:ds="http://schemas.openxmlformats.org/officeDocument/2006/customXml" ds:itemID="{628127A0-F2C3-45C3-BB9F-5B29A6B848BE}">
  <ds:schemaRefs>
    <ds:schemaRef ds:uri="Strauss.PersonalizationDefinition"/>
  </ds:schemaRefs>
</ds:datastoreItem>
</file>

<file path=customXml/itemProps32.xml><?xml version="1.0" encoding="utf-8"?>
<ds:datastoreItem xmlns:ds="http://schemas.openxmlformats.org/officeDocument/2006/customXml" ds:itemID="{EF4AA5EB-A638-4D3A-B852-E71E18ED4953}">
  <ds:schemaRefs>
    <ds:schemaRef ds:uri="Strauss.PersonalizationDefinition"/>
  </ds:schemaRefs>
</ds:datastoreItem>
</file>

<file path=customXml/itemProps33.xml><?xml version="1.0" encoding="utf-8"?>
<ds:datastoreItem xmlns:ds="http://schemas.openxmlformats.org/officeDocument/2006/customXml" ds:itemID="{AC7687D8-5695-4F99-A8BA-1D247B418C22}">
  <ds:schemaRefs>
    <ds:schemaRef ds:uri="fb9ea31f-0ab8-44ff-80d1-5777f6d9d945"/>
    <ds:schemaRef ds:uri="http://www.w3.org/XML/1998/namespace"/>
    <ds:schemaRef ds:uri="http://schemas.microsoft.com/office/2006/metadata/properties"/>
    <ds:schemaRef ds:uri="http://purl.org/dc/elements/1.1/"/>
    <ds:schemaRef ds:uri="http://schemas.microsoft.com/office/2006/documentManagement/types"/>
    <ds:schemaRef ds:uri="http://purl.org/dc/dcmitype/"/>
    <ds:schemaRef ds:uri="http://schemas.microsoft.com/sharepoint/v3"/>
    <ds:schemaRef ds:uri="http://purl.org/dc/terms/"/>
    <ds:schemaRef ds:uri="cea7764e-6bf9-427d-be15-e74097e0a61c"/>
    <ds:schemaRef ds:uri="http://schemas.microsoft.com/office/infopath/2007/PartnerControls"/>
    <ds:schemaRef ds:uri="http://schemas.openxmlformats.org/package/2006/metadata/core-properties"/>
    <ds:schemaRef ds:uri="230e9df3-be65-4c73-a93b-d1236ebd677e"/>
  </ds:schemaRefs>
</ds:datastoreItem>
</file>

<file path=customXml/itemProps34.xml><?xml version="1.0" encoding="utf-8"?>
<ds:datastoreItem xmlns:ds="http://schemas.openxmlformats.org/officeDocument/2006/customXml" ds:itemID="{734F6CED-B619-41E0-BEDE-58B64D5F5EB2}">
  <ds:schemaRefs>
    <ds:schemaRef ds:uri="Strauss.PersonalizationDefinition"/>
  </ds:schemaRefs>
</ds:datastoreItem>
</file>

<file path=customXml/itemProps35.xml><?xml version="1.0" encoding="utf-8"?>
<ds:datastoreItem xmlns:ds="http://schemas.openxmlformats.org/officeDocument/2006/customXml" ds:itemID="{11767EAE-0FC6-472D-9D35-EB3533243F22}">
  <ds:schemaRefs>
    <ds:schemaRef ds:uri="Strauss.PersonalizationDefinition"/>
  </ds:schemaRefs>
</ds:datastoreItem>
</file>

<file path=customXml/itemProps36.xml><?xml version="1.0" encoding="utf-8"?>
<ds:datastoreItem xmlns:ds="http://schemas.openxmlformats.org/officeDocument/2006/customXml" ds:itemID="{5C919DC8-E31E-42F0-9621-B916C2E029BA}">
  <ds:schemaRefs>
    <ds:schemaRef ds:uri="Strauss.PersonalizationDefinition"/>
  </ds:schemaRefs>
</ds:datastoreItem>
</file>

<file path=customXml/itemProps37.xml><?xml version="1.0" encoding="utf-8"?>
<ds:datastoreItem xmlns:ds="http://schemas.openxmlformats.org/officeDocument/2006/customXml" ds:itemID="{ECCE7DC3-F525-4E76-8812-56FCA2D21E50}">
  <ds:schemaRefs>
    <ds:schemaRef ds:uri="Strauss.PersonalizationDefinition"/>
  </ds:schemaRefs>
</ds:datastoreItem>
</file>

<file path=customXml/itemProps38.xml><?xml version="1.0" encoding="utf-8"?>
<ds:datastoreItem xmlns:ds="http://schemas.openxmlformats.org/officeDocument/2006/customXml" ds:itemID="{BC268A45-186B-46A3-937F-0E016CEA70C1}">
  <ds:schemaRefs>
    <ds:schemaRef ds:uri="Strauss.PersonalizationDefinition"/>
  </ds:schemaRefs>
</ds:datastoreItem>
</file>

<file path=customXml/itemProps39.xml><?xml version="1.0" encoding="utf-8"?>
<ds:datastoreItem xmlns:ds="http://schemas.openxmlformats.org/officeDocument/2006/customXml" ds:itemID="{B228D3F7-8445-4CE7-92DC-AC7FE2D5A2AF}">
  <ds:schemaRefs>
    <ds:schemaRef ds:uri="Strauss.PersonalizationDefinition"/>
  </ds:schemaRefs>
</ds:datastoreItem>
</file>

<file path=customXml/itemProps40.xml><?xml version="1.0" encoding="utf-8"?>
<ds:datastoreItem xmlns:ds="http://schemas.openxmlformats.org/officeDocument/2006/customXml" ds:itemID="{A0EED17B-F609-411E-840C-8A361DF5E053}">
  <ds:schemaRefs>
    <ds:schemaRef ds:uri="Strauss.PersonalizationDefinition"/>
  </ds:schemaRefs>
</ds:datastoreItem>
</file>

<file path=customXml/itemProps41.xml><?xml version="1.0" encoding="utf-8"?>
<ds:datastoreItem xmlns:ds="http://schemas.openxmlformats.org/officeDocument/2006/customXml" ds:itemID="{7BE5F28F-50CA-40F1-A02E-E794FE33362D}">
  <ds:schemaRefs>
    <ds:schemaRef ds:uri="Strauss.PersonalizationDefinition"/>
  </ds:schemaRefs>
</ds:datastoreItem>
</file>

<file path=customXml/itemProps42.xml><?xml version="1.0" encoding="utf-8"?>
<ds:datastoreItem xmlns:ds="http://schemas.openxmlformats.org/officeDocument/2006/customXml" ds:itemID="{D76C1D54-C31A-41C7-8796-37E3A885C9B9}">
  <ds:schemaRefs>
    <ds:schemaRef ds:uri="Strauss.PersonalizationDefinition"/>
  </ds:schemaRefs>
</ds:datastoreItem>
</file>

<file path=customXml/itemProps43.xml><?xml version="1.0" encoding="utf-8"?>
<ds:datastoreItem xmlns:ds="http://schemas.openxmlformats.org/officeDocument/2006/customXml" ds:itemID="{541D4602-AC17-4CBD-B95E-D5B3D757BC54}">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6654</TotalTime>
  <Words>2892</Words>
  <Application>Microsoft Office PowerPoint</Application>
  <PresentationFormat>Widescreen</PresentationFormat>
  <Paragraphs>374</Paragraphs>
  <Slides>32</Slides>
  <Notes>23</Notes>
  <HiddenSlides>1</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White Template</vt:lpstr>
      <vt:lpstr>Application Deployment</vt:lpstr>
      <vt:lpstr>Conditions and terms of use</vt:lpstr>
      <vt:lpstr>Learning Units covered  in this Module</vt:lpstr>
      <vt:lpstr>Objectives </vt:lpstr>
      <vt:lpstr>DevOps</vt:lpstr>
      <vt:lpstr>What is DevOps?                  People.  Process.  Products.</vt:lpstr>
      <vt:lpstr>What is GitOps?</vt:lpstr>
      <vt:lpstr>DevOps vs GitOps</vt:lpstr>
      <vt:lpstr>Repository Structure</vt:lpstr>
      <vt:lpstr>Git Hub CICD - Push</vt:lpstr>
      <vt:lpstr>Git Hub CICD – Pull  </vt:lpstr>
      <vt:lpstr>Git Hub CICD – Pull  </vt:lpstr>
      <vt:lpstr>Git Hub Federate Identity </vt:lpstr>
      <vt:lpstr>OIDC Authenticate Azure from GitHub Action  </vt:lpstr>
      <vt:lpstr>CI with Kubernetes</vt:lpstr>
      <vt:lpstr>Typical CI workflow</vt:lpstr>
      <vt:lpstr>Image linting dockerfiles, building, and scanning</vt:lpstr>
      <vt:lpstr>CD with Kubernetes</vt:lpstr>
      <vt:lpstr>Complex Deployments with Helm</vt:lpstr>
      <vt:lpstr>Microservice Azure DevOps CI/CD Process</vt:lpstr>
      <vt:lpstr>Microservice Azure DevOps CI/CD Process</vt:lpstr>
      <vt:lpstr>Demonstration </vt:lpstr>
      <vt:lpstr>Questions?</vt:lpstr>
      <vt:lpstr>Lab Application Deployment to Kubernetes</vt:lpstr>
      <vt:lpstr>Optional Section</vt:lpstr>
      <vt:lpstr>GitOps</vt:lpstr>
      <vt:lpstr>GitOps For AKS</vt:lpstr>
      <vt:lpstr>What is GitOps</vt:lpstr>
      <vt:lpstr>Deployments with Flux</vt:lpstr>
      <vt:lpstr>Deployments with GitHub, Flux and AKS</vt:lpstr>
      <vt:lpstr>Deployments with ARGO</vt:lpstr>
      <vt:lpstr>Deployments with ARGO, GitHub and AKS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Andrew Albers</cp:lastModifiedBy>
  <cp:revision>60</cp:revision>
  <dcterms:created xsi:type="dcterms:W3CDTF">2019-02-08T20:09:46Z</dcterms:created>
  <dcterms:modified xsi:type="dcterms:W3CDTF">2025-09-08T18:30:30Z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0x010100E69BC7A8EC74B74F8EB826872BF35821</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Order">
    <vt:r8>25243300</vt:r8>
  </property>
  <property fmtid="{D5CDD505-2E9C-101B-9397-08002B2CF9AE}" pid="21" name="Lead Signoff">
    <vt:bool>false</vt:bool>
  </property>
  <property fmtid="{D5CDD505-2E9C-101B-9397-08002B2CF9AE}" pid="22" name="Title URL">
    <vt:lpwstr>, </vt:lpwstr>
  </property>
  <property fmtid="{D5CDD505-2E9C-101B-9397-08002B2CF9AE}" pid="23" name="xd_ProgID">
    <vt:lpwstr/>
  </property>
  <property fmtid="{D5CDD505-2E9C-101B-9397-08002B2CF9AE}" pid="24" name="_SourceUrl">
    <vt:lpwstr/>
  </property>
  <property fmtid="{D5CDD505-2E9C-101B-9397-08002B2CF9AE}" pid="25" name="_SharedFileIndex">
    <vt:lpwstr/>
  </property>
  <property fmtid="{D5CDD505-2E9C-101B-9397-08002B2CF9AE}" pid="26" name="ComplianceAssetId">
    <vt:lpwstr/>
  </property>
  <property fmtid="{D5CDD505-2E9C-101B-9397-08002B2CF9AE}" pid="27" name="TemplateUrl">
    <vt:lpwstr/>
  </property>
  <property fmtid="{D5CDD505-2E9C-101B-9397-08002B2CF9AE}" pid="28" name="State">
    <vt:lpwstr>Open</vt:lpwstr>
  </property>
  <property fmtid="{D5CDD505-2E9C-101B-9397-08002B2CF9AE}" pid="29" name="_ExtendedDescription">
    <vt:lpwstr/>
  </property>
  <property fmtid="{D5CDD505-2E9C-101B-9397-08002B2CF9AE}" pid="30" name="TriggerFlowInfo">
    <vt:lpwstr/>
  </property>
  <property fmtid="{D5CDD505-2E9C-101B-9397-08002B2CF9AE}" pid="31" name="Mail Sent">
    <vt:bool>false</vt:bool>
  </property>
  <property fmtid="{D5CDD505-2E9C-101B-9397-08002B2CF9AE}" pid="32" name="xd_Signature">
    <vt:bool>false</vt:bool>
  </property>
</Properties>
</file>