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customXml/itemProps4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7.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8.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9.xml" ContentType="application/vnd.openxmlformats-officedocument.presentationml.tags+xml"/>
  <Override PartName="/ppt/notesSlides/notesSlide3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68" r:id="rId45"/>
  </p:sldMasterIdLst>
  <p:notesMasterIdLst>
    <p:notesMasterId r:id="rId81"/>
  </p:notesMasterIdLst>
  <p:sldIdLst>
    <p:sldId id="256" r:id="rId46"/>
    <p:sldId id="257" r:id="rId47"/>
    <p:sldId id="2147469889" r:id="rId48"/>
    <p:sldId id="259" r:id="rId49"/>
    <p:sldId id="274" r:id="rId50"/>
    <p:sldId id="2147481604" r:id="rId51"/>
    <p:sldId id="2076138571" r:id="rId52"/>
    <p:sldId id="2076138569" r:id="rId53"/>
    <p:sldId id="2076138570" r:id="rId54"/>
    <p:sldId id="2147469910" r:id="rId55"/>
    <p:sldId id="2147469909" r:id="rId56"/>
    <p:sldId id="2147469911" r:id="rId57"/>
    <p:sldId id="2147481605" r:id="rId58"/>
    <p:sldId id="2147481606" r:id="rId59"/>
    <p:sldId id="2147481607" r:id="rId60"/>
    <p:sldId id="2147481614" r:id="rId61"/>
    <p:sldId id="2147481618" r:id="rId62"/>
    <p:sldId id="2147481608" r:id="rId63"/>
    <p:sldId id="2147481617" r:id="rId64"/>
    <p:sldId id="2147481609" r:id="rId65"/>
    <p:sldId id="2147481619" r:id="rId66"/>
    <p:sldId id="2147481610" r:id="rId67"/>
    <p:sldId id="2147481611" r:id="rId68"/>
    <p:sldId id="2147481620" r:id="rId69"/>
    <p:sldId id="2147481613" r:id="rId70"/>
    <p:sldId id="262" r:id="rId71"/>
    <p:sldId id="2147481616" r:id="rId72"/>
    <p:sldId id="2147481598" r:id="rId73"/>
    <p:sldId id="2147479661" r:id="rId74"/>
    <p:sldId id="2147481594" r:id="rId75"/>
    <p:sldId id="2147481600" r:id="rId76"/>
    <p:sldId id="2147481601" r:id="rId77"/>
    <p:sldId id="2147479637" r:id="rId78"/>
    <p:sldId id="266" r:id="rId79"/>
    <p:sldId id="2147481621" r:id="rId80"/>
  </p:sldIdLst>
  <p:sldSz cx="12192000" cy="6858000"/>
  <p:notesSz cx="6858000" cy="9144000"/>
  <p:custDataLst>
    <p:tags r:id="rId8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8268AD7-34C1-4952-83BC-BA406E300112}">
          <p14:sldIdLst>
            <p14:sldId id="256"/>
            <p14:sldId id="257"/>
            <p14:sldId id="2147469889"/>
          </p14:sldIdLst>
        </p14:section>
        <p14:section name="Concepts RECAP" id="{B99AC160-60F5-4112-97D7-941614ACAB7B}">
          <p14:sldIdLst>
            <p14:sldId id="259"/>
            <p14:sldId id="274"/>
            <p14:sldId id="2147481604"/>
            <p14:sldId id="2076138571"/>
            <p14:sldId id="2076138569"/>
            <p14:sldId id="2076138570"/>
            <p14:sldId id="2147469910"/>
            <p14:sldId id="2147469909"/>
            <p14:sldId id="2147469911"/>
          </p14:sldIdLst>
        </p14:section>
        <p14:section name="Basic Options" id="{D20715D9-01B4-4F09-94AC-5B095FCF68F1}">
          <p14:sldIdLst>
            <p14:sldId id="2147481605"/>
            <p14:sldId id="2147481606"/>
            <p14:sldId id="2147481607"/>
            <p14:sldId id="2147481614"/>
            <p14:sldId id="2147481618"/>
            <p14:sldId id="2147481608"/>
            <p14:sldId id="2147481617"/>
            <p14:sldId id="2147481609"/>
            <p14:sldId id="2147481619"/>
            <p14:sldId id="2147481610"/>
            <p14:sldId id="2147481611"/>
            <p14:sldId id="2147481620"/>
            <p14:sldId id="2147481613"/>
          </p14:sldIdLst>
        </p14:section>
        <p14:section name="Azure Container Storage" id="{A3291E2C-EC47-4F95-B5ED-780694DB92CE}">
          <p14:sldIdLst>
            <p14:sldId id="262"/>
            <p14:sldId id="2147481616"/>
            <p14:sldId id="2147481598"/>
            <p14:sldId id="2147479661"/>
            <p14:sldId id="2147481594"/>
            <p14:sldId id="2147481600"/>
            <p14:sldId id="2147481601"/>
            <p14:sldId id="2147479637"/>
            <p14:sldId id="266"/>
            <p14:sldId id="2147481621"/>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AA2690C-DAF2-FE5F-D13F-42FF3D10F374}" name="Brianna Farah" initials="BF" userId="S::brianna@audienz.com::f1856917-c2d4-49a7-94e9-7f0e47fabbfc" providerId="AD"/>
  <p188:author id="{EF32DA53-2C03-03EE-2EEA-AE2457C9B68C}" name="Tessa Berkley" initials="TB" userId="S::tessab@audienz.com::29198474-64f9-4b67-b7f5-57f0013c6244"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essa Berkley" initials="TB" lastIdx="18" clrIdx="0">
    <p:extLst>
      <p:ext uri="{19B8F6BF-5375-455C-9EA6-DF929625EA0E}">
        <p15:presenceInfo xmlns:p15="http://schemas.microsoft.com/office/powerpoint/2012/main" userId="S::TessaB@audienz.com::29198474-64f9-4b67-b7f5-57f0013c6244" providerId="AD"/>
      </p:ext>
    </p:extLst>
  </p:cmAuthor>
  <p:cmAuthor id="2" name="Brianna Farah" initials="BF" lastIdx="6" clrIdx="1">
    <p:extLst>
      <p:ext uri="{19B8F6BF-5375-455C-9EA6-DF929625EA0E}">
        <p15:presenceInfo xmlns:p15="http://schemas.microsoft.com/office/powerpoint/2012/main" userId="S::brianna@audienz.com::f1856917-c2d4-49a7-94e9-7f0e47fabbf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D3D3"/>
    <a:srgbClr val="6089B4"/>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287A68-0BA5-CA29-30A8-9FD7A3482B6B}" v="12" dt="2025-09-08T18:32:55.840"/>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365" autoAdjust="0"/>
    <p:restoredTop sz="68961" autoAdjust="0"/>
  </p:normalViewPr>
  <p:slideViewPr>
    <p:cSldViewPr snapToGrid="0">
      <p:cViewPr varScale="1">
        <p:scale>
          <a:sx n="70" d="100"/>
          <a:sy n="70" d="100"/>
        </p:scale>
        <p:origin x="1284"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customXml" Target="../customXml/item26.xml"/><Relationship Id="rId21" Type="http://schemas.openxmlformats.org/officeDocument/2006/relationships/customXml" Target="../customXml/item21.xml"/><Relationship Id="rId42" Type="http://schemas.openxmlformats.org/officeDocument/2006/relationships/customXml" Target="../customXml/item42.xml"/><Relationship Id="rId47" Type="http://schemas.openxmlformats.org/officeDocument/2006/relationships/slide" Target="slides/slide2.xml"/><Relationship Id="rId63" Type="http://schemas.openxmlformats.org/officeDocument/2006/relationships/slide" Target="slides/slide18.xml"/><Relationship Id="rId68" Type="http://schemas.openxmlformats.org/officeDocument/2006/relationships/slide" Target="slides/slide23.xml"/><Relationship Id="rId84" Type="http://schemas.openxmlformats.org/officeDocument/2006/relationships/presProps" Target="presProps.xml"/><Relationship Id="rId89" Type="http://schemas.microsoft.com/office/2015/10/relationships/revisionInfo" Target="revisionInfo.xml"/><Relationship Id="rId16" Type="http://schemas.openxmlformats.org/officeDocument/2006/relationships/customXml" Target="../customXml/item16.xml"/><Relationship Id="rId11" Type="http://schemas.openxmlformats.org/officeDocument/2006/relationships/customXml" Target="../customXml/item11.xml"/><Relationship Id="rId32" Type="http://schemas.openxmlformats.org/officeDocument/2006/relationships/customXml" Target="../customXml/item32.xml"/><Relationship Id="rId37" Type="http://schemas.openxmlformats.org/officeDocument/2006/relationships/customXml" Target="../customXml/item37.xml"/><Relationship Id="rId53" Type="http://schemas.openxmlformats.org/officeDocument/2006/relationships/slide" Target="slides/slide8.xml"/><Relationship Id="rId58" Type="http://schemas.openxmlformats.org/officeDocument/2006/relationships/slide" Target="slides/slide13.xml"/><Relationship Id="rId74" Type="http://schemas.openxmlformats.org/officeDocument/2006/relationships/slide" Target="slides/slide29.xml"/><Relationship Id="rId79" Type="http://schemas.openxmlformats.org/officeDocument/2006/relationships/slide" Target="slides/slide34.xml"/><Relationship Id="rId5" Type="http://schemas.openxmlformats.org/officeDocument/2006/relationships/customXml" Target="../customXml/item5.xml"/><Relationship Id="rId90" Type="http://schemas.microsoft.com/office/2018/10/relationships/authors" Target="authors.xml"/><Relationship Id="rId14" Type="http://schemas.openxmlformats.org/officeDocument/2006/relationships/customXml" Target="../customXml/item14.xml"/><Relationship Id="rId22" Type="http://schemas.openxmlformats.org/officeDocument/2006/relationships/customXml" Target="../customXml/item22.xml"/><Relationship Id="rId27" Type="http://schemas.openxmlformats.org/officeDocument/2006/relationships/customXml" Target="../customXml/item27.xml"/><Relationship Id="rId30" Type="http://schemas.openxmlformats.org/officeDocument/2006/relationships/customXml" Target="../customXml/item30.xml"/><Relationship Id="rId35" Type="http://schemas.openxmlformats.org/officeDocument/2006/relationships/customXml" Target="../customXml/item35.xml"/><Relationship Id="rId43" Type="http://schemas.openxmlformats.org/officeDocument/2006/relationships/customXml" Target="../customXml/item43.xml"/><Relationship Id="rId48" Type="http://schemas.openxmlformats.org/officeDocument/2006/relationships/slide" Target="slides/slide3.xml"/><Relationship Id="rId56" Type="http://schemas.openxmlformats.org/officeDocument/2006/relationships/slide" Target="slides/slide11.xml"/><Relationship Id="rId64" Type="http://schemas.openxmlformats.org/officeDocument/2006/relationships/slide" Target="slides/slide19.xml"/><Relationship Id="rId69" Type="http://schemas.openxmlformats.org/officeDocument/2006/relationships/slide" Target="slides/slide24.xml"/><Relationship Id="rId77" Type="http://schemas.openxmlformats.org/officeDocument/2006/relationships/slide" Target="slides/slide32.xml"/><Relationship Id="rId8" Type="http://schemas.openxmlformats.org/officeDocument/2006/relationships/customXml" Target="../customXml/item8.xml"/><Relationship Id="rId51" Type="http://schemas.openxmlformats.org/officeDocument/2006/relationships/slide" Target="slides/slide6.xml"/><Relationship Id="rId72" Type="http://schemas.openxmlformats.org/officeDocument/2006/relationships/slide" Target="slides/slide27.xml"/><Relationship Id="rId80" Type="http://schemas.openxmlformats.org/officeDocument/2006/relationships/slide" Target="slides/slide35.xml"/><Relationship Id="rId85"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customXml" Target="../customXml/item25.xml"/><Relationship Id="rId33" Type="http://schemas.openxmlformats.org/officeDocument/2006/relationships/customXml" Target="../customXml/item33.xml"/><Relationship Id="rId38" Type="http://schemas.openxmlformats.org/officeDocument/2006/relationships/customXml" Target="../customXml/item38.xml"/><Relationship Id="rId46" Type="http://schemas.openxmlformats.org/officeDocument/2006/relationships/slide" Target="slides/slide1.xml"/><Relationship Id="rId59" Type="http://schemas.openxmlformats.org/officeDocument/2006/relationships/slide" Target="slides/slide14.xml"/><Relationship Id="rId67" Type="http://schemas.openxmlformats.org/officeDocument/2006/relationships/slide" Target="slides/slide22.xml"/><Relationship Id="rId20" Type="http://schemas.openxmlformats.org/officeDocument/2006/relationships/customXml" Target="../customXml/item20.xml"/><Relationship Id="rId41" Type="http://schemas.openxmlformats.org/officeDocument/2006/relationships/customXml" Target="../customXml/item41.xml"/><Relationship Id="rId54" Type="http://schemas.openxmlformats.org/officeDocument/2006/relationships/slide" Target="slides/slide9.xml"/><Relationship Id="rId62" Type="http://schemas.openxmlformats.org/officeDocument/2006/relationships/slide" Target="slides/slide17.xml"/><Relationship Id="rId70" Type="http://schemas.openxmlformats.org/officeDocument/2006/relationships/slide" Target="slides/slide25.xml"/><Relationship Id="rId75" Type="http://schemas.openxmlformats.org/officeDocument/2006/relationships/slide" Target="slides/slide30.xml"/><Relationship Id="rId83" Type="http://schemas.openxmlformats.org/officeDocument/2006/relationships/commentAuthors" Target="commentAuthors.xml"/><Relationship Id="rId88"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customXml" Target="../customXml/item28.xml"/><Relationship Id="rId36" Type="http://schemas.openxmlformats.org/officeDocument/2006/relationships/customXml" Target="../customXml/item36.xml"/><Relationship Id="rId49" Type="http://schemas.openxmlformats.org/officeDocument/2006/relationships/slide" Target="slides/slide4.xml"/><Relationship Id="rId57" Type="http://schemas.openxmlformats.org/officeDocument/2006/relationships/slide" Target="slides/slide12.xml"/><Relationship Id="rId10" Type="http://schemas.openxmlformats.org/officeDocument/2006/relationships/customXml" Target="../customXml/item10.xml"/><Relationship Id="rId31" Type="http://schemas.openxmlformats.org/officeDocument/2006/relationships/customXml" Target="../customXml/item31.xml"/><Relationship Id="rId44" Type="http://schemas.openxmlformats.org/officeDocument/2006/relationships/customXml" Target="../customXml/item44.xml"/><Relationship Id="rId52" Type="http://schemas.openxmlformats.org/officeDocument/2006/relationships/slide" Target="slides/slide7.xml"/><Relationship Id="rId60" Type="http://schemas.openxmlformats.org/officeDocument/2006/relationships/slide" Target="slides/slide15.xml"/><Relationship Id="rId65" Type="http://schemas.openxmlformats.org/officeDocument/2006/relationships/slide" Target="slides/slide20.xml"/><Relationship Id="rId73" Type="http://schemas.openxmlformats.org/officeDocument/2006/relationships/slide" Target="slides/slide28.xml"/><Relationship Id="rId78" Type="http://schemas.openxmlformats.org/officeDocument/2006/relationships/slide" Target="slides/slide33.xml"/><Relationship Id="rId81" Type="http://schemas.openxmlformats.org/officeDocument/2006/relationships/notesMaster" Target="notesMasters/notesMaster1.xml"/><Relationship Id="rId86"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customXml" Target="../customXml/item9.xml"/><Relationship Id="rId13" Type="http://schemas.openxmlformats.org/officeDocument/2006/relationships/customXml" Target="../customXml/item13.xml"/><Relationship Id="rId18" Type="http://schemas.openxmlformats.org/officeDocument/2006/relationships/customXml" Target="../customXml/item18.xml"/><Relationship Id="rId39" Type="http://schemas.openxmlformats.org/officeDocument/2006/relationships/customXml" Target="../customXml/item39.xml"/><Relationship Id="rId34" Type="http://schemas.openxmlformats.org/officeDocument/2006/relationships/customXml" Target="../customXml/item34.xml"/><Relationship Id="rId50" Type="http://schemas.openxmlformats.org/officeDocument/2006/relationships/slide" Target="slides/slide5.xml"/><Relationship Id="rId55" Type="http://schemas.openxmlformats.org/officeDocument/2006/relationships/slide" Target="slides/slide10.xml"/><Relationship Id="rId76" Type="http://schemas.openxmlformats.org/officeDocument/2006/relationships/slide" Target="slides/slide31.xml"/><Relationship Id="rId7" Type="http://schemas.openxmlformats.org/officeDocument/2006/relationships/customXml" Target="../customXml/item7.xml"/><Relationship Id="rId71" Type="http://schemas.openxmlformats.org/officeDocument/2006/relationships/slide" Target="slides/slide26.xml"/><Relationship Id="rId2" Type="http://schemas.openxmlformats.org/officeDocument/2006/relationships/customXml" Target="../customXml/item2.xml"/><Relationship Id="rId29" Type="http://schemas.openxmlformats.org/officeDocument/2006/relationships/customXml" Target="../customXml/item29.xml"/><Relationship Id="rId24" Type="http://schemas.openxmlformats.org/officeDocument/2006/relationships/customXml" Target="../customXml/item24.xml"/><Relationship Id="rId40" Type="http://schemas.openxmlformats.org/officeDocument/2006/relationships/customXml" Target="../customXml/item40.xml"/><Relationship Id="rId45" Type="http://schemas.openxmlformats.org/officeDocument/2006/relationships/slideMaster" Target="slideMasters/slideMaster1.xml"/><Relationship Id="rId66" Type="http://schemas.openxmlformats.org/officeDocument/2006/relationships/slide" Target="slides/slide21.xml"/><Relationship Id="rId87" Type="http://schemas.openxmlformats.org/officeDocument/2006/relationships/tableStyles" Target="tableStyles.xml"/><Relationship Id="rId61" Type="http://schemas.openxmlformats.org/officeDocument/2006/relationships/slide" Target="slides/slide16.xml"/><Relationship Id="rId82" Type="http://schemas.openxmlformats.org/officeDocument/2006/relationships/tags" Target="tags/tag1.xml"/><Relationship Id="rId19" Type="http://schemas.openxmlformats.org/officeDocument/2006/relationships/customXml" Target="../customXml/item1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Little" userId="b03908d1-a18e-4c67-8d7a-8ff6d36c93f4" providerId="ADAL" clId="{D2CDFBC8-9778-44E2-AECA-E499C9AFADEB}"/>
    <pc:docChg chg="undo custSel addSld modSld">
      <pc:chgData name="David Little" userId="b03908d1-a18e-4c67-8d7a-8ff6d36c93f4" providerId="ADAL" clId="{D2CDFBC8-9778-44E2-AECA-E499C9AFADEB}" dt="2025-06-18T11:16:14.785" v="2722" actId="14100"/>
      <pc:docMkLst>
        <pc:docMk/>
      </pc:docMkLst>
      <pc:sldChg chg="delSp modSp mod modNotesTx">
        <pc:chgData name="David Little" userId="b03908d1-a18e-4c67-8d7a-8ff6d36c93f4" providerId="ADAL" clId="{D2CDFBC8-9778-44E2-AECA-E499C9AFADEB}" dt="2025-06-18T10:34:13.812" v="1188" actId="20577"/>
        <pc:sldMkLst>
          <pc:docMk/>
          <pc:sldMk cId="3490577179" sldId="2147481606"/>
        </pc:sldMkLst>
      </pc:sldChg>
      <pc:sldChg chg="delSp modSp add mod modNotesTx">
        <pc:chgData name="David Little" userId="b03908d1-a18e-4c67-8d7a-8ff6d36c93f4" providerId="ADAL" clId="{D2CDFBC8-9778-44E2-AECA-E499C9AFADEB}" dt="2025-06-18T10:59:46.090" v="1780" actId="20577"/>
        <pc:sldMkLst>
          <pc:docMk/>
          <pc:sldMk cId="3477134530" sldId="2147481607"/>
        </pc:sldMkLst>
      </pc:sldChg>
      <pc:sldChg chg="modSp add mod modNotesTx">
        <pc:chgData name="David Little" userId="b03908d1-a18e-4c67-8d7a-8ff6d36c93f4" providerId="ADAL" clId="{D2CDFBC8-9778-44E2-AECA-E499C9AFADEB}" dt="2025-06-18T11:00:55.531" v="1782" actId="20577"/>
        <pc:sldMkLst>
          <pc:docMk/>
          <pc:sldMk cId="410779376" sldId="2147481608"/>
        </pc:sldMkLst>
      </pc:sldChg>
      <pc:sldChg chg="modSp add mod modNotesTx">
        <pc:chgData name="David Little" userId="b03908d1-a18e-4c67-8d7a-8ff6d36c93f4" providerId="ADAL" clId="{D2CDFBC8-9778-44E2-AECA-E499C9AFADEB}" dt="2025-06-18T11:01:40.446" v="1786" actId="20577"/>
        <pc:sldMkLst>
          <pc:docMk/>
          <pc:sldMk cId="1830043643" sldId="2147481609"/>
        </pc:sldMkLst>
      </pc:sldChg>
      <pc:sldChg chg="modSp add mod modNotesTx">
        <pc:chgData name="David Little" userId="b03908d1-a18e-4c67-8d7a-8ff6d36c93f4" providerId="ADAL" clId="{D2CDFBC8-9778-44E2-AECA-E499C9AFADEB}" dt="2025-06-18T11:06:17.736" v="1994" actId="5793"/>
        <pc:sldMkLst>
          <pc:docMk/>
          <pc:sldMk cId="2204417667" sldId="2147481610"/>
        </pc:sldMkLst>
      </pc:sldChg>
      <pc:sldChg chg="modSp add mod modNotesTx">
        <pc:chgData name="David Little" userId="b03908d1-a18e-4c67-8d7a-8ff6d36c93f4" providerId="ADAL" clId="{D2CDFBC8-9778-44E2-AECA-E499C9AFADEB}" dt="2025-06-18T11:02:17.259" v="1788" actId="20577"/>
        <pc:sldMkLst>
          <pc:docMk/>
          <pc:sldMk cId="371132361" sldId="2147481611"/>
        </pc:sldMkLst>
      </pc:sldChg>
      <pc:sldChg chg="addSp delSp modSp add mod modShow">
        <pc:chgData name="David Little" userId="b03908d1-a18e-4c67-8d7a-8ff6d36c93f4" providerId="ADAL" clId="{D2CDFBC8-9778-44E2-AECA-E499C9AFADEB}" dt="2025-06-18T10:59:35.969" v="1773" actId="729"/>
        <pc:sldMkLst>
          <pc:docMk/>
          <pc:sldMk cId="712835196" sldId="2147481612"/>
        </pc:sldMkLst>
      </pc:sldChg>
      <pc:sldChg chg="addSp delSp modSp add mod">
        <pc:chgData name="David Little" userId="b03908d1-a18e-4c67-8d7a-8ff6d36c93f4" providerId="ADAL" clId="{D2CDFBC8-9778-44E2-AECA-E499C9AFADEB}" dt="2025-06-18T11:16:14.785" v="2722" actId="14100"/>
        <pc:sldMkLst>
          <pc:docMk/>
          <pc:sldMk cId="337679707" sldId="2147481613"/>
        </pc:sldMkLst>
      </pc:sldChg>
    </pc:docChg>
  </pc:docChgLst>
  <pc:docChgLst>
    <pc:chgData name="Andrew Albers" userId="05a0db6f-a93d-4086-9310-e241c2ed23ed" providerId="ADAL" clId="{4838AA83-E4EF-4160-92F5-B0D3D0847C92}"/>
    <pc:docChg chg="custSel modSld">
      <pc:chgData name="Andrew Albers" userId="05a0db6f-a93d-4086-9310-e241c2ed23ed" providerId="ADAL" clId="{4838AA83-E4EF-4160-92F5-B0D3D0847C92}" dt="2025-07-16T18:52:21.017" v="80" actId="14100"/>
      <pc:docMkLst>
        <pc:docMk/>
      </pc:docMkLst>
      <pc:sldChg chg="addSp delSp modSp mod">
        <pc:chgData name="Andrew Albers" userId="05a0db6f-a93d-4086-9310-e241c2ed23ed" providerId="ADAL" clId="{4838AA83-E4EF-4160-92F5-B0D3D0847C92}" dt="2025-07-16T18:52:21.017" v="80" actId="14100"/>
        <pc:sldMkLst>
          <pc:docMk/>
          <pc:sldMk cId="2181956486" sldId="256"/>
        </pc:sldMkLst>
      </pc:sldChg>
    </pc:docChg>
  </pc:docChgLst>
  <pc:docChgLst>
    <pc:chgData name="Andrew Albers" userId="S::andrewalbers@microsoft.com::05a0db6f-a93d-4086-9310-e241c2ed23ed" providerId="AD" clId="Web-{C8287A68-0BA5-CA29-30A8-9FD7A3482B6B}"/>
    <pc:docChg chg="addSld modSld modSection">
      <pc:chgData name="Andrew Albers" userId="S::andrewalbers@microsoft.com::05a0db6f-a93d-4086-9310-e241c2ed23ed" providerId="AD" clId="Web-{C8287A68-0BA5-CA29-30A8-9FD7A3482B6B}" dt="2025-09-08T18:32:04.293" v="6" actId="20577"/>
      <pc:docMkLst>
        <pc:docMk/>
      </pc:docMkLst>
      <pc:sldChg chg="modSp add">
        <pc:chgData name="Andrew Albers" userId="S::andrewalbers@microsoft.com::05a0db6f-a93d-4086-9310-e241c2ed23ed" providerId="AD" clId="Web-{C8287A68-0BA5-CA29-30A8-9FD7A3482B6B}" dt="2025-09-08T18:32:04.293" v="6" actId="20577"/>
        <pc:sldMkLst>
          <pc:docMk/>
          <pc:sldMk cId="3977638465" sldId="266"/>
        </pc:sldMkLst>
        <pc:spChg chg="mod">
          <ac:chgData name="Andrew Albers" userId="S::andrewalbers@microsoft.com::05a0db6f-a93d-4086-9310-e241c2ed23ed" providerId="AD" clId="Web-{C8287A68-0BA5-CA29-30A8-9FD7A3482B6B}" dt="2025-09-08T18:32:04.293" v="6" actId="20577"/>
          <ac:spMkLst>
            <pc:docMk/>
            <pc:sldMk cId="3977638465" sldId="266"/>
            <ac:spMk id="2" creationId="{BC57B38C-8413-4861-A4F5-7DF656AEAD0D}"/>
          </ac:spMkLst>
        </pc:spChg>
      </pc:sldChg>
      <pc:sldChg chg="modSp new mod modClrScheme chgLayout">
        <pc:chgData name="Andrew Albers" userId="S::andrewalbers@microsoft.com::05a0db6f-a93d-4086-9310-e241c2ed23ed" providerId="AD" clId="Web-{C8287A68-0BA5-CA29-30A8-9FD7A3482B6B}" dt="2025-09-08T18:31:07.042" v="1"/>
        <pc:sldMkLst>
          <pc:docMk/>
          <pc:sldMk cId="805424575" sldId="2147481621"/>
        </pc:sldMkLst>
        <pc:spChg chg="mod ord">
          <ac:chgData name="Andrew Albers" userId="S::andrewalbers@microsoft.com::05a0db6f-a93d-4086-9310-e241c2ed23ed" providerId="AD" clId="Web-{C8287A68-0BA5-CA29-30A8-9FD7A3482B6B}" dt="2025-09-08T18:31:07.042" v="1"/>
          <ac:spMkLst>
            <pc:docMk/>
            <pc:sldMk cId="805424575" sldId="2147481621"/>
            <ac:spMk id="2" creationId="{A870B1FA-29AF-2296-5A21-F27F312E6E01}"/>
          </ac:spMkLst>
        </pc:spChg>
        <pc:spChg chg="mod ord">
          <ac:chgData name="Andrew Albers" userId="S::andrewalbers@microsoft.com::05a0db6f-a93d-4086-9310-e241c2ed23ed" providerId="AD" clId="Web-{C8287A68-0BA5-CA29-30A8-9FD7A3482B6B}" dt="2025-09-08T18:31:07.042" v="1"/>
          <ac:spMkLst>
            <pc:docMk/>
            <pc:sldMk cId="805424575" sldId="2147481621"/>
            <ac:spMk id="3" creationId="{1AB36255-785A-C971-66C5-852FBCC48063}"/>
          </ac:spMkLst>
        </pc:spChg>
        <pc:spChg chg="mod ord">
          <ac:chgData name="Andrew Albers" userId="S::andrewalbers@microsoft.com::05a0db6f-a93d-4086-9310-e241c2ed23ed" providerId="AD" clId="Web-{C8287A68-0BA5-CA29-30A8-9FD7A3482B6B}" dt="2025-09-08T18:31:07.042" v="1"/>
          <ac:spMkLst>
            <pc:docMk/>
            <pc:sldMk cId="805424575" sldId="2147481621"/>
            <ac:spMk id="4" creationId="{F4384F0B-E657-2DB2-6E93-7AEB345A861F}"/>
          </ac:spMkLst>
        </pc:spChg>
      </pc:sldChg>
    </pc:docChg>
  </pc:docChgLst>
  <pc:docChgLst>
    <pc:chgData name="David Little" userId="b03908d1-a18e-4c67-8d7a-8ff6d36c93f4" providerId="ADAL" clId="{C398CA73-539F-41FE-8292-CA72DAA904E4}"/>
    <pc:docChg chg="custSel delSld modSld delSection modSection">
      <pc:chgData name="David Little" userId="b03908d1-a18e-4c67-8d7a-8ff6d36c93f4" providerId="ADAL" clId="{C398CA73-539F-41FE-8292-CA72DAA904E4}" dt="2025-07-04T18:26:34.505" v="1466" actId="313"/>
      <pc:docMkLst>
        <pc:docMk/>
      </pc:docMkLst>
      <pc:sldChg chg="del">
        <pc:chgData name="David Little" userId="b03908d1-a18e-4c67-8d7a-8ff6d36c93f4" providerId="ADAL" clId="{C398CA73-539F-41FE-8292-CA72DAA904E4}" dt="2025-07-04T18:24:51.873" v="1455" actId="47"/>
        <pc:sldMkLst>
          <pc:docMk/>
          <pc:sldMk cId="1385431110" sldId="263"/>
        </pc:sldMkLst>
      </pc:sldChg>
      <pc:sldChg chg="del">
        <pc:chgData name="David Little" userId="b03908d1-a18e-4c67-8d7a-8ff6d36c93f4" providerId="ADAL" clId="{C398CA73-539F-41FE-8292-CA72DAA904E4}" dt="2025-07-04T18:24:51.873" v="1455" actId="47"/>
        <pc:sldMkLst>
          <pc:docMk/>
          <pc:sldMk cId="3996308554" sldId="264"/>
        </pc:sldMkLst>
      </pc:sldChg>
      <pc:sldChg chg="del">
        <pc:chgData name="David Little" userId="b03908d1-a18e-4c67-8d7a-8ff6d36c93f4" providerId="ADAL" clId="{C398CA73-539F-41FE-8292-CA72DAA904E4}" dt="2025-07-04T18:24:51.873" v="1455" actId="47"/>
        <pc:sldMkLst>
          <pc:docMk/>
          <pc:sldMk cId="4145703054" sldId="265"/>
        </pc:sldMkLst>
      </pc:sldChg>
      <pc:sldChg chg="del">
        <pc:chgData name="David Little" userId="b03908d1-a18e-4c67-8d7a-8ff6d36c93f4" providerId="ADAL" clId="{C398CA73-539F-41FE-8292-CA72DAA904E4}" dt="2025-07-04T18:24:51.873" v="1455" actId="47"/>
        <pc:sldMkLst>
          <pc:docMk/>
          <pc:sldMk cId="3977638465" sldId="266"/>
        </pc:sldMkLst>
      </pc:sldChg>
      <pc:sldChg chg="del">
        <pc:chgData name="David Little" userId="b03908d1-a18e-4c67-8d7a-8ff6d36c93f4" providerId="ADAL" clId="{C398CA73-539F-41FE-8292-CA72DAA904E4}" dt="2025-07-04T18:24:51.873" v="1455" actId="47"/>
        <pc:sldMkLst>
          <pc:docMk/>
          <pc:sldMk cId="1660683684" sldId="272"/>
        </pc:sldMkLst>
      </pc:sldChg>
      <pc:sldChg chg="del">
        <pc:chgData name="David Little" userId="b03908d1-a18e-4c67-8d7a-8ff6d36c93f4" providerId="ADAL" clId="{C398CA73-539F-41FE-8292-CA72DAA904E4}" dt="2025-07-04T18:24:51.873" v="1455" actId="47"/>
        <pc:sldMkLst>
          <pc:docMk/>
          <pc:sldMk cId="2658098196" sldId="277"/>
        </pc:sldMkLst>
      </pc:sldChg>
      <pc:sldChg chg="del">
        <pc:chgData name="David Little" userId="b03908d1-a18e-4c67-8d7a-8ff6d36c93f4" providerId="ADAL" clId="{C398CA73-539F-41FE-8292-CA72DAA904E4}" dt="2025-07-04T18:24:51.873" v="1455" actId="47"/>
        <pc:sldMkLst>
          <pc:docMk/>
          <pc:sldMk cId="1116137402" sldId="278"/>
        </pc:sldMkLst>
      </pc:sldChg>
      <pc:sldChg chg="del">
        <pc:chgData name="David Little" userId="b03908d1-a18e-4c67-8d7a-8ff6d36c93f4" providerId="ADAL" clId="{C398CA73-539F-41FE-8292-CA72DAA904E4}" dt="2025-07-04T18:24:51.873" v="1455" actId="47"/>
        <pc:sldMkLst>
          <pc:docMk/>
          <pc:sldMk cId="2079012354" sldId="279"/>
        </pc:sldMkLst>
      </pc:sldChg>
      <pc:sldChg chg="del">
        <pc:chgData name="David Little" userId="b03908d1-a18e-4c67-8d7a-8ff6d36c93f4" providerId="ADAL" clId="{C398CA73-539F-41FE-8292-CA72DAA904E4}" dt="2025-07-04T18:24:51.873" v="1455" actId="47"/>
        <pc:sldMkLst>
          <pc:docMk/>
          <pc:sldMk cId="984083080" sldId="280"/>
        </pc:sldMkLst>
      </pc:sldChg>
      <pc:sldChg chg="del">
        <pc:chgData name="David Little" userId="b03908d1-a18e-4c67-8d7a-8ff6d36c93f4" providerId="ADAL" clId="{C398CA73-539F-41FE-8292-CA72DAA904E4}" dt="2025-07-04T18:24:51.873" v="1455" actId="47"/>
        <pc:sldMkLst>
          <pc:docMk/>
          <pc:sldMk cId="615209057" sldId="2147469785"/>
        </pc:sldMkLst>
      </pc:sldChg>
      <pc:sldChg chg="del">
        <pc:chgData name="David Little" userId="b03908d1-a18e-4c67-8d7a-8ff6d36c93f4" providerId="ADAL" clId="{C398CA73-539F-41FE-8292-CA72DAA904E4}" dt="2025-07-04T18:24:51.873" v="1455" actId="47"/>
        <pc:sldMkLst>
          <pc:docMk/>
          <pc:sldMk cId="3906565222" sldId="2147469849"/>
        </pc:sldMkLst>
      </pc:sldChg>
      <pc:sldChg chg="del">
        <pc:chgData name="David Little" userId="b03908d1-a18e-4c67-8d7a-8ff6d36c93f4" providerId="ADAL" clId="{C398CA73-539F-41FE-8292-CA72DAA904E4}" dt="2025-07-04T18:24:51.873" v="1455" actId="47"/>
        <pc:sldMkLst>
          <pc:docMk/>
          <pc:sldMk cId="3833674747" sldId="2147469853"/>
        </pc:sldMkLst>
      </pc:sldChg>
      <pc:sldChg chg="del">
        <pc:chgData name="David Little" userId="b03908d1-a18e-4c67-8d7a-8ff6d36c93f4" providerId="ADAL" clId="{C398CA73-539F-41FE-8292-CA72DAA904E4}" dt="2025-07-04T18:24:51.873" v="1455" actId="47"/>
        <pc:sldMkLst>
          <pc:docMk/>
          <pc:sldMk cId="3096303819" sldId="2147469859"/>
        </pc:sldMkLst>
      </pc:sldChg>
      <pc:sldChg chg="del">
        <pc:chgData name="David Little" userId="b03908d1-a18e-4c67-8d7a-8ff6d36c93f4" providerId="ADAL" clId="{C398CA73-539F-41FE-8292-CA72DAA904E4}" dt="2025-07-04T18:24:51.873" v="1455" actId="47"/>
        <pc:sldMkLst>
          <pc:docMk/>
          <pc:sldMk cId="1590938168" sldId="2147469867"/>
        </pc:sldMkLst>
      </pc:sldChg>
      <pc:sldChg chg="del">
        <pc:chgData name="David Little" userId="b03908d1-a18e-4c67-8d7a-8ff6d36c93f4" providerId="ADAL" clId="{C398CA73-539F-41FE-8292-CA72DAA904E4}" dt="2025-07-04T18:24:51.873" v="1455" actId="47"/>
        <pc:sldMkLst>
          <pc:docMk/>
          <pc:sldMk cId="591597269" sldId="2147469868"/>
        </pc:sldMkLst>
      </pc:sldChg>
      <pc:sldChg chg="del">
        <pc:chgData name="David Little" userId="b03908d1-a18e-4c67-8d7a-8ff6d36c93f4" providerId="ADAL" clId="{C398CA73-539F-41FE-8292-CA72DAA904E4}" dt="2025-07-04T18:24:51.873" v="1455" actId="47"/>
        <pc:sldMkLst>
          <pc:docMk/>
          <pc:sldMk cId="4015218864" sldId="2147469872"/>
        </pc:sldMkLst>
      </pc:sldChg>
      <pc:sldChg chg="del">
        <pc:chgData name="David Little" userId="b03908d1-a18e-4c67-8d7a-8ff6d36c93f4" providerId="ADAL" clId="{C398CA73-539F-41FE-8292-CA72DAA904E4}" dt="2025-07-04T18:24:51.873" v="1455" actId="47"/>
        <pc:sldMkLst>
          <pc:docMk/>
          <pc:sldMk cId="2635820762" sldId="2147469873"/>
        </pc:sldMkLst>
      </pc:sldChg>
      <pc:sldChg chg="del">
        <pc:chgData name="David Little" userId="b03908d1-a18e-4c67-8d7a-8ff6d36c93f4" providerId="ADAL" clId="{C398CA73-539F-41FE-8292-CA72DAA904E4}" dt="2025-07-04T18:24:51.873" v="1455" actId="47"/>
        <pc:sldMkLst>
          <pc:docMk/>
          <pc:sldMk cId="2235235484" sldId="2147469875"/>
        </pc:sldMkLst>
      </pc:sldChg>
      <pc:sldChg chg="del">
        <pc:chgData name="David Little" userId="b03908d1-a18e-4c67-8d7a-8ff6d36c93f4" providerId="ADAL" clId="{C398CA73-539F-41FE-8292-CA72DAA904E4}" dt="2025-07-04T18:24:51.873" v="1455" actId="47"/>
        <pc:sldMkLst>
          <pc:docMk/>
          <pc:sldMk cId="1497532563" sldId="2147469876"/>
        </pc:sldMkLst>
      </pc:sldChg>
      <pc:sldChg chg="del">
        <pc:chgData name="David Little" userId="b03908d1-a18e-4c67-8d7a-8ff6d36c93f4" providerId="ADAL" clId="{C398CA73-539F-41FE-8292-CA72DAA904E4}" dt="2025-07-04T18:24:51.873" v="1455" actId="47"/>
        <pc:sldMkLst>
          <pc:docMk/>
          <pc:sldMk cId="522795473" sldId="2147469885"/>
        </pc:sldMkLst>
      </pc:sldChg>
      <pc:sldChg chg="del">
        <pc:chgData name="David Little" userId="b03908d1-a18e-4c67-8d7a-8ff6d36c93f4" providerId="ADAL" clId="{C398CA73-539F-41FE-8292-CA72DAA904E4}" dt="2025-07-04T18:24:51.873" v="1455" actId="47"/>
        <pc:sldMkLst>
          <pc:docMk/>
          <pc:sldMk cId="1952507436" sldId="2147469886"/>
        </pc:sldMkLst>
      </pc:sldChg>
      <pc:sldChg chg="del">
        <pc:chgData name="David Little" userId="b03908d1-a18e-4c67-8d7a-8ff6d36c93f4" providerId="ADAL" clId="{C398CA73-539F-41FE-8292-CA72DAA904E4}" dt="2025-07-04T18:24:51.873" v="1455" actId="47"/>
        <pc:sldMkLst>
          <pc:docMk/>
          <pc:sldMk cId="3592306970" sldId="2147469887"/>
        </pc:sldMkLst>
      </pc:sldChg>
      <pc:sldChg chg="del">
        <pc:chgData name="David Little" userId="b03908d1-a18e-4c67-8d7a-8ff6d36c93f4" providerId="ADAL" clId="{C398CA73-539F-41FE-8292-CA72DAA904E4}" dt="2025-07-04T18:24:51.873" v="1455" actId="47"/>
        <pc:sldMkLst>
          <pc:docMk/>
          <pc:sldMk cId="3486580683" sldId="2147469888"/>
        </pc:sldMkLst>
      </pc:sldChg>
      <pc:sldChg chg="modSp mod">
        <pc:chgData name="David Little" userId="b03908d1-a18e-4c67-8d7a-8ff6d36c93f4" providerId="ADAL" clId="{C398CA73-539F-41FE-8292-CA72DAA904E4}" dt="2025-07-04T18:24:28.090" v="1454" actId="20577"/>
        <pc:sldMkLst>
          <pc:docMk/>
          <pc:sldMk cId="3291269963" sldId="2147469889"/>
        </pc:sldMkLst>
      </pc:sldChg>
      <pc:sldChg chg="del">
        <pc:chgData name="David Little" userId="b03908d1-a18e-4c67-8d7a-8ff6d36c93f4" providerId="ADAL" clId="{C398CA73-539F-41FE-8292-CA72DAA904E4}" dt="2025-07-04T18:24:51.873" v="1455" actId="47"/>
        <pc:sldMkLst>
          <pc:docMk/>
          <pc:sldMk cId="272191530" sldId="2147469900"/>
        </pc:sldMkLst>
      </pc:sldChg>
      <pc:sldChg chg="addSp delSp modSp mod modAnim">
        <pc:chgData name="David Little" userId="b03908d1-a18e-4c67-8d7a-8ff6d36c93f4" providerId="ADAL" clId="{C398CA73-539F-41FE-8292-CA72DAA904E4}" dt="2025-07-04T18:23:17.367" v="1450" actId="20577"/>
        <pc:sldMkLst>
          <pc:docMk/>
          <pc:sldMk cId="3378848539" sldId="2147469909"/>
        </pc:sldMkLst>
      </pc:sldChg>
      <pc:sldChg chg="addSp delSp modSp mod modAnim">
        <pc:chgData name="David Little" userId="b03908d1-a18e-4c67-8d7a-8ff6d36c93f4" providerId="ADAL" clId="{C398CA73-539F-41FE-8292-CA72DAA904E4}" dt="2025-07-04T18:26:34.505" v="1466" actId="313"/>
        <pc:sldMkLst>
          <pc:docMk/>
          <pc:sldMk cId="4013381557" sldId="2147469910"/>
        </pc:sldMkLst>
      </pc:sldChg>
      <pc:sldChg chg="del">
        <pc:chgData name="David Little" userId="b03908d1-a18e-4c67-8d7a-8ff6d36c93f4" providerId="ADAL" clId="{C398CA73-539F-41FE-8292-CA72DAA904E4}" dt="2025-07-04T18:23:59.223" v="1452" actId="47"/>
        <pc:sldMkLst>
          <pc:docMk/>
          <pc:sldMk cId="3430330354" sldId="2147481603"/>
        </pc:sldMkLst>
      </pc:sldChg>
      <pc:sldChg chg="del">
        <pc:chgData name="David Little" userId="b03908d1-a18e-4c67-8d7a-8ff6d36c93f4" providerId="ADAL" clId="{C398CA73-539F-41FE-8292-CA72DAA904E4}" dt="2025-07-04T18:23:57.416" v="1451" actId="47"/>
        <pc:sldMkLst>
          <pc:docMk/>
          <pc:sldMk cId="1432710025" sldId="2147481615"/>
        </pc:sldMkLst>
      </pc:sldChg>
    </pc:docChg>
  </pc:docChgLst>
  <pc:docChgLst>
    <pc:chgData name="David Little" userId="b03908d1-a18e-4c67-8d7a-8ff6d36c93f4" providerId="ADAL" clId="{853E1014-1291-48FB-B5B1-3BB7F039F1A1}"/>
    <pc:docChg chg="modSld">
      <pc:chgData name="David Little" userId="b03908d1-a18e-4c67-8d7a-8ff6d36c93f4" providerId="ADAL" clId="{853E1014-1291-48FB-B5B1-3BB7F039F1A1}" dt="2025-06-23T15:56:17.006" v="18" actId="20577"/>
      <pc:docMkLst>
        <pc:docMk/>
      </pc:docMkLst>
      <pc:sldChg chg="modSp mod">
        <pc:chgData name="David Little" userId="b03908d1-a18e-4c67-8d7a-8ff6d36c93f4" providerId="ADAL" clId="{853E1014-1291-48FB-B5B1-3BB7F039F1A1}" dt="2025-06-23T15:56:06.061" v="1" actId="20577"/>
        <pc:sldMkLst>
          <pc:docMk/>
          <pc:sldMk cId="1635881331" sldId="259"/>
        </pc:sldMkLst>
      </pc:sldChg>
      <pc:sldChg chg="mod modShow">
        <pc:chgData name="David Little" userId="b03908d1-a18e-4c67-8d7a-8ff6d36c93f4" providerId="ADAL" clId="{853E1014-1291-48FB-B5B1-3BB7F039F1A1}" dt="2025-06-23T15:55:58.117" v="0" actId="729"/>
        <pc:sldMkLst>
          <pc:docMk/>
          <pc:sldMk cId="1161383017" sldId="2076138569"/>
        </pc:sldMkLst>
      </pc:sldChg>
      <pc:sldChg chg="mod modShow">
        <pc:chgData name="David Little" userId="b03908d1-a18e-4c67-8d7a-8ff6d36c93f4" providerId="ADAL" clId="{853E1014-1291-48FB-B5B1-3BB7F039F1A1}" dt="2025-06-23T15:55:58.117" v="0" actId="729"/>
        <pc:sldMkLst>
          <pc:docMk/>
          <pc:sldMk cId="725756401" sldId="2076138570"/>
        </pc:sldMkLst>
      </pc:sldChg>
      <pc:sldChg chg="modSp mod">
        <pc:chgData name="David Little" userId="b03908d1-a18e-4c67-8d7a-8ff6d36c93f4" providerId="ADAL" clId="{853E1014-1291-48FB-B5B1-3BB7F039F1A1}" dt="2025-06-23T15:56:17.006" v="18" actId="20577"/>
        <pc:sldMkLst>
          <pc:docMk/>
          <pc:sldMk cId="3291269963" sldId="2147469889"/>
        </pc:sldMkLst>
      </pc:sldChg>
      <pc:sldChg chg="mod modShow">
        <pc:chgData name="David Little" userId="b03908d1-a18e-4c67-8d7a-8ff6d36c93f4" providerId="ADAL" clId="{853E1014-1291-48FB-B5B1-3BB7F039F1A1}" dt="2025-06-23T15:55:58.117" v="0" actId="729"/>
        <pc:sldMkLst>
          <pc:docMk/>
          <pc:sldMk cId="3378848539" sldId="2147469909"/>
        </pc:sldMkLst>
      </pc:sldChg>
      <pc:sldChg chg="mod modShow">
        <pc:chgData name="David Little" userId="b03908d1-a18e-4c67-8d7a-8ff6d36c93f4" providerId="ADAL" clId="{853E1014-1291-48FB-B5B1-3BB7F039F1A1}" dt="2025-06-23T15:55:58.117" v="0" actId="729"/>
        <pc:sldMkLst>
          <pc:docMk/>
          <pc:sldMk cId="4013381557" sldId="214746991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F4A134-D1E1-48C7-8D52-300A0775AF83}" type="datetimeFigureOut">
              <a:rPr lang="en-US"/>
              <a:t>9/8/2025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09229F-6F41-4CC3-A51C-EB832A3392C5}" type="slidenum">
              <a:rPr lang="en-US"/>
              <a:t>‹#›</a:t>
            </a:fld>
            <a:endParaRPr lang="en-US"/>
          </a:p>
        </p:txBody>
      </p:sp>
    </p:spTree>
    <p:extLst>
      <p:ext uri="{BB962C8B-B14F-4D97-AF65-F5344CB8AC3E}">
        <p14:creationId xmlns:p14="http://schemas.microsoft.com/office/powerpoint/2010/main" val="42238920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learn.microsoft.com/en-us/azure/aks/concepts-storage#ephemeral-os-disk"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learn.microsoft.com/en-us/azure/virtual-machines/sizes-storage"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1</a:t>
            </a:fld>
            <a:endParaRPr lang="en-US"/>
          </a:p>
        </p:txBody>
      </p:sp>
      <p:sp>
        <p:nvSpPr>
          <p:cNvPr id="3" name="Date Placeholder 2">
            <a:extLst>
              <a:ext uri="{FF2B5EF4-FFF2-40B4-BE49-F238E27FC236}">
                <a16:creationId xmlns:a16="http://schemas.microsoft.com/office/drawing/2014/main" id="{82C0C817-6383-40C6-A619-A7F43126961B}"/>
              </a:ext>
            </a:extLst>
          </p:cNvPr>
          <p:cNvSpPr>
            <a:spLocks noGrp="1"/>
          </p:cNvSpPr>
          <p:nvPr>
            <p:ph type="dt" idx="12"/>
          </p:nvPr>
        </p:nvSpPr>
        <p:spPr/>
        <p:txBody>
          <a:bodyPr/>
          <a:lstStyle/>
          <a:p>
            <a:fld id="{93F0BA74-B6B0-4726-B93D-848B68F9209C}" type="datetime1">
              <a:rPr lang="en-US"/>
              <a:t>9/8/2025</a:t>
            </a:fld>
            <a:endParaRPr lang="en-US"/>
          </a:p>
        </p:txBody>
      </p:sp>
      <p:sp>
        <p:nvSpPr>
          <p:cNvPr id="8" name="Slide Image Placeholder 7">
            <a:extLst>
              <a:ext uri="{FF2B5EF4-FFF2-40B4-BE49-F238E27FC236}">
                <a16:creationId xmlns:a16="http://schemas.microsoft.com/office/drawing/2014/main" id="{F98C1305-7F63-4C5E-9604-A0FF494BE45D}"/>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9BFE94D2-9DA0-437E-8011-0DB757A5E8DD}"/>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5" name="Header Placeholder 4">
            <a:extLst>
              <a:ext uri="{FF2B5EF4-FFF2-40B4-BE49-F238E27FC236}">
                <a16:creationId xmlns:a16="http://schemas.microsoft.com/office/drawing/2014/main" id="{A24C5275-F675-4BEB-AAB5-B95AC3507DD6}"/>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20902067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67087899-B757-42DD-BFAC-FD8FB9602085}"/>
              </a:ext>
            </a:extLst>
          </p:cNvPr>
          <p:cNvSpPr>
            <a:spLocks noGrp="1"/>
          </p:cNvSpPr>
          <p:nvPr>
            <p:ph type="sldNum" sz="quarter" idx="10"/>
          </p:nvPr>
        </p:nvSpPr>
        <p:spPr/>
        <p:txBody>
          <a:bodyPr/>
          <a:lstStyle/>
          <a:p>
            <a:fld id="{F475C4C8-7DEA-455A-9336-A4C7DB3AE516}" type="slidenum">
              <a:rPr lang="en-US"/>
              <a:pPr/>
              <a:t>2</a:t>
            </a:fld>
            <a:endParaRPr lang="en-US"/>
          </a:p>
        </p:txBody>
      </p:sp>
      <p:sp>
        <p:nvSpPr>
          <p:cNvPr id="3" name="Date Placeholder 2">
            <a:extLst>
              <a:ext uri="{FF2B5EF4-FFF2-40B4-BE49-F238E27FC236}">
                <a16:creationId xmlns:a16="http://schemas.microsoft.com/office/drawing/2014/main" id="{2A3279EF-EF08-4E77-A509-F922EC61A8AC}"/>
              </a:ext>
            </a:extLst>
          </p:cNvPr>
          <p:cNvSpPr>
            <a:spLocks noGrp="1"/>
          </p:cNvSpPr>
          <p:nvPr>
            <p:ph type="dt" idx="12"/>
          </p:nvPr>
        </p:nvSpPr>
        <p:spPr/>
        <p:txBody>
          <a:bodyPr/>
          <a:lstStyle/>
          <a:p>
            <a:fld id="{DB0F5A79-03C7-4F04-B936-1D8348BF7B8D}" type="datetime1">
              <a:rPr lang="en-US"/>
              <a:t>9/8/2025</a:t>
            </a:fld>
            <a:endParaRPr lang="en-US"/>
          </a:p>
        </p:txBody>
      </p:sp>
      <p:sp>
        <p:nvSpPr>
          <p:cNvPr id="10" name="Slide Image Placeholder 9">
            <a:extLst>
              <a:ext uri="{FF2B5EF4-FFF2-40B4-BE49-F238E27FC236}">
                <a16:creationId xmlns:a16="http://schemas.microsoft.com/office/drawing/2014/main" id="{71623331-4C35-4EFF-9868-F85DF8DB4AAA}"/>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D4BB9EA6-88F5-449F-9E36-08AD1C866DB2}"/>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Header Placeholder 3">
            <a:extLst>
              <a:ext uri="{FF2B5EF4-FFF2-40B4-BE49-F238E27FC236}">
                <a16:creationId xmlns:a16="http://schemas.microsoft.com/office/drawing/2014/main" id="{1B5D50AE-A09E-4DDD-9B13-A2619C0E3244}"/>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31613028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3</a:t>
            </a:fld>
            <a:endParaRPr lang="en-US"/>
          </a:p>
        </p:txBody>
      </p:sp>
      <p:sp>
        <p:nvSpPr>
          <p:cNvPr id="6" name="Date Placeholder 5">
            <a:extLst>
              <a:ext uri="{FF2B5EF4-FFF2-40B4-BE49-F238E27FC236}">
                <a16:creationId xmlns:a16="http://schemas.microsoft.com/office/drawing/2014/main" id="{B5F0A125-1411-481C-8C57-BA8508D6EF94}"/>
              </a:ext>
            </a:extLst>
          </p:cNvPr>
          <p:cNvSpPr>
            <a:spLocks noGrp="1"/>
          </p:cNvSpPr>
          <p:nvPr>
            <p:ph type="dt" idx="12"/>
          </p:nvPr>
        </p:nvSpPr>
        <p:spPr/>
        <p:txBody>
          <a:bodyPr/>
          <a:lstStyle/>
          <a:p>
            <a:fld id="{520EDEF9-34DC-43EF-A96E-E4BC67A143AE}" type="datetime1">
              <a:rPr lang="en-US"/>
              <a:t>9/8/2025</a:t>
            </a:fld>
            <a:endParaRPr lang="en-US"/>
          </a:p>
        </p:txBody>
      </p:sp>
      <p:sp>
        <p:nvSpPr>
          <p:cNvPr id="10" name="Slide Image Placeholder 9">
            <a:extLst>
              <a:ext uri="{FF2B5EF4-FFF2-40B4-BE49-F238E27FC236}">
                <a16:creationId xmlns:a16="http://schemas.microsoft.com/office/drawing/2014/main" id="{E2E78E2F-5A11-492B-863A-333FCB8BF99A}"/>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F562AF71-297A-4E14-905B-9BC87AF9311A}"/>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2" name="Header Placeholder 1">
            <a:extLst>
              <a:ext uri="{FF2B5EF4-FFF2-40B4-BE49-F238E27FC236}">
                <a16:creationId xmlns:a16="http://schemas.microsoft.com/office/drawing/2014/main" id="{EE816882-27D1-47C1-B2DF-390182831B42}"/>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40314765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4</a:t>
            </a:fld>
            <a:endParaRPr lang="en-US"/>
          </a:p>
        </p:txBody>
      </p:sp>
      <p:sp>
        <p:nvSpPr>
          <p:cNvPr id="3" name="Date Placeholder 2">
            <a:extLst>
              <a:ext uri="{FF2B5EF4-FFF2-40B4-BE49-F238E27FC236}">
                <a16:creationId xmlns:a16="http://schemas.microsoft.com/office/drawing/2014/main" id="{253F21FE-6D90-469E-9047-D9E85B68DF6B}"/>
              </a:ext>
            </a:extLst>
          </p:cNvPr>
          <p:cNvSpPr>
            <a:spLocks noGrp="1"/>
          </p:cNvSpPr>
          <p:nvPr>
            <p:ph type="dt" idx="12"/>
          </p:nvPr>
        </p:nvSpPr>
        <p:spPr/>
        <p:txBody>
          <a:bodyPr/>
          <a:lstStyle/>
          <a:p>
            <a:fld id="{E57E3D00-9D4C-429E-9A61-DDFE4F2097D5}" type="datetime1">
              <a:rPr lang="en-US"/>
              <a:t>9/8/2025</a:t>
            </a:fld>
            <a:endParaRPr lang="en-US"/>
          </a:p>
        </p:txBody>
      </p:sp>
      <p:sp>
        <p:nvSpPr>
          <p:cNvPr id="8" name="Slide Image Placeholder 7">
            <a:extLst>
              <a:ext uri="{FF2B5EF4-FFF2-40B4-BE49-F238E27FC236}">
                <a16:creationId xmlns:a16="http://schemas.microsoft.com/office/drawing/2014/main" id="{C7B11183-186A-4BBC-B2F8-7884666DA151}"/>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7F5BB2EB-6EC5-46BF-B848-AF78DF3313FB}"/>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D2DE8FA8-BD65-4569-8095-2AAA0C0CEA0A}"/>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17387535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pPr lvl="0"/>
            <a:fld id="{8B263312-38AA-4E1E-B2B5-0F8F122B24FE}" type="slidenum">
              <a:rPr lang="en-US" noProof="0" smtClean="0"/>
              <a:pPr lvl="0"/>
              <a:t>5</a:t>
            </a:fld>
            <a:endParaRPr lang="en-US" noProof="0"/>
          </a:p>
        </p:txBody>
      </p:sp>
      <p:sp>
        <p:nvSpPr>
          <p:cNvPr id="3" name="Date Placeholder 2">
            <a:extLst>
              <a:ext uri="{FF2B5EF4-FFF2-40B4-BE49-F238E27FC236}">
                <a16:creationId xmlns:a16="http://schemas.microsoft.com/office/drawing/2014/main" id="{AADD9822-205E-411A-98E8-614EE76611C1}"/>
              </a:ext>
            </a:extLst>
          </p:cNvPr>
          <p:cNvSpPr>
            <a:spLocks noGrp="1"/>
          </p:cNvSpPr>
          <p:nvPr>
            <p:ph type="dt" idx="14"/>
          </p:nvPr>
        </p:nvSpPr>
        <p:spPr/>
        <p:txBody>
          <a:bodyPr/>
          <a:lstStyle/>
          <a:p>
            <a:fld id="{C6C9641A-9089-4752-A056-B1CBB82B5AD3}" type="datetime1">
              <a:rPr lang="en-US" smtClean="0"/>
              <a:t>9/8/2025</a:t>
            </a:fld>
            <a:endParaRPr lang="en-US"/>
          </a:p>
        </p:txBody>
      </p:sp>
      <p:sp>
        <p:nvSpPr>
          <p:cNvPr id="8" name="Slide Image Placeholder 7">
            <a:extLst>
              <a:ext uri="{FF2B5EF4-FFF2-40B4-BE49-F238E27FC236}">
                <a16:creationId xmlns:a16="http://schemas.microsoft.com/office/drawing/2014/main" id="{93D79A44-A14C-46C2-9D88-AA4F08A12BF7}"/>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A6027BF1-B3D5-47B5-BC6F-966DC5AB1C5A}"/>
              </a:ext>
            </a:extLst>
          </p:cNvPr>
          <p:cNvSpPr>
            <a:spLocks noGrp="1"/>
          </p:cNvSpPr>
          <p:nvPr>
            <p:ph type="body" idx="1"/>
          </p:nvPr>
        </p:nvSpPr>
        <p:spPr>
          <a:xfrm>
            <a:off x="685800" y="4400550"/>
            <a:ext cx="5486400" cy="3600450"/>
          </a:xfrm>
          <a:prstGeom prst="rect">
            <a:avLst/>
          </a:prstGeom>
        </p:spPr>
        <p:txBody>
          <a:bodyPr/>
          <a:lstStyle/>
          <a:p>
            <a:endParaRPr lang="en-US" dirty="0"/>
          </a:p>
          <a:p>
            <a:endParaRPr lang="en-US" dirty="0"/>
          </a:p>
          <a:p>
            <a:endParaRPr lang="en-US" dirty="0"/>
          </a:p>
        </p:txBody>
      </p:sp>
      <p:sp>
        <p:nvSpPr>
          <p:cNvPr id="4" name="Header Placeholder 3">
            <a:extLst>
              <a:ext uri="{FF2B5EF4-FFF2-40B4-BE49-F238E27FC236}">
                <a16:creationId xmlns:a16="http://schemas.microsoft.com/office/drawing/2014/main" id="{024AF13D-BB1E-4F4A-BD0B-2ACA4B636AC1}"/>
              </a:ext>
            </a:extLst>
          </p:cNvPr>
          <p:cNvSpPr>
            <a:spLocks noGrp="1"/>
          </p:cNvSpPr>
          <p:nvPr>
            <p:ph type="hdr" sz="quarter" idx="15"/>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1664352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READ MORE: https://learn.microsoft.com/en-us/azure/aks/concepts-storage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solidFill>
                <a:schemeClr val="accent6"/>
              </a:solidFill>
              <a:cs typeface="Segoe UI Semibold" panose="020B07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solidFill>
                <a:schemeClr val="accent6"/>
              </a:solidFill>
              <a:cs typeface="Segoe UI Semibold" panose="020B07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schemeClr val="accent6"/>
                </a:solidFill>
                <a:cs typeface="Segoe UI Semibold" panose="020B0702040204020203" pitchFamily="34" charset="0"/>
              </a:rPr>
              <a:t>This module will concentrate on those storage options which are available when running Kubernetes on Azure.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solidFill>
                <a:schemeClr val="accent6"/>
              </a:solidFill>
              <a:cs typeface="Segoe UI Semibold" panose="020B07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endParaRPr lang="en-GB" dirty="0"/>
          </a:p>
        </p:txBody>
      </p:sp>
      <p:sp>
        <p:nvSpPr>
          <p:cNvPr id="4" name="Slide Number Placeholder 3"/>
          <p:cNvSpPr>
            <a:spLocks noGrp="1"/>
          </p:cNvSpPr>
          <p:nvPr>
            <p:ph type="sldNum" sz="quarter" idx="5"/>
          </p:nvPr>
        </p:nvSpPr>
        <p:spPr/>
        <p:txBody>
          <a:bodyPr/>
          <a:lstStyle/>
          <a:p>
            <a:fld id="{1D09229F-6F41-4CC3-A51C-EB832A3392C5}" type="slidenum">
              <a:rPr lang="en-US" smtClean="0"/>
              <a:t>6</a:t>
            </a:fld>
            <a:endParaRPr lang="en-US"/>
          </a:p>
        </p:txBody>
      </p:sp>
    </p:spTree>
    <p:extLst>
      <p:ext uri="{BB962C8B-B14F-4D97-AF65-F5344CB8AC3E}">
        <p14:creationId xmlns:p14="http://schemas.microsoft.com/office/powerpoint/2010/main" val="10361530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out the azure </a:t>
            </a:r>
            <a:r>
              <a:rPr lang="en-US" dirty="0" err="1"/>
              <a:t>aks</a:t>
            </a:r>
            <a:r>
              <a:rPr lang="en-US" dirty="0"/>
              <a:t> disk types</a:t>
            </a:r>
          </a:p>
          <a:p>
            <a:r>
              <a:rPr lang="en-US" dirty="0"/>
              <a:t>Azure Disks</a:t>
            </a:r>
          </a:p>
          <a:p>
            <a:r>
              <a:rPr lang="en-US" sz="1800" dirty="0">
                <a:solidFill>
                  <a:srgbClr val="E6E6E6"/>
                </a:solidFill>
                <a:latin typeface="SegoeUI"/>
              </a:rPr>
              <a:t>The </a:t>
            </a:r>
            <a:r>
              <a:rPr lang="en-US" sz="1800" i="1" dirty="0">
                <a:solidFill>
                  <a:srgbClr val="E6E6E6"/>
                </a:solidFill>
                <a:latin typeface="SegoeUI-Italic"/>
              </a:rPr>
              <a:t>default</a:t>
            </a:r>
            <a:r>
              <a:rPr lang="en-US" sz="1800" i="0" dirty="0">
                <a:solidFill>
                  <a:srgbClr val="E6E6E6"/>
                </a:solidFill>
                <a:latin typeface="SegoeUI"/>
              </a:rPr>
              <a:t> storage class provisions a standard SSD Azure disk.Standard storage is backed by Standard SSDs and delivers cost-effective storage while still delivering reliable performance.The </a:t>
            </a:r>
            <a:r>
              <a:rPr lang="en-US" sz="1800" i="1" dirty="0">
                <a:solidFill>
                  <a:srgbClr val="E6E6E6"/>
                </a:solidFill>
                <a:latin typeface="SegoeUI-Italic"/>
              </a:rPr>
              <a:t>managed-csi-premium</a:t>
            </a:r>
            <a:r>
              <a:rPr lang="en-US" sz="1800" i="0" dirty="0">
                <a:solidFill>
                  <a:srgbClr val="E6E6E6"/>
                </a:solidFill>
                <a:latin typeface="SegoeUI"/>
              </a:rPr>
              <a:t> storage class provisions a premium Azure disk.Premium disks are backed by SSD-based high-performance, low-latency disk. Perfect for VMs running production workload. If the AKS nodes in your cluster use premium storage, select the </a:t>
            </a:r>
            <a:r>
              <a:rPr lang="en-US" sz="1800" i="1" dirty="0">
                <a:solidFill>
                  <a:srgbClr val="E6E6E6"/>
                </a:solidFill>
                <a:latin typeface="SegoeUI-Italic"/>
              </a:rPr>
              <a:t>managed-premium</a:t>
            </a:r>
            <a:r>
              <a:rPr lang="en-US" sz="1800" i="0" dirty="0">
                <a:solidFill>
                  <a:srgbClr val="E6E6E6"/>
                </a:solidFill>
                <a:latin typeface="SegoeUI"/>
              </a:rPr>
              <a:t> class.</a:t>
            </a:r>
            <a:endParaRPr lang="en-US" dirty="0"/>
          </a:p>
          <a:p>
            <a:endParaRPr lang="en-US" dirty="0"/>
          </a:p>
          <a:p>
            <a:r>
              <a:rPr lang="en-US" dirty="0"/>
              <a:t>Azure File:</a:t>
            </a:r>
          </a:p>
          <a:p>
            <a:r>
              <a:rPr lang="en-US" sz="1800" i="1" dirty="0">
                <a:solidFill>
                  <a:srgbClr val="E6E6E6"/>
                </a:solidFill>
                <a:latin typeface="SegoeUI-Italic"/>
              </a:rPr>
              <a:t>Standard_LRS</a:t>
            </a:r>
            <a:r>
              <a:rPr lang="en-US" sz="1800" i="0" dirty="0">
                <a:solidFill>
                  <a:srgbClr val="E6E6E6"/>
                </a:solidFill>
                <a:latin typeface="SegoeUI"/>
              </a:rPr>
              <a:t> - standard locally redundant storage (LRS)</a:t>
            </a:r>
            <a:r>
              <a:rPr lang="en-US" sz="1800" i="1" dirty="0">
                <a:solidFill>
                  <a:srgbClr val="E6E6E6"/>
                </a:solidFill>
                <a:latin typeface="SegoeUI-Italic"/>
              </a:rPr>
              <a:t>Standard_GRS</a:t>
            </a:r>
            <a:r>
              <a:rPr lang="en-US" sz="1800" i="0" dirty="0">
                <a:solidFill>
                  <a:srgbClr val="E6E6E6"/>
                </a:solidFill>
                <a:latin typeface="SegoeUI"/>
              </a:rPr>
              <a:t> - standard geo-redundant storage (GRS)</a:t>
            </a:r>
            <a:r>
              <a:rPr lang="en-US" sz="1800" i="1" dirty="0">
                <a:solidFill>
                  <a:srgbClr val="E6E6E6"/>
                </a:solidFill>
                <a:latin typeface="SegoeUI-Italic"/>
              </a:rPr>
              <a:t>Standard_ZRS</a:t>
            </a:r>
            <a:r>
              <a:rPr lang="en-US" sz="1800" i="0" dirty="0">
                <a:solidFill>
                  <a:srgbClr val="E6E6E6"/>
                </a:solidFill>
                <a:latin typeface="SegoeUI"/>
              </a:rPr>
              <a:t> - standard zone redundant storage (ZRS)</a:t>
            </a:r>
            <a:r>
              <a:rPr lang="en-US" sz="1800" i="1" dirty="0">
                <a:solidFill>
                  <a:srgbClr val="E6E6E6"/>
                </a:solidFill>
                <a:latin typeface="SegoeUI-Italic"/>
              </a:rPr>
              <a:t>Standard_RAGRS</a:t>
            </a:r>
            <a:r>
              <a:rPr lang="en-US" sz="1800" i="0" dirty="0">
                <a:solidFill>
                  <a:srgbClr val="E6E6E6"/>
                </a:solidFill>
                <a:latin typeface="SegoeUI"/>
              </a:rPr>
              <a:t> - standard read-access geo-redundant storage (RA-GRS)</a:t>
            </a:r>
            <a:r>
              <a:rPr lang="en-US" sz="1800" i="1" dirty="0">
                <a:solidFill>
                  <a:srgbClr val="E6E6E6"/>
                </a:solidFill>
                <a:latin typeface="SegoeUI-Italic"/>
              </a:rPr>
              <a:t>Premium_LRS</a:t>
            </a:r>
            <a:r>
              <a:rPr lang="en-US" sz="1800" i="0" dirty="0">
                <a:solidFill>
                  <a:srgbClr val="E6E6E6"/>
                </a:solidFill>
                <a:latin typeface="SegoeUI"/>
              </a:rPr>
              <a:t> - premium locally redundant storage (LRS)</a:t>
            </a:r>
            <a:r>
              <a:rPr lang="en-US" sz="1800" i="1" dirty="0">
                <a:solidFill>
                  <a:srgbClr val="E6E6E6"/>
                </a:solidFill>
                <a:latin typeface="SegoeUI-Italic"/>
              </a:rPr>
              <a:t>Premium_ZRS</a:t>
            </a:r>
            <a:r>
              <a:rPr lang="en-US" sz="1800" i="0" dirty="0">
                <a:solidFill>
                  <a:srgbClr val="E6E6E6"/>
                </a:solidFill>
                <a:latin typeface="SegoeUI"/>
              </a:rPr>
              <a:t> - premium zone redundant storage (ZRS)</a:t>
            </a:r>
          </a:p>
          <a:p>
            <a:endParaRPr lang="en-US" sz="1800" i="0" dirty="0">
              <a:solidFill>
                <a:srgbClr val="E6E6E6"/>
              </a:solidFill>
              <a:latin typeface="SegoeUI"/>
            </a:endParaRPr>
          </a:p>
          <a:p>
            <a:endParaRPr lang="en-US" dirty="0"/>
          </a:p>
        </p:txBody>
      </p:sp>
      <p:sp>
        <p:nvSpPr>
          <p:cNvPr id="4" name="Slide Number Placeholder 3"/>
          <p:cNvSpPr>
            <a:spLocks noGrp="1"/>
          </p:cNvSpPr>
          <p:nvPr>
            <p:ph type="sldNum" sz="quarter" idx="5"/>
          </p:nvPr>
        </p:nvSpPr>
        <p:spPr/>
        <p:txBody>
          <a:bodyPr/>
          <a:lstStyle/>
          <a:p>
            <a:fld id="{2625FF2B-9848-40D4-A961-E928D17E1660}" type="slidenum">
              <a:rPr lang="en-US" smtClean="0"/>
              <a:t>8</a:t>
            </a:fld>
            <a:endParaRPr lang="en-US"/>
          </a:p>
        </p:txBody>
      </p:sp>
    </p:spTree>
    <p:extLst>
      <p:ext uri="{BB962C8B-B14F-4D97-AF65-F5344CB8AC3E}">
        <p14:creationId xmlns:p14="http://schemas.microsoft.com/office/powerpoint/2010/main" val="24649015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D09229F-6F41-4CC3-A51C-EB832A3392C5}" type="slidenum">
              <a:rPr lang="en-US" smtClean="0"/>
              <a:t>12</a:t>
            </a:fld>
            <a:endParaRPr lang="en-US"/>
          </a:p>
        </p:txBody>
      </p:sp>
    </p:spTree>
    <p:extLst>
      <p:ext uri="{BB962C8B-B14F-4D97-AF65-F5344CB8AC3E}">
        <p14:creationId xmlns:p14="http://schemas.microsoft.com/office/powerpoint/2010/main" val="11729169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C26BA-C7D4-0DCC-A700-C2C2F06CF9A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3189FC1-6151-E7F1-8FC4-C8EC5E32C929}"/>
              </a:ext>
            </a:extLst>
          </p:cNvPr>
          <p:cNvSpPr>
            <a:spLocks noGrp="1"/>
          </p:cNvSpPr>
          <p:nvPr>
            <p:ph type="sldNum" sz="quarter" idx="10"/>
          </p:nvPr>
        </p:nvSpPr>
        <p:spPr/>
        <p:txBody>
          <a:bodyPr/>
          <a:lstStyle/>
          <a:p>
            <a:fld id="{F475C4C8-7DEA-455A-9336-A4C7DB3AE516}" type="slidenum">
              <a:rPr lang="en-US"/>
              <a:pPr/>
              <a:t>13</a:t>
            </a:fld>
            <a:endParaRPr lang="en-US"/>
          </a:p>
        </p:txBody>
      </p:sp>
      <p:sp>
        <p:nvSpPr>
          <p:cNvPr id="3" name="Date Placeholder 2">
            <a:extLst>
              <a:ext uri="{FF2B5EF4-FFF2-40B4-BE49-F238E27FC236}">
                <a16:creationId xmlns:a16="http://schemas.microsoft.com/office/drawing/2014/main" id="{BFBB5150-098A-0F3D-3710-40201B2E4DAF}"/>
              </a:ext>
            </a:extLst>
          </p:cNvPr>
          <p:cNvSpPr>
            <a:spLocks noGrp="1"/>
          </p:cNvSpPr>
          <p:nvPr>
            <p:ph type="dt" idx="12"/>
          </p:nvPr>
        </p:nvSpPr>
        <p:spPr/>
        <p:txBody>
          <a:bodyPr/>
          <a:lstStyle/>
          <a:p>
            <a:fld id="{98343A3E-C65B-474B-B284-72A2415C99C0}" type="datetime1">
              <a:rPr lang="en-US"/>
              <a:t>9/8/2025</a:t>
            </a:fld>
            <a:endParaRPr lang="en-US"/>
          </a:p>
        </p:txBody>
      </p:sp>
      <p:sp>
        <p:nvSpPr>
          <p:cNvPr id="10" name="Slide Image Placeholder 9">
            <a:extLst>
              <a:ext uri="{FF2B5EF4-FFF2-40B4-BE49-F238E27FC236}">
                <a16:creationId xmlns:a16="http://schemas.microsoft.com/office/drawing/2014/main" id="{94DC7EE9-8F8A-316E-4FC8-85E700BF765E}"/>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CD0B6D1B-0311-342B-4AA1-32406BA95DE9}"/>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AF2C1F2C-603E-B591-3F18-818C79EAEB8E}"/>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17960539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https://learn.microsoft.com/en-us/azure/aks/concepts-storage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The OS disk (c:\) for all Azure VMs is located on a physical server with a backup held in backend storage.</a:t>
            </a:r>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This allows the VM to be recovered from the backend copy should the physical machine fail.</a:t>
            </a:r>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Whilst this is desirable for many VMs, it doesn’t make sense for Kubernetes nodes as these are all identical with workloads deployed by K8s itself.</a:t>
            </a:r>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The presence of a constantly updated backup copy can lead to Read/Write performance on the VM. </a:t>
            </a:r>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Whilst minimal, this is measurable. </a:t>
            </a:r>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Eliminating the backup copy increases Read/Write performance and decreases overall VM cost.  </a:t>
            </a:r>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Ephemeral OS disks are stored only on the host machine, just like a temporary disk.</a:t>
            </a:r>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Leads to lower read/write latency, together with faster node scaling and cluster upgrades.</a:t>
            </a:r>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When you don't explicitly request Azure managed disks for the OS, AKS defaults to ephemeral OS if possible, for a given node pool configuration.</a:t>
            </a:r>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hlinkClick r:id="rId3"/>
              </a:rPr>
              <a:t>https://learn.microsoft.com/en-us/azure/aks/concepts-storage#ephemeral-os-disk</a:t>
            </a:r>
            <a:endParaRPr lang="en-GB" dirty="0">
              <a:solidFill>
                <a:schemeClr val="accent6"/>
              </a:solidFill>
              <a:cs typeface="Segoe UI Semibold" panose="020B07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endParaRPr lang="en-GB" dirty="0"/>
          </a:p>
        </p:txBody>
      </p:sp>
      <p:sp>
        <p:nvSpPr>
          <p:cNvPr id="4" name="Slide Number Placeholder 3"/>
          <p:cNvSpPr>
            <a:spLocks noGrp="1"/>
          </p:cNvSpPr>
          <p:nvPr>
            <p:ph type="sldNum" sz="quarter" idx="5"/>
          </p:nvPr>
        </p:nvSpPr>
        <p:spPr/>
        <p:txBody>
          <a:bodyPr/>
          <a:lstStyle/>
          <a:p>
            <a:fld id="{1D09229F-6F41-4CC3-A51C-EB832A3392C5}" type="slidenum">
              <a:rPr lang="en-US" smtClean="0"/>
              <a:t>14</a:t>
            </a:fld>
            <a:endParaRPr lang="en-US"/>
          </a:p>
        </p:txBody>
      </p:sp>
    </p:spTree>
    <p:extLst>
      <p:ext uri="{BB962C8B-B14F-4D97-AF65-F5344CB8AC3E}">
        <p14:creationId xmlns:p14="http://schemas.microsoft.com/office/powerpoint/2010/main" val="36701123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ED266-A8FA-B032-2BD8-116815274E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9E9E3F-5A1B-234E-84FA-D9139E744C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0BB9C9-7AAD-7616-F387-A68847127ECD}"/>
              </a:ext>
            </a:extLst>
          </p:cNvPr>
          <p:cNvSpPr>
            <a:spLocks noGrp="1"/>
          </p:cNvSpPr>
          <p:nvPr>
            <p:ph type="body" idx="1"/>
          </p:nvPr>
        </p:nvSpPr>
        <p:spPr/>
        <p:txBody>
          <a:bodyPr/>
          <a:lstStyle/>
          <a:p>
            <a:r>
              <a:rPr lang="en-GB" dirty="0"/>
              <a:t>https://learn.microsoft.com/en-us/azure/aks/concepts-storage#volumes</a:t>
            </a:r>
          </a:p>
          <a:p>
            <a:endParaRPr lang="en-GB" dirty="0"/>
          </a:p>
          <a:p>
            <a:endParaRPr lang="en-GB" dirty="0"/>
          </a:p>
        </p:txBody>
      </p:sp>
      <p:sp>
        <p:nvSpPr>
          <p:cNvPr id="4" name="Slide Number Placeholder 3">
            <a:extLst>
              <a:ext uri="{FF2B5EF4-FFF2-40B4-BE49-F238E27FC236}">
                <a16:creationId xmlns:a16="http://schemas.microsoft.com/office/drawing/2014/main" id="{DA677C8D-3C88-CC6D-1CDD-00F4D419DE19}"/>
              </a:ext>
            </a:extLst>
          </p:cNvPr>
          <p:cNvSpPr>
            <a:spLocks noGrp="1"/>
          </p:cNvSpPr>
          <p:nvPr>
            <p:ph type="sldNum" sz="quarter" idx="5"/>
          </p:nvPr>
        </p:nvSpPr>
        <p:spPr/>
        <p:txBody>
          <a:bodyPr/>
          <a:lstStyle/>
          <a:p>
            <a:fld id="{1D09229F-6F41-4CC3-A51C-EB832A3392C5}" type="slidenum">
              <a:rPr lang="en-US" smtClean="0"/>
              <a:t>15</a:t>
            </a:fld>
            <a:endParaRPr lang="en-US"/>
          </a:p>
        </p:txBody>
      </p:sp>
    </p:spTree>
    <p:extLst>
      <p:ext uri="{BB962C8B-B14F-4D97-AF65-F5344CB8AC3E}">
        <p14:creationId xmlns:p14="http://schemas.microsoft.com/office/powerpoint/2010/main" val="27224197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8A69E-7A58-1250-AA00-16F3A4D0AA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12FBD9-B9FF-658C-E0A8-3CB049DCDD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35BB81-B0D6-8158-422B-71882E610E16}"/>
              </a:ext>
            </a:extLst>
          </p:cNvPr>
          <p:cNvSpPr>
            <a:spLocks noGrp="1"/>
          </p:cNvSpPr>
          <p:nvPr>
            <p:ph type="body" idx="1"/>
          </p:nvPr>
        </p:nvSpPr>
        <p:spPr/>
        <p:txBody>
          <a:bodyPr/>
          <a:lstStyle/>
          <a:p>
            <a:r>
              <a:rPr lang="en-GB" dirty="0"/>
              <a:t>https://learn.microsoft.com/en-us/azure/aks/concepts-storage#volumes</a:t>
            </a:r>
          </a:p>
          <a:p>
            <a:endParaRPr lang="en-GB" dirty="0"/>
          </a:p>
          <a:p>
            <a:endParaRPr lang="en-GB" dirty="0"/>
          </a:p>
        </p:txBody>
      </p:sp>
      <p:sp>
        <p:nvSpPr>
          <p:cNvPr id="4" name="Slide Number Placeholder 3">
            <a:extLst>
              <a:ext uri="{FF2B5EF4-FFF2-40B4-BE49-F238E27FC236}">
                <a16:creationId xmlns:a16="http://schemas.microsoft.com/office/drawing/2014/main" id="{0065CE8A-B1E2-4DBB-B83F-67227CB50AE4}"/>
              </a:ext>
            </a:extLst>
          </p:cNvPr>
          <p:cNvSpPr>
            <a:spLocks noGrp="1"/>
          </p:cNvSpPr>
          <p:nvPr>
            <p:ph type="sldNum" sz="quarter" idx="5"/>
          </p:nvPr>
        </p:nvSpPr>
        <p:spPr/>
        <p:txBody>
          <a:bodyPr/>
          <a:lstStyle/>
          <a:p>
            <a:fld id="{1D09229F-6F41-4CC3-A51C-EB832A3392C5}" type="slidenum">
              <a:rPr lang="en-US" smtClean="0"/>
              <a:t>16</a:t>
            </a:fld>
            <a:endParaRPr lang="en-US"/>
          </a:p>
        </p:txBody>
      </p:sp>
    </p:spTree>
    <p:extLst>
      <p:ext uri="{BB962C8B-B14F-4D97-AF65-F5344CB8AC3E}">
        <p14:creationId xmlns:p14="http://schemas.microsoft.com/office/powerpoint/2010/main" val="12355568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E79D8-D239-0ECD-0E9B-30B8EE5A92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1066E3-AC8E-9EAE-B1C6-033305C159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2118CF-C33C-49C0-5028-327434BEE6AE}"/>
              </a:ext>
            </a:extLst>
          </p:cNvPr>
          <p:cNvSpPr>
            <a:spLocks noGrp="1"/>
          </p:cNvSpPr>
          <p:nvPr>
            <p:ph type="body" idx="1"/>
          </p:nvPr>
        </p:nvSpPr>
        <p:spPr/>
        <p:txBody>
          <a:bodyPr/>
          <a:lstStyle/>
          <a:p>
            <a:r>
              <a:rPr lang="en-GB" dirty="0"/>
              <a:t>https://learn.microsoft.com/en-us/azure/aks/concepts-storage#volumes</a:t>
            </a:r>
          </a:p>
          <a:p>
            <a:endParaRPr lang="en-GB" dirty="0"/>
          </a:p>
          <a:p>
            <a:endParaRPr lang="en-GB" dirty="0"/>
          </a:p>
          <a:p>
            <a:r>
              <a:rPr lang="en-GB" dirty="0"/>
              <a:t>Enable CSI drivers on an existing cluster.</a:t>
            </a:r>
          </a:p>
          <a:p>
            <a:r>
              <a:rPr lang="en-GB" sz="1200" b="0" i="0" kern="1200" dirty="0">
                <a:solidFill>
                  <a:schemeClr val="tx1"/>
                </a:solidFill>
                <a:effectLst/>
                <a:latin typeface="+mn-lt"/>
                <a:ea typeface="+mn-ea"/>
                <a:cs typeface="+mn-cs"/>
              </a:rPr>
              <a:t>https://learn.microsoft.com/en-us/azure/aks/csi-storage-drivers#enable-csi-storage-drivers-on-an-existing-cluster</a:t>
            </a:r>
          </a:p>
          <a:p>
            <a:endParaRPr lang="en-GB" sz="1200" b="0" i="0" kern="1200" dirty="0">
              <a:solidFill>
                <a:schemeClr val="tx1"/>
              </a:solidFill>
              <a:effectLst/>
              <a:latin typeface="+mn-lt"/>
              <a:ea typeface="+mn-ea"/>
              <a:cs typeface="+mn-cs"/>
            </a:endParaRPr>
          </a:p>
          <a:p>
            <a:endParaRPr lang="en-GB" dirty="0"/>
          </a:p>
        </p:txBody>
      </p:sp>
      <p:sp>
        <p:nvSpPr>
          <p:cNvPr id="4" name="Slide Number Placeholder 3">
            <a:extLst>
              <a:ext uri="{FF2B5EF4-FFF2-40B4-BE49-F238E27FC236}">
                <a16:creationId xmlns:a16="http://schemas.microsoft.com/office/drawing/2014/main" id="{7729D096-7543-D1C4-9337-76EE0AA56AF3}"/>
              </a:ext>
            </a:extLst>
          </p:cNvPr>
          <p:cNvSpPr>
            <a:spLocks noGrp="1"/>
          </p:cNvSpPr>
          <p:nvPr>
            <p:ph type="sldNum" sz="quarter" idx="5"/>
          </p:nvPr>
        </p:nvSpPr>
        <p:spPr/>
        <p:txBody>
          <a:bodyPr/>
          <a:lstStyle/>
          <a:p>
            <a:fld id="{1D09229F-6F41-4CC3-A51C-EB832A3392C5}" type="slidenum">
              <a:rPr lang="en-US" smtClean="0"/>
              <a:t>17</a:t>
            </a:fld>
            <a:endParaRPr lang="en-US"/>
          </a:p>
        </p:txBody>
      </p:sp>
    </p:spTree>
    <p:extLst>
      <p:ext uri="{BB962C8B-B14F-4D97-AF65-F5344CB8AC3E}">
        <p14:creationId xmlns:p14="http://schemas.microsoft.com/office/powerpoint/2010/main" val="9312200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A675D-8A02-6F99-8305-6F12ADEE66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FA2ECB-7365-C474-A38E-BE1304777C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D57DD2-BC8D-B8ED-FE9A-058C27CF6F5D}"/>
              </a:ext>
            </a:extLst>
          </p:cNvPr>
          <p:cNvSpPr>
            <a:spLocks noGrp="1"/>
          </p:cNvSpPr>
          <p:nvPr>
            <p:ph type="body" idx="1"/>
          </p:nvPr>
        </p:nvSpPr>
        <p:spPr/>
        <p:txBody>
          <a:bodyPr/>
          <a:lstStyle/>
          <a:p>
            <a:r>
              <a:rPr lang="en-GB" dirty="0"/>
              <a:t>https://learn.microsoft.com/en-us/azure/aks/concepts-storage#azure-disk</a:t>
            </a:r>
          </a:p>
          <a:p>
            <a:endParaRPr lang="en-GB" dirty="0"/>
          </a:p>
          <a:p>
            <a:r>
              <a:rPr lang="en-GB" dirty="0"/>
              <a:t>https://learn.microsoft.com/en-us/azure/aks/azure-disk-csi</a:t>
            </a:r>
          </a:p>
          <a:p>
            <a:endParaRPr lang="en-GB" dirty="0"/>
          </a:p>
          <a:p>
            <a:r>
              <a:rPr lang="en-US" sz="1200" dirty="0">
                <a:solidFill>
                  <a:srgbClr val="E6E6E6"/>
                </a:solidFill>
                <a:latin typeface="SegoeUI"/>
              </a:rPr>
              <a:t>The </a:t>
            </a:r>
            <a:r>
              <a:rPr lang="en-US" sz="1200" i="1" dirty="0">
                <a:solidFill>
                  <a:srgbClr val="E6E6E6"/>
                </a:solidFill>
                <a:latin typeface="SegoeUI-Italic"/>
              </a:rPr>
              <a:t>default</a:t>
            </a:r>
            <a:r>
              <a:rPr lang="en-US" sz="1200" i="0" dirty="0">
                <a:solidFill>
                  <a:srgbClr val="E6E6E6"/>
                </a:solidFill>
                <a:latin typeface="SegoeUI"/>
              </a:rPr>
              <a:t> storage class provisions a standard SSD Azure </a:t>
            </a:r>
            <a:r>
              <a:rPr lang="en-US" sz="1200" i="0" dirty="0" err="1">
                <a:solidFill>
                  <a:srgbClr val="E6E6E6"/>
                </a:solidFill>
                <a:latin typeface="SegoeUI"/>
              </a:rPr>
              <a:t>disk.Standard</a:t>
            </a:r>
            <a:r>
              <a:rPr lang="en-US" sz="1200" i="0" dirty="0">
                <a:solidFill>
                  <a:srgbClr val="E6E6E6"/>
                </a:solidFill>
                <a:latin typeface="SegoeUI"/>
              </a:rPr>
              <a:t> storage is backed by Standard SSDs and delivers cost-effective storage while still delivering reliable </a:t>
            </a:r>
            <a:r>
              <a:rPr lang="en-US" sz="1200" i="0" dirty="0" err="1">
                <a:solidFill>
                  <a:srgbClr val="E6E6E6"/>
                </a:solidFill>
                <a:latin typeface="SegoeUI"/>
              </a:rPr>
              <a:t>performance.The</a:t>
            </a:r>
            <a:r>
              <a:rPr lang="en-US" sz="1200" i="0" dirty="0">
                <a:solidFill>
                  <a:srgbClr val="E6E6E6"/>
                </a:solidFill>
                <a:latin typeface="SegoeUI"/>
              </a:rPr>
              <a:t> </a:t>
            </a:r>
            <a:r>
              <a:rPr lang="en-US" sz="1200" i="1" dirty="0">
                <a:solidFill>
                  <a:srgbClr val="E6E6E6"/>
                </a:solidFill>
                <a:latin typeface="SegoeUI-Italic"/>
              </a:rPr>
              <a:t>managed-</a:t>
            </a:r>
            <a:r>
              <a:rPr lang="en-US" sz="1200" i="1" dirty="0" err="1">
                <a:solidFill>
                  <a:srgbClr val="E6E6E6"/>
                </a:solidFill>
                <a:latin typeface="SegoeUI-Italic"/>
              </a:rPr>
              <a:t>csi</a:t>
            </a:r>
            <a:r>
              <a:rPr lang="en-US" sz="1200" i="1" dirty="0">
                <a:solidFill>
                  <a:srgbClr val="E6E6E6"/>
                </a:solidFill>
                <a:latin typeface="SegoeUI-Italic"/>
              </a:rPr>
              <a:t>-premium</a:t>
            </a:r>
            <a:r>
              <a:rPr lang="en-US" sz="1200" i="0" dirty="0">
                <a:solidFill>
                  <a:srgbClr val="E6E6E6"/>
                </a:solidFill>
                <a:latin typeface="SegoeUI"/>
              </a:rPr>
              <a:t> storage class provisions a premium Azure </a:t>
            </a:r>
            <a:r>
              <a:rPr lang="en-US" sz="1200" i="0" dirty="0" err="1">
                <a:solidFill>
                  <a:srgbClr val="E6E6E6"/>
                </a:solidFill>
                <a:latin typeface="SegoeUI"/>
              </a:rPr>
              <a:t>disk.Premium</a:t>
            </a:r>
            <a:r>
              <a:rPr lang="en-US" sz="1200" i="0" dirty="0">
                <a:solidFill>
                  <a:srgbClr val="E6E6E6"/>
                </a:solidFill>
                <a:latin typeface="SegoeUI"/>
              </a:rPr>
              <a:t> disks are backed by SSD-based high-performance, low-latency disk. Perfect for VMs running production workload. If the AKS nodes in your cluster use premium storage, select the </a:t>
            </a:r>
            <a:r>
              <a:rPr lang="en-US" sz="1200" i="1" dirty="0">
                <a:solidFill>
                  <a:srgbClr val="E6E6E6"/>
                </a:solidFill>
                <a:latin typeface="SegoeUI-Italic"/>
              </a:rPr>
              <a:t>managed-premium</a:t>
            </a:r>
            <a:r>
              <a:rPr lang="en-US" sz="1200" i="0" dirty="0">
                <a:solidFill>
                  <a:srgbClr val="E6E6E6"/>
                </a:solidFill>
                <a:latin typeface="SegoeUI"/>
              </a:rPr>
              <a:t> class.</a:t>
            </a:r>
            <a:endParaRPr lang="en-US" dirty="0"/>
          </a:p>
          <a:p>
            <a:endParaRPr lang="en-GB" dirty="0"/>
          </a:p>
        </p:txBody>
      </p:sp>
      <p:sp>
        <p:nvSpPr>
          <p:cNvPr id="4" name="Slide Number Placeholder 3">
            <a:extLst>
              <a:ext uri="{FF2B5EF4-FFF2-40B4-BE49-F238E27FC236}">
                <a16:creationId xmlns:a16="http://schemas.microsoft.com/office/drawing/2014/main" id="{BFA75728-0938-1194-808B-EAE64A2F830B}"/>
              </a:ext>
            </a:extLst>
          </p:cNvPr>
          <p:cNvSpPr>
            <a:spLocks noGrp="1"/>
          </p:cNvSpPr>
          <p:nvPr>
            <p:ph type="sldNum" sz="quarter" idx="5"/>
          </p:nvPr>
        </p:nvSpPr>
        <p:spPr/>
        <p:txBody>
          <a:bodyPr/>
          <a:lstStyle/>
          <a:p>
            <a:fld id="{1D09229F-6F41-4CC3-A51C-EB832A3392C5}" type="slidenum">
              <a:rPr lang="en-US" smtClean="0"/>
              <a:t>18</a:t>
            </a:fld>
            <a:endParaRPr lang="en-US"/>
          </a:p>
        </p:txBody>
      </p:sp>
    </p:spTree>
    <p:extLst>
      <p:ext uri="{BB962C8B-B14F-4D97-AF65-F5344CB8AC3E}">
        <p14:creationId xmlns:p14="http://schemas.microsoft.com/office/powerpoint/2010/main" val="21358308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6C9A6-3143-43C9-71E5-9D46884EBC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0A0F53-B9C6-57E6-14C6-356BB51F0A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F8F539-7AF3-F01A-1508-C70793F5BE5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3655268-93B0-3350-C3A3-B1B3EA4C19AD}"/>
              </a:ext>
            </a:extLst>
          </p:cNvPr>
          <p:cNvSpPr>
            <a:spLocks noGrp="1"/>
          </p:cNvSpPr>
          <p:nvPr>
            <p:ph type="sldNum" sz="quarter" idx="5"/>
          </p:nvPr>
        </p:nvSpPr>
        <p:spPr/>
        <p:txBody>
          <a:bodyPr/>
          <a:lstStyle/>
          <a:p>
            <a:fld id="{1D09229F-6F41-4CC3-A51C-EB832A3392C5}" type="slidenum">
              <a:rPr lang="en-US" smtClean="0"/>
              <a:t>19</a:t>
            </a:fld>
            <a:endParaRPr lang="en-US"/>
          </a:p>
        </p:txBody>
      </p:sp>
    </p:spTree>
    <p:extLst>
      <p:ext uri="{BB962C8B-B14F-4D97-AF65-F5344CB8AC3E}">
        <p14:creationId xmlns:p14="http://schemas.microsoft.com/office/powerpoint/2010/main" val="9408027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5C167-0602-A18E-F249-7745956062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538E81-E434-7364-BDD1-413FC73F84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E9CAE5-A1A2-7691-49E9-4FBBEA60210D}"/>
              </a:ext>
            </a:extLst>
          </p:cNvPr>
          <p:cNvSpPr>
            <a:spLocks noGrp="1"/>
          </p:cNvSpPr>
          <p:nvPr>
            <p:ph type="body" idx="1"/>
          </p:nvPr>
        </p:nvSpPr>
        <p:spPr/>
        <p:txBody>
          <a:bodyPr/>
          <a:lstStyle/>
          <a:p>
            <a:r>
              <a:rPr lang="en-GB" dirty="0"/>
              <a:t>https://learn.microsoft.com/en-us/azure/aks/concepts-storage#azure-disk</a:t>
            </a:r>
          </a:p>
          <a:p>
            <a:endParaRPr lang="en-GB" dirty="0"/>
          </a:p>
          <a:p>
            <a:r>
              <a:rPr lang="en-GB" dirty="0"/>
              <a:t>https://learn.microsoft.com/en-us/azure/aks/azure-files-csi</a:t>
            </a:r>
          </a:p>
          <a:p>
            <a:endParaRPr lang="en-GB" sz="1200" i="0" dirty="0">
              <a:solidFill>
                <a:schemeClr val="tx1"/>
              </a:solidFill>
              <a:latin typeface="+mn-lt"/>
            </a:endParaRPr>
          </a:p>
          <a:p>
            <a:r>
              <a:rPr lang="en-US" sz="1200" i="1" dirty="0" err="1">
                <a:solidFill>
                  <a:srgbClr val="E6E6E6"/>
                </a:solidFill>
                <a:latin typeface="SegoeUI-Italic"/>
              </a:rPr>
              <a:t>Standard_LRS</a:t>
            </a:r>
            <a:r>
              <a:rPr lang="en-US" sz="1200" i="0" dirty="0">
                <a:solidFill>
                  <a:srgbClr val="E6E6E6"/>
                </a:solidFill>
                <a:latin typeface="SegoeUI"/>
              </a:rPr>
              <a:t> - standard locally redundant storage (LRS)</a:t>
            </a:r>
            <a:r>
              <a:rPr lang="en-US" sz="1200" i="1" dirty="0" err="1">
                <a:solidFill>
                  <a:srgbClr val="E6E6E6"/>
                </a:solidFill>
                <a:latin typeface="SegoeUI-Italic"/>
              </a:rPr>
              <a:t>Standard_GRS</a:t>
            </a:r>
            <a:r>
              <a:rPr lang="en-US" sz="1200" i="0" dirty="0">
                <a:solidFill>
                  <a:srgbClr val="E6E6E6"/>
                </a:solidFill>
                <a:latin typeface="SegoeUI"/>
              </a:rPr>
              <a:t> - standard geo-redundant storage (GRS)</a:t>
            </a:r>
            <a:r>
              <a:rPr lang="en-US" sz="1200" i="1" dirty="0" err="1">
                <a:solidFill>
                  <a:srgbClr val="E6E6E6"/>
                </a:solidFill>
                <a:latin typeface="SegoeUI-Italic"/>
              </a:rPr>
              <a:t>Standard_ZRS</a:t>
            </a:r>
            <a:r>
              <a:rPr lang="en-US" sz="1200" i="0" dirty="0">
                <a:solidFill>
                  <a:srgbClr val="E6E6E6"/>
                </a:solidFill>
                <a:latin typeface="SegoeUI"/>
              </a:rPr>
              <a:t> - standard zone redundant storage (ZRS)</a:t>
            </a:r>
            <a:r>
              <a:rPr lang="en-US" sz="1200" i="1" dirty="0" err="1">
                <a:solidFill>
                  <a:srgbClr val="E6E6E6"/>
                </a:solidFill>
                <a:latin typeface="SegoeUI-Italic"/>
              </a:rPr>
              <a:t>Standard_RAGRS</a:t>
            </a:r>
            <a:r>
              <a:rPr lang="en-US" sz="1200" i="0" dirty="0">
                <a:solidFill>
                  <a:srgbClr val="E6E6E6"/>
                </a:solidFill>
                <a:latin typeface="SegoeUI"/>
              </a:rPr>
              <a:t> - standard read-access geo-redundant storage (RA-GRS)</a:t>
            </a:r>
            <a:r>
              <a:rPr lang="en-US" sz="1200" i="1" dirty="0" err="1">
                <a:solidFill>
                  <a:srgbClr val="E6E6E6"/>
                </a:solidFill>
                <a:latin typeface="SegoeUI-Italic"/>
              </a:rPr>
              <a:t>Premium_LRS</a:t>
            </a:r>
            <a:r>
              <a:rPr lang="en-US" sz="1200" i="0" dirty="0">
                <a:solidFill>
                  <a:srgbClr val="E6E6E6"/>
                </a:solidFill>
                <a:latin typeface="SegoeUI"/>
              </a:rPr>
              <a:t> - premium locally redundant storage (LRS)</a:t>
            </a:r>
            <a:r>
              <a:rPr lang="en-US" sz="1200" i="1" dirty="0" err="1">
                <a:solidFill>
                  <a:srgbClr val="E6E6E6"/>
                </a:solidFill>
                <a:latin typeface="SegoeUI-Italic"/>
              </a:rPr>
              <a:t>Premium_ZRS</a:t>
            </a:r>
            <a:r>
              <a:rPr lang="en-US" sz="1200" i="0" dirty="0">
                <a:solidFill>
                  <a:srgbClr val="E6E6E6"/>
                </a:solidFill>
                <a:latin typeface="SegoeUI"/>
              </a:rPr>
              <a:t> - premium zone redundant storage (ZRS)</a:t>
            </a:r>
          </a:p>
          <a:p>
            <a:endParaRPr lang="en-GB" dirty="0"/>
          </a:p>
          <a:p>
            <a:endParaRPr lang="en-GB" dirty="0"/>
          </a:p>
          <a:p>
            <a:endParaRPr lang="en-GB" dirty="0"/>
          </a:p>
          <a:p>
            <a:endParaRPr lang="en-GB" dirty="0"/>
          </a:p>
        </p:txBody>
      </p:sp>
      <p:sp>
        <p:nvSpPr>
          <p:cNvPr id="4" name="Slide Number Placeholder 3">
            <a:extLst>
              <a:ext uri="{FF2B5EF4-FFF2-40B4-BE49-F238E27FC236}">
                <a16:creationId xmlns:a16="http://schemas.microsoft.com/office/drawing/2014/main" id="{A817AA20-A063-4861-8CF5-D1CCBEE3820F}"/>
              </a:ext>
            </a:extLst>
          </p:cNvPr>
          <p:cNvSpPr>
            <a:spLocks noGrp="1"/>
          </p:cNvSpPr>
          <p:nvPr>
            <p:ph type="sldNum" sz="quarter" idx="5"/>
          </p:nvPr>
        </p:nvSpPr>
        <p:spPr/>
        <p:txBody>
          <a:bodyPr/>
          <a:lstStyle/>
          <a:p>
            <a:fld id="{1D09229F-6F41-4CC3-A51C-EB832A3392C5}" type="slidenum">
              <a:rPr lang="en-US" smtClean="0"/>
              <a:t>20</a:t>
            </a:fld>
            <a:endParaRPr lang="en-US"/>
          </a:p>
        </p:txBody>
      </p:sp>
    </p:spTree>
    <p:extLst>
      <p:ext uri="{BB962C8B-B14F-4D97-AF65-F5344CB8AC3E}">
        <p14:creationId xmlns:p14="http://schemas.microsoft.com/office/powerpoint/2010/main" val="14863382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F3F29-6869-95C7-8D8E-415B22D2C2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C3336A-DA7D-3256-D03C-B70C76FC07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BA640B-1FE4-4FA7-4078-F30CA43865C3}"/>
              </a:ext>
            </a:extLst>
          </p:cNvPr>
          <p:cNvSpPr>
            <a:spLocks noGrp="1"/>
          </p:cNvSpPr>
          <p:nvPr>
            <p:ph type="body" idx="1"/>
          </p:nvPr>
        </p:nvSpPr>
        <p:spPr/>
        <p:txBody>
          <a:bodyPr/>
          <a:lstStyle/>
          <a:p>
            <a:r>
              <a:rPr lang="en-GB" dirty="0"/>
              <a:t>https://learn.microsoft.com/en-us/azure/aks/concepts-storage#azure-disk</a:t>
            </a:r>
          </a:p>
          <a:p>
            <a:endParaRPr lang="en-GB" dirty="0"/>
          </a:p>
          <a:p>
            <a:endParaRPr lang="en-GB" dirty="0"/>
          </a:p>
          <a:p>
            <a:endParaRPr lang="en-GB" dirty="0"/>
          </a:p>
          <a:p>
            <a:endParaRPr lang="en-GB" dirty="0"/>
          </a:p>
        </p:txBody>
      </p:sp>
      <p:sp>
        <p:nvSpPr>
          <p:cNvPr id="4" name="Slide Number Placeholder 3">
            <a:extLst>
              <a:ext uri="{FF2B5EF4-FFF2-40B4-BE49-F238E27FC236}">
                <a16:creationId xmlns:a16="http://schemas.microsoft.com/office/drawing/2014/main" id="{0E2B1806-4AC9-6E97-1C95-0D5F38B53BBF}"/>
              </a:ext>
            </a:extLst>
          </p:cNvPr>
          <p:cNvSpPr>
            <a:spLocks noGrp="1"/>
          </p:cNvSpPr>
          <p:nvPr>
            <p:ph type="sldNum" sz="quarter" idx="5"/>
          </p:nvPr>
        </p:nvSpPr>
        <p:spPr/>
        <p:txBody>
          <a:bodyPr/>
          <a:lstStyle/>
          <a:p>
            <a:fld id="{1D09229F-6F41-4CC3-A51C-EB832A3392C5}" type="slidenum">
              <a:rPr lang="en-US" smtClean="0"/>
              <a:t>21</a:t>
            </a:fld>
            <a:endParaRPr lang="en-US"/>
          </a:p>
        </p:txBody>
      </p:sp>
    </p:spTree>
    <p:extLst>
      <p:ext uri="{BB962C8B-B14F-4D97-AF65-F5344CB8AC3E}">
        <p14:creationId xmlns:p14="http://schemas.microsoft.com/office/powerpoint/2010/main" val="4218823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53F2F-E549-D946-3FF7-3637EA3923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7B6A54-A0DB-E4D0-52EB-9CA9FECE6B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EC652C-D2C1-B0A9-2F2F-9EAE5E31443A}"/>
              </a:ext>
            </a:extLst>
          </p:cNvPr>
          <p:cNvSpPr>
            <a:spLocks noGrp="1"/>
          </p:cNvSpPr>
          <p:nvPr>
            <p:ph type="body" idx="1"/>
          </p:nvPr>
        </p:nvSpPr>
        <p:spPr/>
        <p:txBody>
          <a:bodyPr/>
          <a:lstStyle/>
          <a:p>
            <a:r>
              <a:rPr lang="en-GB" dirty="0"/>
              <a:t>https://learn.microsoft.com/en-us/azure/aks/concepts-storage#azure-disk</a:t>
            </a:r>
          </a:p>
          <a:p>
            <a:endParaRPr lang="en-GB" dirty="0"/>
          </a:p>
          <a:p>
            <a:r>
              <a:rPr lang="en-GB" dirty="0"/>
              <a:t>https://learn.microsoft.com/en-us/azure/azure-netapp-files/azure-netapp-files-introduction</a:t>
            </a:r>
          </a:p>
          <a:p>
            <a:endParaRPr lang="en-GB" dirty="0"/>
          </a:p>
        </p:txBody>
      </p:sp>
      <p:sp>
        <p:nvSpPr>
          <p:cNvPr id="4" name="Slide Number Placeholder 3">
            <a:extLst>
              <a:ext uri="{FF2B5EF4-FFF2-40B4-BE49-F238E27FC236}">
                <a16:creationId xmlns:a16="http://schemas.microsoft.com/office/drawing/2014/main" id="{FEA381DB-F7DB-1654-7DF2-F4F1BB177043}"/>
              </a:ext>
            </a:extLst>
          </p:cNvPr>
          <p:cNvSpPr>
            <a:spLocks noGrp="1"/>
          </p:cNvSpPr>
          <p:nvPr>
            <p:ph type="sldNum" sz="quarter" idx="5"/>
          </p:nvPr>
        </p:nvSpPr>
        <p:spPr/>
        <p:txBody>
          <a:bodyPr/>
          <a:lstStyle/>
          <a:p>
            <a:fld id="{1D09229F-6F41-4CC3-A51C-EB832A3392C5}" type="slidenum">
              <a:rPr lang="en-US" smtClean="0"/>
              <a:t>22</a:t>
            </a:fld>
            <a:endParaRPr lang="en-US"/>
          </a:p>
        </p:txBody>
      </p:sp>
    </p:spTree>
    <p:extLst>
      <p:ext uri="{BB962C8B-B14F-4D97-AF65-F5344CB8AC3E}">
        <p14:creationId xmlns:p14="http://schemas.microsoft.com/office/powerpoint/2010/main" val="35468508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558DF-A804-7697-A853-83FBA28DE8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A5B2CE-F1B8-0B0C-55D1-5457B350D8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7400EB-F780-F89A-448F-7BDF4FFA52CC}"/>
              </a:ext>
            </a:extLst>
          </p:cNvPr>
          <p:cNvSpPr>
            <a:spLocks noGrp="1"/>
          </p:cNvSpPr>
          <p:nvPr>
            <p:ph type="body" idx="1"/>
          </p:nvPr>
        </p:nvSpPr>
        <p:spPr/>
        <p:txBody>
          <a:bodyPr/>
          <a:lstStyle/>
          <a:p>
            <a:r>
              <a:rPr lang="en-GB" dirty="0"/>
              <a:t>https://learn.microsoft.com/en-us/azure/aks/concepts-storage#azure-disk</a:t>
            </a:r>
          </a:p>
          <a:p>
            <a:r>
              <a:rPr lang="en-GB" dirty="0"/>
              <a:t>https://learn.microsoft.com/en-us/azure/storage/blobs/blobfuse2-what-is</a:t>
            </a:r>
          </a:p>
          <a:p>
            <a:r>
              <a:rPr lang="en-GB" dirty="0"/>
              <a:t>https://learn.microsoft.com/en-us/azure/aks/azure-blob-csi?tabs=NFS</a:t>
            </a:r>
          </a:p>
        </p:txBody>
      </p:sp>
      <p:sp>
        <p:nvSpPr>
          <p:cNvPr id="4" name="Slide Number Placeholder 3">
            <a:extLst>
              <a:ext uri="{FF2B5EF4-FFF2-40B4-BE49-F238E27FC236}">
                <a16:creationId xmlns:a16="http://schemas.microsoft.com/office/drawing/2014/main" id="{1D2EA450-F297-4897-9977-451FE0FD18FB}"/>
              </a:ext>
            </a:extLst>
          </p:cNvPr>
          <p:cNvSpPr>
            <a:spLocks noGrp="1"/>
          </p:cNvSpPr>
          <p:nvPr>
            <p:ph type="sldNum" sz="quarter" idx="5"/>
          </p:nvPr>
        </p:nvSpPr>
        <p:spPr/>
        <p:txBody>
          <a:bodyPr/>
          <a:lstStyle/>
          <a:p>
            <a:fld id="{1D09229F-6F41-4CC3-A51C-EB832A3392C5}" type="slidenum">
              <a:rPr lang="en-US" smtClean="0"/>
              <a:t>23</a:t>
            </a:fld>
            <a:endParaRPr lang="en-US"/>
          </a:p>
        </p:txBody>
      </p:sp>
    </p:spTree>
    <p:extLst>
      <p:ext uri="{BB962C8B-B14F-4D97-AF65-F5344CB8AC3E}">
        <p14:creationId xmlns:p14="http://schemas.microsoft.com/office/powerpoint/2010/main" val="10973760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01636-53FD-A64E-D1FF-74AE80D158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FAD7AB-D67E-C9FD-1FEB-B5EFAF28D6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A122AA-316A-89CA-FD24-0F7A9B865E91}"/>
              </a:ext>
            </a:extLst>
          </p:cNvPr>
          <p:cNvSpPr>
            <a:spLocks noGrp="1"/>
          </p:cNvSpPr>
          <p:nvPr>
            <p:ph type="body" idx="1"/>
          </p:nvPr>
        </p:nvSpPr>
        <p:spPr/>
        <p:txBody>
          <a:bodyPr/>
          <a:lstStyle/>
          <a:p>
            <a:r>
              <a:rPr lang="en-GB" dirty="0"/>
              <a:t>https://learn.microsoft.com/en-us/azure/aks/azure-csi-blob-storage-provision?tabs=mount-nfs%2Csecret</a:t>
            </a:r>
          </a:p>
        </p:txBody>
      </p:sp>
      <p:sp>
        <p:nvSpPr>
          <p:cNvPr id="4" name="Slide Number Placeholder 3">
            <a:extLst>
              <a:ext uri="{FF2B5EF4-FFF2-40B4-BE49-F238E27FC236}">
                <a16:creationId xmlns:a16="http://schemas.microsoft.com/office/drawing/2014/main" id="{54A36FD3-9868-1102-D47D-AA4646C03D11}"/>
              </a:ext>
            </a:extLst>
          </p:cNvPr>
          <p:cNvSpPr>
            <a:spLocks noGrp="1"/>
          </p:cNvSpPr>
          <p:nvPr>
            <p:ph type="sldNum" sz="quarter" idx="5"/>
          </p:nvPr>
        </p:nvSpPr>
        <p:spPr/>
        <p:txBody>
          <a:bodyPr/>
          <a:lstStyle/>
          <a:p>
            <a:fld id="{1D09229F-6F41-4CC3-A51C-EB832A3392C5}" type="slidenum">
              <a:rPr lang="en-US" smtClean="0"/>
              <a:t>24</a:t>
            </a:fld>
            <a:endParaRPr lang="en-US"/>
          </a:p>
        </p:txBody>
      </p:sp>
    </p:spTree>
    <p:extLst>
      <p:ext uri="{BB962C8B-B14F-4D97-AF65-F5344CB8AC3E}">
        <p14:creationId xmlns:p14="http://schemas.microsoft.com/office/powerpoint/2010/main" val="36829590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B34A6-5624-6CC3-B2FF-0683508C82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04B59E-A54D-1CA9-33FD-3F60279099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09B22B-8C2F-EE28-9C28-C986B8C9FE8B}"/>
              </a:ext>
            </a:extLst>
          </p:cNvPr>
          <p:cNvSpPr>
            <a:spLocks noGrp="1"/>
          </p:cNvSpPr>
          <p:nvPr>
            <p:ph type="body" idx="1"/>
          </p:nvPr>
        </p:nvSpPr>
        <p:spPr/>
        <p:txBody>
          <a:bodyPr/>
          <a:lstStyle/>
          <a:p>
            <a:r>
              <a:rPr lang="en-GB" dirty="0"/>
              <a:t>https://learn.microsoft.com/en-us/azure/aks/concepts-storage#azure-disk</a:t>
            </a:r>
          </a:p>
          <a:p>
            <a:endParaRPr lang="en-GB" dirty="0"/>
          </a:p>
          <a:p>
            <a:r>
              <a:rPr lang="en-GB" dirty="0"/>
              <a:t>https://learn.microsoft.com/en-us/azure/aks/azure-blob-csi?tabs=NFS</a:t>
            </a:r>
          </a:p>
          <a:p>
            <a:endParaRPr lang="en-GB" dirty="0"/>
          </a:p>
        </p:txBody>
      </p:sp>
      <p:sp>
        <p:nvSpPr>
          <p:cNvPr id="4" name="Slide Number Placeholder 3">
            <a:extLst>
              <a:ext uri="{FF2B5EF4-FFF2-40B4-BE49-F238E27FC236}">
                <a16:creationId xmlns:a16="http://schemas.microsoft.com/office/drawing/2014/main" id="{4E125FD6-CABF-BC6E-6F69-B8E6B94595F6}"/>
              </a:ext>
            </a:extLst>
          </p:cNvPr>
          <p:cNvSpPr>
            <a:spLocks noGrp="1"/>
          </p:cNvSpPr>
          <p:nvPr>
            <p:ph type="sldNum" sz="quarter" idx="5"/>
          </p:nvPr>
        </p:nvSpPr>
        <p:spPr/>
        <p:txBody>
          <a:bodyPr/>
          <a:lstStyle/>
          <a:p>
            <a:fld id="{1D09229F-6F41-4CC3-A51C-EB832A3392C5}" type="slidenum">
              <a:rPr lang="en-US" smtClean="0"/>
              <a:t>25</a:t>
            </a:fld>
            <a:endParaRPr lang="en-US"/>
          </a:p>
        </p:txBody>
      </p:sp>
    </p:spTree>
    <p:extLst>
      <p:ext uri="{BB962C8B-B14F-4D97-AF65-F5344CB8AC3E}">
        <p14:creationId xmlns:p14="http://schemas.microsoft.com/office/powerpoint/2010/main" val="11170023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26</a:t>
            </a:fld>
            <a:endParaRPr lang="en-US"/>
          </a:p>
        </p:txBody>
      </p:sp>
      <p:sp>
        <p:nvSpPr>
          <p:cNvPr id="3" name="Date Placeholder 2">
            <a:extLst>
              <a:ext uri="{FF2B5EF4-FFF2-40B4-BE49-F238E27FC236}">
                <a16:creationId xmlns:a16="http://schemas.microsoft.com/office/drawing/2014/main" id="{1A0B76F9-3F92-4745-AA72-2039D73104F8}"/>
              </a:ext>
            </a:extLst>
          </p:cNvPr>
          <p:cNvSpPr>
            <a:spLocks noGrp="1"/>
          </p:cNvSpPr>
          <p:nvPr>
            <p:ph type="dt" idx="12"/>
          </p:nvPr>
        </p:nvSpPr>
        <p:spPr/>
        <p:txBody>
          <a:bodyPr/>
          <a:lstStyle/>
          <a:p>
            <a:fld id="{98343A3E-C65B-474B-B284-72A2415C99C0}" type="datetime1">
              <a:rPr lang="en-US"/>
              <a:t>9/8/2025</a:t>
            </a:fld>
            <a:endParaRPr lang="en-US"/>
          </a:p>
        </p:txBody>
      </p:sp>
      <p:sp>
        <p:nvSpPr>
          <p:cNvPr id="10" name="Slide Image Placeholder 9">
            <a:extLst>
              <a:ext uri="{FF2B5EF4-FFF2-40B4-BE49-F238E27FC236}">
                <a16:creationId xmlns:a16="http://schemas.microsoft.com/office/drawing/2014/main" id="{B080087F-9B63-4FCC-87C0-CC79C9FF5FED}"/>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79EF5BC6-BB55-444F-AE42-1679207E5163}"/>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29186FA5-7D91-4142-B389-05BC0ADD7EE6}"/>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38439650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6705F-CC33-4EC3-FED3-913F61252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749446-D8FE-49FF-4D54-2412D9974C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81C687-B957-0FDC-B6C4-F09B72DBC71A}"/>
              </a:ext>
            </a:extLst>
          </p:cNvPr>
          <p:cNvSpPr>
            <a:spLocks noGrp="1"/>
          </p:cNvSpPr>
          <p:nvPr>
            <p:ph type="body" idx="1"/>
          </p:nvPr>
        </p:nvSpPr>
        <p:spPr/>
        <p:txBody>
          <a:bodyPr/>
          <a:lstStyle/>
          <a:p>
            <a:r>
              <a:rPr lang="en-GB" dirty="0"/>
              <a:t>https://learn.microsoft.com/en-us/azure/aks/concepts-storage#azure-disk</a:t>
            </a:r>
          </a:p>
          <a:p>
            <a:endParaRPr lang="en-GB" dirty="0"/>
          </a:p>
          <a:p>
            <a:r>
              <a:rPr lang="en-GB" dirty="0"/>
              <a:t>https://learn.microsoft.com/en-us/azure/aks/azure-blob-csi?tabs=NFS</a:t>
            </a:r>
          </a:p>
          <a:p>
            <a:endParaRPr lang="en-GB" dirty="0"/>
          </a:p>
        </p:txBody>
      </p:sp>
      <p:sp>
        <p:nvSpPr>
          <p:cNvPr id="4" name="Slide Number Placeholder 3">
            <a:extLst>
              <a:ext uri="{FF2B5EF4-FFF2-40B4-BE49-F238E27FC236}">
                <a16:creationId xmlns:a16="http://schemas.microsoft.com/office/drawing/2014/main" id="{E1796722-1E77-3DBE-267F-B1F2D36DAE9A}"/>
              </a:ext>
            </a:extLst>
          </p:cNvPr>
          <p:cNvSpPr>
            <a:spLocks noGrp="1"/>
          </p:cNvSpPr>
          <p:nvPr>
            <p:ph type="sldNum" sz="quarter" idx="5"/>
          </p:nvPr>
        </p:nvSpPr>
        <p:spPr/>
        <p:txBody>
          <a:bodyPr/>
          <a:lstStyle/>
          <a:p>
            <a:fld id="{1D09229F-6F41-4CC3-A51C-EB832A3392C5}" type="slidenum">
              <a:rPr lang="en-US" smtClean="0"/>
              <a:t>27</a:t>
            </a:fld>
            <a:endParaRPr lang="en-US"/>
          </a:p>
        </p:txBody>
      </p:sp>
    </p:spTree>
    <p:extLst>
      <p:ext uri="{BB962C8B-B14F-4D97-AF65-F5344CB8AC3E}">
        <p14:creationId xmlns:p14="http://schemas.microsoft.com/office/powerpoint/2010/main" val="21676051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US" b="0" i="0" u="none" strike="noStrike">
                <a:solidFill>
                  <a:srgbClr val="000000"/>
                </a:solidFill>
                <a:effectLst/>
                <a:highlight>
                  <a:srgbClr val="F5F5F5"/>
                </a:highlight>
                <a:latin typeface="Segoe UI" panose="020B0502040204020203" pitchFamily="34" charset="0"/>
              </a:rPr>
              <a:t>Across these different roles in an enterprise running stateful apps, the top pain points :</a:t>
            </a:r>
            <a:r>
              <a:rPr lang="en-US" b="0" i="0">
                <a:solidFill>
                  <a:srgbClr val="444444"/>
                </a:solidFill>
                <a:effectLst/>
                <a:highlight>
                  <a:srgbClr val="F5F5F5"/>
                </a:highlight>
                <a:latin typeface="Segoe UI" panose="020B0502040204020203" pitchFamily="34" charset="0"/>
              </a:rPr>
              <a:t>​</a:t>
            </a:r>
            <a:endParaRPr lang="en-US" b="0" i="0">
              <a:solidFill>
                <a:srgbClr val="444444"/>
              </a:solidFill>
              <a:effectLst/>
              <a:highlight>
                <a:srgbClr val="F5F5F5"/>
              </a:highlight>
              <a:latin typeface="Calibri" panose="020F0502020204030204" pitchFamily="34" charset="0"/>
            </a:endParaRPr>
          </a:p>
          <a:p>
            <a:pPr algn="l" rtl="0" fontAlgn="base">
              <a:buFont typeface="Arial" panose="020B0604020202020204" pitchFamily="34" charset="0"/>
              <a:buChar char="•"/>
            </a:pPr>
            <a:r>
              <a:rPr lang="en-US" sz="1800" b="0" i="0" u="none" strike="noStrike">
                <a:solidFill>
                  <a:srgbClr val="000000"/>
                </a:solidFill>
                <a:effectLst/>
                <a:highlight>
                  <a:srgbClr val="F5F5F5"/>
                </a:highlight>
                <a:latin typeface="Segoe UI" panose="020B0502040204020203" pitchFamily="34" charset="0"/>
              </a:rPr>
              <a:t>Choosing the right storage option that best meets the needs of their workload, while still meeting requirements around cost and performance.</a:t>
            </a:r>
            <a:r>
              <a:rPr lang="en-US" sz="1800" b="0" i="0">
                <a:solidFill>
                  <a:srgbClr val="444444"/>
                </a:solidFill>
                <a:effectLst/>
                <a:highlight>
                  <a:srgbClr val="F5F5F5"/>
                </a:highlight>
                <a:latin typeface="Segoe UI" panose="020B0502040204020203" pitchFamily="34" charset="0"/>
              </a:rPr>
              <a:t>​</a:t>
            </a:r>
            <a:endParaRPr lang="en-US" sz="1800" b="0" i="0">
              <a:solidFill>
                <a:srgbClr val="444444"/>
              </a:solidFill>
              <a:effectLst/>
              <a:highlight>
                <a:srgbClr val="F5F5F5"/>
              </a:highlight>
              <a:latin typeface="Arial" panose="020B0604020202020204" pitchFamily="34" charset="0"/>
            </a:endParaRPr>
          </a:p>
          <a:p>
            <a:pPr algn="l" rtl="0" fontAlgn="base">
              <a:buFont typeface="Arial" panose="020B0604020202020204" pitchFamily="34" charset="0"/>
              <a:buChar char="•"/>
            </a:pPr>
            <a:r>
              <a:rPr lang="en-US" sz="1800" b="0" i="0" u="none" strike="noStrike">
                <a:solidFill>
                  <a:srgbClr val="000000"/>
                </a:solidFill>
                <a:effectLst/>
                <a:highlight>
                  <a:srgbClr val="F5F5F5"/>
                </a:highlight>
                <a:latin typeface="Segoe UI" panose="020B0502040204020203" pitchFamily="34" charset="0"/>
              </a:rPr>
              <a:t>Being able to scale out and up dynamically without disruptions.</a:t>
            </a:r>
            <a:r>
              <a:rPr lang="en-US" sz="1800" b="0" i="0">
                <a:solidFill>
                  <a:srgbClr val="444444"/>
                </a:solidFill>
                <a:effectLst/>
                <a:highlight>
                  <a:srgbClr val="F5F5F5"/>
                </a:highlight>
                <a:latin typeface="Segoe UI" panose="020B0502040204020203" pitchFamily="34" charset="0"/>
              </a:rPr>
              <a:t>​</a:t>
            </a:r>
            <a:endParaRPr lang="en-US" sz="1800" b="0" i="0">
              <a:solidFill>
                <a:srgbClr val="444444"/>
              </a:solidFill>
              <a:effectLst/>
              <a:highlight>
                <a:srgbClr val="F5F5F5"/>
              </a:highlight>
              <a:latin typeface="Arial" panose="020B0604020202020204" pitchFamily="34" charset="0"/>
            </a:endParaRPr>
          </a:p>
          <a:p>
            <a:pPr algn="l" rtl="0" fontAlgn="base">
              <a:buFont typeface="Arial" panose="020B0604020202020204" pitchFamily="34" charset="0"/>
              <a:buChar char="•"/>
            </a:pPr>
            <a:r>
              <a:rPr lang="en-US" sz="1800" b="0" i="0" u="none" strike="noStrike">
                <a:solidFill>
                  <a:srgbClr val="000000"/>
                </a:solidFill>
                <a:effectLst/>
                <a:highlight>
                  <a:srgbClr val="F5F5F5"/>
                </a:highlight>
                <a:latin typeface="Segoe UI" panose="020B0502040204020203" pitchFamily="34" charset="0"/>
              </a:rPr>
              <a:t>And setting up data protection to backup their applications.</a:t>
            </a:r>
            <a:r>
              <a:rPr lang="en-US" sz="1800" b="0" i="0">
                <a:solidFill>
                  <a:srgbClr val="444444"/>
                </a:solidFill>
                <a:effectLst/>
                <a:highlight>
                  <a:srgbClr val="F5F5F5"/>
                </a:highlight>
                <a:latin typeface="Segoe UI" panose="020B0502040204020203" pitchFamily="34" charset="0"/>
              </a:rPr>
              <a:t>​</a:t>
            </a:r>
            <a:endParaRPr lang="en-US" sz="1800" b="0" i="0">
              <a:solidFill>
                <a:srgbClr val="444444"/>
              </a:solidFill>
              <a:effectLst/>
              <a:highlight>
                <a:srgbClr val="F5F5F5"/>
              </a:highlight>
              <a:latin typeface="Arial" panose="020B0604020202020204" pitchFamily="34" charset="0"/>
            </a:endParaRPr>
          </a:p>
          <a:p>
            <a:pPr algn="l" rtl="0" fontAlgn="base">
              <a:buFont typeface="Arial" panose="020B0604020202020204" pitchFamily="34" charset="0"/>
              <a:buNone/>
            </a:pPr>
            <a:r>
              <a:rPr lang="en-US" sz="1800" b="0" i="0">
                <a:solidFill>
                  <a:srgbClr val="444444"/>
                </a:solidFill>
                <a:effectLst/>
                <a:highlight>
                  <a:srgbClr val="F5F5F5"/>
                </a:highlight>
                <a:latin typeface="Segoe UI" panose="020B0502040204020203" pitchFamily="34" charset="0"/>
              </a:rPr>
              <a:t>​</a:t>
            </a:r>
            <a:endParaRPr lang="en-US" sz="1800" b="0" i="0">
              <a:solidFill>
                <a:srgbClr val="444444"/>
              </a:solidFill>
              <a:effectLst/>
              <a:highlight>
                <a:srgbClr val="F5F5F5"/>
              </a:highlight>
              <a:latin typeface="Arial" panose="020B0604020202020204" pitchFamily="34" charset="0"/>
            </a:endParaRPr>
          </a:p>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9/8/2025 11:30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28</a:t>
            </a:fld>
            <a:endParaRPr lang="en-US"/>
          </a:p>
        </p:txBody>
      </p:sp>
    </p:spTree>
    <p:extLst>
      <p:ext uri="{BB962C8B-B14F-4D97-AF65-F5344CB8AC3E}">
        <p14:creationId xmlns:p14="http://schemas.microsoft.com/office/powerpoint/2010/main" val="38021443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900">
                <a:effectLst/>
                <a:latin typeface="Calibri" panose="020F0502020204030204" pitchFamily="34" charset="0"/>
                <a:ea typeface="SimSun" panose="02010600030101010101" pitchFamily="2" charset="-122"/>
                <a:cs typeface="Arial" panose="020B0604020202020204" pitchFamily="34" charset="0"/>
              </a:rPr>
              <a:t>Azure Container Storage is a software defined storage solution built for AKS, and tightly integrated with AKS. </a:t>
            </a:r>
          </a:p>
          <a:p>
            <a:pPr marL="0" marR="0">
              <a:lnSpc>
                <a:spcPct val="107000"/>
              </a:lnSpc>
              <a:spcBef>
                <a:spcPts val="0"/>
              </a:spcBef>
              <a:spcAft>
                <a:spcPts val="800"/>
              </a:spcAft>
            </a:pPr>
            <a:endParaRPr lang="en-US" sz="900">
              <a:effectLst/>
              <a:latin typeface="Calibri" panose="020F0502020204030204" pitchFamily="34" charset="0"/>
              <a:ea typeface="SimSun" panose="02010600030101010101" pitchFamily="2" charset="-122"/>
              <a:cs typeface="Arial" panose="020B0604020202020204" pitchFamily="34" charset="0"/>
            </a:endParaRPr>
          </a:p>
          <a:p>
            <a:pPr marL="0" marR="0">
              <a:lnSpc>
                <a:spcPct val="107000"/>
              </a:lnSpc>
              <a:spcBef>
                <a:spcPts val="0"/>
              </a:spcBef>
              <a:spcAft>
                <a:spcPts val="800"/>
              </a:spcAft>
            </a:pPr>
            <a:r>
              <a:rPr lang="en-US" sz="900">
                <a:effectLst/>
                <a:latin typeface="Calibri" panose="020F0502020204030204" pitchFamily="34" charset="0"/>
                <a:ea typeface="SimSun" panose="02010600030101010101" pitchFamily="2" charset="-122"/>
                <a:cs typeface="Arial" panose="020B0604020202020204" pitchFamily="34" charset="0"/>
              </a:rPr>
              <a:t>It streamlines storage management for operators and simplifies volume provisioning and usage for</a:t>
            </a:r>
            <a:r>
              <a:rPr lang="en-US" sz="900">
                <a:solidFill>
                  <a:srgbClr val="323232"/>
                </a:solidFill>
                <a:effectLst/>
                <a:latin typeface="Calibri" panose="020F0502020204030204" pitchFamily="34" charset="0"/>
                <a:ea typeface="SimSun" panose="02010600030101010101" pitchFamily="2" charset="-122"/>
                <a:cs typeface="Calibri" panose="020F0502020204030204" pitchFamily="34" charset="0"/>
              </a:rPr>
              <a:t> developers, so they can focus on running workloads and applications rather than managing storage. </a:t>
            </a:r>
          </a:p>
          <a:p>
            <a:pPr marL="0" marR="0">
              <a:lnSpc>
                <a:spcPct val="107000"/>
              </a:lnSpc>
              <a:spcBef>
                <a:spcPts val="0"/>
              </a:spcBef>
              <a:spcAft>
                <a:spcPts val="800"/>
              </a:spcAft>
            </a:pPr>
            <a:endParaRPr lang="en-US" sz="900">
              <a:solidFill>
                <a:srgbClr val="323232"/>
              </a:solidFill>
              <a:effectLst/>
              <a:latin typeface="Calibri" panose="020F0502020204030204" pitchFamily="34" charset="0"/>
              <a:ea typeface="SimSun" panose="02010600030101010101" pitchFamily="2" charset="-122"/>
              <a:cs typeface="Calibri" panose="020F0502020204030204" pitchFamily="34" charset="0"/>
            </a:endParaRPr>
          </a:p>
          <a:p>
            <a:pPr marL="171450" marR="0" indent="-171450">
              <a:lnSpc>
                <a:spcPct val="107000"/>
              </a:lnSpc>
              <a:spcBef>
                <a:spcPts val="0"/>
              </a:spcBef>
              <a:spcAft>
                <a:spcPts val="800"/>
              </a:spcAft>
              <a:buFont typeface="Arial" panose="020B0604020202020204" pitchFamily="34" charset="0"/>
              <a:buChar char="•"/>
            </a:pPr>
            <a:r>
              <a:rPr lang="en-US" sz="900">
                <a:solidFill>
                  <a:srgbClr val="323232"/>
                </a:solidFill>
                <a:effectLst/>
                <a:latin typeface="Calibri" panose="020F0502020204030204" pitchFamily="34" charset="0"/>
                <a:ea typeface="SimSun" panose="02010600030101010101" pitchFamily="2" charset="-122"/>
                <a:cs typeface="Calibri" panose="020F0502020204030204" pitchFamily="34" charset="0"/>
              </a:rPr>
              <a:t>It provides a common abstraction over multiple block storage options including local storage </a:t>
            </a:r>
          </a:p>
          <a:p>
            <a:pPr marL="171450" marR="0" indent="-171450">
              <a:lnSpc>
                <a:spcPct val="107000"/>
              </a:lnSpc>
              <a:spcBef>
                <a:spcPts val="0"/>
              </a:spcBef>
              <a:spcAft>
                <a:spcPts val="800"/>
              </a:spcAft>
              <a:buFont typeface="Arial" panose="020B0604020202020204" pitchFamily="34" charset="0"/>
              <a:buChar char="•"/>
            </a:pPr>
            <a:r>
              <a:rPr lang="en-US" sz="900">
                <a:solidFill>
                  <a:srgbClr val="323232"/>
                </a:solidFill>
                <a:effectLst/>
                <a:latin typeface="Calibri" panose="020F0502020204030204" pitchFamily="34" charset="0"/>
                <a:ea typeface="SimSun" panose="02010600030101010101" pitchFamily="2" charset="-122"/>
                <a:cs typeface="Calibri" panose="020F0502020204030204" pitchFamily="34" charset="0"/>
              </a:rPr>
              <a:t>It enables rapid provisioning and scale out of volumes. This significantly improves the experience of users impacted by attach/detach latencies or limits on the number of volumes per node</a:t>
            </a:r>
          </a:p>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EEF8E76F-DE9D-474F-8DB7-C251657F5694}" type="datetime8">
              <a:rPr lang="en-US" smtClean="0"/>
              <a:t>9/8/2025 11:30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29</a:t>
            </a:fld>
            <a:endParaRPr lang="en-US"/>
          </a:p>
        </p:txBody>
      </p:sp>
    </p:spTree>
    <p:extLst>
      <p:ext uri="{BB962C8B-B14F-4D97-AF65-F5344CB8AC3E}">
        <p14:creationId xmlns:p14="http://schemas.microsoft.com/office/powerpoint/2010/main" val="35975304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There’s a couple of key benefits to highlight in todays demo with azure container storage</a:t>
            </a:r>
          </a:p>
          <a:p>
            <a:endParaRPr lang="en-US"/>
          </a:p>
          <a:p>
            <a:r>
              <a:rPr lang="en-US"/>
              <a:t>You can see here before, every time you provision a PV, you would need to provision a disk that would then correspond to a PV. </a:t>
            </a:r>
          </a:p>
          <a:p>
            <a:r>
              <a:rPr lang="en-US"/>
              <a:t>In the normal workflow, you have to </a:t>
            </a:r>
            <a:r>
              <a:rPr lang="en-US" b="1"/>
              <a:t>overprovision on capacity</a:t>
            </a:r>
            <a:r>
              <a:rPr lang="en-US"/>
              <a:t> in order to achieve the high performance levels you need, leaving lots of spare capacity that you have to pay for.</a:t>
            </a:r>
          </a:p>
          <a:p>
            <a:endParaRPr lang="en-US"/>
          </a:p>
          <a:p>
            <a:r>
              <a:rPr lang="en-US"/>
              <a:t>With Azure Container Storage you can:</a:t>
            </a:r>
          </a:p>
          <a:p>
            <a:pPr marL="171450" indent="-171450">
              <a:buFont typeface="Arial" panose="020B0604020202020204" pitchFamily="34" charset="0"/>
              <a:buChar char="•"/>
            </a:pPr>
            <a:r>
              <a:rPr lang="en-US"/>
              <a:t>Provision a single disk that fits your workload’s peak performance requirements</a:t>
            </a:r>
          </a:p>
          <a:p>
            <a:pPr marL="171450" indent="-171450">
              <a:buFont typeface="Arial" panose="020B0604020202020204" pitchFamily="34" charset="0"/>
              <a:buChar char="•"/>
            </a:pPr>
            <a:r>
              <a:rPr lang="en-US"/>
              <a:t>Share that performance between your volumes</a:t>
            </a:r>
          </a:p>
          <a:p>
            <a:pPr marL="171450" indent="-171450">
              <a:buFont typeface="Arial" panose="020B0604020202020204" pitchFamily="34" charset="0"/>
              <a:buChar char="•"/>
            </a:pPr>
            <a:r>
              <a:rPr lang="en-US"/>
              <a:t>Pay for a single disk</a:t>
            </a:r>
          </a:p>
          <a:p>
            <a:pPr marL="171450" indent="-171450">
              <a:buFont typeface="Arial" panose="020B0604020202020204" pitchFamily="34" charset="0"/>
              <a:buChar char="•"/>
            </a:pPr>
            <a:r>
              <a:rPr lang="en-US"/>
              <a:t>Put multiple volumes on that disk</a:t>
            </a:r>
          </a:p>
          <a:p>
            <a:endParaRPr lang="en-US"/>
          </a:p>
          <a:p>
            <a:pPr marL="0" marR="0" lvl="0" indent="0" algn="l" defTabSz="914367" rtl="0" eaLnBrk="1" fontAlgn="auto" latinLnBrk="0" hangingPunct="1">
              <a:lnSpc>
                <a:spcPct val="90000"/>
              </a:lnSpc>
              <a:spcBef>
                <a:spcPts val="0"/>
              </a:spcBef>
              <a:spcAft>
                <a:spcPts val="333"/>
              </a:spcAft>
              <a:buClrTx/>
              <a:buSzTx/>
              <a:buFontTx/>
              <a:buNone/>
              <a:tabLst/>
              <a:defRPr/>
            </a:pPr>
            <a:r>
              <a:rPr lang="en-US"/>
              <a:t>One more callout here: There’s an </a:t>
            </a:r>
            <a:r>
              <a:rPr lang="en-US" sz="900" b="0" i="0" u="none" strike="noStrike">
                <a:solidFill>
                  <a:srgbClr val="000000"/>
                </a:solidFill>
                <a:effectLst/>
                <a:highlight>
                  <a:srgbClr val="F5F5F5"/>
                </a:highlight>
                <a:latin typeface="Aptos" panose="020B0004020202020204" pitchFamily="34" charset="0"/>
              </a:rPr>
              <a:t>existing limitation, where, your node size (or VM </a:t>
            </a:r>
            <a:r>
              <a:rPr lang="en-US" sz="900" b="0" i="0" u="none" strike="noStrike" err="1">
                <a:solidFill>
                  <a:srgbClr val="000000"/>
                </a:solidFill>
                <a:effectLst/>
                <a:highlight>
                  <a:srgbClr val="F5F5F5"/>
                </a:highlight>
                <a:latin typeface="Aptos" panose="020B0004020202020204" pitchFamily="34" charset="0"/>
              </a:rPr>
              <a:t>sku</a:t>
            </a:r>
            <a:r>
              <a:rPr lang="en-US" sz="900" b="0" i="0" u="none" strike="noStrike">
                <a:solidFill>
                  <a:srgbClr val="000000"/>
                </a:solidFill>
                <a:effectLst/>
                <a:highlight>
                  <a:srgbClr val="F5F5F5"/>
                </a:highlight>
                <a:latin typeface="Aptos" panose="020B0004020202020204" pitchFamily="34" charset="0"/>
              </a:rPr>
              <a:t>), will dictate how many volumes you can attach to it. Most </a:t>
            </a:r>
            <a:r>
              <a:rPr lang="en-US" sz="900" b="0" i="0" u="none" strike="noStrike" err="1">
                <a:solidFill>
                  <a:srgbClr val="000000"/>
                </a:solidFill>
                <a:effectLst/>
                <a:highlight>
                  <a:srgbClr val="F5F5F5"/>
                </a:highlight>
                <a:latin typeface="Aptos" panose="020B0004020202020204" pitchFamily="34" charset="0"/>
              </a:rPr>
              <a:t>sku’s</a:t>
            </a:r>
            <a:r>
              <a:rPr lang="en-US" sz="900" b="0" i="0" u="none" strike="noStrike">
                <a:solidFill>
                  <a:srgbClr val="000000"/>
                </a:solidFill>
                <a:effectLst/>
                <a:highlight>
                  <a:srgbClr val="F5F5F5"/>
                </a:highlight>
                <a:latin typeface="Aptos" panose="020B0004020202020204" pitchFamily="34" charset="0"/>
              </a:rPr>
              <a:t> can attach 16 volumes, but if you’re lucky and are using a larger family, you can get up to 64. But what if you need more? Or need more than 16 but don’t want to necessarily use a larger VM? With Azure Container storage, you are able to overcome these limitations (</a:t>
            </a:r>
            <a:r>
              <a:rPr lang="en-US" sz="1800" b="0" i="0" u="none" strike="noStrike">
                <a:solidFill>
                  <a:srgbClr val="000000"/>
                </a:solidFill>
                <a:effectLst/>
                <a:highlight>
                  <a:srgbClr val="F5F5F5"/>
                </a:highlight>
                <a:latin typeface="Segoe Sans Text Semibold" pitchFamily="2" charset="0"/>
              </a:rPr>
              <a:t>75</a:t>
            </a:r>
            <a:r>
              <a:rPr lang="en-US" sz="1800" b="0" i="0" u="none" strike="noStrike">
                <a:solidFill>
                  <a:srgbClr val="000000"/>
                </a:solidFill>
                <a:effectLst/>
                <a:highlight>
                  <a:srgbClr val="F5F5F5"/>
                </a:highlight>
                <a:latin typeface="Segoe Sans Text" pitchFamily="2" charset="0"/>
              </a:rPr>
              <a:t> PVs per node on any VM SKUs</a:t>
            </a:r>
            <a:r>
              <a:rPr lang="en-US" sz="1800" b="0" i="0">
                <a:solidFill>
                  <a:srgbClr val="000000"/>
                </a:solidFill>
                <a:effectLst/>
                <a:highlight>
                  <a:srgbClr val="F5F5F5"/>
                </a:highlight>
                <a:latin typeface="Segoe Sans Text" pitchFamily="2" charset="0"/>
              </a:rPr>
              <a:t>​.</a:t>
            </a:r>
            <a:r>
              <a:rPr lang="en-US" sz="900" b="0" i="0" u="none" strike="noStrike">
                <a:solidFill>
                  <a:srgbClr val="000000"/>
                </a:solidFill>
                <a:effectLst/>
                <a:highlight>
                  <a:srgbClr val="F5F5F5"/>
                </a:highlight>
                <a:latin typeface="Aptos" panose="020B0004020202020204" pitchFamily="34" charset="0"/>
              </a:rPr>
              <a:t>)</a:t>
            </a:r>
            <a:endParaRPr lang="en-US"/>
          </a:p>
        </p:txBody>
      </p:sp>
      <p:sp>
        <p:nvSpPr>
          <p:cNvPr id="4" name="Slide Number Placeholder 3"/>
          <p:cNvSpPr>
            <a:spLocks noGrp="1"/>
          </p:cNvSpPr>
          <p:nvPr>
            <p:ph type="sldNum" sz="quarter" idx="5"/>
          </p:nvPr>
        </p:nvSpPr>
        <p:spPr/>
        <p:txBody>
          <a:bodyPr/>
          <a:lstStyle/>
          <a:p>
            <a:fld id="{D105AF68-91D5-47A3-B242-B91033A3CC6C}" type="slidenum">
              <a:rPr lang="en-US" smtClean="0"/>
              <a:t>30</a:t>
            </a:fld>
            <a:endParaRPr lang="en-US"/>
          </a:p>
        </p:txBody>
      </p:sp>
    </p:spTree>
    <p:extLst>
      <p:ext uri="{BB962C8B-B14F-4D97-AF65-F5344CB8AC3E}">
        <p14:creationId xmlns:p14="http://schemas.microsoft.com/office/powerpoint/2010/main" val="12411017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effectLst/>
                <a:latin typeface="Calibri"/>
                <a:ea typeface="SimSun"/>
                <a:cs typeface="Calibri"/>
              </a:rPr>
              <a:t>Azure Container Storage introduces the concept of Container Storage Pools, where a pool is a grouping of storage resources that are presented as a storage entity for your AKS cluster. Existing Azure Storage offerings like ephemeral disks, Azure Disks, and Azure </a:t>
            </a:r>
            <a:r>
              <a:rPr lang="en-US" sz="1000" err="1">
                <a:effectLst/>
                <a:latin typeface="Calibri"/>
                <a:ea typeface="SimSun"/>
                <a:cs typeface="Calibri"/>
              </a:rPr>
              <a:t>ElasticSAN</a:t>
            </a:r>
            <a:r>
              <a:rPr lang="en-US" sz="1000">
                <a:effectLst/>
                <a:latin typeface="Calibri"/>
                <a:ea typeface="SimSun"/>
                <a:cs typeface="Calibri"/>
              </a:rPr>
              <a:t> can all serve as resources backing a storage pool. You can create a persistent volume (PV) in this storage pool and mount it to your pods, to store data.</a:t>
            </a:r>
          </a:p>
          <a:p>
            <a:endParaRPr lang="en-US"/>
          </a:p>
          <a:p>
            <a:r>
              <a:rPr lang="en-US" sz="900">
                <a:latin typeface="Segoe UI"/>
                <a:cs typeface="Segoe UI"/>
              </a:rPr>
              <a:t>Alternate:</a:t>
            </a:r>
          </a:p>
          <a:p>
            <a:r>
              <a:rPr lang="en-US"/>
              <a:t>Unified storage management experience: a consistent view to manage different backing storage offerings through a Single Pane of Glass</a:t>
            </a:r>
          </a:p>
          <a:p>
            <a:r>
              <a:rPr lang="en-US" sz="900">
                <a:latin typeface="Segoe UI"/>
                <a:cs typeface="Segoe UI"/>
              </a:rPr>
              <a:t>A capacity provisioner layer which uses Storage Pool, which is a collection of storage resources grouped and presented as a unified storage entity for your AKS cluster.</a:t>
            </a:r>
          </a:p>
          <a:p>
            <a:r>
              <a:rPr lang="en-US" sz="900">
                <a:latin typeface="Segoe UI"/>
                <a:cs typeface="Segoe UI"/>
              </a:rPr>
              <a:t>A data services layer, responsible for replication, encryption, and other add-on functionality absent in the underlying storage provider.</a:t>
            </a:r>
          </a:p>
          <a:p>
            <a:r>
              <a:rPr lang="en-US" sz="900">
                <a:latin typeface="Segoe UI"/>
                <a:cs typeface="Segoe UI"/>
              </a:rPr>
              <a:t>A protocol layer, which exposes provisioned volumes via NVMe-</a:t>
            </a:r>
            <a:r>
              <a:rPr lang="en-US" sz="900" err="1">
                <a:latin typeface="Segoe UI"/>
                <a:cs typeface="Segoe UI"/>
              </a:rPr>
              <a:t>oF</a:t>
            </a:r>
            <a:r>
              <a:rPr lang="en-US" sz="900">
                <a:latin typeface="Segoe UI"/>
                <a:cs typeface="Segoe UI"/>
              </a:rPr>
              <a:t> protocol to application pods.</a:t>
            </a:r>
          </a:p>
          <a:p>
            <a:endParaRPr lang="en-US">
              <a:cs typeface="Segoe UI" panose="020B0502040204020203" pitchFamily="34" charset="0"/>
            </a:endParaRPr>
          </a:p>
          <a:p>
            <a:r>
              <a:rPr lang="en-US" sz="900">
                <a:latin typeface="Segoe UI"/>
                <a:cs typeface="Segoe UI"/>
              </a:rPr>
              <a:t>[Internal] For your knowledge ..</a:t>
            </a:r>
          </a:p>
          <a:p>
            <a:endParaRPr lang="en-US"/>
          </a:p>
          <a:p>
            <a:pPr rtl="0"/>
            <a:r>
              <a:rPr lang="en-US" sz="900">
                <a:latin typeface="Segoe UI"/>
                <a:cs typeface="Segoe UI"/>
              </a:rPr>
              <a:t>Benefits of </a:t>
            </a:r>
            <a:r>
              <a:rPr lang="en-US" sz="900" err="1">
                <a:latin typeface="Segoe UI"/>
                <a:cs typeface="Segoe UI"/>
              </a:rPr>
              <a:t>NVMeoF</a:t>
            </a:r>
            <a:r>
              <a:rPr lang="en-US" sz="900">
                <a:latin typeface="Segoe UI"/>
                <a:cs typeface="Segoe UI"/>
              </a:rPr>
              <a:t> </a:t>
            </a:r>
          </a:p>
          <a:p>
            <a:pPr rtl="0">
              <a:buFont typeface="+mj-lt"/>
              <a:buAutoNum type="arabicPeriod"/>
            </a:pPr>
            <a:r>
              <a:rPr lang="en-US" sz="900">
                <a:latin typeface="Segoe UI"/>
                <a:cs typeface="Segoe UI"/>
              </a:rPr>
              <a:t> Is the most optimized storage protocol to expose remote block devices.</a:t>
            </a:r>
          </a:p>
          <a:p>
            <a:pPr rtl="0">
              <a:buFont typeface="+mj-lt"/>
              <a:buAutoNum type="arabicPeriod"/>
            </a:pPr>
            <a:r>
              <a:rPr lang="en-US" sz="900">
                <a:latin typeface="Segoe UI"/>
                <a:cs typeface="Segoe UI"/>
              </a:rPr>
              <a:t>Allows to expose NVMe device to the applications, so that applications can do multi queue block access.</a:t>
            </a:r>
          </a:p>
          <a:p>
            <a:pPr rtl="0">
              <a:buFont typeface="+mj-lt"/>
              <a:buAutoNum type="arabicPeriod"/>
            </a:pPr>
            <a:r>
              <a:rPr lang="en-US" sz="900">
                <a:latin typeface="Segoe UI"/>
                <a:cs typeface="Segoe UI"/>
              </a:rPr>
              <a:t>On target side, innovations like SPDK allows us to provision NVMe volumes at high performance across many initiators at the same time.</a:t>
            </a:r>
          </a:p>
          <a:p>
            <a:pPr rtl="0">
              <a:buFont typeface="+mj-lt"/>
              <a:buAutoNum type="arabicPeriod"/>
            </a:pPr>
            <a:r>
              <a:rPr lang="en-US" sz="900">
                <a:latin typeface="Segoe UI"/>
                <a:cs typeface="Segoe UI"/>
              </a:rPr>
              <a:t>On initiator end, existing drivers in Linux kernel are enough to expose block and/or filesystem to applications.</a:t>
            </a:r>
          </a:p>
          <a:p>
            <a:endParaRPr lang="en-US"/>
          </a:p>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9/8/2025 11:30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31</a:t>
            </a:fld>
            <a:endParaRPr lang="en-US"/>
          </a:p>
        </p:txBody>
      </p:sp>
    </p:spTree>
    <p:extLst>
      <p:ext uri="{BB962C8B-B14F-4D97-AF65-F5344CB8AC3E}">
        <p14:creationId xmlns:p14="http://schemas.microsoft.com/office/powerpoint/2010/main" val="37611378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a:t>Not only can use Azure Container Storage with remote storage but you can now run extremely latency sensitive workloads seamlessly on AKS where you can unleash the power of the local NVMe disks on your AKS nodes e.g., Lsv3 VMs. </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a:p>
          <a:p>
            <a:pPr marL="0" marR="0" lvl="0" indent="0" algn="l" defTabSz="914367" rtl="0" eaLnBrk="1" fontAlgn="auto" latinLnBrk="0" hangingPunct="1">
              <a:lnSpc>
                <a:spcPct val="90000"/>
              </a:lnSpc>
              <a:spcBef>
                <a:spcPts val="0"/>
              </a:spcBef>
              <a:spcAft>
                <a:spcPts val="333"/>
              </a:spcAft>
              <a:buClrTx/>
              <a:buSzTx/>
              <a:buFontTx/>
              <a:buNone/>
              <a:tabLst/>
              <a:defRPr/>
            </a:pPr>
            <a:r>
              <a:rPr lang="en-US"/>
              <a:t>If you decide to leverage local storage, Azure Container Storage will automatically discover the NVMe disks in your AKS nodes, and add them to your storage pools. For local storage, Azure Container Storage will leverage the NVME-over fabric protocol to attach the volumes to your pods.</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a:p>
          <a:p>
            <a:pPr marL="0" marR="0" lvl="0" indent="0" algn="l" defTabSz="914367" rtl="0" eaLnBrk="1" fontAlgn="auto" latinLnBrk="0" hangingPunct="1">
              <a:lnSpc>
                <a:spcPct val="90000"/>
              </a:lnSpc>
              <a:spcBef>
                <a:spcPts val="0"/>
              </a:spcBef>
              <a:spcAft>
                <a:spcPts val="333"/>
              </a:spcAft>
              <a:buClrTx/>
              <a:buSzTx/>
              <a:buFontTx/>
              <a:buNone/>
              <a:tabLst/>
              <a:defRPr/>
            </a:pPr>
            <a:r>
              <a:rPr lang="en-US"/>
              <a:t>__________________________________________________________</a:t>
            </a:r>
          </a:p>
          <a:p>
            <a:endParaRPr lang="en-US"/>
          </a:p>
          <a:p>
            <a:pPr marL="0" marR="0" lvl="0" indent="0" algn="l" defTabSz="914367" rtl="0" eaLnBrk="1" fontAlgn="auto" latinLnBrk="0" hangingPunct="1">
              <a:lnSpc>
                <a:spcPct val="90000"/>
              </a:lnSpc>
              <a:spcBef>
                <a:spcPts val="0"/>
              </a:spcBef>
              <a:spcAft>
                <a:spcPts val="333"/>
              </a:spcAft>
              <a:buClrTx/>
              <a:buSzTx/>
              <a:buFontTx/>
              <a:buNone/>
              <a:tabLst/>
              <a:defRPr/>
            </a:pPr>
            <a:r>
              <a:rPr lang="en-US" b="0" i="0">
                <a:solidFill>
                  <a:srgbClr val="333333"/>
                </a:solidFill>
                <a:effectLst/>
                <a:latin typeface="SegoeUI"/>
              </a:rPr>
              <a:t>Ephemeral disks (new): You can now add a local storage device like NVMe Disks available on the AKS nodes (</a:t>
            </a:r>
            <a:r>
              <a:rPr lang="en-US" b="0" i="0" u="sng">
                <a:solidFill>
                  <a:srgbClr val="146CAC"/>
                </a:solidFill>
                <a:effectLst/>
                <a:latin typeface="SegoeUI"/>
                <a:hlinkClick r:id="rId3"/>
              </a:rPr>
              <a:t>Lsv3 &amp; Lsv3 VMs</a:t>
            </a:r>
            <a:r>
              <a:rPr lang="en-US" b="0" i="0">
                <a:solidFill>
                  <a:srgbClr val="333333"/>
                </a:solidFill>
                <a:effectLst/>
                <a:latin typeface="SegoeUI"/>
              </a:rPr>
              <a:t>) to host your PVs. Ephemeral disks are well suited for latency-critical workloads with application-level replication support, such as Cassandra. Data stored on ephemeral disks is not persisted, you can either setup replication in the application to ensure data availability and durability or use it for temporary storage.</a:t>
            </a:r>
          </a:p>
          <a:p>
            <a:endParaRPr lang="en-US"/>
          </a:p>
          <a:p>
            <a:endParaRPr lang="en-US"/>
          </a:p>
          <a:p>
            <a:endParaRPr lang="en-US"/>
          </a:p>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9/8/2025 11:30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32</a:t>
            </a:fld>
            <a:endParaRPr lang="en-US"/>
          </a:p>
        </p:txBody>
      </p:sp>
    </p:spTree>
    <p:extLst>
      <p:ext uri="{BB962C8B-B14F-4D97-AF65-F5344CB8AC3E}">
        <p14:creationId xmlns:p14="http://schemas.microsoft.com/office/powerpoint/2010/main" val="41279699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US" sz="900" b="0" i="0" u="none" strike="noStrike">
                <a:solidFill>
                  <a:srgbClr val="000000"/>
                </a:solidFill>
                <a:effectLst/>
                <a:latin typeface="Calibri"/>
                <a:cs typeface="Calibri"/>
              </a:rPr>
              <a:t>You can choose for your storage pools, whatever storage backing option works best for your workloads.</a:t>
            </a:r>
            <a:r>
              <a:rPr lang="en-US" sz="900" b="0" i="0">
                <a:solidFill>
                  <a:srgbClr val="000000"/>
                </a:solidFill>
                <a:effectLst/>
                <a:latin typeface="Calibri"/>
                <a:cs typeface="Calibri"/>
              </a:rPr>
              <a:t>​</a:t>
            </a:r>
            <a:endParaRPr lang="en-US" sz="900" b="0" i="0">
              <a:solidFill>
                <a:srgbClr val="444444"/>
              </a:solidFill>
              <a:effectLst/>
              <a:latin typeface="Calibri"/>
              <a:cs typeface="Calibri"/>
            </a:endParaRPr>
          </a:p>
          <a:p>
            <a:pPr algn="l" rtl="0" fontAlgn="base"/>
            <a:r>
              <a:rPr lang="en-US" sz="900" b="0" i="0">
                <a:solidFill>
                  <a:srgbClr val="000000"/>
                </a:solidFill>
                <a:effectLst/>
                <a:latin typeface="Calibri"/>
                <a:cs typeface="Calibri"/>
              </a:rPr>
              <a:t>​</a:t>
            </a:r>
            <a:endParaRPr lang="en-US" sz="900" b="0" i="0">
              <a:solidFill>
                <a:srgbClr val="444444"/>
              </a:solidFill>
              <a:effectLst/>
              <a:latin typeface="Calibri"/>
              <a:cs typeface="Calibri"/>
            </a:endParaRPr>
          </a:p>
          <a:p>
            <a:pPr algn="l" rtl="0" fontAlgn="base"/>
            <a:r>
              <a:rPr lang="en-US" sz="900" b="0" i="0" u="none" strike="noStrike">
                <a:solidFill>
                  <a:srgbClr val="000000"/>
                </a:solidFill>
                <a:effectLst/>
                <a:latin typeface="Calibri"/>
                <a:cs typeface="Calibri"/>
              </a:rPr>
              <a:t>You can choose Azure Disks, a managed option, backed by Azure Elastic SAN, and </a:t>
            </a:r>
            <a:r>
              <a:rPr lang="en-US" sz="900" b="0" i="0" u="none" strike="noStrike" err="1">
                <a:solidFill>
                  <a:srgbClr val="000000"/>
                </a:solidFill>
                <a:effectLst/>
                <a:latin typeface="Calibri"/>
                <a:cs typeface="Calibri"/>
              </a:rPr>
              <a:t>ephermeral</a:t>
            </a:r>
            <a:r>
              <a:rPr lang="en-US" sz="900" b="0" i="0" u="none" strike="noStrike">
                <a:solidFill>
                  <a:srgbClr val="000000"/>
                </a:solidFill>
                <a:effectLst/>
                <a:latin typeface="Calibri"/>
                <a:cs typeface="Calibri"/>
              </a:rPr>
              <a:t> disk.</a:t>
            </a:r>
            <a:endParaRPr lang="en-US" sz="900" b="0" i="0">
              <a:solidFill>
                <a:srgbClr val="444444"/>
              </a:solidFill>
              <a:effectLst/>
              <a:latin typeface="Calibri"/>
              <a:cs typeface="Calibri"/>
            </a:endParaRPr>
          </a:p>
          <a:p>
            <a:pPr algn="l" rtl="0" fontAlgn="base"/>
            <a:r>
              <a:rPr lang="en-US" sz="900" b="0" i="0">
                <a:solidFill>
                  <a:srgbClr val="000000"/>
                </a:solidFill>
                <a:effectLst/>
                <a:latin typeface="Calibri"/>
                <a:cs typeface="Calibri"/>
              </a:rPr>
              <a:t>​</a:t>
            </a:r>
            <a:endParaRPr lang="en-US" sz="900" b="0" i="0">
              <a:solidFill>
                <a:srgbClr val="444444"/>
              </a:solidFill>
              <a:effectLst/>
              <a:latin typeface="Calibri"/>
              <a:cs typeface="Calibri"/>
            </a:endParaRPr>
          </a:p>
          <a:p>
            <a:pPr algn="l" rtl="0" fontAlgn="base">
              <a:buFont typeface="Arial" panose="020B0604020202020204" pitchFamily="34" charset="0"/>
              <a:buChar char="•"/>
            </a:pPr>
            <a:r>
              <a:rPr lang="en-US" sz="1800" b="1" i="0" u="none" strike="noStrike">
                <a:solidFill>
                  <a:srgbClr val="000000"/>
                </a:solidFill>
                <a:effectLst/>
                <a:latin typeface="Calibri"/>
                <a:cs typeface="Calibri"/>
              </a:rPr>
              <a:t> Azure Disks:</a:t>
            </a:r>
            <a:r>
              <a:rPr lang="en-US" sz="1800" b="0" i="0" u="none" strike="noStrike">
                <a:solidFill>
                  <a:srgbClr val="000000"/>
                </a:solidFill>
                <a:effectLst/>
                <a:latin typeface="Calibri"/>
                <a:cs typeface="Calibri"/>
              </a:rPr>
              <a:t> you might already know them as they are currently offered today via the CSI disk driver. This option is ideal if you prefer the granular control of disk SKU selection and configuration, or are currently using the CSI disk driver.</a:t>
            </a:r>
            <a:r>
              <a:rPr lang="en-US" sz="1800" b="0" i="0">
                <a:solidFill>
                  <a:srgbClr val="000000"/>
                </a:solidFill>
                <a:effectLst/>
                <a:latin typeface="Calibri"/>
                <a:cs typeface="Calibri"/>
              </a:rPr>
              <a:t>​</a:t>
            </a:r>
          </a:p>
          <a:p>
            <a:pPr fontAlgn="base">
              <a:buFont typeface="Arial" panose="020B0604020202020204" pitchFamily="34" charset="0"/>
              <a:buChar char="•"/>
            </a:pPr>
            <a:r>
              <a:rPr lang="en-US" sz="900" b="1">
                <a:solidFill>
                  <a:srgbClr val="444444"/>
                </a:solidFill>
                <a:latin typeface="Segoe UI"/>
                <a:cs typeface="Segoe UI"/>
              </a:rPr>
              <a:t> Elastic SAN, is </a:t>
            </a:r>
            <a:r>
              <a:rPr lang="en-US" sz="900">
                <a:solidFill>
                  <a:srgbClr val="444444"/>
                </a:solidFill>
                <a:latin typeface="Segoe UI"/>
                <a:cs typeface="Segoe UI"/>
              </a:rPr>
              <a:t>a new block storage option, offering dynamic resource sharing, with a more cost-efficient price for a larger scale of deployment. This is an ideal choice for general purpose database workloads, streaming and messaging services, and CI/CD (Continuous Integration/Continuous Deployment) environments.</a:t>
            </a:r>
            <a:endParaRPr lang="en-US" sz="900" b="0" i="0">
              <a:solidFill>
                <a:srgbClr val="444444"/>
              </a:solidFill>
              <a:effectLst/>
              <a:latin typeface="Segoe UI"/>
              <a:cs typeface="Segoe UI"/>
            </a:endParaRPr>
          </a:p>
          <a:p>
            <a:pPr fontAlgn="base">
              <a:buFont typeface="Arial" panose="020B0604020202020204" pitchFamily="34" charset="0"/>
              <a:buChar char="•"/>
            </a:pPr>
            <a:r>
              <a:rPr lang="en-US" sz="1800" b="1">
                <a:solidFill>
                  <a:srgbClr val="000000"/>
                </a:solidFill>
                <a:latin typeface="Calibri"/>
                <a:cs typeface="Calibri"/>
              </a:rPr>
              <a:t> </a:t>
            </a:r>
            <a:r>
              <a:rPr lang="en-US" sz="1800" b="1" i="0" u="none" strike="noStrike">
                <a:solidFill>
                  <a:srgbClr val="000000"/>
                </a:solidFill>
                <a:effectLst/>
                <a:latin typeface="Calibri"/>
                <a:cs typeface="Calibri"/>
              </a:rPr>
              <a:t>Ephemeral disks </a:t>
            </a:r>
            <a:r>
              <a:rPr lang="en-US" sz="1800" b="0" i="0" u="none" strike="noStrike">
                <a:solidFill>
                  <a:srgbClr val="000000"/>
                </a:solidFill>
                <a:effectLst/>
                <a:latin typeface="Calibri"/>
                <a:cs typeface="Calibri"/>
              </a:rPr>
              <a:t>allow you to add local storage devices like NVMe disks available on L-series VMs. This is well suited for latency-critical workloads with application-level replication support such as Cassandra.</a:t>
            </a:r>
          </a:p>
          <a:p>
            <a:pPr fontAlgn="base">
              <a:buFont typeface="Arial" panose="020B0604020202020204" pitchFamily="34" charset="0"/>
              <a:buNone/>
            </a:pPr>
            <a:endParaRPr lang="en-US" sz="1800">
              <a:latin typeface="Calibri"/>
              <a:cs typeface="Calibri"/>
            </a:endParaRPr>
          </a:p>
          <a:p>
            <a:endParaRPr lang="en-US">
              <a:cs typeface="Segoe UI"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E765CEB8-BF28-4F7E-BCDA-DCB2E5CB1629}" type="datetime8">
              <a:rPr lang="en-US" smtClean="0"/>
              <a:t>9/8/2025 11:30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33</a:t>
            </a:fld>
            <a:endParaRPr lang="en-US"/>
          </a:p>
        </p:txBody>
      </p:sp>
    </p:spTree>
    <p:extLst>
      <p:ext uri="{BB962C8B-B14F-4D97-AF65-F5344CB8AC3E}">
        <p14:creationId xmlns:p14="http://schemas.microsoft.com/office/powerpoint/2010/main" val="31729464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Link to lab: https://labondemand.com/LabProfile/</a:t>
            </a:r>
          </a:p>
          <a:p>
            <a:endParaRPr lang="en-US"/>
          </a:p>
          <a:p>
            <a:r>
              <a:rPr lang="en-US"/>
              <a:t>##########</a:t>
            </a:r>
          </a:p>
        </p:txBody>
      </p:sp>
      <p:sp>
        <p:nvSpPr>
          <p:cNvPr id="4" name="Slide Number Placeholder 3"/>
          <p:cNvSpPr>
            <a:spLocks noGrp="1"/>
          </p:cNvSpPr>
          <p:nvPr>
            <p:ph type="sldNum" sz="quarter" idx="10"/>
          </p:nvPr>
        </p:nvSpPr>
        <p:spPr/>
        <p:txBody>
          <a:bodyPr/>
          <a:lstStyle/>
          <a:p>
            <a:fld id="{B4008EB6-D09E-4580-8CD6-DDB14511944F}" type="slidenum">
              <a:rPr lang="en-US" smtClean="0"/>
              <a:pPr/>
              <a:t>34</a:t>
            </a:fld>
            <a:endParaRPr lang="en-US"/>
          </a:p>
        </p:txBody>
      </p:sp>
      <p:sp>
        <p:nvSpPr>
          <p:cNvPr id="5" name="Footer Placeholder 4"/>
          <p:cNvSpPr>
            <a:spLocks noGrp="1"/>
          </p:cNvSpPr>
          <p:nvPr>
            <p:ph type="ftr" sz="quarter" idx="11"/>
          </p:nvPr>
        </p:nvSpPr>
        <p:spPr/>
        <p:txBody>
          <a:bodyPr/>
          <a:lstStyle/>
          <a:p>
            <a:endParaRPr lang="en-US"/>
          </a:p>
        </p:txBody>
      </p:sp>
      <p:sp>
        <p:nvSpPr>
          <p:cNvPr id="13" name="Slide Image Placeholder 12">
            <a:extLst>
              <a:ext uri="{FF2B5EF4-FFF2-40B4-BE49-F238E27FC236}">
                <a16:creationId xmlns:a16="http://schemas.microsoft.com/office/drawing/2014/main" id="{4F029D2E-C6F0-43A8-B828-60279B978610}"/>
              </a:ext>
            </a:extLst>
          </p:cNvPr>
          <p:cNvSpPr>
            <a:spLocks noGrp="1" noRot="1" noChangeAspect="1"/>
          </p:cNvSpPr>
          <p:nvPr>
            <p:ph type="sldImg"/>
          </p:nvPr>
        </p:nvSpPr>
        <p:spPr>
          <a:xfrm>
            <a:off x="696913" y="857250"/>
            <a:ext cx="5486400" cy="3086100"/>
          </a:xfrm>
        </p:spPr>
      </p:sp>
    </p:spTree>
    <p:extLst>
      <p:ext uri="{BB962C8B-B14F-4D97-AF65-F5344CB8AC3E}">
        <p14:creationId xmlns:p14="http://schemas.microsoft.com/office/powerpoint/2010/main" val="212816827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quare phot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4200" y="2303312"/>
            <a:ext cx="7298437" cy="3046988"/>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Event name </a:t>
            </a:r>
            <a:br>
              <a:rPr lang="en-US"/>
            </a:br>
            <a:r>
              <a:rPr lang="en-US"/>
              <a:t>or presentation title here</a:t>
            </a:r>
          </a:p>
        </p:txBody>
      </p:sp>
      <p:sp>
        <p:nvSpPr>
          <p:cNvPr id="5" name="Text Placeholder 4"/>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4" name="Straight Connector 3">
            <a:extLst>
              <a:ext uri="{FF2B5EF4-FFF2-40B4-BE49-F238E27FC236}">
                <a16:creationId xmlns:a16="http://schemas.microsoft.com/office/drawing/2014/main" id="{CBA263C4-3326-E64B-9789-EDA19734D864}"/>
              </a:ext>
            </a:extLst>
          </p:cNvPr>
          <p:cNvCxnSpPr>
            <a:cxnSpLocks/>
          </p:cNvCxnSpPr>
          <p:nvPr userDrawn="1"/>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07996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Layout">
    <p:spTree>
      <p:nvGrpSpPr>
        <p:cNvPr id="1" name=""/>
        <p:cNvGrpSpPr/>
        <p:nvPr/>
      </p:nvGrpSpPr>
      <p:grpSpPr>
        <a:xfrm>
          <a:off x="0" y="0"/>
          <a:ext cx="0" cy="0"/>
          <a:chOff x="0" y="0"/>
          <a:chExt cx="0" cy="0"/>
        </a:xfrm>
      </p:grpSpPr>
      <p:sp>
        <p:nvSpPr>
          <p:cNvPr id="35" name="Footer Placeholder 4">
            <a:extLst>
              <a:ext uri="{FF2B5EF4-FFF2-40B4-BE49-F238E27FC236}">
                <a16:creationId xmlns:a16="http://schemas.microsoft.com/office/drawing/2014/main" id="{8C64960A-4B61-43E6-B400-13FC4850F81A}"/>
              </a:ext>
            </a:extLst>
          </p:cNvPr>
          <p:cNvSpPr>
            <a:spLocks noGrp="1"/>
          </p:cNvSpPr>
          <p:nvPr userDrawn="1">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6" name="Slide Number Placeholder 5">
            <a:extLst>
              <a:ext uri="{FF2B5EF4-FFF2-40B4-BE49-F238E27FC236}">
                <a16:creationId xmlns:a16="http://schemas.microsoft.com/office/drawing/2014/main" id="{4333FB6F-5C99-40E2-8D4E-1E9EE410072E}"/>
              </a:ext>
            </a:extLst>
          </p:cNvPr>
          <p:cNvSpPr>
            <a:spLocks noGrp="1"/>
          </p:cNvSpPr>
          <p:nvPr userDrawn="1">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Rectangle 1">
            <a:extLst>
              <a:ext uri="{FF2B5EF4-FFF2-40B4-BE49-F238E27FC236}">
                <a16:creationId xmlns:a16="http://schemas.microsoft.com/office/drawing/2014/main" id="{74BEDE68-1D2D-4A40-A3F4-F77A41DD2BC0}"/>
              </a:ext>
            </a:extLst>
          </p:cNvPr>
          <p:cNvSpPr/>
          <p:nvPr userDrawn="1"/>
        </p:nvSpPr>
        <p:spPr bwMode="auto">
          <a:xfrm>
            <a:off x="1" y="0"/>
            <a:ext cx="37084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8AAF1AEC-5837-427A-AB77-EF89A45999B0}"/>
              </a:ext>
            </a:extLst>
          </p:cNvPr>
          <p:cNvSpPr>
            <a:spLocks noGrp="1"/>
          </p:cNvSpPr>
          <p:nvPr userDrawn="1">
            <p:ph type="body" sz="quarter" idx="39" hasCustomPrompt="1"/>
          </p:nvPr>
        </p:nvSpPr>
        <p:spPr>
          <a:xfrm>
            <a:off x="571500" y="3121224"/>
            <a:ext cx="2824014" cy="615553"/>
          </a:xfrm>
        </p:spPr>
        <p:txBody>
          <a:bodyPr/>
          <a:lstStyle>
            <a:lvl1pPr marL="0" indent="0">
              <a:buNone/>
              <a:defRPr sz="4000">
                <a:solidFill>
                  <a:schemeClr val="bg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Agenda</a:t>
            </a:r>
          </a:p>
        </p:txBody>
      </p:sp>
    </p:spTree>
    <p:extLst>
      <p:ext uri="{BB962C8B-B14F-4D97-AF65-F5344CB8AC3E}">
        <p14:creationId xmlns:p14="http://schemas.microsoft.com/office/powerpoint/2010/main" val="913829801"/>
      </p:ext>
    </p:extLst>
  </p:cSld>
  <p:clrMapOvr>
    <a:masterClrMapping/>
  </p:clrMapOvr>
  <p:transition>
    <p:fade/>
  </p:transition>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238259260"/>
      </p:ext>
    </p:extLst>
  </p:cSld>
  <p:clrMapOvr>
    <a:masterClrMapping/>
  </p:clrMapOvr>
  <p:transition>
    <p:fade/>
  </p:transition>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Only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2"/>
            <a:ext cx="12192000" cy="159067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59067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446209294"/>
      </p:ext>
    </p:extLst>
  </p:cSld>
  <p:clrMapOvr>
    <a:masterClrMapping/>
  </p:clrMapOvr>
  <p:transition>
    <p:fade/>
  </p:transition>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_Blue Bar_Placeholde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F141C64-E920-4DE9-A440-152373BCBA3E}"/>
              </a:ext>
              <a:ext uri="{C183D7F6-B498-43B3-948B-1728B52AA6E4}">
                <adec:decorative xmlns:adec="http://schemas.microsoft.com/office/drawing/2017/decorative" val="1"/>
              </a:ext>
            </a:extLst>
          </p:cNvPr>
          <p:cNvSpPr/>
          <p:nvPr/>
        </p:nvSpPr>
        <p:spPr bwMode="auto">
          <a:xfrm>
            <a:off x="0" y="2"/>
            <a:ext cx="12192000" cy="1429046"/>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9" name="Content Placeholder 8">
            <a:extLst>
              <a:ext uri="{FF2B5EF4-FFF2-40B4-BE49-F238E27FC236}">
                <a16:creationId xmlns:a16="http://schemas.microsoft.com/office/drawing/2014/main" id="{42582AC2-DA98-4BCB-8380-34C382DED89F}"/>
              </a:ext>
            </a:extLst>
          </p:cNvPr>
          <p:cNvSpPr>
            <a:spLocks noGrp="1"/>
          </p:cNvSpPr>
          <p:nvPr>
            <p:ph sz="quarter" idx="10" hasCustomPrompt="1"/>
          </p:nvPr>
        </p:nvSpPr>
        <p:spPr>
          <a:xfrm>
            <a:off x="6019800" y="1871663"/>
            <a:ext cx="5600700" cy="4397375"/>
          </a:xfrm>
          <a:ln w="6350">
            <a:solidFill>
              <a:schemeClr val="bg1">
                <a:lumMod val="85000"/>
              </a:schemeClr>
            </a:solidFill>
          </a:ln>
        </p:spPr>
        <p:txBody>
          <a:bodyPr/>
          <a:lstStyle>
            <a:lvl1pPr marL="0" indent="0" algn="ctr">
              <a:buNone/>
              <a:defRPr sz="1800"/>
            </a:lvl1pPr>
          </a:lstStyle>
          <a:p>
            <a:pPr lvl="0"/>
            <a:r>
              <a:rPr lang="en-US"/>
              <a:t>Place holder for report and illustration </a:t>
            </a:r>
          </a:p>
        </p:txBody>
      </p:sp>
      <p:sp>
        <p:nvSpPr>
          <p:cNvPr id="11" name="Rectangle 10">
            <a:extLst>
              <a:ext uri="{FF2B5EF4-FFF2-40B4-BE49-F238E27FC236}">
                <a16:creationId xmlns:a16="http://schemas.microsoft.com/office/drawing/2014/main" id="{3CBE3747-AB42-4DD5-A33C-42C4A70E8A91}"/>
              </a:ext>
              <a:ext uri="{C183D7F6-B498-43B3-948B-1728B52AA6E4}">
                <adec:decorative xmlns:adec="http://schemas.microsoft.com/office/drawing/2017/decorative" val="1"/>
              </a:ext>
            </a:extLst>
          </p:cNvPr>
          <p:cNvSpPr/>
          <p:nvPr userDrawn="1"/>
        </p:nvSpPr>
        <p:spPr bwMode="auto">
          <a:xfrm>
            <a:off x="0" y="1429048"/>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762578842"/>
      </p:ext>
    </p:extLst>
  </p:cSld>
  <p:clrMapOvr>
    <a:masterClrMapping/>
  </p:clrMapOvr>
  <p:transition>
    <p:fade/>
  </p:transition>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_Subtitle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accent6"/>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37091661"/>
      </p:ext>
    </p:extLst>
  </p:cSld>
  <p:clrMapOvr>
    <a:masterClrMapping/>
  </p:clrMapOvr>
  <p:transition>
    <p:fade/>
  </p:transition>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_Subtitle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1"/>
            <a:ext cx="12192000" cy="185782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80859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643951438"/>
      </p:ext>
    </p:extLst>
  </p:cSld>
  <p:clrMapOvr>
    <a:masterClrMapping/>
  </p:clrMapOvr>
  <p:transition>
    <p:fade/>
  </p:transition>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 Image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6720842"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6720842"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5854348"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720843" y="0"/>
            <a:ext cx="5471157" cy="6858000"/>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4241814854"/>
      </p:ext>
    </p:extLst>
  </p:cSld>
  <p:clrMapOvr>
    <a:masterClrMapping/>
  </p:clrMapOvr>
  <p:transition>
    <p:fade/>
  </p:transition>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alf Image_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p:nvPr userDrawn="1"/>
        </p:nvSpPr>
        <p:spPr bwMode="auto">
          <a:xfrm>
            <a:off x="0" y="801983"/>
            <a:ext cx="60198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p:nvPr userDrawn="1"/>
        </p:nvSpPr>
        <p:spPr bwMode="auto">
          <a:xfrm>
            <a:off x="0" y="1923213"/>
            <a:ext cx="60198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4555319" cy="553998"/>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019800" y="585788"/>
            <a:ext cx="5600700" cy="5686424"/>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11449845"/>
      </p:ext>
    </p:extLst>
  </p:cSld>
  <p:clrMapOvr>
    <a:masterClrMapping/>
  </p:clrMapOvr>
  <p:transition>
    <p:fade/>
  </p:transition>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121920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121920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11045019"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Tree>
    <p:extLst>
      <p:ext uri="{BB962C8B-B14F-4D97-AF65-F5344CB8AC3E}">
        <p14:creationId xmlns:p14="http://schemas.microsoft.com/office/powerpoint/2010/main" val="2983828958"/>
      </p:ext>
    </p:extLst>
  </p:cSld>
  <p:clrMapOvr>
    <a:masterClrMapping/>
  </p:clrMapOvr>
  <p:transition>
    <p:fade/>
  </p:transition>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Media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555319" cy="1107996"/>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7" name="Media Placeholder 6">
            <a:extLst>
              <a:ext uri="{FF2B5EF4-FFF2-40B4-BE49-F238E27FC236}">
                <a16:creationId xmlns:a16="http://schemas.microsoft.com/office/drawing/2014/main" id="{40EC17C2-B72D-4F57-AB81-A8295D570494}"/>
              </a:ext>
            </a:extLst>
          </p:cNvPr>
          <p:cNvSpPr>
            <a:spLocks noGrp="1"/>
          </p:cNvSpPr>
          <p:nvPr>
            <p:ph type="media" sz="quarter" idx="10"/>
          </p:nvPr>
        </p:nvSpPr>
        <p:spPr>
          <a:xfrm>
            <a:off x="6019800" y="585789"/>
            <a:ext cx="5595938" cy="5683249"/>
          </a:xfrm>
          <a:solidFill>
            <a:schemeClr val="bg1">
              <a:lumMod val="95000"/>
            </a:schemeClr>
          </a:solidFill>
          <a:ln w="6350">
            <a:solidFill>
              <a:schemeClr val="bg1">
                <a:lumMod val="75000"/>
              </a:schemeClr>
            </a:solidFill>
          </a:ln>
        </p:spPr>
        <p:txBody>
          <a:bodyPr/>
          <a:lstStyle>
            <a:lvl1pPr marL="0" indent="0" algn="ctr">
              <a:buNone/>
              <a:defRPr sz="2400"/>
            </a:lvl1pPr>
          </a:lstStyle>
          <a:p>
            <a:endParaRPr lang="en-US"/>
          </a:p>
        </p:txBody>
      </p:sp>
    </p:spTree>
    <p:extLst>
      <p:ext uri="{BB962C8B-B14F-4D97-AF65-F5344CB8AC3E}">
        <p14:creationId xmlns:p14="http://schemas.microsoft.com/office/powerpoint/2010/main" val="1210149981"/>
      </p:ext>
    </p:extLst>
  </p:cSld>
  <p:clrMapOvr>
    <a:masterClrMapping/>
  </p:clrMapOvr>
  <p:transition>
    <p:fade/>
  </p:transition>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_ Subtitle_Imag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Text Placeholder 4">
            <a:extLst>
              <a:ext uri="{FF2B5EF4-FFF2-40B4-BE49-F238E27FC236}">
                <a16:creationId xmlns:a16="http://schemas.microsoft.com/office/drawing/2014/main" id="{91F01542-314B-B94E-9E8F-3A1DCF0A8DB6}"/>
              </a:ext>
            </a:extLst>
          </p:cNvPr>
          <p:cNvSpPr>
            <a:spLocks noGrp="1"/>
          </p:cNvSpPr>
          <p:nvPr>
            <p:ph type="body" sz="quarter" idx="12" hasCustomPrompt="1"/>
          </p:nvPr>
        </p:nvSpPr>
        <p:spPr>
          <a:xfrm>
            <a:off x="584201" y="2021455"/>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5" name="Footer Placeholder 4">
            <a:extLst>
              <a:ext uri="{FF2B5EF4-FFF2-40B4-BE49-F238E27FC236}">
                <a16:creationId xmlns:a16="http://schemas.microsoft.com/office/drawing/2014/main" id="{9981877A-366D-46E8-9609-C14F4158122B}"/>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452A6145-AE34-4B2D-8774-7F978143283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848455879"/>
      </p:ext>
    </p:extLst>
  </p:cSld>
  <p:clrMapOvr>
    <a:masterClrMapping/>
  </p:clrMapOvr>
  <p:transition>
    <p:fade/>
  </p:transition>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_Subtitle_Content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cxnSp>
        <p:nvCxnSpPr>
          <p:cNvPr id="9" name="Straight Connector 8">
            <a:extLst>
              <a:ext uri="{FF2B5EF4-FFF2-40B4-BE49-F238E27FC236}">
                <a16:creationId xmlns:a16="http://schemas.microsoft.com/office/drawing/2014/main" id="{6F2A71D1-F09E-8842-AD05-950FE1498381}"/>
              </a:ext>
            </a:extLst>
          </p:cNvPr>
          <p:cNvCxnSpPr>
            <a:cxnSpLocks/>
          </p:cNvCxnSpPr>
          <p:nvPr/>
        </p:nvCxnSpPr>
        <p:spPr>
          <a:xfrm>
            <a:off x="6134100" y="585968"/>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DB10EA9-1316-2045-BA8E-85DFEBC1CDE2}"/>
              </a:ext>
            </a:extLst>
          </p:cNvPr>
          <p:cNvCxnSpPr>
            <a:cxnSpLocks/>
          </p:cNvCxnSpPr>
          <p:nvPr/>
        </p:nvCxnSpPr>
        <p:spPr>
          <a:xfrm>
            <a:off x="6134100" y="1830139"/>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65D8CB-54F7-4447-8E24-547CD549E6B4}"/>
              </a:ext>
            </a:extLst>
          </p:cNvPr>
          <p:cNvCxnSpPr>
            <a:cxnSpLocks/>
          </p:cNvCxnSpPr>
          <p:nvPr/>
        </p:nvCxnSpPr>
        <p:spPr>
          <a:xfrm>
            <a:off x="6134100" y="2067045"/>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8CD7834-4D7C-9D47-9858-3F2CCB9CB277}"/>
              </a:ext>
            </a:extLst>
          </p:cNvPr>
          <p:cNvCxnSpPr>
            <a:cxnSpLocks/>
          </p:cNvCxnSpPr>
          <p:nvPr/>
        </p:nvCxnSpPr>
        <p:spPr>
          <a:xfrm>
            <a:off x="6134100" y="3311216"/>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0AAA53A-6964-724E-8791-53DB0D3A9CBE}"/>
              </a:ext>
            </a:extLst>
          </p:cNvPr>
          <p:cNvCxnSpPr>
            <a:cxnSpLocks/>
          </p:cNvCxnSpPr>
          <p:nvPr/>
        </p:nvCxnSpPr>
        <p:spPr>
          <a:xfrm>
            <a:off x="6134100" y="3548122"/>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6C9BCD5-4167-604D-974D-68A3F8999BF9}"/>
              </a:ext>
            </a:extLst>
          </p:cNvPr>
          <p:cNvCxnSpPr>
            <a:cxnSpLocks/>
          </p:cNvCxnSpPr>
          <p:nvPr/>
        </p:nvCxnSpPr>
        <p:spPr>
          <a:xfrm>
            <a:off x="6134100" y="4792293"/>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225880F-4EDA-2B41-BA63-105ABFF6A823}"/>
              </a:ext>
            </a:extLst>
          </p:cNvPr>
          <p:cNvCxnSpPr>
            <a:cxnSpLocks/>
          </p:cNvCxnSpPr>
          <p:nvPr/>
        </p:nvCxnSpPr>
        <p:spPr>
          <a:xfrm>
            <a:off x="6134100" y="5029200"/>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61EB7D1-AE0B-C24F-8957-3260EC322FDA}"/>
              </a:ext>
            </a:extLst>
          </p:cNvPr>
          <p:cNvCxnSpPr>
            <a:cxnSpLocks/>
          </p:cNvCxnSpPr>
          <p:nvPr/>
        </p:nvCxnSpPr>
        <p:spPr>
          <a:xfrm>
            <a:off x="6134100" y="6273371"/>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6" name="Text Placeholder 4">
            <a:extLst>
              <a:ext uri="{FF2B5EF4-FFF2-40B4-BE49-F238E27FC236}">
                <a16:creationId xmlns:a16="http://schemas.microsoft.com/office/drawing/2014/main" id="{E3D5A23B-648C-AC47-B8BD-EE892612B02C}"/>
              </a:ext>
            </a:extLst>
          </p:cNvPr>
          <p:cNvSpPr>
            <a:spLocks noGrp="1"/>
          </p:cNvSpPr>
          <p:nvPr>
            <p:ph type="body" sz="quarter" idx="13" hasCustomPrompt="1"/>
          </p:nvPr>
        </p:nvSpPr>
        <p:spPr>
          <a:xfrm>
            <a:off x="7378275" y="2314728"/>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28" name="Text Placeholder 4">
            <a:extLst>
              <a:ext uri="{FF2B5EF4-FFF2-40B4-BE49-F238E27FC236}">
                <a16:creationId xmlns:a16="http://schemas.microsoft.com/office/drawing/2014/main" id="{052991E3-3AF8-7242-AF14-580FCDDA4CF5}"/>
              </a:ext>
            </a:extLst>
          </p:cNvPr>
          <p:cNvSpPr>
            <a:spLocks noGrp="1"/>
          </p:cNvSpPr>
          <p:nvPr>
            <p:ph type="body" sz="quarter" idx="15" hasCustomPrompt="1"/>
          </p:nvPr>
        </p:nvSpPr>
        <p:spPr>
          <a:xfrm>
            <a:off x="7378275" y="8382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0" name="Text Placeholder 4">
            <a:extLst>
              <a:ext uri="{FF2B5EF4-FFF2-40B4-BE49-F238E27FC236}">
                <a16:creationId xmlns:a16="http://schemas.microsoft.com/office/drawing/2014/main" id="{C1C221DA-B39D-734F-9219-6D344EDE4326}"/>
              </a:ext>
            </a:extLst>
          </p:cNvPr>
          <p:cNvSpPr>
            <a:spLocks noGrp="1"/>
          </p:cNvSpPr>
          <p:nvPr>
            <p:ph type="body" sz="quarter" idx="17" hasCustomPrompt="1"/>
          </p:nvPr>
        </p:nvSpPr>
        <p:spPr>
          <a:xfrm>
            <a:off x="7378275" y="38100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2" name="Text Placeholder 4">
            <a:extLst>
              <a:ext uri="{FF2B5EF4-FFF2-40B4-BE49-F238E27FC236}">
                <a16:creationId xmlns:a16="http://schemas.microsoft.com/office/drawing/2014/main" id="{7AD49206-9AA1-9545-B8DE-768C479CE37B}"/>
              </a:ext>
            </a:extLst>
          </p:cNvPr>
          <p:cNvSpPr>
            <a:spLocks noGrp="1"/>
          </p:cNvSpPr>
          <p:nvPr>
            <p:ph type="body" sz="quarter" idx="19" hasCustomPrompt="1"/>
          </p:nvPr>
        </p:nvSpPr>
        <p:spPr>
          <a:xfrm>
            <a:off x="7378275" y="52578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54" name="Title 1">
            <a:extLst>
              <a:ext uri="{FF2B5EF4-FFF2-40B4-BE49-F238E27FC236}">
                <a16:creationId xmlns:a16="http://schemas.microsoft.com/office/drawing/2014/main" id="{C749ABB7-E94C-644E-AB3E-CA66A14994E4}"/>
              </a:ext>
            </a:extLst>
          </p:cNvPr>
          <p:cNvSpPr txBox="1">
            <a:spLocks/>
          </p:cNvSpPr>
          <p:nvPr userDrawn="1"/>
        </p:nvSpPr>
        <p:spPr>
          <a:xfrm>
            <a:off x="6144904" y="65594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01</a:t>
            </a:r>
          </a:p>
        </p:txBody>
      </p:sp>
      <p:sp>
        <p:nvSpPr>
          <p:cNvPr id="55" name="Title 1">
            <a:extLst>
              <a:ext uri="{FF2B5EF4-FFF2-40B4-BE49-F238E27FC236}">
                <a16:creationId xmlns:a16="http://schemas.microsoft.com/office/drawing/2014/main" id="{AED658B1-2D11-6B40-9AC8-F40A2E8C428E}"/>
              </a:ext>
            </a:extLst>
          </p:cNvPr>
          <p:cNvSpPr txBox="1">
            <a:spLocks/>
          </p:cNvSpPr>
          <p:nvPr userDrawn="1"/>
        </p:nvSpPr>
        <p:spPr>
          <a:xfrm>
            <a:off x="6144904" y="214265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02</a:t>
            </a:r>
          </a:p>
        </p:txBody>
      </p:sp>
      <p:sp>
        <p:nvSpPr>
          <p:cNvPr id="56" name="Title 1">
            <a:extLst>
              <a:ext uri="{FF2B5EF4-FFF2-40B4-BE49-F238E27FC236}">
                <a16:creationId xmlns:a16="http://schemas.microsoft.com/office/drawing/2014/main" id="{BF28F184-936F-734E-82FF-11CF771C79D1}"/>
              </a:ext>
            </a:extLst>
          </p:cNvPr>
          <p:cNvSpPr txBox="1">
            <a:spLocks/>
          </p:cNvSpPr>
          <p:nvPr userDrawn="1"/>
        </p:nvSpPr>
        <p:spPr>
          <a:xfrm>
            <a:off x="6144904" y="3673111"/>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03</a:t>
            </a:r>
          </a:p>
        </p:txBody>
      </p:sp>
      <p:sp>
        <p:nvSpPr>
          <p:cNvPr id="57" name="Title 1">
            <a:extLst>
              <a:ext uri="{FF2B5EF4-FFF2-40B4-BE49-F238E27FC236}">
                <a16:creationId xmlns:a16="http://schemas.microsoft.com/office/drawing/2014/main" id="{50B655BD-0C6C-E84E-8F2B-004B34E870DC}"/>
              </a:ext>
            </a:extLst>
          </p:cNvPr>
          <p:cNvSpPr txBox="1">
            <a:spLocks/>
          </p:cNvSpPr>
          <p:nvPr userDrawn="1"/>
        </p:nvSpPr>
        <p:spPr>
          <a:xfrm>
            <a:off x="6144904" y="5156655"/>
            <a:ext cx="1222567" cy="1112383"/>
          </a:xfrm>
          <a:prstGeom prst="rect">
            <a:avLst/>
          </a:prstGeom>
        </p:spPr>
        <p:txBody>
          <a:bodyPr lIns="0" tIns="0" rIns="0" b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04</a:t>
            </a:r>
          </a:p>
        </p:txBody>
      </p:sp>
      <p:sp>
        <p:nvSpPr>
          <p:cNvPr id="59" name="Text Placeholder 4">
            <a:extLst>
              <a:ext uri="{FF2B5EF4-FFF2-40B4-BE49-F238E27FC236}">
                <a16:creationId xmlns:a16="http://schemas.microsoft.com/office/drawing/2014/main" id="{1CEA2372-B756-9B49-B735-65CC0C7086CE}"/>
              </a:ext>
            </a:extLst>
          </p:cNvPr>
          <p:cNvSpPr>
            <a:spLocks noGrp="1"/>
          </p:cNvSpPr>
          <p:nvPr>
            <p:ph type="body" sz="quarter" idx="12" hasCustomPrompt="1"/>
          </p:nvPr>
        </p:nvSpPr>
        <p:spPr>
          <a:xfrm>
            <a:off x="584201" y="2150957"/>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21" name="Footer Placeholder 4">
            <a:extLst>
              <a:ext uri="{FF2B5EF4-FFF2-40B4-BE49-F238E27FC236}">
                <a16:creationId xmlns:a16="http://schemas.microsoft.com/office/drawing/2014/main" id="{26601A05-B18A-4B66-A601-446933C6B1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2" name="Slide Number Placeholder 5">
            <a:extLst>
              <a:ext uri="{FF2B5EF4-FFF2-40B4-BE49-F238E27FC236}">
                <a16:creationId xmlns:a16="http://schemas.microsoft.com/office/drawing/2014/main" id="{2AF7A1D5-4923-435E-A787-BD20E0820261}"/>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332420699"/>
      </p:ext>
    </p:extLst>
  </p:cSld>
  <p:clrMapOvr>
    <a:masterClrMapping/>
  </p:clrMapOvr>
  <p:transition>
    <p:fade/>
  </p:transition>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ue shape_Title_Subtitle_Content_3 Layou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C115828-A4B2-4C63-9284-3EE9A55A556B}"/>
              </a:ext>
            </a:extLst>
          </p:cNvPr>
          <p:cNvSpPr/>
          <p:nvPr userDrawn="1"/>
        </p:nvSpPr>
        <p:spPr bwMode="auto">
          <a:xfrm>
            <a:off x="4583114" y="3477729"/>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 name="Rectangle 2">
            <a:extLst>
              <a:ext uri="{FF2B5EF4-FFF2-40B4-BE49-F238E27FC236}">
                <a16:creationId xmlns:a16="http://schemas.microsoft.com/office/drawing/2014/main" id="{42F95E0F-9554-4E8E-BECB-491620008177}"/>
              </a:ext>
            </a:extLst>
          </p:cNvPr>
          <p:cNvSpPr/>
          <p:nvPr userDrawn="1"/>
        </p:nvSpPr>
        <p:spPr bwMode="auto">
          <a:xfrm>
            <a:off x="4583114" y="585788"/>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cxnSp>
        <p:nvCxnSpPr>
          <p:cNvPr id="50" name="Straight Connector 49">
            <a:extLst>
              <a:ext uri="{FF2B5EF4-FFF2-40B4-BE49-F238E27FC236}">
                <a16:creationId xmlns:a16="http://schemas.microsoft.com/office/drawing/2014/main" id="{491ECCFF-A78D-1C4C-B06A-287BFFD18C0B}"/>
              </a:ext>
            </a:extLst>
          </p:cNvPr>
          <p:cNvCxnSpPr>
            <a:cxnSpLocks/>
          </p:cNvCxnSpPr>
          <p:nvPr/>
        </p:nvCxnSpPr>
        <p:spPr>
          <a:xfrm>
            <a:off x="4583114" y="585968"/>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518E73C-187A-004E-9315-F4550400997B}"/>
              </a:ext>
            </a:extLst>
          </p:cNvPr>
          <p:cNvCxnSpPr>
            <a:cxnSpLocks/>
          </p:cNvCxnSpPr>
          <p:nvPr/>
        </p:nvCxnSpPr>
        <p:spPr>
          <a:xfrm>
            <a:off x="4583114" y="3366839"/>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2E210D2-07B9-CE46-BAA5-0149E8DEF15F}"/>
              </a:ext>
            </a:extLst>
          </p:cNvPr>
          <p:cNvCxnSpPr>
            <a:cxnSpLocks/>
          </p:cNvCxnSpPr>
          <p:nvPr/>
        </p:nvCxnSpPr>
        <p:spPr>
          <a:xfrm>
            <a:off x="4583114" y="347772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77354CA-AA42-3C4F-BC8C-E5000F50D104}"/>
              </a:ext>
            </a:extLst>
          </p:cNvPr>
          <p:cNvCxnSpPr>
            <a:cxnSpLocks/>
          </p:cNvCxnSpPr>
          <p:nvPr/>
        </p:nvCxnSpPr>
        <p:spPr>
          <a:xfrm>
            <a:off x="4583114" y="625877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1" name="Text Placeholder 4">
            <a:extLst>
              <a:ext uri="{FF2B5EF4-FFF2-40B4-BE49-F238E27FC236}">
                <a16:creationId xmlns:a16="http://schemas.microsoft.com/office/drawing/2014/main" id="{4BD19EB2-7D8F-AC41-A8B6-1914246DD12A}"/>
              </a:ext>
            </a:extLst>
          </p:cNvPr>
          <p:cNvSpPr>
            <a:spLocks noGrp="1"/>
          </p:cNvSpPr>
          <p:nvPr userDrawn="1">
            <p:ph type="body" sz="quarter" idx="15" hasCustomPrompt="1"/>
          </p:nvPr>
        </p:nvSpPr>
        <p:spPr>
          <a:xfrm>
            <a:off x="6573838" y="853214"/>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2" name="Text Placeholder 4">
            <a:extLst>
              <a:ext uri="{FF2B5EF4-FFF2-40B4-BE49-F238E27FC236}">
                <a16:creationId xmlns:a16="http://schemas.microsoft.com/office/drawing/2014/main" id="{E7593565-8F64-304B-8C7E-9439401DD389}"/>
              </a:ext>
            </a:extLst>
          </p:cNvPr>
          <p:cNvSpPr>
            <a:spLocks noGrp="1"/>
          </p:cNvSpPr>
          <p:nvPr userDrawn="1">
            <p:ph type="body" sz="quarter" idx="16" hasCustomPrompt="1"/>
          </p:nvPr>
        </p:nvSpPr>
        <p:spPr>
          <a:xfrm>
            <a:off x="4739127" y="853214"/>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63" name="Text Placeholder 4">
            <a:extLst>
              <a:ext uri="{FF2B5EF4-FFF2-40B4-BE49-F238E27FC236}">
                <a16:creationId xmlns:a16="http://schemas.microsoft.com/office/drawing/2014/main" id="{A5C784BF-DD0C-4145-AFF6-60E0CD019133}"/>
              </a:ext>
            </a:extLst>
          </p:cNvPr>
          <p:cNvSpPr>
            <a:spLocks noGrp="1"/>
          </p:cNvSpPr>
          <p:nvPr userDrawn="1">
            <p:ph type="body" sz="quarter" idx="17" hasCustomPrompt="1"/>
          </p:nvPr>
        </p:nvSpPr>
        <p:spPr>
          <a:xfrm>
            <a:off x="6573838" y="3745155"/>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4" name="Text Placeholder 4">
            <a:extLst>
              <a:ext uri="{FF2B5EF4-FFF2-40B4-BE49-F238E27FC236}">
                <a16:creationId xmlns:a16="http://schemas.microsoft.com/office/drawing/2014/main" id="{2EA836EF-2EB8-5E4E-B346-EC54002F09DC}"/>
              </a:ext>
            </a:extLst>
          </p:cNvPr>
          <p:cNvSpPr>
            <a:spLocks noGrp="1"/>
          </p:cNvSpPr>
          <p:nvPr userDrawn="1">
            <p:ph type="body" sz="quarter" idx="18" hasCustomPrompt="1"/>
          </p:nvPr>
        </p:nvSpPr>
        <p:spPr>
          <a:xfrm>
            <a:off x="4739127" y="3745155"/>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14" name="Footer Placeholder 4">
            <a:extLst>
              <a:ext uri="{FF2B5EF4-FFF2-40B4-BE49-F238E27FC236}">
                <a16:creationId xmlns:a16="http://schemas.microsoft.com/office/drawing/2014/main" id="{6611CD12-3411-4A81-9E8C-BDCA5C7E737F}"/>
              </a:ext>
            </a:extLst>
          </p:cNvPr>
          <p:cNvSpPr>
            <a:spLocks noGrp="1"/>
          </p:cNvSpPr>
          <p:nvPr userDrawn="1">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5" name="Slide Number Placeholder 5">
            <a:extLst>
              <a:ext uri="{FF2B5EF4-FFF2-40B4-BE49-F238E27FC236}">
                <a16:creationId xmlns:a16="http://schemas.microsoft.com/office/drawing/2014/main" id="{FEBB3A48-4E52-4A27-9CA2-92707D5471FC}"/>
              </a:ext>
            </a:extLst>
          </p:cNvPr>
          <p:cNvSpPr>
            <a:spLocks noGrp="1"/>
          </p:cNvSpPr>
          <p:nvPr userDrawn="1">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9" name="Rectangle 18">
            <a:extLst>
              <a:ext uri="{FF2B5EF4-FFF2-40B4-BE49-F238E27FC236}">
                <a16:creationId xmlns:a16="http://schemas.microsoft.com/office/drawing/2014/main" id="{06D5A150-7E2C-414D-B68B-9C94D25E39DC}"/>
              </a:ext>
            </a:extLst>
          </p:cNvPr>
          <p:cNvSpPr/>
          <p:nvPr userDrawn="1"/>
        </p:nvSpPr>
        <p:spPr bwMode="auto">
          <a:xfrm>
            <a:off x="0" y="0"/>
            <a:ext cx="43053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0" name="Title 1">
            <a:extLst>
              <a:ext uri="{FF2B5EF4-FFF2-40B4-BE49-F238E27FC236}">
                <a16:creationId xmlns:a16="http://schemas.microsoft.com/office/drawing/2014/main" id="{12AE0041-F3F5-4B38-BA5A-7E919381E285}"/>
              </a:ext>
            </a:extLst>
          </p:cNvPr>
          <p:cNvSpPr>
            <a:spLocks noGrp="1"/>
          </p:cNvSpPr>
          <p:nvPr>
            <p:ph type="title"/>
          </p:nvPr>
        </p:nvSpPr>
        <p:spPr>
          <a:xfrm>
            <a:off x="575481" y="2141575"/>
            <a:ext cx="3463119" cy="1846659"/>
          </a:xfrm>
        </p:spPr>
        <p:txBody>
          <a:bodyPr wrap="square">
            <a:spAutoFit/>
          </a:bodyPr>
          <a:lstStyle>
            <a:lvl1pPr algn="l" defTabSz="932742" rtl="0" eaLnBrk="1" latinLnBrk="0" hangingPunct="1">
              <a:lnSpc>
                <a:spcPct val="100000"/>
              </a:lnSpc>
              <a:spcBef>
                <a:spcPct val="0"/>
              </a:spcBef>
              <a:buNone/>
              <a:defRPr lang="en-US" sz="40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21" name="Text Placeholder 4">
            <a:extLst>
              <a:ext uri="{FF2B5EF4-FFF2-40B4-BE49-F238E27FC236}">
                <a16:creationId xmlns:a16="http://schemas.microsoft.com/office/drawing/2014/main" id="{5D456B66-B037-4653-AFA9-F989D2754329}"/>
              </a:ext>
            </a:extLst>
          </p:cNvPr>
          <p:cNvSpPr>
            <a:spLocks noGrp="1"/>
          </p:cNvSpPr>
          <p:nvPr>
            <p:ph type="body" sz="quarter" idx="12" hasCustomPrompt="1"/>
          </p:nvPr>
        </p:nvSpPr>
        <p:spPr>
          <a:xfrm>
            <a:off x="584201" y="4120945"/>
            <a:ext cx="3463119"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3981258441"/>
      </p:ext>
    </p:extLst>
  </p:cSld>
  <p:clrMapOvr>
    <a:masterClrMapping/>
  </p:clrMapOvr>
  <p:transition>
    <p:fade/>
  </p:transition>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_1">
    <p:bg>
      <p:bgPr>
        <a:solidFill>
          <a:schemeClr val="accent2"/>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2D547BD7-AC55-6C40-A7CB-C9142C95C562}"/>
              </a:ext>
            </a:extLst>
          </p:cNvPr>
          <p:cNvSpPr>
            <a:spLocks noGrp="1"/>
          </p:cNvSpPr>
          <p:nvPr>
            <p:ph type="title"/>
          </p:nvPr>
        </p:nvSpPr>
        <p:spPr>
          <a:xfrm>
            <a:off x="584200" y="4334637"/>
            <a:ext cx="9169400"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endParaRPr lang="en-US"/>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A6196947-EDB7-4F31-A405-9AE6EFA4C476}"/>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8" name="Slide Number Placeholder 5">
            <a:extLst>
              <a:ext uri="{FF2B5EF4-FFF2-40B4-BE49-F238E27FC236}">
                <a16:creationId xmlns:a16="http://schemas.microsoft.com/office/drawing/2014/main" id="{4D2DA863-F774-4788-9D62-D8BDC08571C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965830936"/>
      </p:ext>
    </p:extLst>
  </p:cSld>
  <p:clrMapOvr>
    <a:masterClrMapping/>
  </p:clrMapOvr>
  <p:transition>
    <p:fade/>
  </p:transition>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Divider_1">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01</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4EC9115C-86E9-F143-8EB8-9CE9C70F9C8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599117970"/>
      </p:ext>
    </p:extLst>
  </p:cSld>
  <p:clrMapOvr>
    <a:masterClrMapping/>
  </p:clrMapOvr>
  <p:transition>
    <p:fade/>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_2">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02</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40025DA-5880-5949-A056-5F0F19F396D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974798329"/>
      </p:ext>
    </p:extLst>
  </p:cSld>
  <p:clrMapOvr>
    <a:masterClrMapping/>
  </p:clrMapOvr>
  <p:transition>
    <p:fade/>
  </p:transition>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_3">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03</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30E57CC7-163C-B847-9127-71FEC21CB88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31135058"/>
      </p:ext>
    </p:extLst>
  </p:cSld>
  <p:clrMapOvr>
    <a:masterClrMapping/>
  </p:clrMapOvr>
  <p:transition>
    <p:fade/>
  </p:transition>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_4">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04</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127E473-81C3-9141-8742-48EFD1E9E45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133995091"/>
      </p:ext>
    </p:extLst>
  </p:cSld>
  <p:clrMapOvr>
    <a:masterClrMapping/>
  </p:clrMapOvr>
  <p:transition>
    <p:fade/>
  </p:transition>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_5">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05</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A9BCC3FF-9212-1A4D-B6CC-E7BAB6E3491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115783915"/>
      </p:ext>
    </p:extLst>
  </p:cSld>
  <p:clrMapOvr>
    <a:masterClrMapping/>
  </p:clrMapOvr>
  <p:transition>
    <p:fade/>
  </p:transition>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_6">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06</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E0746CF9-0210-E241-8CC0-D4536C169E5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474061126"/>
      </p:ext>
    </p:extLst>
  </p:cSld>
  <p:clrMapOvr>
    <a:masterClrMapping/>
  </p:clrMapOvr>
  <p:transition>
    <p:fade/>
  </p:transition>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8330118-7E69-4295-8E46-2D3C12A6145D}"/>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05BBAA7F-5B33-4C2D-834A-3AA3431DEAD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63615809"/>
      </p:ext>
    </p:extLst>
  </p:cSld>
  <p:clrMapOvr>
    <a:masterClrMapping/>
  </p:clrMapOvr>
  <p:transition>
    <p:fade/>
  </p:transition>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Blank_Navy">
    <p:bg>
      <p:bgPr>
        <a:solidFill>
          <a:schemeClr val="accent2"/>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F729F02E-C568-4079-80DB-8AF35FDEB7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96A942DB-9933-4199-B223-8A9AF3F212C7}"/>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54100341"/>
      </p:ext>
    </p:extLst>
  </p:cSld>
  <p:clrMapOvr>
    <a:masterClrMapping/>
  </p:clrMapOvr>
  <p:transition>
    <p:fade/>
  </p:transition>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_Blue">
    <p:bg>
      <p:bgPr>
        <a:solidFill>
          <a:schemeClr val="accent1"/>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8979C7A1-5DB9-493E-B3C9-715A64CE0317}"/>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013BE040-8B17-4BFF-A007-D82BBBEDF8B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226111020"/>
      </p:ext>
    </p:extLst>
  </p:cSld>
  <p:clrMapOvr>
    <a:masterClrMapping/>
  </p:clrMapOvr>
  <p:transition>
    <p:fade/>
  </p:transition>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_Green">
    <p:bg>
      <p:bgPr>
        <a:solidFill>
          <a:schemeClr val="accent4"/>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69CC2AF9-DDBE-4701-8765-2DD4889CA32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5B23B171-018F-4FCA-888B-6B7146E7C9C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936435931"/>
      </p:ext>
    </p:extLst>
  </p:cSld>
  <p:clrMapOvr>
    <a:masterClrMapping/>
  </p:clrMapOvr>
  <p:transition>
    <p:fade/>
  </p:transition>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_Numbered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2533A365-6B39-4527-855B-F6BC2552BB05}"/>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F34E0601-1B6B-4C1C-BC8D-DB3DC9ACA0E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599729763"/>
      </p:ext>
    </p:extLst>
  </p:cSld>
  <p:clrMapOvr>
    <a:masterClrMapping/>
  </p:clrMapOvr>
  <p:transition>
    <p:fade/>
  </p:transition>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_Month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Jan</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Feb</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Mar</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Apr</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May</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Jun</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Jul</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Aug</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Sept</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Oct</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Nov</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1CB59D0E-3483-4788-94CE-219A5C05F734}"/>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26E36EA7-CB06-4ADF-8688-B244FE6316DF}"/>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763899369"/>
      </p:ext>
    </p:extLst>
  </p:cSld>
  <p:clrMapOvr>
    <a:masterClrMapping/>
  </p:clrMapOvr>
  <p:transition>
    <p:fade/>
  </p:transition>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_Week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801504"/>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801504"/>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8" y="1801504"/>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8" y="1801504"/>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801504"/>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801504"/>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154179"/>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154179"/>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8" y="4154179"/>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8" y="4154179"/>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154179"/>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154179"/>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878CC1B1-AA6B-463B-A774-049792B3AC10}"/>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028E4364-080D-4863-8D44-AEE3D29D134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78813367"/>
      </p:ext>
    </p:extLst>
  </p:cSld>
  <p:clrMapOvr>
    <a:masterClrMapping/>
  </p:clrMapOvr>
  <p:transition>
    <p:fade/>
  </p:transition>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7" name="Text Placeholder 6">
            <a:extLst>
              <a:ext uri="{FF2B5EF4-FFF2-40B4-BE49-F238E27FC236}">
                <a16:creationId xmlns:a16="http://schemas.microsoft.com/office/drawing/2014/main" id="{3501B1E1-4A0C-4426-8AC4-8B354CF116CE}"/>
              </a:ext>
            </a:extLst>
          </p:cNvPr>
          <p:cNvSpPr>
            <a:spLocks noGrp="1"/>
          </p:cNvSpPr>
          <p:nvPr>
            <p:ph type="body" sz="quarter" idx="10" hasCustomPrompt="1"/>
          </p:nvPr>
        </p:nvSpPr>
        <p:spPr>
          <a:xfrm>
            <a:off x="0" y="6294769"/>
            <a:ext cx="12192000" cy="563231"/>
          </a:xfrm>
          <a:solidFill>
            <a:srgbClr val="FFFF99"/>
          </a:solidFill>
        </p:spPr>
        <p:txBody>
          <a:bodyPr lIns="91440" tIns="91440" rIns="91440" bIns="91440">
            <a:noAutofit/>
          </a:bodyPr>
          <a:lstStyle>
            <a:lvl1pPr marL="0" indent="0" algn="r">
              <a:buNone/>
              <a:defRPr sz="2400"/>
            </a:lvl1pPr>
          </a:lstStyle>
          <a:p>
            <a:pPr lvl="0"/>
            <a:r>
              <a:rPr lang="en-US"/>
              <a:t>Next</a:t>
            </a:r>
          </a:p>
        </p:txBody>
      </p:sp>
    </p:spTree>
    <p:extLst>
      <p:ext uri="{BB962C8B-B14F-4D97-AF65-F5344CB8AC3E}">
        <p14:creationId xmlns:p14="http://schemas.microsoft.com/office/powerpoint/2010/main" val="728067837"/>
      </p:ext>
    </p:extLst>
  </p:cSld>
  <p:clrMapOvr>
    <a:masterClrMapping/>
  </p:clrMapOvr>
  <p:transition>
    <p:fade/>
  </p:transition>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ankYou">
    <p:bg>
      <p:bgPr>
        <a:solidFill>
          <a:schemeClr val="accent2"/>
        </a:solidFill>
        <a:effectLst/>
      </p:bgPr>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5" name="Title 1">
            <a:extLst>
              <a:ext uri="{FF2B5EF4-FFF2-40B4-BE49-F238E27FC236}">
                <a16:creationId xmlns:a16="http://schemas.microsoft.com/office/drawing/2014/main" id="{FA05CAAB-C386-EF47-9672-99832E904412}"/>
              </a:ext>
            </a:extLst>
          </p:cNvPr>
          <p:cNvSpPr>
            <a:spLocks noGrp="1"/>
          </p:cNvSpPr>
          <p:nvPr>
            <p:ph type="title" hasCustomPrompt="1"/>
          </p:nvPr>
        </p:nvSpPr>
        <p:spPr>
          <a:xfrm>
            <a:off x="584200" y="4075330"/>
            <a:ext cx="7298437" cy="1015663"/>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Thank you.</a:t>
            </a:r>
          </a:p>
        </p:txBody>
      </p:sp>
      <p:cxnSp>
        <p:nvCxnSpPr>
          <p:cNvPr id="6" name="Straight Connector 5">
            <a:extLst>
              <a:ext uri="{FF2B5EF4-FFF2-40B4-BE49-F238E27FC236}">
                <a16:creationId xmlns:a16="http://schemas.microsoft.com/office/drawing/2014/main" id="{88EA4229-0086-E64D-A616-33062EF62B34}"/>
              </a:ext>
            </a:extLst>
          </p:cNvPr>
          <p:cNvCxnSpPr>
            <a:cxnSpLocks/>
          </p:cNvCxnSpPr>
          <p:nvPr userDrawn="1"/>
        </p:nvCxnSpPr>
        <p:spPr>
          <a:xfrm>
            <a:off x="584200" y="6007781"/>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F990A1EA-0184-4AE1-8858-D03AFEEF9B8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0" name="Slide Number Placeholder 5">
            <a:extLst>
              <a:ext uri="{FF2B5EF4-FFF2-40B4-BE49-F238E27FC236}">
                <a16:creationId xmlns:a16="http://schemas.microsoft.com/office/drawing/2014/main" id="{162410B6-6E3D-4CB2-A003-281A600A92F3}"/>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631623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_Title and text side by s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75747"/>
          </a:xfrm>
        </p:spPr>
        <p:txBody>
          <a:bodyPr anchor="t">
            <a:noAutofit/>
          </a:bodyPr>
          <a:lstStyle>
            <a:lvl1pPr>
              <a:defRPr>
                <a:solidFill>
                  <a:schemeClr val="accent3"/>
                </a:solidFill>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hasCustomPrompt="1"/>
          </p:nvPr>
        </p:nvSpPr>
        <p:spPr>
          <a:xfrm>
            <a:off x="584200" y="1286005"/>
            <a:ext cx="3187700" cy="4983033"/>
          </a:xfrm>
        </p:spPr>
        <p:txBody>
          <a:bodyPr anchor="t">
            <a:noAutofit/>
          </a:bodyPr>
          <a:lstStyle>
            <a:lvl1pPr marL="0" indent="0">
              <a:spcAft>
                <a:spcPts val="600"/>
              </a:spcAft>
              <a:buFont typeface="Wingdings" panose="05000000000000000000" pitchFamily="2" charset="2"/>
              <a:buNone/>
              <a:defRPr sz="2000">
                <a:solidFill>
                  <a:schemeClr val="bg1"/>
                </a:solidFill>
              </a:defRPr>
            </a:lvl1pPr>
          </a:lstStyle>
          <a:p>
            <a:pPr lvl="0"/>
            <a:r>
              <a:rPr lang="en-US" dirty="0"/>
              <a:t>Subtitle</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895325709"/>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 name="Footer Placeholder 4">
            <a:extLst>
              <a:ext uri="{FF2B5EF4-FFF2-40B4-BE49-F238E27FC236}">
                <a16:creationId xmlns:a16="http://schemas.microsoft.com/office/drawing/2014/main" id="{771C3853-B766-4422-BD2B-65A999523B3C}"/>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6AB66A86-D476-4B82-BD63-F20B61D610B4}"/>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135085315"/>
      </p:ext>
    </p:extLst>
  </p:cSld>
  <p:clrMap bg1="lt1" tx1="dk1" bg2="lt2" tx2="dk2" accent1="accent1" accent2="accent2" accent3="accent3" accent4="accent4" accent5="accent5" accent6="accent6" hlink="hlink" folHlink="folHlink"/>
  <p:sldLayoutIdLst>
    <p:sldLayoutId id="2147484069"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 id="2147484078" r:id="rId10"/>
    <p:sldLayoutId id="2147484079" r:id="rId11"/>
    <p:sldLayoutId id="2147484080" r:id="rId12"/>
    <p:sldLayoutId id="2147484081" r:id="rId13"/>
    <p:sldLayoutId id="2147484082" r:id="rId14"/>
    <p:sldLayoutId id="2147484083" r:id="rId15"/>
    <p:sldLayoutId id="2147484084" r:id="rId16"/>
    <p:sldLayoutId id="2147484085" r:id="rId17"/>
    <p:sldLayoutId id="2147484086" r:id="rId18"/>
    <p:sldLayoutId id="2147484087" r:id="rId19"/>
    <p:sldLayoutId id="2147484088" r:id="rId20"/>
    <p:sldLayoutId id="2147484089" r:id="rId21"/>
    <p:sldLayoutId id="2147484090" r:id="rId22"/>
    <p:sldLayoutId id="2147484091" r:id="rId23"/>
    <p:sldLayoutId id="2147484092" r:id="rId24"/>
    <p:sldLayoutId id="2147484093" r:id="rId25"/>
    <p:sldLayoutId id="2147484094" r:id="rId26"/>
    <p:sldLayoutId id="2147484095" r:id="rId27"/>
    <p:sldLayoutId id="2147484096" r:id="rId28"/>
    <p:sldLayoutId id="2147484097" r:id="rId29"/>
    <p:sldLayoutId id="2147484098" r:id="rId30"/>
    <p:sldLayoutId id="2147484099" r:id="rId31"/>
  </p:sldLayoutIdLst>
  <p:transition>
    <p:fade/>
  </p:transition>
  <p:hf hdr="0" dt="0"/>
  <p:txStyles>
    <p:title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pos="1464">
          <p15:clr>
            <a:srgbClr val="F26B43"/>
          </p15:clr>
        </p15:guide>
        <p15:guide id="32" pos="1536">
          <p15:clr>
            <a:srgbClr val="F26B43"/>
          </p15:clr>
        </p15:guide>
        <p15:guide id="33" pos="2640">
          <p15:clr>
            <a:srgbClr val="F26B43"/>
          </p15:clr>
        </p15:guide>
        <p15:guide id="34" pos="2712">
          <p15:clr>
            <a:srgbClr val="F26B43"/>
          </p15:clr>
        </p15:guide>
        <p15:guide id="35" pos="3792">
          <p15:clr>
            <a:srgbClr val="F26B43"/>
          </p15:clr>
        </p15:guide>
        <p15:guide id="36" pos="4968">
          <p15:clr>
            <a:srgbClr val="F26B43"/>
          </p15:clr>
        </p15:guide>
        <p15:guide id="37" pos="3864">
          <p15:clr>
            <a:srgbClr val="F26B43"/>
          </p15:clr>
        </p15:guide>
        <p15:guide id="38" pos="5040">
          <p15:clr>
            <a:srgbClr val="F26B43"/>
          </p15:clr>
        </p15:guide>
        <p15:guide id="39" pos="6144">
          <p15:clr>
            <a:srgbClr val="F26B43"/>
          </p15:clr>
        </p15:guide>
        <p15:guide id="40" pos="621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customXml" Target="../../customXml/item21.xml"/><Relationship Id="rId1" Type="http://schemas.openxmlformats.org/officeDocument/2006/relationships/tags" Target="../tags/tag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ags" Target="../tags/tag4.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customXml" Target="../../customXml/item43.xml"/><Relationship Id="rId1" Type="http://schemas.openxmlformats.org/officeDocument/2006/relationships/tags" Target="../tags/tag5.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customXml" Target="../../customXml/item30.xml"/><Relationship Id="rId1" Type="http://schemas.openxmlformats.org/officeDocument/2006/relationships/tags" Target="../tags/tag6.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9.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3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1.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1.xml"/></Relationships>
</file>

<file path=ppt/slides/_rels/slide12.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svg"/><Relationship Id="rId3" Type="http://schemas.openxmlformats.org/officeDocument/2006/relationships/image" Target="../media/image9.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4.png"/><Relationship Id="rId10" Type="http://schemas.openxmlformats.org/officeDocument/2006/relationships/image" Target="../media/image14.png"/><Relationship Id="rId4" Type="http://schemas.openxmlformats.org/officeDocument/2006/relationships/image" Target="../media/image5.png"/><Relationship Id="rId9"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customXml" Target="../../customXml/item15.xml"/><Relationship Id="rId1" Type="http://schemas.openxmlformats.org/officeDocument/2006/relationships/tags" Target="../tags/tag7.xml"/><Relationship Id="rId4"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kubernetes-sigs/azuredisk-csi-driver" TargetMode="External"/><Relationship Id="rId7"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hyperlink" Target="https://github.com/kubernetes-sigs/azurelustre-csi-driver" TargetMode="External"/><Relationship Id="rId5" Type="http://schemas.openxmlformats.org/officeDocument/2006/relationships/hyperlink" Target="https://github.com/kubernetes-sigs/blob-csi-driver" TargetMode="External"/><Relationship Id="rId4" Type="http://schemas.openxmlformats.org/officeDocument/2006/relationships/hyperlink" Target="https://github.com/kubernetes-sigs/azurefile-csi-driver"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28.png"/><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customXml" Target="../../customXml/item10.xml"/><Relationship Id="rId1" Type="http://schemas.openxmlformats.org/officeDocument/2006/relationships/tags" Target="../tags/tag8.xml"/><Relationship Id="rId4"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34.svg"/></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3.xml"/><Relationship Id="rId5" Type="http://schemas.openxmlformats.org/officeDocument/2006/relationships/image" Target="../media/image37.png"/><Relationship Id="rId4" Type="http://schemas.openxmlformats.org/officeDocument/2006/relationships/image" Target="../media/image36.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3.xml"/><Relationship Id="rId1" Type="http://schemas.openxmlformats.org/officeDocument/2006/relationships/tags" Target="../tags/tag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name="HIDDEN - Slide3">
    <p:spTree>
      <p:nvGrpSpPr>
        <p:cNvPr id="1" name=""/>
        <p:cNvGrpSpPr/>
        <p:nvPr/>
      </p:nvGrpSpPr>
      <p:grpSpPr>
        <a:xfrm>
          <a:off x="0" y="0"/>
          <a:ext cx="0" cy="0"/>
          <a:chOff x="0" y="0"/>
          <a:chExt cx="0" cy="0"/>
        </a:xfrm>
      </p:grpSpPr>
      <p:sp>
        <p:nvSpPr>
          <p:cNvPr id="4" name="Title 3"/>
          <p:cNvSpPr>
            <a:spLocks noGrp="1"/>
          </p:cNvSpPr>
          <p:nvPr>
            <p:ph type="title"/>
            <p:custDataLst>
              <p:custData r:id="rId2"/>
            </p:custDataLst>
          </p:nvPr>
        </p:nvSpPr>
        <p:spPr>
          <a:xfrm>
            <a:off x="584200" y="2303312"/>
            <a:ext cx="7298437" cy="3046988"/>
          </a:xfrm>
        </p:spPr>
        <p:txBody>
          <a:bodyPr/>
          <a:lstStyle/>
          <a:p>
            <a:r>
              <a:rPr lang="en-US" dirty="0">
                <a:latin typeface="Segoe UI Semibold"/>
                <a:cs typeface="Segoe UI Semibold"/>
              </a:rPr>
              <a:t>Azure Kubernetes Service (AKS) Storage </a:t>
            </a:r>
            <a:endParaRPr lang="en-US" dirty="0"/>
          </a:p>
        </p:txBody>
      </p:sp>
      <p:sp>
        <p:nvSpPr>
          <p:cNvPr id="5" name="Subtitle 5">
            <a:extLst>
              <a:ext uri="{FF2B5EF4-FFF2-40B4-BE49-F238E27FC236}">
                <a16:creationId xmlns:a16="http://schemas.microsoft.com/office/drawing/2014/main" id="{ECBE99C6-FC9D-E39D-131B-91FE7E7D8C08}"/>
              </a:ext>
            </a:extLst>
          </p:cNvPr>
          <p:cNvSpPr>
            <a:spLocks noGrp="1"/>
          </p:cNvSpPr>
          <p:nvPr>
            <p:ph type="body" sz="quarter" idx="12"/>
          </p:nvPr>
        </p:nvSpPr>
        <p:spPr>
          <a:xfrm>
            <a:off x="582613" y="5634038"/>
            <a:ext cx="7455918" cy="507455"/>
          </a:xfrm>
        </p:spPr>
        <p:txBody>
          <a:bodyPr>
            <a:normAutofit/>
          </a:bodyPr>
          <a:lstStyle/>
          <a:p>
            <a:r>
              <a:rPr lang="en-US" dirty="0" err="1"/>
              <a:t>WorkshopPlus</a:t>
            </a:r>
            <a:r>
              <a:rPr lang="en-US" dirty="0"/>
              <a:t> – Kubernetes Tech Briefing</a:t>
            </a:r>
          </a:p>
        </p:txBody>
      </p:sp>
    </p:spTree>
    <p:custDataLst>
      <p:tags r:id="rId1"/>
    </p:custDataLst>
    <p:extLst>
      <p:ext uri="{BB962C8B-B14F-4D97-AF65-F5344CB8AC3E}">
        <p14:creationId xmlns:p14="http://schemas.microsoft.com/office/powerpoint/2010/main" val="2181956486"/>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79B42-69EC-4737-A1D3-6170002B2FA4}"/>
              </a:ext>
            </a:extLst>
          </p:cNvPr>
          <p:cNvSpPr>
            <a:spLocks noGrp="1"/>
          </p:cNvSpPr>
          <p:nvPr>
            <p:ph type="title"/>
          </p:nvPr>
        </p:nvSpPr>
        <p:spPr/>
        <p:txBody>
          <a:bodyPr/>
          <a:lstStyle/>
          <a:p>
            <a:r>
              <a:rPr lang="en-US"/>
              <a:t>Conditions and terms of use</a:t>
            </a:r>
          </a:p>
        </p:txBody>
      </p:sp>
      <p:sp>
        <p:nvSpPr>
          <p:cNvPr id="7" name="Rectangle 6">
            <a:extLst>
              <a:ext uri="{FF2B5EF4-FFF2-40B4-BE49-F238E27FC236}">
                <a16:creationId xmlns:a16="http://schemas.microsoft.com/office/drawing/2014/main" id="{C30D5E87-BF27-48B8-9B35-B55C04B9CBAE}"/>
              </a:ext>
            </a:extLst>
          </p:cNvPr>
          <p:cNvSpPr/>
          <p:nvPr/>
        </p:nvSpPr>
        <p:spPr bwMode="auto">
          <a:xfrm>
            <a:off x="571500" y="1574244"/>
            <a:ext cx="11049000" cy="3632756"/>
          </a:xfrm>
          <a:prstGeom prst="rect">
            <a:avLst/>
          </a:prstGeom>
          <a:solidFill>
            <a:schemeClr val="bg1"/>
          </a:solidFill>
          <a:ln w="3175">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102">
              <a:spcBef>
                <a:spcPts val="600"/>
              </a:spcBef>
              <a:spcAft>
                <a:spcPts val="600"/>
              </a:spcAft>
              <a:defRPr/>
            </a:pPr>
            <a:r>
              <a:rPr lang="en-US">
                <a:solidFill>
                  <a:schemeClr val="tx1"/>
                </a:solidFill>
                <a:cs typeface="Segoe UI Semibold"/>
              </a:rPr>
              <a:t>© Microsoft Corporation. All rights reserved.</a:t>
            </a:r>
            <a:endParaRPr lang="en-US">
              <a:solidFill>
                <a:schemeClr val="tx1"/>
              </a:solidFill>
              <a:cs typeface="Segoe UI Semibold" panose="020B0702040204020203" pitchFamily="34" charset="0"/>
            </a:endParaRPr>
          </a:p>
          <a:p>
            <a:pPr algn="ctr" defTabSz="914102">
              <a:spcBef>
                <a:spcPts val="600"/>
              </a:spcBef>
              <a:spcAft>
                <a:spcPts val="600"/>
              </a:spcAft>
              <a:defRPr/>
            </a:pPr>
            <a:r>
              <a:rPr lang="en-US">
                <a:solidFill>
                  <a:schemeClr val="tx1"/>
                </a:solidFill>
                <a:cs typeface="Segoe UI Semibold"/>
              </a:rPr>
              <a:t>You may use these training materials solely for your personal internal reference and non-commercial purposes.  You may not distribute, transmit, resell or otherwise make these training materials available to any other person or party without express permission from Microsoft Corporation.  URL’s or other internet website references in the training materials may change without notice.  Unless otherwise noted, any companies, organizations, domain names, e-mail addresses, people, places and events depicted in the training materials are for illustration only and are fictitious. No real association is intended or inferred. THESE TRAINING MATERIALS ARE PROVIDED “AS IS”; MICROSOFT MAKES NO WARRANTIES, EXPRESS OR IMPLIED IN THESE TRAINING MATERIALS</a:t>
            </a:r>
            <a:r>
              <a:rPr lang="en-US" baseline="30000">
                <a:solidFill>
                  <a:schemeClr val="tx1"/>
                </a:solidFill>
                <a:cs typeface="Segoe UI Semibold"/>
              </a:rPr>
              <a:t>1</a:t>
            </a:r>
            <a:endParaRPr lang="en-US" b="0" i="0" u="none" strike="noStrike" kern="1200" cap="none" spc="0" normalizeH="0" baseline="30000" noProof="0">
              <a:ln>
                <a:noFill/>
              </a:ln>
              <a:solidFill>
                <a:schemeClr val="tx1"/>
              </a:solidFill>
              <a:effectLst/>
              <a:uLnTx/>
              <a:uFillTx/>
              <a:cs typeface="Segoe UI Semibold"/>
            </a:endParaRPr>
          </a:p>
        </p:txBody>
      </p:sp>
      <p:grpSp>
        <p:nvGrpSpPr>
          <p:cNvPr id="8" name="Group 7">
            <a:extLst>
              <a:ext uri="{FF2B5EF4-FFF2-40B4-BE49-F238E27FC236}">
                <a16:creationId xmlns:a16="http://schemas.microsoft.com/office/drawing/2014/main" id="{DE823F62-E09A-466D-A142-2BCF56FBE584}"/>
              </a:ext>
              <a:ext uri="{C183D7F6-B498-43B3-948B-1728B52AA6E4}">
                <adec:decorative xmlns:adec="http://schemas.microsoft.com/office/drawing/2017/decorative" val="1"/>
              </a:ext>
            </a:extLst>
          </p:cNvPr>
          <p:cNvGrpSpPr/>
          <p:nvPr/>
        </p:nvGrpSpPr>
        <p:grpSpPr>
          <a:xfrm>
            <a:off x="571500" y="1574244"/>
            <a:ext cx="11049000" cy="3632756"/>
            <a:chOff x="571500" y="1574244"/>
            <a:chExt cx="11049000" cy="3632756"/>
          </a:xfrm>
        </p:grpSpPr>
        <p:sp>
          <p:nvSpPr>
            <p:cNvPr id="9" name="Half Frame 8">
              <a:extLst>
                <a:ext uri="{FF2B5EF4-FFF2-40B4-BE49-F238E27FC236}">
                  <a16:creationId xmlns:a16="http://schemas.microsoft.com/office/drawing/2014/main" id="{B1F83F9C-3EE7-440E-B6ED-3AE225C18EC6}"/>
                </a:ext>
                <a:ext uri="{C183D7F6-B498-43B3-948B-1728B52AA6E4}">
                  <adec:decorative xmlns:adec="http://schemas.microsoft.com/office/drawing/2017/decorative" val="1"/>
                </a:ext>
              </a:extLst>
            </p:cNvPr>
            <p:cNvSpPr/>
            <p:nvPr/>
          </p:nvSpPr>
          <p:spPr bwMode="auto">
            <a:xfrm rot="5400000" flipV="1">
              <a:off x="581472" y="1564272"/>
              <a:ext cx="427732" cy="447675"/>
            </a:xfrm>
            <a:prstGeom prst="halfFrame">
              <a:avLst>
                <a:gd name="adj1" fmla="val 0"/>
                <a:gd name="adj2" fmla="val 0"/>
              </a:avLst>
            </a:prstGeom>
            <a:solidFill>
              <a:schemeClr val="tx2"/>
            </a:solidFill>
            <a:ln w="381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Half Frame 9">
              <a:extLst>
                <a:ext uri="{FF2B5EF4-FFF2-40B4-BE49-F238E27FC236}">
                  <a16:creationId xmlns:a16="http://schemas.microsoft.com/office/drawing/2014/main" id="{206932E9-4F7D-4000-972A-77B375DA6D88}"/>
                </a:ext>
                <a:ext uri="{C183D7F6-B498-43B3-948B-1728B52AA6E4}">
                  <adec:decorative xmlns:adec="http://schemas.microsoft.com/office/drawing/2017/decorative" val="1"/>
                </a:ext>
              </a:extLst>
            </p:cNvPr>
            <p:cNvSpPr/>
            <p:nvPr/>
          </p:nvSpPr>
          <p:spPr bwMode="auto">
            <a:xfrm rot="10800000">
              <a:off x="11192768" y="4759325"/>
              <a:ext cx="427732" cy="447675"/>
            </a:xfrm>
            <a:prstGeom prst="halfFrame">
              <a:avLst>
                <a:gd name="adj1" fmla="val 0"/>
                <a:gd name="adj2" fmla="val 0"/>
              </a:avLst>
            </a:prstGeom>
            <a:solidFill>
              <a:schemeClr val="tx2"/>
            </a:solidFill>
            <a:ln w="381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sp>
        <p:nvSpPr>
          <p:cNvPr id="19" name="Footer Placeholder 2">
            <a:extLst>
              <a:ext uri="{FF2B5EF4-FFF2-40B4-BE49-F238E27FC236}">
                <a16:creationId xmlns:a16="http://schemas.microsoft.com/office/drawing/2014/main" id="{A04B054A-A721-4144-96FE-966534FB355F}"/>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0" name="Slide Number Placeholder 12">
            <a:extLst>
              <a:ext uri="{FF2B5EF4-FFF2-40B4-BE49-F238E27FC236}">
                <a16:creationId xmlns:a16="http://schemas.microsoft.com/office/drawing/2014/main" id="{C94FEEB5-7104-458C-8C7F-BD5D4C6A13B9}"/>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2242852715"/>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71322-9F37-477D-9B5B-EBF49D8B1DE4}"/>
              </a:ext>
            </a:extLst>
          </p:cNvPr>
          <p:cNvSpPr>
            <a:spLocks noGrp="1"/>
          </p:cNvSpPr>
          <p:nvPr>
            <p:ph type="title"/>
          </p:nvPr>
        </p:nvSpPr>
        <p:spPr/>
        <p:txBody>
          <a:bodyPr lIns="0" tIns="0" rIns="0" bIns="0" anchor="t"/>
          <a:lstStyle/>
          <a:p>
            <a:r>
              <a:rPr lang="en-US"/>
              <a:t>Learning Units covered </a:t>
            </a:r>
            <a:br>
              <a:rPr lang="en-US"/>
            </a:br>
            <a:r>
              <a:rPr lang="en-US"/>
              <a:t>in this Module</a:t>
            </a:r>
          </a:p>
        </p:txBody>
      </p:sp>
      <p:graphicFrame>
        <p:nvGraphicFramePr>
          <p:cNvPr id="112" name="Table 3">
            <a:extLst>
              <a:ext uri="{FF2B5EF4-FFF2-40B4-BE49-F238E27FC236}">
                <a16:creationId xmlns:a16="http://schemas.microsoft.com/office/drawing/2014/main" id="{45AD0972-9AFC-406A-BE0A-DFF9FDD00D65}"/>
              </a:ext>
            </a:extLst>
          </p:cNvPr>
          <p:cNvGraphicFramePr>
            <a:graphicFrameLocks noGrp="1"/>
          </p:cNvGraphicFramePr>
          <p:nvPr>
            <p:extLst>
              <p:ext uri="{D42A27DB-BD31-4B8C-83A1-F6EECF244321}">
                <p14:modId xmlns:p14="http://schemas.microsoft.com/office/powerpoint/2010/main" val="1625730241"/>
              </p:ext>
            </p:extLst>
          </p:nvPr>
        </p:nvGraphicFramePr>
        <p:xfrm>
          <a:off x="575481" y="1815577"/>
          <a:ext cx="5669280" cy="4453461"/>
        </p:xfrm>
        <a:graphic>
          <a:graphicData uri="http://schemas.openxmlformats.org/drawingml/2006/table">
            <a:tbl>
              <a:tblPr firstRow="1" bandRow="1">
                <a:tableStyleId>{5C22544A-7EE6-4342-B048-85BDC9FD1C3A}</a:tableStyleId>
              </a:tblPr>
              <a:tblGrid>
                <a:gridCol w="822960">
                  <a:extLst>
                    <a:ext uri="{9D8B030D-6E8A-4147-A177-3AD203B41FA5}">
                      <a16:colId xmlns:a16="http://schemas.microsoft.com/office/drawing/2014/main" val="2245818860"/>
                    </a:ext>
                  </a:extLst>
                </a:gridCol>
                <a:gridCol w="4846320">
                  <a:extLst>
                    <a:ext uri="{9D8B030D-6E8A-4147-A177-3AD203B41FA5}">
                      <a16:colId xmlns:a16="http://schemas.microsoft.com/office/drawing/2014/main" val="3975527072"/>
                    </a:ext>
                  </a:extLst>
                </a:gridCol>
              </a:tblGrid>
              <a:tr h="1484487">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dirty="0">
                          <a:ln>
                            <a:noFill/>
                          </a:ln>
                          <a:solidFill>
                            <a:schemeClr val="tx1"/>
                          </a:solidFill>
                          <a:effectLst/>
                          <a:uLnTx/>
                          <a:uFillTx/>
                          <a:latin typeface="+mn-lt"/>
                          <a:ea typeface="+mn-ea"/>
                          <a:cs typeface="Segoe UI" panose="020B0502040204020203" pitchFamily="34" charset="0"/>
                        </a:rPr>
                        <a:t>Core Kubernetes </a:t>
                      </a:r>
                      <a:r>
                        <a:rPr kumimoji="0" lang="da-DK" sz="1800" b="0" i="0" u="none" strike="noStrike" kern="1200" cap="none" spc="0" normalizeH="0" baseline="0" noProof="0">
                          <a:ln>
                            <a:noFill/>
                          </a:ln>
                          <a:solidFill>
                            <a:schemeClr val="tx1"/>
                          </a:solidFill>
                          <a:effectLst/>
                          <a:uLnTx/>
                          <a:uFillTx/>
                          <a:latin typeface="+mn-lt"/>
                          <a:ea typeface="+mn-ea"/>
                          <a:cs typeface="Segoe UI" panose="020B0502040204020203" pitchFamily="34" charset="0"/>
                        </a:rPr>
                        <a:t>Storage Concepts</a:t>
                      </a:r>
                      <a:endParaRPr kumimoji="0" lang="da-DK" sz="1800" b="0" i="0" u="none" strike="noStrike" kern="1200" cap="none" spc="0" normalizeH="0" baseline="0" noProof="0" dirty="0">
                        <a:ln>
                          <a:noFill/>
                        </a:ln>
                        <a:solidFill>
                          <a:schemeClr val="tx1"/>
                        </a:solidFill>
                        <a:effectLst/>
                        <a:uLnTx/>
                        <a:uFillTx/>
                        <a:latin typeface="+mn-lt"/>
                        <a:ea typeface="+mn-ea"/>
                        <a:cs typeface="Segoe UI" panose="020B0502040204020203" pitchFamily="34" charset="0"/>
                      </a:endParaRP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76677287"/>
                  </a:ext>
                </a:extLst>
              </a:tr>
              <a:tr h="1484487">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Storage options running Kubernetes on Azure</a:t>
                      </a: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16497433"/>
                  </a:ext>
                </a:extLst>
              </a:tr>
              <a:tr h="1484487">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da-DK"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488902310"/>
                  </a:ext>
                </a:extLst>
              </a:tr>
            </a:tbl>
          </a:graphicData>
        </a:graphic>
      </p:graphicFrame>
      <p:grpSp>
        <p:nvGrpSpPr>
          <p:cNvPr id="141" name="Group 140">
            <a:extLst>
              <a:ext uri="{FF2B5EF4-FFF2-40B4-BE49-F238E27FC236}">
                <a16:creationId xmlns:a16="http://schemas.microsoft.com/office/drawing/2014/main" id="{27BF13F4-E0FF-4E0D-8D3F-E5716F8C4FFC}"/>
              </a:ext>
              <a:ext uri="{C183D7F6-B498-43B3-948B-1728B52AA6E4}">
                <adec:decorative xmlns:adec="http://schemas.microsoft.com/office/drawing/2017/decorative" val="1"/>
              </a:ext>
            </a:extLst>
          </p:cNvPr>
          <p:cNvGrpSpPr>
            <a:grpSpLocks noChangeAspect="1"/>
          </p:cNvGrpSpPr>
          <p:nvPr/>
        </p:nvGrpSpPr>
        <p:grpSpPr>
          <a:xfrm>
            <a:off x="722184" y="2307171"/>
            <a:ext cx="522238" cy="522238"/>
            <a:chOff x="10323474" y="1468393"/>
            <a:chExt cx="751672" cy="751672"/>
          </a:xfrm>
        </p:grpSpPr>
        <p:sp>
          <p:nvSpPr>
            <p:cNvPr id="142" name="Oval 141">
              <a:extLst>
                <a:ext uri="{FF2B5EF4-FFF2-40B4-BE49-F238E27FC236}">
                  <a16:creationId xmlns:a16="http://schemas.microsoft.com/office/drawing/2014/main" id="{6C5EA0E7-F61F-4807-8925-4019D8289A87}"/>
                </a:ext>
                <a:ext uri="{C183D7F6-B498-43B3-948B-1728B52AA6E4}">
                  <adec:decorative xmlns:adec="http://schemas.microsoft.com/office/drawing/2017/decorative" val="1"/>
                </a:ext>
              </a:extLst>
            </p:cNvPr>
            <p:cNvSpPr>
              <a:spLocks/>
            </p:cNvSpPr>
            <p:nvPr/>
          </p:nvSpPr>
          <p:spPr bwMode="auto">
            <a:xfrm>
              <a:off x="10323474" y="1468393"/>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grpSp>
          <p:nvGrpSpPr>
            <p:cNvPr id="143" name="Group 142">
              <a:extLst>
                <a:ext uri="{FF2B5EF4-FFF2-40B4-BE49-F238E27FC236}">
                  <a16:creationId xmlns:a16="http://schemas.microsoft.com/office/drawing/2014/main" id="{E17734FA-7052-4385-9C3F-7476E48B2A9D}"/>
                </a:ext>
                <a:ext uri="{C183D7F6-B498-43B3-948B-1728B52AA6E4}">
                  <adec:decorative xmlns:adec="http://schemas.microsoft.com/office/drawing/2017/decorative" val="1"/>
                </a:ext>
              </a:extLst>
            </p:cNvPr>
            <p:cNvGrpSpPr/>
            <p:nvPr/>
          </p:nvGrpSpPr>
          <p:grpSpPr>
            <a:xfrm>
              <a:off x="10472703" y="1678978"/>
              <a:ext cx="453205" cy="330587"/>
              <a:chOff x="1317737" y="7238855"/>
              <a:chExt cx="596040" cy="434772"/>
            </a:xfrm>
          </p:grpSpPr>
          <p:sp>
            <p:nvSpPr>
              <p:cNvPr id="144" name="Freeform: Shape 143">
                <a:extLst>
                  <a:ext uri="{FF2B5EF4-FFF2-40B4-BE49-F238E27FC236}">
                    <a16:creationId xmlns:a16="http://schemas.microsoft.com/office/drawing/2014/main" id="{7B30EEDD-248E-40B3-8BDB-830FD42D10D2}"/>
                  </a:ext>
                </a:extLst>
              </p:cNvPr>
              <p:cNvSpPr/>
              <p:nvPr/>
            </p:nvSpPr>
            <p:spPr>
              <a:xfrm>
                <a:off x="1758961" y="7397541"/>
                <a:ext cx="154816" cy="180617"/>
              </a:xfrm>
              <a:custGeom>
                <a:avLst/>
                <a:gdLst>
                  <a:gd name="connsiteX0" fmla="*/ 29256 w 114300"/>
                  <a:gd name="connsiteY0" fmla="*/ 41638 h 133350"/>
                  <a:gd name="connsiteX1" fmla="*/ 61641 w 114300"/>
                  <a:gd name="connsiteY1" fmla="*/ 7348 h 133350"/>
                  <a:gd name="connsiteX2" fmla="*/ 94978 w 114300"/>
                  <a:gd name="connsiteY2" fmla="*/ 41638 h 133350"/>
                  <a:gd name="connsiteX3" fmla="*/ 61641 w 114300"/>
                  <a:gd name="connsiteY3" fmla="*/ 75928 h 133350"/>
                  <a:gd name="connsiteX4" fmla="*/ 29256 w 114300"/>
                  <a:gd name="connsiteY4" fmla="*/ 41638 h 133350"/>
                  <a:gd name="connsiteX5" fmla="*/ 29256 w 114300"/>
                  <a:gd name="connsiteY5" fmla="*/ 41638 h 133350"/>
                  <a:gd name="connsiteX6" fmla="*/ 114028 w 114300"/>
                  <a:gd name="connsiteY6" fmla="*/ 130221 h 133350"/>
                  <a:gd name="connsiteX7" fmla="*/ 60688 w 114300"/>
                  <a:gd name="connsiteY7" fmla="*/ 75928 h 133350"/>
                  <a:gd name="connsiteX8" fmla="*/ 7348 w 114300"/>
                  <a:gd name="connsiteY8" fmla="*/ 130221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33350">
                    <a:moveTo>
                      <a:pt x="29256" y="41638"/>
                    </a:moveTo>
                    <a:cubicBezTo>
                      <a:pt x="29256" y="22588"/>
                      <a:pt x="43543" y="7348"/>
                      <a:pt x="61641" y="7348"/>
                    </a:cubicBezTo>
                    <a:cubicBezTo>
                      <a:pt x="79738" y="7348"/>
                      <a:pt x="94978" y="22588"/>
                      <a:pt x="94978" y="41638"/>
                    </a:cubicBezTo>
                    <a:cubicBezTo>
                      <a:pt x="94978" y="60688"/>
                      <a:pt x="79738" y="75928"/>
                      <a:pt x="61641" y="75928"/>
                    </a:cubicBezTo>
                    <a:cubicBezTo>
                      <a:pt x="43543" y="75928"/>
                      <a:pt x="29256" y="60688"/>
                      <a:pt x="29256" y="41638"/>
                    </a:cubicBezTo>
                    <a:lnTo>
                      <a:pt x="29256" y="41638"/>
                    </a:lnTo>
                    <a:close/>
                    <a:moveTo>
                      <a:pt x="114028" y="130221"/>
                    </a:moveTo>
                    <a:cubicBezTo>
                      <a:pt x="114028" y="99741"/>
                      <a:pt x="90216" y="75928"/>
                      <a:pt x="60688" y="75928"/>
                    </a:cubicBezTo>
                    <a:cubicBezTo>
                      <a:pt x="31161" y="75928"/>
                      <a:pt x="7348" y="100693"/>
                      <a:pt x="7348" y="130221"/>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5" name="Freeform: Shape 144">
                <a:extLst>
                  <a:ext uri="{FF2B5EF4-FFF2-40B4-BE49-F238E27FC236}">
                    <a16:creationId xmlns:a16="http://schemas.microsoft.com/office/drawing/2014/main" id="{1E7E6FA4-6A0E-4023-A290-81458375DFA0}"/>
                  </a:ext>
                </a:extLst>
              </p:cNvPr>
              <p:cNvSpPr/>
              <p:nvPr/>
            </p:nvSpPr>
            <p:spPr>
              <a:xfrm>
                <a:off x="1317737" y="7397541"/>
                <a:ext cx="154816" cy="180617"/>
              </a:xfrm>
              <a:custGeom>
                <a:avLst/>
                <a:gdLst>
                  <a:gd name="connsiteX0" fmla="*/ 29256 w 114300"/>
                  <a:gd name="connsiteY0" fmla="*/ 41638 h 133350"/>
                  <a:gd name="connsiteX1" fmla="*/ 61641 w 114300"/>
                  <a:gd name="connsiteY1" fmla="*/ 7348 h 133350"/>
                  <a:gd name="connsiteX2" fmla="*/ 94978 w 114300"/>
                  <a:gd name="connsiteY2" fmla="*/ 41638 h 133350"/>
                  <a:gd name="connsiteX3" fmla="*/ 61641 w 114300"/>
                  <a:gd name="connsiteY3" fmla="*/ 75928 h 133350"/>
                  <a:gd name="connsiteX4" fmla="*/ 29256 w 114300"/>
                  <a:gd name="connsiteY4" fmla="*/ 41638 h 133350"/>
                  <a:gd name="connsiteX5" fmla="*/ 29256 w 114300"/>
                  <a:gd name="connsiteY5" fmla="*/ 41638 h 133350"/>
                  <a:gd name="connsiteX6" fmla="*/ 114028 w 114300"/>
                  <a:gd name="connsiteY6" fmla="*/ 130221 h 133350"/>
                  <a:gd name="connsiteX7" fmla="*/ 60688 w 114300"/>
                  <a:gd name="connsiteY7" fmla="*/ 75928 h 133350"/>
                  <a:gd name="connsiteX8" fmla="*/ 7348 w 114300"/>
                  <a:gd name="connsiteY8" fmla="*/ 130221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33350">
                    <a:moveTo>
                      <a:pt x="29256" y="41638"/>
                    </a:moveTo>
                    <a:cubicBezTo>
                      <a:pt x="29256" y="22588"/>
                      <a:pt x="43543" y="7348"/>
                      <a:pt x="61641" y="7348"/>
                    </a:cubicBezTo>
                    <a:cubicBezTo>
                      <a:pt x="79738" y="7348"/>
                      <a:pt x="94978" y="22588"/>
                      <a:pt x="94978" y="41638"/>
                    </a:cubicBezTo>
                    <a:cubicBezTo>
                      <a:pt x="94978" y="60688"/>
                      <a:pt x="79738" y="75928"/>
                      <a:pt x="61641" y="75928"/>
                    </a:cubicBezTo>
                    <a:cubicBezTo>
                      <a:pt x="43543" y="75928"/>
                      <a:pt x="29256" y="60688"/>
                      <a:pt x="29256" y="41638"/>
                    </a:cubicBezTo>
                    <a:lnTo>
                      <a:pt x="29256" y="41638"/>
                    </a:lnTo>
                    <a:close/>
                    <a:moveTo>
                      <a:pt x="114028" y="130221"/>
                    </a:moveTo>
                    <a:cubicBezTo>
                      <a:pt x="114028" y="99741"/>
                      <a:pt x="90216" y="75928"/>
                      <a:pt x="60688" y="75928"/>
                    </a:cubicBezTo>
                    <a:cubicBezTo>
                      <a:pt x="31161" y="75928"/>
                      <a:pt x="7348" y="100693"/>
                      <a:pt x="7348" y="130221"/>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6" name="Freeform: Shape 145">
                <a:extLst>
                  <a:ext uri="{FF2B5EF4-FFF2-40B4-BE49-F238E27FC236}">
                    <a16:creationId xmlns:a16="http://schemas.microsoft.com/office/drawing/2014/main" id="{1BDFD5CF-E9DB-480F-B75C-67DE7088254C}"/>
                  </a:ext>
                </a:extLst>
              </p:cNvPr>
              <p:cNvSpPr/>
              <p:nvPr/>
            </p:nvSpPr>
            <p:spPr>
              <a:xfrm>
                <a:off x="1340959" y="7282719"/>
                <a:ext cx="116112" cy="103210"/>
              </a:xfrm>
              <a:custGeom>
                <a:avLst/>
                <a:gdLst>
                  <a:gd name="connsiteX0" fmla="*/ 44496 w 85725"/>
                  <a:gd name="connsiteY0" fmla="*/ 65451 h 76200"/>
                  <a:gd name="connsiteX1" fmla="*/ 20683 w 85725"/>
                  <a:gd name="connsiteY1" fmla="*/ 77833 h 76200"/>
                  <a:gd name="connsiteX2" fmla="*/ 25446 w 85725"/>
                  <a:gd name="connsiteY2" fmla="*/ 52116 h 76200"/>
                  <a:gd name="connsiteX3" fmla="*/ 7348 w 85725"/>
                  <a:gd name="connsiteY3" fmla="*/ 34018 h 76200"/>
                  <a:gd name="connsiteX4" fmla="*/ 33066 w 85725"/>
                  <a:gd name="connsiteY4" fmla="*/ 30208 h 76200"/>
                  <a:gd name="connsiteX5" fmla="*/ 44496 w 85725"/>
                  <a:gd name="connsiteY5" fmla="*/ 7348 h 76200"/>
                  <a:gd name="connsiteX6" fmla="*/ 55926 w 85725"/>
                  <a:gd name="connsiteY6" fmla="*/ 30208 h 76200"/>
                  <a:gd name="connsiteX7" fmla="*/ 80691 w 85725"/>
                  <a:gd name="connsiteY7" fmla="*/ 34018 h 76200"/>
                  <a:gd name="connsiteX8" fmla="*/ 62593 w 85725"/>
                  <a:gd name="connsiteY8" fmla="*/ 52116 h 76200"/>
                  <a:gd name="connsiteX9" fmla="*/ 67356 w 85725"/>
                  <a:gd name="connsiteY9" fmla="*/ 77833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725" h="76200">
                    <a:moveTo>
                      <a:pt x="44496" y="65451"/>
                    </a:moveTo>
                    <a:lnTo>
                      <a:pt x="20683" y="77833"/>
                    </a:lnTo>
                    <a:lnTo>
                      <a:pt x="25446" y="52116"/>
                    </a:lnTo>
                    <a:lnTo>
                      <a:pt x="7348" y="34018"/>
                    </a:lnTo>
                    <a:lnTo>
                      <a:pt x="33066" y="30208"/>
                    </a:lnTo>
                    <a:lnTo>
                      <a:pt x="44496" y="7348"/>
                    </a:lnTo>
                    <a:lnTo>
                      <a:pt x="55926" y="30208"/>
                    </a:lnTo>
                    <a:lnTo>
                      <a:pt x="80691" y="34018"/>
                    </a:lnTo>
                    <a:lnTo>
                      <a:pt x="62593" y="52116"/>
                    </a:lnTo>
                    <a:lnTo>
                      <a:pt x="67356" y="77833"/>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7" name="Freeform: Shape 146">
                <a:extLst>
                  <a:ext uri="{FF2B5EF4-FFF2-40B4-BE49-F238E27FC236}">
                    <a16:creationId xmlns:a16="http://schemas.microsoft.com/office/drawing/2014/main" id="{F1D18E4A-5504-4BF0-BA73-AF1A27F741E7}"/>
                  </a:ext>
                </a:extLst>
              </p:cNvPr>
              <p:cNvSpPr/>
              <p:nvPr/>
            </p:nvSpPr>
            <p:spPr>
              <a:xfrm>
                <a:off x="1778313" y="7282719"/>
                <a:ext cx="116112" cy="103210"/>
              </a:xfrm>
              <a:custGeom>
                <a:avLst/>
                <a:gdLst>
                  <a:gd name="connsiteX0" fmla="*/ 44496 w 85725"/>
                  <a:gd name="connsiteY0" fmla="*/ 65451 h 76200"/>
                  <a:gd name="connsiteX1" fmla="*/ 21636 w 85725"/>
                  <a:gd name="connsiteY1" fmla="*/ 77833 h 76200"/>
                  <a:gd name="connsiteX2" fmla="*/ 26398 w 85725"/>
                  <a:gd name="connsiteY2" fmla="*/ 52116 h 76200"/>
                  <a:gd name="connsiteX3" fmla="*/ 7348 w 85725"/>
                  <a:gd name="connsiteY3" fmla="*/ 34018 h 76200"/>
                  <a:gd name="connsiteX4" fmla="*/ 33066 w 85725"/>
                  <a:gd name="connsiteY4" fmla="*/ 30208 h 76200"/>
                  <a:gd name="connsiteX5" fmla="*/ 44496 w 85725"/>
                  <a:gd name="connsiteY5" fmla="*/ 7348 h 76200"/>
                  <a:gd name="connsiteX6" fmla="*/ 55926 w 85725"/>
                  <a:gd name="connsiteY6" fmla="*/ 30208 h 76200"/>
                  <a:gd name="connsiteX7" fmla="*/ 81643 w 85725"/>
                  <a:gd name="connsiteY7" fmla="*/ 34018 h 76200"/>
                  <a:gd name="connsiteX8" fmla="*/ 63546 w 85725"/>
                  <a:gd name="connsiteY8" fmla="*/ 52116 h 76200"/>
                  <a:gd name="connsiteX9" fmla="*/ 67356 w 85725"/>
                  <a:gd name="connsiteY9" fmla="*/ 77833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725" h="76200">
                    <a:moveTo>
                      <a:pt x="44496" y="65451"/>
                    </a:moveTo>
                    <a:lnTo>
                      <a:pt x="21636" y="77833"/>
                    </a:lnTo>
                    <a:lnTo>
                      <a:pt x="26398" y="52116"/>
                    </a:lnTo>
                    <a:lnTo>
                      <a:pt x="7348" y="34018"/>
                    </a:lnTo>
                    <a:lnTo>
                      <a:pt x="33066" y="30208"/>
                    </a:lnTo>
                    <a:lnTo>
                      <a:pt x="44496" y="7348"/>
                    </a:lnTo>
                    <a:lnTo>
                      <a:pt x="55926" y="30208"/>
                    </a:lnTo>
                    <a:lnTo>
                      <a:pt x="81643" y="34018"/>
                    </a:lnTo>
                    <a:lnTo>
                      <a:pt x="63546" y="52116"/>
                    </a:lnTo>
                    <a:lnTo>
                      <a:pt x="67356" y="77833"/>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8" name="Freeform: Shape 147">
                <a:extLst>
                  <a:ext uri="{FF2B5EF4-FFF2-40B4-BE49-F238E27FC236}">
                    <a16:creationId xmlns:a16="http://schemas.microsoft.com/office/drawing/2014/main" id="{FF7483BE-1FCD-45D4-BDCF-4970A89C4BED}"/>
                  </a:ext>
                </a:extLst>
              </p:cNvPr>
              <p:cNvSpPr/>
              <p:nvPr/>
            </p:nvSpPr>
            <p:spPr>
              <a:xfrm>
                <a:off x="1378372" y="7553645"/>
                <a:ext cx="38704" cy="38704"/>
              </a:xfrm>
              <a:custGeom>
                <a:avLst/>
                <a:gdLst>
                  <a:gd name="connsiteX0" fmla="*/ 26398 w 28575"/>
                  <a:gd name="connsiteY0" fmla="*/ 16873 h 28575"/>
                  <a:gd name="connsiteX1" fmla="*/ 16873 w 28575"/>
                  <a:gd name="connsiteY1" fmla="*/ 26398 h 28575"/>
                  <a:gd name="connsiteX2" fmla="*/ 7348 w 28575"/>
                  <a:gd name="connsiteY2" fmla="*/ 16873 h 28575"/>
                  <a:gd name="connsiteX3" fmla="*/ 16873 w 28575"/>
                  <a:gd name="connsiteY3" fmla="*/ 7348 h 28575"/>
                  <a:gd name="connsiteX4" fmla="*/ 26398 w 28575"/>
                  <a:gd name="connsiteY4" fmla="*/ 16873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398" y="16873"/>
                    </a:moveTo>
                    <a:cubicBezTo>
                      <a:pt x="26398" y="22134"/>
                      <a:pt x="22134" y="26398"/>
                      <a:pt x="16873" y="26398"/>
                    </a:cubicBezTo>
                    <a:cubicBezTo>
                      <a:pt x="11612" y="26398"/>
                      <a:pt x="7348" y="22134"/>
                      <a:pt x="7348" y="16873"/>
                    </a:cubicBezTo>
                    <a:cubicBezTo>
                      <a:pt x="7348" y="11613"/>
                      <a:pt x="11612" y="7348"/>
                      <a:pt x="16873" y="7348"/>
                    </a:cubicBezTo>
                    <a:cubicBezTo>
                      <a:pt x="22134" y="7348"/>
                      <a:pt x="26398" y="11613"/>
                      <a:pt x="26398" y="1687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9" name="Freeform: Shape 148">
                <a:extLst>
                  <a:ext uri="{FF2B5EF4-FFF2-40B4-BE49-F238E27FC236}">
                    <a16:creationId xmlns:a16="http://schemas.microsoft.com/office/drawing/2014/main" id="{B83FF2B8-DB01-41ED-A40D-888FD6673EBC}"/>
                  </a:ext>
                </a:extLst>
              </p:cNvPr>
              <p:cNvSpPr/>
              <p:nvPr/>
            </p:nvSpPr>
            <p:spPr>
              <a:xfrm>
                <a:off x="1818307" y="7553645"/>
                <a:ext cx="38704" cy="38704"/>
              </a:xfrm>
              <a:custGeom>
                <a:avLst/>
                <a:gdLst>
                  <a:gd name="connsiteX0" fmla="*/ 26398 w 28575"/>
                  <a:gd name="connsiteY0" fmla="*/ 16873 h 28575"/>
                  <a:gd name="connsiteX1" fmla="*/ 16873 w 28575"/>
                  <a:gd name="connsiteY1" fmla="*/ 26398 h 28575"/>
                  <a:gd name="connsiteX2" fmla="*/ 7348 w 28575"/>
                  <a:gd name="connsiteY2" fmla="*/ 16873 h 28575"/>
                  <a:gd name="connsiteX3" fmla="*/ 16873 w 28575"/>
                  <a:gd name="connsiteY3" fmla="*/ 7348 h 28575"/>
                  <a:gd name="connsiteX4" fmla="*/ 26398 w 28575"/>
                  <a:gd name="connsiteY4" fmla="*/ 16873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398" y="16873"/>
                    </a:moveTo>
                    <a:cubicBezTo>
                      <a:pt x="26398" y="22134"/>
                      <a:pt x="22133" y="26398"/>
                      <a:pt x="16873" y="26398"/>
                    </a:cubicBezTo>
                    <a:cubicBezTo>
                      <a:pt x="11613" y="26398"/>
                      <a:pt x="7348" y="22134"/>
                      <a:pt x="7348" y="16873"/>
                    </a:cubicBezTo>
                    <a:cubicBezTo>
                      <a:pt x="7348" y="11613"/>
                      <a:pt x="11613" y="7348"/>
                      <a:pt x="16873" y="7348"/>
                    </a:cubicBezTo>
                    <a:cubicBezTo>
                      <a:pt x="22133" y="7348"/>
                      <a:pt x="26398" y="11613"/>
                      <a:pt x="26398" y="1687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0" name="Freeform: Shape 149">
                <a:extLst>
                  <a:ext uri="{FF2B5EF4-FFF2-40B4-BE49-F238E27FC236}">
                    <a16:creationId xmlns:a16="http://schemas.microsoft.com/office/drawing/2014/main" id="{32CBB42B-C150-4420-A23B-B6E09320C637}"/>
                  </a:ext>
                </a:extLst>
              </p:cNvPr>
              <p:cNvSpPr/>
              <p:nvPr/>
            </p:nvSpPr>
            <p:spPr>
              <a:xfrm>
                <a:off x="1524158" y="7383349"/>
                <a:ext cx="180618" cy="206420"/>
              </a:xfrm>
              <a:custGeom>
                <a:avLst/>
                <a:gdLst>
                  <a:gd name="connsiteX0" fmla="*/ 31161 w 133350"/>
                  <a:gd name="connsiteY0" fmla="*/ 47353 h 152400"/>
                  <a:gd name="connsiteX1" fmla="*/ 69261 w 133350"/>
                  <a:gd name="connsiteY1" fmla="*/ 7348 h 152400"/>
                  <a:gd name="connsiteX2" fmla="*/ 108313 w 133350"/>
                  <a:gd name="connsiteY2" fmla="*/ 47353 h 152400"/>
                  <a:gd name="connsiteX3" fmla="*/ 69261 w 133350"/>
                  <a:gd name="connsiteY3" fmla="*/ 87358 h 152400"/>
                  <a:gd name="connsiteX4" fmla="*/ 31161 w 133350"/>
                  <a:gd name="connsiteY4" fmla="*/ 47353 h 152400"/>
                  <a:gd name="connsiteX5" fmla="*/ 31161 w 133350"/>
                  <a:gd name="connsiteY5" fmla="*/ 47353 h 152400"/>
                  <a:gd name="connsiteX6" fmla="*/ 131173 w 133350"/>
                  <a:gd name="connsiteY6" fmla="*/ 151176 h 152400"/>
                  <a:gd name="connsiteX7" fmla="*/ 69261 w 133350"/>
                  <a:gd name="connsiteY7" fmla="*/ 87358 h 152400"/>
                  <a:gd name="connsiteX8" fmla="*/ 7348 w 133350"/>
                  <a:gd name="connsiteY8" fmla="*/ 151176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350" h="152400">
                    <a:moveTo>
                      <a:pt x="31161" y="47353"/>
                    </a:moveTo>
                    <a:cubicBezTo>
                      <a:pt x="31161" y="25446"/>
                      <a:pt x="48306" y="7348"/>
                      <a:pt x="69261" y="7348"/>
                    </a:cubicBezTo>
                    <a:cubicBezTo>
                      <a:pt x="90216" y="7348"/>
                      <a:pt x="108313" y="25446"/>
                      <a:pt x="108313" y="47353"/>
                    </a:cubicBezTo>
                    <a:cubicBezTo>
                      <a:pt x="108313" y="69261"/>
                      <a:pt x="90216" y="87358"/>
                      <a:pt x="69261" y="87358"/>
                    </a:cubicBezTo>
                    <a:cubicBezTo>
                      <a:pt x="48306" y="87358"/>
                      <a:pt x="31161" y="69261"/>
                      <a:pt x="31161" y="47353"/>
                    </a:cubicBezTo>
                    <a:lnTo>
                      <a:pt x="31161" y="47353"/>
                    </a:lnTo>
                    <a:close/>
                    <a:moveTo>
                      <a:pt x="131173" y="151176"/>
                    </a:moveTo>
                    <a:cubicBezTo>
                      <a:pt x="131173" y="115933"/>
                      <a:pt x="103551" y="87358"/>
                      <a:pt x="69261" y="87358"/>
                    </a:cubicBezTo>
                    <a:cubicBezTo>
                      <a:pt x="34971" y="87358"/>
                      <a:pt x="7348" y="115933"/>
                      <a:pt x="7348" y="151176"/>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1" name="Freeform: Shape 150">
                <a:extLst>
                  <a:ext uri="{FF2B5EF4-FFF2-40B4-BE49-F238E27FC236}">
                    <a16:creationId xmlns:a16="http://schemas.microsoft.com/office/drawing/2014/main" id="{EBC0F9DC-C657-43FE-831D-ECA77D07CBDB}"/>
                  </a:ext>
                </a:extLst>
              </p:cNvPr>
              <p:cNvSpPr/>
              <p:nvPr/>
            </p:nvSpPr>
            <p:spPr>
              <a:xfrm>
                <a:off x="1540929" y="7238855"/>
                <a:ext cx="141914" cy="141913"/>
              </a:xfrm>
              <a:custGeom>
                <a:avLst/>
                <a:gdLst>
                  <a:gd name="connsiteX0" fmla="*/ 56878 w 104775"/>
                  <a:gd name="connsiteY0" fmla="*/ 85453 h 104775"/>
                  <a:gd name="connsiteX1" fmla="*/ 26398 w 104775"/>
                  <a:gd name="connsiteY1" fmla="*/ 101646 h 104775"/>
                  <a:gd name="connsiteX2" fmla="*/ 32113 w 104775"/>
                  <a:gd name="connsiteY2" fmla="*/ 67356 h 104775"/>
                  <a:gd name="connsiteX3" fmla="*/ 7348 w 104775"/>
                  <a:gd name="connsiteY3" fmla="*/ 43543 h 104775"/>
                  <a:gd name="connsiteX4" fmla="*/ 41638 w 104775"/>
                  <a:gd name="connsiteY4" fmla="*/ 37828 h 104775"/>
                  <a:gd name="connsiteX5" fmla="*/ 56878 w 104775"/>
                  <a:gd name="connsiteY5" fmla="*/ 7348 h 104775"/>
                  <a:gd name="connsiteX6" fmla="*/ 72118 w 104775"/>
                  <a:gd name="connsiteY6" fmla="*/ 37828 h 104775"/>
                  <a:gd name="connsiteX7" fmla="*/ 106408 w 104775"/>
                  <a:gd name="connsiteY7" fmla="*/ 43543 h 104775"/>
                  <a:gd name="connsiteX8" fmla="*/ 81643 w 104775"/>
                  <a:gd name="connsiteY8" fmla="*/ 67356 h 104775"/>
                  <a:gd name="connsiteX9" fmla="*/ 87358 w 104775"/>
                  <a:gd name="connsiteY9" fmla="*/ 101646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775" h="104775">
                    <a:moveTo>
                      <a:pt x="56878" y="85453"/>
                    </a:moveTo>
                    <a:lnTo>
                      <a:pt x="26398" y="101646"/>
                    </a:lnTo>
                    <a:lnTo>
                      <a:pt x="32113" y="67356"/>
                    </a:lnTo>
                    <a:lnTo>
                      <a:pt x="7348" y="43543"/>
                    </a:lnTo>
                    <a:lnTo>
                      <a:pt x="41638" y="37828"/>
                    </a:lnTo>
                    <a:lnTo>
                      <a:pt x="56878" y="7348"/>
                    </a:lnTo>
                    <a:lnTo>
                      <a:pt x="72118" y="37828"/>
                    </a:lnTo>
                    <a:lnTo>
                      <a:pt x="106408" y="43543"/>
                    </a:lnTo>
                    <a:lnTo>
                      <a:pt x="81643" y="67356"/>
                    </a:lnTo>
                    <a:lnTo>
                      <a:pt x="87358" y="101646"/>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2" name="Freeform: Shape 151">
                <a:extLst>
                  <a:ext uri="{FF2B5EF4-FFF2-40B4-BE49-F238E27FC236}">
                    <a16:creationId xmlns:a16="http://schemas.microsoft.com/office/drawing/2014/main" id="{FA06B8CA-FC95-4BC2-B74C-EC554BEDE826}"/>
                  </a:ext>
                </a:extLst>
              </p:cNvPr>
              <p:cNvSpPr/>
              <p:nvPr/>
            </p:nvSpPr>
            <p:spPr>
              <a:xfrm>
                <a:off x="1589954" y="7622022"/>
                <a:ext cx="51605" cy="51605"/>
              </a:xfrm>
              <a:custGeom>
                <a:avLst/>
                <a:gdLst>
                  <a:gd name="connsiteX0" fmla="*/ 34018 w 38100"/>
                  <a:gd name="connsiteY0" fmla="*/ 20683 h 38100"/>
                  <a:gd name="connsiteX1" fmla="*/ 20683 w 38100"/>
                  <a:gd name="connsiteY1" fmla="*/ 34018 h 38100"/>
                  <a:gd name="connsiteX2" fmla="*/ 7348 w 38100"/>
                  <a:gd name="connsiteY2" fmla="*/ 20683 h 38100"/>
                  <a:gd name="connsiteX3" fmla="*/ 20683 w 38100"/>
                  <a:gd name="connsiteY3" fmla="*/ 7348 h 38100"/>
                  <a:gd name="connsiteX4" fmla="*/ 34018 w 38100"/>
                  <a:gd name="connsiteY4" fmla="*/ 20683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4018" y="20683"/>
                    </a:moveTo>
                    <a:cubicBezTo>
                      <a:pt x="34018" y="28048"/>
                      <a:pt x="28048" y="34018"/>
                      <a:pt x="20683" y="34018"/>
                    </a:cubicBezTo>
                    <a:cubicBezTo>
                      <a:pt x="13319" y="34018"/>
                      <a:pt x="7348" y="28048"/>
                      <a:pt x="7348" y="20683"/>
                    </a:cubicBezTo>
                    <a:cubicBezTo>
                      <a:pt x="7348" y="13318"/>
                      <a:pt x="13319" y="7348"/>
                      <a:pt x="20683" y="7348"/>
                    </a:cubicBezTo>
                    <a:cubicBezTo>
                      <a:pt x="28048" y="7348"/>
                      <a:pt x="34018" y="13318"/>
                      <a:pt x="34018" y="2068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3" name="Freeform: Shape 152">
                <a:extLst>
                  <a:ext uri="{FF2B5EF4-FFF2-40B4-BE49-F238E27FC236}">
                    <a16:creationId xmlns:a16="http://schemas.microsoft.com/office/drawing/2014/main" id="{E6CC598E-EC81-457D-9E79-393DE65067FF}"/>
                  </a:ext>
                </a:extLst>
              </p:cNvPr>
              <p:cNvSpPr/>
              <p:nvPr/>
            </p:nvSpPr>
            <p:spPr>
              <a:xfrm>
                <a:off x="1402886" y="7571707"/>
                <a:ext cx="193519" cy="77407"/>
              </a:xfrm>
              <a:custGeom>
                <a:avLst/>
                <a:gdLst>
                  <a:gd name="connsiteX0" fmla="*/ 7348 w 142875"/>
                  <a:gd name="connsiteY0" fmla="*/ 7348 h 57150"/>
                  <a:gd name="connsiteX1" fmla="*/ 144508 w 142875"/>
                  <a:gd name="connsiteY1" fmla="*/ 56878 h 57150"/>
                </a:gdLst>
                <a:ahLst/>
                <a:cxnLst>
                  <a:cxn ang="0">
                    <a:pos x="connsiteX0" y="connsiteY0"/>
                  </a:cxn>
                  <a:cxn ang="0">
                    <a:pos x="connsiteX1" y="connsiteY1"/>
                  </a:cxn>
                </a:cxnLst>
                <a:rect l="l" t="t" r="r" b="b"/>
                <a:pathLst>
                  <a:path w="142875" h="57150">
                    <a:moveTo>
                      <a:pt x="7348" y="7348"/>
                    </a:moveTo>
                    <a:lnTo>
                      <a:pt x="144508" y="56878"/>
                    </a:ln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4" name="Freeform: Shape 153">
                <a:extLst>
                  <a:ext uri="{FF2B5EF4-FFF2-40B4-BE49-F238E27FC236}">
                    <a16:creationId xmlns:a16="http://schemas.microsoft.com/office/drawing/2014/main" id="{366FC206-3649-4105-BD6F-ADD6A8E9D6FD}"/>
                  </a:ext>
                </a:extLst>
              </p:cNvPr>
              <p:cNvSpPr/>
              <p:nvPr/>
            </p:nvSpPr>
            <p:spPr>
              <a:xfrm>
                <a:off x="1628658" y="7571707"/>
                <a:ext cx="206421" cy="77407"/>
              </a:xfrm>
              <a:custGeom>
                <a:avLst/>
                <a:gdLst>
                  <a:gd name="connsiteX0" fmla="*/ 7348 w 152400"/>
                  <a:gd name="connsiteY0" fmla="*/ 56878 h 57150"/>
                  <a:gd name="connsiteX1" fmla="*/ 148318 w 152400"/>
                  <a:gd name="connsiteY1" fmla="*/ 7348 h 57150"/>
                </a:gdLst>
                <a:ahLst/>
                <a:cxnLst>
                  <a:cxn ang="0">
                    <a:pos x="connsiteX0" y="connsiteY0"/>
                  </a:cxn>
                  <a:cxn ang="0">
                    <a:pos x="connsiteX1" y="connsiteY1"/>
                  </a:cxn>
                </a:cxnLst>
                <a:rect l="l" t="t" r="r" b="b"/>
                <a:pathLst>
                  <a:path w="152400" h="57150">
                    <a:moveTo>
                      <a:pt x="7348" y="56878"/>
                    </a:moveTo>
                    <a:lnTo>
                      <a:pt x="148318" y="7348"/>
                    </a:ln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grpSp>
      </p:grpSp>
      <p:cxnSp>
        <p:nvCxnSpPr>
          <p:cNvPr id="167" name="Straight Connector 166">
            <a:extLst>
              <a:ext uri="{FF2B5EF4-FFF2-40B4-BE49-F238E27FC236}">
                <a16:creationId xmlns:a16="http://schemas.microsoft.com/office/drawing/2014/main" id="{7B195598-F76A-4EA1-BF44-B801A69B2AEB}"/>
              </a:ext>
              <a:ext uri="{C183D7F6-B498-43B3-948B-1728B52AA6E4}">
                <adec:decorative xmlns:adec="http://schemas.microsoft.com/office/drawing/2017/decorative" val="1"/>
              </a:ext>
            </a:extLst>
          </p:cNvPr>
          <p:cNvCxnSpPr>
            <a:cxnSpLocks/>
          </p:cNvCxnSpPr>
          <p:nvPr/>
        </p:nvCxnSpPr>
        <p:spPr>
          <a:xfrm>
            <a:off x="5771254" y="3296095"/>
            <a:ext cx="497091"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78" name="Group 177">
            <a:extLst>
              <a:ext uri="{FF2B5EF4-FFF2-40B4-BE49-F238E27FC236}">
                <a16:creationId xmlns:a16="http://schemas.microsoft.com/office/drawing/2014/main" id="{CFA8B499-6B1B-4EFC-93B7-524975374A05}"/>
              </a:ext>
              <a:ext uri="{C183D7F6-B498-43B3-948B-1728B52AA6E4}">
                <adec:decorative xmlns:adec="http://schemas.microsoft.com/office/drawing/2017/decorative" val="1"/>
              </a:ext>
            </a:extLst>
          </p:cNvPr>
          <p:cNvGrpSpPr/>
          <p:nvPr/>
        </p:nvGrpSpPr>
        <p:grpSpPr>
          <a:xfrm>
            <a:off x="722184" y="3802549"/>
            <a:ext cx="522238" cy="522238"/>
            <a:chOff x="724354" y="2781602"/>
            <a:chExt cx="438218" cy="438964"/>
          </a:xfrm>
        </p:grpSpPr>
        <p:sp>
          <p:nvSpPr>
            <p:cNvPr id="179" name="Oval 178">
              <a:extLst>
                <a:ext uri="{FF2B5EF4-FFF2-40B4-BE49-F238E27FC236}">
                  <a16:creationId xmlns:a16="http://schemas.microsoft.com/office/drawing/2014/main" id="{411DDA84-71CD-44BA-9140-44D1A91A6550}"/>
                </a:ext>
                <a:ext uri="{C183D7F6-B498-43B3-948B-1728B52AA6E4}">
                  <adec:decorative xmlns:adec="http://schemas.microsoft.com/office/drawing/2017/decorative" val="1"/>
                </a:ext>
              </a:extLst>
            </p:cNvPr>
            <p:cNvSpPr>
              <a:spLocks/>
            </p:cNvSpPr>
            <p:nvPr/>
          </p:nvSpPr>
          <p:spPr bwMode="auto">
            <a:xfrm>
              <a:off x="724354" y="2781602"/>
              <a:ext cx="438218" cy="438964"/>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normalizeH="0" baseline="0" noProof="0">
                <a:ln>
                  <a:noFill/>
                </a:ln>
                <a:solidFill>
                  <a:srgbClr val="FFFFFF"/>
                </a:solidFill>
                <a:effectLst/>
                <a:uLnTx/>
                <a:uFillTx/>
                <a:latin typeface="Segoe UI"/>
                <a:ea typeface="Segoe UI" pitchFamily="34" charset="0"/>
                <a:cs typeface="Segoe UI" pitchFamily="34" charset="0"/>
              </a:endParaRPr>
            </a:p>
          </p:txBody>
        </p:sp>
        <p:sp>
          <p:nvSpPr>
            <p:cNvPr id="180" name="Trackers_EADF">
              <a:extLst>
                <a:ext uri="{FF2B5EF4-FFF2-40B4-BE49-F238E27FC236}">
                  <a16:creationId xmlns:a16="http://schemas.microsoft.com/office/drawing/2014/main" id="{B21AA2D5-3452-4E03-BA76-5FD47784B1FC}"/>
                </a:ext>
                <a:ext uri="{C183D7F6-B498-43B3-948B-1728B52AA6E4}">
                  <adec:decorative xmlns:adec="http://schemas.microsoft.com/office/drawing/2017/decorative" val="1"/>
                </a:ext>
              </a:extLst>
            </p:cNvPr>
            <p:cNvSpPr>
              <a:spLocks noChangeAspect="1" noEditPoints="1"/>
            </p:cNvSpPr>
            <p:nvPr/>
          </p:nvSpPr>
          <p:spPr bwMode="auto">
            <a:xfrm>
              <a:off x="854529" y="2879611"/>
              <a:ext cx="177869" cy="242946"/>
            </a:xfrm>
            <a:custGeom>
              <a:avLst/>
              <a:gdLst>
                <a:gd name="T0" fmla="*/ 1000 w 2750"/>
                <a:gd name="T1" fmla="*/ 375 h 3750"/>
                <a:gd name="T2" fmla="*/ 1375 w 2750"/>
                <a:gd name="T3" fmla="*/ 0 h 3750"/>
                <a:gd name="T4" fmla="*/ 1750 w 2750"/>
                <a:gd name="T5" fmla="*/ 375 h 3750"/>
                <a:gd name="T6" fmla="*/ 1750 w 2750"/>
                <a:gd name="T7" fmla="*/ 500 h 3750"/>
                <a:gd name="T8" fmla="*/ 2250 w 2750"/>
                <a:gd name="T9" fmla="*/ 500 h 3750"/>
                <a:gd name="T10" fmla="*/ 2250 w 2750"/>
                <a:gd name="T11" fmla="*/ 1000 h 3750"/>
                <a:gd name="T12" fmla="*/ 500 w 2750"/>
                <a:gd name="T13" fmla="*/ 1000 h 3750"/>
                <a:gd name="T14" fmla="*/ 500 w 2750"/>
                <a:gd name="T15" fmla="*/ 500 h 3750"/>
                <a:gd name="T16" fmla="*/ 1000 w 2750"/>
                <a:gd name="T17" fmla="*/ 500 h 3750"/>
                <a:gd name="T18" fmla="*/ 1000 w 2750"/>
                <a:gd name="T19" fmla="*/ 375 h 3750"/>
                <a:gd name="T20" fmla="*/ 500 w 2750"/>
                <a:gd name="T21" fmla="*/ 500 h 3750"/>
                <a:gd name="T22" fmla="*/ 0 w 2750"/>
                <a:gd name="T23" fmla="*/ 500 h 3750"/>
                <a:gd name="T24" fmla="*/ 0 w 2750"/>
                <a:gd name="T25" fmla="*/ 3750 h 3750"/>
                <a:gd name="T26" fmla="*/ 2750 w 2750"/>
                <a:gd name="T27" fmla="*/ 3750 h 3750"/>
                <a:gd name="T28" fmla="*/ 2750 w 2750"/>
                <a:gd name="T29" fmla="*/ 500 h 3750"/>
                <a:gd name="T30" fmla="*/ 2250 w 2750"/>
                <a:gd name="T31" fmla="*/ 500 h 3750"/>
                <a:gd name="T32" fmla="*/ 2375 w 2750"/>
                <a:gd name="T33" fmla="*/ 1750 h 3750"/>
                <a:gd name="T34" fmla="*/ 1375 w 2750"/>
                <a:gd name="T35" fmla="*/ 1750 h 3750"/>
                <a:gd name="T36" fmla="*/ 2375 w 2750"/>
                <a:gd name="T37" fmla="*/ 2500 h 3750"/>
                <a:gd name="T38" fmla="*/ 1375 w 2750"/>
                <a:gd name="T39" fmla="*/ 2500 h 3750"/>
                <a:gd name="T40" fmla="*/ 2375 w 2750"/>
                <a:gd name="T41" fmla="*/ 3250 h 3750"/>
                <a:gd name="T42" fmla="*/ 1375 w 2750"/>
                <a:gd name="T43" fmla="*/ 3250 h 3750"/>
                <a:gd name="T44" fmla="*/ 500 w 2750"/>
                <a:gd name="T45" fmla="*/ 1500 h 3750"/>
                <a:gd name="T46" fmla="*/ 750 w 2750"/>
                <a:gd name="T47" fmla="*/ 1750 h 3750"/>
                <a:gd name="T48" fmla="*/ 1125 w 2750"/>
                <a:gd name="T49" fmla="*/ 1375 h 3750"/>
                <a:gd name="T50" fmla="*/ 500 w 2750"/>
                <a:gd name="T51" fmla="*/ 2250 h 3750"/>
                <a:gd name="T52" fmla="*/ 750 w 2750"/>
                <a:gd name="T53" fmla="*/ 2500 h 3750"/>
                <a:gd name="T54" fmla="*/ 1125 w 2750"/>
                <a:gd name="T55" fmla="*/ 2125 h 3750"/>
                <a:gd name="T56" fmla="*/ 500 w 2750"/>
                <a:gd name="T57" fmla="*/ 3000 h 3750"/>
                <a:gd name="T58" fmla="*/ 750 w 2750"/>
                <a:gd name="T59" fmla="*/ 3250 h 3750"/>
                <a:gd name="T60" fmla="*/ 1125 w 2750"/>
                <a:gd name="T61" fmla="*/ 2875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50" h="3750">
                  <a:moveTo>
                    <a:pt x="1000" y="375"/>
                  </a:moveTo>
                  <a:cubicBezTo>
                    <a:pt x="1000" y="168"/>
                    <a:pt x="1168" y="0"/>
                    <a:pt x="1375" y="0"/>
                  </a:cubicBezTo>
                  <a:cubicBezTo>
                    <a:pt x="1582" y="0"/>
                    <a:pt x="1750" y="168"/>
                    <a:pt x="1750" y="375"/>
                  </a:cubicBezTo>
                  <a:cubicBezTo>
                    <a:pt x="1750" y="500"/>
                    <a:pt x="1750" y="500"/>
                    <a:pt x="1750" y="500"/>
                  </a:cubicBezTo>
                  <a:cubicBezTo>
                    <a:pt x="2250" y="500"/>
                    <a:pt x="2250" y="500"/>
                    <a:pt x="2250" y="500"/>
                  </a:cubicBezTo>
                  <a:cubicBezTo>
                    <a:pt x="2250" y="1000"/>
                    <a:pt x="2250" y="1000"/>
                    <a:pt x="2250" y="1000"/>
                  </a:cubicBezTo>
                  <a:cubicBezTo>
                    <a:pt x="500" y="1000"/>
                    <a:pt x="500" y="1000"/>
                    <a:pt x="500" y="1000"/>
                  </a:cubicBezTo>
                  <a:cubicBezTo>
                    <a:pt x="500" y="500"/>
                    <a:pt x="500" y="500"/>
                    <a:pt x="500" y="500"/>
                  </a:cubicBezTo>
                  <a:cubicBezTo>
                    <a:pt x="1000" y="500"/>
                    <a:pt x="1000" y="500"/>
                    <a:pt x="1000" y="500"/>
                  </a:cubicBezTo>
                  <a:lnTo>
                    <a:pt x="1000" y="375"/>
                  </a:lnTo>
                  <a:close/>
                  <a:moveTo>
                    <a:pt x="500" y="500"/>
                  </a:moveTo>
                  <a:cubicBezTo>
                    <a:pt x="0" y="500"/>
                    <a:pt x="0" y="500"/>
                    <a:pt x="0" y="500"/>
                  </a:cubicBezTo>
                  <a:cubicBezTo>
                    <a:pt x="0" y="3750"/>
                    <a:pt x="0" y="3750"/>
                    <a:pt x="0" y="3750"/>
                  </a:cubicBezTo>
                  <a:cubicBezTo>
                    <a:pt x="2750" y="3750"/>
                    <a:pt x="2750" y="3750"/>
                    <a:pt x="2750" y="3750"/>
                  </a:cubicBezTo>
                  <a:cubicBezTo>
                    <a:pt x="2750" y="500"/>
                    <a:pt x="2750" y="500"/>
                    <a:pt x="2750" y="500"/>
                  </a:cubicBezTo>
                  <a:cubicBezTo>
                    <a:pt x="2250" y="500"/>
                    <a:pt x="2250" y="500"/>
                    <a:pt x="2250" y="500"/>
                  </a:cubicBezTo>
                  <a:moveTo>
                    <a:pt x="2375" y="1750"/>
                  </a:moveTo>
                  <a:cubicBezTo>
                    <a:pt x="1375" y="1750"/>
                    <a:pt x="1375" y="1750"/>
                    <a:pt x="1375" y="1750"/>
                  </a:cubicBezTo>
                  <a:moveTo>
                    <a:pt x="2375" y="2500"/>
                  </a:moveTo>
                  <a:cubicBezTo>
                    <a:pt x="1375" y="2500"/>
                    <a:pt x="1375" y="2500"/>
                    <a:pt x="1375" y="2500"/>
                  </a:cubicBezTo>
                  <a:moveTo>
                    <a:pt x="2375" y="3250"/>
                  </a:moveTo>
                  <a:cubicBezTo>
                    <a:pt x="1375" y="3250"/>
                    <a:pt x="1375" y="3250"/>
                    <a:pt x="1375" y="3250"/>
                  </a:cubicBezTo>
                  <a:moveTo>
                    <a:pt x="500" y="1500"/>
                  </a:moveTo>
                  <a:cubicBezTo>
                    <a:pt x="750" y="1750"/>
                    <a:pt x="750" y="1750"/>
                    <a:pt x="750" y="1750"/>
                  </a:cubicBezTo>
                  <a:cubicBezTo>
                    <a:pt x="1125" y="1375"/>
                    <a:pt x="1125" y="1375"/>
                    <a:pt x="1125" y="1375"/>
                  </a:cubicBezTo>
                  <a:moveTo>
                    <a:pt x="500" y="2250"/>
                  </a:moveTo>
                  <a:cubicBezTo>
                    <a:pt x="750" y="2500"/>
                    <a:pt x="750" y="2500"/>
                    <a:pt x="750" y="2500"/>
                  </a:cubicBezTo>
                  <a:cubicBezTo>
                    <a:pt x="1125" y="2125"/>
                    <a:pt x="1125" y="2125"/>
                    <a:pt x="1125" y="2125"/>
                  </a:cubicBezTo>
                  <a:moveTo>
                    <a:pt x="500" y="3000"/>
                  </a:moveTo>
                  <a:cubicBezTo>
                    <a:pt x="750" y="3250"/>
                    <a:pt x="750" y="3250"/>
                    <a:pt x="750" y="3250"/>
                  </a:cubicBezTo>
                  <a:cubicBezTo>
                    <a:pt x="1125" y="2875"/>
                    <a:pt x="1125" y="2875"/>
                    <a:pt x="1125" y="2875"/>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normalizeH="0" baseline="0" noProof="0">
                <a:ln>
                  <a:noFill/>
                </a:ln>
                <a:solidFill>
                  <a:prstClr val="black"/>
                </a:solidFill>
                <a:effectLst/>
                <a:uLnTx/>
                <a:uFillTx/>
                <a:latin typeface="Calibri" panose="020F0502020204030204"/>
                <a:ea typeface="+mn-ea"/>
                <a:cs typeface="+mn-cs"/>
              </a:endParaRPr>
            </a:p>
          </p:txBody>
        </p:sp>
      </p:grpSp>
      <p:cxnSp>
        <p:nvCxnSpPr>
          <p:cNvPr id="192" name="Straight Connector 191">
            <a:extLst>
              <a:ext uri="{FF2B5EF4-FFF2-40B4-BE49-F238E27FC236}">
                <a16:creationId xmlns:a16="http://schemas.microsoft.com/office/drawing/2014/main" id="{E0224169-9119-47EF-96EE-DDA203D7C417}"/>
              </a:ext>
              <a:ext uri="{C183D7F6-B498-43B3-948B-1728B52AA6E4}">
                <adec:decorative xmlns:adec="http://schemas.microsoft.com/office/drawing/2017/decorative" val="1"/>
              </a:ext>
            </a:extLst>
          </p:cNvPr>
          <p:cNvCxnSpPr>
            <a:cxnSpLocks/>
          </p:cNvCxnSpPr>
          <p:nvPr/>
        </p:nvCxnSpPr>
        <p:spPr>
          <a:xfrm>
            <a:off x="5771254" y="4787423"/>
            <a:ext cx="497091"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99" name="Group 198">
            <a:extLst>
              <a:ext uri="{FF2B5EF4-FFF2-40B4-BE49-F238E27FC236}">
                <a16:creationId xmlns:a16="http://schemas.microsoft.com/office/drawing/2014/main" id="{026E5944-69DF-4321-BDB3-841BA2C11C04}"/>
              </a:ext>
              <a:ext uri="{C183D7F6-B498-43B3-948B-1728B52AA6E4}">
                <adec:decorative xmlns:adec="http://schemas.microsoft.com/office/drawing/2017/decorative" val="1"/>
              </a:ext>
            </a:extLst>
          </p:cNvPr>
          <p:cNvGrpSpPr>
            <a:grpSpLocks/>
          </p:cNvGrpSpPr>
          <p:nvPr/>
        </p:nvGrpSpPr>
        <p:grpSpPr>
          <a:xfrm>
            <a:off x="722184" y="5297927"/>
            <a:ext cx="522238" cy="522238"/>
            <a:chOff x="7039782" y="1468393"/>
            <a:chExt cx="751672" cy="751672"/>
          </a:xfrm>
        </p:grpSpPr>
        <p:sp>
          <p:nvSpPr>
            <p:cNvPr id="200" name="Oval 199">
              <a:extLst>
                <a:ext uri="{FF2B5EF4-FFF2-40B4-BE49-F238E27FC236}">
                  <a16:creationId xmlns:a16="http://schemas.microsoft.com/office/drawing/2014/main" id="{9FCF0032-1DAB-434C-8E68-E23616E5312F}"/>
                </a:ext>
                <a:ext uri="{C183D7F6-B498-43B3-948B-1728B52AA6E4}">
                  <adec:decorative xmlns:adec="http://schemas.microsoft.com/office/drawing/2017/decorative" val="1"/>
                </a:ext>
              </a:extLst>
            </p:cNvPr>
            <p:cNvSpPr>
              <a:spLocks/>
            </p:cNvSpPr>
            <p:nvPr/>
          </p:nvSpPr>
          <p:spPr bwMode="auto">
            <a:xfrm>
              <a:off x="7039782" y="1468393"/>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01" name="list_4">
              <a:extLst>
                <a:ext uri="{FF2B5EF4-FFF2-40B4-BE49-F238E27FC236}">
                  <a16:creationId xmlns:a16="http://schemas.microsoft.com/office/drawing/2014/main" id="{5949B67D-CC59-478A-AB79-3C00B775DB3E}"/>
                </a:ext>
                <a:ext uri="{C183D7F6-B498-43B3-948B-1728B52AA6E4}">
                  <adec:decorative xmlns:adec="http://schemas.microsoft.com/office/drawing/2017/decorative" val="1"/>
                </a:ext>
              </a:extLst>
            </p:cNvPr>
            <p:cNvSpPr>
              <a:spLocks noChangeAspect="1" noEditPoints="1"/>
            </p:cNvSpPr>
            <p:nvPr/>
          </p:nvSpPr>
          <p:spPr bwMode="auto">
            <a:xfrm>
              <a:off x="7196380" y="1708702"/>
              <a:ext cx="438475" cy="271054"/>
            </a:xfrm>
            <a:custGeom>
              <a:avLst/>
              <a:gdLst>
                <a:gd name="T0" fmla="*/ 90 w 253"/>
                <a:gd name="T1" fmla="*/ 24 h 171"/>
                <a:gd name="T2" fmla="*/ 253 w 253"/>
                <a:gd name="T3" fmla="*/ 24 h 171"/>
                <a:gd name="T4" fmla="*/ 90 w 253"/>
                <a:gd name="T5" fmla="*/ 73 h 171"/>
                <a:gd name="T6" fmla="*/ 253 w 253"/>
                <a:gd name="T7" fmla="*/ 73 h 171"/>
                <a:gd name="T8" fmla="*/ 90 w 253"/>
                <a:gd name="T9" fmla="*/ 121 h 171"/>
                <a:gd name="T10" fmla="*/ 253 w 253"/>
                <a:gd name="T11" fmla="*/ 121 h 171"/>
                <a:gd name="T12" fmla="*/ 90 w 253"/>
                <a:gd name="T13" fmla="*/ 171 h 171"/>
                <a:gd name="T14" fmla="*/ 253 w 253"/>
                <a:gd name="T15" fmla="*/ 171 h 171"/>
                <a:gd name="T16" fmla="*/ 0 w 253"/>
                <a:gd name="T17" fmla="*/ 23 h 171"/>
                <a:gd name="T18" fmla="*/ 17 w 253"/>
                <a:gd name="T19" fmla="*/ 40 h 171"/>
                <a:gd name="T20" fmla="*/ 58 w 253"/>
                <a:gd name="T21" fmla="*/ 0 h 171"/>
                <a:gd name="T22" fmla="*/ 0 w 253"/>
                <a:gd name="T23" fmla="*/ 121 h 171"/>
                <a:gd name="T24" fmla="*/ 17 w 253"/>
                <a:gd name="T25" fmla="*/ 138 h 171"/>
                <a:gd name="T26" fmla="*/ 58 w 253"/>
                <a:gd name="T27" fmla="*/ 9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3" h="171">
                  <a:moveTo>
                    <a:pt x="90" y="24"/>
                  </a:moveTo>
                  <a:lnTo>
                    <a:pt x="253" y="24"/>
                  </a:lnTo>
                  <a:moveTo>
                    <a:pt x="90" y="73"/>
                  </a:moveTo>
                  <a:lnTo>
                    <a:pt x="253" y="73"/>
                  </a:lnTo>
                  <a:moveTo>
                    <a:pt x="90" y="121"/>
                  </a:moveTo>
                  <a:lnTo>
                    <a:pt x="253" y="121"/>
                  </a:lnTo>
                  <a:moveTo>
                    <a:pt x="90" y="171"/>
                  </a:moveTo>
                  <a:lnTo>
                    <a:pt x="253" y="171"/>
                  </a:lnTo>
                  <a:moveTo>
                    <a:pt x="0" y="23"/>
                  </a:moveTo>
                  <a:lnTo>
                    <a:pt x="17" y="40"/>
                  </a:lnTo>
                  <a:lnTo>
                    <a:pt x="58" y="0"/>
                  </a:lnTo>
                  <a:moveTo>
                    <a:pt x="0" y="121"/>
                  </a:moveTo>
                  <a:lnTo>
                    <a:pt x="17" y="138"/>
                  </a:lnTo>
                  <a:lnTo>
                    <a:pt x="58" y="98"/>
                  </a:lnTo>
                </a:path>
              </a:pathLst>
            </a:custGeom>
            <a:noFill/>
            <a:ln w="12700" cap="flat">
              <a:solidFill>
                <a:schemeClr val="tx2"/>
              </a:solidFill>
              <a:prstDash val="solid"/>
              <a:miter lim="800000"/>
              <a:headEnd/>
              <a:tailEnd/>
            </a:ln>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13" name="Footer Placeholder 4">
            <a:extLst>
              <a:ext uri="{FF2B5EF4-FFF2-40B4-BE49-F238E27FC236}">
                <a16:creationId xmlns:a16="http://schemas.microsoft.com/office/drawing/2014/main" id="{10E54606-57C2-4DE8-9859-0E9A1418A590}"/>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pic>
        <p:nvPicPr>
          <p:cNvPr id="214" name="Picture 213" descr="Two young employees sitting in a coffee table working on a laptop">
            <a:extLst>
              <a:ext uri="{FF2B5EF4-FFF2-40B4-BE49-F238E27FC236}">
                <a16:creationId xmlns:a16="http://schemas.microsoft.com/office/drawing/2014/main" id="{862DE29E-5032-41FF-9267-7440425DBBCA}"/>
              </a:ext>
            </a:extLst>
          </p:cNvPr>
          <p:cNvPicPr>
            <a:picLocks noChangeAspect="1"/>
          </p:cNvPicPr>
          <p:nvPr/>
        </p:nvPicPr>
        <p:blipFill rotWithShape="1">
          <a:blip r:embed="rId4">
            <a:extLst>
              <a:ext uri="{28A0092B-C50C-407E-A947-70E740481C1C}">
                <a14:useLocalDpi xmlns:a14="http://schemas.microsoft.com/office/drawing/2010/main" val="0"/>
              </a:ext>
            </a:extLst>
          </a:blip>
          <a:srcRect l="10446" t="3964" r="38914" b="906"/>
          <a:stretch/>
        </p:blipFill>
        <p:spPr>
          <a:xfrm>
            <a:off x="6715115" y="0"/>
            <a:ext cx="5476886" cy="6858000"/>
          </a:xfrm>
          <a:custGeom>
            <a:avLst/>
            <a:gdLst>
              <a:gd name="connsiteX0" fmla="*/ 0 w 2743198"/>
              <a:gd name="connsiteY0" fmla="*/ 0 h 4663440"/>
              <a:gd name="connsiteX1" fmla="*/ 2743198 w 2743198"/>
              <a:gd name="connsiteY1" fmla="*/ 0 h 4663440"/>
              <a:gd name="connsiteX2" fmla="*/ 2743198 w 2743198"/>
              <a:gd name="connsiteY2" fmla="*/ 4663440 h 4663440"/>
              <a:gd name="connsiteX3" fmla="*/ 0 w 2743198"/>
              <a:gd name="connsiteY3" fmla="*/ 4663440 h 4663440"/>
            </a:gdLst>
            <a:ahLst/>
            <a:cxnLst>
              <a:cxn ang="0">
                <a:pos x="connsiteX0" y="connsiteY0"/>
              </a:cxn>
              <a:cxn ang="0">
                <a:pos x="connsiteX1" y="connsiteY1"/>
              </a:cxn>
              <a:cxn ang="0">
                <a:pos x="connsiteX2" y="connsiteY2"/>
              </a:cxn>
              <a:cxn ang="0">
                <a:pos x="connsiteX3" y="connsiteY3"/>
              </a:cxn>
            </a:cxnLst>
            <a:rect l="l" t="t" r="r" b="b"/>
            <a:pathLst>
              <a:path w="2743198" h="4663440">
                <a:moveTo>
                  <a:pt x="0" y="0"/>
                </a:moveTo>
                <a:lnTo>
                  <a:pt x="2743198" y="0"/>
                </a:lnTo>
                <a:lnTo>
                  <a:pt x="2743198" y="4663440"/>
                </a:lnTo>
                <a:lnTo>
                  <a:pt x="0" y="4663440"/>
                </a:lnTo>
                <a:close/>
              </a:path>
            </a:pathLst>
          </a:custGeom>
        </p:spPr>
      </p:pic>
      <p:sp>
        <p:nvSpPr>
          <p:cNvPr id="216" name="Slide Number Placeholder 5">
            <a:extLst>
              <a:ext uri="{FF2B5EF4-FFF2-40B4-BE49-F238E27FC236}">
                <a16:creationId xmlns:a16="http://schemas.microsoft.com/office/drawing/2014/main" id="{063ECB81-19EB-41B2-B6F9-134822DB431D}"/>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chemeClr val="bg1"/>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US" sz="800" b="0" i="0" u="none" strike="noStrike" kern="1200" cap="none" spc="0" normalizeH="0" baseline="0" noProof="0">
              <a:ln>
                <a:noFill/>
              </a:ln>
              <a:solidFill>
                <a:schemeClr val="bg1"/>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3291269963"/>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name="HIDDEN - Slide6">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7132E6D-A6EE-402B-895A-D0B053AB702A}"/>
              </a:ext>
            </a:extLst>
          </p:cNvPr>
          <p:cNvSpPr>
            <a:spLocks noGrp="1"/>
          </p:cNvSpPr>
          <p:nvPr>
            <p:ph type="title"/>
            <p:custDataLst>
              <p:custData r:id="rId2"/>
            </p:custDataLst>
          </p:nvPr>
        </p:nvSpPr>
        <p:spPr>
          <a:xfrm>
            <a:off x="584200" y="3318975"/>
            <a:ext cx="9169400" cy="2031325"/>
          </a:xfrm>
        </p:spPr>
        <p:txBody>
          <a:bodyPr/>
          <a:lstStyle/>
          <a:p>
            <a:r>
              <a:rPr lang="en-US" dirty="0"/>
              <a:t>Core Kubernetes Storage Concepts</a:t>
            </a:r>
          </a:p>
        </p:txBody>
      </p:sp>
      <p:sp>
        <p:nvSpPr>
          <p:cNvPr id="2" name="Text Placeholder 1">
            <a:extLst>
              <a:ext uri="{FF2B5EF4-FFF2-40B4-BE49-F238E27FC236}">
                <a16:creationId xmlns:a16="http://schemas.microsoft.com/office/drawing/2014/main" id="{482FEA19-2650-4EE7-9268-C5AD0D758CBB}"/>
              </a:ext>
            </a:extLst>
          </p:cNvPr>
          <p:cNvSpPr>
            <a:spLocks noGrp="1"/>
          </p:cNvSpPr>
          <p:nvPr>
            <p:ph type="body" sz="quarter" idx="12"/>
          </p:nvPr>
        </p:nvSpPr>
        <p:spPr/>
        <p:txBody>
          <a:bodyPr/>
          <a:lstStyle/>
          <a:p>
            <a:endParaRPr lang="en-US"/>
          </a:p>
        </p:txBody>
      </p:sp>
      <p:sp>
        <p:nvSpPr>
          <p:cNvPr id="11" name="Footer Placeholder 2">
            <a:extLst>
              <a:ext uri="{FF2B5EF4-FFF2-40B4-BE49-F238E27FC236}">
                <a16:creationId xmlns:a16="http://schemas.microsoft.com/office/drawing/2014/main" id="{B6557B7F-8930-45B3-8C92-8E2F48E4CF5E}"/>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2" name="Slide Number Placeholder 8">
            <a:extLst>
              <a:ext uri="{FF2B5EF4-FFF2-40B4-BE49-F238E27FC236}">
                <a16:creationId xmlns:a16="http://schemas.microsoft.com/office/drawing/2014/main" id="{53D1B8DB-CDB5-4538-B1E2-EE9AC4FA8B61}"/>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1635881331"/>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26C7312-6643-4F44-86B4-FA64F536177B}"/>
              </a:ext>
            </a:extLst>
          </p:cNvPr>
          <p:cNvSpPr>
            <a:spLocks noGrp="1"/>
          </p:cNvSpPr>
          <p:nvPr>
            <p:ph type="title"/>
          </p:nvPr>
        </p:nvSpPr>
        <p:spPr/>
        <p:txBody>
          <a:bodyPr/>
          <a:lstStyle/>
          <a:p>
            <a:r>
              <a:rPr lang="en-US"/>
              <a:t>Objectives </a:t>
            </a:r>
          </a:p>
        </p:txBody>
      </p:sp>
      <p:sp>
        <p:nvSpPr>
          <p:cNvPr id="4" name="Text Placeholder 3">
            <a:extLst>
              <a:ext uri="{FF2B5EF4-FFF2-40B4-BE49-F238E27FC236}">
                <a16:creationId xmlns:a16="http://schemas.microsoft.com/office/drawing/2014/main" id="{3BDD850C-29B9-4641-B580-0B91B9EBAE00}"/>
              </a:ext>
            </a:extLst>
          </p:cNvPr>
          <p:cNvSpPr>
            <a:spLocks noGrp="1"/>
          </p:cNvSpPr>
          <p:nvPr>
            <p:ph type="body" sz="quarter" idx="12"/>
            <p:custDataLst>
              <p:custData r:id="rId2"/>
            </p:custDataLst>
          </p:nvPr>
        </p:nvSpPr>
        <p:spPr/>
        <p:txBody>
          <a:bodyPr vert="horz" lIns="0" tIns="0" rIns="0" bIns="0" rtlCol="0" anchor="t">
            <a:normAutofit/>
          </a:bodyPr>
          <a:lstStyle/>
          <a:p>
            <a:r>
              <a:rPr lang="en-US"/>
              <a:t>After completing this Learning, you will be able to:</a:t>
            </a:r>
          </a:p>
        </p:txBody>
      </p:sp>
      <p:sp>
        <p:nvSpPr>
          <p:cNvPr id="29" name="Rectangle 28">
            <a:extLst>
              <a:ext uri="{FF2B5EF4-FFF2-40B4-BE49-F238E27FC236}">
                <a16:creationId xmlns:a16="http://schemas.microsoft.com/office/drawing/2014/main" id="{135AE57B-006B-45B8-B573-5C98485B4112}"/>
              </a:ext>
            </a:extLst>
          </p:cNvPr>
          <p:cNvSpPr/>
          <p:nvPr/>
        </p:nvSpPr>
        <p:spPr>
          <a:xfrm>
            <a:off x="-17461" y="1955801"/>
            <a:ext cx="12209460" cy="584775"/>
          </a:xfrm>
          <a:prstGeom prst="rect">
            <a:avLst/>
          </a:prstGeom>
          <a:solidFill>
            <a:schemeClr val="tx2"/>
          </a:solidFill>
        </p:spPr>
        <p:txBody>
          <a:bodyPr wrap="square" lIns="91440" tIns="137160" rIns="91440" bIns="137160" anchor="t">
            <a:spAutoFit/>
          </a:bodyPr>
          <a:lstStyle/>
          <a:p>
            <a:pPr algn="ctr" defTabSz="932563">
              <a:spcBef>
                <a:spcPts val="204"/>
              </a:spcBef>
              <a:spcAft>
                <a:spcPts val="408"/>
              </a:spcAft>
            </a:pPr>
            <a:r>
              <a:rPr lang="en-US" sz="2000">
                <a:solidFill>
                  <a:schemeClr val="bg1"/>
                </a:solidFill>
                <a:latin typeface="+mj-lt"/>
                <a:cs typeface="Segoe UI Semibold" panose="020B0702040204020203" pitchFamily="34" charset="0"/>
              </a:rPr>
              <a:t>Understand….</a:t>
            </a:r>
          </a:p>
        </p:txBody>
      </p:sp>
      <p:cxnSp>
        <p:nvCxnSpPr>
          <p:cNvPr id="101" name="Straight Connector 100">
            <a:extLst>
              <a:ext uri="{FF2B5EF4-FFF2-40B4-BE49-F238E27FC236}">
                <a16:creationId xmlns:a16="http://schemas.microsoft.com/office/drawing/2014/main" id="{376E7A99-B502-4054-9C2C-BAF18E5E5171}"/>
              </a:ext>
              <a:ext uri="{C183D7F6-B498-43B3-948B-1728B52AA6E4}">
                <adec:decorative xmlns:adec="http://schemas.microsoft.com/office/drawing/2017/decorative" val="1"/>
              </a:ext>
            </a:extLst>
          </p:cNvPr>
          <p:cNvCxnSpPr>
            <a:cxnSpLocks/>
          </p:cNvCxnSpPr>
          <p:nvPr/>
        </p:nvCxnSpPr>
        <p:spPr>
          <a:xfrm>
            <a:off x="571500" y="5214303"/>
            <a:ext cx="11031538" cy="0"/>
          </a:xfrm>
          <a:prstGeom prst="line">
            <a:avLst/>
          </a:prstGeom>
          <a:noFill/>
          <a:ln w="12700" cap="flat" cmpd="sng" algn="ctr">
            <a:solidFill>
              <a:schemeClr val="accent2"/>
            </a:solidFill>
            <a:prstDash val="solid"/>
            <a:headEnd type="none" w="lg" len="med"/>
            <a:tailEnd type="none" w="lg" len="med"/>
          </a:ln>
          <a:effectLst/>
        </p:spPr>
      </p:cxnSp>
      <p:grpSp>
        <p:nvGrpSpPr>
          <p:cNvPr id="6" name="Group 5">
            <a:extLst>
              <a:ext uri="{FF2B5EF4-FFF2-40B4-BE49-F238E27FC236}">
                <a16:creationId xmlns:a16="http://schemas.microsoft.com/office/drawing/2014/main" id="{712EAA30-0D82-4470-B816-03E60E1EF15F}"/>
              </a:ext>
            </a:extLst>
          </p:cNvPr>
          <p:cNvGrpSpPr/>
          <p:nvPr/>
        </p:nvGrpSpPr>
        <p:grpSpPr>
          <a:xfrm>
            <a:off x="571500" y="2740193"/>
            <a:ext cx="2316603" cy="2806533"/>
            <a:chOff x="571500" y="2740193"/>
            <a:chExt cx="2316603" cy="2806533"/>
          </a:xfrm>
        </p:grpSpPr>
        <p:sp>
          <p:nvSpPr>
            <p:cNvPr id="75" name="Rectangle 74">
              <a:extLst>
                <a:ext uri="{FF2B5EF4-FFF2-40B4-BE49-F238E27FC236}">
                  <a16:creationId xmlns:a16="http://schemas.microsoft.com/office/drawing/2014/main" id="{D521F3AE-02DA-4716-8E81-BCE211F1FA3F}"/>
                </a:ext>
              </a:extLst>
            </p:cNvPr>
            <p:cNvSpPr/>
            <p:nvPr/>
          </p:nvSpPr>
          <p:spPr>
            <a:xfrm>
              <a:off x="571500" y="2740193"/>
              <a:ext cx="2316603" cy="1938992"/>
            </a:xfrm>
            <a:prstGeom prst="rect">
              <a:avLst/>
            </a:prstGeom>
            <a:noFill/>
          </p:spPr>
          <p:txBody>
            <a:bodyPr wrap="square" lIns="0" tIns="0" rIns="0" bIns="0">
              <a:spAutoFit/>
            </a:bodyPr>
            <a:lstStyle/>
            <a:p>
              <a:pPr defTabSz="914224" fontAlgn="base">
                <a:spcAft>
                  <a:spcPts val="200"/>
                </a:spcAft>
                <a:defRPr/>
              </a:pPr>
              <a:r>
                <a:rPr lang="en-US" dirty="0">
                  <a:ea typeface="Times New Roman" panose="02020603050405020304" pitchFamily="18" charset="0"/>
                  <a:cs typeface="Times New Roman" panose="02020603050405020304" pitchFamily="18" charset="0"/>
                </a:rPr>
                <a:t>How Kubernetes abstracts or hides underlying disk storage implementations from applications running inside Pods.</a:t>
              </a:r>
            </a:p>
          </p:txBody>
        </p:sp>
        <p:grpSp>
          <p:nvGrpSpPr>
            <p:cNvPr id="122" name="Group 121" descr="Icon of a person with a box around them">
              <a:extLst>
                <a:ext uri="{FF2B5EF4-FFF2-40B4-BE49-F238E27FC236}">
                  <a16:creationId xmlns:a16="http://schemas.microsoft.com/office/drawing/2014/main" id="{702961B0-EEBA-47B9-8957-73784E6E72CF}"/>
                </a:ext>
              </a:extLst>
            </p:cNvPr>
            <p:cNvGrpSpPr>
              <a:grpSpLocks/>
            </p:cNvGrpSpPr>
            <p:nvPr/>
          </p:nvGrpSpPr>
          <p:grpSpPr>
            <a:xfrm>
              <a:off x="2231789" y="4890415"/>
              <a:ext cx="656314" cy="656311"/>
              <a:chOff x="4850654" y="510655"/>
              <a:chExt cx="751672" cy="751672"/>
            </a:xfrm>
          </p:grpSpPr>
          <p:sp>
            <p:nvSpPr>
              <p:cNvPr id="123" name="Oval 122">
                <a:extLst>
                  <a:ext uri="{FF2B5EF4-FFF2-40B4-BE49-F238E27FC236}">
                    <a16:creationId xmlns:a16="http://schemas.microsoft.com/office/drawing/2014/main" id="{94644C06-1E5A-4880-AF33-FC37A83D58CD}"/>
                  </a:ext>
                  <a:ext uri="{C183D7F6-B498-43B3-948B-1728B52AA6E4}">
                    <adec:decorative xmlns:adec="http://schemas.microsoft.com/office/drawing/2017/decorative" val="1"/>
                  </a:ext>
                </a:extLst>
              </p:cNvPr>
              <p:cNvSpPr/>
              <p:nvPr/>
            </p:nvSpPr>
            <p:spPr bwMode="auto">
              <a:xfrm>
                <a:off x="4850654" y="510655"/>
                <a:ext cx="751672" cy="751672"/>
              </a:xfrm>
              <a:prstGeom prst="ellipse">
                <a:avLst/>
              </a:prstGeom>
              <a:solidFill>
                <a:schemeClr val="bg1"/>
              </a:solidFill>
              <a:ln>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24" name="people_5">
                <a:extLst>
                  <a:ext uri="{FF2B5EF4-FFF2-40B4-BE49-F238E27FC236}">
                    <a16:creationId xmlns:a16="http://schemas.microsoft.com/office/drawing/2014/main" id="{42BF7F76-EE8F-4FD6-AFAB-B3C918F2B584}"/>
                  </a:ext>
                  <a:ext uri="{C183D7F6-B498-43B3-948B-1728B52AA6E4}">
                    <adec:decorative xmlns:adec="http://schemas.microsoft.com/office/drawing/2017/decorative" val="1"/>
                  </a:ext>
                </a:extLst>
              </p:cNvPr>
              <p:cNvSpPr>
                <a:spLocks noChangeAspect="1" noEditPoints="1"/>
              </p:cNvSpPr>
              <p:nvPr/>
            </p:nvSpPr>
            <p:spPr bwMode="auto">
              <a:xfrm>
                <a:off x="5049032" y="709738"/>
                <a:ext cx="354917" cy="353507"/>
              </a:xfrm>
              <a:custGeom>
                <a:avLst/>
                <a:gdLst>
                  <a:gd name="T0" fmla="*/ 90 w 347"/>
                  <a:gd name="T1" fmla="*/ 124 h 347"/>
                  <a:gd name="T2" fmla="*/ 175 w 347"/>
                  <a:gd name="T3" fmla="*/ 39 h 347"/>
                  <a:gd name="T4" fmla="*/ 260 w 347"/>
                  <a:gd name="T5" fmla="*/ 124 h 347"/>
                  <a:gd name="T6" fmla="*/ 175 w 347"/>
                  <a:gd name="T7" fmla="*/ 209 h 347"/>
                  <a:gd name="T8" fmla="*/ 90 w 347"/>
                  <a:gd name="T9" fmla="*/ 124 h 347"/>
                  <a:gd name="T10" fmla="*/ 325 w 347"/>
                  <a:gd name="T11" fmla="*/ 347 h 347"/>
                  <a:gd name="T12" fmla="*/ 347 w 347"/>
                  <a:gd name="T13" fmla="*/ 347 h 347"/>
                  <a:gd name="T14" fmla="*/ 347 w 347"/>
                  <a:gd name="T15" fmla="*/ 0 h 347"/>
                  <a:gd name="T16" fmla="*/ 0 w 347"/>
                  <a:gd name="T17" fmla="*/ 0 h 347"/>
                  <a:gd name="T18" fmla="*/ 0 w 347"/>
                  <a:gd name="T19" fmla="*/ 347 h 347"/>
                  <a:gd name="T20" fmla="*/ 19 w 347"/>
                  <a:gd name="T21" fmla="*/ 347 h 347"/>
                  <a:gd name="T22" fmla="*/ 36 w 347"/>
                  <a:gd name="T23" fmla="*/ 347 h 347"/>
                  <a:gd name="T24" fmla="*/ 174 w 347"/>
                  <a:gd name="T25" fmla="*/ 209 h 347"/>
                  <a:gd name="T26" fmla="*/ 311 w 347"/>
                  <a:gd name="T27" fmla="*/ 347 h 347"/>
                  <a:gd name="T28" fmla="*/ 325 w 347"/>
                  <a:gd name="T29" fmla="*/ 347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47" h="347">
                    <a:moveTo>
                      <a:pt x="90" y="124"/>
                    </a:moveTo>
                    <a:cubicBezTo>
                      <a:pt x="90" y="77"/>
                      <a:pt x="128" y="39"/>
                      <a:pt x="175" y="39"/>
                    </a:cubicBezTo>
                    <a:cubicBezTo>
                      <a:pt x="222" y="39"/>
                      <a:pt x="260" y="77"/>
                      <a:pt x="260" y="124"/>
                    </a:cubicBezTo>
                    <a:cubicBezTo>
                      <a:pt x="260" y="171"/>
                      <a:pt x="222" y="209"/>
                      <a:pt x="175" y="209"/>
                    </a:cubicBezTo>
                    <a:cubicBezTo>
                      <a:pt x="128" y="209"/>
                      <a:pt x="90" y="171"/>
                      <a:pt x="90" y="124"/>
                    </a:cubicBezTo>
                    <a:close/>
                    <a:moveTo>
                      <a:pt x="325" y="347"/>
                    </a:moveTo>
                    <a:cubicBezTo>
                      <a:pt x="347" y="347"/>
                      <a:pt x="347" y="347"/>
                      <a:pt x="347" y="347"/>
                    </a:cubicBezTo>
                    <a:cubicBezTo>
                      <a:pt x="347" y="0"/>
                      <a:pt x="347" y="0"/>
                      <a:pt x="347" y="0"/>
                    </a:cubicBezTo>
                    <a:cubicBezTo>
                      <a:pt x="0" y="0"/>
                      <a:pt x="0" y="0"/>
                      <a:pt x="0" y="0"/>
                    </a:cubicBezTo>
                    <a:cubicBezTo>
                      <a:pt x="0" y="347"/>
                      <a:pt x="0" y="347"/>
                      <a:pt x="0" y="347"/>
                    </a:cubicBezTo>
                    <a:cubicBezTo>
                      <a:pt x="19" y="347"/>
                      <a:pt x="19" y="347"/>
                      <a:pt x="19" y="347"/>
                    </a:cubicBezTo>
                    <a:cubicBezTo>
                      <a:pt x="36" y="347"/>
                      <a:pt x="36" y="347"/>
                      <a:pt x="36" y="347"/>
                    </a:cubicBezTo>
                    <a:cubicBezTo>
                      <a:pt x="36" y="271"/>
                      <a:pt x="98" y="209"/>
                      <a:pt x="174" y="209"/>
                    </a:cubicBezTo>
                    <a:cubicBezTo>
                      <a:pt x="249" y="209"/>
                      <a:pt x="311" y="271"/>
                      <a:pt x="311" y="347"/>
                    </a:cubicBezTo>
                    <a:lnTo>
                      <a:pt x="325" y="347"/>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grpSp>
      </p:grpSp>
      <p:grpSp>
        <p:nvGrpSpPr>
          <p:cNvPr id="5" name="Group 4">
            <a:extLst>
              <a:ext uri="{FF2B5EF4-FFF2-40B4-BE49-F238E27FC236}">
                <a16:creationId xmlns:a16="http://schemas.microsoft.com/office/drawing/2014/main" id="{8FCF99D1-8603-4229-A10D-C9FCC2123D75}"/>
              </a:ext>
            </a:extLst>
          </p:cNvPr>
          <p:cNvGrpSpPr/>
          <p:nvPr/>
        </p:nvGrpSpPr>
        <p:grpSpPr>
          <a:xfrm>
            <a:off x="3185201" y="2740193"/>
            <a:ext cx="2613701" cy="2806533"/>
            <a:chOff x="3185201" y="2740193"/>
            <a:chExt cx="2613701" cy="2806533"/>
          </a:xfrm>
        </p:grpSpPr>
        <p:cxnSp>
          <p:nvCxnSpPr>
            <p:cNvPr id="140" name="Straight Connector 139">
              <a:extLst>
                <a:ext uri="{FF2B5EF4-FFF2-40B4-BE49-F238E27FC236}">
                  <a16:creationId xmlns:a16="http://schemas.microsoft.com/office/drawing/2014/main" id="{594D34D9-A54F-4124-BA8E-155CD0796BBC}"/>
                </a:ext>
                <a:ext uri="{C183D7F6-B498-43B3-948B-1728B52AA6E4}">
                  <adec:decorative xmlns:adec="http://schemas.microsoft.com/office/drawing/2017/decorative" val="1"/>
                </a:ext>
              </a:extLst>
            </p:cNvPr>
            <p:cNvCxnSpPr>
              <a:cxnSpLocks/>
            </p:cNvCxnSpPr>
            <p:nvPr/>
          </p:nvCxnSpPr>
          <p:spPr>
            <a:xfrm>
              <a:off x="3185201" y="2740193"/>
              <a:ext cx="0" cy="1938992"/>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55" name="Rectangle 154">
              <a:extLst>
                <a:ext uri="{FF2B5EF4-FFF2-40B4-BE49-F238E27FC236}">
                  <a16:creationId xmlns:a16="http://schemas.microsoft.com/office/drawing/2014/main" id="{157E8BE0-257A-45ED-AB34-50EDBFCF2AD9}"/>
                </a:ext>
              </a:extLst>
            </p:cNvPr>
            <p:cNvSpPr/>
            <p:nvPr/>
          </p:nvSpPr>
          <p:spPr>
            <a:xfrm>
              <a:off x="3482299" y="2740193"/>
              <a:ext cx="2316603" cy="1661993"/>
            </a:xfrm>
            <a:prstGeom prst="rect">
              <a:avLst/>
            </a:prstGeom>
            <a:noFill/>
          </p:spPr>
          <p:txBody>
            <a:bodyPr wrap="square" lIns="0" tIns="0" rIns="0" bIns="0">
              <a:spAutoFit/>
            </a:bodyPr>
            <a:lstStyle/>
            <a:p>
              <a:pPr defTabSz="914224" fontAlgn="base">
                <a:spcAft>
                  <a:spcPts val="200"/>
                </a:spcAft>
                <a:defRPr/>
              </a:pPr>
              <a:r>
                <a:rPr lang="en-US" dirty="0">
                  <a:ea typeface="Times New Roman" panose="02020603050405020304" pitchFamily="18" charset="0"/>
                  <a:cs typeface="Times New Roman" panose="02020603050405020304" pitchFamily="18" charset="0"/>
                </a:rPr>
                <a:t>How to create disk storage that can be attached to Pods so applications running inside containers can read/write data.</a:t>
              </a:r>
            </a:p>
          </p:txBody>
        </p:sp>
        <p:grpSp>
          <p:nvGrpSpPr>
            <p:cNvPr id="173" name="Group 172" descr="Icon of a person wearing a headset">
              <a:extLst>
                <a:ext uri="{FF2B5EF4-FFF2-40B4-BE49-F238E27FC236}">
                  <a16:creationId xmlns:a16="http://schemas.microsoft.com/office/drawing/2014/main" id="{A2A27087-1681-4B2D-87E1-116A3365C347}"/>
                </a:ext>
              </a:extLst>
            </p:cNvPr>
            <p:cNvGrpSpPr>
              <a:grpSpLocks/>
            </p:cNvGrpSpPr>
            <p:nvPr/>
          </p:nvGrpSpPr>
          <p:grpSpPr>
            <a:xfrm>
              <a:off x="5142588" y="4890415"/>
              <a:ext cx="656314" cy="656311"/>
              <a:chOff x="4850654" y="1468393"/>
              <a:chExt cx="751672" cy="751672"/>
            </a:xfrm>
          </p:grpSpPr>
          <p:sp>
            <p:nvSpPr>
              <p:cNvPr id="174" name="Oval 173">
                <a:extLst>
                  <a:ext uri="{FF2B5EF4-FFF2-40B4-BE49-F238E27FC236}">
                    <a16:creationId xmlns:a16="http://schemas.microsoft.com/office/drawing/2014/main" id="{412DC491-22AC-4A6D-B3A8-64A23F8112D2}"/>
                  </a:ext>
                  <a:ext uri="{C183D7F6-B498-43B3-948B-1728B52AA6E4}">
                    <adec:decorative xmlns:adec="http://schemas.microsoft.com/office/drawing/2017/decorative" val="1"/>
                  </a:ext>
                </a:extLst>
              </p:cNvPr>
              <p:cNvSpPr>
                <a:spLocks/>
              </p:cNvSpPr>
              <p:nvPr/>
            </p:nvSpPr>
            <p:spPr bwMode="auto">
              <a:xfrm>
                <a:off x="4850654" y="1468393"/>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75" name="Telemarketer_E7B9">
                <a:extLst>
                  <a:ext uri="{FF2B5EF4-FFF2-40B4-BE49-F238E27FC236}">
                    <a16:creationId xmlns:a16="http://schemas.microsoft.com/office/drawing/2014/main" id="{7C2E0D0C-F69B-4C27-9BB2-A7FC9E4CBFF3}"/>
                  </a:ext>
                  <a:ext uri="{C183D7F6-B498-43B3-948B-1728B52AA6E4}">
                    <adec:decorative xmlns:adec="http://schemas.microsoft.com/office/drawing/2017/decorative" val="1"/>
                  </a:ext>
                </a:extLst>
              </p:cNvPr>
              <p:cNvSpPr>
                <a:spLocks noChangeAspect="1" noEditPoints="1"/>
              </p:cNvSpPr>
              <p:nvPr/>
            </p:nvSpPr>
            <p:spPr bwMode="auto">
              <a:xfrm>
                <a:off x="5076466" y="1665306"/>
                <a:ext cx="300048" cy="357846"/>
              </a:xfrm>
              <a:custGeom>
                <a:avLst/>
                <a:gdLst>
                  <a:gd name="T0" fmla="*/ 0 w 3250"/>
                  <a:gd name="T1" fmla="*/ 3875 h 3875"/>
                  <a:gd name="T2" fmla="*/ 1625 w 3250"/>
                  <a:gd name="T3" fmla="*/ 2250 h 3875"/>
                  <a:gd name="T4" fmla="*/ 3250 w 3250"/>
                  <a:gd name="T5" fmla="*/ 3875 h 3875"/>
                  <a:gd name="T6" fmla="*/ 750 w 3250"/>
                  <a:gd name="T7" fmla="*/ 1750 h 3875"/>
                  <a:gd name="T8" fmla="*/ 750 w 3250"/>
                  <a:gd name="T9" fmla="*/ 750 h 3875"/>
                  <a:gd name="T10" fmla="*/ 500 w 3250"/>
                  <a:gd name="T11" fmla="*/ 500 h 3875"/>
                  <a:gd name="T12" fmla="*/ 250 w 3250"/>
                  <a:gd name="T13" fmla="*/ 750 h 3875"/>
                  <a:gd name="T14" fmla="*/ 250 w 3250"/>
                  <a:gd name="T15" fmla="*/ 1500 h 3875"/>
                  <a:gd name="T16" fmla="*/ 500 w 3250"/>
                  <a:gd name="T17" fmla="*/ 1750 h 3875"/>
                  <a:gd name="T18" fmla="*/ 1500 w 3250"/>
                  <a:gd name="T19" fmla="*/ 1750 h 3875"/>
                  <a:gd name="T20" fmla="*/ 690 w 3250"/>
                  <a:gd name="T21" fmla="*/ 1751 h 3875"/>
                  <a:gd name="T22" fmla="*/ 1625 w 3250"/>
                  <a:gd name="T23" fmla="*/ 2250 h 3875"/>
                  <a:gd name="T24" fmla="*/ 2750 w 3250"/>
                  <a:gd name="T25" fmla="*/ 1125 h 3875"/>
                  <a:gd name="T26" fmla="*/ 1625 w 3250"/>
                  <a:gd name="T27" fmla="*/ 0 h 3875"/>
                  <a:gd name="T28" fmla="*/ 689 w 3250"/>
                  <a:gd name="T29" fmla="*/ 500 h 38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50" h="3875">
                    <a:moveTo>
                      <a:pt x="0" y="3875"/>
                    </a:moveTo>
                    <a:cubicBezTo>
                      <a:pt x="0" y="2978"/>
                      <a:pt x="728" y="2250"/>
                      <a:pt x="1625" y="2250"/>
                    </a:cubicBezTo>
                    <a:cubicBezTo>
                      <a:pt x="2522" y="2250"/>
                      <a:pt x="3250" y="2978"/>
                      <a:pt x="3250" y="3875"/>
                    </a:cubicBezTo>
                    <a:moveTo>
                      <a:pt x="750" y="1750"/>
                    </a:moveTo>
                    <a:cubicBezTo>
                      <a:pt x="750" y="750"/>
                      <a:pt x="750" y="750"/>
                      <a:pt x="750" y="750"/>
                    </a:cubicBezTo>
                    <a:cubicBezTo>
                      <a:pt x="750" y="612"/>
                      <a:pt x="638" y="500"/>
                      <a:pt x="500" y="500"/>
                    </a:cubicBezTo>
                    <a:cubicBezTo>
                      <a:pt x="362" y="500"/>
                      <a:pt x="250" y="612"/>
                      <a:pt x="250" y="750"/>
                    </a:cubicBezTo>
                    <a:cubicBezTo>
                      <a:pt x="250" y="1500"/>
                      <a:pt x="250" y="1500"/>
                      <a:pt x="250" y="1500"/>
                    </a:cubicBezTo>
                    <a:cubicBezTo>
                      <a:pt x="250" y="1638"/>
                      <a:pt x="362" y="1750"/>
                      <a:pt x="500" y="1750"/>
                    </a:cubicBezTo>
                    <a:cubicBezTo>
                      <a:pt x="1500" y="1750"/>
                      <a:pt x="1500" y="1750"/>
                      <a:pt x="1500" y="1750"/>
                    </a:cubicBezTo>
                    <a:moveTo>
                      <a:pt x="690" y="1751"/>
                    </a:moveTo>
                    <a:cubicBezTo>
                      <a:pt x="892" y="2052"/>
                      <a:pt x="1235" y="2250"/>
                      <a:pt x="1625" y="2250"/>
                    </a:cubicBezTo>
                    <a:cubicBezTo>
                      <a:pt x="2246" y="2250"/>
                      <a:pt x="2750" y="1746"/>
                      <a:pt x="2750" y="1125"/>
                    </a:cubicBezTo>
                    <a:cubicBezTo>
                      <a:pt x="2750" y="504"/>
                      <a:pt x="2246" y="0"/>
                      <a:pt x="1625" y="0"/>
                    </a:cubicBezTo>
                    <a:cubicBezTo>
                      <a:pt x="1235" y="0"/>
                      <a:pt x="891" y="199"/>
                      <a:pt x="689" y="500"/>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grpSp>
        <p:nvGrpSpPr>
          <p:cNvPr id="3" name="Group 2">
            <a:extLst>
              <a:ext uri="{FF2B5EF4-FFF2-40B4-BE49-F238E27FC236}">
                <a16:creationId xmlns:a16="http://schemas.microsoft.com/office/drawing/2014/main" id="{940D0125-9918-41B5-A494-E8DF6585BF4C}"/>
              </a:ext>
            </a:extLst>
          </p:cNvPr>
          <p:cNvGrpSpPr/>
          <p:nvPr/>
        </p:nvGrpSpPr>
        <p:grpSpPr>
          <a:xfrm>
            <a:off x="6096000" y="2740193"/>
            <a:ext cx="2613701" cy="2806533"/>
            <a:chOff x="6096000" y="2740193"/>
            <a:chExt cx="2613701" cy="2806533"/>
          </a:xfrm>
        </p:grpSpPr>
        <p:cxnSp>
          <p:nvCxnSpPr>
            <p:cNvPr id="187" name="Straight Connector 186">
              <a:extLst>
                <a:ext uri="{FF2B5EF4-FFF2-40B4-BE49-F238E27FC236}">
                  <a16:creationId xmlns:a16="http://schemas.microsoft.com/office/drawing/2014/main" id="{96DA2106-45CC-42DE-AE3C-C5187C2EC187}"/>
                </a:ext>
                <a:ext uri="{C183D7F6-B498-43B3-948B-1728B52AA6E4}">
                  <adec:decorative xmlns:adec="http://schemas.microsoft.com/office/drawing/2017/decorative" val="1"/>
                </a:ext>
              </a:extLst>
            </p:cNvPr>
            <p:cNvCxnSpPr>
              <a:cxnSpLocks/>
            </p:cNvCxnSpPr>
            <p:nvPr/>
          </p:nvCxnSpPr>
          <p:spPr>
            <a:xfrm>
              <a:off x="6096000" y="2740193"/>
              <a:ext cx="0" cy="1938992"/>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98" name="Rectangle 197">
              <a:extLst>
                <a:ext uri="{FF2B5EF4-FFF2-40B4-BE49-F238E27FC236}">
                  <a16:creationId xmlns:a16="http://schemas.microsoft.com/office/drawing/2014/main" id="{89DA1F94-0267-4937-B0EB-354553751953}"/>
                </a:ext>
              </a:extLst>
            </p:cNvPr>
            <p:cNvSpPr/>
            <p:nvPr/>
          </p:nvSpPr>
          <p:spPr>
            <a:xfrm>
              <a:off x="6393098" y="2740193"/>
              <a:ext cx="2316603" cy="1384995"/>
            </a:xfrm>
            <a:prstGeom prst="rect">
              <a:avLst/>
            </a:prstGeom>
            <a:noFill/>
          </p:spPr>
          <p:txBody>
            <a:bodyPr wrap="square" lIns="0" tIns="0" rIns="0" bIns="0">
              <a:spAutoFit/>
            </a:bodyPr>
            <a:lstStyle/>
            <a:p>
              <a:pPr defTabSz="914224" fontAlgn="base">
                <a:spcAft>
                  <a:spcPts val="200"/>
                </a:spcAft>
                <a:defRPr/>
              </a:pPr>
              <a:r>
                <a:rPr lang="en-US" dirty="0">
                  <a:ea typeface="Times New Roman" panose="02020603050405020304" pitchFamily="18" charset="0"/>
                  <a:cs typeface="Times New Roman" panose="02020603050405020304" pitchFamily="18" charset="0"/>
                </a:rPr>
                <a:t>The storage options that are available in Azure, how these work and how to manage them.</a:t>
              </a:r>
            </a:p>
          </p:txBody>
        </p:sp>
        <p:grpSp>
          <p:nvGrpSpPr>
            <p:cNvPr id="209" name="Group 208" descr="Icon of three people with an arrow above them pointing down">
              <a:extLst>
                <a:ext uri="{FF2B5EF4-FFF2-40B4-BE49-F238E27FC236}">
                  <a16:creationId xmlns:a16="http://schemas.microsoft.com/office/drawing/2014/main" id="{8B1DCB89-7AA3-4C66-995D-D1902E3F06C5}"/>
                </a:ext>
              </a:extLst>
            </p:cNvPr>
            <p:cNvGrpSpPr>
              <a:grpSpLocks/>
            </p:cNvGrpSpPr>
            <p:nvPr/>
          </p:nvGrpSpPr>
          <p:grpSpPr>
            <a:xfrm>
              <a:off x="8053387" y="4890415"/>
              <a:ext cx="656314" cy="656311"/>
              <a:chOff x="4850654" y="2426131"/>
              <a:chExt cx="751672" cy="751672"/>
            </a:xfrm>
          </p:grpSpPr>
          <p:sp>
            <p:nvSpPr>
              <p:cNvPr id="210" name="Oval 209">
                <a:extLst>
                  <a:ext uri="{FF2B5EF4-FFF2-40B4-BE49-F238E27FC236}">
                    <a16:creationId xmlns:a16="http://schemas.microsoft.com/office/drawing/2014/main" id="{5DE676EE-3A8D-48EB-9CAC-F9A2EC4D2617}"/>
                  </a:ext>
                  <a:ext uri="{C183D7F6-B498-43B3-948B-1728B52AA6E4}">
                    <adec:decorative xmlns:adec="http://schemas.microsoft.com/office/drawing/2017/decorative" val="1"/>
                  </a:ext>
                </a:extLst>
              </p:cNvPr>
              <p:cNvSpPr>
                <a:spLocks/>
              </p:cNvSpPr>
              <p:nvPr/>
            </p:nvSpPr>
            <p:spPr bwMode="auto">
              <a:xfrm>
                <a:off x="4850654" y="2426131"/>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11" name="people_2">
                <a:extLst>
                  <a:ext uri="{FF2B5EF4-FFF2-40B4-BE49-F238E27FC236}">
                    <a16:creationId xmlns:a16="http://schemas.microsoft.com/office/drawing/2014/main" id="{E6DBAC5C-6B90-414F-8BD0-7D63B25582E8}"/>
                  </a:ext>
                  <a:ext uri="{C183D7F6-B498-43B3-948B-1728B52AA6E4}">
                    <adec:decorative xmlns:adec="http://schemas.microsoft.com/office/drawing/2017/decorative" val="1"/>
                  </a:ext>
                </a:extLst>
              </p:cNvPr>
              <p:cNvSpPr>
                <a:spLocks noChangeAspect="1" noEditPoints="1"/>
              </p:cNvSpPr>
              <p:nvPr/>
            </p:nvSpPr>
            <p:spPr bwMode="auto">
              <a:xfrm>
                <a:off x="5012763" y="2567269"/>
                <a:ext cx="427455" cy="469397"/>
              </a:xfrm>
              <a:custGeom>
                <a:avLst/>
                <a:gdLst>
                  <a:gd name="T0" fmla="*/ 95 w 298"/>
                  <a:gd name="T1" fmla="*/ 198 h 328"/>
                  <a:gd name="T2" fmla="*/ 149 w 298"/>
                  <a:gd name="T3" fmla="*/ 143 h 328"/>
                  <a:gd name="T4" fmla="*/ 203 w 298"/>
                  <a:gd name="T5" fmla="*/ 198 h 328"/>
                  <a:gd name="T6" fmla="*/ 149 w 298"/>
                  <a:gd name="T7" fmla="*/ 252 h 328"/>
                  <a:gd name="T8" fmla="*/ 95 w 298"/>
                  <a:gd name="T9" fmla="*/ 198 h 328"/>
                  <a:gd name="T10" fmla="*/ 225 w 298"/>
                  <a:gd name="T11" fmla="*/ 328 h 328"/>
                  <a:gd name="T12" fmla="*/ 149 w 298"/>
                  <a:gd name="T13" fmla="*/ 252 h 328"/>
                  <a:gd name="T14" fmla="*/ 73 w 298"/>
                  <a:gd name="T15" fmla="*/ 328 h 328"/>
                  <a:gd name="T16" fmla="*/ 47 w 298"/>
                  <a:gd name="T17" fmla="*/ 146 h 328"/>
                  <a:gd name="T18" fmla="*/ 81 w 298"/>
                  <a:gd name="T19" fmla="*/ 112 h 328"/>
                  <a:gd name="T20" fmla="*/ 47 w 298"/>
                  <a:gd name="T21" fmla="*/ 78 h 328"/>
                  <a:gd name="T22" fmla="*/ 13 w 298"/>
                  <a:gd name="T23" fmla="*/ 112 h 328"/>
                  <a:gd name="T24" fmla="*/ 47 w 298"/>
                  <a:gd name="T25" fmla="*/ 146 h 328"/>
                  <a:gd name="T26" fmla="*/ 95 w 298"/>
                  <a:gd name="T27" fmla="*/ 193 h 328"/>
                  <a:gd name="T28" fmla="*/ 47 w 298"/>
                  <a:gd name="T29" fmla="*/ 146 h 328"/>
                  <a:gd name="T30" fmla="*/ 0 w 298"/>
                  <a:gd name="T31" fmla="*/ 193 h 328"/>
                  <a:gd name="T32" fmla="*/ 251 w 298"/>
                  <a:gd name="T33" fmla="*/ 146 h 328"/>
                  <a:gd name="T34" fmla="*/ 285 w 298"/>
                  <a:gd name="T35" fmla="*/ 112 h 328"/>
                  <a:gd name="T36" fmla="*/ 251 w 298"/>
                  <a:gd name="T37" fmla="*/ 78 h 328"/>
                  <a:gd name="T38" fmla="*/ 217 w 298"/>
                  <a:gd name="T39" fmla="*/ 112 h 328"/>
                  <a:gd name="T40" fmla="*/ 251 w 298"/>
                  <a:gd name="T41" fmla="*/ 146 h 328"/>
                  <a:gd name="T42" fmla="*/ 298 w 298"/>
                  <a:gd name="T43" fmla="*/ 193 h 328"/>
                  <a:gd name="T44" fmla="*/ 251 w 298"/>
                  <a:gd name="T45" fmla="*/ 146 h 328"/>
                  <a:gd name="T46" fmla="*/ 203 w 298"/>
                  <a:gd name="T47" fmla="*/ 193 h 328"/>
                  <a:gd name="T48" fmla="*/ 149 w 298"/>
                  <a:gd name="T49" fmla="*/ 0 h 328"/>
                  <a:gd name="T50" fmla="*/ 149 w 298"/>
                  <a:gd name="T51" fmla="*/ 80 h 328"/>
                  <a:gd name="T52" fmla="*/ 104 w 298"/>
                  <a:gd name="T53" fmla="*/ 35 h 328"/>
                  <a:gd name="T54" fmla="*/ 149 w 298"/>
                  <a:gd name="T55" fmla="*/ 80 h 328"/>
                  <a:gd name="T56" fmla="*/ 194 w 298"/>
                  <a:gd name="T57" fmla="*/ 35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98" h="328">
                    <a:moveTo>
                      <a:pt x="95" y="198"/>
                    </a:moveTo>
                    <a:cubicBezTo>
                      <a:pt x="95" y="168"/>
                      <a:pt x="119" y="143"/>
                      <a:pt x="149" y="143"/>
                    </a:cubicBezTo>
                    <a:cubicBezTo>
                      <a:pt x="179" y="143"/>
                      <a:pt x="203" y="168"/>
                      <a:pt x="203" y="198"/>
                    </a:cubicBezTo>
                    <a:cubicBezTo>
                      <a:pt x="203" y="228"/>
                      <a:pt x="179" y="252"/>
                      <a:pt x="149" y="252"/>
                    </a:cubicBezTo>
                    <a:cubicBezTo>
                      <a:pt x="119" y="252"/>
                      <a:pt x="95" y="228"/>
                      <a:pt x="95" y="198"/>
                    </a:cubicBezTo>
                    <a:close/>
                    <a:moveTo>
                      <a:pt x="225" y="328"/>
                    </a:moveTo>
                    <a:cubicBezTo>
                      <a:pt x="225" y="286"/>
                      <a:pt x="191" y="252"/>
                      <a:pt x="149" y="252"/>
                    </a:cubicBezTo>
                    <a:cubicBezTo>
                      <a:pt x="107" y="252"/>
                      <a:pt x="73" y="286"/>
                      <a:pt x="73" y="328"/>
                    </a:cubicBezTo>
                    <a:moveTo>
                      <a:pt x="47" y="146"/>
                    </a:moveTo>
                    <a:cubicBezTo>
                      <a:pt x="66" y="146"/>
                      <a:pt x="81" y="131"/>
                      <a:pt x="81" y="112"/>
                    </a:cubicBezTo>
                    <a:cubicBezTo>
                      <a:pt x="81" y="93"/>
                      <a:pt x="66" y="78"/>
                      <a:pt x="47" y="78"/>
                    </a:cubicBezTo>
                    <a:cubicBezTo>
                      <a:pt x="28" y="78"/>
                      <a:pt x="13" y="93"/>
                      <a:pt x="13" y="112"/>
                    </a:cubicBezTo>
                    <a:cubicBezTo>
                      <a:pt x="13" y="131"/>
                      <a:pt x="28" y="146"/>
                      <a:pt x="47" y="146"/>
                    </a:cubicBezTo>
                    <a:close/>
                    <a:moveTo>
                      <a:pt x="95" y="193"/>
                    </a:moveTo>
                    <a:cubicBezTo>
                      <a:pt x="95" y="167"/>
                      <a:pt x="73" y="146"/>
                      <a:pt x="47" y="146"/>
                    </a:cubicBezTo>
                    <a:cubicBezTo>
                      <a:pt x="21" y="146"/>
                      <a:pt x="0" y="167"/>
                      <a:pt x="0" y="193"/>
                    </a:cubicBezTo>
                    <a:moveTo>
                      <a:pt x="251" y="146"/>
                    </a:moveTo>
                    <a:cubicBezTo>
                      <a:pt x="270" y="146"/>
                      <a:pt x="285" y="131"/>
                      <a:pt x="285" y="112"/>
                    </a:cubicBezTo>
                    <a:cubicBezTo>
                      <a:pt x="285" y="93"/>
                      <a:pt x="270" y="78"/>
                      <a:pt x="251" y="78"/>
                    </a:cubicBezTo>
                    <a:cubicBezTo>
                      <a:pt x="232" y="78"/>
                      <a:pt x="217" y="93"/>
                      <a:pt x="217" y="112"/>
                    </a:cubicBezTo>
                    <a:cubicBezTo>
                      <a:pt x="217" y="131"/>
                      <a:pt x="232" y="146"/>
                      <a:pt x="251" y="146"/>
                    </a:cubicBezTo>
                    <a:close/>
                    <a:moveTo>
                      <a:pt x="298" y="193"/>
                    </a:moveTo>
                    <a:cubicBezTo>
                      <a:pt x="298" y="167"/>
                      <a:pt x="277" y="146"/>
                      <a:pt x="251" y="146"/>
                    </a:cubicBezTo>
                    <a:cubicBezTo>
                      <a:pt x="225" y="146"/>
                      <a:pt x="203" y="167"/>
                      <a:pt x="203" y="193"/>
                    </a:cubicBezTo>
                    <a:moveTo>
                      <a:pt x="149" y="0"/>
                    </a:moveTo>
                    <a:cubicBezTo>
                      <a:pt x="149" y="80"/>
                      <a:pt x="149" y="80"/>
                      <a:pt x="149" y="80"/>
                    </a:cubicBezTo>
                    <a:moveTo>
                      <a:pt x="104" y="35"/>
                    </a:moveTo>
                    <a:cubicBezTo>
                      <a:pt x="149" y="80"/>
                      <a:pt x="149" y="80"/>
                      <a:pt x="149" y="80"/>
                    </a:cubicBezTo>
                    <a:cubicBezTo>
                      <a:pt x="194" y="35"/>
                      <a:pt x="194" y="35"/>
                      <a:pt x="194" y="35"/>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grpSp>
        <p:nvGrpSpPr>
          <p:cNvPr id="2" name="Group 1">
            <a:extLst>
              <a:ext uri="{FF2B5EF4-FFF2-40B4-BE49-F238E27FC236}">
                <a16:creationId xmlns:a16="http://schemas.microsoft.com/office/drawing/2014/main" id="{8B696FA0-67CE-4A24-9D09-45AE8A5DF18E}"/>
              </a:ext>
            </a:extLst>
          </p:cNvPr>
          <p:cNvGrpSpPr/>
          <p:nvPr/>
        </p:nvGrpSpPr>
        <p:grpSpPr>
          <a:xfrm>
            <a:off x="9006799" y="2740193"/>
            <a:ext cx="2613701" cy="2806533"/>
            <a:chOff x="9006799" y="2740193"/>
            <a:chExt cx="2613701" cy="2806533"/>
          </a:xfrm>
        </p:grpSpPr>
        <p:cxnSp>
          <p:nvCxnSpPr>
            <p:cNvPr id="220" name="Straight Connector 219">
              <a:extLst>
                <a:ext uri="{FF2B5EF4-FFF2-40B4-BE49-F238E27FC236}">
                  <a16:creationId xmlns:a16="http://schemas.microsoft.com/office/drawing/2014/main" id="{958418FD-4AD9-4AF0-AD84-999BED91B804}"/>
                </a:ext>
                <a:ext uri="{C183D7F6-B498-43B3-948B-1728B52AA6E4}">
                  <adec:decorative xmlns:adec="http://schemas.microsoft.com/office/drawing/2017/decorative" val="1"/>
                </a:ext>
              </a:extLst>
            </p:cNvPr>
            <p:cNvCxnSpPr>
              <a:cxnSpLocks/>
            </p:cNvCxnSpPr>
            <p:nvPr/>
          </p:nvCxnSpPr>
          <p:spPr>
            <a:xfrm>
              <a:off x="9006799" y="2740193"/>
              <a:ext cx="0" cy="1938992"/>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26" name="Rectangle 225">
              <a:extLst>
                <a:ext uri="{FF2B5EF4-FFF2-40B4-BE49-F238E27FC236}">
                  <a16:creationId xmlns:a16="http://schemas.microsoft.com/office/drawing/2014/main" id="{7576A04A-DB64-4AE2-A020-A9363E3180A2}"/>
                </a:ext>
              </a:extLst>
            </p:cNvPr>
            <p:cNvSpPr/>
            <p:nvPr/>
          </p:nvSpPr>
          <p:spPr>
            <a:xfrm>
              <a:off x="9303897" y="2740193"/>
              <a:ext cx="2316603" cy="1938992"/>
            </a:xfrm>
            <a:prstGeom prst="rect">
              <a:avLst/>
            </a:prstGeom>
            <a:noFill/>
          </p:spPr>
          <p:txBody>
            <a:bodyPr wrap="square" lIns="0" tIns="0" rIns="0" bIns="0">
              <a:spAutoFit/>
            </a:bodyPr>
            <a:lstStyle/>
            <a:p>
              <a:pPr defTabSz="914224" fontAlgn="base">
                <a:spcAft>
                  <a:spcPts val="200"/>
                </a:spcAft>
                <a:defRPr/>
              </a:pPr>
              <a:r>
                <a:rPr lang="en-US" dirty="0">
                  <a:ea typeface="Times New Roman" panose="02020603050405020304" pitchFamily="18" charset="0"/>
                  <a:cs typeface="Times New Roman" panose="02020603050405020304" pitchFamily="18" charset="0"/>
                </a:rPr>
                <a:t>The recommended practices &amp; guidance for application data storage as defined by official Microsoft architecture documentation.</a:t>
              </a:r>
            </a:p>
          </p:txBody>
        </p:sp>
        <p:grpSp>
          <p:nvGrpSpPr>
            <p:cNvPr id="232" name="Group 231" descr="Icon of a dotted line circle made of a curved arrow pointing clockwise">
              <a:extLst>
                <a:ext uri="{FF2B5EF4-FFF2-40B4-BE49-F238E27FC236}">
                  <a16:creationId xmlns:a16="http://schemas.microsoft.com/office/drawing/2014/main" id="{BB3035A0-BC21-4B40-AED1-A6A82C189967}"/>
                </a:ext>
              </a:extLst>
            </p:cNvPr>
            <p:cNvGrpSpPr>
              <a:grpSpLocks/>
            </p:cNvGrpSpPr>
            <p:nvPr/>
          </p:nvGrpSpPr>
          <p:grpSpPr>
            <a:xfrm>
              <a:off x="10964186" y="4890415"/>
              <a:ext cx="656314" cy="656311"/>
              <a:chOff x="5945218" y="3383869"/>
              <a:chExt cx="751672" cy="751672"/>
            </a:xfrm>
          </p:grpSpPr>
          <p:sp>
            <p:nvSpPr>
              <p:cNvPr id="233" name="Oval 232">
                <a:extLst>
                  <a:ext uri="{FF2B5EF4-FFF2-40B4-BE49-F238E27FC236}">
                    <a16:creationId xmlns:a16="http://schemas.microsoft.com/office/drawing/2014/main" id="{224AADF5-0B86-45A3-AC2B-70FE0D390DC8}"/>
                  </a:ext>
                  <a:ext uri="{C183D7F6-B498-43B3-948B-1728B52AA6E4}">
                    <adec:decorative xmlns:adec="http://schemas.microsoft.com/office/drawing/2017/decorative" val="1"/>
                  </a:ext>
                </a:extLst>
              </p:cNvPr>
              <p:cNvSpPr>
                <a:spLocks/>
              </p:cNvSpPr>
              <p:nvPr/>
            </p:nvSpPr>
            <p:spPr bwMode="auto">
              <a:xfrm>
                <a:off x="5945218" y="3383869"/>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34" name="arrow_26">
                <a:extLst>
                  <a:ext uri="{FF2B5EF4-FFF2-40B4-BE49-F238E27FC236}">
                    <a16:creationId xmlns:a16="http://schemas.microsoft.com/office/drawing/2014/main" id="{83FA8140-00D5-4B54-AE34-9770E1C4208F}"/>
                  </a:ext>
                  <a:ext uri="{C183D7F6-B498-43B3-948B-1728B52AA6E4}">
                    <adec:decorative xmlns:adec="http://schemas.microsoft.com/office/drawing/2017/decorative" val="1"/>
                  </a:ext>
                </a:extLst>
              </p:cNvPr>
              <p:cNvSpPr>
                <a:spLocks noChangeAspect="1" noEditPoints="1"/>
              </p:cNvSpPr>
              <p:nvPr/>
            </p:nvSpPr>
            <p:spPr bwMode="auto">
              <a:xfrm>
                <a:off x="6132619" y="3577120"/>
                <a:ext cx="376872" cy="365172"/>
              </a:xfrm>
              <a:custGeom>
                <a:avLst/>
                <a:gdLst>
                  <a:gd name="T0" fmla="*/ 18 w 328"/>
                  <a:gd name="T1" fmla="*/ 80 h 319"/>
                  <a:gd name="T2" fmla="*/ 110 w 328"/>
                  <a:gd name="T3" fmla="*/ 0 h 319"/>
                  <a:gd name="T4" fmla="*/ 8 w 328"/>
                  <a:gd name="T5" fmla="*/ 206 h 319"/>
                  <a:gd name="T6" fmla="*/ 0 w 328"/>
                  <a:gd name="T7" fmla="*/ 155 h 319"/>
                  <a:gd name="T8" fmla="*/ 7 w 328"/>
                  <a:gd name="T9" fmla="*/ 105 h 319"/>
                  <a:gd name="T10" fmla="*/ 88 w 328"/>
                  <a:gd name="T11" fmla="*/ 301 h 319"/>
                  <a:gd name="T12" fmla="*/ 19 w 328"/>
                  <a:gd name="T13" fmla="*/ 232 h 319"/>
                  <a:gd name="T14" fmla="*/ 18 w 328"/>
                  <a:gd name="T15" fmla="*/ 230 h 319"/>
                  <a:gd name="T16" fmla="*/ 213 w 328"/>
                  <a:gd name="T17" fmla="*/ 311 h 319"/>
                  <a:gd name="T18" fmla="*/ 164 w 328"/>
                  <a:gd name="T19" fmla="*/ 319 h 319"/>
                  <a:gd name="T20" fmla="*/ 114 w 328"/>
                  <a:gd name="T21" fmla="*/ 311 h 319"/>
                  <a:gd name="T22" fmla="*/ 309 w 328"/>
                  <a:gd name="T23" fmla="*/ 231 h 319"/>
                  <a:gd name="T24" fmla="*/ 239 w 328"/>
                  <a:gd name="T25" fmla="*/ 301 h 319"/>
                  <a:gd name="T26" fmla="*/ 320 w 328"/>
                  <a:gd name="T27" fmla="*/ 105 h 319"/>
                  <a:gd name="T28" fmla="*/ 328 w 328"/>
                  <a:gd name="T29" fmla="*/ 155 h 319"/>
                  <a:gd name="T30" fmla="*/ 320 w 328"/>
                  <a:gd name="T31" fmla="*/ 204 h 319"/>
                  <a:gd name="T32" fmla="*/ 239 w 328"/>
                  <a:gd name="T33" fmla="*/ 9 h 319"/>
                  <a:gd name="T34" fmla="*/ 310 w 328"/>
                  <a:gd name="T35" fmla="*/ 80 h 319"/>
                  <a:gd name="T36" fmla="*/ 110 w 328"/>
                  <a:gd name="T37" fmla="*/ 75 h 319"/>
                  <a:gd name="T38" fmla="*/ 110 w 328"/>
                  <a:gd name="T39" fmla="*/ 0 h 319"/>
                  <a:gd name="T40" fmla="*/ 36 w 328"/>
                  <a:gd name="T41" fmla="*/ 0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8" h="319">
                    <a:moveTo>
                      <a:pt x="18" y="80"/>
                    </a:moveTo>
                    <a:cubicBezTo>
                      <a:pt x="37" y="43"/>
                      <a:pt x="70" y="14"/>
                      <a:pt x="110" y="0"/>
                    </a:cubicBezTo>
                    <a:moveTo>
                      <a:pt x="8" y="206"/>
                    </a:moveTo>
                    <a:cubicBezTo>
                      <a:pt x="2" y="190"/>
                      <a:pt x="0" y="173"/>
                      <a:pt x="0" y="155"/>
                    </a:cubicBezTo>
                    <a:cubicBezTo>
                      <a:pt x="0" y="138"/>
                      <a:pt x="2" y="121"/>
                      <a:pt x="7" y="105"/>
                    </a:cubicBezTo>
                    <a:moveTo>
                      <a:pt x="88" y="301"/>
                    </a:moveTo>
                    <a:cubicBezTo>
                      <a:pt x="59" y="285"/>
                      <a:pt x="34" y="261"/>
                      <a:pt x="19" y="232"/>
                    </a:cubicBezTo>
                    <a:cubicBezTo>
                      <a:pt x="19" y="231"/>
                      <a:pt x="18" y="231"/>
                      <a:pt x="18" y="230"/>
                    </a:cubicBezTo>
                    <a:moveTo>
                      <a:pt x="213" y="311"/>
                    </a:moveTo>
                    <a:cubicBezTo>
                      <a:pt x="197" y="316"/>
                      <a:pt x="181" y="319"/>
                      <a:pt x="164" y="319"/>
                    </a:cubicBezTo>
                    <a:cubicBezTo>
                      <a:pt x="147" y="319"/>
                      <a:pt x="130" y="316"/>
                      <a:pt x="114" y="311"/>
                    </a:cubicBezTo>
                    <a:moveTo>
                      <a:pt x="309" y="231"/>
                    </a:moveTo>
                    <a:cubicBezTo>
                      <a:pt x="294" y="260"/>
                      <a:pt x="269" y="285"/>
                      <a:pt x="239" y="301"/>
                    </a:cubicBezTo>
                    <a:moveTo>
                      <a:pt x="320" y="105"/>
                    </a:moveTo>
                    <a:cubicBezTo>
                      <a:pt x="325" y="120"/>
                      <a:pt x="328" y="138"/>
                      <a:pt x="328" y="155"/>
                    </a:cubicBezTo>
                    <a:cubicBezTo>
                      <a:pt x="328" y="172"/>
                      <a:pt x="325" y="189"/>
                      <a:pt x="320" y="204"/>
                    </a:cubicBezTo>
                    <a:moveTo>
                      <a:pt x="239" y="9"/>
                    </a:moveTo>
                    <a:cubicBezTo>
                      <a:pt x="269" y="25"/>
                      <a:pt x="294" y="50"/>
                      <a:pt x="310" y="80"/>
                    </a:cubicBezTo>
                    <a:moveTo>
                      <a:pt x="110" y="75"/>
                    </a:moveTo>
                    <a:cubicBezTo>
                      <a:pt x="110" y="0"/>
                      <a:pt x="110" y="0"/>
                      <a:pt x="110" y="0"/>
                    </a:cubicBezTo>
                    <a:cubicBezTo>
                      <a:pt x="36" y="0"/>
                      <a:pt x="36" y="0"/>
                      <a:pt x="36" y="0"/>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grpSp>
      </p:grpSp>
      <p:sp>
        <p:nvSpPr>
          <p:cNvPr id="110" name="Footer Placeholder 7">
            <a:extLst>
              <a:ext uri="{FF2B5EF4-FFF2-40B4-BE49-F238E27FC236}">
                <a16:creationId xmlns:a16="http://schemas.microsoft.com/office/drawing/2014/main" id="{9CAB8FC4-BA4D-40F2-A5E4-7325D132B660}"/>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11" name="Slide Number Placeholder 5">
            <a:extLst>
              <a:ext uri="{FF2B5EF4-FFF2-40B4-BE49-F238E27FC236}">
                <a16:creationId xmlns:a16="http://schemas.microsoft.com/office/drawing/2014/main" id="{6B90DC93-3B04-424D-9759-558344B062B0}"/>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2901160637"/>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E2FDF-A945-74C4-51CC-0DF6800EB4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A09E80-4E48-DC59-78F9-744DBB7A4BAB}"/>
              </a:ext>
            </a:extLst>
          </p:cNvPr>
          <p:cNvSpPr>
            <a:spLocks noGrp="1"/>
          </p:cNvSpPr>
          <p:nvPr>
            <p:ph type="title"/>
          </p:nvPr>
        </p:nvSpPr>
        <p:spPr>
          <a:xfrm>
            <a:off x="575481" y="1085599"/>
            <a:ext cx="4555319" cy="553998"/>
          </a:xfrm>
        </p:spPr>
        <p:txBody>
          <a:bodyPr>
            <a:spAutoFit/>
          </a:bodyPr>
          <a:lstStyle/>
          <a:p>
            <a:r>
              <a:rPr lang="en-US" dirty="0"/>
              <a:t>Storage Concepts</a:t>
            </a:r>
          </a:p>
        </p:txBody>
      </p:sp>
      <p:sp>
        <p:nvSpPr>
          <p:cNvPr id="42" name="Rectangle 41">
            <a:extLst>
              <a:ext uri="{FF2B5EF4-FFF2-40B4-BE49-F238E27FC236}">
                <a16:creationId xmlns:a16="http://schemas.microsoft.com/office/drawing/2014/main" id="{C64A3797-B658-B9A7-BA53-81D3F29D059B}"/>
              </a:ext>
            </a:extLst>
          </p:cNvPr>
          <p:cNvSpPr/>
          <p:nvPr/>
        </p:nvSpPr>
        <p:spPr>
          <a:xfrm>
            <a:off x="571501" y="2262862"/>
            <a:ext cx="4991100" cy="4970591"/>
          </a:xfrm>
          <a:prstGeom prst="rect">
            <a:avLst/>
          </a:prstGeom>
          <a:noFill/>
        </p:spPr>
        <p:txBody>
          <a:bodyPr wrap="square" lIns="0" tIns="0" rIns="0" bIns="0" anchor="t">
            <a:spAutoFit/>
          </a:bodyPr>
          <a:lstStyle/>
          <a:p>
            <a:pPr defTabSz="932563">
              <a:spcBef>
                <a:spcPts val="300"/>
              </a:spcBef>
              <a:spcAft>
                <a:spcPts val="200"/>
              </a:spcAft>
            </a:pPr>
            <a:r>
              <a:rPr lang="en-GB" sz="1600" dirty="0">
                <a:solidFill>
                  <a:schemeClr val="accent6"/>
                </a:solidFill>
                <a:cs typeface="Segoe UI Semibold" panose="020B0702040204020203" pitchFamily="34" charset="0"/>
              </a:rPr>
              <a:t>Application data </a:t>
            </a:r>
            <a:r>
              <a:rPr lang="en-GB" sz="1600" i="1" dirty="0">
                <a:solidFill>
                  <a:schemeClr val="accent6"/>
                </a:solidFill>
                <a:cs typeface="Segoe UI Semibold" panose="020B0702040204020203" pitchFamily="34" charset="0"/>
              </a:rPr>
              <a:t>could</a:t>
            </a:r>
            <a:r>
              <a:rPr lang="en-GB" sz="1600" dirty="0">
                <a:solidFill>
                  <a:schemeClr val="accent6"/>
                </a:solidFill>
                <a:cs typeface="Segoe UI Semibold" panose="020B0702040204020203" pitchFamily="34" charset="0"/>
              </a:rPr>
              <a:t> be stored directly inside a container, but this is a bad practice.</a:t>
            </a:r>
          </a:p>
          <a:p>
            <a:pPr defTabSz="932563">
              <a:spcBef>
                <a:spcPts val="300"/>
              </a:spcBef>
              <a:spcAft>
                <a:spcPts val="200"/>
              </a:spcAft>
            </a:pPr>
            <a:endParaRPr lang="en-GB" sz="1600" dirty="0">
              <a:solidFill>
                <a:schemeClr val="accent6"/>
              </a:solidFill>
              <a:cs typeface="Segoe UI Semibold" panose="020B0702040204020203" pitchFamily="34" charset="0"/>
            </a:endParaRPr>
          </a:p>
          <a:p>
            <a:pPr defTabSz="932563">
              <a:spcBef>
                <a:spcPts val="300"/>
              </a:spcBef>
              <a:spcAft>
                <a:spcPts val="200"/>
              </a:spcAft>
            </a:pPr>
            <a:r>
              <a:rPr lang="en-GB" sz="1600" dirty="0">
                <a:solidFill>
                  <a:schemeClr val="accent6"/>
                </a:solidFill>
                <a:cs typeface="Segoe UI Semibold" panose="020B0702040204020203" pitchFamily="34" charset="0"/>
              </a:rPr>
              <a:t>Pods are </a:t>
            </a:r>
            <a:r>
              <a:rPr lang="en-GB" sz="1600" i="1" dirty="0">
                <a:solidFill>
                  <a:schemeClr val="accent6"/>
                </a:solidFill>
                <a:cs typeface="Segoe UI Semibold" panose="020B0702040204020203" pitchFamily="34" charset="0"/>
              </a:rPr>
              <a:t>ephemeral</a:t>
            </a:r>
            <a:r>
              <a:rPr lang="en-GB" sz="1600" dirty="0">
                <a:solidFill>
                  <a:schemeClr val="accent6"/>
                </a:solidFill>
                <a:cs typeface="Segoe UI Semibold" panose="020B0702040204020203" pitchFamily="34" charset="0"/>
              </a:rPr>
              <a:t>. The containers inside them are destroyed (and all data lost) when the Pod is deleted or rescheduled.</a:t>
            </a:r>
          </a:p>
          <a:p>
            <a:pPr marL="285750" indent="-285750" defTabSz="932563">
              <a:spcBef>
                <a:spcPts val="300"/>
              </a:spcBef>
              <a:spcAft>
                <a:spcPts val="200"/>
              </a:spcAft>
              <a:buFont typeface="Arial" panose="020B0604020202020204" pitchFamily="34" charset="0"/>
              <a:buChar char="•"/>
            </a:pPr>
            <a:endParaRPr lang="en-GB" sz="1600" b="1" dirty="0">
              <a:solidFill>
                <a:schemeClr val="accent6"/>
              </a:solidFill>
              <a:cs typeface="Segoe UI Semibold" panose="020B0702040204020203" pitchFamily="34" charset="0"/>
            </a:endParaRPr>
          </a:p>
          <a:p>
            <a:pPr defTabSz="932563">
              <a:spcBef>
                <a:spcPts val="300"/>
              </a:spcBef>
              <a:spcAft>
                <a:spcPts val="200"/>
              </a:spcAft>
            </a:pPr>
            <a:r>
              <a:rPr lang="en-GB" sz="1600" b="1" dirty="0">
                <a:solidFill>
                  <a:schemeClr val="accent6"/>
                </a:solidFill>
                <a:cs typeface="Segoe UI Semibold" panose="020B0702040204020203" pitchFamily="34" charset="0"/>
              </a:rPr>
              <a:t>Storage</a:t>
            </a:r>
            <a:r>
              <a:rPr lang="en-GB" sz="1600" dirty="0">
                <a:solidFill>
                  <a:schemeClr val="accent6"/>
                </a:solidFill>
                <a:cs typeface="Segoe UI Semibold" panose="020B0702040204020203" pitchFamily="34" charset="0"/>
              </a:rPr>
              <a:t> is the process of saving data outside of the container so that it can survive beyond the lifetime of a single pod.</a:t>
            </a:r>
          </a:p>
          <a:p>
            <a:pPr marL="285750" indent="-285750" defTabSz="932563">
              <a:spcBef>
                <a:spcPts val="300"/>
              </a:spcBef>
              <a:spcAft>
                <a:spcPts val="200"/>
              </a:spcAft>
              <a:buFont typeface="Arial" panose="020B0604020202020204" pitchFamily="34" charset="0"/>
              <a:buChar char="•"/>
            </a:pPr>
            <a:endParaRPr lang="en-GB" sz="1600" b="1" dirty="0">
              <a:solidFill>
                <a:schemeClr val="accent6"/>
              </a:solidFill>
              <a:cs typeface="Segoe UI Semibold" panose="020B0702040204020203" pitchFamily="34" charset="0"/>
            </a:endParaRPr>
          </a:p>
          <a:p>
            <a:pPr defTabSz="932563">
              <a:spcBef>
                <a:spcPts val="300"/>
              </a:spcBef>
              <a:spcAft>
                <a:spcPts val="200"/>
              </a:spcAft>
            </a:pPr>
            <a:r>
              <a:rPr lang="en-GB" sz="1600" dirty="0">
                <a:solidFill>
                  <a:schemeClr val="accent6"/>
                </a:solidFill>
                <a:cs typeface="Segoe UI Semibold" panose="020B0702040204020203" pitchFamily="34" charset="0"/>
              </a:rPr>
              <a:t>Kubernetes excels at </a:t>
            </a:r>
            <a:r>
              <a:rPr lang="en-GB" sz="1600" i="1" dirty="0">
                <a:solidFill>
                  <a:schemeClr val="accent6"/>
                </a:solidFill>
                <a:cs typeface="Segoe UI Semibold" panose="020B0702040204020203" pitchFamily="34" charset="0"/>
              </a:rPr>
              <a:t>abstracting</a:t>
            </a:r>
            <a:r>
              <a:rPr lang="en-GB" sz="1600" dirty="0">
                <a:solidFill>
                  <a:schemeClr val="accent6"/>
                </a:solidFill>
                <a:cs typeface="Segoe UI Semibold" panose="020B0702040204020203" pitchFamily="34" charset="0"/>
              </a:rPr>
              <a:t> or hiding the true location of the saved data from the application running inside the Pod. This allows separation of application &amp; data.</a:t>
            </a:r>
          </a:p>
          <a:p>
            <a:pPr marL="285750" indent="-285750" defTabSz="932563">
              <a:spcBef>
                <a:spcPts val="300"/>
              </a:spcBef>
              <a:spcAft>
                <a:spcPts val="200"/>
              </a:spcAft>
              <a:buFont typeface="Arial" panose="020B0604020202020204" pitchFamily="34" charset="0"/>
              <a:buChar char="•"/>
            </a:pPr>
            <a:endParaRPr lang="en-GB" sz="1600" dirty="0">
              <a:solidFill>
                <a:schemeClr val="accent6"/>
              </a:solidFill>
              <a:cs typeface="Segoe UI Semibold" panose="020B0702040204020203" pitchFamily="34" charset="0"/>
            </a:endParaRPr>
          </a:p>
          <a:p>
            <a:pPr defTabSz="932563">
              <a:spcBef>
                <a:spcPts val="300"/>
              </a:spcBef>
              <a:spcAft>
                <a:spcPts val="200"/>
              </a:spcAft>
            </a:pPr>
            <a:endParaRPr lang="en-GB" sz="1600" dirty="0">
              <a:solidFill>
                <a:schemeClr val="accent6"/>
              </a:solidFill>
              <a:cs typeface="Segoe UI Semibold" panose="020B0702040204020203" pitchFamily="34" charset="0"/>
            </a:endParaRPr>
          </a:p>
          <a:p>
            <a:pPr lvl="0">
              <a:defRPr/>
            </a:pPr>
            <a:endParaRPr lang="en-GB" sz="1600" dirty="0">
              <a:solidFill>
                <a:schemeClr val="accent6"/>
              </a:solidFill>
              <a:cs typeface="Segoe UI Semibold" panose="020B0702040204020203" pitchFamily="34" charset="0"/>
            </a:endParaRPr>
          </a:p>
        </p:txBody>
      </p:sp>
      <p:sp>
        <p:nvSpPr>
          <p:cNvPr id="5" name="Footer Placeholder 4">
            <a:extLst>
              <a:ext uri="{FF2B5EF4-FFF2-40B4-BE49-F238E27FC236}">
                <a16:creationId xmlns:a16="http://schemas.microsoft.com/office/drawing/2014/main" id="{814C7F8B-6302-5191-1BE2-2B288BB7F659}"/>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2E3A3626-90BA-9D4A-B58D-C66B9A2AC258}"/>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pic>
        <p:nvPicPr>
          <p:cNvPr id="3" name="Picture 2" descr="Icon&#10;&#10;Description automatically generated">
            <a:extLst>
              <a:ext uri="{FF2B5EF4-FFF2-40B4-BE49-F238E27FC236}">
                <a16:creationId xmlns:a16="http://schemas.microsoft.com/office/drawing/2014/main" id="{28C98C7B-2113-C983-70B9-486D8BED85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56507" y="1007001"/>
            <a:ext cx="1264662" cy="122514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Icon&#10;&#10;Description automatically generated">
            <a:extLst>
              <a:ext uri="{FF2B5EF4-FFF2-40B4-BE49-F238E27FC236}">
                <a16:creationId xmlns:a16="http://schemas.microsoft.com/office/drawing/2014/main" id="{13B17A6F-B625-21D0-0E7B-5359CF3747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10021" y="1007001"/>
            <a:ext cx="1264662" cy="122514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Icon&#10;&#10;Description automatically generated">
            <a:extLst>
              <a:ext uri="{FF2B5EF4-FFF2-40B4-BE49-F238E27FC236}">
                <a16:creationId xmlns:a16="http://schemas.microsoft.com/office/drawing/2014/main" id="{27B741F3-BD99-0A46-4A28-12EA829570F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56507" y="4031114"/>
            <a:ext cx="1264662" cy="122514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Icon&#10;&#10;Description automatically generated">
            <a:extLst>
              <a:ext uri="{FF2B5EF4-FFF2-40B4-BE49-F238E27FC236}">
                <a16:creationId xmlns:a16="http://schemas.microsoft.com/office/drawing/2014/main" id="{195551A4-83F4-F287-5DBD-8F23436CDC1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458213" y="3859546"/>
            <a:ext cx="1568278" cy="1568278"/>
          </a:xfrm>
          <a:prstGeom prst="rect">
            <a:avLst/>
          </a:prstGeom>
        </p:spPr>
      </p:pic>
      <p:sp>
        <p:nvSpPr>
          <p:cNvPr id="10" name="TextBox 9">
            <a:extLst>
              <a:ext uri="{FF2B5EF4-FFF2-40B4-BE49-F238E27FC236}">
                <a16:creationId xmlns:a16="http://schemas.microsoft.com/office/drawing/2014/main" id="{EA86E23C-0EA4-77A4-2479-68455AF9D1AC}"/>
              </a:ext>
            </a:extLst>
          </p:cNvPr>
          <p:cNvSpPr txBox="1"/>
          <p:nvPr/>
        </p:nvSpPr>
        <p:spPr>
          <a:xfrm>
            <a:off x="6298949" y="2536991"/>
            <a:ext cx="6097508" cy="923330"/>
          </a:xfrm>
          <a:prstGeom prst="rect">
            <a:avLst/>
          </a:prstGeom>
          <a:noFill/>
        </p:spPr>
        <p:txBody>
          <a:bodyPr wrap="square">
            <a:spAutoFit/>
          </a:bodyPr>
          <a:lstStyle/>
          <a:p>
            <a:pPr defTabSz="932563">
              <a:spcBef>
                <a:spcPts val="300"/>
              </a:spcBef>
              <a:spcAft>
                <a:spcPts val="200"/>
              </a:spcAft>
            </a:pPr>
            <a:r>
              <a:rPr lang="en-GB" sz="1800" dirty="0">
                <a:solidFill>
                  <a:schemeClr val="accent6"/>
                </a:solidFill>
                <a:cs typeface="Segoe UI Semibold" panose="020B0702040204020203" pitchFamily="34" charset="0"/>
              </a:rPr>
              <a:t>A volume</a:t>
            </a:r>
            <a:r>
              <a:rPr lang="en-GB" dirty="0">
                <a:solidFill>
                  <a:schemeClr val="accent6"/>
                </a:solidFill>
                <a:cs typeface="Segoe UI Semibold" panose="020B0702040204020203" pitchFamily="34" charset="0"/>
              </a:rPr>
              <a:t> or persistent volume</a:t>
            </a:r>
            <a:r>
              <a:rPr lang="en-GB" sz="1800" dirty="0">
                <a:solidFill>
                  <a:schemeClr val="accent6"/>
                </a:solidFill>
                <a:cs typeface="Segoe UI Semibold" panose="020B0702040204020203" pitchFamily="34" charset="0"/>
              </a:rPr>
              <a:t> represents a way to store, retrieve, and persist data across pods and through the application lifecycle.</a:t>
            </a:r>
          </a:p>
        </p:txBody>
      </p:sp>
      <p:sp>
        <p:nvSpPr>
          <p:cNvPr id="11" name="Title 1">
            <a:extLst>
              <a:ext uri="{FF2B5EF4-FFF2-40B4-BE49-F238E27FC236}">
                <a16:creationId xmlns:a16="http://schemas.microsoft.com/office/drawing/2014/main" id="{998A71AE-C6E6-9AAE-8318-B65C16EDE292}"/>
              </a:ext>
            </a:extLst>
          </p:cNvPr>
          <p:cNvSpPr txBox="1">
            <a:spLocks/>
          </p:cNvSpPr>
          <p:nvPr/>
        </p:nvSpPr>
        <p:spPr>
          <a:xfrm>
            <a:off x="6956507" y="747586"/>
            <a:ext cx="2133172" cy="184666"/>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defTabSz="914192" rtl="0" eaLnBrk="1" fontAlgn="auto" latinLnBrk="0" hangingPunct="1">
              <a:lnSpc>
                <a:spcPct val="100000"/>
              </a:lnSpc>
              <a:spcBef>
                <a:spcPct val="0"/>
              </a:spcBef>
              <a:spcAft>
                <a:spcPts val="0"/>
              </a:spcAft>
              <a:buClrTx/>
              <a:buSzTx/>
              <a:buFontTx/>
              <a:buNone/>
              <a:tabLst/>
              <a:defRPr/>
            </a:pPr>
            <a:r>
              <a:rPr lang="en-US" sz="1200" b="1" spc="0" dirty="0">
                <a:solidFill>
                  <a:srgbClr val="000000"/>
                </a:solidFill>
                <a:latin typeface="Segoe UI Semibold" panose="020B0702040204020203" pitchFamily="34" charset="0"/>
                <a:cs typeface="Segoe UI Semibold" panose="020B0702040204020203" pitchFamily="34" charset="0"/>
              </a:rPr>
              <a:t>Ephemeral Volume</a:t>
            </a:r>
          </a:p>
        </p:txBody>
      </p:sp>
      <p:sp>
        <p:nvSpPr>
          <p:cNvPr id="12" name="Title 1">
            <a:extLst>
              <a:ext uri="{FF2B5EF4-FFF2-40B4-BE49-F238E27FC236}">
                <a16:creationId xmlns:a16="http://schemas.microsoft.com/office/drawing/2014/main" id="{4EFD52F4-6449-92E2-EB3D-D84A6BA448E5}"/>
              </a:ext>
            </a:extLst>
          </p:cNvPr>
          <p:cNvSpPr txBox="1">
            <a:spLocks/>
          </p:cNvSpPr>
          <p:nvPr/>
        </p:nvSpPr>
        <p:spPr>
          <a:xfrm>
            <a:off x="9619149" y="747586"/>
            <a:ext cx="2133172" cy="184666"/>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defTabSz="914192" rtl="0" eaLnBrk="1" fontAlgn="auto" latinLnBrk="0" hangingPunct="1">
              <a:lnSpc>
                <a:spcPct val="100000"/>
              </a:lnSpc>
              <a:spcBef>
                <a:spcPct val="0"/>
              </a:spcBef>
              <a:spcAft>
                <a:spcPts val="0"/>
              </a:spcAft>
              <a:buClrTx/>
              <a:buSzTx/>
              <a:buFontTx/>
              <a:buNone/>
              <a:tabLst/>
              <a:defRPr/>
            </a:pPr>
            <a:r>
              <a:rPr lang="en-US" sz="1200" b="1" spc="0" dirty="0">
                <a:solidFill>
                  <a:srgbClr val="000000"/>
                </a:solidFill>
                <a:latin typeface="Segoe UI Semibold" panose="020B0702040204020203" pitchFamily="34" charset="0"/>
                <a:cs typeface="Segoe UI Semibold" panose="020B0702040204020203" pitchFamily="34" charset="0"/>
              </a:rPr>
              <a:t>Persistent Volume</a:t>
            </a:r>
          </a:p>
        </p:txBody>
      </p:sp>
      <p:sp>
        <p:nvSpPr>
          <p:cNvPr id="13" name="Title 1">
            <a:extLst>
              <a:ext uri="{FF2B5EF4-FFF2-40B4-BE49-F238E27FC236}">
                <a16:creationId xmlns:a16="http://schemas.microsoft.com/office/drawing/2014/main" id="{8E652BA7-EE3C-7EFE-21CC-3372A5BC20EF}"/>
              </a:ext>
            </a:extLst>
          </p:cNvPr>
          <p:cNvSpPr txBox="1">
            <a:spLocks/>
          </p:cNvSpPr>
          <p:nvPr/>
        </p:nvSpPr>
        <p:spPr>
          <a:xfrm>
            <a:off x="6846357" y="3801494"/>
            <a:ext cx="2133172" cy="184666"/>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defTabSz="914192" rtl="0" eaLnBrk="1" fontAlgn="auto" latinLnBrk="0" hangingPunct="1">
              <a:lnSpc>
                <a:spcPct val="100000"/>
              </a:lnSpc>
              <a:spcBef>
                <a:spcPct val="0"/>
              </a:spcBef>
              <a:spcAft>
                <a:spcPts val="0"/>
              </a:spcAft>
              <a:buClrTx/>
              <a:buSzTx/>
              <a:buFontTx/>
              <a:buNone/>
              <a:tabLst/>
              <a:defRPr/>
            </a:pPr>
            <a:r>
              <a:rPr lang="en-US" sz="1200" b="1" spc="0" dirty="0">
                <a:solidFill>
                  <a:srgbClr val="000000"/>
                </a:solidFill>
                <a:latin typeface="Segoe UI Semibold" panose="020B0702040204020203" pitchFamily="34" charset="0"/>
                <a:cs typeface="Segoe UI Semibold" panose="020B0702040204020203" pitchFamily="34" charset="0"/>
              </a:rPr>
              <a:t>Persistent Volume Claim</a:t>
            </a:r>
          </a:p>
        </p:txBody>
      </p:sp>
      <p:sp>
        <p:nvSpPr>
          <p:cNvPr id="14" name="Title 1">
            <a:extLst>
              <a:ext uri="{FF2B5EF4-FFF2-40B4-BE49-F238E27FC236}">
                <a16:creationId xmlns:a16="http://schemas.microsoft.com/office/drawing/2014/main" id="{9ACB8432-2240-8CA5-5015-CEC8CFDB05A4}"/>
              </a:ext>
            </a:extLst>
          </p:cNvPr>
          <p:cNvSpPr txBox="1">
            <a:spLocks/>
          </p:cNvSpPr>
          <p:nvPr/>
        </p:nvSpPr>
        <p:spPr>
          <a:xfrm>
            <a:off x="9808097" y="3767213"/>
            <a:ext cx="2133172" cy="184666"/>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defTabSz="914192" rtl="0" eaLnBrk="1" fontAlgn="auto" latinLnBrk="0" hangingPunct="1">
              <a:lnSpc>
                <a:spcPct val="100000"/>
              </a:lnSpc>
              <a:spcBef>
                <a:spcPct val="0"/>
              </a:spcBef>
              <a:spcAft>
                <a:spcPts val="0"/>
              </a:spcAft>
              <a:buClrTx/>
              <a:buSzTx/>
              <a:buFontTx/>
              <a:buNone/>
              <a:tabLst/>
              <a:defRPr/>
            </a:pPr>
            <a:r>
              <a:rPr lang="en-US" sz="1200" b="1" spc="0" dirty="0">
                <a:solidFill>
                  <a:srgbClr val="000000"/>
                </a:solidFill>
                <a:latin typeface="Segoe UI Semibold" panose="020B0702040204020203" pitchFamily="34" charset="0"/>
                <a:cs typeface="Segoe UI Semibold" panose="020B0702040204020203" pitchFamily="34" charset="0"/>
              </a:rPr>
              <a:t>Storage Class</a:t>
            </a:r>
          </a:p>
        </p:txBody>
      </p:sp>
      <p:sp>
        <p:nvSpPr>
          <p:cNvPr id="15" name="TextBox 14">
            <a:extLst>
              <a:ext uri="{FF2B5EF4-FFF2-40B4-BE49-F238E27FC236}">
                <a16:creationId xmlns:a16="http://schemas.microsoft.com/office/drawing/2014/main" id="{490A9BE3-DDF8-F35A-F7FD-4552B3448D0C}"/>
              </a:ext>
            </a:extLst>
          </p:cNvPr>
          <p:cNvSpPr txBox="1"/>
          <p:nvPr/>
        </p:nvSpPr>
        <p:spPr>
          <a:xfrm>
            <a:off x="6170691" y="5645528"/>
            <a:ext cx="6097508" cy="923330"/>
          </a:xfrm>
          <a:prstGeom prst="rect">
            <a:avLst/>
          </a:prstGeom>
          <a:noFill/>
        </p:spPr>
        <p:txBody>
          <a:bodyPr wrap="square">
            <a:spAutoFit/>
          </a:bodyPr>
          <a:lstStyle/>
          <a:p>
            <a:pPr defTabSz="932563">
              <a:spcBef>
                <a:spcPts val="300"/>
              </a:spcBef>
              <a:spcAft>
                <a:spcPts val="200"/>
              </a:spcAft>
            </a:pPr>
            <a:r>
              <a:rPr lang="en-GB" sz="1800" dirty="0">
                <a:solidFill>
                  <a:schemeClr val="accent6"/>
                </a:solidFill>
                <a:cs typeface="Segoe UI Semibold" panose="020B0702040204020203" pitchFamily="34" charset="0"/>
              </a:rPr>
              <a:t>Persistent Volume Claim represents an applications desire for storage, whilst Storage Class defines different types of underlying storage available. </a:t>
            </a:r>
          </a:p>
        </p:txBody>
      </p:sp>
    </p:spTree>
    <p:extLst>
      <p:ext uri="{BB962C8B-B14F-4D97-AF65-F5344CB8AC3E}">
        <p14:creationId xmlns:p14="http://schemas.microsoft.com/office/powerpoint/2010/main" val="11056783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9B3D5-E0AD-4265-A7B4-7D96FFA8AF4A}"/>
              </a:ext>
            </a:extLst>
          </p:cNvPr>
          <p:cNvSpPr>
            <a:spLocks noGrp="1"/>
          </p:cNvSpPr>
          <p:nvPr>
            <p:ph type="title"/>
          </p:nvPr>
        </p:nvSpPr>
        <p:spPr/>
        <p:txBody>
          <a:bodyPr/>
          <a:lstStyle/>
          <a:p>
            <a:pPr algn="ctr"/>
            <a:r>
              <a:rPr lang="en-US" dirty="0"/>
              <a:t>Ephemeral Volumes</a:t>
            </a:r>
          </a:p>
        </p:txBody>
      </p:sp>
      <p:pic>
        <p:nvPicPr>
          <p:cNvPr id="5" name="Picture 2" descr="Icon&#10;&#10;Description automatically generated">
            <a:extLst>
              <a:ext uri="{FF2B5EF4-FFF2-40B4-BE49-F238E27FC236}">
                <a16:creationId xmlns:a16="http://schemas.microsoft.com/office/drawing/2014/main" id="{4D8A09AB-480C-4B60-AEC3-D48F9021D4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0076" y="2875574"/>
            <a:ext cx="2438400" cy="2362200"/>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E7CBA8F8-3A29-4833-AD8F-DA5180CACC0C}"/>
              </a:ext>
            </a:extLst>
          </p:cNvPr>
          <p:cNvSpPr txBox="1">
            <a:spLocks/>
          </p:cNvSpPr>
          <p:nvPr/>
        </p:nvSpPr>
        <p:spPr>
          <a:xfrm>
            <a:off x="4504465" y="232625"/>
            <a:ext cx="7216589" cy="3564721"/>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indent="-342900">
              <a:buFont typeface="Arial" panose="020B0604020202020204" pitchFamily="34" charset="0"/>
              <a:buChar char="•"/>
            </a:pPr>
            <a:r>
              <a:rPr lang="en-US" sz="2400" i="1" u="sng" dirty="0"/>
              <a:t>Ephemeral</a:t>
            </a:r>
            <a:r>
              <a:rPr lang="en-US" sz="2400" dirty="0"/>
              <a:t> volume types have a lifetime of a pod. Ephemeral volumes include:</a:t>
            </a:r>
          </a:p>
          <a:p>
            <a:pPr marL="342900" indent="-342900">
              <a:buFont typeface="Arial" panose="020B0604020202020204" pitchFamily="34" charset="0"/>
              <a:buChar char="•"/>
            </a:pPr>
            <a:r>
              <a:rPr lang="en-US" sz="2400" b="1" u="sng" dirty="0"/>
              <a:t>Empty Dir</a:t>
            </a:r>
            <a:r>
              <a:rPr lang="en-US" sz="2400" dirty="0"/>
              <a:t> – A temporary folder for all containers within a Pod to read/write to.  </a:t>
            </a:r>
          </a:p>
          <a:p>
            <a:pPr marL="342900" indent="-342900">
              <a:buFont typeface="Arial" panose="020B0604020202020204" pitchFamily="34" charset="0"/>
              <a:buChar char="•"/>
            </a:pPr>
            <a:endParaRPr lang="en-US" sz="2400" dirty="0"/>
          </a:p>
        </p:txBody>
      </p:sp>
      <p:pic>
        <p:nvPicPr>
          <p:cNvPr id="6" name="Picture 5" descr="Text&#10;&#10;Description automatically generated">
            <a:extLst>
              <a:ext uri="{FF2B5EF4-FFF2-40B4-BE49-F238E27FC236}">
                <a16:creationId xmlns:a16="http://schemas.microsoft.com/office/drawing/2014/main" id="{9E2AEC41-AE4C-48F7-B3D7-ACEEC445B790}"/>
              </a:ext>
            </a:extLst>
          </p:cNvPr>
          <p:cNvPicPr>
            <a:picLocks noChangeAspect="1"/>
          </p:cNvPicPr>
          <p:nvPr/>
        </p:nvPicPr>
        <p:blipFill>
          <a:blip r:embed="rId3"/>
          <a:stretch>
            <a:fillRect/>
          </a:stretch>
        </p:blipFill>
        <p:spPr>
          <a:xfrm>
            <a:off x="8368861" y="2014985"/>
            <a:ext cx="3581900" cy="3896269"/>
          </a:xfrm>
          <a:prstGeom prst="rect">
            <a:avLst/>
          </a:prstGeom>
        </p:spPr>
      </p:pic>
      <p:sp>
        <p:nvSpPr>
          <p:cNvPr id="7" name="Content Placeholder 2">
            <a:extLst>
              <a:ext uri="{FF2B5EF4-FFF2-40B4-BE49-F238E27FC236}">
                <a16:creationId xmlns:a16="http://schemas.microsoft.com/office/drawing/2014/main" id="{F12A6FB7-8C66-49DF-939F-235C4BBC75CF}"/>
              </a:ext>
            </a:extLst>
          </p:cNvPr>
          <p:cNvSpPr txBox="1">
            <a:spLocks/>
          </p:cNvSpPr>
          <p:nvPr/>
        </p:nvSpPr>
        <p:spPr>
          <a:xfrm>
            <a:off x="4274758" y="1878355"/>
            <a:ext cx="3765656" cy="3564721"/>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71500" lvl="1" indent="-342900">
              <a:buFont typeface="Arial" panose="020B0604020202020204" pitchFamily="34" charset="0"/>
              <a:buChar char="•"/>
            </a:pPr>
            <a:r>
              <a:rPr lang="en-US" sz="2400" b="1" u="sng" dirty="0"/>
              <a:t>Host Path</a:t>
            </a:r>
            <a:r>
              <a:rPr lang="en-US" sz="2400" dirty="0"/>
              <a:t> – Mounts a file or directory from the host node's filesystem into your Pod. Not practical in a multi-node cluster.</a:t>
            </a:r>
            <a:endParaRPr lang="en-US" sz="2400" b="1" u="sng" dirty="0"/>
          </a:p>
          <a:p>
            <a:pPr marL="571500" lvl="1" indent="-342900">
              <a:buFont typeface="Arial" panose="020B0604020202020204" pitchFamily="34" charset="0"/>
              <a:buChar char="•"/>
            </a:pPr>
            <a:r>
              <a:rPr lang="en-US" sz="2400" b="1" u="sng" dirty="0"/>
              <a:t>Config Map/Secret</a:t>
            </a:r>
            <a:r>
              <a:rPr lang="en-US" sz="2400" dirty="0"/>
              <a:t> – A Read-only folder that provides a way to inject configuration data into pods.  </a:t>
            </a:r>
          </a:p>
        </p:txBody>
      </p:sp>
    </p:spTree>
    <p:extLst>
      <p:ext uri="{BB962C8B-B14F-4D97-AF65-F5344CB8AC3E}">
        <p14:creationId xmlns:p14="http://schemas.microsoft.com/office/powerpoint/2010/main" val="11062999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animEffect transition="in" filter="fade">
                                      <p:cBhvr>
                                        <p:cTn id="15" dur="500"/>
                                        <p:tgtEl>
                                          <p:spTgt spid="7">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7">
                                            <p:txEl>
                                              <p:pRg st="1" end="1"/>
                                            </p:txEl>
                                          </p:spTgt>
                                        </p:tgtEl>
                                        <p:attrNameLst>
                                          <p:attrName>style.visibility</p:attrName>
                                        </p:attrNameLst>
                                      </p:cBhvr>
                                      <p:to>
                                        <p:strVal val="visible"/>
                                      </p:to>
                                    </p:set>
                                    <p:animEffect transition="in" filter="fade">
                                      <p:cBhvr>
                                        <p:cTn id="20"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9B3D5-E0AD-4265-A7B4-7D96FFA8AF4A}"/>
              </a:ext>
            </a:extLst>
          </p:cNvPr>
          <p:cNvSpPr>
            <a:spLocks noGrp="1"/>
          </p:cNvSpPr>
          <p:nvPr>
            <p:ph type="title"/>
          </p:nvPr>
        </p:nvSpPr>
        <p:spPr/>
        <p:txBody>
          <a:bodyPr/>
          <a:lstStyle/>
          <a:p>
            <a:pPr algn="ctr"/>
            <a:r>
              <a:rPr lang="en-US" dirty="0"/>
              <a:t>Persistent Volumes</a:t>
            </a:r>
          </a:p>
        </p:txBody>
      </p:sp>
      <p:sp>
        <p:nvSpPr>
          <p:cNvPr id="4" name="Content Placeholder 2">
            <a:extLst>
              <a:ext uri="{FF2B5EF4-FFF2-40B4-BE49-F238E27FC236}">
                <a16:creationId xmlns:a16="http://schemas.microsoft.com/office/drawing/2014/main" id="{E7CBA8F8-3A29-4833-AD8F-DA5180CACC0C}"/>
              </a:ext>
            </a:extLst>
          </p:cNvPr>
          <p:cNvSpPr txBox="1">
            <a:spLocks/>
          </p:cNvSpPr>
          <p:nvPr/>
        </p:nvSpPr>
        <p:spPr>
          <a:xfrm>
            <a:off x="4476787" y="285919"/>
            <a:ext cx="7216589" cy="875616"/>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indent="-342900">
              <a:buFont typeface="Arial" panose="020B0604020202020204" pitchFamily="34" charset="0"/>
              <a:buChar char="•"/>
            </a:pPr>
            <a:r>
              <a:rPr lang="en-US" sz="2400" i="1" u="sng" dirty="0"/>
              <a:t>Persistent</a:t>
            </a:r>
            <a:r>
              <a:rPr lang="en-US" sz="2400" dirty="0"/>
              <a:t> volumes exist beyond the lifetime of a pod. Persistent volumes include: </a:t>
            </a:r>
            <a:endParaRPr lang="en-US" dirty="0"/>
          </a:p>
        </p:txBody>
      </p:sp>
      <p:pic>
        <p:nvPicPr>
          <p:cNvPr id="6" name="Picture 5">
            <a:extLst>
              <a:ext uri="{FF2B5EF4-FFF2-40B4-BE49-F238E27FC236}">
                <a16:creationId xmlns:a16="http://schemas.microsoft.com/office/drawing/2014/main" id="{373EF18B-4B33-4CC3-8075-9AF3B83419E2}"/>
              </a:ext>
            </a:extLst>
          </p:cNvPr>
          <p:cNvPicPr>
            <a:picLocks noChangeAspect="1"/>
          </p:cNvPicPr>
          <p:nvPr/>
        </p:nvPicPr>
        <p:blipFill>
          <a:blip r:embed="rId3"/>
          <a:stretch>
            <a:fillRect/>
          </a:stretch>
        </p:blipFill>
        <p:spPr>
          <a:xfrm>
            <a:off x="8352267" y="1330494"/>
            <a:ext cx="3561827" cy="3536611"/>
          </a:xfrm>
          <a:prstGeom prst="rect">
            <a:avLst/>
          </a:prstGeom>
        </p:spPr>
      </p:pic>
      <p:sp>
        <p:nvSpPr>
          <p:cNvPr id="8" name="Content Placeholder 2">
            <a:extLst>
              <a:ext uri="{FF2B5EF4-FFF2-40B4-BE49-F238E27FC236}">
                <a16:creationId xmlns:a16="http://schemas.microsoft.com/office/drawing/2014/main" id="{6031E718-7732-4157-9FAF-E54595E4D1CF}"/>
              </a:ext>
            </a:extLst>
          </p:cNvPr>
          <p:cNvSpPr txBox="1">
            <a:spLocks/>
          </p:cNvSpPr>
          <p:nvPr/>
        </p:nvSpPr>
        <p:spPr>
          <a:xfrm>
            <a:off x="4242931" y="1161535"/>
            <a:ext cx="3944628" cy="5241586"/>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71500" lvl="1" indent="-342900">
              <a:buFont typeface="Arial" panose="020B0604020202020204" pitchFamily="34" charset="0"/>
              <a:buChar char="•"/>
            </a:pPr>
            <a:r>
              <a:rPr lang="en-US" sz="2400" b="1" u="sng" dirty="0"/>
              <a:t>Azure Disk</a:t>
            </a:r>
            <a:r>
              <a:rPr lang="en-US" sz="2400" dirty="0"/>
              <a:t> – Mounts an Azure Data Disk into a pod.</a:t>
            </a:r>
          </a:p>
          <a:p>
            <a:pPr marL="571500" lvl="1" indent="-342900">
              <a:buFont typeface="Arial" panose="020B0604020202020204" pitchFamily="34" charset="0"/>
              <a:buChar char="•"/>
            </a:pPr>
            <a:r>
              <a:rPr lang="en-US" sz="2400" b="1" u="sng" dirty="0"/>
              <a:t>Azure File</a:t>
            </a:r>
            <a:r>
              <a:rPr lang="en-US" sz="2400" dirty="0"/>
              <a:t> – Mounts an Azure File Share (SMB 2.1/3.0) to a Pod.</a:t>
            </a:r>
          </a:p>
          <a:p>
            <a:pPr marL="571500" lvl="1" indent="-342900">
              <a:buFont typeface="Arial" panose="020B0604020202020204" pitchFamily="34" charset="0"/>
              <a:buChar char="•"/>
            </a:pPr>
            <a:r>
              <a:rPr lang="en-US" sz="2400" b="1" u="sng" dirty="0"/>
              <a:t>Persistent Volume Claim</a:t>
            </a:r>
            <a:r>
              <a:rPr lang="en-US" sz="2400" dirty="0"/>
              <a:t> - A way for users to "claim" durable storage without knowing the details of the cloud environment.</a:t>
            </a:r>
          </a:p>
          <a:p>
            <a:pPr marL="571500" lvl="1" indent="-342900">
              <a:buFont typeface="Arial" panose="020B0604020202020204" pitchFamily="34" charset="0"/>
              <a:buChar char="•"/>
            </a:pPr>
            <a:endParaRPr lang="en-US" sz="2400" dirty="0"/>
          </a:p>
          <a:p>
            <a:pPr marL="571500" lvl="1" indent="-342900">
              <a:buFont typeface="Arial" panose="020B0604020202020204" pitchFamily="34" charset="0"/>
              <a:buChar char="•"/>
            </a:pPr>
            <a:endParaRPr lang="en-US" sz="2400" dirty="0"/>
          </a:p>
        </p:txBody>
      </p:sp>
      <p:pic>
        <p:nvPicPr>
          <p:cNvPr id="7" name="Picture 6" descr="Icon&#10;&#10;Description automatically generated">
            <a:extLst>
              <a:ext uri="{FF2B5EF4-FFF2-40B4-BE49-F238E27FC236}">
                <a16:creationId xmlns:a16="http://schemas.microsoft.com/office/drawing/2014/main" id="{0A737E81-980B-B3AD-B9E5-5D591849D9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2285" y="2888896"/>
            <a:ext cx="2438400" cy="2362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13830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animEffect transition="in" filter="fade">
                                      <p:cBhvr>
                                        <p:cTn id="15" dur="500"/>
                                        <p:tgtEl>
                                          <p:spTgt spid="8">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8">
                                            <p:txEl>
                                              <p:pRg st="2" end="2"/>
                                            </p:txEl>
                                          </p:spTgt>
                                        </p:tgtEl>
                                        <p:attrNameLst>
                                          <p:attrName>style.visibility</p:attrName>
                                        </p:attrNameLst>
                                      </p:cBhvr>
                                      <p:to>
                                        <p:strVal val="visible"/>
                                      </p:to>
                                    </p:set>
                                    <p:animEffect transition="in" filter="fade">
                                      <p:cBhvr>
                                        <p:cTn id="20"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21BA4B1-3D9A-4DB8-9118-7B78D3C3CFA5}"/>
              </a:ext>
            </a:extLst>
          </p:cNvPr>
          <p:cNvSpPr txBox="1"/>
          <p:nvPr/>
        </p:nvSpPr>
        <p:spPr>
          <a:xfrm>
            <a:off x="4714240" y="293638"/>
            <a:ext cx="7204456" cy="6340197"/>
          </a:xfrm>
          <a:prstGeom prst="rect">
            <a:avLst/>
          </a:prstGeom>
          <a:noFill/>
        </p:spPr>
        <p:txBody>
          <a:bodyPr wrap="square">
            <a:spAutoFit/>
          </a:bodyPr>
          <a:lstStyle/>
          <a:p>
            <a:pPr marL="342900" indent="-342900">
              <a:spcAft>
                <a:spcPts val="1200"/>
              </a:spcAft>
              <a:buFont typeface="Arial" panose="020B0604020202020204" pitchFamily="34" charset="0"/>
              <a:buChar char="•"/>
            </a:pPr>
            <a:r>
              <a:rPr lang="en-US" sz="2400" dirty="0"/>
              <a:t>A </a:t>
            </a:r>
            <a:r>
              <a:rPr lang="en-US" sz="2400" b="1" u="sng" dirty="0" err="1"/>
              <a:t>PersistentVolume</a:t>
            </a:r>
            <a:r>
              <a:rPr lang="en-US" sz="2400" dirty="0"/>
              <a:t> (PV) resource is a piece of storage in the cluster that has been provisioned by an administrator or dynamically provisioned using </a:t>
            </a:r>
            <a:r>
              <a:rPr lang="en-US" sz="2400" b="1" u="sng" dirty="0"/>
              <a:t>Storage Classes</a:t>
            </a:r>
            <a:r>
              <a:rPr lang="en-US" sz="2400" dirty="0"/>
              <a:t>. </a:t>
            </a:r>
          </a:p>
          <a:p>
            <a:pPr marL="342900" indent="-342900">
              <a:spcAft>
                <a:spcPts val="1200"/>
              </a:spcAft>
              <a:buFont typeface="Arial" panose="020B0604020202020204" pitchFamily="34" charset="0"/>
              <a:buChar char="•"/>
            </a:pPr>
            <a:r>
              <a:rPr lang="en-US" sz="2400" dirty="0"/>
              <a:t>PVs are volume plugins like Volumes but have a lifecycle independent of any individual Pod that uses the PV. </a:t>
            </a:r>
          </a:p>
          <a:p>
            <a:pPr marL="342900" indent="-342900">
              <a:spcAft>
                <a:spcPts val="1200"/>
              </a:spcAft>
              <a:buFont typeface="Arial" panose="020B0604020202020204" pitchFamily="34" charset="0"/>
              <a:buChar char="•"/>
            </a:pPr>
            <a:r>
              <a:rPr lang="en-US" sz="2400" dirty="0"/>
              <a:t>It is a cluster wide resource (not </a:t>
            </a:r>
            <a:r>
              <a:rPr lang="en-US" sz="2400" dirty="0" err="1"/>
              <a:t>namespaced</a:t>
            </a:r>
            <a:r>
              <a:rPr lang="en-US" sz="2400" dirty="0"/>
              <a:t>), available to for any user to claim. </a:t>
            </a:r>
          </a:p>
          <a:p>
            <a:pPr marL="342900" indent="-342900">
              <a:spcAft>
                <a:spcPts val="1200"/>
              </a:spcAft>
              <a:buFont typeface="Arial" panose="020B0604020202020204" pitchFamily="34" charset="0"/>
              <a:buChar char="•"/>
            </a:pPr>
            <a:r>
              <a:rPr lang="en-US" sz="2400" dirty="0"/>
              <a:t>There are two ways PVs may be provisioned:</a:t>
            </a:r>
          </a:p>
          <a:p>
            <a:pPr marL="800100" lvl="1" indent="-342900">
              <a:buFont typeface="Arial" panose="020B0604020202020204" pitchFamily="34" charset="0"/>
              <a:buChar char="•"/>
            </a:pPr>
            <a:r>
              <a:rPr lang="en-US" b="1" u="sng" dirty="0"/>
              <a:t>Statically</a:t>
            </a:r>
            <a:r>
              <a:rPr lang="en-US" dirty="0"/>
              <a:t> - A cluster administrator creates multiple PVs that carry the details of the real storage, which is available for use by cluster users.</a:t>
            </a:r>
          </a:p>
          <a:p>
            <a:pPr marL="800100" lvl="1" indent="-342900">
              <a:buFont typeface="Arial" panose="020B0604020202020204" pitchFamily="34" charset="0"/>
              <a:buChar char="•"/>
            </a:pPr>
            <a:r>
              <a:rPr lang="en-US" b="1" u="sng" dirty="0"/>
              <a:t>Dynamically</a:t>
            </a:r>
            <a:r>
              <a:rPr lang="en-US" dirty="0"/>
              <a:t> - When none of the available static PVs match a user's Persistent Volume Claim, the cluster will try to dynamically provision a volume specially for the PVC, based on a specified Storage Classes.</a:t>
            </a:r>
          </a:p>
        </p:txBody>
      </p:sp>
      <p:sp>
        <p:nvSpPr>
          <p:cNvPr id="9" name="Title 1">
            <a:extLst>
              <a:ext uri="{FF2B5EF4-FFF2-40B4-BE49-F238E27FC236}">
                <a16:creationId xmlns:a16="http://schemas.microsoft.com/office/drawing/2014/main" id="{49E0B4AD-359A-340F-326F-40765B70ABB9}"/>
              </a:ext>
            </a:extLst>
          </p:cNvPr>
          <p:cNvSpPr>
            <a:spLocks noGrp="1"/>
          </p:cNvSpPr>
          <p:nvPr>
            <p:ph type="title"/>
          </p:nvPr>
        </p:nvSpPr>
        <p:spPr>
          <a:xfrm>
            <a:off x="588263" y="585788"/>
            <a:ext cx="3182027" cy="575747"/>
          </a:xfrm>
        </p:spPr>
        <p:txBody>
          <a:bodyPr/>
          <a:lstStyle/>
          <a:p>
            <a:pPr algn="ctr"/>
            <a:r>
              <a:rPr lang="en-US" dirty="0"/>
              <a:t>Persistent Volumes</a:t>
            </a:r>
          </a:p>
        </p:txBody>
      </p:sp>
      <p:pic>
        <p:nvPicPr>
          <p:cNvPr id="10" name="Picture 9" descr="Icon&#10;&#10;Description automatically generated">
            <a:extLst>
              <a:ext uri="{FF2B5EF4-FFF2-40B4-BE49-F238E27FC236}">
                <a16:creationId xmlns:a16="http://schemas.microsoft.com/office/drawing/2014/main" id="{8FDA9210-2A8B-A893-2384-B9452A2AA0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2285" y="2888896"/>
            <a:ext cx="2438400" cy="2362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57564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500"/>
                                        <p:tgtEl>
                                          <p:spTgt spid="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fade">
                                      <p:cBhvr>
                                        <p:cTn id="22" dur="500"/>
                                        <p:tgtEl>
                                          <p:spTgt spid="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animEffect transition="in" filter="fade">
                                      <p:cBhvr>
                                        <p:cTn id="27"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17280-BC20-C8A3-71D7-EE9A4F7106D2}"/>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EBDF6420-B662-B55C-5236-ABC0170798D5}"/>
              </a:ext>
            </a:extLst>
          </p:cNvPr>
          <p:cNvSpPr>
            <a:spLocks noGrp="1"/>
          </p:cNvSpPr>
          <p:nvPr>
            <p:ph type="title"/>
          </p:nvPr>
        </p:nvSpPr>
        <p:spPr>
          <a:xfrm>
            <a:off x="588263" y="585788"/>
            <a:ext cx="3182027" cy="575747"/>
          </a:xfrm>
        </p:spPr>
        <p:txBody>
          <a:bodyPr/>
          <a:lstStyle/>
          <a:p>
            <a:pPr algn="ctr"/>
            <a:r>
              <a:rPr lang="en-US" dirty="0"/>
              <a:t>Persistent Volume Claim</a:t>
            </a:r>
          </a:p>
        </p:txBody>
      </p:sp>
      <p:pic>
        <p:nvPicPr>
          <p:cNvPr id="2" name="Picture 2" descr="Icon&#10;&#10;Description automatically generated">
            <a:extLst>
              <a:ext uri="{FF2B5EF4-FFF2-40B4-BE49-F238E27FC236}">
                <a16:creationId xmlns:a16="http://schemas.microsoft.com/office/drawing/2014/main" id="{47B6269F-EF69-D45C-5AD4-96CACC0387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505" y="3147604"/>
            <a:ext cx="2135542" cy="206880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FB7B04B-6F91-EF5A-39AE-5DDB9E116837}"/>
              </a:ext>
            </a:extLst>
          </p:cNvPr>
          <p:cNvSpPr txBox="1"/>
          <p:nvPr/>
        </p:nvSpPr>
        <p:spPr>
          <a:xfrm>
            <a:off x="4714240" y="293638"/>
            <a:ext cx="7204456" cy="6186309"/>
          </a:xfrm>
          <a:prstGeom prst="rect">
            <a:avLst/>
          </a:prstGeom>
          <a:noFill/>
        </p:spPr>
        <p:txBody>
          <a:bodyPr wrap="square">
            <a:spAutoFit/>
          </a:bodyPr>
          <a:lstStyle/>
          <a:p>
            <a:pPr marL="342900" indent="-342900">
              <a:spcAft>
                <a:spcPts val="1200"/>
              </a:spcAft>
              <a:buFont typeface="Arial" panose="020B0604020202020204" pitchFamily="34" charset="0"/>
              <a:buChar char="•"/>
            </a:pPr>
            <a:r>
              <a:rPr lang="en-US" sz="2400" dirty="0"/>
              <a:t>A </a:t>
            </a:r>
            <a:r>
              <a:rPr lang="en-US" sz="2400" b="1" u="sng" dirty="0" err="1"/>
              <a:t>PersistentVolumeClaim</a:t>
            </a:r>
            <a:r>
              <a:rPr lang="en-US" sz="2400" dirty="0"/>
              <a:t> (PVC) is an object which a Pod must reference when it wants to use storage.</a:t>
            </a:r>
          </a:p>
          <a:p>
            <a:pPr marL="342900" indent="-342900">
              <a:spcAft>
                <a:spcPts val="1200"/>
              </a:spcAft>
              <a:buFont typeface="Arial" panose="020B0604020202020204" pitchFamily="34" charset="0"/>
              <a:buChar char="•"/>
            </a:pPr>
            <a:r>
              <a:rPr lang="en-US" sz="2400" dirty="0"/>
              <a:t>A PVC always points to a PV.</a:t>
            </a:r>
          </a:p>
          <a:p>
            <a:pPr marL="342900" indent="-342900">
              <a:spcAft>
                <a:spcPts val="1200"/>
              </a:spcAft>
              <a:buFont typeface="Arial" panose="020B0604020202020204" pitchFamily="34" charset="0"/>
              <a:buChar char="•"/>
            </a:pPr>
            <a:r>
              <a:rPr lang="en-US" sz="2400" dirty="0"/>
              <a:t>If a Pod references a PVC, it is in-directly also referencing the PV.</a:t>
            </a:r>
          </a:p>
          <a:p>
            <a:pPr marL="342900" indent="-342900">
              <a:spcAft>
                <a:spcPts val="1200"/>
              </a:spcAft>
              <a:buFont typeface="Arial" panose="020B0604020202020204" pitchFamily="34" charset="0"/>
              <a:buChar char="•"/>
            </a:pPr>
            <a:r>
              <a:rPr lang="en-US" sz="2400" dirty="0"/>
              <a:t>Depending on the access mode, a PVC can be connected to many different nodes/pods at the same time. This way storage is shared across Pods.</a:t>
            </a:r>
          </a:p>
          <a:p>
            <a:pPr marL="342900" indent="-342900">
              <a:spcAft>
                <a:spcPts val="1200"/>
              </a:spcAft>
              <a:buFont typeface="Arial" panose="020B0604020202020204" pitchFamily="34" charset="0"/>
              <a:buChar char="•"/>
            </a:pPr>
            <a:r>
              <a:rPr lang="en-US" sz="2400" dirty="0"/>
              <a:t>Deleting a Pod does not affect the PVC or PV.</a:t>
            </a:r>
          </a:p>
          <a:p>
            <a:pPr marL="800100" lvl="1" indent="-342900">
              <a:spcAft>
                <a:spcPts val="1200"/>
              </a:spcAft>
              <a:buFont typeface="Arial" panose="020B0604020202020204" pitchFamily="34" charset="0"/>
              <a:buChar char="•"/>
            </a:pPr>
            <a:r>
              <a:rPr lang="en-US" sz="2400" dirty="0"/>
              <a:t>Deleting a PVC will </a:t>
            </a:r>
            <a:r>
              <a:rPr lang="en-US" sz="2400" i="1" dirty="0"/>
              <a:t>usually</a:t>
            </a:r>
            <a:r>
              <a:rPr lang="en-US" sz="2400" dirty="0"/>
              <a:t> delete the PV and dynamically created storage.</a:t>
            </a:r>
          </a:p>
          <a:p>
            <a:pPr marL="800100" lvl="1" indent="-342900">
              <a:spcAft>
                <a:spcPts val="1200"/>
              </a:spcAft>
              <a:buFont typeface="Arial" panose="020B0604020202020204" pitchFamily="34" charset="0"/>
              <a:buChar char="•"/>
            </a:pPr>
            <a:r>
              <a:rPr lang="en-US" sz="2400"/>
              <a:t>Exact behavior </a:t>
            </a:r>
            <a:r>
              <a:rPr lang="en-US" sz="2400" dirty="0"/>
              <a:t>depends on the Storage Class.</a:t>
            </a:r>
          </a:p>
        </p:txBody>
      </p:sp>
    </p:spTree>
    <p:extLst>
      <p:ext uri="{BB962C8B-B14F-4D97-AF65-F5344CB8AC3E}">
        <p14:creationId xmlns:p14="http://schemas.microsoft.com/office/powerpoint/2010/main" val="40133815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618BD-E7F0-BD15-13D7-4B6D7E755AE0}"/>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1DAA7CA2-E4EF-0AA1-7815-F6E4E97BE018}"/>
              </a:ext>
            </a:extLst>
          </p:cNvPr>
          <p:cNvSpPr>
            <a:spLocks noGrp="1"/>
          </p:cNvSpPr>
          <p:nvPr>
            <p:ph type="title"/>
          </p:nvPr>
        </p:nvSpPr>
        <p:spPr>
          <a:xfrm>
            <a:off x="588263" y="585788"/>
            <a:ext cx="3182027" cy="575747"/>
          </a:xfrm>
        </p:spPr>
        <p:txBody>
          <a:bodyPr/>
          <a:lstStyle/>
          <a:p>
            <a:pPr algn="ctr"/>
            <a:r>
              <a:rPr lang="en-US" dirty="0"/>
              <a:t>Storage Class</a:t>
            </a:r>
          </a:p>
        </p:txBody>
      </p:sp>
      <p:pic>
        <p:nvPicPr>
          <p:cNvPr id="2" name="Picture 1" descr="Icon&#10;&#10;Description automatically generated">
            <a:extLst>
              <a:ext uri="{FF2B5EF4-FFF2-40B4-BE49-F238E27FC236}">
                <a16:creationId xmlns:a16="http://schemas.microsoft.com/office/drawing/2014/main" id="{F900D16C-36AA-43F9-7384-AB03487E10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9321" y="3127196"/>
            <a:ext cx="2599910" cy="2599910"/>
          </a:xfrm>
          <a:prstGeom prst="rect">
            <a:avLst/>
          </a:prstGeom>
        </p:spPr>
      </p:pic>
      <p:sp>
        <p:nvSpPr>
          <p:cNvPr id="3" name="TextBox 2">
            <a:extLst>
              <a:ext uri="{FF2B5EF4-FFF2-40B4-BE49-F238E27FC236}">
                <a16:creationId xmlns:a16="http://schemas.microsoft.com/office/drawing/2014/main" id="{96CDE617-0A7A-0D02-4E48-517BE9B21FC2}"/>
              </a:ext>
            </a:extLst>
          </p:cNvPr>
          <p:cNvSpPr txBox="1"/>
          <p:nvPr/>
        </p:nvSpPr>
        <p:spPr>
          <a:xfrm>
            <a:off x="4714240" y="293638"/>
            <a:ext cx="7204456" cy="4770537"/>
          </a:xfrm>
          <a:prstGeom prst="rect">
            <a:avLst/>
          </a:prstGeom>
          <a:noFill/>
        </p:spPr>
        <p:txBody>
          <a:bodyPr wrap="square">
            <a:spAutoFit/>
          </a:bodyPr>
          <a:lstStyle/>
          <a:p>
            <a:pPr marL="342900" indent="-342900">
              <a:spcAft>
                <a:spcPts val="1200"/>
              </a:spcAft>
              <a:buFont typeface="Arial" panose="020B0604020202020204" pitchFamily="34" charset="0"/>
              <a:buChar char="•"/>
            </a:pPr>
            <a:r>
              <a:rPr lang="en-US" sz="2400" dirty="0"/>
              <a:t>Administrators like to create the underlying storage disks automatically.</a:t>
            </a:r>
          </a:p>
          <a:p>
            <a:pPr marL="342900" indent="-342900">
              <a:spcAft>
                <a:spcPts val="1200"/>
              </a:spcAft>
              <a:buFont typeface="Arial" panose="020B0604020202020204" pitchFamily="34" charset="0"/>
              <a:buChar char="•"/>
            </a:pPr>
            <a:r>
              <a:rPr lang="en-US" sz="2400" dirty="0"/>
              <a:t>Dynamic storage creation is also possible.</a:t>
            </a:r>
          </a:p>
          <a:p>
            <a:pPr marL="342900" indent="-342900">
              <a:spcAft>
                <a:spcPts val="1200"/>
              </a:spcAft>
              <a:buFont typeface="Arial" panose="020B0604020202020204" pitchFamily="34" charset="0"/>
              <a:buChar char="•"/>
            </a:pPr>
            <a:r>
              <a:rPr lang="en-GB" sz="2400" dirty="0"/>
              <a:t>A </a:t>
            </a:r>
            <a:r>
              <a:rPr lang="en-GB" sz="2400" b="1" dirty="0" err="1"/>
              <a:t>StorageClass</a:t>
            </a:r>
            <a:r>
              <a:rPr lang="en-GB" sz="2400" dirty="0"/>
              <a:t> (SC) defines how a Persistent Volume (PV) is dynamically provisioned.</a:t>
            </a:r>
          </a:p>
          <a:p>
            <a:pPr marL="342900" indent="-342900">
              <a:spcAft>
                <a:spcPts val="1200"/>
              </a:spcAft>
              <a:buFont typeface="Arial" panose="020B0604020202020204" pitchFamily="34" charset="0"/>
              <a:buChar char="•"/>
            </a:pPr>
            <a:r>
              <a:rPr lang="en-GB" sz="2400" dirty="0"/>
              <a:t>Acts as a blueprint for storage, specifying the type of storage, performance characteristics, and reclaim policies.</a:t>
            </a:r>
          </a:p>
          <a:p>
            <a:pPr marL="342900" indent="-342900">
              <a:spcAft>
                <a:spcPts val="1200"/>
              </a:spcAft>
              <a:buFont typeface="Arial" panose="020B0604020202020204" pitchFamily="34" charset="0"/>
              <a:buChar char="•"/>
            </a:pPr>
            <a:r>
              <a:rPr lang="en-GB" sz="2400" dirty="0"/>
              <a:t>Cluster Admins deploy SCs to limit the size and types of storage which can be dynamically requested and created by Application Admins.</a:t>
            </a:r>
            <a:endParaRPr lang="en-US" dirty="0"/>
          </a:p>
        </p:txBody>
      </p:sp>
    </p:spTree>
    <p:extLst>
      <p:ext uri="{BB962C8B-B14F-4D97-AF65-F5344CB8AC3E}">
        <p14:creationId xmlns:p14="http://schemas.microsoft.com/office/powerpoint/2010/main" val="3378848539"/>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13143-8813-E94D-2807-C8BB24DCB8E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8C8FE67-9D32-09EC-8B8A-545E6E526FBB}"/>
              </a:ext>
            </a:extLst>
          </p:cNvPr>
          <p:cNvSpPr>
            <a:spLocks noGrp="1"/>
          </p:cNvSpPr>
          <p:nvPr>
            <p:ph type="title"/>
          </p:nvPr>
        </p:nvSpPr>
        <p:spPr/>
        <p:txBody>
          <a:bodyPr/>
          <a:lstStyle/>
          <a:p>
            <a:r>
              <a:rPr lang="en-US" dirty="0"/>
              <a:t>Abstracting external storage using Volumes</a:t>
            </a:r>
          </a:p>
        </p:txBody>
      </p:sp>
      <p:sp>
        <p:nvSpPr>
          <p:cNvPr id="58" name="Footer Placeholder 13">
            <a:extLst>
              <a:ext uri="{FF2B5EF4-FFF2-40B4-BE49-F238E27FC236}">
                <a16:creationId xmlns:a16="http://schemas.microsoft.com/office/drawing/2014/main" id="{29364CE5-C20B-A8E2-CFBE-133B61D89EF0}"/>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5" name="Slide Number Placeholder 4">
            <a:extLst>
              <a:ext uri="{FF2B5EF4-FFF2-40B4-BE49-F238E27FC236}">
                <a16:creationId xmlns:a16="http://schemas.microsoft.com/office/drawing/2014/main" id="{7E759C6F-0B1F-1577-D794-E30346FE8EE4}"/>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12</a:t>
            </a:fld>
            <a:endParaRPr lang="en-US" noProof="0"/>
          </a:p>
        </p:txBody>
      </p:sp>
      <p:sp>
        <p:nvSpPr>
          <p:cNvPr id="2" name="Rectangle: Rounded Corners 1">
            <a:extLst>
              <a:ext uri="{FF2B5EF4-FFF2-40B4-BE49-F238E27FC236}">
                <a16:creationId xmlns:a16="http://schemas.microsoft.com/office/drawing/2014/main" id="{5B02704B-63F6-A58A-2103-DF12E9C19BEB}"/>
              </a:ext>
            </a:extLst>
          </p:cNvPr>
          <p:cNvSpPr/>
          <p:nvPr/>
        </p:nvSpPr>
        <p:spPr bwMode="auto">
          <a:xfrm>
            <a:off x="1099512" y="2377149"/>
            <a:ext cx="2294044" cy="3881415"/>
          </a:xfrm>
          <a:prstGeom prst="roundRect">
            <a:avLst>
              <a:gd name="adj" fmla="val 3125"/>
            </a:avLst>
          </a:prstGeom>
          <a:solidFill>
            <a:srgbClr val="CCFFFF"/>
          </a:solidFill>
          <a:ln w="12700">
            <a:solidFill>
              <a:srgbClr val="000000"/>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1176" b="0" i="0" u="none" strike="noStrike" kern="1200" cap="none" spc="0" normalizeH="0" baseline="0" noProof="0">
              <a:ln>
                <a:noFill/>
              </a:ln>
              <a:solidFill>
                <a:srgbClr val="505050"/>
              </a:solidFill>
              <a:effectLst/>
              <a:uLnTx/>
              <a:uFillTx/>
              <a:latin typeface="Segoe UI"/>
              <a:ea typeface="+mn-ea"/>
              <a:cs typeface="Segoe UI" pitchFamily="34" charset="0"/>
            </a:endParaRPr>
          </a:p>
        </p:txBody>
      </p:sp>
      <p:sp>
        <p:nvSpPr>
          <p:cNvPr id="3" name="Rectangle: Rounded Corners 2">
            <a:extLst>
              <a:ext uri="{FF2B5EF4-FFF2-40B4-BE49-F238E27FC236}">
                <a16:creationId xmlns:a16="http://schemas.microsoft.com/office/drawing/2014/main" id="{8BDE649C-155D-0F62-39E8-3DE444EF89CE}"/>
              </a:ext>
            </a:extLst>
          </p:cNvPr>
          <p:cNvSpPr/>
          <p:nvPr/>
        </p:nvSpPr>
        <p:spPr bwMode="auto">
          <a:xfrm>
            <a:off x="4253276" y="2377149"/>
            <a:ext cx="6540970" cy="3881415"/>
          </a:xfrm>
          <a:prstGeom prst="roundRect">
            <a:avLst>
              <a:gd name="adj" fmla="val 3125"/>
            </a:avLst>
          </a:prstGeom>
          <a:solidFill>
            <a:schemeClr val="bg1">
              <a:lumMod val="95000"/>
            </a:schemeClr>
          </a:solidFill>
          <a:ln w="12700">
            <a:solidFill>
              <a:srgbClr val="000000"/>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1176" b="0" i="0" u="none" strike="noStrike" kern="1200" cap="none" spc="0" normalizeH="0" baseline="0" noProof="0" dirty="0">
              <a:ln>
                <a:noFill/>
              </a:ln>
              <a:solidFill>
                <a:srgbClr val="505050"/>
              </a:solidFill>
              <a:effectLst/>
              <a:uLnTx/>
              <a:uFillTx/>
              <a:latin typeface="Segoe UI"/>
              <a:ea typeface="+mn-ea"/>
              <a:cs typeface="Segoe UI" pitchFamily="34" charset="0"/>
            </a:endParaRPr>
          </a:p>
        </p:txBody>
      </p:sp>
      <p:sp>
        <p:nvSpPr>
          <p:cNvPr id="12" name="Rectangle: Rounded Corners 11">
            <a:extLst>
              <a:ext uri="{FF2B5EF4-FFF2-40B4-BE49-F238E27FC236}">
                <a16:creationId xmlns:a16="http://schemas.microsoft.com/office/drawing/2014/main" id="{4063F341-41C0-C3F6-0891-A5689780E73B}"/>
              </a:ext>
            </a:extLst>
          </p:cNvPr>
          <p:cNvSpPr/>
          <p:nvPr/>
        </p:nvSpPr>
        <p:spPr bwMode="auto">
          <a:xfrm>
            <a:off x="5519194" y="3017716"/>
            <a:ext cx="5031212" cy="3090041"/>
          </a:xfrm>
          <a:prstGeom prst="roundRect">
            <a:avLst>
              <a:gd name="adj" fmla="val 3125"/>
            </a:avLst>
          </a:prstGeom>
          <a:solidFill>
            <a:srgbClr val="FFCC99"/>
          </a:solidFill>
          <a:ln w="12700">
            <a:solidFill>
              <a:srgbClr val="000000"/>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1176" b="0" i="0" u="none" strike="noStrike" kern="1200" cap="none" spc="0" normalizeH="0" baseline="0" noProof="0">
              <a:ln>
                <a:noFill/>
              </a:ln>
              <a:solidFill>
                <a:srgbClr val="505050"/>
              </a:solidFill>
              <a:effectLst/>
              <a:uLnTx/>
              <a:uFillTx/>
              <a:latin typeface="Segoe UI"/>
              <a:ea typeface="+mn-ea"/>
              <a:cs typeface="Segoe UI" pitchFamily="34" charset="0"/>
            </a:endParaRPr>
          </a:p>
        </p:txBody>
      </p:sp>
      <p:sp>
        <p:nvSpPr>
          <p:cNvPr id="13" name="Rectangle: Rounded Corners 12">
            <a:extLst>
              <a:ext uri="{FF2B5EF4-FFF2-40B4-BE49-F238E27FC236}">
                <a16:creationId xmlns:a16="http://schemas.microsoft.com/office/drawing/2014/main" id="{C56E3DD8-C943-7A9E-455F-AFFF5BE00409}"/>
              </a:ext>
            </a:extLst>
          </p:cNvPr>
          <p:cNvSpPr/>
          <p:nvPr/>
        </p:nvSpPr>
        <p:spPr bwMode="auto">
          <a:xfrm>
            <a:off x="7456055" y="3355493"/>
            <a:ext cx="2876265" cy="2538537"/>
          </a:xfrm>
          <a:prstGeom prst="roundRect">
            <a:avLst>
              <a:gd name="adj" fmla="val 3125"/>
            </a:avLst>
          </a:prstGeom>
          <a:solidFill>
            <a:schemeClr val="accent3">
              <a:lumMod val="20000"/>
              <a:lumOff val="80000"/>
            </a:schemeClr>
          </a:solidFill>
          <a:ln w="12700">
            <a:solidFill>
              <a:srgbClr val="000000"/>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1176" b="0" i="0" u="none" strike="noStrike" kern="1200" cap="none" spc="0" normalizeH="0" baseline="0" noProof="0">
              <a:ln>
                <a:noFill/>
              </a:ln>
              <a:solidFill>
                <a:srgbClr val="505050"/>
              </a:solidFill>
              <a:effectLst/>
              <a:uLnTx/>
              <a:uFillTx/>
              <a:latin typeface="Segoe UI"/>
              <a:ea typeface="+mn-ea"/>
              <a:cs typeface="Segoe UI" pitchFamily="34" charset="0"/>
            </a:endParaRPr>
          </a:p>
        </p:txBody>
      </p:sp>
      <p:sp>
        <p:nvSpPr>
          <p:cNvPr id="38" name="Title 1">
            <a:extLst>
              <a:ext uri="{FF2B5EF4-FFF2-40B4-BE49-F238E27FC236}">
                <a16:creationId xmlns:a16="http://schemas.microsoft.com/office/drawing/2014/main" id="{4371ED76-6617-F896-82DC-12E64866B058}"/>
              </a:ext>
            </a:extLst>
          </p:cNvPr>
          <p:cNvSpPr txBox="1">
            <a:spLocks/>
          </p:cNvSpPr>
          <p:nvPr/>
        </p:nvSpPr>
        <p:spPr>
          <a:xfrm>
            <a:off x="7627840" y="3438398"/>
            <a:ext cx="857567" cy="184666"/>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defTabSz="914192"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dirty="0">
                <a:ln w="3175">
                  <a:noFill/>
                </a:ln>
                <a:solidFill>
                  <a:srgbClr val="000000"/>
                </a:solidFill>
                <a:effectLst/>
                <a:uLnTx/>
                <a:uFillTx/>
                <a:latin typeface="Segoe UI Semibold" panose="020B0702040204020203" pitchFamily="34" charset="0"/>
                <a:ea typeface="+mn-ea"/>
                <a:cs typeface="Segoe UI Semibold" panose="020B0702040204020203" pitchFamily="34" charset="0"/>
              </a:rPr>
              <a:t>Node</a:t>
            </a:r>
          </a:p>
        </p:txBody>
      </p:sp>
      <p:sp>
        <p:nvSpPr>
          <p:cNvPr id="44" name="Content Placeholder 2">
            <a:extLst>
              <a:ext uri="{FF2B5EF4-FFF2-40B4-BE49-F238E27FC236}">
                <a16:creationId xmlns:a16="http://schemas.microsoft.com/office/drawing/2014/main" id="{3783E5AD-C6BD-25A6-9DA3-574B362AFC07}"/>
              </a:ext>
            </a:extLst>
          </p:cNvPr>
          <p:cNvSpPr txBox="1">
            <a:spLocks/>
          </p:cNvSpPr>
          <p:nvPr/>
        </p:nvSpPr>
        <p:spPr>
          <a:xfrm>
            <a:off x="158600" y="1800499"/>
            <a:ext cx="11942911" cy="459225"/>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t>Kubernetes offers many flexible options for mounting volumes into Pods.</a:t>
            </a:r>
          </a:p>
        </p:txBody>
      </p:sp>
      <p:sp>
        <p:nvSpPr>
          <p:cNvPr id="45" name="Rectangle: Rounded Corners 44">
            <a:extLst>
              <a:ext uri="{FF2B5EF4-FFF2-40B4-BE49-F238E27FC236}">
                <a16:creationId xmlns:a16="http://schemas.microsoft.com/office/drawing/2014/main" id="{5312ECF4-1FD0-254F-D20B-DBD04D89063D}"/>
              </a:ext>
            </a:extLst>
          </p:cNvPr>
          <p:cNvSpPr/>
          <p:nvPr/>
        </p:nvSpPr>
        <p:spPr bwMode="auto">
          <a:xfrm>
            <a:off x="7811043" y="3687127"/>
            <a:ext cx="1245843" cy="1859280"/>
          </a:xfrm>
          <a:prstGeom prst="roundRect">
            <a:avLst>
              <a:gd name="adj" fmla="val 3125"/>
            </a:avLst>
          </a:prstGeom>
          <a:solidFill>
            <a:srgbClr val="326CE5"/>
          </a:solidFill>
          <a:ln w="12700" cap="flat" cmpd="sng" algn="ctr">
            <a:solidFill>
              <a:schemeClr val="tx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1200" b="0" i="0" u="none" strike="noStrike" kern="0" cap="none" spc="0" normalizeH="0" baseline="0" noProof="0" dirty="0">
              <a:ln>
                <a:noFill/>
              </a:ln>
              <a:solidFill>
                <a:srgbClr val="505050"/>
              </a:solidFill>
              <a:effectLst/>
              <a:uLnTx/>
              <a:uFillTx/>
              <a:latin typeface="Segoe UI"/>
              <a:ea typeface="+mn-ea"/>
              <a:cs typeface="Segoe UI" pitchFamily="34" charset="0"/>
            </a:endParaRPr>
          </a:p>
        </p:txBody>
      </p:sp>
      <p:sp>
        <p:nvSpPr>
          <p:cNvPr id="46" name="Rectangle: Rounded Corners 45">
            <a:extLst>
              <a:ext uri="{FF2B5EF4-FFF2-40B4-BE49-F238E27FC236}">
                <a16:creationId xmlns:a16="http://schemas.microsoft.com/office/drawing/2014/main" id="{05AF8686-B7BB-3050-4E75-86440998D941}"/>
              </a:ext>
            </a:extLst>
          </p:cNvPr>
          <p:cNvSpPr/>
          <p:nvPr/>
        </p:nvSpPr>
        <p:spPr bwMode="auto">
          <a:xfrm>
            <a:off x="7981011" y="4178178"/>
            <a:ext cx="892996" cy="234846"/>
          </a:xfrm>
          <a:prstGeom prst="roundRect">
            <a:avLst>
              <a:gd name="adj" fmla="val 0"/>
            </a:avLst>
          </a:prstGeom>
          <a:solidFill>
            <a:srgbClr val="E6E6E6"/>
          </a:solidFill>
          <a:ln w="12700" cap="flat" cmpd="sng" algn="ctr">
            <a:solidFill>
              <a:schemeClr val="tx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defTabSz="932742" rtl="0" eaLnBrk="1" fontAlgn="auto" latinLnBrk="0" hangingPunct="1">
              <a:lnSpc>
                <a:spcPct val="100000"/>
              </a:lnSpc>
              <a:spcBef>
                <a:spcPct val="0"/>
              </a:spcBef>
              <a:spcAft>
                <a:spcPts val="0"/>
              </a:spcAft>
              <a:buClrTx/>
              <a:buSzTx/>
              <a:buFontTx/>
              <a:buNone/>
              <a:tabLst/>
              <a:defRPr/>
            </a:pPr>
            <a:r>
              <a:rPr lang="en-US" sz="900" b="1" dirty="0">
                <a:ln w="3175">
                  <a:noFill/>
                </a:ln>
                <a:solidFill>
                  <a:srgbClr val="3C3C41"/>
                </a:solidFill>
                <a:latin typeface="Segoe UI Semibold" panose="020B0702040204020203" pitchFamily="34" charset="0"/>
                <a:cs typeface="Segoe UI Semibold" panose="020B0702040204020203" pitchFamily="34" charset="0"/>
              </a:rPr>
              <a:t>Volumes</a:t>
            </a:r>
            <a:endParaRPr kumimoji="0" lang="en-US" sz="900" b="1" i="0" u="none" strike="noStrike" kern="1200" cap="none" spc="0" normalizeH="0" baseline="0" noProof="0" dirty="0">
              <a:ln w="3175">
                <a:noFill/>
              </a:ln>
              <a:solidFill>
                <a:srgbClr val="3C3C41"/>
              </a:solidFill>
              <a:effectLst/>
              <a:uLnTx/>
              <a:uFillTx/>
              <a:latin typeface="Segoe UI Semibold" panose="020B0702040204020203" pitchFamily="34" charset="0"/>
              <a:cs typeface="Segoe UI Semibold" panose="020B0702040204020203" pitchFamily="34" charset="0"/>
            </a:endParaRPr>
          </a:p>
        </p:txBody>
      </p:sp>
      <p:sp>
        <p:nvSpPr>
          <p:cNvPr id="47" name="Rectangle: Rounded Corners 46">
            <a:extLst>
              <a:ext uri="{FF2B5EF4-FFF2-40B4-BE49-F238E27FC236}">
                <a16:creationId xmlns:a16="http://schemas.microsoft.com/office/drawing/2014/main" id="{ABCE2344-4DF6-6DDD-B00C-54C25E1C00FE}"/>
              </a:ext>
            </a:extLst>
          </p:cNvPr>
          <p:cNvSpPr/>
          <p:nvPr/>
        </p:nvSpPr>
        <p:spPr bwMode="auto">
          <a:xfrm>
            <a:off x="8028783" y="4779955"/>
            <a:ext cx="797449" cy="582684"/>
          </a:xfrm>
          <a:prstGeom prst="roundRect">
            <a:avLst>
              <a:gd name="adj" fmla="val 3125"/>
            </a:avLst>
          </a:prstGeom>
          <a:solidFill>
            <a:srgbClr val="9BF00B"/>
          </a:solidFill>
          <a:ln w="12700" cap="flat" cmpd="sng" algn="ctr">
            <a:solidFill>
              <a:schemeClr val="tx1"/>
            </a:solidFill>
            <a:prstDash val="solid"/>
            <a:headEnd type="none" w="med" len="med"/>
            <a:tailEnd type="none" w="med" len="med"/>
          </a:ln>
          <a:effectLst/>
        </p:spPr>
        <p:txBody>
          <a:bodyPr rot="0" spcFirstLastPara="0" vertOverflow="overflow" horzOverflow="overflow" vert="horz" wrap="square" lIns="45720" tIns="146304" rIns="45720" bIns="146304" numCol="1" spcCol="0" rtlCol="0" fromWordArt="0" anchor="ctr" anchorCtr="0" forceAA="0" compatLnSpc="1">
            <a:prstTxWarp prst="textNoShape">
              <a:avLst/>
            </a:prstTxWarp>
            <a:noAutofit/>
          </a:bodyPr>
          <a:lstStyle/>
          <a:p>
            <a:pPr marL="0" marR="0" lvl="0" indent="0" algn="ctr" defTabSz="932742" rtl="0" eaLnBrk="1" fontAlgn="base" latinLnBrk="0" hangingPunct="1">
              <a:lnSpc>
                <a:spcPct val="90000"/>
              </a:lnSpc>
              <a:spcBef>
                <a:spcPct val="0"/>
              </a:spcBef>
              <a:spcAft>
                <a:spcPct val="0"/>
              </a:spcAft>
              <a:buClrTx/>
              <a:buSzTx/>
              <a:buFontTx/>
              <a:buNone/>
              <a:tabLst/>
              <a:defRPr/>
            </a:pPr>
            <a:r>
              <a:rPr kumimoji="0" lang="en-US" sz="800" b="0" i="0" u="none" strike="noStrike" kern="1200" cap="none" spc="0" normalizeH="0" baseline="0" noProof="0" dirty="0">
                <a:ln w="3175">
                  <a:noFill/>
                </a:ln>
                <a:effectLst/>
                <a:uLnTx/>
                <a:uFillTx/>
                <a:latin typeface="Segoe UI Semibold" panose="020B0702040204020203" pitchFamily="34" charset="0"/>
                <a:ea typeface="+mn-ea"/>
                <a:cs typeface="Segoe UI Semibold" panose="020B0702040204020203" pitchFamily="34" charset="0"/>
              </a:rPr>
              <a:t>Containers</a:t>
            </a:r>
          </a:p>
        </p:txBody>
      </p:sp>
      <p:cxnSp>
        <p:nvCxnSpPr>
          <p:cNvPr id="48" name="Connector: Elbow 47">
            <a:extLst>
              <a:ext uri="{FF2B5EF4-FFF2-40B4-BE49-F238E27FC236}">
                <a16:creationId xmlns:a16="http://schemas.microsoft.com/office/drawing/2014/main" id="{4837191C-1504-17CB-8ADE-CF920117AAB2}"/>
              </a:ext>
            </a:extLst>
          </p:cNvPr>
          <p:cNvCxnSpPr>
            <a:cxnSpLocks/>
            <a:stCxn id="47" idx="0"/>
            <a:endCxn id="46" idx="2"/>
          </p:cNvCxnSpPr>
          <p:nvPr/>
        </p:nvCxnSpPr>
        <p:spPr>
          <a:xfrm rot="5400000" flipH="1" flipV="1">
            <a:off x="8244043" y="4596490"/>
            <a:ext cx="366931" cy="1"/>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Title 1">
            <a:extLst>
              <a:ext uri="{FF2B5EF4-FFF2-40B4-BE49-F238E27FC236}">
                <a16:creationId xmlns:a16="http://schemas.microsoft.com/office/drawing/2014/main" id="{8722D161-5315-2DAD-691F-81A9DF042CBE}"/>
              </a:ext>
            </a:extLst>
          </p:cNvPr>
          <p:cNvSpPr txBox="1">
            <a:spLocks/>
          </p:cNvSpPr>
          <p:nvPr/>
        </p:nvSpPr>
        <p:spPr>
          <a:xfrm>
            <a:off x="7863719" y="3713811"/>
            <a:ext cx="331443" cy="184666"/>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defTabSz="914192"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dirty="0">
                <a:ln w="3175">
                  <a:noFill/>
                </a:ln>
                <a:solidFill>
                  <a:schemeClr val="bg1"/>
                </a:solidFill>
                <a:effectLst/>
                <a:uLnTx/>
                <a:uFillTx/>
                <a:latin typeface="Segoe UI Semibold" panose="020B0702040204020203" pitchFamily="34" charset="0"/>
                <a:ea typeface="+mn-ea"/>
                <a:cs typeface="Segoe UI Semibold" panose="020B0702040204020203" pitchFamily="34" charset="0"/>
              </a:rPr>
              <a:t>Pod</a:t>
            </a:r>
          </a:p>
        </p:txBody>
      </p:sp>
      <p:sp>
        <p:nvSpPr>
          <p:cNvPr id="50" name="Title 1">
            <a:extLst>
              <a:ext uri="{FF2B5EF4-FFF2-40B4-BE49-F238E27FC236}">
                <a16:creationId xmlns:a16="http://schemas.microsoft.com/office/drawing/2014/main" id="{ACB9F203-134C-2950-F231-48C055904599}"/>
              </a:ext>
            </a:extLst>
          </p:cNvPr>
          <p:cNvSpPr txBox="1">
            <a:spLocks/>
          </p:cNvSpPr>
          <p:nvPr/>
        </p:nvSpPr>
        <p:spPr>
          <a:xfrm>
            <a:off x="4350733" y="2428175"/>
            <a:ext cx="1317287" cy="184666"/>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defTabSz="914192"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dirty="0">
                <a:ln w="3175">
                  <a:noFill/>
                </a:ln>
                <a:solidFill>
                  <a:srgbClr val="000000"/>
                </a:solidFill>
                <a:effectLst/>
                <a:uLnTx/>
                <a:uFillTx/>
                <a:latin typeface="Segoe UI Semibold" panose="020B0702040204020203" pitchFamily="34" charset="0"/>
                <a:ea typeface="+mn-ea"/>
                <a:cs typeface="Segoe UI Semibold" panose="020B0702040204020203" pitchFamily="34" charset="0"/>
              </a:rPr>
              <a:t>Cluster</a:t>
            </a:r>
          </a:p>
        </p:txBody>
      </p:sp>
      <p:pic>
        <p:nvPicPr>
          <p:cNvPr id="51" name="Picture 2" descr="Icon&#10;&#10;Description automatically generated">
            <a:extLst>
              <a:ext uri="{FF2B5EF4-FFF2-40B4-BE49-F238E27FC236}">
                <a16:creationId xmlns:a16="http://schemas.microsoft.com/office/drawing/2014/main" id="{C0899248-2043-5205-8711-6A4E676940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49642" y="3434989"/>
            <a:ext cx="771525" cy="962025"/>
          </a:xfrm>
          <a:prstGeom prst="rect">
            <a:avLst/>
          </a:prstGeom>
          <a:noFill/>
        </p:spPr>
      </p:pic>
      <p:cxnSp>
        <p:nvCxnSpPr>
          <p:cNvPr id="52" name="Connector: Elbow 51">
            <a:extLst>
              <a:ext uri="{FF2B5EF4-FFF2-40B4-BE49-F238E27FC236}">
                <a16:creationId xmlns:a16="http://schemas.microsoft.com/office/drawing/2014/main" id="{EB0A69B6-F177-AC67-6B0E-41E2D07AF7B9}"/>
              </a:ext>
            </a:extLst>
          </p:cNvPr>
          <p:cNvCxnSpPr>
            <a:cxnSpLocks/>
            <a:stCxn id="46" idx="3"/>
            <a:endCxn id="51" idx="1"/>
          </p:cNvCxnSpPr>
          <p:nvPr/>
        </p:nvCxnSpPr>
        <p:spPr>
          <a:xfrm flipV="1">
            <a:off x="8874007" y="3916002"/>
            <a:ext cx="575635" cy="379599"/>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53" name="Picture 2" descr="Icon&#10;&#10;Description automatically generated">
            <a:extLst>
              <a:ext uri="{FF2B5EF4-FFF2-40B4-BE49-F238E27FC236}">
                <a16:creationId xmlns:a16="http://schemas.microsoft.com/office/drawing/2014/main" id="{F5509964-FD33-A93D-9324-410BCA31F0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80753" y="3359350"/>
            <a:ext cx="818766" cy="793180"/>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2" descr="Icon&#10;&#10;Description automatically generated">
            <a:extLst>
              <a:ext uri="{FF2B5EF4-FFF2-40B4-BE49-F238E27FC236}">
                <a16:creationId xmlns:a16="http://schemas.microsoft.com/office/drawing/2014/main" id="{13A70795-9002-231B-C58D-25CFB8EDA04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85000" y="3359215"/>
            <a:ext cx="818767" cy="793180"/>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2" descr="Icon&#10;&#10;Description automatically generated">
            <a:extLst>
              <a:ext uri="{FF2B5EF4-FFF2-40B4-BE49-F238E27FC236}">
                <a16:creationId xmlns:a16="http://schemas.microsoft.com/office/drawing/2014/main" id="{0B493E39-90F0-4CF6-8AAF-42606A4BDA0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32070" y="2860680"/>
            <a:ext cx="1114425" cy="962025"/>
          </a:xfrm>
          <a:prstGeom prst="rect">
            <a:avLst/>
          </a:prstGeom>
          <a:noFill/>
        </p:spPr>
      </p:pic>
      <p:pic>
        <p:nvPicPr>
          <p:cNvPr id="56" name="Picture 2" descr="Graphical user interface, icon&#10;&#10;Description automatically generated with medium confidence">
            <a:extLst>
              <a:ext uri="{FF2B5EF4-FFF2-40B4-BE49-F238E27FC236}">
                <a16:creationId xmlns:a16="http://schemas.microsoft.com/office/drawing/2014/main" id="{4F20B0F9-C1FF-366F-D7FD-3E59A6C28CC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23203" y="4955720"/>
            <a:ext cx="1236875" cy="1067730"/>
          </a:xfrm>
          <a:prstGeom prst="rect">
            <a:avLst/>
          </a:prstGeom>
          <a:noFill/>
        </p:spPr>
      </p:pic>
      <p:sp>
        <p:nvSpPr>
          <p:cNvPr id="57" name="Title 1">
            <a:extLst>
              <a:ext uri="{FF2B5EF4-FFF2-40B4-BE49-F238E27FC236}">
                <a16:creationId xmlns:a16="http://schemas.microsoft.com/office/drawing/2014/main" id="{99BD3330-EE4E-7080-6E0B-229F1084166C}"/>
              </a:ext>
            </a:extLst>
          </p:cNvPr>
          <p:cNvSpPr txBox="1">
            <a:spLocks/>
          </p:cNvSpPr>
          <p:nvPr/>
        </p:nvSpPr>
        <p:spPr>
          <a:xfrm>
            <a:off x="1322332" y="3224840"/>
            <a:ext cx="857567" cy="184666"/>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defTabSz="914192"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dirty="0">
                <a:ln w="3175">
                  <a:noFill/>
                </a:ln>
                <a:solidFill>
                  <a:srgbClr val="000000"/>
                </a:solidFill>
                <a:effectLst/>
                <a:uLnTx/>
                <a:uFillTx/>
                <a:latin typeface="Segoe UI Semibold" panose="020B0702040204020203" pitchFamily="34" charset="0"/>
                <a:ea typeface="+mn-ea"/>
                <a:cs typeface="Segoe UI Semibold" panose="020B0702040204020203" pitchFamily="34" charset="0"/>
              </a:rPr>
              <a:t>Azure Disk</a:t>
            </a:r>
          </a:p>
        </p:txBody>
      </p:sp>
      <p:sp>
        <p:nvSpPr>
          <p:cNvPr id="59" name="Title 1">
            <a:extLst>
              <a:ext uri="{FF2B5EF4-FFF2-40B4-BE49-F238E27FC236}">
                <a16:creationId xmlns:a16="http://schemas.microsoft.com/office/drawing/2014/main" id="{B6ACD3ED-FF8E-E66A-E9AD-9DA180D8170F}"/>
              </a:ext>
            </a:extLst>
          </p:cNvPr>
          <p:cNvSpPr txBox="1">
            <a:spLocks/>
          </p:cNvSpPr>
          <p:nvPr/>
        </p:nvSpPr>
        <p:spPr>
          <a:xfrm>
            <a:off x="1316422" y="5274790"/>
            <a:ext cx="1109028" cy="369332"/>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defTabSz="914192"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dirty="0">
                <a:ln w="3175">
                  <a:noFill/>
                </a:ln>
                <a:solidFill>
                  <a:srgbClr val="000000"/>
                </a:solidFill>
                <a:effectLst/>
                <a:uLnTx/>
                <a:uFillTx/>
                <a:latin typeface="Segoe UI Semibold" panose="020B0702040204020203" pitchFamily="34" charset="0"/>
                <a:ea typeface="+mn-ea"/>
                <a:cs typeface="Segoe UI Semibold" panose="020B0702040204020203" pitchFamily="34" charset="0"/>
              </a:rPr>
              <a:t>Azure</a:t>
            </a:r>
          </a:p>
          <a:p>
            <a:pPr marL="0" marR="0" lvl="0" indent="0" defTabSz="914192"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dirty="0">
                <a:ln w="3175">
                  <a:noFill/>
                </a:ln>
                <a:solidFill>
                  <a:srgbClr val="000000"/>
                </a:solidFill>
                <a:effectLst/>
                <a:uLnTx/>
                <a:uFillTx/>
                <a:latin typeface="Segoe UI Semibold" panose="020B0702040204020203" pitchFamily="34" charset="0"/>
                <a:ea typeface="+mn-ea"/>
                <a:cs typeface="Segoe UI Semibold" panose="020B0702040204020203" pitchFamily="34" charset="0"/>
              </a:rPr>
              <a:t>File Share</a:t>
            </a:r>
          </a:p>
        </p:txBody>
      </p:sp>
      <p:sp>
        <p:nvSpPr>
          <p:cNvPr id="60" name="Title 1">
            <a:extLst>
              <a:ext uri="{FF2B5EF4-FFF2-40B4-BE49-F238E27FC236}">
                <a16:creationId xmlns:a16="http://schemas.microsoft.com/office/drawing/2014/main" id="{8A34484D-852B-48EC-A5B3-9CFDEEF1EB53}"/>
              </a:ext>
            </a:extLst>
          </p:cNvPr>
          <p:cNvSpPr txBox="1">
            <a:spLocks/>
          </p:cNvSpPr>
          <p:nvPr/>
        </p:nvSpPr>
        <p:spPr>
          <a:xfrm>
            <a:off x="5668020" y="3081800"/>
            <a:ext cx="857567" cy="184666"/>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defTabSz="914192"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dirty="0">
                <a:ln w="3175">
                  <a:noFill/>
                </a:ln>
                <a:solidFill>
                  <a:srgbClr val="000000"/>
                </a:solidFill>
                <a:effectLst/>
                <a:uLnTx/>
                <a:uFillTx/>
                <a:latin typeface="Segoe UI Semibold" panose="020B0702040204020203" pitchFamily="34" charset="0"/>
                <a:ea typeface="+mn-ea"/>
                <a:cs typeface="Segoe UI Semibold" panose="020B0702040204020203" pitchFamily="34" charset="0"/>
              </a:rPr>
              <a:t>Namespace</a:t>
            </a:r>
          </a:p>
        </p:txBody>
      </p:sp>
      <p:cxnSp>
        <p:nvCxnSpPr>
          <p:cNvPr id="61" name="Connector: Elbow 60">
            <a:extLst>
              <a:ext uri="{FF2B5EF4-FFF2-40B4-BE49-F238E27FC236}">
                <a16:creationId xmlns:a16="http://schemas.microsoft.com/office/drawing/2014/main" id="{AD6E3E69-B2CD-0A74-3238-08AF89E6DBD0}"/>
              </a:ext>
            </a:extLst>
          </p:cNvPr>
          <p:cNvCxnSpPr>
            <a:cxnSpLocks/>
            <a:stCxn id="46" idx="1"/>
            <a:endCxn id="53" idx="3"/>
          </p:cNvCxnSpPr>
          <p:nvPr/>
        </p:nvCxnSpPr>
        <p:spPr>
          <a:xfrm rot="10800000">
            <a:off x="6599519" y="3755941"/>
            <a:ext cx="1381492" cy="539661"/>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Connector: Elbow 61">
            <a:extLst>
              <a:ext uri="{FF2B5EF4-FFF2-40B4-BE49-F238E27FC236}">
                <a16:creationId xmlns:a16="http://schemas.microsoft.com/office/drawing/2014/main" id="{73A264DE-980F-4AD7-879E-AE102919AB2B}"/>
              </a:ext>
            </a:extLst>
          </p:cNvPr>
          <p:cNvCxnSpPr>
            <a:cxnSpLocks/>
            <a:stCxn id="53" idx="1"/>
            <a:endCxn id="54" idx="3"/>
          </p:cNvCxnSpPr>
          <p:nvPr/>
        </p:nvCxnSpPr>
        <p:spPr>
          <a:xfrm rot="10800000">
            <a:off x="5303767" y="3755806"/>
            <a:ext cx="476986" cy="135"/>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Connector: Elbow 62">
            <a:extLst>
              <a:ext uri="{FF2B5EF4-FFF2-40B4-BE49-F238E27FC236}">
                <a16:creationId xmlns:a16="http://schemas.microsoft.com/office/drawing/2014/main" id="{BF011F27-0F1F-DB59-9FF3-BC63F389916E}"/>
              </a:ext>
            </a:extLst>
          </p:cNvPr>
          <p:cNvCxnSpPr>
            <a:cxnSpLocks/>
            <a:stCxn id="53" idx="2"/>
            <a:endCxn id="67" idx="3"/>
          </p:cNvCxnSpPr>
          <p:nvPr/>
        </p:nvCxnSpPr>
        <p:spPr>
          <a:xfrm rot="5400000">
            <a:off x="5332432" y="4131486"/>
            <a:ext cx="836660" cy="878749"/>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5B024784-0930-BDF9-D1B4-911F35D2C769}"/>
              </a:ext>
            </a:extLst>
          </p:cNvPr>
          <p:cNvCxnSpPr>
            <a:cxnSpLocks/>
            <a:stCxn id="54" idx="1"/>
            <a:endCxn id="55" idx="3"/>
          </p:cNvCxnSpPr>
          <p:nvPr/>
        </p:nvCxnSpPr>
        <p:spPr>
          <a:xfrm rot="10800000">
            <a:off x="3146496" y="3341693"/>
            <a:ext cx="1338505" cy="414112"/>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Connector: Elbow 65">
            <a:extLst>
              <a:ext uri="{FF2B5EF4-FFF2-40B4-BE49-F238E27FC236}">
                <a16:creationId xmlns:a16="http://schemas.microsoft.com/office/drawing/2014/main" id="{B6AA44B7-0455-FF98-9575-219C4B4CC8FD}"/>
              </a:ext>
            </a:extLst>
          </p:cNvPr>
          <p:cNvCxnSpPr>
            <a:cxnSpLocks/>
            <a:stCxn id="67" idx="0"/>
            <a:endCxn id="54" idx="2"/>
          </p:cNvCxnSpPr>
          <p:nvPr/>
        </p:nvCxnSpPr>
        <p:spPr>
          <a:xfrm rot="5400000" flipH="1" flipV="1">
            <a:off x="4686467" y="4359784"/>
            <a:ext cx="415305" cy="529"/>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67" name="Picture 66" descr="Icon&#10;&#10;Description automatically generated">
            <a:extLst>
              <a:ext uri="{FF2B5EF4-FFF2-40B4-BE49-F238E27FC236}">
                <a16:creationId xmlns:a16="http://schemas.microsoft.com/office/drawing/2014/main" id="{2A1D6AB9-D139-8E56-B4FB-EBA617E856E2}"/>
              </a:ext>
            </a:extLst>
          </p:cNvPr>
          <p:cNvPicPr>
            <a:picLocks noChangeAspect="1"/>
          </p:cNvPicPr>
          <p:nvPr/>
        </p:nvPicPr>
        <p:blipFill>
          <a:blip r:embed="rId8"/>
          <a:stretch>
            <a:fillRect/>
          </a:stretch>
        </p:blipFill>
        <p:spPr>
          <a:xfrm>
            <a:off x="4476322" y="4567700"/>
            <a:ext cx="835065" cy="842980"/>
          </a:xfrm>
          <a:prstGeom prst="rect">
            <a:avLst/>
          </a:prstGeom>
        </p:spPr>
      </p:pic>
      <p:sp>
        <p:nvSpPr>
          <p:cNvPr id="68" name="Title 1">
            <a:extLst>
              <a:ext uri="{FF2B5EF4-FFF2-40B4-BE49-F238E27FC236}">
                <a16:creationId xmlns:a16="http://schemas.microsoft.com/office/drawing/2014/main" id="{9A1B9833-CC1C-716A-6111-31D6CFF73DC8}"/>
              </a:ext>
            </a:extLst>
          </p:cNvPr>
          <p:cNvSpPr txBox="1">
            <a:spLocks/>
          </p:cNvSpPr>
          <p:nvPr/>
        </p:nvSpPr>
        <p:spPr>
          <a:xfrm>
            <a:off x="9491512" y="4336572"/>
            <a:ext cx="857567" cy="184666"/>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defTabSz="914192"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dirty="0">
                <a:ln w="3175">
                  <a:noFill/>
                </a:ln>
                <a:solidFill>
                  <a:srgbClr val="000000"/>
                </a:solidFill>
                <a:effectLst/>
                <a:uLnTx/>
                <a:uFillTx/>
                <a:latin typeface="Segoe UI Semibold" panose="020B0702040204020203" pitchFamily="34" charset="0"/>
                <a:ea typeface="+mn-ea"/>
                <a:cs typeface="Segoe UI Semibold" panose="020B0702040204020203" pitchFamily="34" charset="0"/>
              </a:rPr>
              <a:t>Host Path</a:t>
            </a:r>
          </a:p>
        </p:txBody>
      </p:sp>
      <p:pic>
        <p:nvPicPr>
          <p:cNvPr id="69" name="Picture 2" descr="A picture containing text, envelope, stationary&#10;&#10;Description automatically generated">
            <a:extLst>
              <a:ext uri="{FF2B5EF4-FFF2-40B4-BE49-F238E27FC236}">
                <a16:creationId xmlns:a16="http://schemas.microsoft.com/office/drawing/2014/main" id="{344A5E46-AAD0-D344-3BDD-77ACB2C9F4B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450998" y="4702260"/>
            <a:ext cx="797803" cy="698697"/>
          </a:xfrm>
          <a:prstGeom prst="rect">
            <a:avLst/>
          </a:prstGeom>
          <a:noFill/>
        </p:spPr>
      </p:pic>
      <p:sp>
        <p:nvSpPr>
          <p:cNvPr id="70" name="Title 1">
            <a:extLst>
              <a:ext uri="{FF2B5EF4-FFF2-40B4-BE49-F238E27FC236}">
                <a16:creationId xmlns:a16="http://schemas.microsoft.com/office/drawing/2014/main" id="{CE453FA5-E7DA-934D-02C9-BE6C8F7C33AA}"/>
              </a:ext>
            </a:extLst>
          </p:cNvPr>
          <p:cNvSpPr txBox="1">
            <a:spLocks/>
          </p:cNvSpPr>
          <p:nvPr/>
        </p:nvSpPr>
        <p:spPr>
          <a:xfrm>
            <a:off x="9484338" y="5420603"/>
            <a:ext cx="733983" cy="184666"/>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defTabSz="914192"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dirty="0">
                <a:ln w="3175">
                  <a:noFill/>
                </a:ln>
                <a:solidFill>
                  <a:srgbClr val="000000"/>
                </a:solidFill>
                <a:effectLst/>
                <a:uLnTx/>
                <a:uFillTx/>
                <a:latin typeface="Segoe UI Semibold" panose="020B0702040204020203" pitchFamily="34" charset="0"/>
                <a:ea typeface="+mn-ea"/>
                <a:cs typeface="Segoe UI Semibold" panose="020B0702040204020203" pitchFamily="34" charset="0"/>
              </a:rPr>
              <a:t>Empty Dir</a:t>
            </a:r>
          </a:p>
        </p:txBody>
      </p:sp>
      <p:cxnSp>
        <p:nvCxnSpPr>
          <p:cNvPr id="71" name="Connector: Elbow 70">
            <a:extLst>
              <a:ext uri="{FF2B5EF4-FFF2-40B4-BE49-F238E27FC236}">
                <a16:creationId xmlns:a16="http://schemas.microsoft.com/office/drawing/2014/main" id="{46587110-868B-FE7E-8477-3344B85E04D8}"/>
              </a:ext>
            </a:extLst>
          </p:cNvPr>
          <p:cNvCxnSpPr>
            <a:cxnSpLocks/>
            <a:stCxn id="46" idx="3"/>
            <a:endCxn id="69" idx="1"/>
          </p:cNvCxnSpPr>
          <p:nvPr/>
        </p:nvCxnSpPr>
        <p:spPr>
          <a:xfrm>
            <a:off x="8874007" y="4295601"/>
            <a:ext cx="576991" cy="756008"/>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72" name="Picture 2" descr="A picture containing text, sign, stop, outdoor&#10;&#10;Description automatically generated">
            <a:extLst>
              <a:ext uri="{FF2B5EF4-FFF2-40B4-BE49-F238E27FC236}">
                <a16:creationId xmlns:a16="http://schemas.microsoft.com/office/drawing/2014/main" id="{221ECEF0-A37C-682D-9FBE-C1428B4FEFC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318643" y="4212154"/>
            <a:ext cx="788907" cy="764254"/>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2" descr="Icon&#10;&#10;Description automatically generated">
            <a:extLst>
              <a:ext uri="{FF2B5EF4-FFF2-40B4-BE49-F238E27FC236}">
                <a16:creationId xmlns:a16="http://schemas.microsoft.com/office/drawing/2014/main" id="{EEDFBD71-40F9-C1B1-A51F-008AA5A286D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519969" y="5103246"/>
            <a:ext cx="788907" cy="764254"/>
          </a:xfrm>
          <a:prstGeom prst="rect">
            <a:avLst/>
          </a:prstGeom>
          <a:noFill/>
          <a:extLst>
            <a:ext uri="{909E8E84-426E-40DD-AFC4-6F175D3DCCD1}">
              <a14:hiddenFill xmlns:a14="http://schemas.microsoft.com/office/drawing/2010/main">
                <a:solidFill>
                  <a:srgbClr val="FFFFFF"/>
                </a:solidFill>
              </a14:hiddenFill>
            </a:ext>
          </a:extLst>
        </p:spPr>
      </p:pic>
      <p:cxnSp>
        <p:nvCxnSpPr>
          <p:cNvPr id="74" name="Connector: Elbow 73">
            <a:extLst>
              <a:ext uri="{FF2B5EF4-FFF2-40B4-BE49-F238E27FC236}">
                <a16:creationId xmlns:a16="http://schemas.microsoft.com/office/drawing/2014/main" id="{9A0EF7D2-F127-0FE2-033E-46E8B382A276}"/>
              </a:ext>
            </a:extLst>
          </p:cNvPr>
          <p:cNvCxnSpPr>
            <a:cxnSpLocks/>
            <a:stCxn id="46" idx="1"/>
            <a:endCxn id="72" idx="3"/>
          </p:cNvCxnSpPr>
          <p:nvPr/>
        </p:nvCxnSpPr>
        <p:spPr>
          <a:xfrm rot="10800000" flipV="1">
            <a:off x="7107551" y="4295601"/>
            <a:ext cx="873461" cy="298680"/>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Connector: Elbow 74">
            <a:extLst>
              <a:ext uri="{FF2B5EF4-FFF2-40B4-BE49-F238E27FC236}">
                <a16:creationId xmlns:a16="http://schemas.microsoft.com/office/drawing/2014/main" id="{525D7413-849E-8D08-622F-20ED9F9D4549}"/>
              </a:ext>
            </a:extLst>
          </p:cNvPr>
          <p:cNvCxnSpPr>
            <a:cxnSpLocks/>
            <a:stCxn id="46" idx="1"/>
            <a:endCxn id="73" idx="3"/>
          </p:cNvCxnSpPr>
          <p:nvPr/>
        </p:nvCxnSpPr>
        <p:spPr>
          <a:xfrm rot="10800000" flipV="1">
            <a:off x="7308877" y="4295601"/>
            <a:ext cx="672135" cy="1189772"/>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Connector: Elbow 75">
            <a:extLst>
              <a:ext uri="{FF2B5EF4-FFF2-40B4-BE49-F238E27FC236}">
                <a16:creationId xmlns:a16="http://schemas.microsoft.com/office/drawing/2014/main" id="{9B60E5C9-778E-FDC7-A16F-7C03BC0FAB10}"/>
              </a:ext>
            </a:extLst>
          </p:cNvPr>
          <p:cNvCxnSpPr>
            <a:cxnSpLocks/>
            <a:stCxn id="46" idx="0"/>
            <a:endCxn id="55" idx="0"/>
          </p:cNvCxnSpPr>
          <p:nvPr/>
        </p:nvCxnSpPr>
        <p:spPr>
          <a:xfrm rot="16200000" flipV="1">
            <a:off x="4849647" y="600316"/>
            <a:ext cx="1317498" cy="5838226"/>
          </a:xfrm>
          <a:prstGeom prst="bentConnector3">
            <a:avLst>
              <a:gd name="adj1" fmla="val 11735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7" name="Title 1">
            <a:extLst>
              <a:ext uri="{FF2B5EF4-FFF2-40B4-BE49-F238E27FC236}">
                <a16:creationId xmlns:a16="http://schemas.microsoft.com/office/drawing/2014/main" id="{2793E45D-2A26-69D2-4EEA-DA68919D094F}"/>
              </a:ext>
            </a:extLst>
          </p:cNvPr>
          <p:cNvSpPr txBox="1">
            <a:spLocks/>
          </p:cNvSpPr>
          <p:nvPr/>
        </p:nvSpPr>
        <p:spPr>
          <a:xfrm>
            <a:off x="717472" y="6407830"/>
            <a:ext cx="3415955" cy="246221"/>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defTabSz="914192" rtl="0" eaLnBrk="1" fontAlgn="auto" latinLnBrk="0" hangingPunct="1">
              <a:lnSpc>
                <a:spcPct val="100000"/>
              </a:lnSpc>
              <a:spcBef>
                <a:spcPct val="0"/>
              </a:spcBef>
              <a:spcAft>
                <a:spcPts val="0"/>
              </a:spcAft>
              <a:buClrTx/>
              <a:buSzTx/>
              <a:buFontTx/>
              <a:buNone/>
              <a:tabLst/>
              <a:defRPr/>
            </a:pPr>
            <a:r>
              <a:rPr lang="en-US" sz="1600" spc="0" dirty="0">
                <a:solidFill>
                  <a:srgbClr val="000000"/>
                </a:solidFill>
                <a:latin typeface="Segoe UI Semibold" panose="020B0702040204020203" pitchFamily="34" charset="0"/>
                <a:cs typeface="Segoe UI Semibold" panose="020B0702040204020203" pitchFamily="34" charset="0"/>
              </a:rPr>
              <a:t>Example external storage options</a:t>
            </a:r>
            <a:endParaRPr kumimoji="0" lang="en-US" sz="1600" b="0" i="0" u="none" strike="noStrike" kern="1200" cap="none" spc="0" normalizeH="0" baseline="0" noProof="0" dirty="0">
              <a:ln w="3175">
                <a:noFill/>
              </a:ln>
              <a:solidFill>
                <a:srgbClr val="000000"/>
              </a:solidFill>
              <a:effectLst/>
              <a:uLnTx/>
              <a:uFillTx/>
              <a:latin typeface="Segoe UI Semibold" panose="020B0702040204020203" pitchFamily="34" charset="0"/>
              <a:cs typeface="Segoe UI Semibold" panose="020B0702040204020203" pitchFamily="34" charset="0"/>
            </a:endParaRPr>
          </a:p>
        </p:txBody>
      </p:sp>
      <p:pic>
        <p:nvPicPr>
          <p:cNvPr id="78" name="Graphic 77">
            <a:extLst>
              <a:ext uri="{FF2B5EF4-FFF2-40B4-BE49-F238E27FC236}">
                <a16:creationId xmlns:a16="http://schemas.microsoft.com/office/drawing/2014/main" id="{7E08C023-3E5C-6598-4DC5-2DCB5DCB2DD7}"/>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092311" y="3908678"/>
            <a:ext cx="1067730" cy="1067730"/>
          </a:xfrm>
          <a:prstGeom prst="rect">
            <a:avLst/>
          </a:prstGeom>
        </p:spPr>
      </p:pic>
      <p:sp>
        <p:nvSpPr>
          <p:cNvPr id="79" name="Title 1">
            <a:extLst>
              <a:ext uri="{FF2B5EF4-FFF2-40B4-BE49-F238E27FC236}">
                <a16:creationId xmlns:a16="http://schemas.microsoft.com/office/drawing/2014/main" id="{40A045C8-FC1E-6845-543C-B36A18EDE1FC}"/>
              </a:ext>
            </a:extLst>
          </p:cNvPr>
          <p:cNvSpPr txBox="1">
            <a:spLocks/>
          </p:cNvSpPr>
          <p:nvPr/>
        </p:nvSpPr>
        <p:spPr>
          <a:xfrm>
            <a:off x="1298091" y="4271882"/>
            <a:ext cx="1109028" cy="369332"/>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defTabSz="914192"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dirty="0">
                <a:ln w="3175">
                  <a:noFill/>
                </a:ln>
                <a:solidFill>
                  <a:srgbClr val="000000"/>
                </a:solidFill>
                <a:effectLst/>
                <a:uLnTx/>
                <a:uFillTx/>
                <a:latin typeface="Segoe UI Semibold" panose="020B0702040204020203" pitchFamily="34" charset="0"/>
                <a:ea typeface="+mn-ea"/>
                <a:cs typeface="Segoe UI Semibold" panose="020B0702040204020203" pitchFamily="34" charset="0"/>
              </a:rPr>
              <a:t>Azure</a:t>
            </a:r>
          </a:p>
          <a:p>
            <a:pPr marL="0" marR="0" lvl="0" indent="0" defTabSz="914192" rtl="0" eaLnBrk="1" fontAlgn="auto" latinLnBrk="0" hangingPunct="1">
              <a:lnSpc>
                <a:spcPct val="100000"/>
              </a:lnSpc>
              <a:spcBef>
                <a:spcPct val="0"/>
              </a:spcBef>
              <a:spcAft>
                <a:spcPts val="0"/>
              </a:spcAft>
              <a:buClrTx/>
              <a:buSzTx/>
              <a:buFontTx/>
              <a:buNone/>
              <a:tabLst/>
              <a:defRPr/>
            </a:pPr>
            <a:r>
              <a:rPr lang="en-US" sz="1200" spc="0" dirty="0">
                <a:solidFill>
                  <a:srgbClr val="000000"/>
                </a:solidFill>
                <a:latin typeface="Segoe UI Semibold" panose="020B0702040204020203" pitchFamily="34" charset="0"/>
                <a:cs typeface="Segoe UI Semibold" panose="020B0702040204020203" pitchFamily="34" charset="0"/>
              </a:rPr>
              <a:t>BLOB Store</a:t>
            </a:r>
          </a:p>
        </p:txBody>
      </p:sp>
    </p:spTree>
    <p:extLst>
      <p:ext uri="{BB962C8B-B14F-4D97-AF65-F5344CB8AC3E}">
        <p14:creationId xmlns:p14="http://schemas.microsoft.com/office/powerpoint/2010/main" val="16821810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55"/>
                                        </p:tgtEl>
                                        <p:attrNameLst>
                                          <p:attrName>style.visibility</p:attrName>
                                        </p:attrNameLst>
                                      </p:cBhvr>
                                      <p:to>
                                        <p:strVal val="visible"/>
                                      </p:to>
                                    </p:set>
                                    <p:animEffect transition="in" filter="fade">
                                      <p:cBhvr>
                                        <p:cTn id="10" dur="500"/>
                                        <p:tgtEl>
                                          <p:spTgt spid="5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7"/>
                                        </p:tgtEl>
                                        <p:attrNameLst>
                                          <p:attrName>style.visibility</p:attrName>
                                        </p:attrNameLst>
                                      </p:cBhvr>
                                      <p:to>
                                        <p:strVal val="visible"/>
                                      </p:to>
                                    </p:set>
                                    <p:animEffect transition="in" filter="fade">
                                      <p:cBhvr>
                                        <p:cTn id="13" dur="500"/>
                                        <p:tgtEl>
                                          <p:spTgt spid="57"/>
                                        </p:tgtEl>
                                      </p:cBhvr>
                                    </p:animEffect>
                                  </p:childTnLst>
                                </p:cTn>
                              </p:par>
                              <p:par>
                                <p:cTn id="14" presetID="1" presetClass="entr" presetSubtype="0" fill="hold" grpId="0" nodeType="withEffect">
                                  <p:stCondLst>
                                    <p:cond delay="0"/>
                                  </p:stCondLst>
                                  <p:childTnLst>
                                    <p:set>
                                      <p:cBhvr>
                                        <p:cTn id="15" dur="1" fill="hold">
                                          <p:stCondLst>
                                            <p:cond delay="0"/>
                                          </p:stCondLst>
                                        </p:cTn>
                                        <p:tgtEl>
                                          <p:spTgt spid="79"/>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78"/>
                                        </p:tgtEl>
                                        <p:attrNameLst>
                                          <p:attrName>style.visibility</p:attrName>
                                        </p:attrNameLst>
                                      </p:cBhvr>
                                      <p:to>
                                        <p:strVal val="visible"/>
                                      </p:to>
                                    </p:set>
                                  </p:childTnLst>
                                </p:cTn>
                              </p:par>
                              <p:par>
                                <p:cTn id="18" presetID="10" presetClass="entr" presetSubtype="0" fill="hold" nodeType="withEffect">
                                  <p:stCondLst>
                                    <p:cond delay="0"/>
                                  </p:stCondLst>
                                  <p:childTnLst>
                                    <p:set>
                                      <p:cBhvr>
                                        <p:cTn id="19" dur="1" fill="hold">
                                          <p:stCondLst>
                                            <p:cond delay="0"/>
                                          </p:stCondLst>
                                        </p:cTn>
                                        <p:tgtEl>
                                          <p:spTgt spid="56"/>
                                        </p:tgtEl>
                                        <p:attrNameLst>
                                          <p:attrName>style.visibility</p:attrName>
                                        </p:attrNameLst>
                                      </p:cBhvr>
                                      <p:to>
                                        <p:strVal val="visible"/>
                                      </p:to>
                                    </p:set>
                                    <p:animEffect transition="in" filter="fade">
                                      <p:cBhvr>
                                        <p:cTn id="20" dur="500"/>
                                        <p:tgtEl>
                                          <p:spTgt spid="5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59"/>
                                        </p:tgtEl>
                                        <p:attrNameLst>
                                          <p:attrName>style.visibility</p:attrName>
                                        </p:attrNameLst>
                                      </p:cBhvr>
                                      <p:to>
                                        <p:strVal val="visible"/>
                                      </p:to>
                                    </p:set>
                                    <p:animEffect transition="in" filter="fade">
                                      <p:cBhvr>
                                        <p:cTn id="23" dur="500"/>
                                        <p:tgtEl>
                                          <p:spTgt spid="5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77"/>
                                        </p:tgtEl>
                                        <p:attrNameLst>
                                          <p:attrName>style.visibility</p:attrName>
                                        </p:attrNameLst>
                                      </p:cBhvr>
                                      <p:to>
                                        <p:strVal val="visible"/>
                                      </p:to>
                                    </p:set>
                                    <p:animEffect transition="in" filter="fade">
                                      <p:cBhvr>
                                        <p:cTn id="26" dur="500"/>
                                        <p:tgtEl>
                                          <p:spTgt spid="7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fade">
                                      <p:cBhvr>
                                        <p:cTn id="31" dur="500"/>
                                        <p:tgtEl>
                                          <p:spTgt spid="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50"/>
                                        </p:tgtEl>
                                        <p:attrNameLst>
                                          <p:attrName>style.visibility</p:attrName>
                                        </p:attrNameLst>
                                      </p:cBhvr>
                                      <p:to>
                                        <p:strVal val="visible"/>
                                      </p:to>
                                    </p:set>
                                    <p:animEffect transition="in" filter="fade">
                                      <p:cBhvr>
                                        <p:cTn id="34" dur="500"/>
                                        <p:tgtEl>
                                          <p:spTgt spid="50"/>
                                        </p:tgtEl>
                                      </p:cBhvr>
                                    </p:animEffect>
                                  </p:childTnLst>
                                </p:cTn>
                              </p:par>
                              <p:par>
                                <p:cTn id="35" presetID="10" presetClass="entr" presetSubtype="0" fill="hold" nodeType="withEffect">
                                  <p:stCondLst>
                                    <p:cond delay="0"/>
                                  </p:stCondLst>
                                  <p:childTnLst>
                                    <p:set>
                                      <p:cBhvr>
                                        <p:cTn id="36" dur="1" fill="hold">
                                          <p:stCondLst>
                                            <p:cond delay="0"/>
                                          </p:stCondLst>
                                        </p:cTn>
                                        <p:tgtEl>
                                          <p:spTgt spid="54"/>
                                        </p:tgtEl>
                                        <p:attrNameLst>
                                          <p:attrName>style.visibility</p:attrName>
                                        </p:attrNameLst>
                                      </p:cBhvr>
                                      <p:to>
                                        <p:strVal val="visible"/>
                                      </p:to>
                                    </p:set>
                                    <p:animEffect transition="in" filter="fade">
                                      <p:cBhvr>
                                        <p:cTn id="37" dur="500"/>
                                        <p:tgtEl>
                                          <p:spTgt spid="54"/>
                                        </p:tgtEl>
                                      </p:cBhvr>
                                    </p:animEffect>
                                  </p:childTnLst>
                                </p:cTn>
                              </p:par>
                              <p:par>
                                <p:cTn id="38" presetID="22" presetClass="entr" presetSubtype="2" fill="hold" nodeType="withEffect">
                                  <p:stCondLst>
                                    <p:cond delay="0"/>
                                  </p:stCondLst>
                                  <p:childTnLst>
                                    <p:set>
                                      <p:cBhvr>
                                        <p:cTn id="39" dur="1" fill="hold">
                                          <p:stCondLst>
                                            <p:cond delay="0"/>
                                          </p:stCondLst>
                                        </p:cTn>
                                        <p:tgtEl>
                                          <p:spTgt spid="64"/>
                                        </p:tgtEl>
                                        <p:attrNameLst>
                                          <p:attrName>style.visibility</p:attrName>
                                        </p:attrNameLst>
                                      </p:cBhvr>
                                      <p:to>
                                        <p:strVal val="visible"/>
                                      </p:to>
                                    </p:set>
                                    <p:animEffect transition="in" filter="wipe(right)">
                                      <p:cBhvr>
                                        <p:cTn id="40" dur="500"/>
                                        <p:tgtEl>
                                          <p:spTgt spid="64"/>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500"/>
                                        <p:tgtEl>
                                          <p:spTgt spid="12"/>
                                        </p:tgtEl>
                                      </p:cBhvr>
                                    </p:animEffect>
                                  </p:childTnLst>
                                </p:cTn>
                              </p:par>
                              <p:par>
                                <p:cTn id="46" presetID="22" presetClass="entr" presetSubtype="2" fill="hold" nodeType="withEffect">
                                  <p:stCondLst>
                                    <p:cond delay="0"/>
                                  </p:stCondLst>
                                  <p:childTnLst>
                                    <p:set>
                                      <p:cBhvr>
                                        <p:cTn id="47" dur="1" fill="hold">
                                          <p:stCondLst>
                                            <p:cond delay="0"/>
                                          </p:stCondLst>
                                        </p:cTn>
                                        <p:tgtEl>
                                          <p:spTgt spid="66"/>
                                        </p:tgtEl>
                                        <p:attrNameLst>
                                          <p:attrName>style.visibility</p:attrName>
                                        </p:attrNameLst>
                                      </p:cBhvr>
                                      <p:to>
                                        <p:strVal val="visible"/>
                                      </p:to>
                                    </p:set>
                                    <p:animEffect transition="in" filter="wipe(right)">
                                      <p:cBhvr>
                                        <p:cTn id="48" dur="500"/>
                                        <p:tgtEl>
                                          <p:spTgt spid="66"/>
                                        </p:tgtEl>
                                      </p:cBhvr>
                                    </p:animEffect>
                                  </p:childTnLst>
                                </p:cTn>
                              </p:par>
                              <p:par>
                                <p:cTn id="49" presetID="10" presetClass="entr" presetSubtype="0" fill="hold" nodeType="withEffect">
                                  <p:stCondLst>
                                    <p:cond delay="0"/>
                                  </p:stCondLst>
                                  <p:childTnLst>
                                    <p:set>
                                      <p:cBhvr>
                                        <p:cTn id="50" dur="1" fill="hold">
                                          <p:stCondLst>
                                            <p:cond delay="0"/>
                                          </p:stCondLst>
                                        </p:cTn>
                                        <p:tgtEl>
                                          <p:spTgt spid="67"/>
                                        </p:tgtEl>
                                        <p:attrNameLst>
                                          <p:attrName>style.visibility</p:attrName>
                                        </p:attrNameLst>
                                      </p:cBhvr>
                                      <p:to>
                                        <p:strVal val="visible"/>
                                      </p:to>
                                    </p:set>
                                    <p:animEffect transition="in" filter="fade">
                                      <p:cBhvr>
                                        <p:cTn id="51" dur="500"/>
                                        <p:tgtEl>
                                          <p:spTgt spid="6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60"/>
                                        </p:tgtEl>
                                        <p:attrNameLst>
                                          <p:attrName>style.visibility</p:attrName>
                                        </p:attrNameLst>
                                      </p:cBhvr>
                                      <p:to>
                                        <p:strVal val="visible"/>
                                      </p:to>
                                    </p:set>
                                    <p:animEffect transition="in" filter="fade">
                                      <p:cBhvr>
                                        <p:cTn id="54" dur="500"/>
                                        <p:tgtEl>
                                          <p:spTgt spid="60"/>
                                        </p:tgtEl>
                                      </p:cBhvr>
                                    </p:animEffect>
                                  </p:childTnLst>
                                </p:cTn>
                              </p:par>
                              <p:par>
                                <p:cTn id="55" presetID="10" presetClass="entr" presetSubtype="0" fill="hold" nodeType="withEffect">
                                  <p:stCondLst>
                                    <p:cond delay="0"/>
                                  </p:stCondLst>
                                  <p:childTnLst>
                                    <p:set>
                                      <p:cBhvr>
                                        <p:cTn id="56" dur="1" fill="hold">
                                          <p:stCondLst>
                                            <p:cond delay="0"/>
                                          </p:stCondLst>
                                        </p:cTn>
                                        <p:tgtEl>
                                          <p:spTgt spid="53"/>
                                        </p:tgtEl>
                                        <p:attrNameLst>
                                          <p:attrName>style.visibility</p:attrName>
                                        </p:attrNameLst>
                                      </p:cBhvr>
                                      <p:to>
                                        <p:strVal val="visible"/>
                                      </p:to>
                                    </p:set>
                                    <p:animEffect transition="in" filter="fade">
                                      <p:cBhvr>
                                        <p:cTn id="57" dur="500"/>
                                        <p:tgtEl>
                                          <p:spTgt spid="53"/>
                                        </p:tgtEl>
                                      </p:cBhvr>
                                    </p:animEffect>
                                  </p:childTnLst>
                                </p:cTn>
                              </p:par>
                              <p:par>
                                <p:cTn id="58" presetID="22" presetClass="entr" presetSubtype="2" fill="hold" nodeType="withEffect">
                                  <p:stCondLst>
                                    <p:cond delay="0"/>
                                  </p:stCondLst>
                                  <p:childTnLst>
                                    <p:set>
                                      <p:cBhvr>
                                        <p:cTn id="59" dur="1" fill="hold">
                                          <p:stCondLst>
                                            <p:cond delay="0"/>
                                          </p:stCondLst>
                                        </p:cTn>
                                        <p:tgtEl>
                                          <p:spTgt spid="62"/>
                                        </p:tgtEl>
                                        <p:attrNameLst>
                                          <p:attrName>style.visibility</p:attrName>
                                        </p:attrNameLst>
                                      </p:cBhvr>
                                      <p:to>
                                        <p:strVal val="visible"/>
                                      </p:to>
                                    </p:set>
                                    <p:animEffect transition="in" filter="wipe(right)">
                                      <p:cBhvr>
                                        <p:cTn id="60" dur="500"/>
                                        <p:tgtEl>
                                          <p:spTgt spid="62"/>
                                        </p:tgtEl>
                                      </p:cBhvr>
                                    </p:animEffect>
                                  </p:childTnLst>
                                </p:cTn>
                              </p:par>
                              <p:par>
                                <p:cTn id="61" presetID="22" presetClass="entr" presetSubtype="2" fill="hold" nodeType="withEffect">
                                  <p:stCondLst>
                                    <p:cond delay="0"/>
                                  </p:stCondLst>
                                  <p:childTnLst>
                                    <p:set>
                                      <p:cBhvr>
                                        <p:cTn id="62" dur="1" fill="hold">
                                          <p:stCondLst>
                                            <p:cond delay="0"/>
                                          </p:stCondLst>
                                        </p:cTn>
                                        <p:tgtEl>
                                          <p:spTgt spid="63"/>
                                        </p:tgtEl>
                                        <p:attrNameLst>
                                          <p:attrName>style.visibility</p:attrName>
                                        </p:attrNameLst>
                                      </p:cBhvr>
                                      <p:to>
                                        <p:strVal val="visible"/>
                                      </p:to>
                                    </p:set>
                                    <p:animEffect transition="in" filter="wipe(right)">
                                      <p:cBhvr>
                                        <p:cTn id="63" dur="500"/>
                                        <p:tgtEl>
                                          <p:spTgt spid="63"/>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13"/>
                                        </p:tgtEl>
                                        <p:attrNameLst>
                                          <p:attrName>style.visibility</p:attrName>
                                        </p:attrNameLst>
                                      </p:cBhvr>
                                      <p:to>
                                        <p:strVal val="visible"/>
                                      </p:to>
                                    </p:set>
                                    <p:animEffect transition="in" filter="fade">
                                      <p:cBhvr>
                                        <p:cTn id="68" dur="500"/>
                                        <p:tgtEl>
                                          <p:spTgt spid="13"/>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8"/>
                                        </p:tgtEl>
                                        <p:attrNameLst>
                                          <p:attrName>style.visibility</p:attrName>
                                        </p:attrNameLst>
                                      </p:cBhvr>
                                      <p:to>
                                        <p:strVal val="visible"/>
                                      </p:to>
                                    </p:set>
                                    <p:animEffect transition="in" filter="fade">
                                      <p:cBhvr>
                                        <p:cTn id="71" dur="500"/>
                                        <p:tgtEl>
                                          <p:spTgt spid="38"/>
                                        </p:tgtEl>
                                      </p:cBhvr>
                                    </p:animEffect>
                                  </p:childTnLst>
                                </p:cTn>
                              </p:par>
                              <p:par>
                                <p:cTn id="72" presetID="10" presetClass="entr" presetSubtype="0" fill="hold" nodeType="withEffect">
                                  <p:stCondLst>
                                    <p:cond delay="0"/>
                                  </p:stCondLst>
                                  <p:childTnLst>
                                    <p:set>
                                      <p:cBhvr>
                                        <p:cTn id="73" dur="1" fill="hold">
                                          <p:stCondLst>
                                            <p:cond delay="0"/>
                                          </p:stCondLst>
                                        </p:cTn>
                                        <p:tgtEl>
                                          <p:spTgt spid="51"/>
                                        </p:tgtEl>
                                        <p:attrNameLst>
                                          <p:attrName>style.visibility</p:attrName>
                                        </p:attrNameLst>
                                      </p:cBhvr>
                                      <p:to>
                                        <p:strVal val="visible"/>
                                      </p:to>
                                    </p:set>
                                    <p:animEffect transition="in" filter="fade">
                                      <p:cBhvr>
                                        <p:cTn id="74" dur="500"/>
                                        <p:tgtEl>
                                          <p:spTgt spid="51"/>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68"/>
                                        </p:tgtEl>
                                        <p:attrNameLst>
                                          <p:attrName>style.visibility</p:attrName>
                                        </p:attrNameLst>
                                      </p:cBhvr>
                                      <p:to>
                                        <p:strVal val="visible"/>
                                      </p:to>
                                    </p:set>
                                    <p:animEffect transition="in" filter="fade">
                                      <p:cBhvr>
                                        <p:cTn id="77" dur="500"/>
                                        <p:tgtEl>
                                          <p:spTgt spid="68"/>
                                        </p:tgtEl>
                                      </p:cBhvr>
                                    </p:animEffect>
                                  </p:childTnLst>
                                </p:cTn>
                              </p:par>
                              <p:par>
                                <p:cTn id="78" presetID="10" presetClass="entr" presetSubtype="0" fill="hold" nodeType="withEffect">
                                  <p:stCondLst>
                                    <p:cond delay="0"/>
                                  </p:stCondLst>
                                  <p:childTnLst>
                                    <p:set>
                                      <p:cBhvr>
                                        <p:cTn id="79" dur="1" fill="hold">
                                          <p:stCondLst>
                                            <p:cond delay="0"/>
                                          </p:stCondLst>
                                        </p:cTn>
                                        <p:tgtEl>
                                          <p:spTgt spid="72"/>
                                        </p:tgtEl>
                                        <p:attrNameLst>
                                          <p:attrName>style.visibility</p:attrName>
                                        </p:attrNameLst>
                                      </p:cBhvr>
                                      <p:to>
                                        <p:strVal val="visible"/>
                                      </p:to>
                                    </p:set>
                                    <p:animEffect transition="in" filter="fade">
                                      <p:cBhvr>
                                        <p:cTn id="80" dur="500"/>
                                        <p:tgtEl>
                                          <p:spTgt spid="72"/>
                                        </p:tgtEl>
                                      </p:cBhvr>
                                    </p:animEffect>
                                  </p:childTnLst>
                                </p:cTn>
                              </p:par>
                              <p:par>
                                <p:cTn id="81" presetID="10" presetClass="entr" presetSubtype="0" fill="hold" nodeType="withEffect">
                                  <p:stCondLst>
                                    <p:cond delay="0"/>
                                  </p:stCondLst>
                                  <p:childTnLst>
                                    <p:set>
                                      <p:cBhvr>
                                        <p:cTn id="82" dur="1" fill="hold">
                                          <p:stCondLst>
                                            <p:cond delay="0"/>
                                          </p:stCondLst>
                                        </p:cTn>
                                        <p:tgtEl>
                                          <p:spTgt spid="73"/>
                                        </p:tgtEl>
                                        <p:attrNameLst>
                                          <p:attrName>style.visibility</p:attrName>
                                        </p:attrNameLst>
                                      </p:cBhvr>
                                      <p:to>
                                        <p:strVal val="visible"/>
                                      </p:to>
                                    </p:set>
                                    <p:animEffect transition="in" filter="fade">
                                      <p:cBhvr>
                                        <p:cTn id="83" dur="500"/>
                                        <p:tgtEl>
                                          <p:spTgt spid="73"/>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45"/>
                                        </p:tgtEl>
                                        <p:attrNameLst>
                                          <p:attrName>style.visibility</p:attrName>
                                        </p:attrNameLst>
                                      </p:cBhvr>
                                      <p:to>
                                        <p:strVal val="visible"/>
                                      </p:to>
                                    </p:set>
                                    <p:animEffect transition="in" filter="fade">
                                      <p:cBhvr>
                                        <p:cTn id="88" dur="500"/>
                                        <p:tgtEl>
                                          <p:spTgt spid="45"/>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46"/>
                                        </p:tgtEl>
                                        <p:attrNameLst>
                                          <p:attrName>style.visibility</p:attrName>
                                        </p:attrNameLst>
                                      </p:cBhvr>
                                      <p:to>
                                        <p:strVal val="visible"/>
                                      </p:to>
                                    </p:set>
                                    <p:animEffect transition="in" filter="fade">
                                      <p:cBhvr>
                                        <p:cTn id="91" dur="500"/>
                                        <p:tgtEl>
                                          <p:spTgt spid="46"/>
                                        </p:tgtEl>
                                      </p:cBhvr>
                                    </p:animEffect>
                                  </p:childTnLst>
                                </p:cTn>
                              </p:par>
                              <p:par>
                                <p:cTn id="92" presetID="22" presetClass="entr" presetSubtype="4" fill="hold" nodeType="withEffect">
                                  <p:stCondLst>
                                    <p:cond delay="0"/>
                                  </p:stCondLst>
                                  <p:childTnLst>
                                    <p:set>
                                      <p:cBhvr>
                                        <p:cTn id="93" dur="1" fill="hold">
                                          <p:stCondLst>
                                            <p:cond delay="0"/>
                                          </p:stCondLst>
                                        </p:cTn>
                                        <p:tgtEl>
                                          <p:spTgt spid="48"/>
                                        </p:tgtEl>
                                        <p:attrNameLst>
                                          <p:attrName>style.visibility</p:attrName>
                                        </p:attrNameLst>
                                      </p:cBhvr>
                                      <p:to>
                                        <p:strVal val="visible"/>
                                      </p:to>
                                    </p:set>
                                    <p:animEffect transition="in" filter="wipe(down)">
                                      <p:cBhvr>
                                        <p:cTn id="94" dur="500"/>
                                        <p:tgtEl>
                                          <p:spTgt spid="48"/>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49"/>
                                        </p:tgtEl>
                                        <p:attrNameLst>
                                          <p:attrName>style.visibility</p:attrName>
                                        </p:attrNameLst>
                                      </p:cBhvr>
                                      <p:to>
                                        <p:strVal val="visible"/>
                                      </p:to>
                                    </p:set>
                                    <p:animEffect transition="in" filter="fade">
                                      <p:cBhvr>
                                        <p:cTn id="97" dur="500"/>
                                        <p:tgtEl>
                                          <p:spTgt spid="49"/>
                                        </p:tgtEl>
                                      </p:cBhvr>
                                    </p:animEffect>
                                  </p:childTnLst>
                                </p:cTn>
                              </p:par>
                              <p:par>
                                <p:cTn id="98" presetID="22" presetClass="entr" presetSubtype="8" fill="hold" nodeType="withEffect">
                                  <p:stCondLst>
                                    <p:cond delay="0"/>
                                  </p:stCondLst>
                                  <p:childTnLst>
                                    <p:set>
                                      <p:cBhvr>
                                        <p:cTn id="99" dur="1" fill="hold">
                                          <p:stCondLst>
                                            <p:cond delay="0"/>
                                          </p:stCondLst>
                                        </p:cTn>
                                        <p:tgtEl>
                                          <p:spTgt spid="52"/>
                                        </p:tgtEl>
                                        <p:attrNameLst>
                                          <p:attrName>style.visibility</p:attrName>
                                        </p:attrNameLst>
                                      </p:cBhvr>
                                      <p:to>
                                        <p:strVal val="visible"/>
                                      </p:to>
                                    </p:set>
                                    <p:animEffect transition="in" filter="wipe(left)">
                                      <p:cBhvr>
                                        <p:cTn id="100" dur="500"/>
                                        <p:tgtEl>
                                          <p:spTgt spid="52"/>
                                        </p:tgtEl>
                                      </p:cBhvr>
                                    </p:animEffect>
                                  </p:childTnLst>
                                </p:cTn>
                              </p:par>
                              <p:par>
                                <p:cTn id="101" presetID="22" presetClass="entr" presetSubtype="2" fill="hold" nodeType="withEffect">
                                  <p:stCondLst>
                                    <p:cond delay="0"/>
                                  </p:stCondLst>
                                  <p:childTnLst>
                                    <p:set>
                                      <p:cBhvr>
                                        <p:cTn id="102" dur="1" fill="hold">
                                          <p:stCondLst>
                                            <p:cond delay="0"/>
                                          </p:stCondLst>
                                        </p:cTn>
                                        <p:tgtEl>
                                          <p:spTgt spid="61"/>
                                        </p:tgtEl>
                                        <p:attrNameLst>
                                          <p:attrName>style.visibility</p:attrName>
                                        </p:attrNameLst>
                                      </p:cBhvr>
                                      <p:to>
                                        <p:strVal val="visible"/>
                                      </p:to>
                                    </p:set>
                                    <p:animEffect transition="in" filter="wipe(right)">
                                      <p:cBhvr>
                                        <p:cTn id="103" dur="500"/>
                                        <p:tgtEl>
                                          <p:spTgt spid="61"/>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47"/>
                                        </p:tgtEl>
                                        <p:attrNameLst>
                                          <p:attrName>style.visibility</p:attrName>
                                        </p:attrNameLst>
                                      </p:cBhvr>
                                      <p:to>
                                        <p:strVal val="visible"/>
                                      </p:to>
                                    </p:set>
                                    <p:animEffect transition="in" filter="fade">
                                      <p:cBhvr>
                                        <p:cTn id="106" dur="500"/>
                                        <p:tgtEl>
                                          <p:spTgt spid="47"/>
                                        </p:tgtEl>
                                      </p:cBhvr>
                                    </p:animEffect>
                                  </p:childTnLst>
                                </p:cTn>
                              </p:par>
                              <p:par>
                                <p:cTn id="107" presetID="10" presetClass="entr" presetSubtype="0" fill="hold" nodeType="withEffect">
                                  <p:stCondLst>
                                    <p:cond delay="0"/>
                                  </p:stCondLst>
                                  <p:childTnLst>
                                    <p:set>
                                      <p:cBhvr>
                                        <p:cTn id="108" dur="1" fill="hold">
                                          <p:stCondLst>
                                            <p:cond delay="0"/>
                                          </p:stCondLst>
                                        </p:cTn>
                                        <p:tgtEl>
                                          <p:spTgt spid="69"/>
                                        </p:tgtEl>
                                        <p:attrNameLst>
                                          <p:attrName>style.visibility</p:attrName>
                                        </p:attrNameLst>
                                      </p:cBhvr>
                                      <p:to>
                                        <p:strVal val="visible"/>
                                      </p:to>
                                    </p:set>
                                    <p:animEffect transition="in" filter="fade">
                                      <p:cBhvr>
                                        <p:cTn id="109" dur="500"/>
                                        <p:tgtEl>
                                          <p:spTgt spid="69"/>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70"/>
                                        </p:tgtEl>
                                        <p:attrNameLst>
                                          <p:attrName>style.visibility</p:attrName>
                                        </p:attrNameLst>
                                      </p:cBhvr>
                                      <p:to>
                                        <p:strVal val="visible"/>
                                      </p:to>
                                    </p:set>
                                    <p:animEffect transition="in" filter="fade">
                                      <p:cBhvr>
                                        <p:cTn id="112" dur="500"/>
                                        <p:tgtEl>
                                          <p:spTgt spid="70"/>
                                        </p:tgtEl>
                                      </p:cBhvr>
                                    </p:animEffect>
                                  </p:childTnLst>
                                </p:cTn>
                              </p:par>
                              <p:par>
                                <p:cTn id="113" presetID="22" presetClass="entr" presetSubtype="8" fill="hold" nodeType="withEffect">
                                  <p:stCondLst>
                                    <p:cond delay="0"/>
                                  </p:stCondLst>
                                  <p:childTnLst>
                                    <p:set>
                                      <p:cBhvr>
                                        <p:cTn id="114" dur="1" fill="hold">
                                          <p:stCondLst>
                                            <p:cond delay="0"/>
                                          </p:stCondLst>
                                        </p:cTn>
                                        <p:tgtEl>
                                          <p:spTgt spid="71"/>
                                        </p:tgtEl>
                                        <p:attrNameLst>
                                          <p:attrName>style.visibility</p:attrName>
                                        </p:attrNameLst>
                                      </p:cBhvr>
                                      <p:to>
                                        <p:strVal val="visible"/>
                                      </p:to>
                                    </p:set>
                                    <p:animEffect transition="in" filter="wipe(left)">
                                      <p:cBhvr>
                                        <p:cTn id="115" dur="500"/>
                                        <p:tgtEl>
                                          <p:spTgt spid="71"/>
                                        </p:tgtEl>
                                      </p:cBhvr>
                                    </p:animEffect>
                                  </p:childTnLst>
                                </p:cTn>
                              </p:par>
                              <p:par>
                                <p:cTn id="116" presetID="22" presetClass="entr" presetSubtype="2" fill="hold" nodeType="withEffect">
                                  <p:stCondLst>
                                    <p:cond delay="0"/>
                                  </p:stCondLst>
                                  <p:childTnLst>
                                    <p:set>
                                      <p:cBhvr>
                                        <p:cTn id="117" dur="1" fill="hold">
                                          <p:stCondLst>
                                            <p:cond delay="0"/>
                                          </p:stCondLst>
                                        </p:cTn>
                                        <p:tgtEl>
                                          <p:spTgt spid="74"/>
                                        </p:tgtEl>
                                        <p:attrNameLst>
                                          <p:attrName>style.visibility</p:attrName>
                                        </p:attrNameLst>
                                      </p:cBhvr>
                                      <p:to>
                                        <p:strVal val="visible"/>
                                      </p:to>
                                    </p:set>
                                    <p:animEffect transition="in" filter="wipe(right)">
                                      <p:cBhvr>
                                        <p:cTn id="118" dur="500"/>
                                        <p:tgtEl>
                                          <p:spTgt spid="74"/>
                                        </p:tgtEl>
                                      </p:cBhvr>
                                    </p:animEffect>
                                  </p:childTnLst>
                                </p:cTn>
                              </p:par>
                              <p:par>
                                <p:cTn id="119" presetID="22" presetClass="entr" presetSubtype="2" fill="hold" nodeType="withEffect">
                                  <p:stCondLst>
                                    <p:cond delay="0"/>
                                  </p:stCondLst>
                                  <p:childTnLst>
                                    <p:set>
                                      <p:cBhvr>
                                        <p:cTn id="120" dur="1" fill="hold">
                                          <p:stCondLst>
                                            <p:cond delay="0"/>
                                          </p:stCondLst>
                                        </p:cTn>
                                        <p:tgtEl>
                                          <p:spTgt spid="75"/>
                                        </p:tgtEl>
                                        <p:attrNameLst>
                                          <p:attrName>style.visibility</p:attrName>
                                        </p:attrNameLst>
                                      </p:cBhvr>
                                      <p:to>
                                        <p:strVal val="visible"/>
                                      </p:to>
                                    </p:set>
                                    <p:animEffect transition="in" filter="wipe(right)">
                                      <p:cBhvr>
                                        <p:cTn id="121" dur="500"/>
                                        <p:tgtEl>
                                          <p:spTgt spid="75"/>
                                        </p:tgtEl>
                                      </p:cBhvr>
                                    </p:animEffect>
                                  </p:childTnLst>
                                </p:cTn>
                              </p:par>
                              <p:par>
                                <p:cTn id="122" presetID="22" presetClass="entr" presetSubtype="2" fill="hold" nodeType="withEffect">
                                  <p:stCondLst>
                                    <p:cond delay="0"/>
                                  </p:stCondLst>
                                  <p:childTnLst>
                                    <p:set>
                                      <p:cBhvr>
                                        <p:cTn id="123" dur="1" fill="hold">
                                          <p:stCondLst>
                                            <p:cond delay="0"/>
                                          </p:stCondLst>
                                        </p:cTn>
                                        <p:tgtEl>
                                          <p:spTgt spid="76"/>
                                        </p:tgtEl>
                                        <p:attrNameLst>
                                          <p:attrName>style.visibility</p:attrName>
                                        </p:attrNameLst>
                                      </p:cBhvr>
                                      <p:to>
                                        <p:strVal val="visible"/>
                                      </p:to>
                                    </p:set>
                                    <p:animEffect transition="in" filter="wipe(right)">
                                      <p:cBhvr>
                                        <p:cTn id="124" dur="5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12" grpId="0" animBg="1"/>
      <p:bldP spid="13" grpId="0" animBg="1"/>
      <p:bldP spid="38" grpId="0"/>
      <p:bldP spid="45" grpId="0" animBg="1"/>
      <p:bldP spid="46" grpId="0" animBg="1"/>
      <p:bldP spid="47" grpId="0" animBg="1"/>
      <p:bldP spid="49" grpId="0"/>
      <p:bldP spid="50" grpId="0"/>
      <p:bldP spid="57" grpId="0"/>
      <p:bldP spid="59" grpId="0"/>
      <p:bldP spid="60" grpId="0"/>
      <p:bldP spid="68" grpId="0"/>
      <p:bldP spid="70" grpId="0"/>
      <p:bldP spid="77" grpId="0"/>
      <p:bldP spid="7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A3702-50BD-80D6-2DA7-ACDBFF8BDF4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D564551-6FAB-7682-FFC5-F29A245BCB8E}"/>
              </a:ext>
            </a:extLst>
          </p:cNvPr>
          <p:cNvSpPr>
            <a:spLocks noGrp="1"/>
          </p:cNvSpPr>
          <p:nvPr>
            <p:ph type="title"/>
            <p:custDataLst>
              <p:custData r:id="rId2"/>
            </p:custDataLst>
          </p:nvPr>
        </p:nvSpPr>
        <p:spPr>
          <a:xfrm>
            <a:off x="584200" y="4334637"/>
            <a:ext cx="9169400" cy="1015663"/>
          </a:xfrm>
        </p:spPr>
        <p:txBody>
          <a:bodyPr/>
          <a:lstStyle/>
          <a:p>
            <a:r>
              <a:rPr lang="en-US" dirty="0"/>
              <a:t>Basic Storage Options</a:t>
            </a:r>
          </a:p>
        </p:txBody>
      </p:sp>
      <p:sp>
        <p:nvSpPr>
          <p:cNvPr id="2" name="Text Placeholder 1">
            <a:extLst>
              <a:ext uri="{FF2B5EF4-FFF2-40B4-BE49-F238E27FC236}">
                <a16:creationId xmlns:a16="http://schemas.microsoft.com/office/drawing/2014/main" id="{FA30CC23-A410-3EB4-5C6F-A1B90AB932CF}"/>
              </a:ext>
            </a:extLst>
          </p:cNvPr>
          <p:cNvSpPr>
            <a:spLocks noGrp="1"/>
          </p:cNvSpPr>
          <p:nvPr>
            <p:ph type="body" sz="quarter" idx="12"/>
          </p:nvPr>
        </p:nvSpPr>
        <p:spPr/>
        <p:txBody>
          <a:bodyPr/>
          <a:lstStyle/>
          <a:p>
            <a:endParaRPr lang="en-US" dirty="0"/>
          </a:p>
        </p:txBody>
      </p:sp>
      <p:sp>
        <p:nvSpPr>
          <p:cNvPr id="11" name="Footer Placeholder 2">
            <a:extLst>
              <a:ext uri="{FF2B5EF4-FFF2-40B4-BE49-F238E27FC236}">
                <a16:creationId xmlns:a16="http://schemas.microsoft.com/office/drawing/2014/main" id="{25154F32-E1BF-EAB4-0BFA-B69D7FC6C199}"/>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2" name="Slide Number Placeholder 8">
            <a:extLst>
              <a:ext uri="{FF2B5EF4-FFF2-40B4-BE49-F238E27FC236}">
                <a16:creationId xmlns:a16="http://schemas.microsoft.com/office/drawing/2014/main" id="{071618BF-5511-757B-D800-C16562B70E78}"/>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13</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2485664904"/>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691F0-AC65-2FA5-9F6E-E5B9CD80022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44DEBB-48C0-FB88-F6DF-6589465FCC8C}"/>
              </a:ext>
            </a:extLst>
          </p:cNvPr>
          <p:cNvSpPr>
            <a:spLocks noGrp="1"/>
          </p:cNvSpPr>
          <p:nvPr>
            <p:ph type="title"/>
          </p:nvPr>
        </p:nvSpPr>
        <p:spPr/>
        <p:txBody>
          <a:bodyPr/>
          <a:lstStyle/>
          <a:p>
            <a:r>
              <a:rPr lang="en-US" dirty="0"/>
              <a:t>Ephemeral OS disks</a:t>
            </a:r>
          </a:p>
        </p:txBody>
      </p:sp>
      <p:sp>
        <p:nvSpPr>
          <p:cNvPr id="38" name="Rectangle 37">
            <a:extLst>
              <a:ext uri="{FF2B5EF4-FFF2-40B4-BE49-F238E27FC236}">
                <a16:creationId xmlns:a16="http://schemas.microsoft.com/office/drawing/2014/main" id="{5B10B0AA-2ABD-8D7B-E589-E82FD017309E}"/>
              </a:ext>
              <a:ext uri="{C183D7F6-B498-43B3-948B-1728B52AA6E4}">
                <adec:decorative xmlns:adec="http://schemas.microsoft.com/office/drawing/2017/decorative" val="1"/>
              </a:ext>
            </a:extLst>
          </p:cNvPr>
          <p:cNvSpPr/>
          <p:nvPr/>
        </p:nvSpPr>
        <p:spPr bwMode="auto">
          <a:xfrm>
            <a:off x="575481" y="1943965"/>
            <a:ext cx="11045019" cy="4328248"/>
          </a:xfrm>
          <a:prstGeom prst="rect">
            <a:avLst/>
          </a:prstGeom>
          <a:solidFill>
            <a:schemeClr val="bg1"/>
          </a:solid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28600" tIns="182880" rIns="228600" bIns="182880" numCol="1" spcCol="0" rtlCol="0" fromWordArt="0" anchor="t" anchorCtr="0" forceAA="0" compatLnSpc="1">
            <a:prstTxWarp prst="textNoShape">
              <a:avLst/>
            </a:prstTxWarp>
            <a:noAutofit/>
          </a:bodyPr>
          <a:lstStyle/>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OS Disks for all Azure VMs have hot copies on backend storage. Allows for recovery in the event of a failure.</a:t>
            </a:r>
          </a:p>
          <a:p>
            <a:pPr marL="285750" indent="-285750" defTabSz="932563">
              <a:spcBef>
                <a:spcPts val="300"/>
              </a:spcBef>
              <a:spcAft>
                <a:spcPts val="200"/>
              </a:spcAft>
              <a:buFont typeface="Arial" panose="020B0604020202020204" pitchFamily="34" charset="0"/>
              <a:buChar char="•"/>
            </a:pPr>
            <a:endParaRPr lang="en-GB" dirty="0">
              <a:solidFill>
                <a:schemeClr val="accent6"/>
              </a:solidFill>
              <a:cs typeface="Segoe UI Semibold" panose="020B0702040204020203" pitchFamily="34" charset="0"/>
            </a:endParaRPr>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Not necessary in an AKS cluster as no data is stored locally.</a:t>
            </a:r>
          </a:p>
          <a:p>
            <a:pPr marL="285750" indent="-285750" defTabSz="932563">
              <a:spcBef>
                <a:spcPts val="300"/>
              </a:spcBef>
              <a:spcAft>
                <a:spcPts val="200"/>
              </a:spcAft>
              <a:buFont typeface="Arial" panose="020B0604020202020204" pitchFamily="34" charset="0"/>
              <a:buChar char="•"/>
            </a:pPr>
            <a:endParaRPr lang="en-GB" dirty="0">
              <a:solidFill>
                <a:schemeClr val="accent6"/>
              </a:solidFill>
              <a:cs typeface="Segoe UI Semibold" panose="020B0702040204020203" pitchFamily="34" charset="0"/>
            </a:endParaRPr>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Eliminating the backup copy increases Read/Write performance and decreases overall VM cost.  </a:t>
            </a:r>
          </a:p>
          <a:p>
            <a:pPr marL="285750" indent="-285750" defTabSz="932563">
              <a:spcBef>
                <a:spcPts val="300"/>
              </a:spcBef>
              <a:spcAft>
                <a:spcPts val="200"/>
              </a:spcAft>
              <a:buFont typeface="Arial" panose="020B0604020202020204" pitchFamily="34" charset="0"/>
              <a:buChar char="•"/>
            </a:pPr>
            <a:endParaRPr lang="en-GB" dirty="0">
              <a:solidFill>
                <a:schemeClr val="accent6"/>
              </a:solidFill>
              <a:cs typeface="Segoe UI Semibold" panose="020B0702040204020203" pitchFamily="34" charset="0"/>
            </a:endParaRPr>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Ephemeral OS disks are stored only on the host physical machine.</a:t>
            </a:r>
          </a:p>
          <a:p>
            <a:pPr marL="285750" indent="-285750" defTabSz="932563">
              <a:spcBef>
                <a:spcPts val="300"/>
              </a:spcBef>
              <a:spcAft>
                <a:spcPts val="200"/>
              </a:spcAft>
              <a:buFont typeface="Arial" panose="020B0604020202020204" pitchFamily="34" charset="0"/>
              <a:buChar char="•"/>
            </a:pPr>
            <a:endParaRPr lang="en-GB" dirty="0">
              <a:solidFill>
                <a:schemeClr val="accent6"/>
              </a:solidFill>
              <a:cs typeface="Segoe UI Semibold" panose="020B0702040204020203" pitchFamily="34" charset="0"/>
            </a:endParaRPr>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Lower read/write latency, together with faster node scaling and cluster upgrades.</a:t>
            </a:r>
          </a:p>
          <a:p>
            <a:pPr marL="285750" indent="-285750" defTabSz="932563">
              <a:spcBef>
                <a:spcPts val="300"/>
              </a:spcBef>
              <a:spcAft>
                <a:spcPts val="200"/>
              </a:spcAft>
              <a:buFont typeface="Arial" panose="020B0604020202020204" pitchFamily="34" charset="0"/>
              <a:buChar char="•"/>
            </a:pPr>
            <a:endParaRPr lang="en-GB" dirty="0">
              <a:solidFill>
                <a:schemeClr val="accent6"/>
              </a:solidFill>
              <a:cs typeface="Segoe UI Semibold" panose="020B0702040204020203" pitchFamily="34" charset="0"/>
            </a:endParaRPr>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OS Ephemeral OS disks are the default (when possible).</a:t>
            </a:r>
          </a:p>
        </p:txBody>
      </p:sp>
      <p:grpSp>
        <p:nvGrpSpPr>
          <p:cNvPr id="13" name="Group 12">
            <a:extLst>
              <a:ext uri="{FF2B5EF4-FFF2-40B4-BE49-F238E27FC236}">
                <a16:creationId xmlns:a16="http://schemas.microsoft.com/office/drawing/2014/main" id="{2B13075E-D258-37B4-21BD-0E417A1CA50D}"/>
              </a:ext>
              <a:ext uri="{C183D7F6-B498-43B3-948B-1728B52AA6E4}">
                <adec:decorative xmlns:adec="http://schemas.microsoft.com/office/drawing/2017/decorative" val="1"/>
              </a:ext>
            </a:extLst>
          </p:cNvPr>
          <p:cNvGrpSpPr/>
          <p:nvPr/>
        </p:nvGrpSpPr>
        <p:grpSpPr>
          <a:xfrm rot="5400000" flipH="1">
            <a:off x="11076794" y="5477957"/>
            <a:ext cx="623197" cy="692063"/>
            <a:chOff x="10845725" y="1231900"/>
            <a:chExt cx="623197" cy="692063"/>
          </a:xfrm>
        </p:grpSpPr>
        <p:sp>
          <p:nvSpPr>
            <p:cNvPr id="12" name="Trapezoid 11">
              <a:extLst>
                <a:ext uri="{FF2B5EF4-FFF2-40B4-BE49-F238E27FC236}">
                  <a16:creationId xmlns:a16="http://schemas.microsoft.com/office/drawing/2014/main" id="{20D182CB-A7F6-29DF-B64D-177D4B48362A}"/>
                </a:ext>
              </a:extLst>
            </p:cNvPr>
            <p:cNvSpPr/>
            <p:nvPr/>
          </p:nvSpPr>
          <p:spPr bwMode="auto">
            <a:xfrm>
              <a:off x="10845725" y="1231900"/>
              <a:ext cx="623197" cy="113383"/>
            </a:xfrm>
            <a:prstGeom prst="trapezoid">
              <a:avLst>
                <a:gd name="adj" fmla="val 104333"/>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Rectangle 2">
              <a:extLst>
                <a:ext uri="{FF2B5EF4-FFF2-40B4-BE49-F238E27FC236}">
                  <a16:creationId xmlns:a16="http://schemas.microsoft.com/office/drawing/2014/main" id="{B82C243C-F55D-C525-7AD6-198D56F5371C}"/>
                </a:ext>
              </a:extLst>
            </p:cNvPr>
            <p:cNvSpPr/>
            <p:nvPr/>
          </p:nvSpPr>
          <p:spPr bwMode="auto">
            <a:xfrm>
              <a:off x="10963126" y="1231900"/>
              <a:ext cx="388396" cy="433301"/>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45" name="Group 44" descr="Icon of a circle and a square with a curved arrow between them">
              <a:extLst>
                <a:ext uri="{FF2B5EF4-FFF2-40B4-BE49-F238E27FC236}">
                  <a16:creationId xmlns:a16="http://schemas.microsoft.com/office/drawing/2014/main" id="{AD90226A-598D-FB3C-C3D6-EE48145F92A2}"/>
                </a:ext>
              </a:extLst>
            </p:cNvPr>
            <p:cNvGrpSpPr>
              <a:grpSpLocks/>
            </p:cNvGrpSpPr>
            <p:nvPr/>
          </p:nvGrpSpPr>
          <p:grpSpPr>
            <a:xfrm rot="5400000">
              <a:off x="10907217" y="1423750"/>
              <a:ext cx="500214" cy="500212"/>
              <a:chOff x="2717122" y="5635692"/>
              <a:chExt cx="500214" cy="500212"/>
            </a:xfrm>
          </p:grpSpPr>
          <p:sp>
            <p:nvSpPr>
              <p:cNvPr id="46" name="Oval 45">
                <a:extLst>
                  <a:ext uri="{FF2B5EF4-FFF2-40B4-BE49-F238E27FC236}">
                    <a16:creationId xmlns:a16="http://schemas.microsoft.com/office/drawing/2014/main" id="{1480D1B2-1D2A-A1C4-B99F-9E9A0FDA346B}"/>
                  </a:ext>
                  <a:ext uri="{C183D7F6-B498-43B3-948B-1728B52AA6E4}">
                    <adec:decorative xmlns:adec="http://schemas.microsoft.com/office/drawing/2017/decorative" val="0"/>
                  </a:ext>
                </a:extLst>
              </p:cNvPr>
              <p:cNvSpPr>
                <a:spLocks/>
              </p:cNvSpPr>
              <p:nvPr/>
            </p:nvSpPr>
            <p:spPr bwMode="auto">
              <a:xfrm>
                <a:off x="2717122" y="5635692"/>
                <a:ext cx="500214" cy="500212"/>
              </a:xfrm>
              <a:prstGeom prst="ellipse">
                <a:avLst/>
              </a:prstGeom>
              <a:solidFill>
                <a:schemeClr val="bg1"/>
              </a:solidFill>
              <a:ln w="127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ts val="100"/>
                  </a:spcBef>
                  <a:spcAft>
                    <a:spcPts val="100"/>
                  </a:spcAft>
                  <a:buClrTx/>
                  <a:buSzTx/>
                  <a:buFontTx/>
                  <a:buNone/>
                  <a:tabLst/>
                  <a:defRPr/>
                </a:pPr>
                <a:endParaRPr kumimoji="0" lang="en-US"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47" name="transform_2" title="Icon of a circle and a square with a curved arrow between them">
                <a:extLst>
                  <a:ext uri="{FF2B5EF4-FFF2-40B4-BE49-F238E27FC236}">
                    <a16:creationId xmlns:a16="http://schemas.microsoft.com/office/drawing/2014/main" id="{8DE10B20-4935-D5A6-DE5D-2B8DC9C784E3}"/>
                  </a:ext>
                </a:extLst>
              </p:cNvPr>
              <p:cNvSpPr>
                <a:spLocks noChangeAspect="1" noEditPoints="1"/>
              </p:cNvSpPr>
              <p:nvPr/>
            </p:nvSpPr>
            <p:spPr bwMode="auto">
              <a:xfrm>
                <a:off x="2845233" y="5770820"/>
                <a:ext cx="245435" cy="227328"/>
              </a:xfrm>
              <a:custGeom>
                <a:avLst/>
                <a:gdLst>
                  <a:gd name="T0" fmla="*/ 31 w 337"/>
                  <a:gd name="T1" fmla="*/ 210 h 311"/>
                  <a:gd name="T2" fmla="*/ 185 w 337"/>
                  <a:gd name="T3" fmla="*/ 56 h 311"/>
                  <a:gd name="T4" fmla="*/ 142 w 337"/>
                  <a:gd name="T5" fmla="*/ 108 h 311"/>
                  <a:gd name="T6" fmla="*/ 185 w 337"/>
                  <a:gd name="T7" fmla="*/ 56 h 311"/>
                  <a:gd name="T8" fmla="*/ 133 w 337"/>
                  <a:gd name="T9" fmla="*/ 13 h 311"/>
                  <a:gd name="T10" fmla="*/ 37 w 337"/>
                  <a:gd name="T11" fmla="*/ 311 h 311"/>
                  <a:gd name="T12" fmla="*/ 73 w 337"/>
                  <a:gd name="T13" fmla="*/ 274 h 311"/>
                  <a:gd name="T14" fmla="*/ 37 w 337"/>
                  <a:gd name="T15" fmla="*/ 238 h 311"/>
                  <a:gd name="T16" fmla="*/ 0 w 337"/>
                  <a:gd name="T17" fmla="*/ 274 h 311"/>
                  <a:gd name="T18" fmla="*/ 37 w 337"/>
                  <a:gd name="T19" fmla="*/ 311 h 311"/>
                  <a:gd name="T20" fmla="*/ 337 w 337"/>
                  <a:gd name="T21" fmla="*/ 0 h 311"/>
                  <a:gd name="T22" fmla="*/ 219 w 337"/>
                  <a:gd name="T23" fmla="*/ 0 h 311"/>
                  <a:gd name="T24" fmla="*/ 219 w 337"/>
                  <a:gd name="T25" fmla="*/ 118 h 311"/>
                  <a:gd name="T26" fmla="*/ 337 w 337"/>
                  <a:gd name="T27" fmla="*/ 118 h 311"/>
                  <a:gd name="T28" fmla="*/ 337 w 337"/>
                  <a:gd name="T29" fmla="*/ 0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37" h="311">
                    <a:moveTo>
                      <a:pt x="31" y="210"/>
                    </a:moveTo>
                    <a:cubicBezTo>
                      <a:pt x="31" y="125"/>
                      <a:pt x="100" y="56"/>
                      <a:pt x="185" y="56"/>
                    </a:cubicBezTo>
                    <a:moveTo>
                      <a:pt x="142" y="108"/>
                    </a:moveTo>
                    <a:cubicBezTo>
                      <a:pt x="185" y="56"/>
                      <a:pt x="185" y="56"/>
                      <a:pt x="185" y="56"/>
                    </a:cubicBezTo>
                    <a:cubicBezTo>
                      <a:pt x="133" y="13"/>
                      <a:pt x="133" y="13"/>
                      <a:pt x="133" y="13"/>
                    </a:cubicBezTo>
                    <a:moveTo>
                      <a:pt x="37" y="311"/>
                    </a:moveTo>
                    <a:cubicBezTo>
                      <a:pt x="56" y="311"/>
                      <a:pt x="73" y="294"/>
                      <a:pt x="73" y="274"/>
                    </a:cubicBezTo>
                    <a:cubicBezTo>
                      <a:pt x="73" y="254"/>
                      <a:pt x="56" y="238"/>
                      <a:pt x="37" y="238"/>
                    </a:cubicBezTo>
                    <a:cubicBezTo>
                      <a:pt x="17" y="238"/>
                      <a:pt x="0" y="254"/>
                      <a:pt x="0" y="274"/>
                    </a:cubicBezTo>
                    <a:cubicBezTo>
                      <a:pt x="0" y="294"/>
                      <a:pt x="17" y="311"/>
                      <a:pt x="37" y="311"/>
                    </a:cubicBezTo>
                    <a:close/>
                    <a:moveTo>
                      <a:pt x="337" y="0"/>
                    </a:moveTo>
                    <a:cubicBezTo>
                      <a:pt x="219" y="0"/>
                      <a:pt x="219" y="0"/>
                      <a:pt x="219" y="0"/>
                    </a:cubicBezTo>
                    <a:cubicBezTo>
                      <a:pt x="219" y="118"/>
                      <a:pt x="219" y="118"/>
                      <a:pt x="219" y="118"/>
                    </a:cubicBezTo>
                    <a:cubicBezTo>
                      <a:pt x="337" y="118"/>
                      <a:pt x="337" y="118"/>
                      <a:pt x="337" y="118"/>
                    </a:cubicBezTo>
                    <a:lnTo>
                      <a:pt x="337" y="0"/>
                    </a:lnTo>
                    <a:close/>
                  </a:path>
                </a:pathLst>
              </a:custGeom>
              <a:noFill/>
              <a:ln w="15875" cap="sq">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100"/>
                  </a:spcBef>
                  <a:spcAft>
                    <a:spcPts val="100"/>
                  </a:spcAft>
                  <a:buClrTx/>
                  <a:buSzTx/>
                  <a:buFontTx/>
                  <a:buNone/>
                  <a:tabLst/>
                  <a:defRPr/>
                </a:pPr>
                <a:endParaRPr kumimoji="0" lang="en-US" b="0" i="0" u="none" strike="noStrike" kern="1200" cap="none" spc="0" normalizeH="0" baseline="0" noProof="0">
                  <a:ln>
                    <a:noFill/>
                  </a:ln>
                  <a:solidFill>
                    <a:srgbClr val="000000"/>
                  </a:solidFill>
                  <a:effectLst/>
                  <a:uLnTx/>
                  <a:uFillTx/>
                  <a:latin typeface="Segoe UI"/>
                  <a:ea typeface="+mn-ea"/>
                  <a:cs typeface="+mn-cs"/>
                </a:endParaRPr>
              </a:p>
            </p:txBody>
          </p:sp>
        </p:grpSp>
      </p:grpSp>
      <p:sp>
        <p:nvSpPr>
          <p:cNvPr id="58" name="Footer Placeholder 13">
            <a:extLst>
              <a:ext uri="{FF2B5EF4-FFF2-40B4-BE49-F238E27FC236}">
                <a16:creationId xmlns:a16="http://schemas.microsoft.com/office/drawing/2014/main" id="{4D7210EF-939B-CBBD-7794-938B34562557}"/>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5" name="Slide Number Placeholder 4">
            <a:extLst>
              <a:ext uri="{FF2B5EF4-FFF2-40B4-BE49-F238E27FC236}">
                <a16:creationId xmlns:a16="http://schemas.microsoft.com/office/drawing/2014/main" id="{6B296662-76C7-3D6B-BEE0-9D1E1D851931}"/>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14</a:t>
            </a:fld>
            <a:endParaRPr lang="en-US" noProof="0"/>
          </a:p>
        </p:txBody>
      </p:sp>
      <p:pic>
        <p:nvPicPr>
          <p:cNvPr id="2" name="Picture 1" descr="Illustration of a cloud and a shield">
            <a:extLst>
              <a:ext uri="{FF2B5EF4-FFF2-40B4-BE49-F238E27FC236}">
                <a16:creationId xmlns:a16="http://schemas.microsoft.com/office/drawing/2014/main" id="{41923C89-18DC-DBD7-DB00-11EF39AA405F}"/>
              </a:ext>
            </a:extLst>
          </p:cNvPr>
          <p:cNvPicPr>
            <a:picLocks/>
          </p:cNvPicPr>
          <p:nvPr/>
        </p:nvPicPr>
        <p:blipFill>
          <a:blip r:embed="rId3"/>
          <a:srcRect/>
          <a:stretch/>
        </p:blipFill>
        <p:spPr>
          <a:xfrm>
            <a:off x="10390877" y="49728"/>
            <a:ext cx="1508515" cy="1508515"/>
          </a:xfrm>
          <a:prstGeom prst="rect">
            <a:avLst/>
          </a:prstGeom>
        </p:spPr>
      </p:pic>
    </p:spTree>
    <p:extLst>
      <p:ext uri="{BB962C8B-B14F-4D97-AF65-F5344CB8AC3E}">
        <p14:creationId xmlns:p14="http://schemas.microsoft.com/office/powerpoint/2010/main" val="3490577179"/>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52EAB-2E47-25D0-65A8-169AA1C910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F46556B-527D-59B7-0F58-1C2A65B846BE}"/>
              </a:ext>
            </a:extLst>
          </p:cNvPr>
          <p:cNvSpPr>
            <a:spLocks noGrp="1"/>
          </p:cNvSpPr>
          <p:nvPr>
            <p:ph type="title"/>
          </p:nvPr>
        </p:nvSpPr>
        <p:spPr/>
        <p:txBody>
          <a:bodyPr/>
          <a:lstStyle/>
          <a:p>
            <a:r>
              <a:rPr lang="en-US" dirty="0"/>
              <a:t>Disks, Files, Blobs, Storage Pools</a:t>
            </a:r>
          </a:p>
        </p:txBody>
      </p:sp>
      <p:sp>
        <p:nvSpPr>
          <p:cNvPr id="38" name="Rectangle 37">
            <a:extLst>
              <a:ext uri="{FF2B5EF4-FFF2-40B4-BE49-F238E27FC236}">
                <a16:creationId xmlns:a16="http://schemas.microsoft.com/office/drawing/2014/main" id="{015DF523-1EED-CF94-3741-46FA99C3C998}"/>
              </a:ext>
              <a:ext uri="{C183D7F6-B498-43B3-948B-1728B52AA6E4}">
                <adec:decorative xmlns:adec="http://schemas.microsoft.com/office/drawing/2017/decorative" val="1"/>
              </a:ext>
            </a:extLst>
          </p:cNvPr>
          <p:cNvSpPr/>
          <p:nvPr/>
        </p:nvSpPr>
        <p:spPr bwMode="auto">
          <a:xfrm>
            <a:off x="575481" y="1943965"/>
            <a:ext cx="11045019" cy="4328248"/>
          </a:xfrm>
          <a:prstGeom prst="rect">
            <a:avLst/>
          </a:prstGeom>
          <a:solidFill>
            <a:schemeClr val="bg1"/>
          </a:solid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28600" tIns="182880" rIns="228600" bIns="182880" numCol="1" spcCol="0" rtlCol="0" fromWordArt="0" anchor="t" anchorCtr="0" forceAA="0" compatLnSpc="1">
            <a:prstTxWarp prst="textNoShape">
              <a:avLst/>
            </a:prstTxWarp>
            <a:noAutofit/>
          </a:bodyPr>
          <a:lstStyle/>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Persistent Volumes (PVs) in Kubernetes are resources backed by real physical storage.</a:t>
            </a:r>
          </a:p>
          <a:p>
            <a:pPr marL="285750" indent="-285750" defTabSz="932563">
              <a:spcBef>
                <a:spcPts val="300"/>
              </a:spcBef>
              <a:spcAft>
                <a:spcPts val="200"/>
              </a:spcAft>
              <a:buFont typeface="Arial" panose="020B0604020202020204" pitchFamily="34" charset="0"/>
              <a:buChar char="•"/>
            </a:pPr>
            <a:endParaRPr lang="en-GB" dirty="0">
              <a:solidFill>
                <a:schemeClr val="accent6"/>
              </a:solidFill>
              <a:cs typeface="Segoe UI Semibold" panose="020B0702040204020203" pitchFamily="34" charset="0"/>
            </a:endParaRPr>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PVs can be created manually by an admin or Kubernetes can automatically create them.</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Once available, PVs can be connected to Pods.</a:t>
            </a:r>
          </a:p>
          <a:p>
            <a:pPr marL="285750" indent="-285750" defTabSz="932563">
              <a:spcBef>
                <a:spcPts val="300"/>
              </a:spcBef>
              <a:spcAft>
                <a:spcPts val="200"/>
              </a:spcAft>
              <a:buFont typeface="Arial" panose="020B0604020202020204" pitchFamily="34" charset="0"/>
              <a:buChar char="•"/>
            </a:pPr>
            <a:endParaRPr lang="en-GB" dirty="0">
              <a:solidFill>
                <a:schemeClr val="accent6"/>
              </a:solidFill>
              <a:cs typeface="Segoe UI Semibold" panose="020B0702040204020203" pitchFamily="34" charset="0"/>
            </a:endParaRPr>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On Azure there are 4 storage types typically used by AKS: Azure Disk, Azure Files, Azure NetApp Files, or Azure Blobs.</a:t>
            </a:r>
          </a:p>
          <a:p>
            <a:pPr defTabSz="932563">
              <a:spcBef>
                <a:spcPts val="300"/>
              </a:spcBef>
              <a:spcAft>
                <a:spcPts val="200"/>
              </a:spcAft>
            </a:pPr>
            <a:endParaRPr lang="en-GB" dirty="0">
              <a:solidFill>
                <a:schemeClr val="accent6"/>
              </a:solidFill>
              <a:cs typeface="Segoe UI Semibold" panose="020B0702040204020203" pitchFamily="34" charset="0"/>
            </a:endParaRPr>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A relatively new service called Azure Storage is replacing the direct use of the 4 standard types.</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Acts as an intermediatory between K8s and the underlying physical storage.</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Allows for quicker provisioning of storage for new deployments and Pods.</a:t>
            </a:r>
          </a:p>
          <a:p>
            <a:pPr marL="285750" indent="-285750" defTabSz="932563">
              <a:spcBef>
                <a:spcPts val="300"/>
              </a:spcBef>
              <a:spcAft>
                <a:spcPts val="200"/>
              </a:spcAft>
              <a:buFont typeface="Arial" panose="020B0604020202020204" pitchFamily="34" charset="0"/>
              <a:buChar char="•"/>
            </a:pPr>
            <a:endParaRPr lang="en-GB" dirty="0">
              <a:solidFill>
                <a:schemeClr val="accent6"/>
              </a:solidFill>
              <a:cs typeface="Segoe UI Semibold" panose="020B0702040204020203" pitchFamily="34" charset="0"/>
            </a:endParaRPr>
          </a:p>
        </p:txBody>
      </p:sp>
      <p:sp>
        <p:nvSpPr>
          <p:cNvPr id="58" name="Footer Placeholder 13">
            <a:extLst>
              <a:ext uri="{FF2B5EF4-FFF2-40B4-BE49-F238E27FC236}">
                <a16:creationId xmlns:a16="http://schemas.microsoft.com/office/drawing/2014/main" id="{EA9280C8-2100-7BC2-70A6-2CF94A6727FF}"/>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5" name="Slide Number Placeholder 4">
            <a:extLst>
              <a:ext uri="{FF2B5EF4-FFF2-40B4-BE49-F238E27FC236}">
                <a16:creationId xmlns:a16="http://schemas.microsoft.com/office/drawing/2014/main" id="{9CCC47CF-8A0C-AC87-EC84-B466EE6DD7C1}"/>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15</a:t>
            </a:fld>
            <a:endParaRPr lang="en-US" noProof="0"/>
          </a:p>
        </p:txBody>
      </p:sp>
    </p:spTree>
    <p:extLst>
      <p:ext uri="{BB962C8B-B14F-4D97-AF65-F5344CB8AC3E}">
        <p14:creationId xmlns:p14="http://schemas.microsoft.com/office/powerpoint/2010/main" val="3477134530"/>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5B620-2EE9-DD4B-B41B-BDE1B3DD4BA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A777D8E-1B64-B07A-8E8A-C1AE0E29308D}"/>
              </a:ext>
            </a:extLst>
          </p:cNvPr>
          <p:cNvSpPr>
            <a:spLocks noGrp="1"/>
          </p:cNvSpPr>
          <p:nvPr>
            <p:ph type="title"/>
          </p:nvPr>
        </p:nvSpPr>
        <p:spPr/>
        <p:txBody>
          <a:bodyPr/>
          <a:lstStyle/>
          <a:p>
            <a:r>
              <a:rPr lang="en-US" dirty="0"/>
              <a:t>Legacy Storage Drivers</a:t>
            </a:r>
          </a:p>
        </p:txBody>
      </p:sp>
      <p:sp>
        <p:nvSpPr>
          <p:cNvPr id="38" name="Rectangle 37">
            <a:extLst>
              <a:ext uri="{FF2B5EF4-FFF2-40B4-BE49-F238E27FC236}">
                <a16:creationId xmlns:a16="http://schemas.microsoft.com/office/drawing/2014/main" id="{FF33E990-D782-225B-DA1D-AFB698C79B17}"/>
              </a:ext>
              <a:ext uri="{C183D7F6-B498-43B3-948B-1728B52AA6E4}">
                <adec:decorative xmlns:adec="http://schemas.microsoft.com/office/drawing/2017/decorative" val="1"/>
              </a:ext>
            </a:extLst>
          </p:cNvPr>
          <p:cNvSpPr/>
          <p:nvPr/>
        </p:nvSpPr>
        <p:spPr bwMode="auto">
          <a:xfrm>
            <a:off x="575481" y="1943964"/>
            <a:ext cx="11045019" cy="4771161"/>
          </a:xfrm>
          <a:prstGeom prst="rect">
            <a:avLst/>
          </a:prstGeom>
          <a:solidFill>
            <a:schemeClr val="bg1"/>
          </a:solid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28600" tIns="182880" rIns="228600" bIns="182880" numCol="1" spcCol="0" rtlCol="0" fromWordArt="0" anchor="t" anchorCtr="0" forceAA="0" compatLnSpc="1">
            <a:prstTxWarp prst="textNoShape">
              <a:avLst/>
            </a:prstTxWarp>
            <a:noAutofit/>
          </a:bodyPr>
          <a:lstStyle/>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Support for the 4 external storage types is via use of a Kubernetes </a:t>
            </a:r>
            <a:r>
              <a:rPr lang="en-GB" b="1" dirty="0">
                <a:solidFill>
                  <a:schemeClr val="accent6"/>
                </a:solidFill>
                <a:cs typeface="Segoe UI Semibold" panose="020B0702040204020203" pitchFamily="34" charset="0"/>
              </a:rPr>
              <a:t>Driver</a:t>
            </a:r>
            <a:r>
              <a:rPr lang="en-GB" dirty="0">
                <a:solidFill>
                  <a:schemeClr val="accent6"/>
                </a:solidFill>
                <a:cs typeface="Segoe UI Semibold" panose="020B0702040204020203" pitchFamily="34" charset="0"/>
              </a:rPr>
              <a:t>.</a:t>
            </a:r>
            <a:endParaRPr lang="en-GB" b="1" dirty="0">
              <a:solidFill>
                <a:schemeClr val="accent6"/>
              </a:solidFill>
              <a:cs typeface="Segoe UI Semibold" panose="020B0702040204020203" pitchFamily="34" charset="0"/>
            </a:endParaRP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Many add-on drivers exist out of the box for connecting to different storage types.</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Originally only the Microsoft created drivers for Azure Disks &amp; Azure Files where available.</a:t>
            </a:r>
          </a:p>
          <a:p>
            <a:pPr marL="285750" indent="-285750" defTabSz="932563">
              <a:spcBef>
                <a:spcPts val="300"/>
              </a:spcBef>
              <a:spcAft>
                <a:spcPts val="200"/>
              </a:spcAft>
              <a:buFont typeface="Arial" panose="020B0604020202020204" pitchFamily="34" charset="0"/>
              <a:buChar char="•"/>
            </a:pPr>
            <a:endParaRPr lang="en-GB" dirty="0">
              <a:solidFill>
                <a:schemeClr val="accent6"/>
              </a:solidFill>
              <a:cs typeface="Segoe UI Semibold" panose="020B0702040204020203" pitchFamily="34" charset="0"/>
            </a:endParaRPr>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Different driver types are referenced via the various </a:t>
            </a:r>
            <a:r>
              <a:rPr lang="en-GB" b="1" dirty="0" err="1">
                <a:solidFill>
                  <a:schemeClr val="accent6"/>
                </a:solidFill>
                <a:cs typeface="Segoe UI Semibold" panose="020B0702040204020203" pitchFamily="34" charset="0"/>
              </a:rPr>
              <a:t>StorageClasses</a:t>
            </a:r>
            <a:r>
              <a:rPr lang="en-GB" dirty="0">
                <a:solidFill>
                  <a:schemeClr val="accent6"/>
                </a:solidFill>
                <a:cs typeface="Segoe UI Semibold" panose="020B0702040204020203" pitchFamily="34" charset="0"/>
              </a:rPr>
              <a:t> in K8s.</a:t>
            </a:r>
          </a:p>
          <a:p>
            <a:pPr marL="285750" indent="-285750" defTabSz="932563">
              <a:spcBef>
                <a:spcPts val="300"/>
              </a:spcBef>
              <a:spcAft>
                <a:spcPts val="200"/>
              </a:spcAft>
              <a:buFont typeface="Arial" panose="020B0604020202020204" pitchFamily="34" charset="0"/>
              <a:buChar char="•"/>
            </a:pPr>
            <a:endParaRPr lang="en-GB" dirty="0">
              <a:solidFill>
                <a:schemeClr val="accent6"/>
              </a:solidFill>
              <a:cs typeface="Segoe UI Semibold" panose="020B0702040204020203" pitchFamily="34" charset="0"/>
            </a:endParaRPr>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Depending on the VM SKU being used, the driver might have a per-node volume limit,</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e.g. a 16-core node is limited to 64 attached volumes.</a:t>
            </a:r>
          </a:p>
          <a:p>
            <a:pPr marL="285750" indent="-285750" defTabSz="932563">
              <a:spcBef>
                <a:spcPts val="300"/>
              </a:spcBef>
              <a:spcAft>
                <a:spcPts val="200"/>
              </a:spcAft>
              <a:buFont typeface="Arial" panose="020B0604020202020204" pitchFamily="34" charset="0"/>
              <a:buChar char="•"/>
            </a:pPr>
            <a:endParaRPr lang="en-GB" dirty="0">
              <a:solidFill>
                <a:schemeClr val="accent6"/>
              </a:solidFill>
              <a:cs typeface="Segoe UI Semibold" panose="020B0702040204020203" pitchFamily="34" charset="0"/>
            </a:endParaRPr>
          </a:p>
        </p:txBody>
      </p:sp>
      <p:grpSp>
        <p:nvGrpSpPr>
          <p:cNvPr id="13" name="Group 12">
            <a:extLst>
              <a:ext uri="{FF2B5EF4-FFF2-40B4-BE49-F238E27FC236}">
                <a16:creationId xmlns:a16="http://schemas.microsoft.com/office/drawing/2014/main" id="{00872D48-3E53-5C28-2B72-AB2D050EBEF8}"/>
              </a:ext>
              <a:ext uri="{C183D7F6-B498-43B3-948B-1728B52AA6E4}">
                <adec:decorative xmlns:adec="http://schemas.microsoft.com/office/drawing/2017/decorative" val="1"/>
              </a:ext>
            </a:extLst>
          </p:cNvPr>
          <p:cNvGrpSpPr/>
          <p:nvPr/>
        </p:nvGrpSpPr>
        <p:grpSpPr>
          <a:xfrm rot="5400000" flipH="1">
            <a:off x="11076794" y="5477957"/>
            <a:ext cx="623197" cy="692063"/>
            <a:chOff x="10845725" y="1231900"/>
            <a:chExt cx="623197" cy="692063"/>
          </a:xfrm>
        </p:grpSpPr>
        <p:sp>
          <p:nvSpPr>
            <p:cNvPr id="12" name="Trapezoid 11">
              <a:extLst>
                <a:ext uri="{FF2B5EF4-FFF2-40B4-BE49-F238E27FC236}">
                  <a16:creationId xmlns:a16="http://schemas.microsoft.com/office/drawing/2014/main" id="{9489F0C2-5503-92DB-F6A0-6971FDC66ACB}"/>
                </a:ext>
              </a:extLst>
            </p:cNvPr>
            <p:cNvSpPr/>
            <p:nvPr/>
          </p:nvSpPr>
          <p:spPr bwMode="auto">
            <a:xfrm>
              <a:off x="10845725" y="1231900"/>
              <a:ext cx="623197" cy="113383"/>
            </a:xfrm>
            <a:prstGeom prst="trapezoid">
              <a:avLst>
                <a:gd name="adj" fmla="val 104333"/>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Rectangle 2">
              <a:extLst>
                <a:ext uri="{FF2B5EF4-FFF2-40B4-BE49-F238E27FC236}">
                  <a16:creationId xmlns:a16="http://schemas.microsoft.com/office/drawing/2014/main" id="{F6F692D3-4C3A-4F64-C330-FD3C5C420702}"/>
                </a:ext>
              </a:extLst>
            </p:cNvPr>
            <p:cNvSpPr/>
            <p:nvPr/>
          </p:nvSpPr>
          <p:spPr bwMode="auto">
            <a:xfrm>
              <a:off x="10963126" y="1231900"/>
              <a:ext cx="388396" cy="433301"/>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45" name="Group 44" descr="Icon of a circle and a square with a curved arrow between them">
              <a:extLst>
                <a:ext uri="{FF2B5EF4-FFF2-40B4-BE49-F238E27FC236}">
                  <a16:creationId xmlns:a16="http://schemas.microsoft.com/office/drawing/2014/main" id="{99632848-140F-90C4-C3EB-750A351BE4AA}"/>
                </a:ext>
              </a:extLst>
            </p:cNvPr>
            <p:cNvGrpSpPr>
              <a:grpSpLocks/>
            </p:cNvGrpSpPr>
            <p:nvPr/>
          </p:nvGrpSpPr>
          <p:grpSpPr>
            <a:xfrm rot="5400000">
              <a:off x="10907217" y="1423750"/>
              <a:ext cx="500214" cy="500212"/>
              <a:chOff x="2717122" y="5635692"/>
              <a:chExt cx="500214" cy="500212"/>
            </a:xfrm>
          </p:grpSpPr>
          <p:sp>
            <p:nvSpPr>
              <p:cNvPr id="46" name="Oval 45">
                <a:extLst>
                  <a:ext uri="{FF2B5EF4-FFF2-40B4-BE49-F238E27FC236}">
                    <a16:creationId xmlns:a16="http://schemas.microsoft.com/office/drawing/2014/main" id="{80C186AA-F038-ECAF-F7B3-983C2F306B00}"/>
                  </a:ext>
                  <a:ext uri="{C183D7F6-B498-43B3-948B-1728B52AA6E4}">
                    <adec:decorative xmlns:adec="http://schemas.microsoft.com/office/drawing/2017/decorative" val="0"/>
                  </a:ext>
                </a:extLst>
              </p:cNvPr>
              <p:cNvSpPr>
                <a:spLocks/>
              </p:cNvSpPr>
              <p:nvPr/>
            </p:nvSpPr>
            <p:spPr bwMode="auto">
              <a:xfrm>
                <a:off x="2717122" y="5635692"/>
                <a:ext cx="500214" cy="500212"/>
              </a:xfrm>
              <a:prstGeom prst="ellipse">
                <a:avLst/>
              </a:prstGeom>
              <a:solidFill>
                <a:schemeClr val="bg1"/>
              </a:solidFill>
              <a:ln w="127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ts val="100"/>
                  </a:spcBef>
                  <a:spcAft>
                    <a:spcPts val="100"/>
                  </a:spcAft>
                  <a:buClrTx/>
                  <a:buSzTx/>
                  <a:buFontTx/>
                  <a:buNone/>
                  <a:tabLst/>
                  <a:defRPr/>
                </a:pPr>
                <a:endParaRPr kumimoji="0" lang="en-US"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47" name="transform_2" title="Icon of a circle and a square with a curved arrow between them">
                <a:extLst>
                  <a:ext uri="{FF2B5EF4-FFF2-40B4-BE49-F238E27FC236}">
                    <a16:creationId xmlns:a16="http://schemas.microsoft.com/office/drawing/2014/main" id="{36154647-B0D9-356F-3196-AB04FB3E986B}"/>
                  </a:ext>
                </a:extLst>
              </p:cNvPr>
              <p:cNvSpPr>
                <a:spLocks noChangeAspect="1" noEditPoints="1"/>
              </p:cNvSpPr>
              <p:nvPr/>
            </p:nvSpPr>
            <p:spPr bwMode="auto">
              <a:xfrm>
                <a:off x="2845233" y="5770820"/>
                <a:ext cx="245435" cy="227328"/>
              </a:xfrm>
              <a:custGeom>
                <a:avLst/>
                <a:gdLst>
                  <a:gd name="T0" fmla="*/ 31 w 337"/>
                  <a:gd name="T1" fmla="*/ 210 h 311"/>
                  <a:gd name="T2" fmla="*/ 185 w 337"/>
                  <a:gd name="T3" fmla="*/ 56 h 311"/>
                  <a:gd name="T4" fmla="*/ 142 w 337"/>
                  <a:gd name="T5" fmla="*/ 108 h 311"/>
                  <a:gd name="T6" fmla="*/ 185 w 337"/>
                  <a:gd name="T7" fmla="*/ 56 h 311"/>
                  <a:gd name="T8" fmla="*/ 133 w 337"/>
                  <a:gd name="T9" fmla="*/ 13 h 311"/>
                  <a:gd name="T10" fmla="*/ 37 w 337"/>
                  <a:gd name="T11" fmla="*/ 311 h 311"/>
                  <a:gd name="T12" fmla="*/ 73 w 337"/>
                  <a:gd name="T13" fmla="*/ 274 h 311"/>
                  <a:gd name="T14" fmla="*/ 37 w 337"/>
                  <a:gd name="T15" fmla="*/ 238 h 311"/>
                  <a:gd name="T16" fmla="*/ 0 w 337"/>
                  <a:gd name="T17" fmla="*/ 274 h 311"/>
                  <a:gd name="T18" fmla="*/ 37 w 337"/>
                  <a:gd name="T19" fmla="*/ 311 h 311"/>
                  <a:gd name="T20" fmla="*/ 337 w 337"/>
                  <a:gd name="T21" fmla="*/ 0 h 311"/>
                  <a:gd name="T22" fmla="*/ 219 w 337"/>
                  <a:gd name="T23" fmla="*/ 0 h 311"/>
                  <a:gd name="T24" fmla="*/ 219 w 337"/>
                  <a:gd name="T25" fmla="*/ 118 h 311"/>
                  <a:gd name="T26" fmla="*/ 337 w 337"/>
                  <a:gd name="T27" fmla="*/ 118 h 311"/>
                  <a:gd name="T28" fmla="*/ 337 w 337"/>
                  <a:gd name="T29" fmla="*/ 0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37" h="311">
                    <a:moveTo>
                      <a:pt x="31" y="210"/>
                    </a:moveTo>
                    <a:cubicBezTo>
                      <a:pt x="31" y="125"/>
                      <a:pt x="100" y="56"/>
                      <a:pt x="185" y="56"/>
                    </a:cubicBezTo>
                    <a:moveTo>
                      <a:pt x="142" y="108"/>
                    </a:moveTo>
                    <a:cubicBezTo>
                      <a:pt x="185" y="56"/>
                      <a:pt x="185" y="56"/>
                      <a:pt x="185" y="56"/>
                    </a:cubicBezTo>
                    <a:cubicBezTo>
                      <a:pt x="133" y="13"/>
                      <a:pt x="133" y="13"/>
                      <a:pt x="133" y="13"/>
                    </a:cubicBezTo>
                    <a:moveTo>
                      <a:pt x="37" y="311"/>
                    </a:moveTo>
                    <a:cubicBezTo>
                      <a:pt x="56" y="311"/>
                      <a:pt x="73" y="294"/>
                      <a:pt x="73" y="274"/>
                    </a:cubicBezTo>
                    <a:cubicBezTo>
                      <a:pt x="73" y="254"/>
                      <a:pt x="56" y="238"/>
                      <a:pt x="37" y="238"/>
                    </a:cubicBezTo>
                    <a:cubicBezTo>
                      <a:pt x="17" y="238"/>
                      <a:pt x="0" y="254"/>
                      <a:pt x="0" y="274"/>
                    </a:cubicBezTo>
                    <a:cubicBezTo>
                      <a:pt x="0" y="294"/>
                      <a:pt x="17" y="311"/>
                      <a:pt x="37" y="311"/>
                    </a:cubicBezTo>
                    <a:close/>
                    <a:moveTo>
                      <a:pt x="337" y="0"/>
                    </a:moveTo>
                    <a:cubicBezTo>
                      <a:pt x="219" y="0"/>
                      <a:pt x="219" y="0"/>
                      <a:pt x="219" y="0"/>
                    </a:cubicBezTo>
                    <a:cubicBezTo>
                      <a:pt x="219" y="118"/>
                      <a:pt x="219" y="118"/>
                      <a:pt x="219" y="118"/>
                    </a:cubicBezTo>
                    <a:cubicBezTo>
                      <a:pt x="337" y="118"/>
                      <a:pt x="337" y="118"/>
                      <a:pt x="337" y="118"/>
                    </a:cubicBezTo>
                    <a:lnTo>
                      <a:pt x="337" y="0"/>
                    </a:lnTo>
                    <a:close/>
                  </a:path>
                </a:pathLst>
              </a:custGeom>
              <a:noFill/>
              <a:ln w="15875" cap="sq">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100"/>
                  </a:spcBef>
                  <a:spcAft>
                    <a:spcPts val="100"/>
                  </a:spcAft>
                  <a:buClrTx/>
                  <a:buSzTx/>
                  <a:buFontTx/>
                  <a:buNone/>
                  <a:tabLst/>
                  <a:defRPr/>
                </a:pPr>
                <a:endParaRPr kumimoji="0" lang="en-US" b="0" i="0" u="none" strike="noStrike" kern="1200" cap="none" spc="0" normalizeH="0" baseline="0" noProof="0">
                  <a:ln>
                    <a:noFill/>
                  </a:ln>
                  <a:solidFill>
                    <a:srgbClr val="000000"/>
                  </a:solidFill>
                  <a:effectLst/>
                  <a:uLnTx/>
                  <a:uFillTx/>
                  <a:latin typeface="Segoe UI"/>
                  <a:ea typeface="+mn-ea"/>
                  <a:cs typeface="+mn-cs"/>
                </a:endParaRPr>
              </a:p>
            </p:txBody>
          </p:sp>
        </p:grpSp>
      </p:grpSp>
      <p:sp>
        <p:nvSpPr>
          <p:cNvPr id="58" name="Footer Placeholder 13">
            <a:extLst>
              <a:ext uri="{FF2B5EF4-FFF2-40B4-BE49-F238E27FC236}">
                <a16:creationId xmlns:a16="http://schemas.microsoft.com/office/drawing/2014/main" id="{427B9682-574A-D743-B00B-AC57C7FEB8A2}"/>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5" name="Slide Number Placeholder 4">
            <a:extLst>
              <a:ext uri="{FF2B5EF4-FFF2-40B4-BE49-F238E27FC236}">
                <a16:creationId xmlns:a16="http://schemas.microsoft.com/office/drawing/2014/main" id="{92650ADD-83F2-BF58-68A9-B296B4A4522D}"/>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16</a:t>
            </a:fld>
            <a:endParaRPr lang="en-US" noProof="0"/>
          </a:p>
        </p:txBody>
      </p:sp>
    </p:spTree>
    <p:extLst>
      <p:ext uri="{BB962C8B-B14F-4D97-AF65-F5344CB8AC3E}">
        <p14:creationId xmlns:p14="http://schemas.microsoft.com/office/powerpoint/2010/main" val="3944028816"/>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075A0-9114-EE8B-60A1-CCEDCAC099F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9B9A779-8A24-6372-9283-DB6068CC0C5B}"/>
              </a:ext>
            </a:extLst>
          </p:cNvPr>
          <p:cNvSpPr>
            <a:spLocks noGrp="1"/>
          </p:cNvSpPr>
          <p:nvPr>
            <p:ph type="title"/>
          </p:nvPr>
        </p:nvSpPr>
        <p:spPr/>
        <p:txBody>
          <a:bodyPr/>
          <a:lstStyle/>
          <a:p>
            <a:r>
              <a:rPr lang="en-US" dirty="0"/>
              <a:t>Modern CSI Drivers</a:t>
            </a:r>
          </a:p>
        </p:txBody>
      </p:sp>
      <p:sp>
        <p:nvSpPr>
          <p:cNvPr id="38" name="Rectangle 37">
            <a:extLst>
              <a:ext uri="{FF2B5EF4-FFF2-40B4-BE49-F238E27FC236}">
                <a16:creationId xmlns:a16="http://schemas.microsoft.com/office/drawing/2014/main" id="{8FC8F8EE-F0CA-16DD-47BB-E7507D6524CA}"/>
              </a:ext>
              <a:ext uri="{C183D7F6-B498-43B3-948B-1728B52AA6E4}">
                <adec:decorative xmlns:adec="http://schemas.microsoft.com/office/drawing/2017/decorative" val="1"/>
              </a:ext>
            </a:extLst>
          </p:cNvPr>
          <p:cNvSpPr/>
          <p:nvPr/>
        </p:nvSpPr>
        <p:spPr bwMode="auto">
          <a:xfrm>
            <a:off x="575481" y="1943964"/>
            <a:ext cx="11045019" cy="4771161"/>
          </a:xfrm>
          <a:prstGeom prst="rect">
            <a:avLst/>
          </a:prstGeom>
          <a:solidFill>
            <a:schemeClr val="bg1"/>
          </a:solid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28600" tIns="182880" rIns="228600" bIns="182880" numCol="1" spcCol="0" rtlCol="0" fromWordArt="0" anchor="t" anchorCtr="0" forceAA="0" compatLnSpc="1">
            <a:prstTxWarp prst="textNoShape">
              <a:avLst/>
            </a:prstTxWarp>
            <a:noAutofit/>
          </a:bodyPr>
          <a:lstStyle/>
          <a:p>
            <a:pPr marL="285750" indent="-285750" defTabSz="932563">
              <a:spcBef>
                <a:spcPts val="300"/>
              </a:spcBef>
              <a:spcAft>
                <a:spcPts val="200"/>
              </a:spcAft>
              <a:buFont typeface="Arial" panose="020B0604020202020204" pitchFamily="34" charset="0"/>
              <a:buChar char="•"/>
            </a:pPr>
            <a:r>
              <a:rPr lang="en-GB" b="1" dirty="0">
                <a:solidFill>
                  <a:schemeClr val="accent6"/>
                </a:solidFill>
                <a:cs typeface="Segoe UI Semibold" panose="020B0702040204020203" pitchFamily="34" charset="0"/>
              </a:rPr>
              <a:t>Container Storage Interface</a:t>
            </a:r>
            <a:r>
              <a:rPr lang="en-GB" dirty="0">
                <a:solidFill>
                  <a:schemeClr val="accent6"/>
                </a:solidFill>
                <a:cs typeface="Segoe UI Semibold" panose="020B0702040204020203" pitchFamily="34" charset="0"/>
              </a:rPr>
              <a:t> (CSI) drivers are the modern replacement for exposing arbitrary block and file storage systems to containerized workloads on Kubernetes</a:t>
            </a:r>
          </a:p>
          <a:p>
            <a:pPr marL="1200150" lvl="2"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hlinkClick r:id="rId3"/>
              </a:rPr>
              <a:t>https://github.com/kubernetes-sigs/azuredisk-csi-driver</a:t>
            </a:r>
            <a:endParaRPr lang="en-GB" dirty="0">
              <a:solidFill>
                <a:schemeClr val="accent6"/>
              </a:solidFill>
              <a:cs typeface="Segoe UI Semibold" panose="020B0702040204020203" pitchFamily="34" charset="0"/>
            </a:endParaRPr>
          </a:p>
          <a:p>
            <a:pPr marL="1200150" lvl="2"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hlinkClick r:id="rId4"/>
              </a:rPr>
              <a:t>https://github.com/kubernetes-sigs/azurefile-csi-driver</a:t>
            </a:r>
            <a:endParaRPr lang="en-GB" dirty="0">
              <a:solidFill>
                <a:schemeClr val="accent6"/>
              </a:solidFill>
              <a:cs typeface="Segoe UI Semibold" panose="020B0702040204020203" pitchFamily="34" charset="0"/>
            </a:endParaRPr>
          </a:p>
          <a:p>
            <a:pPr marL="1200150" lvl="2"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hlinkClick r:id="rId5"/>
              </a:rPr>
              <a:t>https://github.com/kubernetes-sigs/blob-csi-driver</a:t>
            </a:r>
            <a:endParaRPr lang="en-GB" dirty="0">
              <a:solidFill>
                <a:schemeClr val="accent6"/>
              </a:solidFill>
              <a:cs typeface="Segoe UI Semibold" panose="020B0702040204020203" pitchFamily="34" charset="0"/>
            </a:endParaRPr>
          </a:p>
          <a:p>
            <a:pPr marL="1200150" lvl="2"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hlinkClick r:id="rId6"/>
              </a:rPr>
              <a:t>https://github.com/kubernetes-sigs/azurelustre-csi-driver</a:t>
            </a:r>
            <a:endParaRPr lang="en-GB" dirty="0">
              <a:solidFill>
                <a:schemeClr val="accent6"/>
              </a:solidFill>
              <a:cs typeface="Segoe UI Semibold" panose="020B0702040204020203" pitchFamily="34" charset="0"/>
            </a:endParaRPr>
          </a:p>
          <a:p>
            <a:pPr marL="1657350" lvl="3"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Lustre will be covered later</a:t>
            </a:r>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CSI drivers AND legacy drivers are enabled on new clusters by default.</a:t>
            </a:r>
          </a:p>
          <a:p>
            <a:pPr marL="285750" indent="-285750" defTabSz="932563">
              <a:spcBef>
                <a:spcPts val="300"/>
              </a:spcBef>
              <a:spcAft>
                <a:spcPts val="200"/>
              </a:spcAft>
              <a:buFont typeface="Arial" panose="020B0604020202020204" pitchFamily="34" charset="0"/>
              <a:buChar char="•"/>
            </a:pPr>
            <a:endParaRPr lang="en-GB" dirty="0">
              <a:solidFill>
                <a:schemeClr val="accent6"/>
              </a:solidFill>
              <a:cs typeface="Segoe UI Semibold" panose="020B0702040204020203" pitchFamily="34" charset="0"/>
            </a:endParaRPr>
          </a:p>
          <a:p>
            <a:pPr marL="285750" indent="-285750">
              <a:buFont typeface="Arial" panose="020B0604020202020204" pitchFamily="34" charset="0"/>
              <a:buChar char="•"/>
            </a:pPr>
            <a:r>
              <a:rPr lang="en-GB" dirty="0">
                <a:solidFill>
                  <a:schemeClr val="tx1"/>
                </a:solidFill>
              </a:rPr>
              <a:t>On a new AKS cluster, several CSI storage classes are enabled by default:</a:t>
            </a:r>
          </a:p>
          <a:p>
            <a:pPr marL="742950" lvl="1" indent="-285750">
              <a:buFont typeface="Arial" panose="020B0604020202020204" pitchFamily="34" charset="0"/>
              <a:buChar char="•"/>
            </a:pPr>
            <a:r>
              <a:rPr lang="en-GB" b="1" dirty="0">
                <a:solidFill>
                  <a:schemeClr val="tx1"/>
                </a:solidFill>
              </a:rPr>
              <a:t>managed-</a:t>
            </a:r>
            <a:r>
              <a:rPr lang="en-GB" b="1" dirty="0" err="1">
                <a:solidFill>
                  <a:schemeClr val="tx1"/>
                </a:solidFill>
              </a:rPr>
              <a:t>csi</a:t>
            </a:r>
            <a:r>
              <a:rPr lang="en-GB" dirty="0">
                <a:solidFill>
                  <a:schemeClr val="tx1"/>
                </a:solidFill>
              </a:rPr>
              <a:t> – Standard Azure Disk (HDD or Standard SSD) for general-purpose workloads.</a:t>
            </a:r>
          </a:p>
          <a:p>
            <a:pPr marL="742950" lvl="1" indent="-285750">
              <a:buFont typeface="Arial" panose="020B0604020202020204" pitchFamily="34" charset="0"/>
              <a:buChar char="•"/>
            </a:pPr>
            <a:r>
              <a:rPr lang="en-GB" b="1" dirty="0">
                <a:solidFill>
                  <a:schemeClr val="tx1"/>
                </a:solidFill>
              </a:rPr>
              <a:t>managed-</a:t>
            </a:r>
            <a:r>
              <a:rPr lang="en-GB" b="1" dirty="0" err="1">
                <a:solidFill>
                  <a:schemeClr val="tx1"/>
                </a:solidFill>
              </a:rPr>
              <a:t>csi</a:t>
            </a:r>
            <a:r>
              <a:rPr lang="en-GB" b="1" dirty="0">
                <a:solidFill>
                  <a:schemeClr val="tx1"/>
                </a:solidFill>
              </a:rPr>
              <a:t>-premium</a:t>
            </a:r>
            <a:r>
              <a:rPr lang="en-GB" dirty="0">
                <a:solidFill>
                  <a:schemeClr val="tx1"/>
                </a:solidFill>
              </a:rPr>
              <a:t> – Premium SSD-backed Azure Disk for high-performance workloads.</a:t>
            </a:r>
          </a:p>
          <a:p>
            <a:pPr marL="742950" lvl="1" indent="-285750">
              <a:buFont typeface="Arial" panose="020B0604020202020204" pitchFamily="34" charset="0"/>
              <a:buChar char="•"/>
            </a:pPr>
            <a:r>
              <a:rPr lang="en-GB" b="1" dirty="0" err="1">
                <a:solidFill>
                  <a:schemeClr val="tx1"/>
                </a:solidFill>
              </a:rPr>
              <a:t>azurefile-csi</a:t>
            </a:r>
            <a:r>
              <a:rPr lang="en-GB" dirty="0">
                <a:solidFill>
                  <a:schemeClr val="tx1"/>
                </a:solidFill>
              </a:rPr>
              <a:t> – Azure Files with SMB/NFS support for shared file systems.</a:t>
            </a:r>
          </a:p>
          <a:p>
            <a:pPr marL="742950" lvl="1" indent="-285750">
              <a:buFont typeface="Arial" panose="020B0604020202020204" pitchFamily="34" charset="0"/>
              <a:buChar char="•"/>
            </a:pPr>
            <a:r>
              <a:rPr lang="en-GB" b="1" dirty="0" err="1">
                <a:solidFill>
                  <a:schemeClr val="tx1"/>
                </a:solidFill>
              </a:rPr>
              <a:t>azurefile</a:t>
            </a:r>
            <a:r>
              <a:rPr lang="en-GB" b="1" dirty="0">
                <a:solidFill>
                  <a:schemeClr val="tx1"/>
                </a:solidFill>
              </a:rPr>
              <a:t>-</a:t>
            </a:r>
            <a:r>
              <a:rPr lang="en-GB" b="1" dirty="0" err="1">
                <a:solidFill>
                  <a:schemeClr val="tx1"/>
                </a:solidFill>
              </a:rPr>
              <a:t>csi</a:t>
            </a:r>
            <a:r>
              <a:rPr lang="en-GB" b="1" dirty="0">
                <a:solidFill>
                  <a:schemeClr val="tx1"/>
                </a:solidFill>
              </a:rPr>
              <a:t>-premium</a:t>
            </a:r>
            <a:r>
              <a:rPr lang="en-GB" dirty="0">
                <a:solidFill>
                  <a:schemeClr val="tx1"/>
                </a:solidFill>
              </a:rPr>
              <a:t> – Premium Azure Files for workloads requiring higher throughput and performance</a:t>
            </a:r>
          </a:p>
          <a:p>
            <a:pPr marL="285750" indent="-285750" defTabSz="932563">
              <a:spcBef>
                <a:spcPts val="300"/>
              </a:spcBef>
              <a:spcAft>
                <a:spcPts val="200"/>
              </a:spcAft>
              <a:buFont typeface="Arial" panose="020B0604020202020204" pitchFamily="34" charset="0"/>
              <a:buChar char="•"/>
            </a:pPr>
            <a:endParaRPr lang="en-GB" dirty="0">
              <a:solidFill>
                <a:schemeClr val="accent6"/>
              </a:solidFill>
              <a:cs typeface="Segoe UI Semibold" panose="020B0702040204020203" pitchFamily="34" charset="0"/>
            </a:endParaRPr>
          </a:p>
          <a:p>
            <a:pPr marL="285750" indent="-285750" defTabSz="932563">
              <a:spcBef>
                <a:spcPts val="300"/>
              </a:spcBef>
              <a:spcAft>
                <a:spcPts val="200"/>
              </a:spcAft>
              <a:buFont typeface="Arial" panose="020B0604020202020204" pitchFamily="34" charset="0"/>
              <a:buChar char="•"/>
            </a:pPr>
            <a:endParaRPr lang="en-GB" dirty="0">
              <a:solidFill>
                <a:schemeClr val="accent6"/>
              </a:solidFill>
              <a:cs typeface="Segoe UI Semibold" panose="020B0702040204020203" pitchFamily="34" charset="0"/>
            </a:endParaRPr>
          </a:p>
        </p:txBody>
      </p:sp>
      <p:grpSp>
        <p:nvGrpSpPr>
          <p:cNvPr id="13" name="Group 12">
            <a:extLst>
              <a:ext uri="{FF2B5EF4-FFF2-40B4-BE49-F238E27FC236}">
                <a16:creationId xmlns:a16="http://schemas.microsoft.com/office/drawing/2014/main" id="{75055CF6-FA90-3777-DB52-4ECF3F1003F5}"/>
              </a:ext>
              <a:ext uri="{C183D7F6-B498-43B3-948B-1728B52AA6E4}">
                <adec:decorative xmlns:adec="http://schemas.microsoft.com/office/drawing/2017/decorative" val="1"/>
              </a:ext>
            </a:extLst>
          </p:cNvPr>
          <p:cNvGrpSpPr/>
          <p:nvPr/>
        </p:nvGrpSpPr>
        <p:grpSpPr>
          <a:xfrm rot="5400000" flipH="1">
            <a:off x="11076794" y="5477957"/>
            <a:ext cx="623197" cy="692063"/>
            <a:chOff x="10845725" y="1231900"/>
            <a:chExt cx="623197" cy="692063"/>
          </a:xfrm>
        </p:grpSpPr>
        <p:sp>
          <p:nvSpPr>
            <p:cNvPr id="12" name="Trapezoid 11">
              <a:extLst>
                <a:ext uri="{FF2B5EF4-FFF2-40B4-BE49-F238E27FC236}">
                  <a16:creationId xmlns:a16="http://schemas.microsoft.com/office/drawing/2014/main" id="{67C43C9A-086F-703D-1C41-431000E3655D}"/>
                </a:ext>
              </a:extLst>
            </p:cNvPr>
            <p:cNvSpPr/>
            <p:nvPr/>
          </p:nvSpPr>
          <p:spPr bwMode="auto">
            <a:xfrm>
              <a:off x="10845725" y="1231900"/>
              <a:ext cx="623197" cy="113383"/>
            </a:xfrm>
            <a:prstGeom prst="trapezoid">
              <a:avLst>
                <a:gd name="adj" fmla="val 104333"/>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Rectangle 2">
              <a:extLst>
                <a:ext uri="{FF2B5EF4-FFF2-40B4-BE49-F238E27FC236}">
                  <a16:creationId xmlns:a16="http://schemas.microsoft.com/office/drawing/2014/main" id="{558C9484-CA25-2240-B749-4C9F2DB80A0E}"/>
                </a:ext>
              </a:extLst>
            </p:cNvPr>
            <p:cNvSpPr/>
            <p:nvPr/>
          </p:nvSpPr>
          <p:spPr bwMode="auto">
            <a:xfrm>
              <a:off x="10963126" y="1231900"/>
              <a:ext cx="388396" cy="433301"/>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45" name="Group 44" descr="Icon of a circle and a square with a curved arrow between them">
              <a:extLst>
                <a:ext uri="{FF2B5EF4-FFF2-40B4-BE49-F238E27FC236}">
                  <a16:creationId xmlns:a16="http://schemas.microsoft.com/office/drawing/2014/main" id="{073D22D2-9708-96FF-ACD3-59AB9FD5C59F}"/>
                </a:ext>
              </a:extLst>
            </p:cNvPr>
            <p:cNvGrpSpPr>
              <a:grpSpLocks/>
            </p:cNvGrpSpPr>
            <p:nvPr/>
          </p:nvGrpSpPr>
          <p:grpSpPr>
            <a:xfrm rot="5400000">
              <a:off x="10907217" y="1423750"/>
              <a:ext cx="500214" cy="500212"/>
              <a:chOff x="2717122" y="5635692"/>
              <a:chExt cx="500214" cy="500212"/>
            </a:xfrm>
          </p:grpSpPr>
          <p:sp>
            <p:nvSpPr>
              <p:cNvPr id="46" name="Oval 45">
                <a:extLst>
                  <a:ext uri="{FF2B5EF4-FFF2-40B4-BE49-F238E27FC236}">
                    <a16:creationId xmlns:a16="http://schemas.microsoft.com/office/drawing/2014/main" id="{6375317F-99B3-3CE4-812B-E53E1EA797C0}"/>
                  </a:ext>
                  <a:ext uri="{C183D7F6-B498-43B3-948B-1728B52AA6E4}">
                    <adec:decorative xmlns:adec="http://schemas.microsoft.com/office/drawing/2017/decorative" val="0"/>
                  </a:ext>
                </a:extLst>
              </p:cNvPr>
              <p:cNvSpPr>
                <a:spLocks/>
              </p:cNvSpPr>
              <p:nvPr/>
            </p:nvSpPr>
            <p:spPr bwMode="auto">
              <a:xfrm>
                <a:off x="2717122" y="5635692"/>
                <a:ext cx="500214" cy="500212"/>
              </a:xfrm>
              <a:prstGeom prst="ellipse">
                <a:avLst/>
              </a:prstGeom>
              <a:solidFill>
                <a:schemeClr val="bg1"/>
              </a:solidFill>
              <a:ln w="127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ts val="100"/>
                  </a:spcBef>
                  <a:spcAft>
                    <a:spcPts val="100"/>
                  </a:spcAft>
                  <a:buClrTx/>
                  <a:buSzTx/>
                  <a:buFontTx/>
                  <a:buNone/>
                  <a:tabLst/>
                  <a:defRPr/>
                </a:pPr>
                <a:endParaRPr kumimoji="0" lang="en-US"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47" name="transform_2" title="Icon of a circle and a square with a curved arrow between them">
                <a:extLst>
                  <a:ext uri="{FF2B5EF4-FFF2-40B4-BE49-F238E27FC236}">
                    <a16:creationId xmlns:a16="http://schemas.microsoft.com/office/drawing/2014/main" id="{2C60D095-6CCB-FDFB-927E-FFE5251BB21B}"/>
                  </a:ext>
                </a:extLst>
              </p:cNvPr>
              <p:cNvSpPr>
                <a:spLocks noChangeAspect="1" noEditPoints="1"/>
              </p:cNvSpPr>
              <p:nvPr/>
            </p:nvSpPr>
            <p:spPr bwMode="auto">
              <a:xfrm>
                <a:off x="2845233" y="5770820"/>
                <a:ext cx="245435" cy="227328"/>
              </a:xfrm>
              <a:custGeom>
                <a:avLst/>
                <a:gdLst>
                  <a:gd name="T0" fmla="*/ 31 w 337"/>
                  <a:gd name="T1" fmla="*/ 210 h 311"/>
                  <a:gd name="T2" fmla="*/ 185 w 337"/>
                  <a:gd name="T3" fmla="*/ 56 h 311"/>
                  <a:gd name="T4" fmla="*/ 142 w 337"/>
                  <a:gd name="T5" fmla="*/ 108 h 311"/>
                  <a:gd name="T6" fmla="*/ 185 w 337"/>
                  <a:gd name="T7" fmla="*/ 56 h 311"/>
                  <a:gd name="T8" fmla="*/ 133 w 337"/>
                  <a:gd name="T9" fmla="*/ 13 h 311"/>
                  <a:gd name="T10" fmla="*/ 37 w 337"/>
                  <a:gd name="T11" fmla="*/ 311 h 311"/>
                  <a:gd name="T12" fmla="*/ 73 w 337"/>
                  <a:gd name="T13" fmla="*/ 274 h 311"/>
                  <a:gd name="T14" fmla="*/ 37 w 337"/>
                  <a:gd name="T15" fmla="*/ 238 h 311"/>
                  <a:gd name="T16" fmla="*/ 0 w 337"/>
                  <a:gd name="T17" fmla="*/ 274 h 311"/>
                  <a:gd name="T18" fmla="*/ 37 w 337"/>
                  <a:gd name="T19" fmla="*/ 311 h 311"/>
                  <a:gd name="T20" fmla="*/ 337 w 337"/>
                  <a:gd name="T21" fmla="*/ 0 h 311"/>
                  <a:gd name="T22" fmla="*/ 219 w 337"/>
                  <a:gd name="T23" fmla="*/ 0 h 311"/>
                  <a:gd name="T24" fmla="*/ 219 w 337"/>
                  <a:gd name="T25" fmla="*/ 118 h 311"/>
                  <a:gd name="T26" fmla="*/ 337 w 337"/>
                  <a:gd name="T27" fmla="*/ 118 h 311"/>
                  <a:gd name="T28" fmla="*/ 337 w 337"/>
                  <a:gd name="T29" fmla="*/ 0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37" h="311">
                    <a:moveTo>
                      <a:pt x="31" y="210"/>
                    </a:moveTo>
                    <a:cubicBezTo>
                      <a:pt x="31" y="125"/>
                      <a:pt x="100" y="56"/>
                      <a:pt x="185" y="56"/>
                    </a:cubicBezTo>
                    <a:moveTo>
                      <a:pt x="142" y="108"/>
                    </a:moveTo>
                    <a:cubicBezTo>
                      <a:pt x="185" y="56"/>
                      <a:pt x="185" y="56"/>
                      <a:pt x="185" y="56"/>
                    </a:cubicBezTo>
                    <a:cubicBezTo>
                      <a:pt x="133" y="13"/>
                      <a:pt x="133" y="13"/>
                      <a:pt x="133" y="13"/>
                    </a:cubicBezTo>
                    <a:moveTo>
                      <a:pt x="37" y="311"/>
                    </a:moveTo>
                    <a:cubicBezTo>
                      <a:pt x="56" y="311"/>
                      <a:pt x="73" y="294"/>
                      <a:pt x="73" y="274"/>
                    </a:cubicBezTo>
                    <a:cubicBezTo>
                      <a:pt x="73" y="254"/>
                      <a:pt x="56" y="238"/>
                      <a:pt x="37" y="238"/>
                    </a:cubicBezTo>
                    <a:cubicBezTo>
                      <a:pt x="17" y="238"/>
                      <a:pt x="0" y="254"/>
                      <a:pt x="0" y="274"/>
                    </a:cubicBezTo>
                    <a:cubicBezTo>
                      <a:pt x="0" y="294"/>
                      <a:pt x="17" y="311"/>
                      <a:pt x="37" y="311"/>
                    </a:cubicBezTo>
                    <a:close/>
                    <a:moveTo>
                      <a:pt x="337" y="0"/>
                    </a:moveTo>
                    <a:cubicBezTo>
                      <a:pt x="219" y="0"/>
                      <a:pt x="219" y="0"/>
                      <a:pt x="219" y="0"/>
                    </a:cubicBezTo>
                    <a:cubicBezTo>
                      <a:pt x="219" y="118"/>
                      <a:pt x="219" y="118"/>
                      <a:pt x="219" y="118"/>
                    </a:cubicBezTo>
                    <a:cubicBezTo>
                      <a:pt x="337" y="118"/>
                      <a:pt x="337" y="118"/>
                      <a:pt x="337" y="118"/>
                    </a:cubicBezTo>
                    <a:lnTo>
                      <a:pt x="337" y="0"/>
                    </a:lnTo>
                    <a:close/>
                  </a:path>
                </a:pathLst>
              </a:custGeom>
              <a:noFill/>
              <a:ln w="15875" cap="sq">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100"/>
                  </a:spcBef>
                  <a:spcAft>
                    <a:spcPts val="100"/>
                  </a:spcAft>
                  <a:buClrTx/>
                  <a:buSzTx/>
                  <a:buFontTx/>
                  <a:buNone/>
                  <a:tabLst/>
                  <a:defRPr/>
                </a:pPr>
                <a:endParaRPr kumimoji="0" lang="en-US" b="0" i="0" u="none" strike="noStrike" kern="1200" cap="none" spc="0" normalizeH="0" baseline="0" noProof="0">
                  <a:ln>
                    <a:noFill/>
                  </a:ln>
                  <a:solidFill>
                    <a:srgbClr val="000000"/>
                  </a:solidFill>
                  <a:effectLst/>
                  <a:uLnTx/>
                  <a:uFillTx/>
                  <a:latin typeface="Segoe UI"/>
                  <a:ea typeface="+mn-ea"/>
                  <a:cs typeface="+mn-cs"/>
                </a:endParaRPr>
              </a:p>
            </p:txBody>
          </p:sp>
        </p:grpSp>
      </p:grpSp>
      <p:sp>
        <p:nvSpPr>
          <p:cNvPr id="58" name="Footer Placeholder 13">
            <a:extLst>
              <a:ext uri="{FF2B5EF4-FFF2-40B4-BE49-F238E27FC236}">
                <a16:creationId xmlns:a16="http://schemas.microsoft.com/office/drawing/2014/main" id="{539608B2-F4BB-976D-6088-5CE30ED4A415}"/>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5" name="Slide Number Placeholder 4">
            <a:extLst>
              <a:ext uri="{FF2B5EF4-FFF2-40B4-BE49-F238E27FC236}">
                <a16:creationId xmlns:a16="http://schemas.microsoft.com/office/drawing/2014/main" id="{B65D20CD-D3F2-E31D-EDB0-B6E16A1CF69B}"/>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17</a:t>
            </a:fld>
            <a:endParaRPr lang="en-US" noProof="0"/>
          </a:p>
        </p:txBody>
      </p:sp>
      <p:pic>
        <p:nvPicPr>
          <p:cNvPr id="4" name="Picture 3" descr="Illustration of a cloud">
            <a:extLst>
              <a:ext uri="{FF2B5EF4-FFF2-40B4-BE49-F238E27FC236}">
                <a16:creationId xmlns:a16="http://schemas.microsoft.com/office/drawing/2014/main" id="{61F5CC34-9719-D75B-2196-E6B238C8F575}"/>
              </a:ext>
            </a:extLst>
          </p:cNvPr>
          <p:cNvPicPr>
            <a:picLocks noChangeAspect="1"/>
          </p:cNvPicPr>
          <p:nvPr/>
        </p:nvPicPr>
        <p:blipFill>
          <a:blip r:embed="rId7"/>
          <a:srcRect/>
          <a:stretch/>
        </p:blipFill>
        <p:spPr>
          <a:xfrm>
            <a:off x="10390877" y="85555"/>
            <a:ext cx="1508515" cy="1508515"/>
          </a:xfrm>
          <a:prstGeom prst="rect">
            <a:avLst/>
          </a:prstGeom>
        </p:spPr>
      </p:pic>
    </p:spTree>
    <p:extLst>
      <p:ext uri="{BB962C8B-B14F-4D97-AF65-F5344CB8AC3E}">
        <p14:creationId xmlns:p14="http://schemas.microsoft.com/office/powerpoint/2010/main" val="944750112"/>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52D6C-66FE-A75B-A2A1-98A6D24F74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5CBB1C1-6592-E8A1-036F-AB69159CC12A}"/>
              </a:ext>
            </a:extLst>
          </p:cNvPr>
          <p:cNvSpPr>
            <a:spLocks noGrp="1"/>
          </p:cNvSpPr>
          <p:nvPr>
            <p:ph type="title"/>
          </p:nvPr>
        </p:nvSpPr>
        <p:spPr/>
        <p:txBody>
          <a:bodyPr/>
          <a:lstStyle/>
          <a:p>
            <a:r>
              <a:rPr lang="en-US" dirty="0"/>
              <a:t>Azure Disk</a:t>
            </a:r>
          </a:p>
        </p:txBody>
      </p:sp>
      <p:sp>
        <p:nvSpPr>
          <p:cNvPr id="38" name="Rectangle 37">
            <a:extLst>
              <a:ext uri="{FF2B5EF4-FFF2-40B4-BE49-F238E27FC236}">
                <a16:creationId xmlns:a16="http://schemas.microsoft.com/office/drawing/2014/main" id="{0A4C90D6-66EC-F3D6-2FEB-5C590AC95F9E}"/>
              </a:ext>
              <a:ext uri="{C183D7F6-B498-43B3-948B-1728B52AA6E4}">
                <adec:decorative xmlns:adec="http://schemas.microsoft.com/office/drawing/2017/decorative" val="1"/>
              </a:ext>
            </a:extLst>
          </p:cNvPr>
          <p:cNvSpPr/>
          <p:nvPr/>
        </p:nvSpPr>
        <p:spPr bwMode="auto">
          <a:xfrm>
            <a:off x="575481" y="1943965"/>
            <a:ext cx="6947537" cy="4328248"/>
          </a:xfrm>
          <a:prstGeom prst="rect">
            <a:avLst/>
          </a:prstGeom>
          <a:solidFill>
            <a:schemeClr val="bg1"/>
          </a:solid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28600" tIns="182880" rIns="228600" bIns="182880" numCol="1" spcCol="0" rtlCol="0" fromWordArt="0" anchor="t" anchorCtr="0" forceAA="0" compatLnSpc="1">
            <a:prstTxWarp prst="textNoShape">
              <a:avLst/>
            </a:prstTxWarp>
            <a:noAutofit/>
          </a:bodyPr>
          <a:lstStyle/>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Use Azure Disk to create a Kubernetes </a:t>
            </a:r>
            <a:r>
              <a:rPr lang="en-GB" dirty="0" err="1">
                <a:solidFill>
                  <a:schemeClr val="accent6"/>
                </a:solidFill>
                <a:cs typeface="Segoe UI Semibold" panose="020B0702040204020203" pitchFamily="34" charset="0"/>
              </a:rPr>
              <a:t>DataDisk</a:t>
            </a:r>
            <a:r>
              <a:rPr lang="en-GB" dirty="0">
                <a:solidFill>
                  <a:schemeClr val="accent6"/>
                </a:solidFill>
                <a:cs typeface="Segoe UI Semibold" panose="020B0702040204020203" pitchFamily="34" charset="0"/>
              </a:rPr>
              <a:t> resource. Disks types include:</a:t>
            </a:r>
          </a:p>
          <a:p>
            <a:pPr marL="285750" indent="-285750" defTabSz="932563">
              <a:spcBef>
                <a:spcPts val="300"/>
              </a:spcBef>
              <a:spcAft>
                <a:spcPts val="200"/>
              </a:spcAft>
              <a:buFont typeface="Arial" panose="020B0604020202020204" pitchFamily="34" charset="0"/>
              <a:buChar char="•"/>
            </a:pPr>
            <a:endParaRPr lang="en-GB" dirty="0">
              <a:solidFill>
                <a:schemeClr val="accent6"/>
              </a:solidFill>
              <a:cs typeface="Segoe UI Semibold" panose="020B0702040204020203" pitchFamily="34" charset="0"/>
            </a:endParaRP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Premium SSDs (recommended for most workloads)</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Ultra disks</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Standard SSDs</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Standard HDDs</a:t>
            </a:r>
          </a:p>
          <a:p>
            <a:pPr marL="285750" indent="-285750" defTabSz="932563">
              <a:spcBef>
                <a:spcPts val="300"/>
              </a:spcBef>
              <a:spcAft>
                <a:spcPts val="200"/>
              </a:spcAft>
              <a:buFont typeface="Arial" panose="020B0604020202020204" pitchFamily="34" charset="0"/>
              <a:buChar char="•"/>
            </a:pPr>
            <a:endParaRPr lang="en-GB" dirty="0">
              <a:solidFill>
                <a:schemeClr val="accent6"/>
              </a:solidFill>
              <a:cs typeface="Segoe UI Semibold" panose="020B0702040204020203" pitchFamily="34" charset="0"/>
            </a:endParaRPr>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Because an Azure Disk is mounted as “</a:t>
            </a:r>
            <a:r>
              <a:rPr lang="en-GB" dirty="0" err="1">
                <a:solidFill>
                  <a:schemeClr val="accent6"/>
                </a:solidFill>
                <a:cs typeface="Segoe UI Semibold" panose="020B0702040204020203" pitchFamily="34" charset="0"/>
              </a:rPr>
              <a:t>ReadWriteOnce</a:t>
            </a:r>
            <a:r>
              <a:rPr lang="en-GB" dirty="0">
                <a:solidFill>
                  <a:schemeClr val="accent6"/>
                </a:solidFill>
                <a:cs typeface="Segoe UI Semibold" panose="020B0702040204020203" pitchFamily="34" charset="0"/>
              </a:rPr>
              <a:t>”, it's only available to a single node</a:t>
            </a:r>
          </a:p>
          <a:p>
            <a:pPr marL="285750" indent="-285750" defTabSz="932563">
              <a:spcBef>
                <a:spcPts val="300"/>
              </a:spcBef>
              <a:spcAft>
                <a:spcPts val="200"/>
              </a:spcAft>
              <a:buFont typeface="Arial" panose="020B0604020202020204" pitchFamily="34" charset="0"/>
              <a:buChar char="•"/>
            </a:pPr>
            <a:endParaRPr lang="en-GB" dirty="0">
              <a:solidFill>
                <a:schemeClr val="accent6"/>
              </a:solidFill>
              <a:cs typeface="Segoe UI Semibold" panose="020B0702040204020203" pitchFamily="34" charset="0"/>
            </a:endParaRPr>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This example uses the “old” </a:t>
            </a:r>
            <a:r>
              <a:rPr lang="en-GB" b="1" dirty="0" err="1">
                <a:solidFill>
                  <a:schemeClr val="accent6"/>
                </a:solidFill>
                <a:cs typeface="Segoe UI Semibold" panose="020B0702040204020203" pitchFamily="34" charset="0"/>
              </a:rPr>
              <a:t>azureDisk</a:t>
            </a:r>
            <a:r>
              <a:rPr lang="en-GB" dirty="0">
                <a:solidFill>
                  <a:schemeClr val="accent6"/>
                </a:solidFill>
                <a:cs typeface="Segoe UI Semibold" panose="020B0702040204020203" pitchFamily="34" charset="0"/>
              </a:rPr>
              <a:t> driver, not the newer CSI.</a:t>
            </a:r>
          </a:p>
        </p:txBody>
      </p:sp>
      <p:sp>
        <p:nvSpPr>
          <p:cNvPr id="58" name="Footer Placeholder 13">
            <a:extLst>
              <a:ext uri="{FF2B5EF4-FFF2-40B4-BE49-F238E27FC236}">
                <a16:creationId xmlns:a16="http://schemas.microsoft.com/office/drawing/2014/main" id="{E744901F-0C9B-1858-DFD7-3378F1A7C974}"/>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5" name="Slide Number Placeholder 4">
            <a:extLst>
              <a:ext uri="{FF2B5EF4-FFF2-40B4-BE49-F238E27FC236}">
                <a16:creationId xmlns:a16="http://schemas.microsoft.com/office/drawing/2014/main" id="{40BFCC2E-6417-51D6-34DD-A2E07153FC21}"/>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18</a:t>
            </a:fld>
            <a:endParaRPr lang="en-US" noProof="0"/>
          </a:p>
        </p:txBody>
      </p:sp>
      <p:pic>
        <p:nvPicPr>
          <p:cNvPr id="2" name="Picture 1">
            <a:extLst>
              <a:ext uri="{FF2B5EF4-FFF2-40B4-BE49-F238E27FC236}">
                <a16:creationId xmlns:a16="http://schemas.microsoft.com/office/drawing/2014/main" id="{0C304AB3-1E23-1931-049E-4CF453CB8AD4}"/>
              </a:ext>
            </a:extLst>
          </p:cNvPr>
          <p:cNvPicPr>
            <a:picLocks noChangeAspect="1"/>
          </p:cNvPicPr>
          <p:nvPr/>
        </p:nvPicPr>
        <p:blipFill>
          <a:blip r:embed="rId3"/>
          <a:stretch>
            <a:fillRect/>
          </a:stretch>
        </p:blipFill>
        <p:spPr>
          <a:xfrm>
            <a:off x="7739296" y="1943965"/>
            <a:ext cx="4345362" cy="4314599"/>
          </a:xfrm>
          <a:prstGeom prst="rect">
            <a:avLst/>
          </a:prstGeom>
        </p:spPr>
      </p:pic>
    </p:spTree>
    <p:extLst>
      <p:ext uri="{BB962C8B-B14F-4D97-AF65-F5344CB8AC3E}">
        <p14:creationId xmlns:p14="http://schemas.microsoft.com/office/powerpoint/2010/main" val="4107793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06D55-39EB-4958-BE0D-F88081BDC5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070514C-2818-3E37-BD71-AEF214E49118}"/>
              </a:ext>
            </a:extLst>
          </p:cNvPr>
          <p:cNvSpPr>
            <a:spLocks noGrp="1"/>
          </p:cNvSpPr>
          <p:nvPr>
            <p:ph type="title"/>
          </p:nvPr>
        </p:nvSpPr>
        <p:spPr/>
        <p:txBody>
          <a:bodyPr/>
          <a:lstStyle/>
          <a:p>
            <a:r>
              <a:rPr lang="en-US" dirty="0"/>
              <a:t>Azure Disk – CSI Driver Example</a:t>
            </a:r>
          </a:p>
        </p:txBody>
      </p:sp>
      <p:sp>
        <p:nvSpPr>
          <p:cNvPr id="38" name="Rectangle 37">
            <a:extLst>
              <a:ext uri="{FF2B5EF4-FFF2-40B4-BE49-F238E27FC236}">
                <a16:creationId xmlns:a16="http://schemas.microsoft.com/office/drawing/2014/main" id="{F9BCDCBA-2564-8844-53CF-E067AAE98201}"/>
              </a:ext>
              <a:ext uri="{C183D7F6-B498-43B3-948B-1728B52AA6E4}">
                <adec:decorative xmlns:adec="http://schemas.microsoft.com/office/drawing/2017/decorative" val="1"/>
              </a:ext>
            </a:extLst>
          </p:cNvPr>
          <p:cNvSpPr/>
          <p:nvPr/>
        </p:nvSpPr>
        <p:spPr bwMode="auto">
          <a:xfrm>
            <a:off x="575481" y="1943965"/>
            <a:ext cx="5825319" cy="4328248"/>
          </a:xfrm>
          <a:prstGeom prst="rect">
            <a:avLst/>
          </a:prstGeom>
          <a:solidFill>
            <a:schemeClr val="bg1"/>
          </a:solid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28600" tIns="182880" rIns="228600" bIns="182880" numCol="1" spcCol="0" rtlCol="0" fromWordArt="0" anchor="t" anchorCtr="0" forceAA="0" compatLnSpc="1">
            <a:prstTxWarp prst="textNoShape">
              <a:avLst/>
            </a:prstTxWarp>
            <a:noAutofit/>
          </a:bodyPr>
          <a:lstStyle/>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Here a CSI driver in the </a:t>
            </a:r>
            <a:r>
              <a:rPr lang="en-GB" b="1" dirty="0">
                <a:solidFill>
                  <a:schemeClr val="accent6"/>
                </a:solidFill>
                <a:cs typeface="Segoe UI Semibold" panose="020B0702040204020203" pitchFamily="34" charset="0"/>
              </a:rPr>
              <a:t>managed-</a:t>
            </a:r>
            <a:r>
              <a:rPr lang="en-GB" b="1" dirty="0" err="1">
                <a:solidFill>
                  <a:schemeClr val="accent6"/>
                </a:solidFill>
                <a:cs typeface="Segoe UI Semibold" panose="020B0702040204020203" pitchFamily="34" charset="0"/>
              </a:rPr>
              <a:t>csi</a:t>
            </a:r>
            <a:r>
              <a:rPr lang="en-GB" dirty="0">
                <a:solidFill>
                  <a:schemeClr val="accent6"/>
                </a:solidFill>
                <a:cs typeface="Segoe UI Semibold" panose="020B0702040204020203" pitchFamily="34" charset="0"/>
              </a:rPr>
              <a:t> storage class is used to automatically create a 5Gb standard Azure Disk.</a:t>
            </a:r>
          </a:p>
        </p:txBody>
      </p:sp>
      <p:sp>
        <p:nvSpPr>
          <p:cNvPr id="58" name="Footer Placeholder 13">
            <a:extLst>
              <a:ext uri="{FF2B5EF4-FFF2-40B4-BE49-F238E27FC236}">
                <a16:creationId xmlns:a16="http://schemas.microsoft.com/office/drawing/2014/main" id="{5CE8A5A4-41E7-DD09-C74A-9F0B85C09196}"/>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5" name="Slide Number Placeholder 4">
            <a:extLst>
              <a:ext uri="{FF2B5EF4-FFF2-40B4-BE49-F238E27FC236}">
                <a16:creationId xmlns:a16="http://schemas.microsoft.com/office/drawing/2014/main" id="{4530355B-855F-3B4D-8E08-5D9D4729659E}"/>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19</a:t>
            </a:fld>
            <a:endParaRPr lang="en-US" noProof="0"/>
          </a:p>
        </p:txBody>
      </p:sp>
      <p:pic>
        <p:nvPicPr>
          <p:cNvPr id="4" name="Picture 3">
            <a:extLst>
              <a:ext uri="{FF2B5EF4-FFF2-40B4-BE49-F238E27FC236}">
                <a16:creationId xmlns:a16="http://schemas.microsoft.com/office/drawing/2014/main" id="{09B0D93A-A199-F0F1-0BAD-0F691A2C2612}"/>
              </a:ext>
            </a:extLst>
          </p:cNvPr>
          <p:cNvPicPr>
            <a:picLocks noChangeAspect="1"/>
          </p:cNvPicPr>
          <p:nvPr/>
        </p:nvPicPr>
        <p:blipFill>
          <a:blip r:embed="rId3"/>
          <a:stretch>
            <a:fillRect/>
          </a:stretch>
        </p:blipFill>
        <p:spPr>
          <a:xfrm>
            <a:off x="6696056" y="2050674"/>
            <a:ext cx="2447943" cy="2057415"/>
          </a:xfrm>
          <a:prstGeom prst="rect">
            <a:avLst/>
          </a:prstGeom>
        </p:spPr>
      </p:pic>
      <p:pic>
        <p:nvPicPr>
          <p:cNvPr id="8" name="Picture 7">
            <a:extLst>
              <a:ext uri="{FF2B5EF4-FFF2-40B4-BE49-F238E27FC236}">
                <a16:creationId xmlns:a16="http://schemas.microsoft.com/office/drawing/2014/main" id="{B3AE81BE-0BA3-AB93-C4D8-315703D18FB3}"/>
              </a:ext>
            </a:extLst>
          </p:cNvPr>
          <p:cNvPicPr>
            <a:picLocks noChangeAspect="1"/>
          </p:cNvPicPr>
          <p:nvPr/>
        </p:nvPicPr>
        <p:blipFill>
          <a:blip r:embed="rId4"/>
          <a:stretch>
            <a:fillRect/>
          </a:stretch>
        </p:blipFill>
        <p:spPr>
          <a:xfrm>
            <a:off x="9274743" y="2021450"/>
            <a:ext cx="2495568" cy="4048155"/>
          </a:xfrm>
          <a:prstGeom prst="rect">
            <a:avLst/>
          </a:prstGeom>
        </p:spPr>
      </p:pic>
    </p:spTree>
    <p:extLst>
      <p:ext uri="{BB962C8B-B14F-4D97-AF65-F5344CB8AC3E}">
        <p14:creationId xmlns:p14="http://schemas.microsoft.com/office/powerpoint/2010/main" val="143589803"/>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36F26-AA7E-5211-0303-60CB3802147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1EC33F4-F3B8-3533-EED0-A73D4441C60F}"/>
              </a:ext>
            </a:extLst>
          </p:cNvPr>
          <p:cNvSpPr>
            <a:spLocks noGrp="1"/>
          </p:cNvSpPr>
          <p:nvPr>
            <p:ph type="title"/>
          </p:nvPr>
        </p:nvSpPr>
        <p:spPr/>
        <p:txBody>
          <a:bodyPr/>
          <a:lstStyle/>
          <a:p>
            <a:r>
              <a:rPr lang="en-US" dirty="0"/>
              <a:t>Azure Files (aka Azure SMB File Shares)</a:t>
            </a:r>
          </a:p>
        </p:txBody>
      </p:sp>
      <p:sp>
        <p:nvSpPr>
          <p:cNvPr id="38" name="Rectangle 37">
            <a:extLst>
              <a:ext uri="{FF2B5EF4-FFF2-40B4-BE49-F238E27FC236}">
                <a16:creationId xmlns:a16="http://schemas.microsoft.com/office/drawing/2014/main" id="{9584E7A1-043F-B333-BF74-04631E55DBC4}"/>
              </a:ext>
              <a:ext uri="{C183D7F6-B498-43B3-948B-1728B52AA6E4}">
                <adec:decorative xmlns:adec="http://schemas.microsoft.com/office/drawing/2017/decorative" val="1"/>
              </a:ext>
            </a:extLst>
          </p:cNvPr>
          <p:cNvSpPr/>
          <p:nvPr/>
        </p:nvSpPr>
        <p:spPr bwMode="auto">
          <a:xfrm>
            <a:off x="575481" y="1943965"/>
            <a:ext cx="7917355" cy="4328248"/>
          </a:xfrm>
          <a:prstGeom prst="rect">
            <a:avLst/>
          </a:prstGeom>
          <a:solidFill>
            <a:schemeClr val="bg1"/>
          </a:solid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28600" tIns="182880" rIns="228600" bIns="182880" numCol="1" spcCol="0" rtlCol="0" fromWordArt="0" anchor="t" anchorCtr="0" forceAA="0" compatLnSpc="1">
            <a:prstTxWarp prst="textNoShape">
              <a:avLst/>
            </a:prstTxWarp>
            <a:noAutofit/>
          </a:bodyPr>
          <a:lstStyle/>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Use Azure Files to mount a:</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Server Message Block (SMB) version 3.1.1 share</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Network File System (NFS) version 4.1 share.</a:t>
            </a:r>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Azure Files let you share data across multiple nodes and pods and can use:</a:t>
            </a:r>
          </a:p>
          <a:p>
            <a:pPr marL="285750" indent="-285750" defTabSz="932563">
              <a:spcBef>
                <a:spcPts val="300"/>
              </a:spcBef>
              <a:spcAft>
                <a:spcPts val="200"/>
              </a:spcAft>
              <a:buFont typeface="Arial" panose="020B0604020202020204" pitchFamily="34" charset="0"/>
              <a:buChar char="•"/>
            </a:pPr>
            <a:endParaRPr lang="en-GB" dirty="0">
              <a:solidFill>
                <a:schemeClr val="accent6"/>
              </a:solidFill>
              <a:cs typeface="Segoe UI Semibold" panose="020B0702040204020203" pitchFamily="34" charset="0"/>
            </a:endParaRPr>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Azure Premium storage backed by</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High-performance SSDs</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Regular HDDs</a:t>
            </a:r>
          </a:p>
          <a:p>
            <a:pPr marL="742950" lvl="1" indent="-285750" defTabSz="932563">
              <a:spcBef>
                <a:spcPts val="300"/>
              </a:spcBef>
              <a:spcAft>
                <a:spcPts val="200"/>
              </a:spcAft>
              <a:buFont typeface="Arial" panose="020B0604020202020204" pitchFamily="34" charset="0"/>
              <a:buChar char="•"/>
            </a:pPr>
            <a:endParaRPr lang="en-GB" dirty="0">
              <a:solidFill>
                <a:schemeClr val="accent6"/>
              </a:solidFill>
              <a:cs typeface="Segoe UI Semibold" panose="020B0702040204020203" pitchFamily="34" charset="0"/>
            </a:endParaRPr>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This example uses the legacy </a:t>
            </a:r>
            <a:r>
              <a:rPr lang="en-GB" b="1" dirty="0" err="1">
                <a:solidFill>
                  <a:schemeClr val="accent6"/>
                </a:solidFill>
                <a:cs typeface="Segoe UI Semibold" panose="020B0702040204020203" pitchFamily="34" charset="0"/>
              </a:rPr>
              <a:t>azurefile</a:t>
            </a:r>
            <a:r>
              <a:rPr lang="en-GB" dirty="0">
                <a:solidFill>
                  <a:schemeClr val="accent6"/>
                </a:solidFill>
                <a:cs typeface="Segoe UI Semibold" panose="020B0702040204020203" pitchFamily="34" charset="0"/>
              </a:rPr>
              <a:t> driver.</a:t>
            </a:r>
          </a:p>
        </p:txBody>
      </p:sp>
      <p:sp>
        <p:nvSpPr>
          <p:cNvPr id="58" name="Footer Placeholder 13">
            <a:extLst>
              <a:ext uri="{FF2B5EF4-FFF2-40B4-BE49-F238E27FC236}">
                <a16:creationId xmlns:a16="http://schemas.microsoft.com/office/drawing/2014/main" id="{0A8BEF12-2E1C-20D3-DB40-42B8DFBC7ABE}"/>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5" name="Slide Number Placeholder 4">
            <a:extLst>
              <a:ext uri="{FF2B5EF4-FFF2-40B4-BE49-F238E27FC236}">
                <a16:creationId xmlns:a16="http://schemas.microsoft.com/office/drawing/2014/main" id="{D035A75D-2865-ED4F-99A8-B1BFA13BA552}"/>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20</a:t>
            </a:fld>
            <a:endParaRPr lang="en-US" noProof="0"/>
          </a:p>
        </p:txBody>
      </p:sp>
      <p:pic>
        <p:nvPicPr>
          <p:cNvPr id="7" name="Picture 6">
            <a:extLst>
              <a:ext uri="{FF2B5EF4-FFF2-40B4-BE49-F238E27FC236}">
                <a16:creationId xmlns:a16="http://schemas.microsoft.com/office/drawing/2014/main" id="{8D933CBC-4473-0CE8-A636-9A1C758F6828}"/>
              </a:ext>
            </a:extLst>
          </p:cNvPr>
          <p:cNvPicPr>
            <a:picLocks noChangeAspect="1"/>
          </p:cNvPicPr>
          <p:nvPr/>
        </p:nvPicPr>
        <p:blipFill>
          <a:blip r:embed="rId3"/>
          <a:stretch>
            <a:fillRect/>
          </a:stretch>
        </p:blipFill>
        <p:spPr>
          <a:xfrm>
            <a:off x="6929684" y="4103326"/>
            <a:ext cx="2200291" cy="2057415"/>
          </a:xfrm>
          <a:prstGeom prst="rect">
            <a:avLst/>
          </a:prstGeom>
        </p:spPr>
      </p:pic>
      <p:pic>
        <p:nvPicPr>
          <p:cNvPr id="9" name="Picture 8">
            <a:extLst>
              <a:ext uri="{FF2B5EF4-FFF2-40B4-BE49-F238E27FC236}">
                <a16:creationId xmlns:a16="http://schemas.microsoft.com/office/drawing/2014/main" id="{CA08D079-2799-8D3F-9742-941F601C6259}"/>
              </a:ext>
            </a:extLst>
          </p:cNvPr>
          <p:cNvPicPr>
            <a:picLocks noChangeAspect="1"/>
          </p:cNvPicPr>
          <p:nvPr/>
        </p:nvPicPr>
        <p:blipFill>
          <a:blip r:embed="rId4"/>
          <a:stretch>
            <a:fillRect/>
          </a:stretch>
        </p:blipFill>
        <p:spPr>
          <a:xfrm>
            <a:off x="9327623" y="2055436"/>
            <a:ext cx="2571769" cy="4105305"/>
          </a:xfrm>
          <a:prstGeom prst="rect">
            <a:avLst/>
          </a:prstGeom>
        </p:spPr>
      </p:pic>
    </p:spTree>
    <p:extLst>
      <p:ext uri="{BB962C8B-B14F-4D97-AF65-F5344CB8AC3E}">
        <p14:creationId xmlns:p14="http://schemas.microsoft.com/office/powerpoint/2010/main" val="1830043643"/>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C6881-C2C6-55D2-979E-71FA5806303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6BE1108-4D0F-0ACA-6407-AE59D621B03A}"/>
              </a:ext>
            </a:extLst>
          </p:cNvPr>
          <p:cNvSpPr>
            <a:spLocks noGrp="1"/>
          </p:cNvSpPr>
          <p:nvPr>
            <p:ph type="title"/>
          </p:nvPr>
        </p:nvSpPr>
        <p:spPr/>
        <p:txBody>
          <a:bodyPr/>
          <a:lstStyle/>
          <a:p>
            <a:r>
              <a:rPr lang="en-US" dirty="0"/>
              <a:t>Azure Files – CSI Driver Example</a:t>
            </a:r>
          </a:p>
        </p:txBody>
      </p:sp>
      <p:sp>
        <p:nvSpPr>
          <p:cNvPr id="38" name="Rectangle 37">
            <a:extLst>
              <a:ext uri="{FF2B5EF4-FFF2-40B4-BE49-F238E27FC236}">
                <a16:creationId xmlns:a16="http://schemas.microsoft.com/office/drawing/2014/main" id="{044489D1-13E5-951E-C7B2-378AD578E190}"/>
              </a:ext>
              <a:ext uri="{C183D7F6-B498-43B3-948B-1728B52AA6E4}">
                <adec:decorative xmlns:adec="http://schemas.microsoft.com/office/drawing/2017/decorative" val="1"/>
              </a:ext>
            </a:extLst>
          </p:cNvPr>
          <p:cNvSpPr/>
          <p:nvPr/>
        </p:nvSpPr>
        <p:spPr bwMode="auto">
          <a:xfrm>
            <a:off x="575482" y="1943965"/>
            <a:ext cx="5520518" cy="1810617"/>
          </a:xfrm>
          <a:prstGeom prst="rect">
            <a:avLst/>
          </a:prstGeom>
          <a:solidFill>
            <a:schemeClr val="bg1"/>
          </a:solid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28600" tIns="182880" rIns="228600" bIns="182880" numCol="1" spcCol="0" rtlCol="0" fromWordArt="0" anchor="t" anchorCtr="0" forceAA="0" compatLnSpc="1">
            <a:prstTxWarp prst="textNoShape">
              <a:avLst/>
            </a:prstTxWarp>
            <a:noAutofit/>
          </a:bodyPr>
          <a:lstStyle/>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Here the </a:t>
            </a:r>
            <a:r>
              <a:rPr lang="en-GB" b="1" dirty="0" err="1">
                <a:solidFill>
                  <a:schemeClr val="accent6"/>
                </a:solidFill>
                <a:cs typeface="Segoe UI Semibold" panose="020B0702040204020203" pitchFamily="34" charset="0"/>
              </a:rPr>
              <a:t>azurefiles-csi</a:t>
            </a:r>
            <a:r>
              <a:rPr lang="en-GB" dirty="0">
                <a:solidFill>
                  <a:schemeClr val="accent6"/>
                </a:solidFill>
                <a:cs typeface="Segoe UI Semibold" panose="020B0702040204020203" pitchFamily="34" charset="0"/>
              </a:rPr>
              <a:t> storage class is used.</a:t>
            </a:r>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This creates an Azure File share (on a storage account) which can be mounted to several Pods at the same time.</a:t>
            </a:r>
          </a:p>
        </p:txBody>
      </p:sp>
      <p:sp>
        <p:nvSpPr>
          <p:cNvPr id="58" name="Footer Placeholder 13">
            <a:extLst>
              <a:ext uri="{FF2B5EF4-FFF2-40B4-BE49-F238E27FC236}">
                <a16:creationId xmlns:a16="http://schemas.microsoft.com/office/drawing/2014/main" id="{95652E9C-5272-6C18-F836-BCD57F09CB92}"/>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5" name="Slide Number Placeholder 4">
            <a:extLst>
              <a:ext uri="{FF2B5EF4-FFF2-40B4-BE49-F238E27FC236}">
                <a16:creationId xmlns:a16="http://schemas.microsoft.com/office/drawing/2014/main" id="{898FCB30-A1F1-8877-EBC2-6B088631B302}"/>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21</a:t>
            </a:fld>
            <a:endParaRPr lang="en-US" noProof="0"/>
          </a:p>
        </p:txBody>
      </p:sp>
      <p:pic>
        <p:nvPicPr>
          <p:cNvPr id="5" name="Picture 4">
            <a:extLst>
              <a:ext uri="{FF2B5EF4-FFF2-40B4-BE49-F238E27FC236}">
                <a16:creationId xmlns:a16="http://schemas.microsoft.com/office/drawing/2014/main" id="{E89C35E8-6ABC-16B0-723D-1EA69754C279}"/>
              </a:ext>
            </a:extLst>
          </p:cNvPr>
          <p:cNvPicPr>
            <a:picLocks noChangeAspect="1"/>
          </p:cNvPicPr>
          <p:nvPr/>
        </p:nvPicPr>
        <p:blipFill>
          <a:blip r:embed="rId3"/>
          <a:stretch>
            <a:fillRect/>
          </a:stretch>
        </p:blipFill>
        <p:spPr>
          <a:xfrm>
            <a:off x="575481" y="4391908"/>
            <a:ext cx="5619791" cy="2047890"/>
          </a:xfrm>
          <a:prstGeom prst="rect">
            <a:avLst/>
          </a:prstGeom>
        </p:spPr>
      </p:pic>
      <p:pic>
        <p:nvPicPr>
          <p:cNvPr id="10" name="Picture 9">
            <a:extLst>
              <a:ext uri="{FF2B5EF4-FFF2-40B4-BE49-F238E27FC236}">
                <a16:creationId xmlns:a16="http://schemas.microsoft.com/office/drawing/2014/main" id="{1DD1BEB3-36FB-1B9A-3DFF-BE4734263265}"/>
              </a:ext>
            </a:extLst>
          </p:cNvPr>
          <p:cNvPicPr>
            <a:picLocks noChangeAspect="1"/>
          </p:cNvPicPr>
          <p:nvPr/>
        </p:nvPicPr>
        <p:blipFill>
          <a:blip r:embed="rId4"/>
          <a:stretch>
            <a:fillRect/>
          </a:stretch>
        </p:blipFill>
        <p:spPr>
          <a:xfrm>
            <a:off x="7116461" y="1943965"/>
            <a:ext cx="3514751" cy="4495833"/>
          </a:xfrm>
          <a:prstGeom prst="rect">
            <a:avLst/>
          </a:prstGeom>
        </p:spPr>
      </p:pic>
    </p:spTree>
    <p:extLst>
      <p:ext uri="{BB962C8B-B14F-4D97-AF65-F5344CB8AC3E}">
        <p14:creationId xmlns:p14="http://schemas.microsoft.com/office/powerpoint/2010/main" val="2522724829"/>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12FF6-BD95-FCA0-8297-B07538BE10D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D9F097D-0FE8-3B77-55CB-176C021E47BD}"/>
              </a:ext>
            </a:extLst>
          </p:cNvPr>
          <p:cNvSpPr>
            <a:spLocks noGrp="1"/>
          </p:cNvSpPr>
          <p:nvPr>
            <p:ph type="title"/>
          </p:nvPr>
        </p:nvSpPr>
        <p:spPr/>
        <p:txBody>
          <a:bodyPr/>
          <a:lstStyle/>
          <a:p>
            <a:r>
              <a:rPr lang="en-US" dirty="0"/>
              <a:t>Azure NetApp Files</a:t>
            </a:r>
          </a:p>
        </p:txBody>
      </p:sp>
      <p:sp>
        <p:nvSpPr>
          <p:cNvPr id="38" name="Rectangle 37">
            <a:extLst>
              <a:ext uri="{FF2B5EF4-FFF2-40B4-BE49-F238E27FC236}">
                <a16:creationId xmlns:a16="http://schemas.microsoft.com/office/drawing/2014/main" id="{57DDD470-6BC4-E4D2-AF36-1EA59772DBE5}"/>
              </a:ext>
              <a:ext uri="{C183D7F6-B498-43B3-948B-1728B52AA6E4}">
                <adec:decorative xmlns:adec="http://schemas.microsoft.com/office/drawing/2017/decorative" val="1"/>
              </a:ext>
            </a:extLst>
          </p:cNvPr>
          <p:cNvSpPr/>
          <p:nvPr/>
        </p:nvSpPr>
        <p:spPr bwMode="auto">
          <a:xfrm>
            <a:off x="573490" y="1930316"/>
            <a:ext cx="8063315" cy="4328248"/>
          </a:xfrm>
          <a:prstGeom prst="rect">
            <a:avLst/>
          </a:prstGeom>
          <a:solidFill>
            <a:schemeClr val="bg1"/>
          </a:solid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28600" tIns="182880" rIns="228600" bIns="182880" numCol="1" spcCol="0" rtlCol="0" fromWordArt="0" anchor="t" anchorCtr="0" forceAA="0" compatLnSpc="1">
            <a:prstTxWarp prst="textNoShape">
              <a:avLst/>
            </a:prstTxWarp>
            <a:noAutofit/>
          </a:bodyPr>
          <a:lstStyle/>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Azure NetApp Files is a managed service for the building of Network-Attached-Storage (NAS) in Azure.</a:t>
            </a:r>
          </a:p>
          <a:p>
            <a:pPr defTabSz="932563">
              <a:spcBef>
                <a:spcPts val="300"/>
              </a:spcBef>
              <a:spcAft>
                <a:spcPts val="200"/>
              </a:spcAft>
            </a:pPr>
            <a:endParaRPr lang="en-GB" dirty="0">
              <a:solidFill>
                <a:schemeClr val="accent6"/>
              </a:solidFill>
              <a:cs typeface="Segoe UI Semibold" panose="020B0702040204020203" pitchFamily="34" charset="0"/>
            </a:endParaRPr>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Used to create either SMB or NFS shares.</a:t>
            </a:r>
          </a:p>
          <a:p>
            <a:pPr marL="285750" indent="-285750" defTabSz="932563">
              <a:spcBef>
                <a:spcPts val="300"/>
              </a:spcBef>
              <a:spcAft>
                <a:spcPts val="200"/>
              </a:spcAft>
              <a:buFont typeface="Arial" panose="020B0604020202020204" pitchFamily="34" charset="0"/>
              <a:buChar char="•"/>
            </a:pPr>
            <a:endParaRPr lang="en-GB" dirty="0">
              <a:solidFill>
                <a:schemeClr val="accent6"/>
              </a:solidFill>
              <a:cs typeface="Segoe UI Semibold" panose="020B0702040204020203" pitchFamily="34" charset="0"/>
            </a:endParaRPr>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Underlying disks can be:</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Ultra Storage</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Premium Storage</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Standard Storage</a:t>
            </a:r>
          </a:p>
          <a:p>
            <a:pPr marL="285750" indent="-285750" defTabSz="932563">
              <a:spcBef>
                <a:spcPts val="300"/>
              </a:spcBef>
              <a:spcAft>
                <a:spcPts val="200"/>
              </a:spcAft>
              <a:buFont typeface="Arial" panose="020B0604020202020204" pitchFamily="34" charset="0"/>
              <a:buChar char="•"/>
            </a:pPr>
            <a:endParaRPr lang="en-GB" dirty="0">
              <a:solidFill>
                <a:schemeClr val="accent6"/>
              </a:solidFill>
              <a:cs typeface="Segoe UI Semibold" panose="020B0702040204020203" pitchFamily="34" charset="0"/>
            </a:endParaRPr>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Uses the native k8s </a:t>
            </a:r>
            <a:r>
              <a:rPr lang="en-GB" b="1" dirty="0" err="1">
                <a:solidFill>
                  <a:schemeClr val="accent6"/>
                </a:solidFill>
                <a:cs typeface="Segoe UI Semibold" panose="020B0702040204020203" pitchFamily="34" charset="0"/>
              </a:rPr>
              <a:t>nfs</a:t>
            </a:r>
            <a:r>
              <a:rPr lang="en-GB" dirty="0">
                <a:solidFill>
                  <a:schemeClr val="accent6"/>
                </a:solidFill>
                <a:cs typeface="Segoe UI Semibold" panose="020B0702040204020203" pitchFamily="34" charset="0"/>
              </a:rPr>
              <a:t> driver.</a:t>
            </a:r>
          </a:p>
          <a:p>
            <a:pPr marL="742950" lvl="1" indent="-285750" defTabSz="932563">
              <a:spcBef>
                <a:spcPts val="300"/>
              </a:spcBef>
              <a:spcAft>
                <a:spcPts val="200"/>
              </a:spcAft>
              <a:buFont typeface="Arial" panose="020B0604020202020204" pitchFamily="34" charset="0"/>
              <a:buChar char="•"/>
            </a:pPr>
            <a:endParaRPr lang="en-GB" dirty="0">
              <a:solidFill>
                <a:schemeClr val="accent6"/>
              </a:solidFill>
              <a:cs typeface="Segoe UI Semibold" panose="020B0702040204020203" pitchFamily="34" charset="0"/>
            </a:endParaRPr>
          </a:p>
        </p:txBody>
      </p:sp>
      <p:sp>
        <p:nvSpPr>
          <p:cNvPr id="58" name="Footer Placeholder 13">
            <a:extLst>
              <a:ext uri="{FF2B5EF4-FFF2-40B4-BE49-F238E27FC236}">
                <a16:creationId xmlns:a16="http://schemas.microsoft.com/office/drawing/2014/main" id="{31D9E08C-B3E7-6D55-5926-4DA22685EF33}"/>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5" name="Slide Number Placeholder 4">
            <a:extLst>
              <a:ext uri="{FF2B5EF4-FFF2-40B4-BE49-F238E27FC236}">
                <a16:creationId xmlns:a16="http://schemas.microsoft.com/office/drawing/2014/main" id="{3F105CB5-BFBD-D195-CD15-6A933DA86C2F}"/>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22</a:t>
            </a:fld>
            <a:endParaRPr lang="en-US" noProof="0"/>
          </a:p>
        </p:txBody>
      </p:sp>
      <p:pic>
        <p:nvPicPr>
          <p:cNvPr id="9" name="Picture 8">
            <a:extLst>
              <a:ext uri="{FF2B5EF4-FFF2-40B4-BE49-F238E27FC236}">
                <a16:creationId xmlns:a16="http://schemas.microsoft.com/office/drawing/2014/main" id="{54BBB315-3020-4879-1F38-83DDAA05E4BF}"/>
              </a:ext>
            </a:extLst>
          </p:cNvPr>
          <p:cNvPicPr>
            <a:picLocks noChangeAspect="1"/>
          </p:cNvPicPr>
          <p:nvPr/>
        </p:nvPicPr>
        <p:blipFill>
          <a:blip r:embed="rId3"/>
          <a:stretch>
            <a:fillRect/>
          </a:stretch>
        </p:blipFill>
        <p:spPr>
          <a:xfrm>
            <a:off x="7708363" y="4643228"/>
            <a:ext cx="2114565" cy="2057415"/>
          </a:xfrm>
          <a:prstGeom prst="rect">
            <a:avLst/>
          </a:prstGeom>
        </p:spPr>
      </p:pic>
      <p:pic>
        <p:nvPicPr>
          <p:cNvPr id="11" name="Picture 10">
            <a:extLst>
              <a:ext uri="{FF2B5EF4-FFF2-40B4-BE49-F238E27FC236}">
                <a16:creationId xmlns:a16="http://schemas.microsoft.com/office/drawing/2014/main" id="{700D94D0-2C43-7451-86D5-58FEF9195316}"/>
              </a:ext>
            </a:extLst>
          </p:cNvPr>
          <p:cNvPicPr>
            <a:picLocks noChangeAspect="1"/>
          </p:cNvPicPr>
          <p:nvPr/>
        </p:nvPicPr>
        <p:blipFill>
          <a:blip r:embed="rId4"/>
          <a:stretch>
            <a:fillRect/>
          </a:stretch>
        </p:blipFill>
        <p:spPr>
          <a:xfrm>
            <a:off x="9944704" y="2671539"/>
            <a:ext cx="2085990" cy="4029104"/>
          </a:xfrm>
          <a:prstGeom prst="rect">
            <a:avLst/>
          </a:prstGeom>
        </p:spPr>
      </p:pic>
      <p:pic>
        <p:nvPicPr>
          <p:cNvPr id="15" name="Picture 14">
            <a:extLst>
              <a:ext uri="{FF2B5EF4-FFF2-40B4-BE49-F238E27FC236}">
                <a16:creationId xmlns:a16="http://schemas.microsoft.com/office/drawing/2014/main" id="{18F3627E-587E-3BF3-9511-CA3DE109D60A}"/>
              </a:ext>
            </a:extLst>
          </p:cNvPr>
          <p:cNvPicPr>
            <a:picLocks noChangeAspect="1"/>
          </p:cNvPicPr>
          <p:nvPr/>
        </p:nvPicPr>
        <p:blipFill>
          <a:blip r:embed="rId5"/>
          <a:stretch>
            <a:fillRect/>
          </a:stretch>
        </p:blipFill>
        <p:spPr>
          <a:xfrm>
            <a:off x="4405214" y="4309851"/>
            <a:ext cx="3181373" cy="2390792"/>
          </a:xfrm>
          <a:prstGeom prst="rect">
            <a:avLst/>
          </a:prstGeom>
        </p:spPr>
      </p:pic>
    </p:spTree>
    <p:extLst>
      <p:ext uri="{BB962C8B-B14F-4D97-AF65-F5344CB8AC3E}">
        <p14:creationId xmlns:p14="http://schemas.microsoft.com/office/powerpoint/2010/main" val="2204417667"/>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F4B9F-7BAB-238A-3647-5A920A1D406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B1F6550-C4FB-B77D-B1CA-FBDC8512750D}"/>
              </a:ext>
            </a:extLst>
          </p:cNvPr>
          <p:cNvSpPr>
            <a:spLocks noGrp="1"/>
          </p:cNvSpPr>
          <p:nvPr>
            <p:ph type="title"/>
          </p:nvPr>
        </p:nvSpPr>
        <p:spPr/>
        <p:txBody>
          <a:bodyPr/>
          <a:lstStyle/>
          <a:p>
            <a:r>
              <a:rPr lang="en-US" dirty="0"/>
              <a:t>Azure Blob Storage</a:t>
            </a:r>
          </a:p>
        </p:txBody>
      </p:sp>
      <p:sp>
        <p:nvSpPr>
          <p:cNvPr id="38" name="Rectangle 37">
            <a:extLst>
              <a:ext uri="{FF2B5EF4-FFF2-40B4-BE49-F238E27FC236}">
                <a16:creationId xmlns:a16="http://schemas.microsoft.com/office/drawing/2014/main" id="{F32C82BD-8683-45E9-641E-C554DF2B5D98}"/>
              </a:ext>
              <a:ext uri="{C183D7F6-B498-43B3-948B-1728B52AA6E4}">
                <adec:decorative xmlns:adec="http://schemas.microsoft.com/office/drawing/2017/decorative" val="1"/>
              </a:ext>
            </a:extLst>
          </p:cNvPr>
          <p:cNvSpPr/>
          <p:nvPr/>
        </p:nvSpPr>
        <p:spPr bwMode="auto">
          <a:xfrm>
            <a:off x="575481" y="1943965"/>
            <a:ext cx="11045019" cy="4328248"/>
          </a:xfrm>
          <a:prstGeom prst="rect">
            <a:avLst/>
          </a:prstGeom>
          <a:solidFill>
            <a:schemeClr val="bg1"/>
          </a:solid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28600" tIns="182880" rIns="228600" bIns="182880" numCol="1" spcCol="0" rtlCol="0" fromWordArt="0" anchor="t" anchorCtr="0" forceAA="0" compatLnSpc="1">
            <a:prstTxWarp prst="textNoShape">
              <a:avLst/>
            </a:prstTxWarp>
            <a:noAutofit/>
          </a:bodyPr>
          <a:lstStyle/>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Use Azure Blob Storage when you want to expose data via:</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NFS v3.0</a:t>
            </a:r>
          </a:p>
          <a:p>
            <a:pPr marL="742950" lvl="1" indent="-285750" defTabSz="932563">
              <a:spcBef>
                <a:spcPts val="300"/>
              </a:spcBef>
              <a:spcAft>
                <a:spcPts val="200"/>
              </a:spcAft>
              <a:buFont typeface="Arial" panose="020B0604020202020204" pitchFamily="34" charset="0"/>
              <a:buChar char="•"/>
            </a:pPr>
            <a:r>
              <a:rPr lang="en-GB" dirty="0" err="1">
                <a:solidFill>
                  <a:schemeClr val="accent6"/>
                </a:solidFill>
                <a:cs typeface="Segoe UI Semibold" panose="020B0702040204020203" pitchFamily="34" charset="0"/>
              </a:rPr>
              <a:t>BlobFuse</a:t>
            </a:r>
            <a:endParaRPr lang="en-GB" dirty="0">
              <a:solidFill>
                <a:schemeClr val="accent6"/>
              </a:solidFill>
              <a:cs typeface="Segoe UI Semibold" panose="020B0702040204020203" pitchFamily="34" charset="0"/>
            </a:endParaRPr>
          </a:p>
          <a:p>
            <a:pPr marL="742950" lvl="1" indent="-285750" defTabSz="932563">
              <a:spcBef>
                <a:spcPts val="300"/>
              </a:spcBef>
              <a:spcAft>
                <a:spcPts val="200"/>
              </a:spcAft>
              <a:buFont typeface="Arial" panose="020B0604020202020204" pitchFamily="34" charset="0"/>
              <a:buChar char="•"/>
            </a:pPr>
            <a:endParaRPr lang="en-GB" dirty="0">
              <a:solidFill>
                <a:schemeClr val="accent6"/>
              </a:solidFill>
              <a:cs typeface="Segoe UI Semibold" panose="020B0702040204020203" pitchFamily="34" charset="0"/>
            </a:endParaRPr>
          </a:p>
          <a:p>
            <a:pPr marL="285750" indent="-285750" defTabSz="932563">
              <a:spcBef>
                <a:spcPts val="300"/>
              </a:spcBef>
              <a:spcAft>
                <a:spcPts val="200"/>
              </a:spcAft>
              <a:buFont typeface="Arial" panose="020B0604020202020204" pitchFamily="34" charset="0"/>
              <a:buChar char="•"/>
            </a:pPr>
            <a:r>
              <a:rPr lang="en-GB" b="1" dirty="0" err="1">
                <a:solidFill>
                  <a:schemeClr val="accent6"/>
                </a:solidFill>
                <a:cs typeface="Segoe UI Semibold" panose="020B0702040204020203" pitchFamily="34" charset="0"/>
              </a:rPr>
              <a:t>BlobFuse</a:t>
            </a:r>
            <a:r>
              <a:rPr lang="en-GB" dirty="0">
                <a:solidFill>
                  <a:schemeClr val="accent6"/>
                </a:solidFill>
                <a:cs typeface="Segoe UI Semibold" panose="020B0702040204020203" pitchFamily="34" charset="0"/>
              </a:rPr>
              <a:t> is a virtual file system driver for Azure Blob Storage.</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Use for accessing existing Azure block blob data through the Linux file system.</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Page blobs are not supported.</a:t>
            </a:r>
          </a:p>
          <a:p>
            <a:pPr marL="285750" indent="-285750" defTabSz="932563">
              <a:spcBef>
                <a:spcPts val="300"/>
              </a:spcBef>
              <a:spcAft>
                <a:spcPts val="200"/>
              </a:spcAft>
              <a:buFont typeface="Arial" panose="020B0604020202020204" pitchFamily="34" charset="0"/>
              <a:buChar char="•"/>
            </a:pPr>
            <a:endParaRPr lang="en-GB" dirty="0">
              <a:solidFill>
                <a:schemeClr val="accent6"/>
              </a:solidFill>
              <a:cs typeface="Segoe UI Semibold" panose="020B0702040204020203" pitchFamily="34" charset="0"/>
            </a:endParaRPr>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Two Microsoft defined storage classes exist but must be enabled using </a:t>
            </a:r>
            <a:r>
              <a:rPr lang="en-GB" b="1" dirty="0">
                <a:solidFill>
                  <a:schemeClr val="accent6"/>
                </a:solidFill>
                <a:cs typeface="Segoe UI Semibold" panose="020B0702040204020203" pitchFamily="34" charset="0"/>
              </a:rPr>
              <a:t>--enable-blob-driver</a:t>
            </a:r>
            <a:r>
              <a:rPr lang="en-GB" dirty="0">
                <a:solidFill>
                  <a:schemeClr val="accent6"/>
                </a:solidFill>
                <a:cs typeface="Segoe UI Semibold" panose="020B0702040204020203" pitchFamily="34" charset="0"/>
              </a:rPr>
              <a:t>.</a:t>
            </a:r>
          </a:p>
        </p:txBody>
      </p:sp>
      <p:sp>
        <p:nvSpPr>
          <p:cNvPr id="58" name="Footer Placeholder 13">
            <a:extLst>
              <a:ext uri="{FF2B5EF4-FFF2-40B4-BE49-F238E27FC236}">
                <a16:creationId xmlns:a16="http://schemas.microsoft.com/office/drawing/2014/main" id="{6D2FCBE5-A880-EEF9-D735-7AD728EABAE5}"/>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5" name="Slide Number Placeholder 4">
            <a:extLst>
              <a:ext uri="{FF2B5EF4-FFF2-40B4-BE49-F238E27FC236}">
                <a16:creationId xmlns:a16="http://schemas.microsoft.com/office/drawing/2014/main" id="{8988749A-1D70-9393-D1C2-FECFC40AFE96}"/>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23</a:t>
            </a:fld>
            <a:endParaRPr lang="en-US" noProof="0"/>
          </a:p>
        </p:txBody>
      </p:sp>
      <p:pic>
        <p:nvPicPr>
          <p:cNvPr id="4" name="Picture 3">
            <a:extLst>
              <a:ext uri="{FF2B5EF4-FFF2-40B4-BE49-F238E27FC236}">
                <a16:creationId xmlns:a16="http://schemas.microsoft.com/office/drawing/2014/main" id="{5C8F38CB-457F-999F-4C28-92D59A47D510}"/>
              </a:ext>
            </a:extLst>
          </p:cNvPr>
          <p:cNvPicPr>
            <a:picLocks noChangeAspect="1"/>
          </p:cNvPicPr>
          <p:nvPr/>
        </p:nvPicPr>
        <p:blipFill>
          <a:blip r:embed="rId3"/>
          <a:stretch>
            <a:fillRect/>
          </a:stretch>
        </p:blipFill>
        <p:spPr>
          <a:xfrm>
            <a:off x="1053148" y="5159384"/>
            <a:ext cx="9879105" cy="982376"/>
          </a:xfrm>
          <a:prstGeom prst="rect">
            <a:avLst/>
          </a:prstGeom>
        </p:spPr>
      </p:pic>
    </p:spTree>
    <p:extLst>
      <p:ext uri="{BB962C8B-B14F-4D97-AF65-F5344CB8AC3E}">
        <p14:creationId xmlns:p14="http://schemas.microsoft.com/office/powerpoint/2010/main" val="371132361"/>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35400-3E98-0DF3-6A61-1638CF76090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73ECD96-2067-805F-3D2E-C0938BC08644}"/>
              </a:ext>
            </a:extLst>
          </p:cNvPr>
          <p:cNvSpPr>
            <a:spLocks noGrp="1"/>
          </p:cNvSpPr>
          <p:nvPr>
            <p:ph type="title"/>
          </p:nvPr>
        </p:nvSpPr>
        <p:spPr/>
        <p:txBody>
          <a:bodyPr/>
          <a:lstStyle/>
          <a:p>
            <a:r>
              <a:rPr lang="en-US" dirty="0"/>
              <a:t>Azure Blob Storage Example</a:t>
            </a:r>
          </a:p>
        </p:txBody>
      </p:sp>
      <p:sp>
        <p:nvSpPr>
          <p:cNvPr id="38" name="Rectangle 37">
            <a:extLst>
              <a:ext uri="{FF2B5EF4-FFF2-40B4-BE49-F238E27FC236}">
                <a16:creationId xmlns:a16="http://schemas.microsoft.com/office/drawing/2014/main" id="{BD7BED62-1E28-C003-6C8E-0F1AB275DBE7}"/>
              </a:ext>
              <a:ext uri="{C183D7F6-B498-43B3-948B-1728B52AA6E4}">
                <adec:decorative xmlns:adec="http://schemas.microsoft.com/office/drawing/2017/decorative" val="1"/>
              </a:ext>
            </a:extLst>
          </p:cNvPr>
          <p:cNvSpPr/>
          <p:nvPr/>
        </p:nvSpPr>
        <p:spPr bwMode="auto">
          <a:xfrm>
            <a:off x="575482" y="1943965"/>
            <a:ext cx="4114800" cy="1353417"/>
          </a:xfrm>
          <a:prstGeom prst="rect">
            <a:avLst/>
          </a:prstGeom>
          <a:solidFill>
            <a:schemeClr val="bg1"/>
          </a:solid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28600" tIns="182880" rIns="228600" bIns="182880" numCol="1" spcCol="0" rtlCol="0" fromWordArt="0" anchor="t" anchorCtr="0" forceAA="0" compatLnSpc="1">
            <a:prstTxWarp prst="textNoShape">
              <a:avLst/>
            </a:prstTxWarp>
            <a:noAutofit/>
          </a:bodyPr>
          <a:lstStyle/>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This example creates an NFS share on premium SSD disks and mounts into a Pod.</a:t>
            </a:r>
          </a:p>
        </p:txBody>
      </p:sp>
      <p:sp>
        <p:nvSpPr>
          <p:cNvPr id="58" name="Footer Placeholder 13">
            <a:extLst>
              <a:ext uri="{FF2B5EF4-FFF2-40B4-BE49-F238E27FC236}">
                <a16:creationId xmlns:a16="http://schemas.microsoft.com/office/drawing/2014/main" id="{C4346794-A9B3-1787-54E3-399AA89D3684}"/>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5" name="Slide Number Placeholder 4">
            <a:extLst>
              <a:ext uri="{FF2B5EF4-FFF2-40B4-BE49-F238E27FC236}">
                <a16:creationId xmlns:a16="http://schemas.microsoft.com/office/drawing/2014/main" id="{F8F2700E-1813-7F78-0B25-4B2918C267AF}"/>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24</a:t>
            </a:fld>
            <a:endParaRPr lang="en-US" noProof="0"/>
          </a:p>
        </p:txBody>
      </p:sp>
      <p:pic>
        <p:nvPicPr>
          <p:cNvPr id="3" name="Picture 2">
            <a:extLst>
              <a:ext uri="{FF2B5EF4-FFF2-40B4-BE49-F238E27FC236}">
                <a16:creationId xmlns:a16="http://schemas.microsoft.com/office/drawing/2014/main" id="{093340D1-49F7-E731-207A-BC678D51DB66}"/>
              </a:ext>
            </a:extLst>
          </p:cNvPr>
          <p:cNvPicPr>
            <a:picLocks noChangeAspect="1"/>
          </p:cNvPicPr>
          <p:nvPr/>
        </p:nvPicPr>
        <p:blipFill>
          <a:blip r:embed="rId3"/>
          <a:stretch>
            <a:fillRect/>
          </a:stretch>
        </p:blipFill>
        <p:spPr>
          <a:xfrm>
            <a:off x="575481" y="3904030"/>
            <a:ext cx="3171848" cy="2028840"/>
          </a:xfrm>
          <a:prstGeom prst="rect">
            <a:avLst/>
          </a:prstGeom>
        </p:spPr>
      </p:pic>
      <p:pic>
        <p:nvPicPr>
          <p:cNvPr id="7" name="Picture 6">
            <a:extLst>
              <a:ext uri="{FF2B5EF4-FFF2-40B4-BE49-F238E27FC236}">
                <a16:creationId xmlns:a16="http://schemas.microsoft.com/office/drawing/2014/main" id="{3457E68D-B2A3-EF22-6452-08B165586EBB}"/>
              </a:ext>
            </a:extLst>
          </p:cNvPr>
          <p:cNvPicPr>
            <a:picLocks noChangeAspect="1"/>
          </p:cNvPicPr>
          <p:nvPr/>
        </p:nvPicPr>
        <p:blipFill>
          <a:blip r:embed="rId4"/>
          <a:stretch>
            <a:fillRect/>
          </a:stretch>
        </p:blipFill>
        <p:spPr>
          <a:xfrm>
            <a:off x="7501720" y="1943965"/>
            <a:ext cx="4362482" cy="4191031"/>
          </a:xfrm>
          <a:prstGeom prst="rect">
            <a:avLst/>
          </a:prstGeom>
        </p:spPr>
      </p:pic>
    </p:spTree>
    <p:extLst>
      <p:ext uri="{BB962C8B-B14F-4D97-AF65-F5344CB8AC3E}">
        <p14:creationId xmlns:p14="http://schemas.microsoft.com/office/powerpoint/2010/main" val="2787087979"/>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4FF55-A63C-7369-D35D-84E0A234716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7058493-AD60-EE99-26AE-3D66B2B7EC5B}"/>
              </a:ext>
            </a:extLst>
          </p:cNvPr>
          <p:cNvSpPr>
            <a:spLocks noGrp="1"/>
          </p:cNvSpPr>
          <p:nvPr>
            <p:ph type="title"/>
          </p:nvPr>
        </p:nvSpPr>
        <p:spPr>
          <a:xfrm>
            <a:off x="575481" y="599436"/>
            <a:ext cx="11018520" cy="553998"/>
          </a:xfrm>
        </p:spPr>
        <p:txBody>
          <a:bodyPr/>
          <a:lstStyle/>
          <a:p>
            <a:r>
              <a:rPr lang="en-GB" dirty="0"/>
              <a:t>Azure NetApp Files or Azure Files?</a:t>
            </a:r>
            <a:endParaRPr lang="en-US" dirty="0"/>
          </a:p>
        </p:txBody>
      </p:sp>
      <p:sp>
        <p:nvSpPr>
          <p:cNvPr id="38" name="Rectangle 37">
            <a:extLst>
              <a:ext uri="{FF2B5EF4-FFF2-40B4-BE49-F238E27FC236}">
                <a16:creationId xmlns:a16="http://schemas.microsoft.com/office/drawing/2014/main" id="{66F5FF23-434A-587B-BE07-EC32C1B0F1FD}"/>
              </a:ext>
              <a:ext uri="{C183D7F6-B498-43B3-948B-1728B52AA6E4}">
                <adec:decorative xmlns:adec="http://schemas.microsoft.com/office/drawing/2017/decorative" val="1"/>
              </a:ext>
            </a:extLst>
          </p:cNvPr>
          <p:cNvSpPr/>
          <p:nvPr/>
        </p:nvSpPr>
        <p:spPr bwMode="auto">
          <a:xfrm>
            <a:off x="575481" y="1943965"/>
            <a:ext cx="11045019" cy="4328248"/>
          </a:xfrm>
          <a:prstGeom prst="rect">
            <a:avLst/>
          </a:prstGeom>
          <a:solidFill>
            <a:schemeClr val="bg1"/>
          </a:solid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28600" tIns="182880" rIns="228600" bIns="182880" numCol="1" spcCol="0" rtlCol="0" fromWordArt="0" anchor="t" anchorCtr="0" forceAA="0" compatLnSpc="1">
            <a:prstTxWarp prst="textNoShape">
              <a:avLst/>
            </a:prstTxWarp>
            <a:noAutofit/>
          </a:bodyPr>
          <a:lstStyle/>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Azure Net Apps Files and Azure Files services are complementary, not direct replacements.</a:t>
            </a:r>
          </a:p>
          <a:p>
            <a:pPr marL="285750" indent="-285750" defTabSz="932563">
              <a:spcBef>
                <a:spcPts val="300"/>
              </a:spcBef>
              <a:spcAft>
                <a:spcPts val="200"/>
              </a:spcAft>
              <a:buFont typeface="Arial" panose="020B0604020202020204" pitchFamily="34" charset="0"/>
              <a:buChar char="•"/>
            </a:pPr>
            <a:endParaRPr lang="en-GB" dirty="0">
              <a:solidFill>
                <a:schemeClr val="accent6"/>
              </a:solidFill>
              <a:cs typeface="Segoe UI Semibold" panose="020B0702040204020203" pitchFamily="34" charset="0"/>
            </a:endParaRPr>
          </a:p>
          <a:p>
            <a:pPr defTabSz="932563">
              <a:spcBef>
                <a:spcPts val="300"/>
              </a:spcBef>
              <a:spcAft>
                <a:spcPts val="200"/>
              </a:spcAft>
            </a:pPr>
            <a:endParaRPr lang="en-GB" dirty="0">
              <a:solidFill>
                <a:schemeClr val="accent6"/>
              </a:solidFill>
              <a:cs typeface="Segoe UI Semibold" panose="020B0702040204020203" pitchFamily="34" charset="0"/>
            </a:endParaRPr>
          </a:p>
          <a:p>
            <a:pPr defTabSz="932563">
              <a:spcBef>
                <a:spcPts val="300"/>
              </a:spcBef>
              <a:spcAft>
                <a:spcPts val="200"/>
              </a:spcAft>
            </a:pPr>
            <a:endParaRPr lang="en-GB" dirty="0">
              <a:solidFill>
                <a:schemeClr val="accent6"/>
              </a:solidFill>
              <a:cs typeface="Segoe UI Semibold" panose="020B0702040204020203" pitchFamily="34" charset="0"/>
            </a:endParaRPr>
          </a:p>
          <a:p>
            <a:pPr defTabSz="932563">
              <a:spcBef>
                <a:spcPts val="300"/>
              </a:spcBef>
              <a:spcAft>
                <a:spcPts val="200"/>
              </a:spcAft>
            </a:pPr>
            <a:endParaRPr lang="en-GB" dirty="0">
              <a:solidFill>
                <a:schemeClr val="accent6"/>
              </a:solidFill>
              <a:cs typeface="Segoe UI Semibold" panose="020B0702040204020203" pitchFamily="34" charset="0"/>
            </a:endParaRPr>
          </a:p>
        </p:txBody>
      </p:sp>
      <p:grpSp>
        <p:nvGrpSpPr>
          <p:cNvPr id="13" name="Group 12">
            <a:extLst>
              <a:ext uri="{FF2B5EF4-FFF2-40B4-BE49-F238E27FC236}">
                <a16:creationId xmlns:a16="http://schemas.microsoft.com/office/drawing/2014/main" id="{DAA653B0-63C5-40A8-20C6-0506560EC99D}"/>
              </a:ext>
              <a:ext uri="{C183D7F6-B498-43B3-948B-1728B52AA6E4}">
                <adec:decorative xmlns:adec="http://schemas.microsoft.com/office/drawing/2017/decorative" val="1"/>
              </a:ext>
            </a:extLst>
          </p:cNvPr>
          <p:cNvGrpSpPr/>
          <p:nvPr/>
        </p:nvGrpSpPr>
        <p:grpSpPr>
          <a:xfrm rot="5400000" flipH="1">
            <a:off x="11076794" y="5477957"/>
            <a:ext cx="623197" cy="692063"/>
            <a:chOff x="10845725" y="1231900"/>
            <a:chExt cx="623197" cy="692063"/>
          </a:xfrm>
        </p:grpSpPr>
        <p:sp>
          <p:nvSpPr>
            <p:cNvPr id="12" name="Trapezoid 11">
              <a:extLst>
                <a:ext uri="{FF2B5EF4-FFF2-40B4-BE49-F238E27FC236}">
                  <a16:creationId xmlns:a16="http://schemas.microsoft.com/office/drawing/2014/main" id="{80919F53-56EF-A1B6-18D2-201D0270252D}"/>
                </a:ext>
              </a:extLst>
            </p:cNvPr>
            <p:cNvSpPr/>
            <p:nvPr/>
          </p:nvSpPr>
          <p:spPr bwMode="auto">
            <a:xfrm>
              <a:off x="10845725" y="1231900"/>
              <a:ext cx="623197" cy="113383"/>
            </a:xfrm>
            <a:prstGeom prst="trapezoid">
              <a:avLst>
                <a:gd name="adj" fmla="val 104333"/>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Rectangle 2">
              <a:extLst>
                <a:ext uri="{FF2B5EF4-FFF2-40B4-BE49-F238E27FC236}">
                  <a16:creationId xmlns:a16="http://schemas.microsoft.com/office/drawing/2014/main" id="{FACAD5FE-F915-1F19-4A77-73C7BFC32241}"/>
                </a:ext>
              </a:extLst>
            </p:cNvPr>
            <p:cNvSpPr/>
            <p:nvPr/>
          </p:nvSpPr>
          <p:spPr bwMode="auto">
            <a:xfrm>
              <a:off x="10963126" y="1231900"/>
              <a:ext cx="388396" cy="433301"/>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45" name="Group 44" descr="Icon of a circle and a square with a curved arrow between them">
              <a:extLst>
                <a:ext uri="{FF2B5EF4-FFF2-40B4-BE49-F238E27FC236}">
                  <a16:creationId xmlns:a16="http://schemas.microsoft.com/office/drawing/2014/main" id="{B7DD56C1-9C50-B1B3-1780-3144D953AC72}"/>
                </a:ext>
              </a:extLst>
            </p:cNvPr>
            <p:cNvGrpSpPr>
              <a:grpSpLocks/>
            </p:cNvGrpSpPr>
            <p:nvPr/>
          </p:nvGrpSpPr>
          <p:grpSpPr>
            <a:xfrm rot="5400000">
              <a:off x="10907217" y="1423750"/>
              <a:ext cx="500214" cy="500212"/>
              <a:chOff x="2717122" y="5635692"/>
              <a:chExt cx="500214" cy="500212"/>
            </a:xfrm>
          </p:grpSpPr>
          <p:sp>
            <p:nvSpPr>
              <p:cNvPr id="46" name="Oval 45">
                <a:extLst>
                  <a:ext uri="{FF2B5EF4-FFF2-40B4-BE49-F238E27FC236}">
                    <a16:creationId xmlns:a16="http://schemas.microsoft.com/office/drawing/2014/main" id="{E02E3760-AD66-E992-4DB4-75BBAC86C1C0}"/>
                  </a:ext>
                  <a:ext uri="{C183D7F6-B498-43B3-948B-1728B52AA6E4}">
                    <adec:decorative xmlns:adec="http://schemas.microsoft.com/office/drawing/2017/decorative" val="0"/>
                  </a:ext>
                </a:extLst>
              </p:cNvPr>
              <p:cNvSpPr>
                <a:spLocks/>
              </p:cNvSpPr>
              <p:nvPr/>
            </p:nvSpPr>
            <p:spPr bwMode="auto">
              <a:xfrm>
                <a:off x="2717122" y="5635692"/>
                <a:ext cx="500214" cy="500212"/>
              </a:xfrm>
              <a:prstGeom prst="ellipse">
                <a:avLst/>
              </a:prstGeom>
              <a:solidFill>
                <a:schemeClr val="bg1"/>
              </a:solidFill>
              <a:ln w="127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ts val="100"/>
                  </a:spcBef>
                  <a:spcAft>
                    <a:spcPts val="100"/>
                  </a:spcAft>
                  <a:buClrTx/>
                  <a:buSzTx/>
                  <a:buFontTx/>
                  <a:buNone/>
                  <a:tabLst/>
                  <a:defRPr/>
                </a:pPr>
                <a:endParaRPr kumimoji="0" lang="en-US"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47" name="transform_2" title="Icon of a circle and a square with a curved arrow between them">
                <a:extLst>
                  <a:ext uri="{FF2B5EF4-FFF2-40B4-BE49-F238E27FC236}">
                    <a16:creationId xmlns:a16="http://schemas.microsoft.com/office/drawing/2014/main" id="{6AAAB426-12ED-8F59-696C-D21BD76D6003}"/>
                  </a:ext>
                </a:extLst>
              </p:cNvPr>
              <p:cNvSpPr>
                <a:spLocks noChangeAspect="1" noEditPoints="1"/>
              </p:cNvSpPr>
              <p:nvPr/>
            </p:nvSpPr>
            <p:spPr bwMode="auto">
              <a:xfrm>
                <a:off x="2845233" y="5770820"/>
                <a:ext cx="245435" cy="227328"/>
              </a:xfrm>
              <a:custGeom>
                <a:avLst/>
                <a:gdLst>
                  <a:gd name="T0" fmla="*/ 31 w 337"/>
                  <a:gd name="T1" fmla="*/ 210 h 311"/>
                  <a:gd name="T2" fmla="*/ 185 w 337"/>
                  <a:gd name="T3" fmla="*/ 56 h 311"/>
                  <a:gd name="T4" fmla="*/ 142 w 337"/>
                  <a:gd name="T5" fmla="*/ 108 h 311"/>
                  <a:gd name="T6" fmla="*/ 185 w 337"/>
                  <a:gd name="T7" fmla="*/ 56 h 311"/>
                  <a:gd name="T8" fmla="*/ 133 w 337"/>
                  <a:gd name="T9" fmla="*/ 13 h 311"/>
                  <a:gd name="T10" fmla="*/ 37 w 337"/>
                  <a:gd name="T11" fmla="*/ 311 h 311"/>
                  <a:gd name="T12" fmla="*/ 73 w 337"/>
                  <a:gd name="T13" fmla="*/ 274 h 311"/>
                  <a:gd name="T14" fmla="*/ 37 w 337"/>
                  <a:gd name="T15" fmla="*/ 238 h 311"/>
                  <a:gd name="T16" fmla="*/ 0 w 337"/>
                  <a:gd name="T17" fmla="*/ 274 h 311"/>
                  <a:gd name="T18" fmla="*/ 37 w 337"/>
                  <a:gd name="T19" fmla="*/ 311 h 311"/>
                  <a:gd name="T20" fmla="*/ 337 w 337"/>
                  <a:gd name="T21" fmla="*/ 0 h 311"/>
                  <a:gd name="T22" fmla="*/ 219 w 337"/>
                  <a:gd name="T23" fmla="*/ 0 h 311"/>
                  <a:gd name="T24" fmla="*/ 219 w 337"/>
                  <a:gd name="T25" fmla="*/ 118 h 311"/>
                  <a:gd name="T26" fmla="*/ 337 w 337"/>
                  <a:gd name="T27" fmla="*/ 118 h 311"/>
                  <a:gd name="T28" fmla="*/ 337 w 337"/>
                  <a:gd name="T29" fmla="*/ 0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37" h="311">
                    <a:moveTo>
                      <a:pt x="31" y="210"/>
                    </a:moveTo>
                    <a:cubicBezTo>
                      <a:pt x="31" y="125"/>
                      <a:pt x="100" y="56"/>
                      <a:pt x="185" y="56"/>
                    </a:cubicBezTo>
                    <a:moveTo>
                      <a:pt x="142" y="108"/>
                    </a:moveTo>
                    <a:cubicBezTo>
                      <a:pt x="185" y="56"/>
                      <a:pt x="185" y="56"/>
                      <a:pt x="185" y="56"/>
                    </a:cubicBezTo>
                    <a:cubicBezTo>
                      <a:pt x="133" y="13"/>
                      <a:pt x="133" y="13"/>
                      <a:pt x="133" y="13"/>
                    </a:cubicBezTo>
                    <a:moveTo>
                      <a:pt x="37" y="311"/>
                    </a:moveTo>
                    <a:cubicBezTo>
                      <a:pt x="56" y="311"/>
                      <a:pt x="73" y="294"/>
                      <a:pt x="73" y="274"/>
                    </a:cubicBezTo>
                    <a:cubicBezTo>
                      <a:pt x="73" y="254"/>
                      <a:pt x="56" y="238"/>
                      <a:pt x="37" y="238"/>
                    </a:cubicBezTo>
                    <a:cubicBezTo>
                      <a:pt x="17" y="238"/>
                      <a:pt x="0" y="254"/>
                      <a:pt x="0" y="274"/>
                    </a:cubicBezTo>
                    <a:cubicBezTo>
                      <a:pt x="0" y="294"/>
                      <a:pt x="17" y="311"/>
                      <a:pt x="37" y="311"/>
                    </a:cubicBezTo>
                    <a:close/>
                    <a:moveTo>
                      <a:pt x="337" y="0"/>
                    </a:moveTo>
                    <a:cubicBezTo>
                      <a:pt x="219" y="0"/>
                      <a:pt x="219" y="0"/>
                      <a:pt x="219" y="0"/>
                    </a:cubicBezTo>
                    <a:cubicBezTo>
                      <a:pt x="219" y="118"/>
                      <a:pt x="219" y="118"/>
                      <a:pt x="219" y="118"/>
                    </a:cubicBezTo>
                    <a:cubicBezTo>
                      <a:pt x="337" y="118"/>
                      <a:pt x="337" y="118"/>
                      <a:pt x="337" y="118"/>
                    </a:cubicBezTo>
                    <a:lnTo>
                      <a:pt x="337" y="0"/>
                    </a:lnTo>
                    <a:close/>
                  </a:path>
                </a:pathLst>
              </a:custGeom>
              <a:noFill/>
              <a:ln w="15875" cap="sq">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100"/>
                  </a:spcBef>
                  <a:spcAft>
                    <a:spcPts val="100"/>
                  </a:spcAft>
                  <a:buClrTx/>
                  <a:buSzTx/>
                  <a:buFontTx/>
                  <a:buNone/>
                  <a:tabLst/>
                  <a:defRPr/>
                </a:pPr>
                <a:endParaRPr kumimoji="0" lang="en-US" b="0" i="0" u="none" strike="noStrike" kern="1200" cap="none" spc="0" normalizeH="0" baseline="0" noProof="0">
                  <a:ln>
                    <a:noFill/>
                  </a:ln>
                  <a:solidFill>
                    <a:srgbClr val="000000"/>
                  </a:solidFill>
                  <a:effectLst/>
                  <a:uLnTx/>
                  <a:uFillTx/>
                  <a:latin typeface="Segoe UI"/>
                  <a:ea typeface="+mn-ea"/>
                  <a:cs typeface="+mn-cs"/>
                </a:endParaRPr>
              </a:p>
            </p:txBody>
          </p:sp>
        </p:grpSp>
      </p:grpSp>
      <p:sp>
        <p:nvSpPr>
          <p:cNvPr id="58" name="Footer Placeholder 13">
            <a:extLst>
              <a:ext uri="{FF2B5EF4-FFF2-40B4-BE49-F238E27FC236}">
                <a16:creationId xmlns:a16="http://schemas.microsoft.com/office/drawing/2014/main" id="{4F1A29FB-B757-E668-8FE4-1D7E06B9E38B}"/>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5" name="Slide Number Placeholder 4">
            <a:extLst>
              <a:ext uri="{FF2B5EF4-FFF2-40B4-BE49-F238E27FC236}">
                <a16:creationId xmlns:a16="http://schemas.microsoft.com/office/drawing/2014/main" id="{DEFF689F-B056-4D4B-7C9D-D9C81342E588}"/>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25</a:t>
            </a:fld>
            <a:endParaRPr lang="en-US" noProof="0"/>
          </a:p>
        </p:txBody>
      </p:sp>
      <p:graphicFrame>
        <p:nvGraphicFramePr>
          <p:cNvPr id="4" name="Table 3">
            <a:extLst>
              <a:ext uri="{FF2B5EF4-FFF2-40B4-BE49-F238E27FC236}">
                <a16:creationId xmlns:a16="http://schemas.microsoft.com/office/drawing/2014/main" id="{579C76D7-4E3A-E470-655A-53698A4805AA}"/>
              </a:ext>
            </a:extLst>
          </p:cNvPr>
          <p:cNvGraphicFramePr>
            <a:graphicFrameLocks noGrp="1"/>
          </p:cNvGraphicFramePr>
          <p:nvPr>
            <p:extLst>
              <p:ext uri="{D42A27DB-BD31-4B8C-83A1-F6EECF244321}">
                <p14:modId xmlns:p14="http://schemas.microsoft.com/office/powerpoint/2010/main" val="4231957351"/>
              </p:ext>
            </p:extLst>
          </p:nvPr>
        </p:nvGraphicFramePr>
        <p:xfrm>
          <a:off x="727881" y="2492684"/>
          <a:ext cx="10121206" cy="3913182"/>
        </p:xfrm>
        <a:graphic>
          <a:graphicData uri="http://schemas.openxmlformats.org/drawingml/2006/table">
            <a:tbl>
              <a:tblPr firstRow="1" bandRow="1">
                <a:tableStyleId>{5C22544A-7EE6-4342-B048-85BDC9FD1C3A}</a:tableStyleId>
              </a:tblPr>
              <a:tblGrid>
                <a:gridCol w="2423222">
                  <a:extLst>
                    <a:ext uri="{9D8B030D-6E8A-4147-A177-3AD203B41FA5}">
                      <a16:colId xmlns:a16="http://schemas.microsoft.com/office/drawing/2014/main" val="3065693156"/>
                    </a:ext>
                  </a:extLst>
                </a:gridCol>
                <a:gridCol w="3848992">
                  <a:extLst>
                    <a:ext uri="{9D8B030D-6E8A-4147-A177-3AD203B41FA5}">
                      <a16:colId xmlns:a16="http://schemas.microsoft.com/office/drawing/2014/main" val="3900028849"/>
                    </a:ext>
                  </a:extLst>
                </a:gridCol>
                <a:gridCol w="3848992">
                  <a:extLst>
                    <a:ext uri="{9D8B030D-6E8A-4147-A177-3AD203B41FA5}">
                      <a16:colId xmlns:a16="http://schemas.microsoft.com/office/drawing/2014/main" val="1575255147"/>
                    </a:ext>
                  </a:extLst>
                </a:gridCol>
              </a:tblGrid>
              <a:tr h="298810">
                <a:tc>
                  <a:txBody>
                    <a:bodyPr/>
                    <a:lstStyle/>
                    <a:p>
                      <a:r>
                        <a:rPr lang="en-GB" sz="1200" dirty="0"/>
                        <a:t>Feature</a:t>
                      </a:r>
                    </a:p>
                  </a:txBody>
                  <a:tcPr/>
                </a:tc>
                <a:tc>
                  <a:txBody>
                    <a:bodyPr/>
                    <a:lstStyle/>
                    <a:p>
                      <a:r>
                        <a:rPr lang="en-GB" sz="1200" dirty="0"/>
                        <a:t>Azure Files</a:t>
                      </a:r>
                    </a:p>
                  </a:txBody>
                  <a:tcPr/>
                </a:tc>
                <a:tc>
                  <a:txBody>
                    <a:bodyPr/>
                    <a:lstStyle/>
                    <a:p>
                      <a:r>
                        <a:rPr lang="en-GB" sz="1200" dirty="0"/>
                        <a:t>Azure NetApp Files</a:t>
                      </a:r>
                    </a:p>
                  </a:txBody>
                  <a:tcPr/>
                </a:tc>
                <a:extLst>
                  <a:ext uri="{0D108BD9-81ED-4DB2-BD59-A6C34878D82A}">
                    <a16:rowId xmlns:a16="http://schemas.microsoft.com/office/drawing/2014/main" val="2070031621"/>
                  </a:ext>
                </a:extLst>
              </a:tr>
              <a:tr h="515754">
                <a:tc>
                  <a:txBody>
                    <a:bodyPr/>
                    <a:lstStyle/>
                    <a:p>
                      <a:r>
                        <a:rPr lang="en-GB" sz="1200" dirty="0"/>
                        <a:t>Type</a:t>
                      </a:r>
                    </a:p>
                  </a:txBody>
                  <a:tcPr/>
                </a:tc>
                <a:tc>
                  <a:txBody>
                    <a:bodyPr/>
                    <a:lstStyle/>
                    <a:p>
                      <a:r>
                        <a:rPr lang="en-GB" sz="1200" dirty="0"/>
                        <a:t>Fully managed file share (SMB/NFS)</a:t>
                      </a:r>
                    </a:p>
                  </a:txBody>
                  <a:tcPr/>
                </a:tc>
                <a:tc>
                  <a:txBody>
                    <a:bodyPr/>
                    <a:lstStyle/>
                    <a:p>
                      <a:r>
                        <a:rPr lang="en-GB" sz="1200" dirty="0"/>
                        <a:t>Fully managed NAS (SMB/NFS)</a:t>
                      </a:r>
                    </a:p>
                  </a:txBody>
                  <a:tcPr/>
                </a:tc>
                <a:extLst>
                  <a:ext uri="{0D108BD9-81ED-4DB2-BD59-A6C34878D82A}">
                    <a16:rowId xmlns:a16="http://schemas.microsoft.com/office/drawing/2014/main" val="1463817617"/>
                  </a:ext>
                </a:extLst>
              </a:tr>
              <a:tr h="736792">
                <a:tc>
                  <a:txBody>
                    <a:bodyPr/>
                    <a:lstStyle/>
                    <a:p>
                      <a:r>
                        <a:rPr lang="en-GB" sz="1200" dirty="0"/>
                        <a:t>Performance</a:t>
                      </a:r>
                    </a:p>
                  </a:txBody>
                  <a:tcPr/>
                </a:tc>
                <a:tc>
                  <a:txBody>
                    <a:bodyPr/>
                    <a:lstStyle/>
                    <a:p>
                      <a:r>
                        <a:rPr lang="en-GB" sz="1200" dirty="0"/>
                        <a:t>Good for general purpose workloads</a:t>
                      </a:r>
                    </a:p>
                  </a:txBody>
                  <a:tcPr/>
                </a:tc>
                <a:tc>
                  <a:txBody>
                    <a:bodyPr/>
                    <a:lstStyle/>
                    <a:p>
                      <a:r>
                        <a:rPr lang="en-GB" sz="1200" dirty="0"/>
                        <a:t>Designed for high-performance, low latency workloads.</a:t>
                      </a:r>
                    </a:p>
                  </a:txBody>
                  <a:tcPr/>
                </a:tc>
                <a:extLst>
                  <a:ext uri="{0D108BD9-81ED-4DB2-BD59-A6C34878D82A}">
                    <a16:rowId xmlns:a16="http://schemas.microsoft.com/office/drawing/2014/main" val="1409215979"/>
                  </a:ext>
                </a:extLst>
              </a:tr>
              <a:tr h="515754">
                <a:tc>
                  <a:txBody>
                    <a:bodyPr/>
                    <a:lstStyle/>
                    <a:p>
                      <a:r>
                        <a:rPr lang="en-GB" sz="1200" dirty="0"/>
                        <a:t>Use Cases</a:t>
                      </a:r>
                    </a:p>
                  </a:txBody>
                  <a:tcPr/>
                </a:tc>
                <a:tc>
                  <a:txBody>
                    <a:bodyPr/>
                    <a:lstStyle/>
                    <a:p>
                      <a:r>
                        <a:rPr lang="en-GB" sz="1200" dirty="0"/>
                        <a:t>File shares, backups, app configs</a:t>
                      </a:r>
                    </a:p>
                  </a:txBody>
                  <a:tcPr/>
                </a:tc>
                <a:tc>
                  <a:txBody>
                    <a:bodyPr/>
                    <a:lstStyle/>
                    <a:p>
                      <a:r>
                        <a:rPr lang="en-GB" sz="1200" dirty="0"/>
                        <a:t>SAP HANA, HPC, databases, VDI, analytics</a:t>
                      </a:r>
                    </a:p>
                  </a:txBody>
                  <a:tcPr/>
                </a:tc>
                <a:extLst>
                  <a:ext uri="{0D108BD9-81ED-4DB2-BD59-A6C34878D82A}">
                    <a16:rowId xmlns:a16="http://schemas.microsoft.com/office/drawing/2014/main" val="3650292938"/>
                  </a:ext>
                </a:extLst>
              </a:tr>
              <a:tr h="515754">
                <a:tc>
                  <a:txBody>
                    <a:bodyPr/>
                    <a:lstStyle/>
                    <a:p>
                      <a:r>
                        <a:rPr lang="en-GB" sz="1200" dirty="0"/>
                        <a:t>Protocols</a:t>
                      </a:r>
                    </a:p>
                  </a:txBody>
                  <a:tcPr/>
                </a:tc>
                <a:tc>
                  <a:txBody>
                    <a:bodyPr/>
                    <a:lstStyle/>
                    <a:p>
                      <a:r>
                        <a:rPr lang="en-GB" sz="1200" dirty="0"/>
                        <a:t>SMB 2.1/3.x, NFS 4.1</a:t>
                      </a:r>
                    </a:p>
                  </a:txBody>
                  <a:tcPr/>
                </a:tc>
                <a:tc>
                  <a:txBody>
                    <a:bodyPr/>
                    <a:lstStyle/>
                    <a:p>
                      <a:r>
                        <a:rPr lang="en-GB" sz="1200" dirty="0"/>
                        <a:t>SMB 3.x, NFS 3/4.1, dual protocol</a:t>
                      </a:r>
                    </a:p>
                  </a:txBody>
                  <a:tcPr/>
                </a:tc>
                <a:extLst>
                  <a:ext uri="{0D108BD9-81ED-4DB2-BD59-A6C34878D82A}">
                    <a16:rowId xmlns:a16="http://schemas.microsoft.com/office/drawing/2014/main" val="205583445"/>
                  </a:ext>
                </a:extLst>
              </a:tr>
              <a:tr h="515754">
                <a:tc>
                  <a:txBody>
                    <a:bodyPr/>
                    <a:lstStyle/>
                    <a:p>
                      <a:r>
                        <a:rPr lang="en-GB" sz="1200" dirty="0"/>
                        <a:t>Redundancy</a:t>
                      </a:r>
                    </a:p>
                  </a:txBody>
                  <a:tcPr/>
                </a:tc>
                <a:tc>
                  <a:txBody>
                    <a:bodyPr/>
                    <a:lstStyle/>
                    <a:p>
                      <a:r>
                        <a:rPr lang="en-GB" sz="1200" dirty="0"/>
                        <a:t>LRS, ZRS, GRS, GZRS</a:t>
                      </a:r>
                    </a:p>
                  </a:txBody>
                  <a:tcPr/>
                </a:tc>
                <a:tc>
                  <a:txBody>
                    <a:bodyPr/>
                    <a:lstStyle/>
                    <a:p>
                      <a:r>
                        <a:rPr lang="en-GB" sz="1200" dirty="0"/>
                        <a:t>Built-in HA, cross region replication</a:t>
                      </a:r>
                    </a:p>
                  </a:txBody>
                  <a:tcPr/>
                </a:tc>
                <a:extLst>
                  <a:ext uri="{0D108BD9-81ED-4DB2-BD59-A6C34878D82A}">
                    <a16:rowId xmlns:a16="http://schemas.microsoft.com/office/drawing/2014/main" val="3579943325"/>
                  </a:ext>
                </a:extLst>
              </a:tr>
              <a:tr h="298810">
                <a:tc>
                  <a:txBody>
                    <a:bodyPr/>
                    <a:lstStyle/>
                    <a:p>
                      <a:r>
                        <a:rPr lang="en-GB" sz="1200" dirty="0"/>
                        <a:t>Minimum Size</a:t>
                      </a:r>
                    </a:p>
                  </a:txBody>
                  <a:tcPr/>
                </a:tc>
                <a:tc>
                  <a:txBody>
                    <a:bodyPr/>
                    <a:lstStyle/>
                    <a:p>
                      <a:r>
                        <a:rPr lang="en-GB" sz="1200" dirty="0"/>
                        <a:t>100 GiB</a:t>
                      </a:r>
                    </a:p>
                  </a:txBody>
                  <a:tcPr/>
                </a:tc>
                <a:tc>
                  <a:txBody>
                    <a:bodyPr/>
                    <a:lstStyle/>
                    <a:p>
                      <a:r>
                        <a:rPr lang="en-GB" sz="1200" dirty="0"/>
                        <a:t>4 TiB</a:t>
                      </a:r>
                    </a:p>
                  </a:txBody>
                  <a:tcPr/>
                </a:tc>
                <a:extLst>
                  <a:ext uri="{0D108BD9-81ED-4DB2-BD59-A6C34878D82A}">
                    <a16:rowId xmlns:a16="http://schemas.microsoft.com/office/drawing/2014/main" val="2435716616"/>
                  </a:ext>
                </a:extLst>
              </a:tr>
              <a:tr h="515754">
                <a:tc>
                  <a:txBody>
                    <a:bodyPr/>
                    <a:lstStyle/>
                    <a:p>
                      <a:r>
                        <a:rPr lang="en-GB" sz="1200" dirty="0"/>
                        <a:t>Pricing</a:t>
                      </a:r>
                    </a:p>
                  </a:txBody>
                  <a:tcPr/>
                </a:tc>
                <a:tc>
                  <a:txBody>
                    <a:bodyPr/>
                    <a:lstStyle/>
                    <a:p>
                      <a:r>
                        <a:rPr lang="en-GB" sz="1200" dirty="0"/>
                        <a:t>Lower cost, flexible tiers</a:t>
                      </a:r>
                    </a:p>
                  </a:txBody>
                  <a:tcPr/>
                </a:tc>
                <a:tc>
                  <a:txBody>
                    <a:bodyPr/>
                    <a:lstStyle/>
                    <a:p>
                      <a:r>
                        <a:rPr lang="en-GB" sz="1200" dirty="0"/>
                        <a:t>Premium pricing, performance tiers</a:t>
                      </a:r>
                    </a:p>
                  </a:txBody>
                  <a:tcPr/>
                </a:tc>
                <a:extLst>
                  <a:ext uri="{0D108BD9-81ED-4DB2-BD59-A6C34878D82A}">
                    <a16:rowId xmlns:a16="http://schemas.microsoft.com/office/drawing/2014/main" val="2083684154"/>
                  </a:ext>
                </a:extLst>
              </a:tr>
            </a:tbl>
          </a:graphicData>
        </a:graphic>
      </p:graphicFrame>
    </p:spTree>
    <p:extLst>
      <p:ext uri="{BB962C8B-B14F-4D97-AF65-F5344CB8AC3E}">
        <p14:creationId xmlns:p14="http://schemas.microsoft.com/office/powerpoint/2010/main" val="337679707"/>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name="HIDDEN - Slide35">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C6F63-616D-478D-A91D-8B071350BF64}"/>
              </a:ext>
            </a:extLst>
          </p:cNvPr>
          <p:cNvSpPr>
            <a:spLocks noGrp="1"/>
          </p:cNvSpPr>
          <p:nvPr>
            <p:ph type="title"/>
            <p:custDataLst>
              <p:custData r:id="rId2"/>
            </p:custDataLst>
          </p:nvPr>
        </p:nvSpPr>
        <p:spPr>
          <a:xfrm>
            <a:off x="584200" y="3318975"/>
            <a:ext cx="9169400" cy="2031325"/>
          </a:xfrm>
        </p:spPr>
        <p:txBody>
          <a:bodyPr/>
          <a:lstStyle/>
          <a:p>
            <a:r>
              <a:rPr lang="en-US" dirty="0"/>
              <a:t>Azure Container Storage</a:t>
            </a:r>
          </a:p>
        </p:txBody>
      </p:sp>
      <p:sp>
        <p:nvSpPr>
          <p:cNvPr id="2" name="Text Placeholder 1">
            <a:extLst>
              <a:ext uri="{FF2B5EF4-FFF2-40B4-BE49-F238E27FC236}">
                <a16:creationId xmlns:a16="http://schemas.microsoft.com/office/drawing/2014/main" id="{DF7F14EE-8F92-4B21-8365-583F96FD76C0}"/>
              </a:ext>
            </a:extLst>
          </p:cNvPr>
          <p:cNvSpPr>
            <a:spLocks noGrp="1"/>
          </p:cNvSpPr>
          <p:nvPr>
            <p:ph type="body" sz="quarter" idx="12"/>
          </p:nvPr>
        </p:nvSpPr>
        <p:spPr/>
        <p:txBody>
          <a:bodyPr/>
          <a:lstStyle/>
          <a:p>
            <a:endParaRPr lang="en-US" dirty="0"/>
          </a:p>
        </p:txBody>
      </p:sp>
      <p:sp>
        <p:nvSpPr>
          <p:cNvPr id="11" name="Footer Placeholder 2">
            <a:extLst>
              <a:ext uri="{FF2B5EF4-FFF2-40B4-BE49-F238E27FC236}">
                <a16:creationId xmlns:a16="http://schemas.microsoft.com/office/drawing/2014/main" id="{29BD8041-BC24-4633-A423-E1FCAB5B1A20}"/>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2" name="Slide Number Placeholder 8">
            <a:extLst>
              <a:ext uri="{FF2B5EF4-FFF2-40B4-BE49-F238E27FC236}">
                <a16:creationId xmlns:a16="http://schemas.microsoft.com/office/drawing/2014/main" id="{50090FC2-EA77-4C2F-A642-01EF67A9CFB3}"/>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26</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2379444036"/>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A810E-D899-84A1-4221-E19AF5B374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C493BFD-0181-7EA8-8323-2C09FDC9E17B}"/>
              </a:ext>
            </a:extLst>
          </p:cNvPr>
          <p:cNvSpPr>
            <a:spLocks noGrp="1"/>
          </p:cNvSpPr>
          <p:nvPr>
            <p:ph type="title"/>
          </p:nvPr>
        </p:nvSpPr>
        <p:spPr/>
        <p:txBody>
          <a:bodyPr/>
          <a:lstStyle/>
          <a:p>
            <a:r>
              <a:rPr lang="en-US" dirty="0"/>
              <a:t>Azure Container Storage – The Elevator Pitch</a:t>
            </a:r>
          </a:p>
        </p:txBody>
      </p:sp>
      <p:sp>
        <p:nvSpPr>
          <p:cNvPr id="38" name="Rectangle 37">
            <a:extLst>
              <a:ext uri="{FF2B5EF4-FFF2-40B4-BE49-F238E27FC236}">
                <a16:creationId xmlns:a16="http://schemas.microsoft.com/office/drawing/2014/main" id="{FF790524-C930-5E1C-4D08-9CBD14DFD2DB}"/>
              </a:ext>
              <a:ext uri="{C183D7F6-B498-43B3-948B-1728B52AA6E4}">
                <adec:decorative xmlns:adec="http://schemas.microsoft.com/office/drawing/2017/decorative" val="1"/>
              </a:ext>
            </a:extLst>
          </p:cNvPr>
          <p:cNvSpPr/>
          <p:nvPr/>
        </p:nvSpPr>
        <p:spPr bwMode="auto">
          <a:xfrm>
            <a:off x="575481" y="1943965"/>
            <a:ext cx="11045019" cy="4328248"/>
          </a:xfrm>
          <a:prstGeom prst="rect">
            <a:avLst/>
          </a:prstGeom>
          <a:solidFill>
            <a:schemeClr val="bg1"/>
          </a:solid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28600" tIns="182880" rIns="228600" bIns="182880" numCol="1" spcCol="0" rtlCol="0" fromWordArt="0" anchor="t" anchorCtr="0" forceAA="0" compatLnSpc="1">
            <a:prstTxWarp prst="textNoShape">
              <a:avLst/>
            </a:prstTxWarp>
            <a:noAutofit/>
          </a:bodyPr>
          <a:lstStyle/>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If you want a fully managed solution for block-level access to data, consider using Azure Container Storage instead of CSI drivers.</a:t>
            </a:r>
          </a:p>
          <a:p>
            <a:pPr marL="285750" indent="-285750" defTabSz="932563">
              <a:spcBef>
                <a:spcPts val="300"/>
              </a:spcBef>
              <a:spcAft>
                <a:spcPts val="200"/>
              </a:spcAft>
              <a:buFont typeface="Arial" panose="020B0604020202020204" pitchFamily="34" charset="0"/>
              <a:buChar char="•"/>
            </a:pPr>
            <a:endParaRPr lang="en-GB" dirty="0">
              <a:solidFill>
                <a:schemeClr val="accent6"/>
              </a:solidFill>
              <a:cs typeface="Segoe UI Semibold" panose="020B0702040204020203" pitchFamily="34" charset="0"/>
            </a:endParaRPr>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Azure Container Storage integrates with Kubernetes</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Allows dynamic and automatic provisioning of persistent volumes.</a:t>
            </a:r>
          </a:p>
          <a:p>
            <a:pPr marL="742950" lvl="1" indent="-285750" defTabSz="932563">
              <a:spcBef>
                <a:spcPts val="300"/>
              </a:spcBef>
              <a:spcAft>
                <a:spcPts val="200"/>
              </a:spcAft>
              <a:buFont typeface="Arial" panose="020B0604020202020204" pitchFamily="34" charset="0"/>
              <a:buChar char="•"/>
            </a:pPr>
            <a:endParaRPr lang="en-GB" dirty="0">
              <a:solidFill>
                <a:schemeClr val="accent6"/>
              </a:solidFill>
              <a:cs typeface="Segoe UI Semibold" panose="020B0702040204020203" pitchFamily="34" charset="0"/>
            </a:endParaRPr>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Supports the following backing storage</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Azure Disks</a:t>
            </a:r>
          </a:p>
          <a:p>
            <a:pPr marL="742950" lvl="1"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Ephemeral Disks</a:t>
            </a:r>
          </a:p>
          <a:p>
            <a:pPr marL="285750" indent="-285750" defTabSz="932563">
              <a:spcBef>
                <a:spcPts val="300"/>
              </a:spcBef>
              <a:spcAft>
                <a:spcPts val="200"/>
              </a:spcAft>
              <a:buFont typeface="Arial" panose="020B0604020202020204" pitchFamily="34" charset="0"/>
              <a:buChar char="•"/>
            </a:pPr>
            <a:endParaRPr lang="en-GB" dirty="0">
              <a:solidFill>
                <a:schemeClr val="accent6"/>
              </a:solidFill>
              <a:cs typeface="Segoe UI Semibold" panose="020B0702040204020203" pitchFamily="34" charset="0"/>
            </a:endParaRPr>
          </a:p>
          <a:p>
            <a:pPr marL="285750" indent="-285750" defTabSz="932563">
              <a:spcBef>
                <a:spcPts val="300"/>
              </a:spcBef>
              <a:spcAft>
                <a:spcPts val="200"/>
              </a:spcAft>
              <a:buFont typeface="Arial" panose="020B0604020202020204" pitchFamily="34" charset="0"/>
              <a:buChar char="•"/>
            </a:pPr>
            <a:r>
              <a:rPr lang="en-GB" dirty="0">
                <a:solidFill>
                  <a:schemeClr val="accent6"/>
                </a:solidFill>
                <a:cs typeface="Segoe UI Semibold" panose="020B0702040204020203" pitchFamily="34" charset="0"/>
              </a:rPr>
              <a:t>Flexibility and scalability for stateful applications running on Kubernetes clusters.</a:t>
            </a:r>
          </a:p>
        </p:txBody>
      </p:sp>
      <p:grpSp>
        <p:nvGrpSpPr>
          <p:cNvPr id="13" name="Group 12">
            <a:extLst>
              <a:ext uri="{FF2B5EF4-FFF2-40B4-BE49-F238E27FC236}">
                <a16:creationId xmlns:a16="http://schemas.microsoft.com/office/drawing/2014/main" id="{65F95469-86C9-C03E-CEC1-F3325C6E51C4}"/>
              </a:ext>
              <a:ext uri="{C183D7F6-B498-43B3-948B-1728B52AA6E4}">
                <adec:decorative xmlns:adec="http://schemas.microsoft.com/office/drawing/2017/decorative" val="1"/>
              </a:ext>
            </a:extLst>
          </p:cNvPr>
          <p:cNvGrpSpPr/>
          <p:nvPr/>
        </p:nvGrpSpPr>
        <p:grpSpPr>
          <a:xfrm rot="5400000" flipH="1">
            <a:off x="11076794" y="5477957"/>
            <a:ext cx="623197" cy="692063"/>
            <a:chOff x="10845725" y="1231900"/>
            <a:chExt cx="623197" cy="692063"/>
          </a:xfrm>
        </p:grpSpPr>
        <p:sp>
          <p:nvSpPr>
            <p:cNvPr id="12" name="Trapezoid 11">
              <a:extLst>
                <a:ext uri="{FF2B5EF4-FFF2-40B4-BE49-F238E27FC236}">
                  <a16:creationId xmlns:a16="http://schemas.microsoft.com/office/drawing/2014/main" id="{8C8AEF17-ECFB-3D2D-6938-4CE770BA07BA}"/>
                </a:ext>
              </a:extLst>
            </p:cNvPr>
            <p:cNvSpPr/>
            <p:nvPr/>
          </p:nvSpPr>
          <p:spPr bwMode="auto">
            <a:xfrm>
              <a:off x="10845725" y="1231900"/>
              <a:ext cx="623197" cy="113383"/>
            </a:xfrm>
            <a:prstGeom prst="trapezoid">
              <a:avLst>
                <a:gd name="adj" fmla="val 104333"/>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Rectangle 2">
              <a:extLst>
                <a:ext uri="{FF2B5EF4-FFF2-40B4-BE49-F238E27FC236}">
                  <a16:creationId xmlns:a16="http://schemas.microsoft.com/office/drawing/2014/main" id="{285C9019-DAE3-2501-E46D-391CC977AB59}"/>
                </a:ext>
              </a:extLst>
            </p:cNvPr>
            <p:cNvSpPr/>
            <p:nvPr/>
          </p:nvSpPr>
          <p:spPr bwMode="auto">
            <a:xfrm>
              <a:off x="10963126" y="1231900"/>
              <a:ext cx="388396" cy="433301"/>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45" name="Group 44" descr="Icon of a circle and a square with a curved arrow between them">
              <a:extLst>
                <a:ext uri="{FF2B5EF4-FFF2-40B4-BE49-F238E27FC236}">
                  <a16:creationId xmlns:a16="http://schemas.microsoft.com/office/drawing/2014/main" id="{65F9B704-2AFC-4E0F-D51C-17B7906E56EB}"/>
                </a:ext>
              </a:extLst>
            </p:cNvPr>
            <p:cNvGrpSpPr>
              <a:grpSpLocks/>
            </p:cNvGrpSpPr>
            <p:nvPr/>
          </p:nvGrpSpPr>
          <p:grpSpPr>
            <a:xfrm rot="5400000">
              <a:off x="10907217" y="1423750"/>
              <a:ext cx="500214" cy="500212"/>
              <a:chOff x="2717122" y="5635692"/>
              <a:chExt cx="500214" cy="500212"/>
            </a:xfrm>
          </p:grpSpPr>
          <p:sp>
            <p:nvSpPr>
              <p:cNvPr id="46" name="Oval 45">
                <a:extLst>
                  <a:ext uri="{FF2B5EF4-FFF2-40B4-BE49-F238E27FC236}">
                    <a16:creationId xmlns:a16="http://schemas.microsoft.com/office/drawing/2014/main" id="{73F66894-1C1E-E808-E0A6-33D797DD79BF}"/>
                  </a:ext>
                  <a:ext uri="{C183D7F6-B498-43B3-948B-1728B52AA6E4}">
                    <adec:decorative xmlns:adec="http://schemas.microsoft.com/office/drawing/2017/decorative" val="0"/>
                  </a:ext>
                </a:extLst>
              </p:cNvPr>
              <p:cNvSpPr>
                <a:spLocks/>
              </p:cNvSpPr>
              <p:nvPr/>
            </p:nvSpPr>
            <p:spPr bwMode="auto">
              <a:xfrm>
                <a:off x="2717122" y="5635692"/>
                <a:ext cx="500214" cy="500212"/>
              </a:xfrm>
              <a:prstGeom prst="ellipse">
                <a:avLst/>
              </a:prstGeom>
              <a:solidFill>
                <a:schemeClr val="bg1"/>
              </a:solidFill>
              <a:ln w="127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ts val="100"/>
                  </a:spcBef>
                  <a:spcAft>
                    <a:spcPts val="100"/>
                  </a:spcAft>
                  <a:buClrTx/>
                  <a:buSzTx/>
                  <a:buFontTx/>
                  <a:buNone/>
                  <a:tabLst/>
                  <a:defRPr/>
                </a:pPr>
                <a:endParaRPr kumimoji="0" lang="en-US"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47" name="transform_2" title="Icon of a circle and a square with a curved arrow between them">
                <a:extLst>
                  <a:ext uri="{FF2B5EF4-FFF2-40B4-BE49-F238E27FC236}">
                    <a16:creationId xmlns:a16="http://schemas.microsoft.com/office/drawing/2014/main" id="{13276D40-0336-403F-801E-6FDBDE297085}"/>
                  </a:ext>
                </a:extLst>
              </p:cNvPr>
              <p:cNvSpPr>
                <a:spLocks noChangeAspect="1" noEditPoints="1"/>
              </p:cNvSpPr>
              <p:nvPr/>
            </p:nvSpPr>
            <p:spPr bwMode="auto">
              <a:xfrm>
                <a:off x="2845233" y="5770820"/>
                <a:ext cx="245435" cy="227328"/>
              </a:xfrm>
              <a:custGeom>
                <a:avLst/>
                <a:gdLst>
                  <a:gd name="T0" fmla="*/ 31 w 337"/>
                  <a:gd name="T1" fmla="*/ 210 h 311"/>
                  <a:gd name="T2" fmla="*/ 185 w 337"/>
                  <a:gd name="T3" fmla="*/ 56 h 311"/>
                  <a:gd name="T4" fmla="*/ 142 w 337"/>
                  <a:gd name="T5" fmla="*/ 108 h 311"/>
                  <a:gd name="T6" fmla="*/ 185 w 337"/>
                  <a:gd name="T7" fmla="*/ 56 h 311"/>
                  <a:gd name="T8" fmla="*/ 133 w 337"/>
                  <a:gd name="T9" fmla="*/ 13 h 311"/>
                  <a:gd name="T10" fmla="*/ 37 w 337"/>
                  <a:gd name="T11" fmla="*/ 311 h 311"/>
                  <a:gd name="T12" fmla="*/ 73 w 337"/>
                  <a:gd name="T13" fmla="*/ 274 h 311"/>
                  <a:gd name="T14" fmla="*/ 37 w 337"/>
                  <a:gd name="T15" fmla="*/ 238 h 311"/>
                  <a:gd name="T16" fmla="*/ 0 w 337"/>
                  <a:gd name="T17" fmla="*/ 274 h 311"/>
                  <a:gd name="T18" fmla="*/ 37 w 337"/>
                  <a:gd name="T19" fmla="*/ 311 h 311"/>
                  <a:gd name="T20" fmla="*/ 337 w 337"/>
                  <a:gd name="T21" fmla="*/ 0 h 311"/>
                  <a:gd name="T22" fmla="*/ 219 w 337"/>
                  <a:gd name="T23" fmla="*/ 0 h 311"/>
                  <a:gd name="T24" fmla="*/ 219 w 337"/>
                  <a:gd name="T25" fmla="*/ 118 h 311"/>
                  <a:gd name="T26" fmla="*/ 337 w 337"/>
                  <a:gd name="T27" fmla="*/ 118 h 311"/>
                  <a:gd name="T28" fmla="*/ 337 w 337"/>
                  <a:gd name="T29" fmla="*/ 0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37" h="311">
                    <a:moveTo>
                      <a:pt x="31" y="210"/>
                    </a:moveTo>
                    <a:cubicBezTo>
                      <a:pt x="31" y="125"/>
                      <a:pt x="100" y="56"/>
                      <a:pt x="185" y="56"/>
                    </a:cubicBezTo>
                    <a:moveTo>
                      <a:pt x="142" y="108"/>
                    </a:moveTo>
                    <a:cubicBezTo>
                      <a:pt x="185" y="56"/>
                      <a:pt x="185" y="56"/>
                      <a:pt x="185" y="56"/>
                    </a:cubicBezTo>
                    <a:cubicBezTo>
                      <a:pt x="133" y="13"/>
                      <a:pt x="133" y="13"/>
                      <a:pt x="133" y="13"/>
                    </a:cubicBezTo>
                    <a:moveTo>
                      <a:pt x="37" y="311"/>
                    </a:moveTo>
                    <a:cubicBezTo>
                      <a:pt x="56" y="311"/>
                      <a:pt x="73" y="294"/>
                      <a:pt x="73" y="274"/>
                    </a:cubicBezTo>
                    <a:cubicBezTo>
                      <a:pt x="73" y="254"/>
                      <a:pt x="56" y="238"/>
                      <a:pt x="37" y="238"/>
                    </a:cubicBezTo>
                    <a:cubicBezTo>
                      <a:pt x="17" y="238"/>
                      <a:pt x="0" y="254"/>
                      <a:pt x="0" y="274"/>
                    </a:cubicBezTo>
                    <a:cubicBezTo>
                      <a:pt x="0" y="294"/>
                      <a:pt x="17" y="311"/>
                      <a:pt x="37" y="311"/>
                    </a:cubicBezTo>
                    <a:close/>
                    <a:moveTo>
                      <a:pt x="337" y="0"/>
                    </a:moveTo>
                    <a:cubicBezTo>
                      <a:pt x="219" y="0"/>
                      <a:pt x="219" y="0"/>
                      <a:pt x="219" y="0"/>
                    </a:cubicBezTo>
                    <a:cubicBezTo>
                      <a:pt x="219" y="118"/>
                      <a:pt x="219" y="118"/>
                      <a:pt x="219" y="118"/>
                    </a:cubicBezTo>
                    <a:cubicBezTo>
                      <a:pt x="337" y="118"/>
                      <a:pt x="337" y="118"/>
                      <a:pt x="337" y="118"/>
                    </a:cubicBezTo>
                    <a:lnTo>
                      <a:pt x="337" y="0"/>
                    </a:lnTo>
                    <a:close/>
                  </a:path>
                </a:pathLst>
              </a:custGeom>
              <a:noFill/>
              <a:ln w="15875" cap="sq">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100"/>
                  </a:spcBef>
                  <a:spcAft>
                    <a:spcPts val="100"/>
                  </a:spcAft>
                  <a:buClrTx/>
                  <a:buSzTx/>
                  <a:buFontTx/>
                  <a:buNone/>
                  <a:tabLst/>
                  <a:defRPr/>
                </a:pPr>
                <a:endParaRPr kumimoji="0" lang="en-US" b="0" i="0" u="none" strike="noStrike" kern="1200" cap="none" spc="0" normalizeH="0" baseline="0" noProof="0">
                  <a:ln>
                    <a:noFill/>
                  </a:ln>
                  <a:solidFill>
                    <a:srgbClr val="000000"/>
                  </a:solidFill>
                  <a:effectLst/>
                  <a:uLnTx/>
                  <a:uFillTx/>
                  <a:latin typeface="Segoe UI"/>
                  <a:ea typeface="+mn-ea"/>
                  <a:cs typeface="+mn-cs"/>
                </a:endParaRPr>
              </a:p>
            </p:txBody>
          </p:sp>
        </p:grpSp>
      </p:grpSp>
      <p:sp>
        <p:nvSpPr>
          <p:cNvPr id="58" name="Footer Placeholder 13">
            <a:extLst>
              <a:ext uri="{FF2B5EF4-FFF2-40B4-BE49-F238E27FC236}">
                <a16:creationId xmlns:a16="http://schemas.microsoft.com/office/drawing/2014/main" id="{EB3B5255-A9F7-9A5C-BBD5-091030EA878D}"/>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5" name="Slide Number Placeholder 4">
            <a:extLst>
              <a:ext uri="{FF2B5EF4-FFF2-40B4-BE49-F238E27FC236}">
                <a16:creationId xmlns:a16="http://schemas.microsoft.com/office/drawing/2014/main" id="{42B4E946-82CC-C35F-86DF-7ED2BFD7B316}"/>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27</a:t>
            </a:fld>
            <a:endParaRPr lang="en-US" noProof="0"/>
          </a:p>
        </p:txBody>
      </p:sp>
    </p:spTree>
    <p:extLst>
      <p:ext uri="{BB962C8B-B14F-4D97-AF65-F5344CB8AC3E}">
        <p14:creationId xmlns:p14="http://schemas.microsoft.com/office/powerpoint/2010/main" val="2180051816"/>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EE6EB-9FB3-5DF6-7E30-0D8E882FB4F9}"/>
              </a:ext>
            </a:extLst>
          </p:cNvPr>
          <p:cNvSpPr>
            <a:spLocks noGrp="1"/>
          </p:cNvSpPr>
          <p:nvPr>
            <p:ph type="title"/>
          </p:nvPr>
        </p:nvSpPr>
        <p:spPr>
          <a:xfrm>
            <a:off x="588263" y="457200"/>
            <a:ext cx="11018520" cy="553998"/>
          </a:xfrm>
        </p:spPr>
        <p:txBody>
          <a:bodyPr/>
          <a:lstStyle/>
          <a:p>
            <a:r>
              <a:rPr lang="en-US"/>
              <a:t>Common pain points</a:t>
            </a:r>
          </a:p>
        </p:txBody>
      </p:sp>
      <p:grpSp>
        <p:nvGrpSpPr>
          <p:cNvPr id="3" name="Group 2">
            <a:extLst>
              <a:ext uri="{FF2B5EF4-FFF2-40B4-BE49-F238E27FC236}">
                <a16:creationId xmlns:a16="http://schemas.microsoft.com/office/drawing/2014/main" id="{3C231255-F1DA-8E4E-AB46-205B9E10487C}"/>
              </a:ext>
              <a:ext uri="{C183D7F6-B498-43B3-948B-1728B52AA6E4}">
                <adec:decorative xmlns:adec="http://schemas.microsoft.com/office/drawing/2017/decorative" val="1"/>
              </a:ext>
            </a:extLst>
          </p:cNvPr>
          <p:cNvGrpSpPr/>
          <p:nvPr/>
        </p:nvGrpSpPr>
        <p:grpSpPr>
          <a:xfrm>
            <a:off x="4399959" y="1462829"/>
            <a:ext cx="3392082" cy="4940300"/>
            <a:chOff x="4357780" y="1234142"/>
            <a:chExt cx="3392082" cy="4940300"/>
          </a:xfrm>
        </p:grpSpPr>
        <p:sp>
          <p:nvSpPr>
            <p:cNvPr id="18" name="Pain Point 2 - box">
              <a:extLst>
                <a:ext uri="{FF2B5EF4-FFF2-40B4-BE49-F238E27FC236}">
                  <a16:creationId xmlns:a16="http://schemas.microsoft.com/office/drawing/2014/main" id="{C52EC407-70D1-4044-A470-B5DC248D1D24}"/>
                </a:ext>
              </a:extLst>
            </p:cNvPr>
            <p:cNvSpPr/>
            <p:nvPr/>
          </p:nvSpPr>
          <p:spPr bwMode="auto">
            <a:xfrm>
              <a:off x="4357780" y="1234142"/>
              <a:ext cx="3392082" cy="4940300"/>
            </a:xfrm>
            <a:prstGeom prst="rect">
              <a:avLst/>
            </a:prstGeom>
            <a:solidFill>
              <a:srgbClr val="FBFBFB"/>
            </a:solidFill>
            <a:ln w="12700">
              <a:solidFill>
                <a:schemeClr val="bg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52400" tIns="121920" rIns="152400" bIns="121920" numCol="1" spcCol="0" rtlCol="0" fromWordArt="0" anchor="t"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defTabSz="777029" fontAlgn="base">
                <a:spcBef>
                  <a:spcPct val="0"/>
                </a:spcBef>
                <a:spcAft>
                  <a:spcPct val="0"/>
                </a:spcAft>
              </a:pPr>
              <a:endParaRPr lang="en-US" sz="1667" err="1">
                <a:solidFill>
                  <a:srgbClr val="FFFFFF"/>
                </a:solidFill>
                <a:latin typeface="Segoe UI"/>
                <a:ea typeface="Segoe UI" pitchFamily="34" charset="0"/>
                <a:cs typeface="Segoe UI" pitchFamily="34" charset="0"/>
              </a:endParaRPr>
            </a:p>
          </p:txBody>
        </p:sp>
        <p:cxnSp>
          <p:nvCxnSpPr>
            <p:cNvPr id="19" name="Line">
              <a:extLst>
                <a:ext uri="{FF2B5EF4-FFF2-40B4-BE49-F238E27FC236}">
                  <a16:creationId xmlns:a16="http://schemas.microsoft.com/office/drawing/2014/main" id="{202A479E-0956-1949-877A-51FADD63CC83}"/>
                </a:ext>
              </a:extLst>
            </p:cNvPr>
            <p:cNvCxnSpPr>
              <a:cxnSpLocks/>
            </p:cNvCxnSpPr>
            <p:nvPr/>
          </p:nvCxnSpPr>
          <p:spPr>
            <a:xfrm>
              <a:off x="5394408" y="3935265"/>
              <a:ext cx="1318824"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0" name="Pain Point 2 - graphic" descr="Icon&#10;&#10;Description automatically generated">
              <a:extLst>
                <a:ext uri="{FF2B5EF4-FFF2-40B4-BE49-F238E27FC236}">
                  <a16:creationId xmlns:a16="http://schemas.microsoft.com/office/drawing/2014/main" id="{94AA5CD9-26D8-0B42-B009-956A7CF02F1D}"/>
                </a:ext>
              </a:extLst>
            </p:cNvPr>
            <p:cNvPicPr>
              <a:picLocks noChangeAspect="1"/>
            </p:cNvPicPr>
            <p:nvPr/>
          </p:nvPicPr>
          <p:blipFill>
            <a:blip r:embed="rId3"/>
            <a:stretch>
              <a:fillRect/>
            </a:stretch>
          </p:blipFill>
          <p:spPr>
            <a:xfrm>
              <a:off x="5270592" y="1486022"/>
              <a:ext cx="1485604" cy="891363"/>
            </a:xfrm>
            <a:prstGeom prst="rect">
              <a:avLst/>
            </a:prstGeom>
          </p:spPr>
        </p:pic>
      </p:grpSp>
      <p:grpSp>
        <p:nvGrpSpPr>
          <p:cNvPr id="4" name="Group 3">
            <a:extLst>
              <a:ext uri="{FF2B5EF4-FFF2-40B4-BE49-F238E27FC236}">
                <a16:creationId xmlns:a16="http://schemas.microsoft.com/office/drawing/2014/main" id="{C8DC3178-7561-FB41-9493-76A4D2CC9B74}"/>
              </a:ext>
              <a:ext uri="{C183D7F6-B498-43B3-948B-1728B52AA6E4}">
                <adec:decorative xmlns:adec="http://schemas.microsoft.com/office/drawing/2017/decorative" val="1"/>
              </a:ext>
            </a:extLst>
          </p:cNvPr>
          <p:cNvGrpSpPr/>
          <p:nvPr/>
        </p:nvGrpSpPr>
        <p:grpSpPr>
          <a:xfrm>
            <a:off x="814332" y="1447887"/>
            <a:ext cx="3392082" cy="4940300"/>
            <a:chOff x="772153" y="1219200"/>
            <a:chExt cx="3392082" cy="4940300"/>
          </a:xfrm>
        </p:grpSpPr>
        <p:sp>
          <p:nvSpPr>
            <p:cNvPr id="15" name="Pain Point 1 - box">
              <a:extLst>
                <a:ext uri="{FF2B5EF4-FFF2-40B4-BE49-F238E27FC236}">
                  <a16:creationId xmlns:a16="http://schemas.microsoft.com/office/drawing/2014/main" id="{B6F0EA37-7CD6-D44F-AEC9-E421DC690EE2}"/>
                </a:ext>
              </a:extLst>
            </p:cNvPr>
            <p:cNvSpPr/>
            <p:nvPr/>
          </p:nvSpPr>
          <p:spPr bwMode="auto">
            <a:xfrm>
              <a:off x="772153" y="1219200"/>
              <a:ext cx="3392082" cy="4940300"/>
            </a:xfrm>
            <a:prstGeom prst="rect">
              <a:avLst/>
            </a:prstGeom>
            <a:solidFill>
              <a:srgbClr val="FBFBFB"/>
            </a:solidFill>
            <a:ln w="12700">
              <a:solidFill>
                <a:schemeClr val="bg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52400" tIns="121920" rIns="152400" bIns="121920" numCol="1" spcCol="0" rtlCol="0" fromWordArt="0" anchor="t"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defTabSz="777029" fontAlgn="base">
                <a:spcBef>
                  <a:spcPct val="0"/>
                </a:spcBef>
                <a:spcAft>
                  <a:spcPct val="0"/>
                </a:spcAft>
              </a:pPr>
              <a:endParaRPr lang="en-US" sz="1667" err="1">
                <a:solidFill>
                  <a:srgbClr val="FFFFFF"/>
                </a:solidFill>
                <a:latin typeface="Segoe UI"/>
                <a:ea typeface="Segoe UI" pitchFamily="34" charset="0"/>
                <a:cs typeface="Segoe UI" pitchFamily="34" charset="0"/>
              </a:endParaRPr>
            </a:p>
          </p:txBody>
        </p:sp>
        <p:cxnSp>
          <p:nvCxnSpPr>
            <p:cNvPr id="16" name="Line">
              <a:extLst>
                <a:ext uri="{FF2B5EF4-FFF2-40B4-BE49-F238E27FC236}">
                  <a16:creationId xmlns:a16="http://schemas.microsoft.com/office/drawing/2014/main" id="{E3208159-CE63-3845-BB06-F7F49F1ADF30}"/>
                </a:ext>
              </a:extLst>
            </p:cNvPr>
            <p:cNvCxnSpPr>
              <a:cxnSpLocks/>
            </p:cNvCxnSpPr>
            <p:nvPr/>
          </p:nvCxnSpPr>
          <p:spPr>
            <a:xfrm>
              <a:off x="1808781" y="3920323"/>
              <a:ext cx="1318824"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7" name="Pain Point 1 - graphic" descr="Icon&#10;&#10;Description automatically generated">
              <a:extLst>
                <a:ext uri="{FF2B5EF4-FFF2-40B4-BE49-F238E27FC236}">
                  <a16:creationId xmlns:a16="http://schemas.microsoft.com/office/drawing/2014/main" id="{6D5B2A46-053D-8C43-A60F-4AEE1405BEF7}"/>
                </a:ext>
              </a:extLst>
            </p:cNvPr>
            <p:cNvPicPr>
              <a:picLocks noChangeAspect="1"/>
            </p:cNvPicPr>
            <p:nvPr/>
          </p:nvPicPr>
          <p:blipFill>
            <a:blip r:embed="rId3"/>
            <a:stretch>
              <a:fillRect/>
            </a:stretch>
          </p:blipFill>
          <p:spPr>
            <a:xfrm>
              <a:off x="1684965" y="1471080"/>
              <a:ext cx="1485604" cy="891363"/>
            </a:xfrm>
            <a:prstGeom prst="rect">
              <a:avLst/>
            </a:prstGeom>
          </p:spPr>
        </p:pic>
      </p:grpSp>
      <p:grpSp>
        <p:nvGrpSpPr>
          <p:cNvPr id="5" name="Group 4">
            <a:extLst>
              <a:ext uri="{FF2B5EF4-FFF2-40B4-BE49-F238E27FC236}">
                <a16:creationId xmlns:a16="http://schemas.microsoft.com/office/drawing/2014/main" id="{4AC2CF61-474B-E24D-AA89-B282F5821FB9}"/>
              </a:ext>
              <a:ext uri="{C183D7F6-B498-43B3-948B-1728B52AA6E4}">
                <adec:decorative xmlns:adec="http://schemas.microsoft.com/office/drawing/2017/decorative" val="1"/>
              </a:ext>
            </a:extLst>
          </p:cNvPr>
          <p:cNvGrpSpPr/>
          <p:nvPr/>
        </p:nvGrpSpPr>
        <p:grpSpPr>
          <a:xfrm>
            <a:off x="7985586" y="1462829"/>
            <a:ext cx="3392082" cy="4940300"/>
            <a:chOff x="7943407" y="1234142"/>
            <a:chExt cx="3392082" cy="4940300"/>
          </a:xfrm>
        </p:grpSpPr>
        <p:sp>
          <p:nvSpPr>
            <p:cNvPr id="12" name="Pain Point 3 - box">
              <a:extLst>
                <a:ext uri="{FF2B5EF4-FFF2-40B4-BE49-F238E27FC236}">
                  <a16:creationId xmlns:a16="http://schemas.microsoft.com/office/drawing/2014/main" id="{70207A9C-2BDF-ED43-95F0-0A4E7449BB4D}"/>
                </a:ext>
              </a:extLst>
            </p:cNvPr>
            <p:cNvSpPr/>
            <p:nvPr/>
          </p:nvSpPr>
          <p:spPr bwMode="auto">
            <a:xfrm>
              <a:off x="7943407" y="1234142"/>
              <a:ext cx="3392082" cy="4940300"/>
            </a:xfrm>
            <a:prstGeom prst="rect">
              <a:avLst/>
            </a:prstGeom>
            <a:solidFill>
              <a:srgbClr val="FBFBFB"/>
            </a:solidFill>
            <a:ln w="12700">
              <a:solidFill>
                <a:schemeClr val="bg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52400" tIns="121920" rIns="152400" bIns="121920" numCol="1" spcCol="0" rtlCol="0" fromWordArt="0" anchor="t"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defTabSz="777029" fontAlgn="base">
                <a:spcBef>
                  <a:spcPct val="0"/>
                </a:spcBef>
                <a:spcAft>
                  <a:spcPct val="0"/>
                </a:spcAft>
              </a:pPr>
              <a:endParaRPr lang="en-US" sz="1667" err="1">
                <a:solidFill>
                  <a:srgbClr val="FFFFFF"/>
                </a:solidFill>
                <a:latin typeface="Segoe UI"/>
                <a:ea typeface="Segoe UI" pitchFamily="34" charset="0"/>
                <a:cs typeface="Segoe UI" pitchFamily="34" charset="0"/>
              </a:endParaRPr>
            </a:p>
          </p:txBody>
        </p:sp>
        <p:cxnSp>
          <p:nvCxnSpPr>
            <p:cNvPr id="13" name="Line">
              <a:extLst>
                <a:ext uri="{FF2B5EF4-FFF2-40B4-BE49-F238E27FC236}">
                  <a16:creationId xmlns:a16="http://schemas.microsoft.com/office/drawing/2014/main" id="{95283C47-BD2D-D140-8947-F73267046DC6}"/>
                </a:ext>
              </a:extLst>
            </p:cNvPr>
            <p:cNvCxnSpPr>
              <a:cxnSpLocks/>
            </p:cNvCxnSpPr>
            <p:nvPr/>
          </p:nvCxnSpPr>
          <p:spPr>
            <a:xfrm>
              <a:off x="8980035" y="3935265"/>
              <a:ext cx="1318824" cy="0"/>
            </a:xfrm>
            <a:prstGeom prst="line">
              <a:avLst/>
            </a:prstGeom>
            <a:solidFill>
              <a:srgbClr val="FBFBFB"/>
            </a:solidFill>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4" name="Pain Point 3 - graphic" descr="Icon&#10;&#10;Description automatically generated">
              <a:extLst>
                <a:ext uri="{FF2B5EF4-FFF2-40B4-BE49-F238E27FC236}">
                  <a16:creationId xmlns:a16="http://schemas.microsoft.com/office/drawing/2014/main" id="{DD9894AB-C84A-0F45-8129-0B82E33BFF06}"/>
                </a:ext>
              </a:extLst>
            </p:cNvPr>
            <p:cNvPicPr>
              <a:picLocks noChangeAspect="1"/>
            </p:cNvPicPr>
            <p:nvPr/>
          </p:nvPicPr>
          <p:blipFill>
            <a:blip r:embed="rId3"/>
            <a:stretch>
              <a:fillRect/>
            </a:stretch>
          </p:blipFill>
          <p:spPr>
            <a:xfrm>
              <a:off x="8856219" y="1486022"/>
              <a:ext cx="1485604" cy="891363"/>
            </a:xfrm>
            <a:prstGeom prst="rect">
              <a:avLst/>
            </a:prstGeom>
            <a:solidFill>
              <a:srgbClr val="FBFBFB"/>
            </a:solidFill>
          </p:spPr>
        </p:pic>
      </p:grpSp>
      <p:sp>
        <p:nvSpPr>
          <p:cNvPr id="6" name="Pain Point 3 - text">
            <a:extLst>
              <a:ext uri="{FF2B5EF4-FFF2-40B4-BE49-F238E27FC236}">
                <a16:creationId xmlns:a16="http://schemas.microsoft.com/office/drawing/2014/main" id="{8590F634-BCC4-5846-931D-F46BA46C46DD}"/>
              </a:ext>
            </a:extLst>
          </p:cNvPr>
          <p:cNvSpPr txBox="1">
            <a:spLocks/>
          </p:cNvSpPr>
          <p:nvPr/>
        </p:nvSpPr>
        <p:spPr>
          <a:xfrm>
            <a:off x="8146204" y="4778385"/>
            <a:ext cx="3105523" cy="1483105"/>
          </a:xfrm>
          <a:prstGeom prst="rect">
            <a:avLst/>
          </a:prstGeom>
          <a:solidFill>
            <a:srgbClr val="FBFBFB"/>
          </a:solidFill>
        </p:spPr>
        <p:txBody>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indent="0" defTabSz="914363">
              <a:spcBef>
                <a:spcPts val="0"/>
              </a:spcBef>
              <a:spcAft>
                <a:spcPts val="1000"/>
              </a:spcAft>
              <a:buSzTx/>
              <a:defRPr/>
            </a:pPr>
            <a:r>
              <a:rPr lang="en-US" sz="1200">
                <a:solidFill>
                  <a:srgbClr val="000000"/>
                </a:solidFill>
                <a:latin typeface="Segoe UI"/>
                <a:cs typeface="Segoe UI Semibold" panose="020B0502040204020203" pitchFamily="34" charset="0"/>
              </a:rPr>
              <a:t>Need for</a:t>
            </a:r>
            <a:r>
              <a:rPr lang="en-US" sz="1200" b="1">
                <a:solidFill>
                  <a:srgbClr val="000000"/>
                </a:solidFill>
                <a:latin typeface="Segoe UI"/>
                <a:cs typeface="Segoe UI Semibold" panose="020B0502040204020203" pitchFamily="34" charset="0"/>
              </a:rPr>
              <a:t> native data protection </a:t>
            </a:r>
            <a:r>
              <a:rPr lang="en-US" sz="1200">
                <a:solidFill>
                  <a:srgbClr val="000000"/>
                </a:solidFill>
                <a:latin typeface="Segoe UI"/>
                <a:cs typeface="Segoe UI Semibold" panose="020B0502040204020203" pitchFamily="34" charset="0"/>
              </a:rPr>
              <a:t>solutions to backup and restore stateful applications</a:t>
            </a:r>
          </a:p>
          <a:p>
            <a:pPr marL="0" indent="0" defTabSz="914363">
              <a:spcBef>
                <a:spcPts val="0"/>
              </a:spcBef>
              <a:spcAft>
                <a:spcPts val="1000"/>
              </a:spcAft>
              <a:buSzTx/>
              <a:defRPr/>
            </a:pPr>
            <a:r>
              <a:rPr lang="en-US" sz="1200" b="1">
                <a:solidFill>
                  <a:srgbClr val="000000"/>
                </a:solidFill>
                <a:latin typeface="Segoe UI"/>
                <a:ea typeface="Segoe Semibold" charset="0"/>
                <a:cs typeface="Segoe UI Semibold" panose="020B0502040204020203" pitchFamily="34" charset="0"/>
              </a:rPr>
              <a:t>Complexity of </a:t>
            </a:r>
            <a:r>
              <a:rPr lang="en-US" sz="1200">
                <a:solidFill>
                  <a:srgbClr val="000000"/>
                </a:solidFill>
                <a:latin typeface="Segoe UI"/>
                <a:ea typeface="Segoe Semibold" charset="0"/>
                <a:cs typeface="Segoe UI Semibold" panose="020B0502040204020203" pitchFamily="34" charset="0"/>
              </a:rPr>
              <a:t>in &amp; cross cluster recovery of data intensive workloads</a:t>
            </a:r>
          </a:p>
        </p:txBody>
      </p:sp>
      <p:sp>
        <p:nvSpPr>
          <p:cNvPr id="7" name="Pain Point 3 - title">
            <a:extLst>
              <a:ext uri="{FF2B5EF4-FFF2-40B4-BE49-F238E27FC236}">
                <a16:creationId xmlns:a16="http://schemas.microsoft.com/office/drawing/2014/main" id="{9BF3C15C-F989-4146-85EB-C86B8F5B8489}"/>
              </a:ext>
            </a:extLst>
          </p:cNvPr>
          <p:cNvSpPr/>
          <p:nvPr/>
        </p:nvSpPr>
        <p:spPr bwMode="auto">
          <a:xfrm>
            <a:off x="8002314" y="2577340"/>
            <a:ext cx="3358626" cy="947352"/>
          </a:xfrm>
          <a:prstGeom prst="rect">
            <a:avLst/>
          </a:prstGeom>
          <a:solidFill>
            <a:srgbClr val="FBFBFB"/>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52400" tIns="121920" rIns="152400" bIns="121920" numCol="1" spcCol="0" rtlCol="0" fromWordArt="0" anchor="t"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algn="ctr" defTabSz="777029" fontAlgn="base">
              <a:spcBef>
                <a:spcPct val="0"/>
              </a:spcBef>
              <a:spcAft>
                <a:spcPct val="0"/>
              </a:spcAft>
            </a:pPr>
            <a:r>
              <a:rPr lang="en-US" sz="2000">
                <a:solidFill>
                  <a:srgbClr val="000000"/>
                </a:solidFill>
                <a:latin typeface="Segoe UI"/>
              </a:rPr>
              <a:t>Pain point #3</a:t>
            </a:r>
          </a:p>
          <a:p>
            <a:pPr algn="ctr" defTabSz="777029" fontAlgn="base">
              <a:spcBef>
                <a:spcPct val="0"/>
              </a:spcBef>
              <a:spcAft>
                <a:spcPct val="0"/>
              </a:spcAft>
            </a:pPr>
            <a:endParaRPr lang="en-US" sz="2000">
              <a:solidFill>
                <a:srgbClr val="000000"/>
              </a:solidFill>
              <a:latin typeface="Segoe UI"/>
            </a:endParaRPr>
          </a:p>
          <a:p>
            <a:pPr algn="ctr" defTabSz="777029" fontAlgn="base">
              <a:spcBef>
                <a:spcPct val="0"/>
              </a:spcBef>
              <a:spcAft>
                <a:spcPct val="0"/>
              </a:spcAft>
            </a:pPr>
            <a:r>
              <a:rPr lang="en-US" sz="2000">
                <a:solidFill>
                  <a:srgbClr val="2378D4"/>
                </a:solidFill>
                <a:latin typeface="Segoe UI Semibold"/>
              </a:rPr>
              <a:t>Data protection &amp; recovery</a:t>
            </a:r>
          </a:p>
        </p:txBody>
      </p:sp>
      <p:sp>
        <p:nvSpPr>
          <p:cNvPr id="8" name="Pain Point 2 - text">
            <a:extLst>
              <a:ext uri="{FF2B5EF4-FFF2-40B4-BE49-F238E27FC236}">
                <a16:creationId xmlns:a16="http://schemas.microsoft.com/office/drawing/2014/main" id="{12EC3C34-A67F-634D-B224-2D2047F25077}"/>
              </a:ext>
            </a:extLst>
          </p:cNvPr>
          <p:cNvSpPr txBox="1">
            <a:spLocks/>
          </p:cNvSpPr>
          <p:nvPr/>
        </p:nvSpPr>
        <p:spPr>
          <a:xfrm>
            <a:off x="4534430" y="4778385"/>
            <a:ext cx="3131669" cy="1483107"/>
          </a:xfrm>
          <a:prstGeom prst="rect">
            <a:avLst/>
          </a:prstGeom>
        </p:spPr>
        <p:txBody>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indent="0" defTabSz="914363">
              <a:spcBef>
                <a:spcPts val="0"/>
              </a:spcBef>
              <a:spcAft>
                <a:spcPts val="1000"/>
              </a:spcAft>
              <a:buSzTx/>
              <a:defRPr/>
            </a:pPr>
            <a:r>
              <a:rPr lang="en-US" sz="1200">
                <a:latin typeface="Segoe UI"/>
                <a:cs typeface="Segoe UI Semibold" panose="020B0502040204020203" pitchFamily="34" charset="0"/>
              </a:rPr>
              <a:t>Ability to </a:t>
            </a:r>
            <a:r>
              <a:rPr lang="en-US" sz="1200" b="1">
                <a:latin typeface="Segoe UI"/>
                <a:cs typeface="Segoe UI Semibold" panose="020B0502040204020203" pitchFamily="34" charset="0"/>
              </a:rPr>
              <a:t>scale out and scale up</a:t>
            </a:r>
            <a:r>
              <a:rPr lang="en-US" sz="1200">
                <a:latin typeface="Segoe UI"/>
                <a:cs typeface="Segoe UI Semibold" panose="020B0502040204020203" pitchFamily="34" charset="0"/>
              </a:rPr>
              <a:t> dynamically and without downtime </a:t>
            </a:r>
          </a:p>
          <a:p>
            <a:pPr marL="0" indent="0" defTabSz="914363">
              <a:spcBef>
                <a:spcPts val="0"/>
              </a:spcBef>
              <a:spcAft>
                <a:spcPts val="1000"/>
              </a:spcAft>
              <a:buSzTx/>
              <a:defRPr/>
            </a:pPr>
            <a:r>
              <a:rPr lang="en-US" sz="1200" b="1">
                <a:solidFill>
                  <a:srgbClr val="000000"/>
                </a:solidFill>
                <a:latin typeface="Segoe UI"/>
                <a:ea typeface="Segoe Semibold" charset="0"/>
                <a:cs typeface="Segoe UI Semibold" panose="020B0502040204020203" pitchFamily="34" charset="0"/>
              </a:rPr>
              <a:t>Pinpoint throttling </a:t>
            </a:r>
            <a:r>
              <a:rPr lang="en-US" sz="1200">
                <a:solidFill>
                  <a:srgbClr val="000000"/>
                </a:solidFill>
                <a:latin typeface="Segoe UI"/>
                <a:ea typeface="Segoe Semibold" charset="0"/>
                <a:cs typeface="Segoe UI Semibold" panose="020B0502040204020203" pitchFamily="34" charset="0"/>
              </a:rPr>
              <a:t>to identify when and which components should be scaled out prior to application being impacted</a:t>
            </a:r>
          </a:p>
          <a:p>
            <a:pPr marL="0" indent="0" defTabSz="914363">
              <a:spcBef>
                <a:spcPts val="0"/>
              </a:spcBef>
              <a:spcAft>
                <a:spcPts val="1000"/>
              </a:spcAft>
              <a:buSzTx/>
              <a:defRPr/>
            </a:pPr>
            <a:endParaRPr lang="en-US" sz="1200">
              <a:solidFill>
                <a:srgbClr val="000000"/>
              </a:solidFill>
              <a:latin typeface="Segoe UI"/>
              <a:ea typeface="Segoe Semibold" charset="0"/>
              <a:cs typeface="Segoe UI Semibold" panose="020B0502040204020203" pitchFamily="34" charset="0"/>
            </a:endParaRPr>
          </a:p>
        </p:txBody>
      </p:sp>
      <p:sp>
        <p:nvSpPr>
          <p:cNvPr id="9" name="Pain Point 2 - title">
            <a:extLst>
              <a:ext uri="{FF2B5EF4-FFF2-40B4-BE49-F238E27FC236}">
                <a16:creationId xmlns:a16="http://schemas.microsoft.com/office/drawing/2014/main" id="{49A4CD01-B9D1-E248-8148-99580AD50396}"/>
              </a:ext>
            </a:extLst>
          </p:cNvPr>
          <p:cNvSpPr/>
          <p:nvPr/>
        </p:nvSpPr>
        <p:spPr bwMode="auto">
          <a:xfrm>
            <a:off x="4416687" y="2577340"/>
            <a:ext cx="3358626" cy="94735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52400" tIns="121920" rIns="152400" bIns="121920" numCol="1" spcCol="0" rtlCol="0" fromWordArt="0" anchor="t"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algn="ctr" defTabSz="777029" fontAlgn="base">
              <a:spcBef>
                <a:spcPct val="0"/>
              </a:spcBef>
              <a:spcAft>
                <a:spcPct val="0"/>
              </a:spcAft>
            </a:pPr>
            <a:r>
              <a:rPr lang="en-US" sz="2000">
                <a:solidFill>
                  <a:srgbClr val="000000"/>
                </a:solidFill>
                <a:latin typeface="Segoe UI"/>
              </a:rPr>
              <a:t>Pain point #2</a:t>
            </a:r>
          </a:p>
          <a:p>
            <a:pPr algn="ctr" defTabSz="777029" fontAlgn="base">
              <a:spcBef>
                <a:spcPct val="0"/>
              </a:spcBef>
              <a:spcAft>
                <a:spcPct val="0"/>
              </a:spcAft>
            </a:pPr>
            <a:endParaRPr lang="en-US" sz="2000">
              <a:solidFill>
                <a:srgbClr val="000000"/>
              </a:solidFill>
              <a:latin typeface="Segoe UI"/>
            </a:endParaRPr>
          </a:p>
          <a:p>
            <a:pPr algn="ctr" defTabSz="777029" fontAlgn="base">
              <a:spcBef>
                <a:spcPct val="0"/>
              </a:spcBef>
              <a:spcAft>
                <a:spcPct val="0"/>
              </a:spcAft>
            </a:pPr>
            <a:r>
              <a:rPr lang="en-US" sz="2000">
                <a:solidFill>
                  <a:srgbClr val="2378D4"/>
                </a:solidFill>
                <a:latin typeface="Segoe UI Semibold"/>
              </a:rPr>
              <a:t>Scaling stateful production workload</a:t>
            </a:r>
          </a:p>
        </p:txBody>
      </p:sp>
      <p:sp>
        <p:nvSpPr>
          <p:cNvPr id="10" name="Pain Point 1 - text">
            <a:extLst>
              <a:ext uri="{FF2B5EF4-FFF2-40B4-BE49-F238E27FC236}">
                <a16:creationId xmlns:a16="http://schemas.microsoft.com/office/drawing/2014/main" id="{A9B6388F-13B8-1045-8764-3C017F22F372}"/>
              </a:ext>
            </a:extLst>
          </p:cNvPr>
          <p:cNvSpPr txBox="1">
            <a:spLocks/>
          </p:cNvSpPr>
          <p:nvPr/>
        </p:nvSpPr>
        <p:spPr>
          <a:xfrm>
            <a:off x="968879" y="4778385"/>
            <a:ext cx="3111594" cy="1724101"/>
          </a:xfrm>
          <a:prstGeom prst="rect">
            <a:avLst/>
          </a:prstGeom>
        </p:spPr>
        <p:txBody>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indent="0" defTabSz="914363">
              <a:spcBef>
                <a:spcPts val="0"/>
              </a:spcBef>
              <a:spcAft>
                <a:spcPts val="1000"/>
              </a:spcAft>
              <a:buSzTx/>
              <a:defRPr/>
            </a:pPr>
            <a:r>
              <a:rPr lang="en-US" sz="1200">
                <a:solidFill>
                  <a:srgbClr val="000000"/>
                </a:solidFill>
                <a:latin typeface="Segoe UI"/>
                <a:cs typeface="Segoe UI Semibold" panose="020B0502040204020203" pitchFamily="34" charset="0"/>
              </a:rPr>
              <a:t>Navigating storage options to choose based on </a:t>
            </a:r>
            <a:r>
              <a:rPr lang="en-US" sz="1200" b="1">
                <a:solidFill>
                  <a:srgbClr val="000000"/>
                </a:solidFill>
                <a:latin typeface="Segoe UI"/>
                <a:cs typeface="Segoe UI Semibold" panose="020B0502040204020203" pitchFamily="34" charset="0"/>
              </a:rPr>
              <a:t>workload, performance </a:t>
            </a:r>
            <a:r>
              <a:rPr lang="en-US" sz="1200">
                <a:solidFill>
                  <a:srgbClr val="000000"/>
                </a:solidFill>
                <a:latin typeface="Segoe UI"/>
                <a:cs typeface="Segoe UI Semibold" panose="020B0502040204020203" pitchFamily="34" charset="0"/>
              </a:rPr>
              <a:t>or</a:t>
            </a:r>
            <a:r>
              <a:rPr lang="en-US" sz="1200" b="1">
                <a:solidFill>
                  <a:srgbClr val="000000"/>
                </a:solidFill>
                <a:latin typeface="Segoe UI"/>
                <a:cs typeface="Segoe UI Semibold" panose="020B0502040204020203" pitchFamily="34" charset="0"/>
              </a:rPr>
              <a:t> cost</a:t>
            </a:r>
          </a:p>
          <a:p>
            <a:pPr marL="0" indent="0" defTabSz="914363">
              <a:spcBef>
                <a:spcPts val="0"/>
              </a:spcBef>
              <a:spcAft>
                <a:spcPts val="1000"/>
              </a:spcAft>
              <a:buSzTx/>
              <a:defRPr/>
            </a:pPr>
            <a:r>
              <a:rPr lang="en-US" sz="1200">
                <a:solidFill>
                  <a:srgbClr val="000000"/>
                </a:solidFill>
                <a:latin typeface="Segoe UI"/>
                <a:ea typeface="Segoe Semibold" charset="0"/>
                <a:cs typeface="Segoe UI Semibold" panose="020B0502040204020203" pitchFamily="34" charset="0"/>
              </a:rPr>
              <a:t>Developers find it hard to balance </a:t>
            </a:r>
            <a:r>
              <a:rPr lang="en-US" sz="1200" b="1">
                <a:solidFill>
                  <a:srgbClr val="000000"/>
                </a:solidFill>
                <a:latin typeface="Segoe UI"/>
                <a:ea typeface="Segoe Semibold" charset="0"/>
                <a:cs typeface="Segoe UI Semibold" panose="020B0502040204020203" pitchFamily="34" charset="0"/>
              </a:rPr>
              <a:t>price performance </a:t>
            </a:r>
            <a:r>
              <a:rPr lang="en-US" sz="1200">
                <a:solidFill>
                  <a:srgbClr val="000000"/>
                </a:solidFill>
                <a:latin typeface="Segoe UI"/>
                <a:ea typeface="Segoe Semibold" charset="0"/>
                <a:cs typeface="Segoe UI Semibold" panose="020B0502040204020203" pitchFamily="34" charset="0"/>
              </a:rPr>
              <a:t>options leading to high cost</a:t>
            </a:r>
          </a:p>
        </p:txBody>
      </p:sp>
      <p:sp>
        <p:nvSpPr>
          <p:cNvPr id="11" name="Pain Point 1 - title">
            <a:extLst>
              <a:ext uri="{FF2B5EF4-FFF2-40B4-BE49-F238E27FC236}">
                <a16:creationId xmlns:a16="http://schemas.microsoft.com/office/drawing/2014/main" id="{1E828B76-711D-474D-B85B-6AC8217E1558}"/>
              </a:ext>
            </a:extLst>
          </p:cNvPr>
          <p:cNvSpPr/>
          <p:nvPr/>
        </p:nvSpPr>
        <p:spPr bwMode="auto">
          <a:xfrm>
            <a:off x="831060" y="2562398"/>
            <a:ext cx="3358626" cy="79198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52400" tIns="121920" rIns="152400" bIns="121920" numCol="1" spcCol="0" rtlCol="0" fromWordArt="0" anchor="t"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algn="ctr" defTabSz="777029" fontAlgn="base">
              <a:spcBef>
                <a:spcPct val="0"/>
              </a:spcBef>
              <a:spcAft>
                <a:spcPct val="0"/>
              </a:spcAft>
            </a:pPr>
            <a:r>
              <a:rPr lang="en-US" sz="2000">
                <a:solidFill>
                  <a:srgbClr val="000000"/>
                </a:solidFill>
                <a:latin typeface="Segoe UI"/>
              </a:rPr>
              <a:t>Pain point #1</a:t>
            </a:r>
          </a:p>
          <a:p>
            <a:pPr algn="ctr" defTabSz="777029" fontAlgn="base">
              <a:spcBef>
                <a:spcPct val="0"/>
              </a:spcBef>
              <a:spcAft>
                <a:spcPct val="0"/>
              </a:spcAft>
            </a:pPr>
            <a:endParaRPr lang="en-US" sz="2000">
              <a:solidFill>
                <a:srgbClr val="000000"/>
              </a:solidFill>
              <a:latin typeface="Segoe UI"/>
            </a:endParaRPr>
          </a:p>
          <a:p>
            <a:pPr algn="ctr" defTabSz="777029" fontAlgn="base">
              <a:spcBef>
                <a:spcPct val="0"/>
              </a:spcBef>
              <a:spcAft>
                <a:spcPct val="0"/>
              </a:spcAft>
            </a:pPr>
            <a:r>
              <a:rPr lang="en-US" sz="2000">
                <a:solidFill>
                  <a:srgbClr val="2378D4"/>
                </a:solidFill>
                <a:latin typeface="Segoe UI Semibold"/>
              </a:rPr>
              <a:t>Choosing the right storage option</a:t>
            </a:r>
          </a:p>
        </p:txBody>
      </p:sp>
    </p:spTree>
    <p:extLst>
      <p:ext uri="{BB962C8B-B14F-4D97-AF65-F5344CB8AC3E}">
        <p14:creationId xmlns:p14="http://schemas.microsoft.com/office/powerpoint/2010/main" val="2446153747"/>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001136A5-D616-2A91-EF85-9ACA0162E776}"/>
              </a:ext>
              <a:ext uri="{C183D7F6-B498-43B3-948B-1728B52AA6E4}">
                <adec:decorative xmlns:adec="http://schemas.microsoft.com/office/drawing/2017/decorative" val="1"/>
              </a:ext>
            </a:extLst>
          </p:cNvPr>
          <p:cNvSpPr>
            <a:spLocks/>
          </p:cNvSpPr>
          <p:nvPr/>
        </p:nvSpPr>
        <p:spPr bwMode="auto">
          <a:xfrm>
            <a:off x="572090" y="1924050"/>
            <a:ext cx="6672533" cy="4418183"/>
          </a:xfrm>
          <a:prstGeom prst="rect">
            <a:avLst/>
          </a:prstGeom>
          <a:solidFill>
            <a:srgbClr val="FFFFFF"/>
          </a:solidFill>
          <a:ln w="6350" cap="flat" cmpd="sng" algn="ctr">
            <a:noFill/>
            <a:prstDash val="solid"/>
            <a:miter lim="800000"/>
            <a:headEnd type="none" w="med" len="med"/>
            <a:tailEnd type="none" w="med" len="med"/>
          </a:ln>
          <a:effectLst>
            <a:outerShdw blurRad="63500" algn="ctr" rotWithShape="0">
              <a:prstClr val="black">
                <a:alpha val="10000"/>
              </a:prstClr>
            </a:outerShdw>
          </a:effectLst>
        </p:spPr>
        <p:txBody>
          <a:bodyPr rot="0" spcFirstLastPara="0" vertOverflow="overflow" horzOverflow="overflow" vert="horz" wrap="square" lIns="175761" tIns="140609" rIns="175761" bIns="140609" numCol="1" spcCol="0" rtlCol="0" fromWordArt="0" anchor="t" anchorCtr="0" forceAA="0" compatLnSpc="1">
            <a:prstTxWarp prst="textNoShape">
              <a:avLst/>
            </a:prstTxWarp>
            <a:noAutofit/>
          </a:bodyPr>
          <a:lstStyle/>
          <a:p>
            <a:pPr defTabSz="896094" fontAlgn="base">
              <a:spcBef>
                <a:spcPct val="0"/>
              </a:spcBef>
              <a:spcAft>
                <a:spcPct val="0"/>
              </a:spcAft>
              <a:defRPr/>
            </a:pPr>
            <a:r>
              <a:rPr lang="en-US" sz="1922" kern="0">
                <a:cs typeface="Segoe UI" pitchFamily="34" charset="0"/>
              </a:rPr>
              <a:t> </a:t>
            </a:r>
          </a:p>
        </p:txBody>
      </p:sp>
      <p:sp>
        <p:nvSpPr>
          <p:cNvPr id="20" name="Rectangle 19">
            <a:extLst>
              <a:ext uri="{FF2B5EF4-FFF2-40B4-BE49-F238E27FC236}">
                <a16:creationId xmlns:a16="http://schemas.microsoft.com/office/drawing/2014/main" id="{CFAC6FD6-670D-88C1-E3BE-457369B09F7F}"/>
              </a:ext>
              <a:ext uri="{C183D7F6-B498-43B3-948B-1728B52AA6E4}">
                <adec:decorative xmlns:adec="http://schemas.microsoft.com/office/drawing/2017/decorative" val="1"/>
              </a:ext>
            </a:extLst>
          </p:cNvPr>
          <p:cNvSpPr/>
          <p:nvPr/>
        </p:nvSpPr>
        <p:spPr bwMode="auto">
          <a:xfrm>
            <a:off x="7175500" y="487"/>
            <a:ext cx="5033091" cy="685702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IN" sz="2000">
              <a:solidFill>
                <a:srgbClr val="FFFFFF"/>
              </a:solidFill>
              <a:cs typeface="Segoe UI" pitchFamily="34" charset="0"/>
            </a:endParaRPr>
          </a:p>
        </p:txBody>
      </p:sp>
      <p:sp>
        <p:nvSpPr>
          <p:cNvPr id="28" name="Rectangle 27">
            <a:extLst>
              <a:ext uri="{FF2B5EF4-FFF2-40B4-BE49-F238E27FC236}">
                <a16:creationId xmlns:a16="http://schemas.microsoft.com/office/drawing/2014/main" id="{B1701BE0-C23A-3C54-34EE-36856E4430D4}"/>
              </a:ext>
              <a:ext uri="{C183D7F6-B498-43B3-948B-1728B52AA6E4}">
                <adec:decorative xmlns:adec="http://schemas.microsoft.com/office/drawing/2017/decorative" val="1"/>
              </a:ext>
            </a:extLst>
          </p:cNvPr>
          <p:cNvSpPr/>
          <p:nvPr/>
        </p:nvSpPr>
        <p:spPr bwMode="auto">
          <a:xfrm>
            <a:off x="7766890" y="3903670"/>
            <a:ext cx="3839116" cy="504239"/>
          </a:xfrm>
          <a:prstGeom prst="rect">
            <a:avLst/>
          </a:prstGeom>
          <a:noFill/>
          <a:ln>
            <a:noFill/>
            <a:headEnd type="none" w="med" len="med"/>
            <a:tailEnd type="none" w="med" len="med"/>
          </a:ln>
          <a:effectLst>
            <a:outerShdw blurRad="63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134464" rIns="89642" bIns="44821"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000">
              <a:solidFill>
                <a:schemeClr val="tx1"/>
              </a:solidFill>
              <a:latin typeface="+mj-lt"/>
              <a:ea typeface="Segoe UI" pitchFamily="34" charset="0"/>
              <a:cs typeface="Segoe UI" pitchFamily="34" charset="0"/>
            </a:endParaRPr>
          </a:p>
        </p:txBody>
      </p:sp>
      <p:sp>
        <p:nvSpPr>
          <p:cNvPr id="47" name="Rectangle 46">
            <a:extLst>
              <a:ext uri="{FF2B5EF4-FFF2-40B4-BE49-F238E27FC236}">
                <a16:creationId xmlns:a16="http://schemas.microsoft.com/office/drawing/2014/main" id="{7AECB95C-CE2D-C2D5-60D2-A3F79A94F401}"/>
              </a:ext>
              <a:ext uri="{C183D7F6-B498-43B3-948B-1728B52AA6E4}">
                <adec:decorative xmlns:adec="http://schemas.microsoft.com/office/drawing/2017/decorative" val="1"/>
              </a:ext>
            </a:extLst>
          </p:cNvPr>
          <p:cNvSpPr>
            <a:spLocks/>
          </p:cNvSpPr>
          <p:nvPr/>
        </p:nvSpPr>
        <p:spPr bwMode="auto">
          <a:xfrm>
            <a:off x="746125" y="1924050"/>
            <a:ext cx="850392" cy="4418183"/>
          </a:xfrm>
          <a:prstGeom prst="rect">
            <a:avLst/>
          </a:prstGeom>
          <a:solidFill>
            <a:schemeClr val="accent4">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8" name="Oval 47">
            <a:extLst>
              <a:ext uri="{FF2B5EF4-FFF2-40B4-BE49-F238E27FC236}">
                <a16:creationId xmlns:a16="http://schemas.microsoft.com/office/drawing/2014/main" id="{D31133A5-A5BF-C199-38AC-49058222AB1E}"/>
              </a:ext>
              <a:ext uri="{C183D7F6-B498-43B3-948B-1728B52AA6E4}">
                <adec:decorative xmlns:adec="http://schemas.microsoft.com/office/drawing/2017/decorative" val="1"/>
              </a:ext>
            </a:extLst>
          </p:cNvPr>
          <p:cNvSpPr>
            <a:spLocks/>
          </p:cNvSpPr>
          <p:nvPr/>
        </p:nvSpPr>
        <p:spPr>
          <a:xfrm>
            <a:off x="881010" y="5457122"/>
            <a:ext cx="580622" cy="580622"/>
          </a:xfrm>
          <a:prstGeom prst="ellipse">
            <a:avLst/>
          </a:prstGeom>
          <a:solidFill>
            <a:srgbClr val="463668"/>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43840" tIns="365760" rIns="243840" bIns="195072"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667" b="0" i="0" u="none" strike="noStrike" kern="1200" cap="none" spc="0" normalizeH="0" baseline="0" noProof="0">
              <a:ln>
                <a:noFill/>
              </a:ln>
              <a:solidFill>
                <a:prstClr val="black"/>
              </a:solidFill>
              <a:effectLst/>
              <a:uLnTx/>
              <a:uFillTx/>
              <a:latin typeface="Aptos Display" panose="02110004020202020204"/>
              <a:ea typeface="+mn-ea"/>
              <a:cs typeface="+mn-cs"/>
            </a:endParaRPr>
          </a:p>
        </p:txBody>
      </p:sp>
      <p:sp>
        <p:nvSpPr>
          <p:cNvPr id="52" name="Oval 51">
            <a:extLst>
              <a:ext uri="{FF2B5EF4-FFF2-40B4-BE49-F238E27FC236}">
                <a16:creationId xmlns:a16="http://schemas.microsoft.com/office/drawing/2014/main" id="{91416A36-F6F3-B636-0CB5-9C8D519D3D0A}"/>
              </a:ext>
              <a:ext uri="{C183D7F6-B498-43B3-948B-1728B52AA6E4}">
                <adec:decorative xmlns:adec="http://schemas.microsoft.com/office/drawing/2017/decorative" val="1"/>
              </a:ext>
            </a:extLst>
          </p:cNvPr>
          <p:cNvSpPr>
            <a:spLocks/>
          </p:cNvSpPr>
          <p:nvPr/>
        </p:nvSpPr>
        <p:spPr>
          <a:xfrm>
            <a:off x="881010" y="4380928"/>
            <a:ext cx="580622" cy="580622"/>
          </a:xfrm>
          <a:prstGeom prst="ellipse">
            <a:avLst/>
          </a:prstGeom>
          <a:solidFill>
            <a:srgbClr val="463668"/>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43840" tIns="365760" rIns="243840" bIns="195072"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667" b="0" i="0" u="none" strike="noStrike" kern="1200" cap="none" spc="0" normalizeH="0" baseline="0" noProof="0">
              <a:ln>
                <a:noFill/>
              </a:ln>
              <a:solidFill>
                <a:prstClr val="black"/>
              </a:solidFill>
              <a:effectLst/>
              <a:uLnTx/>
              <a:uFillTx/>
              <a:latin typeface="Aptos Display" panose="02110004020202020204"/>
              <a:ea typeface="+mn-ea"/>
              <a:cs typeface="+mn-cs"/>
            </a:endParaRPr>
          </a:p>
        </p:txBody>
      </p:sp>
      <p:sp>
        <p:nvSpPr>
          <p:cNvPr id="55" name="Oval 54">
            <a:extLst>
              <a:ext uri="{FF2B5EF4-FFF2-40B4-BE49-F238E27FC236}">
                <a16:creationId xmlns:a16="http://schemas.microsoft.com/office/drawing/2014/main" id="{A89C4B50-67A1-ABD0-C112-22BF16C17B95}"/>
              </a:ext>
              <a:ext uri="{C183D7F6-B498-43B3-948B-1728B52AA6E4}">
                <adec:decorative xmlns:adec="http://schemas.microsoft.com/office/drawing/2017/decorative" val="1"/>
              </a:ext>
            </a:extLst>
          </p:cNvPr>
          <p:cNvSpPr>
            <a:spLocks/>
          </p:cNvSpPr>
          <p:nvPr/>
        </p:nvSpPr>
        <p:spPr>
          <a:xfrm>
            <a:off x="881010" y="3304733"/>
            <a:ext cx="580622" cy="580622"/>
          </a:xfrm>
          <a:prstGeom prst="ellipse">
            <a:avLst/>
          </a:prstGeom>
          <a:solidFill>
            <a:srgbClr val="463668"/>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43840" tIns="365760" rIns="243840" bIns="195072"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667" b="0" i="0" u="none" strike="noStrike" kern="1200" cap="none" spc="0" normalizeH="0" baseline="0" noProof="0">
              <a:ln>
                <a:noFill/>
              </a:ln>
              <a:solidFill>
                <a:prstClr val="black"/>
              </a:solidFill>
              <a:effectLst/>
              <a:uLnTx/>
              <a:uFillTx/>
              <a:latin typeface="Aptos Display" panose="02110004020202020204"/>
              <a:ea typeface="+mn-ea"/>
              <a:cs typeface="+mn-cs"/>
            </a:endParaRPr>
          </a:p>
        </p:txBody>
      </p:sp>
      <p:sp>
        <p:nvSpPr>
          <p:cNvPr id="58" name="Oval 57">
            <a:extLst>
              <a:ext uri="{FF2B5EF4-FFF2-40B4-BE49-F238E27FC236}">
                <a16:creationId xmlns:a16="http://schemas.microsoft.com/office/drawing/2014/main" id="{6EE365C4-6C47-3A69-F729-482A5B08DE09}"/>
              </a:ext>
              <a:ext uri="{C183D7F6-B498-43B3-948B-1728B52AA6E4}">
                <adec:decorative xmlns:adec="http://schemas.microsoft.com/office/drawing/2017/decorative" val="1"/>
              </a:ext>
            </a:extLst>
          </p:cNvPr>
          <p:cNvSpPr>
            <a:spLocks/>
          </p:cNvSpPr>
          <p:nvPr/>
        </p:nvSpPr>
        <p:spPr>
          <a:xfrm>
            <a:off x="881010" y="2228538"/>
            <a:ext cx="580622" cy="580622"/>
          </a:xfrm>
          <a:prstGeom prst="ellipse">
            <a:avLst/>
          </a:prstGeom>
          <a:solidFill>
            <a:srgbClr val="463668"/>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43840" tIns="365760" rIns="243840" bIns="195072"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667" b="0" i="0" u="none" strike="noStrike" kern="1200" cap="none" spc="0" normalizeH="0" baseline="0" noProof="0">
              <a:ln>
                <a:noFill/>
              </a:ln>
              <a:solidFill>
                <a:prstClr val="black"/>
              </a:solidFill>
              <a:effectLst/>
              <a:uLnTx/>
              <a:uFillTx/>
              <a:latin typeface="Aptos Display" panose="02110004020202020204"/>
              <a:ea typeface="+mn-ea"/>
              <a:cs typeface="+mn-cs"/>
            </a:endParaRPr>
          </a:p>
        </p:txBody>
      </p:sp>
      <p:cxnSp>
        <p:nvCxnSpPr>
          <p:cNvPr id="78" name="Straight Connector 77">
            <a:extLst>
              <a:ext uri="{FF2B5EF4-FFF2-40B4-BE49-F238E27FC236}">
                <a16:creationId xmlns:a16="http://schemas.microsoft.com/office/drawing/2014/main" id="{E355B6B8-53EE-F79B-8BB6-0238B1646AC1}"/>
              </a:ext>
              <a:ext uri="{C183D7F6-B498-43B3-948B-1728B52AA6E4}">
                <adec:decorative xmlns:adec="http://schemas.microsoft.com/office/drawing/2017/decorative" val="1"/>
              </a:ext>
            </a:extLst>
          </p:cNvPr>
          <p:cNvCxnSpPr>
            <a:cxnSpLocks/>
          </p:cNvCxnSpPr>
          <p:nvPr/>
        </p:nvCxnSpPr>
        <p:spPr>
          <a:xfrm>
            <a:off x="1761486" y="3056946"/>
            <a:ext cx="5185415" cy="0"/>
          </a:xfrm>
          <a:prstGeom prst="line">
            <a:avLst/>
          </a:prstGeom>
          <a:ln w="6350">
            <a:solidFill>
              <a:schemeClr val="bg1">
                <a:lumMod val="8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6D874A25-AB19-BFE6-BFA8-C0F625434074}"/>
              </a:ext>
              <a:ext uri="{C183D7F6-B498-43B3-948B-1728B52AA6E4}">
                <adec:decorative xmlns:adec="http://schemas.microsoft.com/office/drawing/2017/decorative" val="1"/>
              </a:ext>
            </a:extLst>
          </p:cNvPr>
          <p:cNvCxnSpPr>
            <a:cxnSpLocks/>
          </p:cNvCxnSpPr>
          <p:nvPr/>
        </p:nvCxnSpPr>
        <p:spPr>
          <a:xfrm>
            <a:off x="1761486" y="4133140"/>
            <a:ext cx="5185415" cy="0"/>
          </a:xfrm>
          <a:prstGeom prst="line">
            <a:avLst/>
          </a:prstGeom>
          <a:ln w="6350">
            <a:solidFill>
              <a:schemeClr val="bg1">
                <a:lumMod val="8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013A505F-7211-994C-A710-4FC278D5AD0E}"/>
              </a:ext>
              <a:ext uri="{C183D7F6-B498-43B3-948B-1728B52AA6E4}">
                <adec:decorative xmlns:adec="http://schemas.microsoft.com/office/drawing/2017/decorative" val="1"/>
              </a:ext>
            </a:extLst>
          </p:cNvPr>
          <p:cNvCxnSpPr>
            <a:cxnSpLocks/>
          </p:cNvCxnSpPr>
          <p:nvPr/>
        </p:nvCxnSpPr>
        <p:spPr>
          <a:xfrm>
            <a:off x="1761486" y="5209334"/>
            <a:ext cx="5185415" cy="0"/>
          </a:xfrm>
          <a:prstGeom prst="line">
            <a:avLst/>
          </a:prstGeom>
          <a:ln w="6350">
            <a:solidFill>
              <a:schemeClr val="bg1">
                <a:lumMod val="8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12D3EF31-48DC-EFA7-EDD6-F85DD78F8AE2}"/>
              </a:ext>
              <a:ext uri="{C183D7F6-B498-43B3-948B-1728B52AA6E4}">
                <adec:decorative xmlns:adec="http://schemas.microsoft.com/office/drawing/2017/decorative" val="1"/>
              </a:ext>
            </a:extLst>
          </p:cNvPr>
          <p:cNvSpPr/>
          <p:nvPr/>
        </p:nvSpPr>
        <p:spPr bwMode="auto">
          <a:xfrm>
            <a:off x="7766890" y="288272"/>
            <a:ext cx="3839116" cy="3140729"/>
          </a:xfrm>
          <a:prstGeom prst="rect">
            <a:avLst/>
          </a:prstGeom>
          <a:solidFill>
            <a:schemeClr val="bg1"/>
          </a:solidFill>
          <a:ln>
            <a:noFill/>
            <a:headEnd type="none" w="med" len="med"/>
            <a:tailEnd type="none" w="med" len="med"/>
          </a:ln>
          <a:effectLst>
            <a:outerShdw blurRad="63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134464" rIns="89642" bIns="44821"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000">
              <a:solidFill>
                <a:schemeClr val="tx1"/>
              </a:solidFill>
              <a:latin typeface="+mj-lt"/>
              <a:cs typeface="Segoe UI" pitchFamily="34" charset="0"/>
            </a:endParaRPr>
          </a:p>
        </p:txBody>
      </p:sp>
      <p:sp>
        <p:nvSpPr>
          <p:cNvPr id="22" name="Rectangle 21">
            <a:extLst>
              <a:ext uri="{FF2B5EF4-FFF2-40B4-BE49-F238E27FC236}">
                <a16:creationId xmlns:a16="http://schemas.microsoft.com/office/drawing/2014/main" id="{499369A6-10C4-E2BD-FDD4-A2B579A8909A}"/>
              </a:ext>
              <a:ext uri="{C183D7F6-B498-43B3-948B-1728B52AA6E4}">
                <adec:decorative xmlns:adec="http://schemas.microsoft.com/office/drawing/2017/decorative" val="1"/>
              </a:ext>
            </a:extLst>
          </p:cNvPr>
          <p:cNvSpPr/>
          <p:nvPr/>
        </p:nvSpPr>
        <p:spPr bwMode="auto">
          <a:xfrm>
            <a:off x="7766890" y="3903670"/>
            <a:ext cx="3839116" cy="2666060"/>
          </a:xfrm>
          <a:prstGeom prst="rect">
            <a:avLst/>
          </a:prstGeom>
          <a:solidFill>
            <a:schemeClr val="bg1"/>
          </a:solidFill>
          <a:ln>
            <a:noFill/>
            <a:headEnd type="none" w="med" len="med"/>
            <a:tailEnd type="none" w="med" len="med"/>
          </a:ln>
          <a:effectLst>
            <a:outerShdw blurRad="63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134464" rIns="89642" bIns="44821"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000">
              <a:solidFill>
                <a:schemeClr val="tx1"/>
              </a:solidFill>
              <a:latin typeface="+mj-lt"/>
              <a:ea typeface="Segoe UI" pitchFamily="34" charset="0"/>
              <a:cs typeface="Segoe UI" pitchFamily="34" charset="0"/>
            </a:endParaRPr>
          </a:p>
        </p:txBody>
      </p:sp>
      <p:sp>
        <p:nvSpPr>
          <p:cNvPr id="2" name="Title 1">
            <a:extLst>
              <a:ext uri="{FF2B5EF4-FFF2-40B4-BE49-F238E27FC236}">
                <a16:creationId xmlns:a16="http://schemas.microsoft.com/office/drawing/2014/main" id="{21047784-EAC8-EFE7-73FA-85EDE37F1C94}"/>
              </a:ext>
            </a:extLst>
          </p:cNvPr>
          <p:cNvSpPr>
            <a:spLocks noGrp="1"/>
          </p:cNvSpPr>
          <p:nvPr>
            <p:ph type="title"/>
          </p:nvPr>
        </p:nvSpPr>
        <p:spPr>
          <a:xfrm>
            <a:off x="588963" y="457200"/>
            <a:ext cx="5857104" cy="554038"/>
          </a:xfrm>
        </p:spPr>
        <p:txBody>
          <a:bodyPr>
            <a:noAutofit/>
          </a:bodyPr>
          <a:lstStyle/>
          <a:p>
            <a:r>
              <a:rPr lang="en-US" dirty="0"/>
              <a:t>Azure Container Storage</a:t>
            </a:r>
          </a:p>
        </p:txBody>
      </p:sp>
      <p:sp>
        <p:nvSpPr>
          <p:cNvPr id="40" name="Text Placeholder 5">
            <a:extLst>
              <a:ext uri="{FF2B5EF4-FFF2-40B4-BE49-F238E27FC236}">
                <a16:creationId xmlns:a16="http://schemas.microsoft.com/office/drawing/2014/main" id="{F948114F-4F6A-FA64-0027-A49A531B751A}"/>
              </a:ext>
            </a:extLst>
          </p:cNvPr>
          <p:cNvSpPr txBox="1">
            <a:spLocks/>
          </p:cNvSpPr>
          <p:nvPr/>
        </p:nvSpPr>
        <p:spPr>
          <a:xfrm>
            <a:off x="572090" y="1112858"/>
            <a:ext cx="7099174" cy="677108"/>
          </a:xfrm>
          <a:prstGeom prst="rect">
            <a:avLst/>
          </a:prstGeom>
        </p:spPr>
        <p:txBody>
          <a:bodyPr wrap="square" lIns="0" tIns="0" rIns="0" bIns="0" anchor="t">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defRPr/>
            </a:pPr>
            <a:r>
              <a:rPr lang="en-US" sz="2200">
                <a:solidFill>
                  <a:schemeClr val="tx2"/>
                </a:solidFill>
                <a:cs typeface="Segoe UI Semibold"/>
              </a:rPr>
              <a:t>Industry’s first platform-managed container</a:t>
            </a:r>
            <a:br>
              <a:rPr lang="en-US" sz="2200">
                <a:solidFill>
                  <a:schemeClr val="tx2"/>
                </a:solidFill>
                <a:cs typeface="Segoe UI Semibold"/>
              </a:rPr>
            </a:br>
            <a:r>
              <a:rPr lang="en-US" sz="2200">
                <a:solidFill>
                  <a:schemeClr val="tx2"/>
                </a:solidFill>
                <a:cs typeface="Segoe UI Semibold"/>
              </a:rPr>
              <a:t>storage offering</a:t>
            </a:r>
          </a:p>
        </p:txBody>
      </p:sp>
      <p:sp>
        <p:nvSpPr>
          <p:cNvPr id="88" name="money_2" title="Icon of a dollar sign with an arrow around it pointing clockwise">
            <a:extLst>
              <a:ext uri="{FF2B5EF4-FFF2-40B4-BE49-F238E27FC236}">
                <a16:creationId xmlns:a16="http://schemas.microsoft.com/office/drawing/2014/main" id="{3FBFD2C6-5973-BC04-05A1-8F6C8B16998D}"/>
              </a:ext>
            </a:extLst>
          </p:cNvPr>
          <p:cNvSpPr>
            <a:spLocks noChangeAspect="1" noEditPoints="1"/>
          </p:cNvSpPr>
          <p:nvPr/>
        </p:nvSpPr>
        <p:spPr bwMode="auto">
          <a:xfrm>
            <a:off x="959139" y="2312702"/>
            <a:ext cx="391030" cy="412294"/>
          </a:xfrm>
          <a:custGeom>
            <a:avLst/>
            <a:gdLst>
              <a:gd name="T0" fmla="*/ 307 w 307"/>
              <a:gd name="T1" fmla="*/ 163 h 326"/>
              <a:gd name="T2" fmla="*/ 282 w 307"/>
              <a:gd name="T3" fmla="*/ 244 h 326"/>
              <a:gd name="T4" fmla="*/ 82 w 307"/>
              <a:gd name="T5" fmla="*/ 281 h 326"/>
              <a:gd name="T6" fmla="*/ 45 w 307"/>
              <a:gd name="T7" fmla="*/ 82 h 326"/>
              <a:gd name="T8" fmla="*/ 245 w 307"/>
              <a:gd name="T9" fmla="*/ 45 h 326"/>
              <a:gd name="T10" fmla="*/ 297 w 307"/>
              <a:gd name="T11" fmla="*/ 110 h 326"/>
              <a:gd name="T12" fmla="*/ 257 w 307"/>
              <a:gd name="T13" fmla="*/ 99 h 326"/>
              <a:gd name="T14" fmla="*/ 297 w 307"/>
              <a:gd name="T15" fmla="*/ 109 h 326"/>
              <a:gd name="T16" fmla="*/ 307 w 307"/>
              <a:gd name="T17" fmla="*/ 70 h 326"/>
              <a:gd name="T18" fmla="*/ 126 w 307"/>
              <a:gd name="T19" fmla="*/ 199 h 326"/>
              <a:gd name="T20" fmla="*/ 182 w 307"/>
              <a:gd name="T21" fmla="*/ 199 h 326"/>
              <a:gd name="T22" fmla="*/ 202 w 307"/>
              <a:gd name="T23" fmla="*/ 179 h 326"/>
              <a:gd name="T24" fmla="*/ 182 w 307"/>
              <a:gd name="T25" fmla="*/ 158 h 326"/>
              <a:gd name="T26" fmla="*/ 147 w 307"/>
              <a:gd name="T27" fmla="*/ 158 h 326"/>
              <a:gd name="T28" fmla="*/ 126 w 307"/>
              <a:gd name="T29" fmla="*/ 137 h 326"/>
              <a:gd name="T30" fmla="*/ 147 w 307"/>
              <a:gd name="T31" fmla="*/ 117 h 326"/>
              <a:gd name="T32" fmla="*/ 201 w 307"/>
              <a:gd name="T33" fmla="*/ 117 h 326"/>
              <a:gd name="T34" fmla="*/ 164 w 307"/>
              <a:gd name="T35" fmla="*/ 88 h 326"/>
              <a:gd name="T36" fmla="*/ 164 w 307"/>
              <a:gd name="T37" fmla="*/ 226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07" h="326">
                <a:moveTo>
                  <a:pt x="307" y="163"/>
                </a:moveTo>
                <a:cubicBezTo>
                  <a:pt x="307" y="191"/>
                  <a:pt x="299" y="219"/>
                  <a:pt x="282" y="244"/>
                </a:cubicBezTo>
                <a:cubicBezTo>
                  <a:pt x="237" y="310"/>
                  <a:pt x="148" y="326"/>
                  <a:pt x="82" y="281"/>
                </a:cubicBezTo>
                <a:cubicBezTo>
                  <a:pt x="17" y="236"/>
                  <a:pt x="0" y="147"/>
                  <a:pt x="45" y="82"/>
                </a:cubicBezTo>
                <a:cubicBezTo>
                  <a:pt x="90" y="16"/>
                  <a:pt x="179" y="0"/>
                  <a:pt x="245" y="45"/>
                </a:cubicBezTo>
                <a:cubicBezTo>
                  <a:pt x="269" y="61"/>
                  <a:pt x="287" y="84"/>
                  <a:pt x="297" y="110"/>
                </a:cubicBezTo>
                <a:moveTo>
                  <a:pt x="257" y="99"/>
                </a:moveTo>
                <a:cubicBezTo>
                  <a:pt x="297" y="109"/>
                  <a:pt x="297" y="109"/>
                  <a:pt x="297" y="109"/>
                </a:cubicBezTo>
                <a:cubicBezTo>
                  <a:pt x="307" y="70"/>
                  <a:pt x="307" y="70"/>
                  <a:pt x="307" y="70"/>
                </a:cubicBezTo>
                <a:moveTo>
                  <a:pt x="126" y="199"/>
                </a:moveTo>
                <a:cubicBezTo>
                  <a:pt x="182" y="199"/>
                  <a:pt x="182" y="199"/>
                  <a:pt x="182" y="199"/>
                </a:cubicBezTo>
                <a:cubicBezTo>
                  <a:pt x="193" y="199"/>
                  <a:pt x="202" y="190"/>
                  <a:pt x="202" y="179"/>
                </a:cubicBezTo>
                <a:cubicBezTo>
                  <a:pt x="202" y="168"/>
                  <a:pt x="193" y="158"/>
                  <a:pt x="182" y="158"/>
                </a:cubicBezTo>
                <a:cubicBezTo>
                  <a:pt x="147" y="158"/>
                  <a:pt x="147" y="158"/>
                  <a:pt x="147" y="158"/>
                </a:cubicBezTo>
                <a:cubicBezTo>
                  <a:pt x="136" y="158"/>
                  <a:pt x="126" y="148"/>
                  <a:pt x="126" y="137"/>
                </a:cubicBezTo>
                <a:cubicBezTo>
                  <a:pt x="126" y="126"/>
                  <a:pt x="136" y="117"/>
                  <a:pt x="147" y="117"/>
                </a:cubicBezTo>
                <a:cubicBezTo>
                  <a:pt x="201" y="117"/>
                  <a:pt x="201" y="117"/>
                  <a:pt x="201" y="117"/>
                </a:cubicBezTo>
                <a:moveTo>
                  <a:pt x="164" y="88"/>
                </a:moveTo>
                <a:cubicBezTo>
                  <a:pt x="164" y="226"/>
                  <a:pt x="164" y="226"/>
                  <a:pt x="164" y="226"/>
                </a:cubicBezTo>
              </a:path>
            </a:pathLst>
          </a:custGeom>
          <a:noFill/>
          <a:ln w="6350" cap="flat">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gradFill>
                <a:gsLst>
                  <a:gs pos="0">
                    <a:srgbClr val="505050"/>
                  </a:gs>
                  <a:gs pos="100000">
                    <a:srgbClr val="505050"/>
                  </a:gs>
                </a:gsLst>
                <a:lin ang="5400000" scaled="1"/>
              </a:gradFill>
            </a:endParaRPr>
          </a:p>
        </p:txBody>
      </p:sp>
      <p:sp>
        <p:nvSpPr>
          <p:cNvPr id="12" name="Rectangle 11">
            <a:extLst>
              <a:ext uri="{FF2B5EF4-FFF2-40B4-BE49-F238E27FC236}">
                <a16:creationId xmlns:a16="http://schemas.microsoft.com/office/drawing/2014/main" id="{8B7AC52D-3EEA-A5C4-FAC0-EE402E9C87C1}"/>
              </a:ext>
            </a:extLst>
          </p:cNvPr>
          <p:cNvSpPr>
            <a:spLocks/>
          </p:cNvSpPr>
          <p:nvPr/>
        </p:nvSpPr>
        <p:spPr bwMode="auto">
          <a:xfrm>
            <a:off x="1761485" y="2137700"/>
            <a:ext cx="5185415" cy="762298"/>
          </a:xfrm>
          <a:prstGeom prst="rect">
            <a:avLst/>
          </a:prstGeom>
          <a:noFill/>
          <a:ln w="6350" cap="flat" cmpd="sng" algn="ctr">
            <a:noFill/>
            <a:prstDash val="solid"/>
            <a:miter lim="800000"/>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defTabSz="932293" fontAlgn="base">
              <a:spcBef>
                <a:spcPct val="0"/>
              </a:spcBef>
              <a:spcAft>
                <a:spcPct val="0"/>
              </a:spcAft>
              <a:defRPr/>
            </a:pPr>
            <a:r>
              <a:rPr lang="en-US" sz="2000" kern="0"/>
              <a:t>Reduced Total Cost of Ownership (TCO)</a:t>
            </a:r>
          </a:p>
        </p:txBody>
      </p:sp>
      <p:sp>
        <p:nvSpPr>
          <p:cNvPr id="89" name="browser_3" title="Icon of a browser window with an arrow pointing from the outside to the center">
            <a:extLst>
              <a:ext uri="{FF2B5EF4-FFF2-40B4-BE49-F238E27FC236}">
                <a16:creationId xmlns:a16="http://schemas.microsoft.com/office/drawing/2014/main" id="{31C6ED52-E131-B74C-6E7D-B861BD48D5D3}"/>
              </a:ext>
            </a:extLst>
          </p:cNvPr>
          <p:cNvSpPr>
            <a:spLocks noChangeAspect="1" noEditPoints="1"/>
          </p:cNvSpPr>
          <p:nvPr/>
        </p:nvSpPr>
        <p:spPr bwMode="auto">
          <a:xfrm>
            <a:off x="1020537" y="3451622"/>
            <a:ext cx="301567" cy="286844"/>
          </a:xfrm>
          <a:custGeom>
            <a:avLst/>
            <a:gdLst>
              <a:gd name="T0" fmla="*/ 130 w 335"/>
              <a:gd name="T1" fmla="*/ 33 h 318"/>
              <a:gd name="T2" fmla="*/ 335 w 335"/>
              <a:gd name="T3" fmla="*/ 33 h 318"/>
              <a:gd name="T4" fmla="*/ 335 w 335"/>
              <a:gd name="T5" fmla="*/ 318 h 318"/>
              <a:gd name="T6" fmla="*/ 0 w 335"/>
              <a:gd name="T7" fmla="*/ 318 h 318"/>
              <a:gd name="T8" fmla="*/ 0 w 335"/>
              <a:gd name="T9" fmla="*/ 33 h 318"/>
              <a:gd name="T10" fmla="*/ 0 w 335"/>
              <a:gd name="T11" fmla="*/ 33 h 318"/>
              <a:gd name="T12" fmla="*/ 71 w 335"/>
              <a:gd name="T13" fmla="*/ 33 h 318"/>
              <a:gd name="T14" fmla="*/ 130 w 335"/>
              <a:gd name="T15" fmla="*/ 97 h 318"/>
              <a:gd name="T16" fmla="*/ 335 w 335"/>
              <a:gd name="T17" fmla="*/ 97 h 318"/>
              <a:gd name="T18" fmla="*/ 0 w 335"/>
              <a:gd name="T19" fmla="*/ 97 h 318"/>
              <a:gd name="T20" fmla="*/ 67 w 335"/>
              <a:gd name="T21" fmla="*/ 97 h 318"/>
              <a:gd name="T22" fmla="*/ 293 w 335"/>
              <a:gd name="T23" fmla="*/ 69 h 318"/>
              <a:gd name="T24" fmla="*/ 298 w 335"/>
              <a:gd name="T25" fmla="*/ 64 h 318"/>
              <a:gd name="T26" fmla="*/ 293 w 335"/>
              <a:gd name="T27" fmla="*/ 60 h 318"/>
              <a:gd name="T28" fmla="*/ 289 w 335"/>
              <a:gd name="T29" fmla="*/ 64 h 318"/>
              <a:gd name="T30" fmla="*/ 293 w 335"/>
              <a:gd name="T31" fmla="*/ 69 h 318"/>
              <a:gd name="T32" fmla="*/ 240 w 335"/>
              <a:gd name="T33" fmla="*/ 69 h 318"/>
              <a:gd name="T34" fmla="*/ 245 w 335"/>
              <a:gd name="T35" fmla="*/ 64 h 318"/>
              <a:gd name="T36" fmla="*/ 240 w 335"/>
              <a:gd name="T37" fmla="*/ 60 h 318"/>
              <a:gd name="T38" fmla="*/ 235 w 335"/>
              <a:gd name="T39" fmla="*/ 64 h 318"/>
              <a:gd name="T40" fmla="*/ 240 w 335"/>
              <a:gd name="T41" fmla="*/ 69 h 318"/>
              <a:gd name="T42" fmla="*/ 187 w 335"/>
              <a:gd name="T43" fmla="*/ 69 h 318"/>
              <a:gd name="T44" fmla="*/ 192 w 335"/>
              <a:gd name="T45" fmla="*/ 64 h 318"/>
              <a:gd name="T46" fmla="*/ 187 w 335"/>
              <a:gd name="T47" fmla="*/ 60 h 318"/>
              <a:gd name="T48" fmla="*/ 182 w 335"/>
              <a:gd name="T49" fmla="*/ 64 h 318"/>
              <a:gd name="T50" fmla="*/ 187 w 335"/>
              <a:gd name="T51" fmla="*/ 69 h 318"/>
              <a:gd name="T52" fmla="*/ 49 w 335"/>
              <a:gd name="T53" fmla="*/ 190 h 318"/>
              <a:gd name="T54" fmla="*/ 100 w 335"/>
              <a:gd name="T55" fmla="*/ 240 h 318"/>
              <a:gd name="T56" fmla="*/ 151 w 335"/>
              <a:gd name="T57" fmla="*/ 190 h 318"/>
              <a:gd name="T58" fmla="*/ 100 w 335"/>
              <a:gd name="T59" fmla="*/ 0 h 318"/>
              <a:gd name="T60" fmla="*/ 100 w 335"/>
              <a:gd name="T61" fmla="*/ 240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5" h="318">
                <a:moveTo>
                  <a:pt x="130" y="33"/>
                </a:moveTo>
                <a:cubicBezTo>
                  <a:pt x="335" y="33"/>
                  <a:pt x="335" y="33"/>
                  <a:pt x="335" y="33"/>
                </a:cubicBezTo>
                <a:cubicBezTo>
                  <a:pt x="335" y="318"/>
                  <a:pt x="335" y="318"/>
                  <a:pt x="335" y="318"/>
                </a:cubicBezTo>
                <a:cubicBezTo>
                  <a:pt x="0" y="318"/>
                  <a:pt x="0" y="318"/>
                  <a:pt x="0" y="318"/>
                </a:cubicBezTo>
                <a:cubicBezTo>
                  <a:pt x="0" y="33"/>
                  <a:pt x="0" y="33"/>
                  <a:pt x="0" y="33"/>
                </a:cubicBezTo>
                <a:cubicBezTo>
                  <a:pt x="0" y="33"/>
                  <a:pt x="0" y="33"/>
                  <a:pt x="0" y="33"/>
                </a:cubicBezTo>
                <a:cubicBezTo>
                  <a:pt x="71" y="33"/>
                  <a:pt x="71" y="33"/>
                  <a:pt x="71" y="33"/>
                </a:cubicBezTo>
                <a:moveTo>
                  <a:pt x="130" y="97"/>
                </a:moveTo>
                <a:cubicBezTo>
                  <a:pt x="335" y="97"/>
                  <a:pt x="335" y="97"/>
                  <a:pt x="335" y="97"/>
                </a:cubicBezTo>
                <a:moveTo>
                  <a:pt x="0" y="97"/>
                </a:moveTo>
                <a:cubicBezTo>
                  <a:pt x="67" y="97"/>
                  <a:pt x="67" y="97"/>
                  <a:pt x="67" y="97"/>
                </a:cubicBezTo>
                <a:moveTo>
                  <a:pt x="293" y="69"/>
                </a:moveTo>
                <a:cubicBezTo>
                  <a:pt x="296" y="69"/>
                  <a:pt x="298" y="67"/>
                  <a:pt x="298" y="64"/>
                </a:cubicBezTo>
                <a:cubicBezTo>
                  <a:pt x="298" y="62"/>
                  <a:pt x="296" y="60"/>
                  <a:pt x="293" y="60"/>
                </a:cubicBezTo>
                <a:cubicBezTo>
                  <a:pt x="291" y="60"/>
                  <a:pt x="289" y="62"/>
                  <a:pt x="289" y="64"/>
                </a:cubicBezTo>
                <a:cubicBezTo>
                  <a:pt x="289" y="67"/>
                  <a:pt x="291" y="69"/>
                  <a:pt x="293" y="69"/>
                </a:cubicBezTo>
                <a:close/>
                <a:moveTo>
                  <a:pt x="240" y="69"/>
                </a:moveTo>
                <a:cubicBezTo>
                  <a:pt x="243" y="69"/>
                  <a:pt x="245" y="67"/>
                  <a:pt x="245" y="64"/>
                </a:cubicBezTo>
                <a:cubicBezTo>
                  <a:pt x="245" y="62"/>
                  <a:pt x="243" y="60"/>
                  <a:pt x="240" y="60"/>
                </a:cubicBezTo>
                <a:cubicBezTo>
                  <a:pt x="238" y="60"/>
                  <a:pt x="235" y="62"/>
                  <a:pt x="235" y="64"/>
                </a:cubicBezTo>
                <a:cubicBezTo>
                  <a:pt x="235" y="67"/>
                  <a:pt x="238" y="69"/>
                  <a:pt x="240" y="69"/>
                </a:cubicBezTo>
                <a:close/>
                <a:moveTo>
                  <a:pt x="187" y="69"/>
                </a:moveTo>
                <a:cubicBezTo>
                  <a:pt x="189" y="69"/>
                  <a:pt x="192" y="67"/>
                  <a:pt x="192" y="64"/>
                </a:cubicBezTo>
                <a:cubicBezTo>
                  <a:pt x="192" y="62"/>
                  <a:pt x="189" y="60"/>
                  <a:pt x="187" y="60"/>
                </a:cubicBezTo>
                <a:cubicBezTo>
                  <a:pt x="184" y="60"/>
                  <a:pt x="182" y="62"/>
                  <a:pt x="182" y="64"/>
                </a:cubicBezTo>
                <a:cubicBezTo>
                  <a:pt x="182" y="67"/>
                  <a:pt x="184" y="69"/>
                  <a:pt x="187" y="69"/>
                </a:cubicBezTo>
                <a:close/>
                <a:moveTo>
                  <a:pt x="49" y="190"/>
                </a:moveTo>
                <a:cubicBezTo>
                  <a:pt x="100" y="240"/>
                  <a:pt x="100" y="240"/>
                  <a:pt x="100" y="240"/>
                </a:cubicBezTo>
                <a:cubicBezTo>
                  <a:pt x="151" y="190"/>
                  <a:pt x="151" y="190"/>
                  <a:pt x="151" y="190"/>
                </a:cubicBezTo>
                <a:moveTo>
                  <a:pt x="100" y="0"/>
                </a:moveTo>
                <a:cubicBezTo>
                  <a:pt x="100" y="240"/>
                  <a:pt x="100" y="240"/>
                  <a:pt x="100" y="240"/>
                </a:cubicBezTo>
              </a:path>
            </a:pathLst>
          </a:custGeom>
          <a:noFill/>
          <a:ln w="6350" cap="flat">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900">
              <a:gradFill>
                <a:gsLst>
                  <a:gs pos="0">
                    <a:srgbClr val="505050"/>
                  </a:gs>
                  <a:gs pos="100000">
                    <a:srgbClr val="505050"/>
                  </a:gs>
                </a:gsLst>
                <a:lin ang="5400000" scaled="1"/>
              </a:gradFill>
            </a:endParaRPr>
          </a:p>
        </p:txBody>
      </p:sp>
      <p:sp>
        <p:nvSpPr>
          <p:cNvPr id="13" name="Rectangle 12">
            <a:extLst>
              <a:ext uri="{FF2B5EF4-FFF2-40B4-BE49-F238E27FC236}">
                <a16:creationId xmlns:a16="http://schemas.microsoft.com/office/drawing/2014/main" id="{6C01031E-E652-3594-780F-87C0B4FBC5E2}"/>
              </a:ext>
            </a:extLst>
          </p:cNvPr>
          <p:cNvSpPr>
            <a:spLocks/>
          </p:cNvSpPr>
          <p:nvPr/>
        </p:nvSpPr>
        <p:spPr bwMode="auto">
          <a:xfrm>
            <a:off x="1761485" y="3213894"/>
            <a:ext cx="5185415" cy="762298"/>
          </a:xfrm>
          <a:prstGeom prst="rect">
            <a:avLst/>
          </a:prstGeom>
          <a:noFill/>
          <a:ln w="6350" cap="flat" cmpd="sng" algn="ctr">
            <a:noFill/>
            <a:prstDash val="solid"/>
            <a:miter lim="800000"/>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defTabSz="932293" fontAlgn="base">
              <a:spcBef>
                <a:spcPct val="0"/>
              </a:spcBef>
              <a:spcAft>
                <a:spcPct val="0"/>
              </a:spcAft>
              <a:defRPr/>
            </a:pPr>
            <a:r>
              <a:rPr lang="en-US" sz="2000" kern="0"/>
              <a:t>Kubernetes-native volume orchestration</a:t>
            </a:r>
          </a:p>
        </p:txBody>
      </p:sp>
      <p:sp>
        <p:nvSpPr>
          <p:cNvPr id="90" name="arrow_6" title="Icon of two arrows pointing in opposite direction of each other">
            <a:extLst>
              <a:ext uri="{FF2B5EF4-FFF2-40B4-BE49-F238E27FC236}">
                <a16:creationId xmlns:a16="http://schemas.microsoft.com/office/drawing/2014/main" id="{B6606581-7D12-1151-5614-5B9DF3C5E607}"/>
              </a:ext>
            </a:extLst>
          </p:cNvPr>
          <p:cNvSpPr>
            <a:spLocks noChangeAspect="1" noEditPoints="1"/>
          </p:cNvSpPr>
          <p:nvPr/>
        </p:nvSpPr>
        <p:spPr bwMode="auto">
          <a:xfrm>
            <a:off x="1008716" y="4518513"/>
            <a:ext cx="325210" cy="305452"/>
          </a:xfrm>
          <a:custGeom>
            <a:avLst/>
            <a:gdLst>
              <a:gd name="T0" fmla="*/ 162 w 214"/>
              <a:gd name="T1" fmla="*/ 0 h 201"/>
              <a:gd name="T2" fmla="*/ 214 w 214"/>
              <a:gd name="T3" fmla="*/ 53 h 201"/>
              <a:gd name="T4" fmla="*/ 162 w 214"/>
              <a:gd name="T5" fmla="*/ 105 h 201"/>
              <a:gd name="T6" fmla="*/ 214 w 214"/>
              <a:gd name="T7" fmla="*/ 53 h 201"/>
              <a:gd name="T8" fmla="*/ 0 w 214"/>
              <a:gd name="T9" fmla="*/ 53 h 201"/>
              <a:gd name="T10" fmla="*/ 52 w 214"/>
              <a:gd name="T11" fmla="*/ 96 h 201"/>
              <a:gd name="T12" fmla="*/ 0 w 214"/>
              <a:gd name="T13" fmla="*/ 148 h 201"/>
              <a:gd name="T14" fmla="*/ 52 w 214"/>
              <a:gd name="T15" fmla="*/ 201 h 201"/>
              <a:gd name="T16" fmla="*/ 0 w 214"/>
              <a:gd name="T17" fmla="*/ 148 h 201"/>
              <a:gd name="T18" fmla="*/ 214 w 214"/>
              <a:gd name="T19" fmla="*/ 148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4" h="201">
                <a:moveTo>
                  <a:pt x="162" y="0"/>
                </a:moveTo>
                <a:lnTo>
                  <a:pt x="214" y="53"/>
                </a:lnTo>
                <a:lnTo>
                  <a:pt x="162" y="105"/>
                </a:lnTo>
                <a:moveTo>
                  <a:pt x="214" y="53"/>
                </a:moveTo>
                <a:lnTo>
                  <a:pt x="0" y="53"/>
                </a:lnTo>
                <a:moveTo>
                  <a:pt x="52" y="96"/>
                </a:moveTo>
                <a:lnTo>
                  <a:pt x="0" y="148"/>
                </a:lnTo>
                <a:lnTo>
                  <a:pt x="52" y="201"/>
                </a:lnTo>
                <a:moveTo>
                  <a:pt x="0" y="148"/>
                </a:moveTo>
                <a:lnTo>
                  <a:pt x="214" y="148"/>
                </a:lnTo>
              </a:path>
            </a:pathLst>
          </a:custGeom>
          <a:noFill/>
          <a:ln w="6350" cap="sq">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900">
              <a:gradFill>
                <a:gsLst>
                  <a:gs pos="0">
                    <a:srgbClr val="505050"/>
                  </a:gs>
                  <a:gs pos="100000">
                    <a:srgbClr val="505050"/>
                  </a:gs>
                </a:gsLst>
                <a:lin ang="5400000" scaled="1"/>
              </a:gradFill>
            </a:endParaRPr>
          </a:p>
        </p:txBody>
      </p:sp>
      <p:sp>
        <p:nvSpPr>
          <p:cNvPr id="14" name="Rectangle 13">
            <a:extLst>
              <a:ext uri="{FF2B5EF4-FFF2-40B4-BE49-F238E27FC236}">
                <a16:creationId xmlns:a16="http://schemas.microsoft.com/office/drawing/2014/main" id="{B4DCC759-A87D-7A3F-F521-2FCB525CF927}"/>
              </a:ext>
            </a:extLst>
          </p:cNvPr>
          <p:cNvSpPr>
            <a:spLocks/>
          </p:cNvSpPr>
          <p:nvPr/>
        </p:nvSpPr>
        <p:spPr bwMode="auto">
          <a:xfrm>
            <a:off x="1761485" y="4290088"/>
            <a:ext cx="5185415" cy="762298"/>
          </a:xfrm>
          <a:prstGeom prst="rect">
            <a:avLst/>
          </a:prstGeom>
          <a:noFill/>
          <a:ln w="6350" cap="flat" cmpd="sng" algn="ctr">
            <a:noFill/>
            <a:prstDash val="solid"/>
            <a:miter lim="800000"/>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defTabSz="932293" fontAlgn="base">
              <a:spcBef>
                <a:spcPct val="0"/>
              </a:spcBef>
              <a:spcAft>
                <a:spcPct val="0"/>
              </a:spcAft>
              <a:defRPr/>
            </a:pPr>
            <a:r>
              <a:rPr lang="en-US" sz="2000" kern="0"/>
              <a:t>Rapid scale out and fast failover</a:t>
            </a:r>
          </a:p>
        </p:txBody>
      </p:sp>
      <p:sp>
        <p:nvSpPr>
          <p:cNvPr id="91" name="gear" title="Icon of a gear surrounded by a circle with lines of varying length">
            <a:extLst>
              <a:ext uri="{FF2B5EF4-FFF2-40B4-BE49-F238E27FC236}">
                <a16:creationId xmlns:a16="http://schemas.microsoft.com/office/drawing/2014/main" id="{FC9548CF-5F79-5ECA-6D1D-6E8290B3E4E4}"/>
              </a:ext>
            </a:extLst>
          </p:cNvPr>
          <p:cNvSpPr>
            <a:spLocks noChangeAspect="1" noEditPoints="1"/>
          </p:cNvSpPr>
          <p:nvPr/>
        </p:nvSpPr>
        <p:spPr bwMode="auto">
          <a:xfrm>
            <a:off x="1008715" y="5585533"/>
            <a:ext cx="325212" cy="323800"/>
          </a:xfrm>
          <a:custGeom>
            <a:avLst/>
            <a:gdLst>
              <a:gd name="T0" fmla="*/ 72 w 318"/>
              <a:gd name="T1" fmla="*/ 159 h 318"/>
              <a:gd name="T2" fmla="*/ 159 w 318"/>
              <a:gd name="T3" fmla="*/ 72 h 318"/>
              <a:gd name="T4" fmla="*/ 246 w 318"/>
              <a:gd name="T5" fmla="*/ 159 h 318"/>
              <a:gd name="T6" fmla="*/ 159 w 318"/>
              <a:gd name="T7" fmla="*/ 246 h 318"/>
              <a:gd name="T8" fmla="*/ 72 w 318"/>
              <a:gd name="T9" fmla="*/ 159 h 318"/>
              <a:gd name="T10" fmla="*/ 212 w 318"/>
              <a:gd name="T11" fmla="*/ 9 h 318"/>
              <a:gd name="T12" fmla="*/ 159 w 318"/>
              <a:gd name="T13" fmla="*/ 0 h 318"/>
              <a:gd name="T14" fmla="*/ 0 w 318"/>
              <a:gd name="T15" fmla="*/ 159 h 318"/>
              <a:gd name="T16" fmla="*/ 91 w 318"/>
              <a:gd name="T17" fmla="*/ 303 h 318"/>
              <a:gd name="T18" fmla="*/ 106 w 318"/>
              <a:gd name="T19" fmla="*/ 309 h 318"/>
              <a:gd name="T20" fmla="*/ 159 w 318"/>
              <a:gd name="T21" fmla="*/ 318 h 318"/>
              <a:gd name="T22" fmla="*/ 318 w 318"/>
              <a:gd name="T23" fmla="*/ 159 h 318"/>
              <a:gd name="T24" fmla="*/ 310 w 318"/>
              <a:gd name="T25" fmla="*/ 110 h 318"/>
              <a:gd name="T26" fmla="*/ 304 w 318"/>
              <a:gd name="T27" fmla="*/ 93 h 318"/>
              <a:gd name="T28" fmla="*/ 230 w 318"/>
              <a:gd name="T29" fmla="*/ 17 h 318"/>
              <a:gd name="T30" fmla="*/ 202 w 318"/>
              <a:gd name="T31" fmla="*/ 56 h 318"/>
              <a:gd name="T32" fmla="*/ 194 w 318"/>
              <a:gd name="T33" fmla="*/ 79 h 318"/>
              <a:gd name="T34" fmla="*/ 268 w 318"/>
              <a:gd name="T35" fmla="*/ 118 h 318"/>
              <a:gd name="T36" fmla="*/ 240 w 318"/>
              <a:gd name="T37" fmla="*/ 127 h 318"/>
              <a:gd name="T38" fmla="*/ 239 w 318"/>
              <a:gd name="T39" fmla="*/ 192 h 318"/>
              <a:gd name="T40" fmla="*/ 267 w 318"/>
              <a:gd name="T41" fmla="*/ 203 h 318"/>
              <a:gd name="T42" fmla="*/ 206 w 318"/>
              <a:gd name="T43" fmla="*/ 265 h 318"/>
              <a:gd name="T44" fmla="*/ 193 w 318"/>
              <a:gd name="T45" fmla="*/ 239 h 318"/>
              <a:gd name="T46" fmla="*/ 117 w 318"/>
              <a:gd name="T47" fmla="*/ 266 h 318"/>
              <a:gd name="T48" fmla="*/ 128 w 318"/>
              <a:gd name="T49" fmla="*/ 240 h 318"/>
              <a:gd name="T50" fmla="*/ 54 w 318"/>
              <a:gd name="T51" fmla="*/ 203 h 318"/>
              <a:gd name="T52" fmla="*/ 79 w 318"/>
              <a:gd name="T53" fmla="*/ 193 h 318"/>
              <a:gd name="T54" fmla="*/ 54 w 318"/>
              <a:gd name="T55" fmla="*/ 118 h 318"/>
              <a:gd name="T56" fmla="*/ 78 w 318"/>
              <a:gd name="T57" fmla="*/ 127 h 318"/>
              <a:gd name="T58" fmla="*/ 127 w 318"/>
              <a:gd name="T59" fmla="*/ 78 h 318"/>
              <a:gd name="T60" fmla="*/ 116 w 318"/>
              <a:gd name="T61" fmla="*/ 56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18" h="318">
                <a:moveTo>
                  <a:pt x="72" y="159"/>
                </a:moveTo>
                <a:cubicBezTo>
                  <a:pt x="72" y="111"/>
                  <a:pt x="111" y="72"/>
                  <a:pt x="159" y="72"/>
                </a:cubicBezTo>
                <a:cubicBezTo>
                  <a:pt x="207" y="72"/>
                  <a:pt x="246" y="111"/>
                  <a:pt x="246" y="159"/>
                </a:cubicBezTo>
                <a:cubicBezTo>
                  <a:pt x="246" y="207"/>
                  <a:pt x="207" y="246"/>
                  <a:pt x="159" y="246"/>
                </a:cubicBezTo>
                <a:cubicBezTo>
                  <a:pt x="111" y="246"/>
                  <a:pt x="72" y="207"/>
                  <a:pt x="72" y="159"/>
                </a:cubicBezTo>
                <a:close/>
                <a:moveTo>
                  <a:pt x="212" y="9"/>
                </a:moveTo>
                <a:cubicBezTo>
                  <a:pt x="195" y="3"/>
                  <a:pt x="177" y="0"/>
                  <a:pt x="159" y="0"/>
                </a:cubicBezTo>
                <a:cubicBezTo>
                  <a:pt x="71" y="0"/>
                  <a:pt x="0" y="71"/>
                  <a:pt x="0" y="159"/>
                </a:cubicBezTo>
                <a:cubicBezTo>
                  <a:pt x="0" y="223"/>
                  <a:pt x="37" y="277"/>
                  <a:pt x="91" y="303"/>
                </a:cubicBezTo>
                <a:moveTo>
                  <a:pt x="106" y="309"/>
                </a:moveTo>
                <a:cubicBezTo>
                  <a:pt x="122" y="315"/>
                  <a:pt x="140" y="318"/>
                  <a:pt x="159" y="318"/>
                </a:cubicBezTo>
                <a:cubicBezTo>
                  <a:pt x="247" y="318"/>
                  <a:pt x="318" y="247"/>
                  <a:pt x="318" y="159"/>
                </a:cubicBezTo>
                <a:cubicBezTo>
                  <a:pt x="318" y="142"/>
                  <a:pt x="315" y="126"/>
                  <a:pt x="310" y="110"/>
                </a:cubicBezTo>
                <a:moveTo>
                  <a:pt x="304" y="93"/>
                </a:moveTo>
                <a:cubicBezTo>
                  <a:pt x="289" y="60"/>
                  <a:pt x="262" y="33"/>
                  <a:pt x="230" y="17"/>
                </a:cubicBezTo>
                <a:moveTo>
                  <a:pt x="202" y="56"/>
                </a:moveTo>
                <a:cubicBezTo>
                  <a:pt x="194" y="79"/>
                  <a:pt x="194" y="79"/>
                  <a:pt x="194" y="79"/>
                </a:cubicBezTo>
                <a:moveTo>
                  <a:pt x="268" y="118"/>
                </a:moveTo>
                <a:cubicBezTo>
                  <a:pt x="240" y="127"/>
                  <a:pt x="240" y="127"/>
                  <a:pt x="240" y="127"/>
                </a:cubicBezTo>
                <a:moveTo>
                  <a:pt x="239" y="192"/>
                </a:moveTo>
                <a:cubicBezTo>
                  <a:pt x="267" y="203"/>
                  <a:pt x="267" y="203"/>
                  <a:pt x="267" y="203"/>
                </a:cubicBezTo>
                <a:moveTo>
                  <a:pt x="206" y="265"/>
                </a:moveTo>
                <a:cubicBezTo>
                  <a:pt x="193" y="239"/>
                  <a:pt x="193" y="239"/>
                  <a:pt x="193" y="239"/>
                </a:cubicBezTo>
                <a:moveTo>
                  <a:pt x="117" y="266"/>
                </a:moveTo>
                <a:cubicBezTo>
                  <a:pt x="128" y="240"/>
                  <a:pt x="128" y="240"/>
                  <a:pt x="128" y="240"/>
                </a:cubicBezTo>
                <a:moveTo>
                  <a:pt x="54" y="203"/>
                </a:moveTo>
                <a:cubicBezTo>
                  <a:pt x="79" y="193"/>
                  <a:pt x="79" y="193"/>
                  <a:pt x="79" y="193"/>
                </a:cubicBezTo>
                <a:moveTo>
                  <a:pt x="54" y="118"/>
                </a:moveTo>
                <a:cubicBezTo>
                  <a:pt x="78" y="127"/>
                  <a:pt x="78" y="127"/>
                  <a:pt x="78" y="127"/>
                </a:cubicBezTo>
                <a:moveTo>
                  <a:pt x="127" y="78"/>
                </a:moveTo>
                <a:cubicBezTo>
                  <a:pt x="116" y="56"/>
                  <a:pt x="116" y="56"/>
                  <a:pt x="116" y="56"/>
                </a:cubicBezTo>
              </a:path>
            </a:pathLst>
          </a:custGeom>
          <a:noFill/>
          <a:ln w="6350" cap="flat">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900">
              <a:gradFill>
                <a:gsLst>
                  <a:gs pos="0">
                    <a:srgbClr val="505050"/>
                  </a:gs>
                  <a:gs pos="100000">
                    <a:srgbClr val="505050"/>
                  </a:gs>
                </a:gsLst>
              </a:gradFill>
            </a:endParaRPr>
          </a:p>
        </p:txBody>
      </p:sp>
      <p:sp>
        <p:nvSpPr>
          <p:cNvPr id="15" name="Rectangle 14">
            <a:extLst>
              <a:ext uri="{FF2B5EF4-FFF2-40B4-BE49-F238E27FC236}">
                <a16:creationId xmlns:a16="http://schemas.microsoft.com/office/drawing/2014/main" id="{C6B1031A-DA0C-15FE-F059-3E9209B33985}"/>
              </a:ext>
            </a:extLst>
          </p:cNvPr>
          <p:cNvSpPr>
            <a:spLocks/>
          </p:cNvSpPr>
          <p:nvPr/>
        </p:nvSpPr>
        <p:spPr bwMode="auto">
          <a:xfrm>
            <a:off x="1761485" y="5366284"/>
            <a:ext cx="5185415" cy="762298"/>
          </a:xfrm>
          <a:prstGeom prst="rect">
            <a:avLst/>
          </a:prstGeom>
          <a:noFill/>
          <a:ln w="6350" cap="flat" cmpd="sng" algn="ctr">
            <a:noFill/>
            <a:prstDash val="solid"/>
            <a:miter lim="800000"/>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defTabSz="913927" fontAlgn="base">
              <a:spcBef>
                <a:spcPct val="0"/>
              </a:spcBef>
              <a:spcAft>
                <a:spcPct val="0"/>
              </a:spcAft>
              <a:defRPr/>
            </a:pPr>
            <a:r>
              <a:rPr lang="en-US" sz="2000" kern="0"/>
              <a:t>Unified management experience across local &amp; remote storage</a:t>
            </a:r>
          </a:p>
        </p:txBody>
      </p:sp>
      <p:sp>
        <p:nvSpPr>
          <p:cNvPr id="94" name="Rectangle 93">
            <a:extLst>
              <a:ext uri="{FF2B5EF4-FFF2-40B4-BE49-F238E27FC236}">
                <a16:creationId xmlns:a16="http://schemas.microsoft.com/office/drawing/2014/main" id="{DF328A2B-EAC2-D5C0-63F2-555FA4816C15}"/>
              </a:ext>
              <a:ext uri="{C183D7F6-B498-43B3-948B-1728B52AA6E4}">
                <adec:decorative xmlns:adec="http://schemas.microsoft.com/office/drawing/2017/decorative" val="0"/>
              </a:ext>
            </a:extLst>
          </p:cNvPr>
          <p:cNvSpPr/>
          <p:nvPr/>
        </p:nvSpPr>
        <p:spPr bwMode="auto">
          <a:xfrm>
            <a:off x="7766890" y="288272"/>
            <a:ext cx="3839116" cy="488812"/>
          </a:xfrm>
          <a:prstGeom prst="rect">
            <a:avLst/>
          </a:prstGeom>
          <a:noFill/>
          <a:ln>
            <a:noFill/>
            <a:headEnd type="none" w="med" len="med"/>
            <a:tailEnd type="none" w="med" len="med"/>
          </a:ln>
          <a:effectLst>
            <a:outerShdw blurRad="63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134464" rIns="89642" bIns="44821" numCol="1" spcCol="0" rtlCol="0" fromWordArt="0" anchor="t" anchorCtr="0" forceAA="0" compatLnSpc="1">
            <a:prstTxWarp prst="textNoShape">
              <a:avLst/>
            </a:prstTxWarp>
            <a:spAutoFit/>
          </a:bodyPr>
          <a:lstStyle/>
          <a:p>
            <a:pPr algn="ctr" defTabSz="914102" fontAlgn="base">
              <a:spcBef>
                <a:spcPct val="0"/>
              </a:spcBef>
              <a:spcAft>
                <a:spcPct val="0"/>
              </a:spcAft>
            </a:pPr>
            <a:r>
              <a:rPr lang="en-IN" sz="2000">
                <a:solidFill>
                  <a:schemeClr val="tx1"/>
                </a:solidFill>
                <a:latin typeface="+mj-lt"/>
                <a:cs typeface="Segoe UI" pitchFamily="34" charset="0"/>
              </a:rPr>
              <a:t>Azure Kubernetes Cluster</a:t>
            </a:r>
          </a:p>
        </p:txBody>
      </p:sp>
      <p:sp>
        <p:nvSpPr>
          <p:cNvPr id="25" name="Rectangle 24">
            <a:extLst>
              <a:ext uri="{FF2B5EF4-FFF2-40B4-BE49-F238E27FC236}">
                <a16:creationId xmlns:a16="http://schemas.microsoft.com/office/drawing/2014/main" id="{2D9F7329-1531-6354-7956-70EE8BB05FFD}"/>
              </a:ext>
            </a:extLst>
          </p:cNvPr>
          <p:cNvSpPr>
            <a:spLocks/>
          </p:cNvSpPr>
          <p:nvPr/>
        </p:nvSpPr>
        <p:spPr bwMode="auto">
          <a:xfrm>
            <a:off x="7877175" y="1084359"/>
            <a:ext cx="1776636" cy="110576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89642" tIns="44821" rIns="89642" bIns="44821" numCol="1" spcCol="0" rtlCol="0" fromWordArt="0" anchor="t" anchorCtr="0" forceAA="0" compatLnSpc="1">
            <a:prstTxWarp prst="textNoShape">
              <a:avLst/>
            </a:prstTxWarp>
            <a:noAutofit/>
          </a:bodyPr>
          <a:lstStyle/>
          <a:p>
            <a:pPr algn="ctr" defTabSz="914102" fontAlgn="base">
              <a:spcBef>
                <a:spcPct val="0"/>
              </a:spcBef>
              <a:spcAft>
                <a:spcPts val="196"/>
              </a:spcAft>
            </a:pPr>
            <a:r>
              <a:rPr lang="en-IN" sz="2000">
                <a:solidFill>
                  <a:schemeClr val="tx1"/>
                </a:solidFill>
                <a:latin typeface="+mj-lt"/>
                <a:ea typeface="Segoe UI" pitchFamily="34" charset="0"/>
                <a:cs typeface="Segoe UI" pitchFamily="34" charset="0"/>
              </a:rPr>
              <a:t>Pod</a:t>
            </a:r>
          </a:p>
        </p:txBody>
      </p:sp>
      <p:sp>
        <p:nvSpPr>
          <p:cNvPr id="26" name="Rectangle 25">
            <a:extLst>
              <a:ext uri="{FF2B5EF4-FFF2-40B4-BE49-F238E27FC236}">
                <a16:creationId xmlns:a16="http://schemas.microsoft.com/office/drawing/2014/main" id="{800E5F16-3A11-ACEE-C198-29B5730564A0}"/>
              </a:ext>
            </a:extLst>
          </p:cNvPr>
          <p:cNvSpPr>
            <a:spLocks/>
          </p:cNvSpPr>
          <p:nvPr/>
        </p:nvSpPr>
        <p:spPr bwMode="auto">
          <a:xfrm>
            <a:off x="7978677" y="1608978"/>
            <a:ext cx="740930" cy="483361"/>
          </a:xfrm>
          <a:prstGeom prst="rect">
            <a:avLst/>
          </a:prstGeom>
          <a:solidFill>
            <a:schemeClr val="accent4">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algn="ctr" defTabSz="914102" fontAlgn="base">
              <a:spcBef>
                <a:spcPct val="0"/>
              </a:spcBef>
              <a:spcAft>
                <a:spcPct val="0"/>
              </a:spcAft>
            </a:pPr>
            <a:r>
              <a:rPr lang="en-IN" sz="1800">
                <a:solidFill>
                  <a:schemeClr val="bg1"/>
                </a:solidFill>
                <a:latin typeface="+mj-lt"/>
                <a:ea typeface="Segoe UI" pitchFamily="34" charset="0"/>
                <a:cs typeface="Segoe UI" pitchFamily="34" charset="0"/>
              </a:rPr>
              <a:t>PV</a:t>
            </a:r>
          </a:p>
        </p:txBody>
      </p:sp>
      <p:sp>
        <p:nvSpPr>
          <p:cNvPr id="30" name="Rectangle 29">
            <a:extLst>
              <a:ext uri="{FF2B5EF4-FFF2-40B4-BE49-F238E27FC236}">
                <a16:creationId xmlns:a16="http://schemas.microsoft.com/office/drawing/2014/main" id="{79E5685C-6613-FE66-CB58-02C23DDBCC5A}"/>
              </a:ext>
            </a:extLst>
          </p:cNvPr>
          <p:cNvSpPr>
            <a:spLocks/>
          </p:cNvSpPr>
          <p:nvPr/>
        </p:nvSpPr>
        <p:spPr bwMode="auto">
          <a:xfrm>
            <a:off x="8835792" y="1608978"/>
            <a:ext cx="740930" cy="483361"/>
          </a:xfrm>
          <a:prstGeom prst="rect">
            <a:avLst/>
          </a:prstGeom>
          <a:solidFill>
            <a:schemeClr val="accent4">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algn="ctr" defTabSz="914102" fontAlgn="base">
              <a:spcBef>
                <a:spcPct val="0"/>
              </a:spcBef>
              <a:spcAft>
                <a:spcPct val="0"/>
              </a:spcAft>
            </a:pPr>
            <a:r>
              <a:rPr lang="en-IN" sz="1800">
                <a:solidFill>
                  <a:schemeClr val="bg1"/>
                </a:solidFill>
                <a:latin typeface="+mj-lt"/>
                <a:ea typeface="Segoe UI" pitchFamily="34" charset="0"/>
                <a:cs typeface="Segoe UI" pitchFamily="34" charset="0"/>
              </a:rPr>
              <a:t>PV</a:t>
            </a:r>
          </a:p>
        </p:txBody>
      </p:sp>
      <p:sp>
        <p:nvSpPr>
          <p:cNvPr id="31" name="Rectangle 30">
            <a:extLst>
              <a:ext uri="{FF2B5EF4-FFF2-40B4-BE49-F238E27FC236}">
                <a16:creationId xmlns:a16="http://schemas.microsoft.com/office/drawing/2014/main" id="{1B400C93-2D0C-C409-CA9F-5AF0951FE28D}"/>
              </a:ext>
            </a:extLst>
          </p:cNvPr>
          <p:cNvSpPr>
            <a:spLocks/>
          </p:cNvSpPr>
          <p:nvPr/>
        </p:nvSpPr>
        <p:spPr bwMode="auto">
          <a:xfrm>
            <a:off x="9724557" y="1083555"/>
            <a:ext cx="1776636" cy="1105768"/>
          </a:xfrm>
          <a:prstGeom prst="rect">
            <a:avLst/>
          </a:prstGeom>
          <a:solidFill>
            <a:schemeClr val="accent4">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89642" tIns="44821" rIns="89642" bIns="44821" numCol="1" spcCol="0" rtlCol="0" fromWordArt="0" anchor="t" anchorCtr="0" forceAA="0" compatLnSpc="1">
            <a:prstTxWarp prst="textNoShape">
              <a:avLst/>
            </a:prstTxWarp>
            <a:noAutofit/>
          </a:bodyPr>
          <a:lstStyle/>
          <a:p>
            <a:pPr algn="ctr" defTabSz="914102" fontAlgn="base">
              <a:spcBef>
                <a:spcPct val="0"/>
              </a:spcBef>
              <a:spcAft>
                <a:spcPts val="196"/>
              </a:spcAft>
            </a:pPr>
            <a:r>
              <a:rPr lang="en-IN" sz="2000">
                <a:solidFill>
                  <a:schemeClr val="tx1"/>
                </a:solidFill>
                <a:latin typeface="+mj-lt"/>
                <a:ea typeface="Segoe UI" pitchFamily="34" charset="0"/>
                <a:cs typeface="Segoe UI" pitchFamily="34" charset="0"/>
              </a:rPr>
              <a:t>Pod</a:t>
            </a:r>
          </a:p>
        </p:txBody>
      </p:sp>
      <p:sp>
        <p:nvSpPr>
          <p:cNvPr id="75" name="Rectangle 74">
            <a:extLst>
              <a:ext uri="{FF2B5EF4-FFF2-40B4-BE49-F238E27FC236}">
                <a16:creationId xmlns:a16="http://schemas.microsoft.com/office/drawing/2014/main" id="{C57A1384-1045-8602-F495-83956420A078}"/>
              </a:ext>
            </a:extLst>
          </p:cNvPr>
          <p:cNvSpPr>
            <a:spLocks/>
          </p:cNvSpPr>
          <p:nvPr/>
        </p:nvSpPr>
        <p:spPr bwMode="auto">
          <a:xfrm>
            <a:off x="9813852" y="1608978"/>
            <a:ext cx="740930" cy="483361"/>
          </a:xfrm>
          <a:prstGeom prst="rect">
            <a:avLst/>
          </a:prstGeom>
          <a:solidFill>
            <a:schemeClr val="accent4">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algn="ctr" defTabSz="914102" fontAlgn="base">
              <a:spcBef>
                <a:spcPct val="0"/>
              </a:spcBef>
              <a:spcAft>
                <a:spcPct val="0"/>
              </a:spcAft>
            </a:pPr>
            <a:r>
              <a:rPr lang="en-IN" sz="1800">
                <a:solidFill>
                  <a:schemeClr val="bg1"/>
                </a:solidFill>
                <a:latin typeface="+mj-lt"/>
                <a:ea typeface="Segoe UI" pitchFamily="34" charset="0"/>
                <a:cs typeface="Segoe UI" pitchFamily="34" charset="0"/>
              </a:rPr>
              <a:t>PV</a:t>
            </a:r>
          </a:p>
        </p:txBody>
      </p:sp>
      <p:sp>
        <p:nvSpPr>
          <p:cNvPr id="76" name="Rectangle 75">
            <a:extLst>
              <a:ext uri="{FF2B5EF4-FFF2-40B4-BE49-F238E27FC236}">
                <a16:creationId xmlns:a16="http://schemas.microsoft.com/office/drawing/2014/main" id="{9F7250A9-ED0E-E289-98C4-1FEB19A657FF}"/>
              </a:ext>
            </a:extLst>
          </p:cNvPr>
          <p:cNvSpPr>
            <a:spLocks/>
          </p:cNvSpPr>
          <p:nvPr/>
        </p:nvSpPr>
        <p:spPr bwMode="auto">
          <a:xfrm>
            <a:off x="10670967" y="1608978"/>
            <a:ext cx="740930" cy="483361"/>
          </a:xfrm>
          <a:prstGeom prst="rect">
            <a:avLst/>
          </a:prstGeom>
          <a:solidFill>
            <a:schemeClr val="accent4">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algn="ctr" defTabSz="914102" fontAlgn="base">
              <a:spcBef>
                <a:spcPct val="0"/>
              </a:spcBef>
              <a:spcAft>
                <a:spcPct val="0"/>
              </a:spcAft>
            </a:pPr>
            <a:r>
              <a:rPr lang="en-IN" sz="1800">
                <a:solidFill>
                  <a:schemeClr val="bg1"/>
                </a:solidFill>
                <a:latin typeface="+mj-lt"/>
                <a:ea typeface="Segoe UI" pitchFamily="34" charset="0"/>
                <a:cs typeface="Segoe UI" pitchFamily="34" charset="0"/>
              </a:rPr>
              <a:t>PV</a:t>
            </a:r>
          </a:p>
        </p:txBody>
      </p:sp>
      <p:grpSp>
        <p:nvGrpSpPr>
          <p:cNvPr id="93" name="Group 92" descr="Four separate arrows from Azure Container Storage (AKS extension) pointing towards PV">
            <a:extLst>
              <a:ext uri="{FF2B5EF4-FFF2-40B4-BE49-F238E27FC236}">
                <a16:creationId xmlns:a16="http://schemas.microsoft.com/office/drawing/2014/main" id="{2C7BB22B-AB19-7286-4FF8-E885DC513515}"/>
              </a:ext>
            </a:extLst>
          </p:cNvPr>
          <p:cNvGrpSpPr/>
          <p:nvPr/>
        </p:nvGrpSpPr>
        <p:grpSpPr>
          <a:xfrm>
            <a:off x="8349142" y="2102644"/>
            <a:ext cx="2692290" cy="395287"/>
            <a:chOff x="8349142" y="2092339"/>
            <a:chExt cx="2692290" cy="424373"/>
          </a:xfrm>
        </p:grpSpPr>
        <p:cxnSp>
          <p:nvCxnSpPr>
            <p:cNvPr id="67" name="Straight Arrow Connector 66" descr="An arrow pointing downwards">
              <a:extLst>
                <a:ext uri="{FF2B5EF4-FFF2-40B4-BE49-F238E27FC236}">
                  <a16:creationId xmlns:a16="http://schemas.microsoft.com/office/drawing/2014/main" id="{A391367D-E7F7-EF11-249E-F025BBAFAB99}"/>
                </a:ext>
              </a:extLst>
            </p:cNvPr>
            <p:cNvCxnSpPr>
              <a:cxnSpLocks/>
            </p:cNvCxnSpPr>
            <p:nvPr/>
          </p:nvCxnSpPr>
          <p:spPr>
            <a:xfrm flipV="1">
              <a:off x="8349142" y="2092339"/>
              <a:ext cx="0" cy="424373"/>
            </a:xfrm>
            <a:prstGeom prst="straightConnector1">
              <a:avLst/>
            </a:prstGeom>
            <a:ln w="12700">
              <a:solidFill>
                <a:schemeClr val="bg1">
                  <a:lumMod val="75000"/>
                </a:schemeClr>
              </a:solidFill>
              <a:headEnd type="none"/>
              <a:tailEnd type="arrow" w="med" len="sm"/>
            </a:ln>
          </p:spPr>
          <p:style>
            <a:lnRef idx="1">
              <a:schemeClr val="accent1"/>
            </a:lnRef>
            <a:fillRef idx="0">
              <a:schemeClr val="accent1"/>
            </a:fillRef>
            <a:effectRef idx="0">
              <a:schemeClr val="accent1"/>
            </a:effectRef>
            <a:fontRef idx="minor">
              <a:schemeClr val="tx1"/>
            </a:fontRef>
          </p:style>
        </p:cxnSp>
        <p:cxnSp>
          <p:nvCxnSpPr>
            <p:cNvPr id="68" name="Straight Arrow Connector 67" descr="An arrow pointing downwards">
              <a:extLst>
                <a:ext uri="{FF2B5EF4-FFF2-40B4-BE49-F238E27FC236}">
                  <a16:creationId xmlns:a16="http://schemas.microsoft.com/office/drawing/2014/main" id="{9A5CEAD6-DBD3-3FC6-2A21-0D49A124F27A}"/>
                </a:ext>
              </a:extLst>
            </p:cNvPr>
            <p:cNvCxnSpPr>
              <a:cxnSpLocks/>
            </p:cNvCxnSpPr>
            <p:nvPr/>
          </p:nvCxnSpPr>
          <p:spPr>
            <a:xfrm flipV="1">
              <a:off x="9206257" y="2092339"/>
              <a:ext cx="0" cy="424373"/>
            </a:xfrm>
            <a:prstGeom prst="straightConnector1">
              <a:avLst/>
            </a:prstGeom>
            <a:ln w="12700">
              <a:solidFill>
                <a:schemeClr val="bg1">
                  <a:lumMod val="75000"/>
                </a:schemeClr>
              </a:solidFill>
              <a:headEnd type="none"/>
              <a:tailEnd type="arrow" w="med" len="sm"/>
            </a:ln>
          </p:spPr>
          <p:style>
            <a:lnRef idx="1">
              <a:schemeClr val="accent1"/>
            </a:lnRef>
            <a:fillRef idx="0">
              <a:schemeClr val="accent1"/>
            </a:fillRef>
            <a:effectRef idx="0">
              <a:schemeClr val="accent1"/>
            </a:effectRef>
            <a:fontRef idx="minor">
              <a:schemeClr val="tx1"/>
            </a:fontRef>
          </p:style>
        </p:cxnSp>
        <p:cxnSp>
          <p:nvCxnSpPr>
            <p:cNvPr id="69" name="Straight Arrow Connector 68" descr="An arrow pointing downwards">
              <a:extLst>
                <a:ext uri="{FF2B5EF4-FFF2-40B4-BE49-F238E27FC236}">
                  <a16:creationId xmlns:a16="http://schemas.microsoft.com/office/drawing/2014/main" id="{3C805A77-DE72-AE42-1B68-891FA7977133}"/>
                </a:ext>
              </a:extLst>
            </p:cNvPr>
            <p:cNvCxnSpPr>
              <a:cxnSpLocks/>
            </p:cNvCxnSpPr>
            <p:nvPr/>
          </p:nvCxnSpPr>
          <p:spPr>
            <a:xfrm flipV="1">
              <a:off x="10184317" y="2092339"/>
              <a:ext cx="0" cy="423569"/>
            </a:xfrm>
            <a:prstGeom prst="straightConnector1">
              <a:avLst/>
            </a:prstGeom>
            <a:ln w="12700">
              <a:solidFill>
                <a:schemeClr val="bg1">
                  <a:lumMod val="75000"/>
                </a:schemeClr>
              </a:solidFill>
              <a:headEnd type="none"/>
              <a:tailEnd type="arrow" w="med" len="sm"/>
            </a:ln>
          </p:spPr>
          <p:style>
            <a:lnRef idx="1">
              <a:schemeClr val="accent1"/>
            </a:lnRef>
            <a:fillRef idx="0">
              <a:schemeClr val="accent1"/>
            </a:fillRef>
            <a:effectRef idx="0">
              <a:schemeClr val="accent1"/>
            </a:effectRef>
            <a:fontRef idx="minor">
              <a:schemeClr val="tx1"/>
            </a:fontRef>
          </p:style>
        </p:cxnSp>
        <p:cxnSp>
          <p:nvCxnSpPr>
            <p:cNvPr id="70" name="Straight Arrow Connector 69" descr="An arrow pointing downwards">
              <a:extLst>
                <a:ext uri="{FF2B5EF4-FFF2-40B4-BE49-F238E27FC236}">
                  <a16:creationId xmlns:a16="http://schemas.microsoft.com/office/drawing/2014/main" id="{9294E91E-2009-CB3E-9457-69700911F885}"/>
                </a:ext>
              </a:extLst>
            </p:cNvPr>
            <p:cNvCxnSpPr>
              <a:cxnSpLocks/>
            </p:cNvCxnSpPr>
            <p:nvPr/>
          </p:nvCxnSpPr>
          <p:spPr>
            <a:xfrm flipV="1">
              <a:off x="11041432" y="2092339"/>
              <a:ext cx="0" cy="423569"/>
            </a:xfrm>
            <a:prstGeom prst="straightConnector1">
              <a:avLst/>
            </a:prstGeom>
            <a:ln w="12700">
              <a:solidFill>
                <a:schemeClr val="bg1">
                  <a:lumMod val="75000"/>
                </a:schemeClr>
              </a:solidFill>
              <a:headEnd type="none"/>
              <a:tailEnd type="arrow" w="med" len="sm"/>
            </a:ln>
          </p:spPr>
          <p:style>
            <a:lnRef idx="1">
              <a:schemeClr val="accent1"/>
            </a:lnRef>
            <a:fillRef idx="0">
              <a:schemeClr val="accent1"/>
            </a:fillRef>
            <a:effectRef idx="0">
              <a:schemeClr val="accent1"/>
            </a:effectRef>
            <a:fontRef idx="minor">
              <a:schemeClr val="tx1"/>
            </a:fontRef>
          </p:style>
        </p:cxnSp>
      </p:grpSp>
      <p:sp>
        <p:nvSpPr>
          <p:cNvPr id="24" name="Rectangle 23">
            <a:extLst>
              <a:ext uri="{FF2B5EF4-FFF2-40B4-BE49-F238E27FC236}">
                <a16:creationId xmlns:a16="http://schemas.microsoft.com/office/drawing/2014/main" id="{6B45BA4A-E897-AD2E-67E7-F557FEA71D98}"/>
              </a:ext>
            </a:extLst>
          </p:cNvPr>
          <p:cNvSpPr>
            <a:spLocks/>
          </p:cNvSpPr>
          <p:nvPr/>
        </p:nvSpPr>
        <p:spPr bwMode="auto">
          <a:xfrm>
            <a:off x="7877175" y="2516712"/>
            <a:ext cx="3624019" cy="796035"/>
          </a:xfrm>
          <a:prstGeom prst="rect">
            <a:avLst/>
          </a:prstGeom>
          <a:solidFill>
            <a:schemeClr val="accent4">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44821" rIns="89642" bIns="44821" numCol="1" spcCol="0" rtlCol="0" fromWordArt="0" anchor="ctr" anchorCtr="0" forceAA="0" compatLnSpc="1">
            <a:prstTxWarp prst="textNoShape">
              <a:avLst/>
            </a:prstTxWarp>
            <a:noAutofit/>
          </a:bodyPr>
          <a:lstStyle/>
          <a:p>
            <a:pPr algn="ctr" defTabSz="914102" fontAlgn="base">
              <a:spcBef>
                <a:spcPct val="0"/>
              </a:spcBef>
              <a:spcAft>
                <a:spcPct val="0"/>
              </a:spcAft>
            </a:pPr>
            <a:r>
              <a:rPr lang="en-IN" sz="1800">
                <a:solidFill>
                  <a:schemeClr val="tx1"/>
                </a:solidFill>
                <a:cs typeface="Segoe UI" pitchFamily="34" charset="0"/>
              </a:rPr>
              <a:t>Azure Container Storage</a:t>
            </a:r>
          </a:p>
          <a:p>
            <a:pPr algn="ctr" defTabSz="914102" fontAlgn="base">
              <a:spcBef>
                <a:spcPct val="0"/>
              </a:spcBef>
              <a:spcAft>
                <a:spcPct val="0"/>
              </a:spcAft>
            </a:pPr>
            <a:r>
              <a:rPr lang="en-IN" sz="1200">
                <a:solidFill>
                  <a:schemeClr val="tx1"/>
                </a:solidFill>
                <a:cs typeface="Segoe UI" pitchFamily="34" charset="0"/>
              </a:rPr>
              <a:t>(AKS extension)</a:t>
            </a:r>
          </a:p>
        </p:txBody>
      </p:sp>
      <p:cxnSp>
        <p:nvCxnSpPr>
          <p:cNvPr id="82" name="Straight Arrow Connector 81" descr="An arrow pointing from Backing Storage&#10;towards Azure Container Storage&#10;(AKS extension)">
            <a:extLst>
              <a:ext uri="{FF2B5EF4-FFF2-40B4-BE49-F238E27FC236}">
                <a16:creationId xmlns:a16="http://schemas.microsoft.com/office/drawing/2014/main" id="{C6308A69-1AED-0484-730D-F7F4B8774F56}"/>
              </a:ext>
              <a:ext uri="{C183D7F6-B498-43B3-948B-1728B52AA6E4}">
                <adec:decorative xmlns:adec="http://schemas.microsoft.com/office/drawing/2017/decorative" val="0"/>
              </a:ext>
            </a:extLst>
          </p:cNvPr>
          <p:cNvCxnSpPr>
            <a:cxnSpLocks/>
          </p:cNvCxnSpPr>
          <p:nvPr/>
        </p:nvCxnSpPr>
        <p:spPr>
          <a:xfrm flipV="1">
            <a:off x="9686448" y="3333889"/>
            <a:ext cx="2737" cy="548640"/>
          </a:xfrm>
          <a:prstGeom prst="straightConnector1">
            <a:avLst/>
          </a:prstGeom>
          <a:ln w="12700">
            <a:solidFill>
              <a:schemeClr val="bg1">
                <a:lumMod val="75000"/>
              </a:schemeClr>
            </a:solidFill>
            <a:headEnd type="none"/>
            <a:tailEnd type="arrow" w="med" len="sm"/>
          </a:ln>
        </p:spPr>
        <p:style>
          <a:lnRef idx="1">
            <a:schemeClr val="accent1"/>
          </a:lnRef>
          <a:fillRef idx="0">
            <a:schemeClr val="accent1"/>
          </a:fillRef>
          <a:effectRef idx="0">
            <a:schemeClr val="accent1"/>
          </a:effectRef>
          <a:fontRef idx="minor">
            <a:schemeClr val="tx1"/>
          </a:fontRef>
        </p:style>
      </p:cxnSp>
      <p:sp>
        <p:nvSpPr>
          <p:cNvPr id="95" name="Rectangle 94">
            <a:extLst>
              <a:ext uri="{FF2B5EF4-FFF2-40B4-BE49-F238E27FC236}">
                <a16:creationId xmlns:a16="http://schemas.microsoft.com/office/drawing/2014/main" id="{806C48EE-9DFE-B7E5-6999-176D82CAAB6E}"/>
              </a:ext>
              <a:ext uri="{C183D7F6-B498-43B3-948B-1728B52AA6E4}">
                <adec:decorative xmlns:adec="http://schemas.microsoft.com/office/drawing/2017/decorative" val="0"/>
              </a:ext>
            </a:extLst>
          </p:cNvPr>
          <p:cNvSpPr/>
          <p:nvPr/>
        </p:nvSpPr>
        <p:spPr bwMode="auto">
          <a:xfrm>
            <a:off x="7766890" y="3903670"/>
            <a:ext cx="3839116" cy="488812"/>
          </a:xfrm>
          <a:prstGeom prst="rect">
            <a:avLst/>
          </a:prstGeom>
          <a:noFill/>
          <a:ln>
            <a:noFill/>
            <a:headEnd type="none" w="med" len="med"/>
            <a:tailEnd type="none" w="med" len="med"/>
          </a:ln>
          <a:effectLst>
            <a:outerShdw blurRad="63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134464" rIns="89642" bIns="44821" numCol="1" spcCol="0" rtlCol="0" fromWordArt="0" anchor="t" anchorCtr="0" forceAA="0" compatLnSpc="1">
            <a:prstTxWarp prst="textNoShape">
              <a:avLst/>
            </a:prstTxWarp>
            <a:spAutoFit/>
          </a:bodyPr>
          <a:lstStyle/>
          <a:p>
            <a:pPr algn="ctr" defTabSz="914102" fontAlgn="base">
              <a:spcBef>
                <a:spcPct val="0"/>
              </a:spcBef>
              <a:spcAft>
                <a:spcPct val="0"/>
              </a:spcAft>
            </a:pPr>
            <a:r>
              <a:rPr lang="en-IN" sz="2000">
                <a:solidFill>
                  <a:schemeClr val="tx1"/>
                </a:solidFill>
                <a:latin typeface="+mj-lt"/>
                <a:ea typeface="Segoe UI" pitchFamily="34" charset="0"/>
                <a:cs typeface="Segoe UI" pitchFamily="34" charset="0"/>
              </a:rPr>
              <a:t>Backing Storage</a:t>
            </a:r>
          </a:p>
        </p:txBody>
      </p:sp>
      <p:sp>
        <p:nvSpPr>
          <p:cNvPr id="37" name="Rectangle 36">
            <a:extLst>
              <a:ext uri="{FF2B5EF4-FFF2-40B4-BE49-F238E27FC236}">
                <a16:creationId xmlns:a16="http://schemas.microsoft.com/office/drawing/2014/main" id="{F4DCC182-588F-2252-DA13-89014E5C0A12}"/>
              </a:ext>
            </a:extLst>
          </p:cNvPr>
          <p:cNvSpPr>
            <a:spLocks/>
          </p:cNvSpPr>
          <p:nvPr/>
        </p:nvSpPr>
        <p:spPr bwMode="auto">
          <a:xfrm>
            <a:off x="7877175" y="4591204"/>
            <a:ext cx="3618550" cy="551883"/>
          </a:xfrm>
          <a:prstGeom prst="rect">
            <a:avLst/>
          </a:prstGeom>
          <a:solidFill>
            <a:schemeClr val="accent4">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44821" rIns="89642" bIns="44821" numCol="1" spcCol="0" rtlCol="0" fromWordArt="0" anchor="ctr" anchorCtr="0" forceAA="0" compatLnSpc="1">
            <a:prstTxWarp prst="textNoShape">
              <a:avLst/>
            </a:prstTxWarp>
            <a:noAutofit/>
          </a:bodyPr>
          <a:lstStyle/>
          <a:p>
            <a:pPr algn="ctr" defTabSz="914102" fontAlgn="base">
              <a:spcBef>
                <a:spcPct val="0"/>
              </a:spcBef>
              <a:spcAft>
                <a:spcPct val="0"/>
              </a:spcAft>
            </a:pPr>
            <a:r>
              <a:rPr lang="en-IN" sz="1800">
                <a:solidFill>
                  <a:schemeClr val="tx1"/>
                </a:solidFill>
                <a:cs typeface="Segoe UI" pitchFamily="34" charset="0"/>
              </a:rPr>
              <a:t>Azure Disk </a:t>
            </a:r>
          </a:p>
        </p:txBody>
      </p:sp>
      <p:sp>
        <p:nvSpPr>
          <p:cNvPr id="39" name="Rectangle 38">
            <a:extLst>
              <a:ext uri="{FF2B5EF4-FFF2-40B4-BE49-F238E27FC236}">
                <a16:creationId xmlns:a16="http://schemas.microsoft.com/office/drawing/2014/main" id="{213E01D7-CF04-79E3-98DA-D0D167B8B997}"/>
              </a:ext>
            </a:extLst>
          </p:cNvPr>
          <p:cNvSpPr/>
          <p:nvPr/>
        </p:nvSpPr>
        <p:spPr bwMode="auto">
          <a:xfrm>
            <a:off x="7877175" y="5245861"/>
            <a:ext cx="3618550" cy="551883"/>
          </a:xfrm>
          <a:prstGeom prst="rect">
            <a:avLst/>
          </a:prstGeom>
          <a:solidFill>
            <a:schemeClr val="accent4">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44821" rIns="89642" bIns="44821" numCol="1" spcCol="0" rtlCol="0" fromWordArt="0" anchor="ctr" anchorCtr="0" forceAA="0" compatLnSpc="1">
            <a:prstTxWarp prst="textNoShape">
              <a:avLst/>
            </a:prstTxWarp>
            <a:noAutofit/>
          </a:bodyPr>
          <a:lstStyle/>
          <a:p>
            <a:pPr algn="ctr" defTabSz="914102" fontAlgn="base">
              <a:spcBef>
                <a:spcPct val="0"/>
              </a:spcBef>
              <a:spcAft>
                <a:spcPct val="0"/>
              </a:spcAft>
            </a:pPr>
            <a:r>
              <a:rPr lang="en-IN" sz="1800">
                <a:solidFill>
                  <a:schemeClr val="tx1"/>
                </a:solidFill>
                <a:cs typeface="Segoe UI" pitchFamily="34" charset="0"/>
              </a:rPr>
              <a:t>Azure Elastic SAN</a:t>
            </a:r>
          </a:p>
        </p:txBody>
      </p:sp>
      <p:sp>
        <p:nvSpPr>
          <p:cNvPr id="38" name="Rectangle 37">
            <a:extLst>
              <a:ext uri="{FF2B5EF4-FFF2-40B4-BE49-F238E27FC236}">
                <a16:creationId xmlns:a16="http://schemas.microsoft.com/office/drawing/2014/main" id="{268A1382-92B1-421B-11BA-522E68331395}"/>
              </a:ext>
            </a:extLst>
          </p:cNvPr>
          <p:cNvSpPr/>
          <p:nvPr/>
        </p:nvSpPr>
        <p:spPr bwMode="auto">
          <a:xfrm>
            <a:off x="7877175" y="5900519"/>
            <a:ext cx="3618550" cy="551883"/>
          </a:xfrm>
          <a:prstGeom prst="rect">
            <a:avLst/>
          </a:prstGeom>
          <a:solidFill>
            <a:schemeClr val="accent4">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44821" rIns="89642" bIns="44821" numCol="1" spcCol="0" rtlCol="0" fromWordArt="0" anchor="ctr" anchorCtr="0" forceAA="0" compatLnSpc="1">
            <a:prstTxWarp prst="textNoShape">
              <a:avLst/>
            </a:prstTxWarp>
            <a:noAutofit/>
          </a:bodyPr>
          <a:lstStyle/>
          <a:p>
            <a:pPr algn="ctr" defTabSz="914102" fontAlgn="base">
              <a:spcBef>
                <a:spcPct val="0"/>
              </a:spcBef>
              <a:spcAft>
                <a:spcPct val="0"/>
              </a:spcAft>
            </a:pPr>
            <a:r>
              <a:rPr lang="en-IN" sz="1800">
                <a:solidFill>
                  <a:schemeClr val="tx1"/>
                </a:solidFill>
                <a:cs typeface="Segoe UI" pitchFamily="34" charset="0"/>
              </a:rPr>
              <a:t>Ephemeral Disk</a:t>
            </a:r>
          </a:p>
        </p:txBody>
      </p:sp>
    </p:spTree>
    <p:extLst>
      <p:ext uri="{BB962C8B-B14F-4D97-AF65-F5344CB8AC3E}">
        <p14:creationId xmlns:p14="http://schemas.microsoft.com/office/powerpoint/2010/main" val="3450003877"/>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Rectangle 54">
            <a:extLst>
              <a:ext uri="{FF2B5EF4-FFF2-40B4-BE49-F238E27FC236}">
                <a16:creationId xmlns:a16="http://schemas.microsoft.com/office/drawing/2014/main" id="{6755D33A-9C81-8044-E9B0-17616421AA70}"/>
              </a:ext>
              <a:ext uri="{C183D7F6-B498-43B3-948B-1728B52AA6E4}">
                <adec:decorative xmlns:adec="http://schemas.microsoft.com/office/drawing/2017/decorative" val="1"/>
              </a:ext>
            </a:extLst>
          </p:cNvPr>
          <p:cNvSpPr/>
          <p:nvPr/>
        </p:nvSpPr>
        <p:spPr bwMode="auto">
          <a:xfrm>
            <a:off x="4787900" y="292100"/>
            <a:ext cx="6815137" cy="6273800"/>
          </a:xfrm>
          <a:prstGeom prst="rect">
            <a:avLst/>
          </a:prstGeom>
          <a:solidFill>
            <a:srgbClr val="FFFFFF"/>
          </a:solidFill>
          <a:ln w="6350" cap="flat" cmpd="sng" algn="ctr">
            <a:noFill/>
            <a:prstDash val="solid"/>
            <a:miter lim="800000"/>
            <a:headEnd type="none" w="med" len="med"/>
            <a:tailEnd type="none" w="med" len="med"/>
          </a:ln>
          <a:effectLst>
            <a:outerShdw blurRad="63500" algn="ctr" rotWithShape="0">
              <a:prstClr val="black">
                <a:alpha val="10000"/>
              </a:prstClr>
            </a:outerShdw>
          </a:effectLst>
        </p:spPr>
        <p:txBody>
          <a:bodyPr rot="0" spcFirstLastPara="0" vertOverflow="overflow" horzOverflow="overflow" vert="horz" wrap="square" lIns="175761" tIns="140609" rIns="175761" bIns="140609" numCol="1" spcCol="0" rtlCol="0" fromWordArt="0" anchor="t" anchorCtr="0" forceAA="0" compatLnSpc="1">
            <a:prstTxWarp prst="textNoShape">
              <a:avLst/>
            </a:prstTxWarp>
            <a:noAutofit/>
          </a:bodyPr>
          <a:lstStyle/>
          <a:p>
            <a:pPr defTabSz="896094" fontAlgn="base">
              <a:spcBef>
                <a:spcPct val="0"/>
              </a:spcBef>
              <a:spcAft>
                <a:spcPct val="0"/>
              </a:spcAft>
            </a:pPr>
            <a:endParaRPr lang="en-US" sz="1922" kern="0" err="1">
              <a:solidFill>
                <a:schemeClr val="tx1"/>
              </a:solidFill>
              <a:cs typeface="Segoe UI" pitchFamily="34" charset="0"/>
            </a:endParaRPr>
          </a:p>
        </p:txBody>
      </p:sp>
      <p:sp>
        <p:nvSpPr>
          <p:cNvPr id="56" name="Rectangle 55">
            <a:extLst>
              <a:ext uri="{FF2B5EF4-FFF2-40B4-BE49-F238E27FC236}">
                <a16:creationId xmlns:a16="http://schemas.microsoft.com/office/drawing/2014/main" id="{6ED88142-CB04-F960-A6C5-A26F11AC3988}"/>
              </a:ext>
              <a:ext uri="{C183D7F6-B498-43B3-948B-1728B52AA6E4}">
                <adec:decorative xmlns:adec="http://schemas.microsoft.com/office/drawing/2017/decorative" val="1"/>
              </a:ext>
            </a:extLst>
          </p:cNvPr>
          <p:cNvSpPr/>
          <p:nvPr/>
        </p:nvSpPr>
        <p:spPr bwMode="auto">
          <a:xfrm>
            <a:off x="4925218" y="447717"/>
            <a:ext cx="6540500" cy="400008"/>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cxnSp>
        <p:nvCxnSpPr>
          <p:cNvPr id="63" name="Straight Connector 62">
            <a:extLst>
              <a:ext uri="{FF2B5EF4-FFF2-40B4-BE49-F238E27FC236}">
                <a16:creationId xmlns:a16="http://schemas.microsoft.com/office/drawing/2014/main" id="{153494FD-AAD5-4F8B-1D23-651E6D8A1071}"/>
              </a:ext>
              <a:ext uri="{C183D7F6-B498-43B3-948B-1728B52AA6E4}">
                <adec:decorative xmlns:adec="http://schemas.microsoft.com/office/drawing/2017/decorative" val="1"/>
              </a:ext>
            </a:extLst>
          </p:cNvPr>
          <p:cNvCxnSpPr>
            <a:cxnSpLocks/>
          </p:cNvCxnSpPr>
          <p:nvPr/>
        </p:nvCxnSpPr>
        <p:spPr>
          <a:xfrm>
            <a:off x="8195468" y="518559"/>
            <a:ext cx="0" cy="246221"/>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E12609A9-2835-F14B-6CD4-9DACD4C5C50D}"/>
              </a:ext>
              <a:ext uri="{C183D7F6-B498-43B3-948B-1728B52AA6E4}">
                <adec:decorative xmlns:adec="http://schemas.microsoft.com/office/drawing/2017/decorative" val="1"/>
              </a:ext>
            </a:extLst>
          </p:cNvPr>
          <p:cNvCxnSpPr>
            <a:cxnSpLocks/>
          </p:cNvCxnSpPr>
          <p:nvPr/>
        </p:nvCxnSpPr>
        <p:spPr>
          <a:xfrm>
            <a:off x="8195468" y="914400"/>
            <a:ext cx="0" cy="5539776"/>
          </a:xfrm>
          <a:prstGeom prst="line">
            <a:avLst/>
          </a:prstGeom>
          <a:ln w="6350">
            <a:solidFill>
              <a:schemeClr val="bg1">
                <a:lumMod val="8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029D5650-EAC6-A054-AFD7-117B10260C8A}"/>
              </a:ext>
            </a:extLst>
          </p:cNvPr>
          <p:cNvSpPr txBox="1">
            <a:spLocks/>
          </p:cNvSpPr>
          <p:nvPr/>
        </p:nvSpPr>
        <p:spPr>
          <a:xfrm>
            <a:off x="5032373" y="518559"/>
            <a:ext cx="3055940" cy="246221"/>
          </a:xfrm>
          <a:prstGeom prst="rect">
            <a:avLst/>
          </a:prstGeom>
          <a:noFill/>
        </p:spPr>
        <p:txBody>
          <a:bodyPr wrap="square" lIns="0" tIns="0" rIns="0" bIns="0">
            <a:spAutoFit/>
          </a:bodyPr>
          <a:lstStyle/>
          <a:p>
            <a:pPr algn="ctr"/>
            <a:r>
              <a:rPr lang="en-US" sz="1600">
                <a:solidFill>
                  <a:schemeClr val="bg1"/>
                </a:solidFill>
                <a:latin typeface="+mj-lt"/>
              </a:rPr>
              <a:t>Before</a:t>
            </a:r>
          </a:p>
        </p:txBody>
      </p:sp>
      <p:sp>
        <p:nvSpPr>
          <p:cNvPr id="71" name="Rectangle 70">
            <a:extLst>
              <a:ext uri="{FF2B5EF4-FFF2-40B4-BE49-F238E27FC236}">
                <a16:creationId xmlns:a16="http://schemas.microsoft.com/office/drawing/2014/main" id="{C843F317-71BE-D59B-0B2E-4EA40DBF0F01}"/>
              </a:ext>
            </a:extLst>
          </p:cNvPr>
          <p:cNvSpPr>
            <a:spLocks/>
          </p:cNvSpPr>
          <p:nvPr/>
        </p:nvSpPr>
        <p:spPr>
          <a:xfrm>
            <a:off x="6031904" y="1031386"/>
            <a:ext cx="1056878" cy="359127"/>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25">
              <a:defRPr/>
            </a:pPr>
            <a:r>
              <a:rPr lang="en-US" sz="1600">
                <a:solidFill>
                  <a:schemeClr val="tx1"/>
                </a:solidFill>
                <a:latin typeface="+mj-lt"/>
                <a:cs typeface="Segoe UI" panose="020B0502040204020203" pitchFamily="34" charset="0"/>
              </a:rPr>
              <a:t>Pod</a:t>
            </a:r>
          </a:p>
        </p:txBody>
      </p:sp>
      <p:grpSp>
        <p:nvGrpSpPr>
          <p:cNvPr id="124" name="Group 123" descr="A line showing a connection from Pod&#10;towards PV and PV">
            <a:extLst>
              <a:ext uri="{FF2B5EF4-FFF2-40B4-BE49-F238E27FC236}">
                <a16:creationId xmlns:a16="http://schemas.microsoft.com/office/drawing/2014/main" id="{94FCFCE2-710A-93F6-75DB-DC6E0CC09DE8}"/>
              </a:ext>
            </a:extLst>
          </p:cNvPr>
          <p:cNvGrpSpPr/>
          <p:nvPr/>
        </p:nvGrpSpPr>
        <p:grpSpPr>
          <a:xfrm>
            <a:off x="5560812" y="1412677"/>
            <a:ext cx="1999062" cy="458796"/>
            <a:chOff x="5560812" y="1390513"/>
            <a:chExt cx="1999062" cy="503124"/>
          </a:xfrm>
        </p:grpSpPr>
        <p:sp>
          <p:nvSpPr>
            <p:cNvPr id="97" name="Rectangle 96">
              <a:extLst>
                <a:ext uri="{FF2B5EF4-FFF2-40B4-BE49-F238E27FC236}">
                  <a16:creationId xmlns:a16="http://schemas.microsoft.com/office/drawing/2014/main" id="{3FDE650C-9EBF-86F3-9EF8-DC3CB85125FB}"/>
                </a:ext>
              </a:extLst>
            </p:cNvPr>
            <p:cNvSpPr>
              <a:spLocks/>
            </p:cNvSpPr>
            <p:nvPr/>
          </p:nvSpPr>
          <p:spPr>
            <a:xfrm>
              <a:off x="5560812" y="1662485"/>
              <a:ext cx="1999062" cy="231152"/>
            </a:xfrm>
            <a:custGeom>
              <a:avLst/>
              <a:gdLst>
                <a:gd name="connsiteX0" fmla="*/ 0 w 1999062"/>
                <a:gd name="connsiteY0" fmla="*/ 0 h 231152"/>
                <a:gd name="connsiteX1" fmla="*/ 1999062 w 1999062"/>
                <a:gd name="connsiteY1" fmla="*/ 0 h 231152"/>
                <a:gd name="connsiteX2" fmla="*/ 1999062 w 1999062"/>
                <a:gd name="connsiteY2" fmla="*/ 231152 h 231152"/>
                <a:gd name="connsiteX3" fmla="*/ 0 w 1999062"/>
                <a:gd name="connsiteY3" fmla="*/ 231152 h 231152"/>
                <a:gd name="connsiteX4" fmla="*/ 0 w 1999062"/>
                <a:gd name="connsiteY4" fmla="*/ 0 h 231152"/>
                <a:gd name="connsiteX0" fmla="*/ 0 w 1999062"/>
                <a:gd name="connsiteY0" fmla="*/ 231152 h 322592"/>
                <a:gd name="connsiteX1" fmla="*/ 0 w 1999062"/>
                <a:gd name="connsiteY1" fmla="*/ 0 h 322592"/>
                <a:gd name="connsiteX2" fmla="*/ 1999062 w 1999062"/>
                <a:gd name="connsiteY2" fmla="*/ 0 h 322592"/>
                <a:gd name="connsiteX3" fmla="*/ 1999062 w 1999062"/>
                <a:gd name="connsiteY3" fmla="*/ 231152 h 322592"/>
                <a:gd name="connsiteX4" fmla="*/ 91440 w 1999062"/>
                <a:gd name="connsiteY4" fmla="*/ 322592 h 322592"/>
                <a:gd name="connsiteX0" fmla="*/ 0 w 1999062"/>
                <a:gd name="connsiteY0" fmla="*/ 231152 h 231152"/>
                <a:gd name="connsiteX1" fmla="*/ 0 w 1999062"/>
                <a:gd name="connsiteY1" fmla="*/ 0 h 231152"/>
                <a:gd name="connsiteX2" fmla="*/ 1999062 w 1999062"/>
                <a:gd name="connsiteY2" fmla="*/ 0 h 231152"/>
                <a:gd name="connsiteX3" fmla="*/ 1999062 w 1999062"/>
                <a:gd name="connsiteY3" fmla="*/ 231152 h 231152"/>
              </a:gdLst>
              <a:ahLst/>
              <a:cxnLst>
                <a:cxn ang="0">
                  <a:pos x="connsiteX0" y="connsiteY0"/>
                </a:cxn>
                <a:cxn ang="0">
                  <a:pos x="connsiteX1" y="connsiteY1"/>
                </a:cxn>
                <a:cxn ang="0">
                  <a:pos x="connsiteX2" y="connsiteY2"/>
                </a:cxn>
                <a:cxn ang="0">
                  <a:pos x="connsiteX3" y="connsiteY3"/>
                </a:cxn>
              </a:cxnLst>
              <a:rect l="l" t="t" r="r" b="b"/>
              <a:pathLst>
                <a:path w="1999062" h="231152">
                  <a:moveTo>
                    <a:pt x="0" y="231152"/>
                  </a:moveTo>
                  <a:lnTo>
                    <a:pt x="0" y="0"/>
                  </a:lnTo>
                  <a:lnTo>
                    <a:pt x="1999062" y="0"/>
                  </a:lnTo>
                  <a:lnTo>
                    <a:pt x="1999062" y="231152"/>
                  </a:lnTo>
                </a:path>
              </a:pathLst>
            </a:cu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defTabSz="914225">
                <a:defRPr/>
              </a:pPr>
              <a:endParaRPr lang="en-US" sz="1600">
                <a:solidFill>
                  <a:schemeClr val="tx1"/>
                </a:solidFill>
                <a:cs typeface="Segoe UI" panose="020B0502040204020203" pitchFamily="34" charset="0"/>
              </a:endParaRPr>
            </a:p>
          </p:txBody>
        </p:sp>
        <p:cxnSp>
          <p:nvCxnSpPr>
            <p:cNvPr id="99" name="Straight Connector 98">
              <a:extLst>
                <a:ext uri="{FF2B5EF4-FFF2-40B4-BE49-F238E27FC236}">
                  <a16:creationId xmlns:a16="http://schemas.microsoft.com/office/drawing/2014/main" id="{AB229561-0B3A-4E55-E905-93B40F4DBDC1}"/>
                </a:ext>
              </a:extLst>
            </p:cNvPr>
            <p:cNvCxnSpPr/>
            <p:nvPr/>
          </p:nvCxnSpPr>
          <p:spPr>
            <a:xfrm>
              <a:off x="6562725" y="1390513"/>
              <a:ext cx="0" cy="271972"/>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grpSp>
      <p:sp>
        <p:nvSpPr>
          <p:cNvPr id="74" name="Rectangle 73">
            <a:extLst>
              <a:ext uri="{FF2B5EF4-FFF2-40B4-BE49-F238E27FC236}">
                <a16:creationId xmlns:a16="http://schemas.microsoft.com/office/drawing/2014/main" id="{6B746113-89BD-4CC4-3F8E-F2591D3673F4}"/>
              </a:ext>
            </a:extLst>
          </p:cNvPr>
          <p:cNvSpPr>
            <a:spLocks/>
          </p:cNvSpPr>
          <p:nvPr/>
        </p:nvSpPr>
        <p:spPr>
          <a:xfrm>
            <a:off x="5032373" y="1900744"/>
            <a:ext cx="1056878" cy="359127"/>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25">
              <a:defRPr/>
            </a:pPr>
            <a:r>
              <a:rPr lang="en-US" sz="1600">
                <a:solidFill>
                  <a:schemeClr val="tx1"/>
                </a:solidFill>
                <a:latin typeface="+mj-lt"/>
                <a:cs typeface="Segoe UI" panose="020B0502040204020203" pitchFamily="34" charset="0"/>
              </a:rPr>
              <a:t>PV</a:t>
            </a:r>
          </a:p>
        </p:txBody>
      </p:sp>
      <p:sp>
        <p:nvSpPr>
          <p:cNvPr id="78" name="TextBox 77">
            <a:extLst>
              <a:ext uri="{FF2B5EF4-FFF2-40B4-BE49-F238E27FC236}">
                <a16:creationId xmlns:a16="http://schemas.microsoft.com/office/drawing/2014/main" id="{0B07A5E7-2315-3EBF-B415-1E9ED7A5B575}"/>
              </a:ext>
            </a:extLst>
          </p:cNvPr>
          <p:cNvSpPr txBox="1">
            <a:spLocks/>
          </p:cNvSpPr>
          <p:nvPr/>
        </p:nvSpPr>
        <p:spPr>
          <a:xfrm>
            <a:off x="5032373" y="2399547"/>
            <a:ext cx="1056878" cy="861774"/>
          </a:xfrm>
          <a:prstGeom prst="rect">
            <a:avLst/>
          </a:prstGeom>
          <a:noFill/>
        </p:spPr>
        <p:txBody>
          <a:bodyPr wrap="square" lIns="0" tIns="0" rIns="0" bIns="0" rtlCol="0">
            <a:spAutoFit/>
          </a:bodyPr>
          <a:lstStyle/>
          <a:p>
            <a:pPr algn="ctr"/>
            <a:r>
              <a:rPr lang="en-US" sz="1400">
                <a:latin typeface="+mj-lt"/>
                <a:cs typeface="Segoe UI" panose="020B0502040204020203" pitchFamily="34" charset="0"/>
              </a:rPr>
              <a:t>Need</a:t>
            </a:r>
          </a:p>
          <a:p>
            <a:pPr algn="ctr"/>
            <a:r>
              <a:rPr lang="en-US" sz="1400">
                <a:cs typeface="Segoe UI" panose="020B0502040204020203" pitchFamily="34" charset="0"/>
              </a:rPr>
              <a:t>100 GiB</a:t>
            </a:r>
          </a:p>
          <a:p>
            <a:pPr algn="ctr"/>
            <a:r>
              <a:rPr lang="en-US" sz="1400">
                <a:cs typeface="Segoe UI" panose="020B0502040204020203" pitchFamily="34" charset="0"/>
              </a:rPr>
              <a:t>1100 IOPS</a:t>
            </a:r>
          </a:p>
          <a:p>
            <a:pPr algn="ctr"/>
            <a:r>
              <a:rPr lang="en-US" sz="1400">
                <a:cs typeface="Segoe UI" panose="020B0502040204020203" pitchFamily="34" charset="0"/>
              </a:rPr>
              <a:t>125 MB/s</a:t>
            </a:r>
          </a:p>
        </p:txBody>
      </p:sp>
      <p:cxnSp>
        <p:nvCxnSpPr>
          <p:cNvPr id="93" name="Straight Connector 92" descr="c">
            <a:extLst>
              <a:ext uri="{FF2B5EF4-FFF2-40B4-BE49-F238E27FC236}">
                <a16:creationId xmlns:a16="http://schemas.microsoft.com/office/drawing/2014/main" id="{5D95569F-DFB5-54A9-F6DE-800EE59312E3}"/>
              </a:ext>
            </a:extLst>
          </p:cNvPr>
          <p:cNvCxnSpPr>
            <a:cxnSpLocks/>
          </p:cNvCxnSpPr>
          <p:nvPr/>
        </p:nvCxnSpPr>
        <p:spPr>
          <a:xfrm>
            <a:off x="5560812" y="3290851"/>
            <a:ext cx="0" cy="54864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76" name="Rectangle 75">
            <a:extLst>
              <a:ext uri="{FF2B5EF4-FFF2-40B4-BE49-F238E27FC236}">
                <a16:creationId xmlns:a16="http://schemas.microsoft.com/office/drawing/2014/main" id="{19FFE835-1D31-DAB4-2AB7-5F326728B2A6}"/>
              </a:ext>
            </a:extLst>
          </p:cNvPr>
          <p:cNvSpPr>
            <a:spLocks/>
          </p:cNvSpPr>
          <p:nvPr/>
        </p:nvSpPr>
        <p:spPr>
          <a:xfrm>
            <a:off x="5032373" y="3887524"/>
            <a:ext cx="1056878" cy="427574"/>
          </a:xfrm>
          <a:prstGeom prst="rect">
            <a:avLst/>
          </a:prstGeom>
          <a:noFill/>
          <a:ln w="127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225">
              <a:defRPr/>
            </a:pPr>
            <a:r>
              <a:rPr lang="en-US" sz="1200">
                <a:solidFill>
                  <a:schemeClr val="tx1"/>
                </a:solidFill>
                <a:cs typeface="Segoe UI" panose="020B0502040204020203" pitchFamily="34" charset="0"/>
              </a:rPr>
              <a:t>Cloud Block Storage</a:t>
            </a:r>
          </a:p>
        </p:txBody>
      </p:sp>
      <p:sp>
        <p:nvSpPr>
          <p:cNvPr id="79" name="TextBox 78">
            <a:extLst>
              <a:ext uri="{FF2B5EF4-FFF2-40B4-BE49-F238E27FC236}">
                <a16:creationId xmlns:a16="http://schemas.microsoft.com/office/drawing/2014/main" id="{341E574B-C096-74B3-DF2B-FE7EBEF22C93}"/>
              </a:ext>
            </a:extLst>
          </p:cNvPr>
          <p:cNvSpPr txBox="1"/>
          <p:nvPr/>
        </p:nvSpPr>
        <p:spPr>
          <a:xfrm>
            <a:off x="5032373" y="4454774"/>
            <a:ext cx="1056878" cy="1077218"/>
          </a:xfrm>
          <a:prstGeom prst="rect">
            <a:avLst/>
          </a:prstGeom>
          <a:noFill/>
        </p:spPr>
        <p:txBody>
          <a:bodyPr wrap="square" lIns="0" tIns="0" rIns="0" bIns="0" rtlCol="0">
            <a:spAutoFit/>
          </a:bodyPr>
          <a:lstStyle/>
          <a:p>
            <a:pPr algn="ctr"/>
            <a:r>
              <a:rPr lang="en-US" sz="1400">
                <a:latin typeface="+mj-lt"/>
                <a:cs typeface="Segoe UI" panose="020B0502040204020203" pitchFamily="34" charset="0"/>
              </a:rPr>
              <a:t>Generic SKU</a:t>
            </a:r>
          </a:p>
          <a:p>
            <a:pPr algn="ctr"/>
            <a:r>
              <a:rPr lang="en-US" sz="1400">
                <a:cs typeface="Segoe UI" panose="020B0502040204020203" pitchFamily="34" charset="0"/>
              </a:rPr>
              <a:t>256 GiB</a:t>
            </a:r>
          </a:p>
          <a:p>
            <a:pPr algn="ctr"/>
            <a:r>
              <a:rPr lang="en-US" sz="1400">
                <a:cs typeface="Segoe UI" panose="020B0502040204020203" pitchFamily="34" charset="0"/>
              </a:rPr>
              <a:t>1100 IOPS</a:t>
            </a:r>
          </a:p>
          <a:p>
            <a:pPr algn="ctr"/>
            <a:r>
              <a:rPr lang="en-US" sz="1400">
                <a:cs typeface="Segoe UI" panose="020B0502040204020203" pitchFamily="34" charset="0"/>
              </a:rPr>
              <a:t>125 MB/s</a:t>
            </a:r>
          </a:p>
          <a:p>
            <a:pPr algn="ctr"/>
            <a:r>
              <a:rPr lang="en-US" sz="1400">
                <a:cs typeface="Segoe UI" panose="020B0502040204020203" pitchFamily="34" charset="0"/>
              </a:rPr>
              <a:t>$120.79</a:t>
            </a:r>
          </a:p>
        </p:txBody>
      </p:sp>
      <p:sp>
        <p:nvSpPr>
          <p:cNvPr id="75" name="Rectangle 74">
            <a:extLst>
              <a:ext uri="{FF2B5EF4-FFF2-40B4-BE49-F238E27FC236}">
                <a16:creationId xmlns:a16="http://schemas.microsoft.com/office/drawing/2014/main" id="{E3E465D5-31F4-5D88-6EA9-0A6F817E8F91}"/>
              </a:ext>
            </a:extLst>
          </p:cNvPr>
          <p:cNvSpPr>
            <a:spLocks/>
          </p:cNvSpPr>
          <p:nvPr/>
        </p:nvSpPr>
        <p:spPr>
          <a:xfrm>
            <a:off x="7031435" y="1900744"/>
            <a:ext cx="1056878" cy="359127"/>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25">
              <a:defRPr/>
            </a:pPr>
            <a:r>
              <a:rPr lang="en-US" sz="1600">
                <a:solidFill>
                  <a:schemeClr val="tx1"/>
                </a:solidFill>
                <a:latin typeface="+mj-lt"/>
                <a:cs typeface="Segoe UI" panose="020B0502040204020203" pitchFamily="34" charset="0"/>
              </a:rPr>
              <a:t>PV</a:t>
            </a:r>
          </a:p>
        </p:txBody>
      </p:sp>
      <p:sp>
        <p:nvSpPr>
          <p:cNvPr id="80" name="TextBox 79">
            <a:extLst>
              <a:ext uri="{FF2B5EF4-FFF2-40B4-BE49-F238E27FC236}">
                <a16:creationId xmlns:a16="http://schemas.microsoft.com/office/drawing/2014/main" id="{838ECDB1-06F6-01E7-D170-322F776DECC9}"/>
              </a:ext>
            </a:extLst>
          </p:cNvPr>
          <p:cNvSpPr txBox="1">
            <a:spLocks/>
          </p:cNvSpPr>
          <p:nvPr/>
        </p:nvSpPr>
        <p:spPr>
          <a:xfrm>
            <a:off x="7031435" y="2399547"/>
            <a:ext cx="1056878" cy="861774"/>
          </a:xfrm>
          <a:prstGeom prst="rect">
            <a:avLst/>
          </a:prstGeom>
          <a:noFill/>
        </p:spPr>
        <p:txBody>
          <a:bodyPr wrap="square" lIns="0" tIns="0" rIns="0" bIns="0" rtlCol="0">
            <a:spAutoFit/>
          </a:bodyPr>
          <a:lstStyle/>
          <a:p>
            <a:pPr algn="ctr"/>
            <a:r>
              <a:rPr lang="en-US" sz="1400">
                <a:latin typeface="+mj-lt"/>
                <a:cs typeface="Segoe UI" panose="020B0502040204020203" pitchFamily="34" charset="0"/>
              </a:rPr>
              <a:t>Need</a:t>
            </a:r>
          </a:p>
          <a:p>
            <a:pPr algn="ctr"/>
            <a:r>
              <a:rPr lang="en-US" sz="1400">
                <a:cs typeface="Segoe UI" panose="020B0502040204020203" pitchFamily="34" charset="0"/>
              </a:rPr>
              <a:t>256 GiB</a:t>
            </a:r>
          </a:p>
          <a:p>
            <a:pPr algn="ctr"/>
            <a:r>
              <a:rPr lang="en-US" sz="1400">
                <a:cs typeface="Segoe UI" panose="020B0502040204020203" pitchFamily="34" charset="0"/>
              </a:rPr>
              <a:t>5000 IOPS</a:t>
            </a:r>
          </a:p>
          <a:p>
            <a:pPr algn="ctr"/>
            <a:r>
              <a:rPr lang="en-US" sz="1400">
                <a:cs typeface="Segoe UI" panose="020B0502040204020203" pitchFamily="34" charset="0"/>
              </a:rPr>
              <a:t>200 MB/s</a:t>
            </a:r>
          </a:p>
        </p:txBody>
      </p:sp>
      <p:cxnSp>
        <p:nvCxnSpPr>
          <p:cNvPr id="94" name="Straight Connector 93" descr="A line showing a connection from Need&#10;256 GiB&#10;5000 IOPS&#10;200 MB/s towards Disk">
            <a:extLst>
              <a:ext uri="{FF2B5EF4-FFF2-40B4-BE49-F238E27FC236}">
                <a16:creationId xmlns:a16="http://schemas.microsoft.com/office/drawing/2014/main" id="{30E0EEF0-6054-62C9-093D-CD8D0E8A730D}"/>
              </a:ext>
            </a:extLst>
          </p:cNvPr>
          <p:cNvCxnSpPr>
            <a:cxnSpLocks/>
          </p:cNvCxnSpPr>
          <p:nvPr/>
        </p:nvCxnSpPr>
        <p:spPr>
          <a:xfrm>
            <a:off x="7559874" y="3290851"/>
            <a:ext cx="0" cy="54864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77" name="Rectangle 76">
            <a:extLst>
              <a:ext uri="{FF2B5EF4-FFF2-40B4-BE49-F238E27FC236}">
                <a16:creationId xmlns:a16="http://schemas.microsoft.com/office/drawing/2014/main" id="{A439061E-3A98-7592-A2FE-5B1B31A5196E}"/>
              </a:ext>
            </a:extLst>
          </p:cNvPr>
          <p:cNvSpPr>
            <a:spLocks/>
          </p:cNvSpPr>
          <p:nvPr/>
        </p:nvSpPr>
        <p:spPr>
          <a:xfrm>
            <a:off x="7031435" y="3887524"/>
            <a:ext cx="1056878" cy="427574"/>
          </a:xfrm>
          <a:prstGeom prst="rect">
            <a:avLst/>
          </a:prstGeom>
          <a:noFill/>
          <a:ln w="127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225">
              <a:defRPr/>
            </a:pPr>
            <a:r>
              <a:rPr lang="en-US" sz="1200">
                <a:solidFill>
                  <a:schemeClr val="tx1"/>
                </a:solidFill>
                <a:cs typeface="Segoe UI" panose="020B0502040204020203" pitchFamily="34" charset="0"/>
              </a:rPr>
              <a:t>Cloud Block Storage</a:t>
            </a:r>
          </a:p>
        </p:txBody>
      </p:sp>
      <p:sp>
        <p:nvSpPr>
          <p:cNvPr id="81" name="TextBox 80">
            <a:extLst>
              <a:ext uri="{FF2B5EF4-FFF2-40B4-BE49-F238E27FC236}">
                <a16:creationId xmlns:a16="http://schemas.microsoft.com/office/drawing/2014/main" id="{86884BCE-4182-3DFB-43B3-B8C9E35E9A84}"/>
              </a:ext>
            </a:extLst>
          </p:cNvPr>
          <p:cNvSpPr txBox="1">
            <a:spLocks/>
          </p:cNvSpPr>
          <p:nvPr/>
        </p:nvSpPr>
        <p:spPr>
          <a:xfrm>
            <a:off x="7031435" y="4454774"/>
            <a:ext cx="1056878" cy="1077218"/>
          </a:xfrm>
          <a:prstGeom prst="rect">
            <a:avLst/>
          </a:prstGeom>
          <a:noFill/>
        </p:spPr>
        <p:txBody>
          <a:bodyPr wrap="square" lIns="0" tIns="0" rIns="0" bIns="0" rtlCol="0">
            <a:spAutoFit/>
          </a:bodyPr>
          <a:lstStyle/>
          <a:p>
            <a:pPr algn="ctr"/>
            <a:r>
              <a:rPr lang="en-US" sz="1400">
                <a:latin typeface="+mj-lt"/>
                <a:cs typeface="Segoe UI" panose="020B0502040204020203" pitchFamily="34" charset="0"/>
              </a:rPr>
              <a:t>Generic SKU</a:t>
            </a:r>
          </a:p>
          <a:p>
            <a:pPr algn="ctr"/>
            <a:r>
              <a:rPr lang="en-US" sz="1400">
                <a:cs typeface="Segoe UI" panose="020B0502040204020203" pitchFamily="34" charset="0"/>
              </a:rPr>
              <a:t>1024 GiB</a:t>
            </a:r>
          </a:p>
          <a:p>
            <a:pPr algn="ctr"/>
            <a:r>
              <a:rPr lang="en-US" sz="1400">
                <a:cs typeface="Segoe UI" panose="020B0502040204020203" pitchFamily="34" charset="0"/>
              </a:rPr>
              <a:t>5000 IOPS</a:t>
            </a:r>
          </a:p>
          <a:p>
            <a:pPr algn="ctr"/>
            <a:r>
              <a:rPr lang="en-US" sz="1400">
                <a:cs typeface="Segoe UI" panose="020B0502040204020203" pitchFamily="34" charset="0"/>
              </a:rPr>
              <a:t>200 MB/s</a:t>
            </a:r>
          </a:p>
          <a:p>
            <a:pPr algn="ctr"/>
            <a:r>
              <a:rPr lang="en-US" sz="1400">
                <a:cs typeface="Segoe UI" panose="020B0502040204020203" pitchFamily="34" charset="0"/>
              </a:rPr>
              <a:t>$508.69</a:t>
            </a:r>
          </a:p>
        </p:txBody>
      </p:sp>
      <p:sp>
        <p:nvSpPr>
          <p:cNvPr id="84" name="TextBox 83">
            <a:extLst>
              <a:ext uri="{FF2B5EF4-FFF2-40B4-BE49-F238E27FC236}">
                <a16:creationId xmlns:a16="http://schemas.microsoft.com/office/drawing/2014/main" id="{D3DCCD07-2267-3860-717E-A41F5F7B3F98}"/>
              </a:ext>
            </a:extLst>
          </p:cNvPr>
          <p:cNvSpPr txBox="1">
            <a:spLocks/>
          </p:cNvSpPr>
          <p:nvPr/>
        </p:nvSpPr>
        <p:spPr>
          <a:xfrm>
            <a:off x="5364161" y="5671668"/>
            <a:ext cx="2387601" cy="338554"/>
          </a:xfrm>
          <a:prstGeom prst="rect">
            <a:avLst/>
          </a:prstGeom>
          <a:noFill/>
        </p:spPr>
        <p:txBody>
          <a:bodyPr wrap="square" lIns="91440" tIns="45720" rIns="91440" bIns="45720" rtlCol="0">
            <a:spAutoFit/>
          </a:bodyPr>
          <a:lstStyle/>
          <a:p>
            <a:pPr algn="ctr"/>
            <a:r>
              <a:rPr lang="en-US" sz="1600">
                <a:latin typeface="+mj-lt"/>
                <a:cs typeface="Segoe UI" panose="020B0502040204020203" pitchFamily="34" charset="0"/>
              </a:rPr>
              <a:t>Monthly Total: $629.48</a:t>
            </a:r>
          </a:p>
        </p:txBody>
      </p:sp>
      <p:sp>
        <p:nvSpPr>
          <p:cNvPr id="68" name="TextBox 67">
            <a:extLst>
              <a:ext uri="{FF2B5EF4-FFF2-40B4-BE49-F238E27FC236}">
                <a16:creationId xmlns:a16="http://schemas.microsoft.com/office/drawing/2014/main" id="{C1096079-BE6A-F5A6-FFD1-2D1D3F95F4E6}"/>
              </a:ext>
            </a:extLst>
          </p:cNvPr>
          <p:cNvSpPr txBox="1">
            <a:spLocks/>
          </p:cNvSpPr>
          <p:nvPr/>
        </p:nvSpPr>
        <p:spPr>
          <a:xfrm>
            <a:off x="8302623" y="518559"/>
            <a:ext cx="3055940" cy="246221"/>
          </a:xfrm>
          <a:prstGeom prst="rect">
            <a:avLst/>
          </a:prstGeom>
          <a:noFill/>
        </p:spPr>
        <p:txBody>
          <a:bodyPr wrap="square" lIns="0" tIns="0" rIns="0" bIns="0">
            <a:spAutoFit/>
          </a:bodyPr>
          <a:lstStyle/>
          <a:p>
            <a:pPr algn="ctr"/>
            <a:r>
              <a:rPr lang="en-US" sz="1600">
                <a:solidFill>
                  <a:schemeClr val="bg1"/>
                </a:solidFill>
                <a:latin typeface="+mj-lt"/>
              </a:rPr>
              <a:t>With Azure Container Storage</a:t>
            </a:r>
          </a:p>
        </p:txBody>
      </p:sp>
      <p:sp>
        <p:nvSpPr>
          <p:cNvPr id="103" name="Rectangle 102">
            <a:extLst>
              <a:ext uri="{FF2B5EF4-FFF2-40B4-BE49-F238E27FC236}">
                <a16:creationId xmlns:a16="http://schemas.microsoft.com/office/drawing/2014/main" id="{FC0618D7-A548-29B1-BCEC-7F07EADC2A78}"/>
              </a:ext>
            </a:extLst>
          </p:cNvPr>
          <p:cNvSpPr>
            <a:spLocks/>
          </p:cNvSpPr>
          <p:nvPr/>
        </p:nvSpPr>
        <p:spPr>
          <a:xfrm>
            <a:off x="9302154" y="1031386"/>
            <a:ext cx="1056878" cy="359127"/>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25">
              <a:defRPr/>
            </a:pPr>
            <a:r>
              <a:rPr lang="en-US" sz="1600">
                <a:solidFill>
                  <a:schemeClr val="tx1"/>
                </a:solidFill>
                <a:latin typeface="+mj-lt"/>
                <a:cs typeface="Segoe UI" panose="020B0502040204020203" pitchFamily="34" charset="0"/>
              </a:rPr>
              <a:t>Pod</a:t>
            </a:r>
          </a:p>
        </p:txBody>
      </p:sp>
      <p:grpSp>
        <p:nvGrpSpPr>
          <p:cNvPr id="125" name="Group 124" descr="A line showing a connection from Pod&#10;towards PV and PV">
            <a:extLst>
              <a:ext uri="{FF2B5EF4-FFF2-40B4-BE49-F238E27FC236}">
                <a16:creationId xmlns:a16="http://schemas.microsoft.com/office/drawing/2014/main" id="{B9DEDBDC-7AF4-DE35-4D69-E6960A346ED4}"/>
              </a:ext>
            </a:extLst>
          </p:cNvPr>
          <p:cNvGrpSpPr/>
          <p:nvPr/>
        </p:nvGrpSpPr>
        <p:grpSpPr>
          <a:xfrm>
            <a:off x="8831062" y="1412677"/>
            <a:ext cx="1999062" cy="458796"/>
            <a:chOff x="8831062" y="1390513"/>
            <a:chExt cx="1999062" cy="503124"/>
          </a:xfrm>
        </p:grpSpPr>
        <p:sp>
          <p:nvSpPr>
            <p:cNvPr id="116" name="Rectangle 96">
              <a:extLst>
                <a:ext uri="{FF2B5EF4-FFF2-40B4-BE49-F238E27FC236}">
                  <a16:creationId xmlns:a16="http://schemas.microsoft.com/office/drawing/2014/main" id="{EA12CEAD-C54E-F82A-3D0C-AF8A756099BB}"/>
                </a:ext>
              </a:extLst>
            </p:cNvPr>
            <p:cNvSpPr>
              <a:spLocks/>
            </p:cNvSpPr>
            <p:nvPr/>
          </p:nvSpPr>
          <p:spPr>
            <a:xfrm>
              <a:off x="8831062" y="1662485"/>
              <a:ext cx="1999062" cy="231152"/>
            </a:xfrm>
            <a:custGeom>
              <a:avLst/>
              <a:gdLst>
                <a:gd name="connsiteX0" fmla="*/ 0 w 1999062"/>
                <a:gd name="connsiteY0" fmla="*/ 0 h 231152"/>
                <a:gd name="connsiteX1" fmla="*/ 1999062 w 1999062"/>
                <a:gd name="connsiteY1" fmla="*/ 0 h 231152"/>
                <a:gd name="connsiteX2" fmla="*/ 1999062 w 1999062"/>
                <a:gd name="connsiteY2" fmla="*/ 231152 h 231152"/>
                <a:gd name="connsiteX3" fmla="*/ 0 w 1999062"/>
                <a:gd name="connsiteY3" fmla="*/ 231152 h 231152"/>
                <a:gd name="connsiteX4" fmla="*/ 0 w 1999062"/>
                <a:gd name="connsiteY4" fmla="*/ 0 h 231152"/>
                <a:gd name="connsiteX0" fmla="*/ 0 w 1999062"/>
                <a:gd name="connsiteY0" fmla="*/ 231152 h 322592"/>
                <a:gd name="connsiteX1" fmla="*/ 0 w 1999062"/>
                <a:gd name="connsiteY1" fmla="*/ 0 h 322592"/>
                <a:gd name="connsiteX2" fmla="*/ 1999062 w 1999062"/>
                <a:gd name="connsiteY2" fmla="*/ 0 h 322592"/>
                <a:gd name="connsiteX3" fmla="*/ 1999062 w 1999062"/>
                <a:gd name="connsiteY3" fmla="*/ 231152 h 322592"/>
                <a:gd name="connsiteX4" fmla="*/ 91440 w 1999062"/>
                <a:gd name="connsiteY4" fmla="*/ 322592 h 322592"/>
                <a:gd name="connsiteX0" fmla="*/ 0 w 1999062"/>
                <a:gd name="connsiteY0" fmla="*/ 231152 h 231152"/>
                <a:gd name="connsiteX1" fmla="*/ 0 w 1999062"/>
                <a:gd name="connsiteY1" fmla="*/ 0 h 231152"/>
                <a:gd name="connsiteX2" fmla="*/ 1999062 w 1999062"/>
                <a:gd name="connsiteY2" fmla="*/ 0 h 231152"/>
                <a:gd name="connsiteX3" fmla="*/ 1999062 w 1999062"/>
                <a:gd name="connsiteY3" fmla="*/ 231152 h 231152"/>
              </a:gdLst>
              <a:ahLst/>
              <a:cxnLst>
                <a:cxn ang="0">
                  <a:pos x="connsiteX0" y="connsiteY0"/>
                </a:cxn>
                <a:cxn ang="0">
                  <a:pos x="connsiteX1" y="connsiteY1"/>
                </a:cxn>
                <a:cxn ang="0">
                  <a:pos x="connsiteX2" y="connsiteY2"/>
                </a:cxn>
                <a:cxn ang="0">
                  <a:pos x="connsiteX3" y="connsiteY3"/>
                </a:cxn>
              </a:cxnLst>
              <a:rect l="l" t="t" r="r" b="b"/>
              <a:pathLst>
                <a:path w="1999062" h="231152">
                  <a:moveTo>
                    <a:pt x="0" y="231152"/>
                  </a:moveTo>
                  <a:lnTo>
                    <a:pt x="0" y="0"/>
                  </a:lnTo>
                  <a:lnTo>
                    <a:pt x="1999062" y="0"/>
                  </a:lnTo>
                  <a:lnTo>
                    <a:pt x="1999062" y="231152"/>
                  </a:lnTo>
                </a:path>
              </a:pathLst>
            </a:cu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defTabSz="914225">
                <a:defRPr/>
              </a:pPr>
              <a:endParaRPr lang="en-US" sz="1600">
                <a:solidFill>
                  <a:schemeClr val="tx1"/>
                </a:solidFill>
                <a:cs typeface="Segoe UI" panose="020B0502040204020203" pitchFamily="34" charset="0"/>
              </a:endParaRPr>
            </a:p>
          </p:txBody>
        </p:sp>
        <p:cxnSp>
          <p:nvCxnSpPr>
            <p:cNvPr id="117" name="Straight Connector 116">
              <a:extLst>
                <a:ext uri="{FF2B5EF4-FFF2-40B4-BE49-F238E27FC236}">
                  <a16:creationId xmlns:a16="http://schemas.microsoft.com/office/drawing/2014/main" id="{03784917-0E44-B5A6-924B-385FE523C5CB}"/>
                </a:ext>
              </a:extLst>
            </p:cNvPr>
            <p:cNvCxnSpPr/>
            <p:nvPr/>
          </p:nvCxnSpPr>
          <p:spPr>
            <a:xfrm>
              <a:off x="9832975" y="1390513"/>
              <a:ext cx="0" cy="271972"/>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grpSp>
      <p:sp>
        <p:nvSpPr>
          <p:cNvPr id="104" name="Rectangle 103">
            <a:extLst>
              <a:ext uri="{FF2B5EF4-FFF2-40B4-BE49-F238E27FC236}">
                <a16:creationId xmlns:a16="http://schemas.microsoft.com/office/drawing/2014/main" id="{6F1E2CCE-5ABA-183C-9C78-5B48A48BF447}"/>
              </a:ext>
            </a:extLst>
          </p:cNvPr>
          <p:cNvSpPr>
            <a:spLocks/>
          </p:cNvSpPr>
          <p:nvPr/>
        </p:nvSpPr>
        <p:spPr>
          <a:xfrm>
            <a:off x="8302623" y="1900744"/>
            <a:ext cx="1056878" cy="359127"/>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25">
              <a:defRPr/>
            </a:pPr>
            <a:r>
              <a:rPr lang="en-US" sz="1600">
                <a:solidFill>
                  <a:schemeClr val="tx1"/>
                </a:solidFill>
                <a:latin typeface="+mj-lt"/>
                <a:cs typeface="Segoe UI" panose="020B0502040204020203" pitchFamily="34" charset="0"/>
              </a:rPr>
              <a:t>PV</a:t>
            </a:r>
          </a:p>
        </p:txBody>
      </p:sp>
      <p:sp>
        <p:nvSpPr>
          <p:cNvPr id="108" name="TextBox 107">
            <a:extLst>
              <a:ext uri="{FF2B5EF4-FFF2-40B4-BE49-F238E27FC236}">
                <a16:creationId xmlns:a16="http://schemas.microsoft.com/office/drawing/2014/main" id="{796049DB-E6FE-9F01-A3F4-D294BC5A9614}"/>
              </a:ext>
            </a:extLst>
          </p:cNvPr>
          <p:cNvSpPr txBox="1">
            <a:spLocks/>
          </p:cNvSpPr>
          <p:nvPr/>
        </p:nvSpPr>
        <p:spPr>
          <a:xfrm>
            <a:off x="8302623" y="2399547"/>
            <a:ext cx="1056878" cy="861774"/>
          </a:xfrm>
          <a:prstGeom prst="rect">
            <a:avLst/>
          </a:prstGeom>
          <a:noFill/>
        </p:spPr>
        <p:txBody>
          <a:bodyPr wrap="square" lIns="0" tIns="0" rIns="0" bIns="0" rtlCol="0">
            <a:spAutoFit/>
          </a:bodyPr>
          <a:lstStyle/>
          <a:p>
            <a:pPr algn="ctr"/>
            <a:r>
              <a:rPr lang="en-US" sz="1400">
                <a:latin typeface="+mj-lt"/>
                <a:cs typeface="Segoe UI" panose="020B0502040204020203" pitchFamily="34" charset="0"/>
              </a:rPr>
              <a:t>Need</a:t>
            </a:r>
          </a:p>
          <a:p>
            <a:pPr algn="ctr"/>
            <a:r>
              <a:rPr lang="en-US" sz="1400">
                <a:cs typeface="Segoe UI" panose="020B0502040204020203" pitchFamily="34" charset="0"/>
              </a:rPr>
              <a:t>100 GiB</a:t>
            </a:r>
          </a:p>
          <a:p>
            <a:pPr algn="ctr"/>
            <a:r>
              <a:rPr lang="en-US" sz="1400">
                <a:cs typeface="Segoe UI" panose="020B0502040204020203" pitchFamily="34" charset="0"/>
              </a:rPr>
              <a:t>1100 IOPS</a:t>
            </a:r>
          </a:p>
          <a:p>
            <a:pPr algn="ctr"/>
            <a:r>
              <a:rPr lang="en-US" sz="1400">
                <a:cs typeface="Segoe UI" panose="020B0502040204020203" pitchFamily="34" charset="0"/>
              </a:rPr>
              <a:t>125 MB/s</a:t>
            </a:r>
          </a:p>
        </p:txBody>
      </p:sp>
      <p:cxnSp>
        <p:nvCxnSpPr>
          <p:cNvPr id="113" name="Straight Connector 112" descr="A line showing a connection from Need&#10;100 GiB&#10;1100 IOPS&#10;125 MB/s  towards Dynamic performance sharing">
            <a:extLst>
              <a:ext uri="{FF2B5EF4-FFF2-40B4-BE49-F238E27FC236}">
                <a16:creationId xmlns:a16="http://schemas.microsoft.com/office/drawing/2014/main" id="{5916BAD1-62ED-289C-6492-7C58AAF1AC04}"/>
              </a:ext>
            </a:extLst>
          </p:cNvPr>
          <p:cNvCxnSpPr>
            <a:cxnSpLocks/>
          </p:cNvCxnSpPr>
          <p:nvPr/>
        </p:nvCxnSpPr>
        <p:spPr>
          <a:xfrm>
            <a:off x="8831062" y="3290851"/>
            <a:ext cx="0" cy="54864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5" name="Rectangle 104">
            <a:extLst>
              <a:ext uri="{FF2B5EF4-FFF2-40B4-BE49-F238E27FC236}">
                <a16:creationId xmlns:a16="http://schemas.microsoft.com/office/drawing/2014/main" id="{AA6DCC12-69E5-33EE-89CC-09F1F44D43D1}"/>
              </a:ext>
            </a:extLst>
          </p:cNvPr>
          <p:cNvSpPr>
            <a:spLocks/>
          </p:cNvSpPr>
          <p:nvPr/>
        </p:nvSpPr>
        <p:spPr>
          <a:xfrm>
            <a:off x="10301685" y="1900744"/>
            <a:ext cx="1056878" cy="359127"/>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25">
              <a:defRPr/>
            </a:pPr>
            <a:r>
              <a:rPr lang="en-US" sz="1600">
                <a:solidFill>
                  <a:schemeClr val="tx1"/>
                </a:solidFill>
                <a:latin typeface="+mj-lt"/>
                <a:cs typeface="Segoe UI" panose="020B0502040204020203" pitchFamily="34" charset="0"/>
              </a:rPr>
              <a:t>PV</a:t>
            </a:r>
          </a:p>
        </p:txBody>
      </p:sp>
      <p:sp>
        <p:nvSpPr>
          <p:cNvPr id="110" name="TextBox 109">
            <a:extLst>
              <a:ext uri="{FF2B5EF4-FFF2-40B4-BE49-F238E27FC236}">
                <a16:creationId xmlns:a16="http://schemas.microsoft.com/office/drawing/2014/main" id="{00A388CF-D1C9-0923-4BFD-6702595787D8}"/>
              </a:ext>
            </a:extLst>
          </p:cNvPr>
          <p:cNvSpPr txBox="1">
            <a:spLocks/>
          </p:cNvSpPr>
          <p:nvPr/>
        </p:nvSpPr>
        <p:spPr>
          <a:xfrm>
            <a:off x="10301685" y="2399547"/>
            <a:ext cx="1056878" cy="861774"/>
          </a:xfrm>
          <a:prstGeom prst="rect">
            <a:avLst/>
          </a:prstGeom>
          <a:noFill/>
        </p:spPr>
        <p:txBody>
          <a:bodyPr wrap="square" lIns="0" tIns="0" rIns="0" bIns="0" rtlCol="0">
            <a:spAutoFit/>
          </a:bodyPr>
          <a:lstStyle/>
          <a:p>
            <a:pPr algn="ctr"/>
            <a:r>
              <a:rPr lang="en-US" sz="1400">
                <a:latin typeface="+mj-lt"/>
                <a:cs typeface="Segoe UI" panose="020B0502040204020203" pitchFamily="34" charset="0"/>
              </a:rPr>
              <a:t>Need</a:t>
            </a:r>
          </a:p>
          <a:p>
            <a:pPr algn="ctr"/>
            <a:r>
              <a:rPr lang="en-US" sz="1400">
                <a:cs typeface="Segoe UI" panose="020B0502040204020203" pitchFamily="34" charset="0"/>
              </a:rPr>
              <a:t>256 GiB</a:t>
            </a:r>
          </a:p>
          <a:p>
            <a:pPr algn="ctr"/>
            <a:r>
              <a:rPr lang="en-US" sz="1400">
                <a:cs typeface="Segoe UI" panose="020B0502040204020203" pitchFamily="34" charset="0"/>
              </a:rPr>
              <a:t>5000 IOPS</a:t>
            </a:r>
          </a:p>
          <a:p>
            <a:pPr algn="ctr"/>
            <a:r>
              <a:rPr lang="en-US" sz="1400">
                <a:cs typeface="Segoe UI" panose="020B0502040204020203" pitchFamily="34" charset="0"/>
              </a:rPr>
              <a:t>200 MB/s</a:t>
            </a:r>
          </a:p>
        </p:txBody>
      </p:sp>
      <p:cxnSp>
        <p:nvCxnSpPr>
          <p:cNvPr id="114" name="Straight Connector 113" descr="A line showing a connection from NNeed&#10;256 GiB&#10;5000 IOPS&#10;200 MB/s towards Dynamic performance sharing">
            <a:extLst>
              <a:ext uri="{FF2B5EF4-FFF2-40B4-BE49-F238E27FC236}">
                <a16:creationId xmlns:a16="http://schemas.microsoft.com/office/drawing/2014/main" id="{A9153D66-56E9-9A1B-6B39-B8DF8331450C}"/>
              </a:ext>
            </a:extLst>
          </p:cNvPr>
          <p:cNvCxnSpPr>
            <a:cxnSpLocks/>
          </p:cNvCxnSpPr>
          <p:nvPr/>
        </p:nvCxnSpPr>
        <p:spPr>
          <a:xfrm>
            <a:off x="10830124" y="3290851"/>
            <a:ext cx="0" cy="54864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grpSp>
        <p:nvGrpSpPr>
          <p:cNvPr id="127" name="Group 126" descr="Dynamic performance sharing">
            <a:extLst>
              <a:ext uri="{FF2B5EF4-FFF2-40B4-BE49-F238E27FC236}">
                <a16:creationId xmlns:a16="http://schemas.microsoft.com/office/drawing/2014/main" id="{2D607046-A34C-8D64-6C42-5500D4091E1F}"/>
              </a:ext>
            </a:extLst>
          </p:cNvPr>
          <p:cNvGrpSpPr/>
          <p:nvPr/>
        </p:nvGrpSpPr>
        <p:grpSpPr>
          <a:xfrm>
            <a:off x="8302623" y="3398659"/>
            <a:ext cx="3055941" cy="916439"/>
            <a:chOff x="8302623" y="3398659"/>
            <a:chExt cx="3055941" cy="916439"/>
          </a:xfrm>
        </p:grpSpPr>
        <p:sp>
          <p:nvSpPr>
            <p:cNvPr id="119" name="TextBox 118">
              <a:extLst>
                <a:ext uri="{FF2B5EF4-FFF2-40B4-BE49-F238E27FC236}">
                  <a16:creationId xmlns:a16="http://schemas.microsoft.com/office/drawing/2014/main" id="{9A30A117-07AF-0C92-034E-6438769EAF8E}"/>
                </a:ext>
              </a:extLst>
            </p:cNvPr>
            <p:cNvSpPr txBox="1">
              <a:spLocks/>
            </p:cNvSpPr>
            <p:nvPr/>
          </p:nvSpPr>
          <p:spPr>
            <a:xfrm>
              <a:off x="8970962" y="3398659"/>
              <a:ext cx="1719262" cy="430887"/>
            </a:xfrm>
            <a:prstGeom prst="rect">
              <a:avLst/>
            </a:prstGeom>
            <a:noFill/>
          </p:spPr>
          <p:txBody>
            <a:bodyPr wrap="square" lIns="0" tIns="0" rIns="0" bIns="0" rtlCol="0">
              <a:spAutoFit/>
            </a:bodyPr>
            <a:lstStyle/>
            <a:p>
              <a:pPr algn="ctr"/>
              <a:r>
                <a:rPr lang="en-US" sz="1400">
                  <a:solidFill>
                    <a:schemeClr val="accent2">
                      <a:lumMod val="50000"/>
                    </a:schemeClr>
                  </a:solidFill>
                  <a:latin typeface="+mj-lt"/>
                  <a:cs typeface="Segoe UI" panose="020B0502040204020203" pitchFamily="34" charset="0"/>
                </a:rPr>
                <a:t>Dynamic performance sharing</a:t>
              </a:r>
            </a:p>
          </p:txBody>
        </p:sp>
        <p:grpSp>
          <p:nvGrpSpPr>
            <p:cNvPr id="126" name="Group 125">
              <a:extLst>
                <a:ext uri="{FF2B5EF4-FFF2-40B4-BE49-F238E27FC236}">
                  <a16:creationId xmlns:a16="http://schemas.microsoft.com/office/drawing/2014/main" id="{F237F39D-9609-1BCC-C255-920F521BD85E}"/>
                </a:ext>
              </a:extLst>
            </p:cNvPr>
            <p:cNvGrpSpPr/>
            <p:nvPr/>
          </p:nvGrpSpPr>
          <p:grpSpPr>
            <a:xfrm>
              <a:off x="8302623" y="3887524"/>
              <a:ext cx="3055941" cy="427574"/>
              <a:chOff x="8302623" y="3887524"/>
              <a:chExt cx="3055941" cy="427574"/>
            </a:xfrm>
          </p:grpSpPr>
          <p:sp>
            <p:nvSpPr>
              <p:cNvPr id="106" name="Rectangle 105">
                <a:extLst>
                  <a:ext uri="{FF2B5EF4-FFF2-40B4-BE49-F238E27FC236}">
                    <a16:creationId xmlns:a16="http://schemas.microsoft.com/office/drawing/2014/main" id="{26DBF8BD-B131-C702-360D-5E4FB7A5B7E6}"/>
                  </a:ext>
                </a:extLst>
              </p:cNvPr>
              <p:cNvSpPr>
                <a:spLocks/>
              </p:cNvSpPr>
              <p:nvPr/>
            </p:nvSpPr>
            <p:spPr>
              <a:xfrm>
                <a:off x="8302623" y="3887524"/>
                <a:ext cx="3055941" cy="427574"/>
              </a:xfrm>
              <a:prstGeom prst="rect">
                <a:avLst/>
              </a:prstGeom>
              <a:noFill/>
              <a:ln w="127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225">
                  <a:defRPr/>
                </a:pPr>
                <a:endParaRPr lang="en-US" sz="1600">
                  <a:solidFill>
                    <a:schemeClr val="tx1"/>
                  </a:solidFill>
                  <a:cs typeface="Segoe UI" panose="020B0502040204020203" pitchFamily="34" charset="0"/>
                </a:endParaRPr>
              </a:p>
            </p:txBody>
          </p:sp>
          <p:cxnSp>
            <p:nvCxnSpPr>
              <p:cNvPr id="121" name="Straight Connector 120">
                <a:extLst>
                  <a:ext uri="{FF2B5EF4-FFF2-40B4-BE49-F238E27FC236}">
                    <a16:creationId xmlns:a16="http://schemas.microsoft.com/office/drawing/2014/main" id="{906D5F82-BA7B-286C-395D-2471358007CF}"/>
                  </a:ext>
                </a:extLst>
              </p:cNvPr>
              <p:cNvCxnSpPr/>
              <p:nvPr/>
            </p:nvCxnSpPr>
            <p:spPr>
              <a:xfrm>
                <a:off x="9083369" y="3909688"/>
                <a:ext cx="0" cy="383246"/>
              </a:xfrm>
              <a:prstGeom prst="line">
                <a:avLst/>
              </a:prstGeom>
              <a:ln w="12700">
                <a:solidFill>
                  <a:schemeClr val="accent2">
                    <a:lumMod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22" name="Straight Connector 121">
                <a:extLst>
                  <a:ext uri="{FF2B5EF4-FFF2-40B4-BE49-F238E27FC236}">
                    <a16:creationId xmlns:a16="http://schemas.microsoft.com/office/drawing/2014/main" id="{B8718803-6F56-BB39-DF5D-DCC39B050364}"/>
                  </a:ext>
                </a:extLst>
              </p:cNvPr>
              <p:cNvCxnSpPr/>
              <p:nvPr/>
            </p:nvCxnSpPr>
            <p:spPr>
              <a:xfrm>
                <a:off x="10004913" y="3909688"/>
                <a:ext cx="0" cy="383246"/>
              </a:xfrm>
              <a:prstGeom prst="line">
                <a:avLst/>
              </a:prstGeom>
              <a:ln w="12700">
                <a:solidFill>
                  <a:schemeClr val="accent2">
                    <a:lumMod val="50000"/>
                  </a:schemeClr>
                </a:solidFill>
                <a:prstDash val="dash"/>
              </a:ln>
            </p:spPr>
            <p:style>
              <a:lnRef idx="2">
                <a:schemeClr val="accent1"/>
              </a:lnRef>
              <a:fillRef idx="0">
                <a:schemeClr val="accent1"/>
              </a:fillRef>
              <a:effectRef idx="1">
                <a:schemeClr val="accent1"/>
              </a:effectRef>
              <a:fontRef idx="minor">
                <a:schemeClr val="tx1"/>
              </a:fontRef>
            </p:style>
          </p:cxnSp>
        </p:grpSp>
      </p:grpSp>
      <p:sp>
        <p:nvSpPr>
          <p:cNvPr id="109" name="TextBox 108">
            <a:extLst>
              <a:ext uri="{FF2B5EF4-FFF2-40B4-BE49-F238E27FC236}">
                <a16:creationId xmlns:a16="http://schemas.microsoft.com/office/drawing/2014/main" id="{D32A39EA-2E0D-CE21-6E88-8D45CD07B11B}"/>
              </a:ext>
            </a:extLst>
          </p:cNvPr>
          <p:cNvSpPr txBox="1">
            <a:spLocks/>
          </p:cNvSpPr>
          <p:nvPr/>
        </p:nvSpPr>
        <p:spPr>
          <a:xfrm>
            <a:off x="9302154" y="4454774"/>
            <a:ext cx="1056878" cy="1077218"/>
          </a:xfrm>
          <a:prstGeom prst="rect">
            <a:avLst/>
          </a:prstGeom>
          <a:noFill/>
        </p:spPr>
        <p:txBody>
          <a:bodyPr wrap="square" lIns="0" tIns="0" rIns="0" bIns="0" rtlCol="0">
            <a:spAutoFit/>
          </a:bodyPr>
          <a:lstStyle/>
          <a:p>
            <a:pPr algn="ctr"/>
            <a:r>
              <a:rPr lang="en-US" sz="1400">
                <a:latin typeface="+mj-lt"/>
                <a:cs typeface="Segoe UI" panose="020B0502040204020203" pitchFamily="34" charset="0"/>
              </a:rPr>
              <a:t>Pv2 SSD</a:t>
            </a:r>
          </a:p>
          <a:p>
            <a:pPr algn="ctr"/>
            <a:r>
              <a:rPr lang="en-US" sz="1400">
                <a:cs typeface="Segoe UI" panose="020B0502040204020203" pitchFamily="34" charset="0"/>
              </a:rPr>
              <a:t>1024 GiB</a:t>
            </a:r>
          </a:p>
          <a:p>
            <a:pPr algn="ctr"/>
            <a:r>
              <a:rPr lang="en-US" sz="1400">
                <a:cs typeface="Segoe UI" panose="020B0502040204020203" pitchFamily="34" charset="0"/>
              </a:rPr>
              <a:t>5000 IOPS</a:t>
            </a:r>
          </a:p>
          <a:p>
            <a:pPr algn="ctr"/>
            <a:r>
              <a:rPr lang="en-US" sz="1400">
                <a:cs typeface="Segoe UI" panose="020B0502040204020203" pitchFamily="34" charset="0"/>
              </a:rPr>
              <a:t>200 MB/s</a:t>
            </a:r>
          </a:p>
          <a:p>
            <a:pPr algn="ctr"/>
            <a:r>
              <a:rPr lang="en-US" sz="1400">
                <a:cs typeface="Segoe UI" panose="020B0502040204020203" pitchFamily="34" charset="0"/>
              </a:rPr>
              <a:t>$122.88</a:t>
            </a:r>
          </a:p>
        </p:txBody>
      </p:sp>
      <p:sp>
        <p:nvSpPr>
          <p:cNvPr id="112" name="TextBox 111">
            <a:extLst>
              <a:ext uri="{FF2B5EF4-FFF2-40B4-BE49-F238E27FC236}">
                <a16:creationId xmlns:a16="http://schemas.microsoft.com/office/drawing/2014/main" id="{96F40409-5C82-F1DF-0577-30CAF166AF94}"/>
              </a:ext>
            </a:extLst>
          </p:cNvPr>
          <p:cNvSpPr txBox="1">
            <a:spLocks/>
          </p:cNvSpPr>
          <p:nvPr/>
        </p:nvSpPr>
        <p:spPr>
          <a:xfrm>
            <a:off x="8651876" y="5676462"/>
            <a:ext cx="2494753" cy="338554"/>
          </a:xfrm>
          <a:prstGeom prst="rect">
            <a:avLst/>
          </a:prstGeom>
          <a:noFill/>
        </p:spPr>
        <p:txBody>
          <a:bodyPr wrap="square" lIns="91440" tIns="45720" rIns="91440" bIns="45720" rtlCol="0">
            <a:spAutoFit/>
          </a:bodyPr>
          <a:lstStyle/>
          <a:p>
            <a:pPr algn="ctr"/>
            <a:r>
              <a:rPr lang="en-US" sz="1600">
                <a:latin typeface="+mj-lt"/>
                <a:cs typeface="Segoe UI" panose="020B0502040204020203" pitchFamily="34" charset="0"/>
              </a:rPr>
              <a:t>Monthly Total: $95.46</a:t>
            </a:r>
          </a:p>
        </p:txBody>
      </p:sp>
      <p:sp>
        <p:nvSpPr>
          <p:cNvPr id="115" name="TextBox 114">
            <a:extLst>
              <a:ext uri="{FF2B5EF4-FFF2-40B4-BE49-F238E27FC236}">
                <a16:creationId xmlns:a16="http://schemas.microsoft.com/office/drawing/2014/main" id="{D23423BB-00A0-B042-087A-9FCAE10FA4C1}"/>
              </a:ext>
            </a:extLst>
          </p:cNvPr>
          <p:cNvSpPr txBox="1">
            <a:spLocks/>
          </p:cNvSpPr>
          <p:nvPr/>
        </p:nvSpPr>
        <p:spPr>
          <a:xfrm>
            <a:off x="8970962" y="6149900"/>
            <a:ext cx="1719262" cy="338554"/>
          </a:xfrm>
          <a:prstGeom prst="rect">
            <a:avLst/>
          </a:prstGeom>
          <a:noFill/>
        </p:spPr>
        <p:txBody>
          <a:bodyPr wrap="square" lIns="91440" tIns="45720" rIns="91440" bIns="45720" rtlCol="0" anchor="ctr">
            <a:spAutoFit/>
          </a:bodyPr>
          <a:lstStyle/>
          <a:p>
            <a:pPr algn="ctr"/>
            <a:r>
              <a:rPr lang="en-US" sz="1600">
                <a:solidFill>
                  <a:schemeClr val="accent2">
                    <a:lumMod val="50000"/>
                  </a:schemeClr>
                </a:solidFill>
                <a:latin typeface="+mj-lt"/>
                <a:cs typeface="Segoe UI" panose="020B0502040204020203" pitchFamily="34" charset="0"/>
              </a:rPr>
              <a:t>Lower TCO</a:t>
            </a:r>
          </a:p>
        </p:txBody>
      </p:sp>
      <p:grpSp>
        <p:nvGrpSpPr>
          <p:cNvPr id="2" name="Group 1">
            <a:extLst>
              <a:ext uri="{FF2B5EF4-FFF2-40B4-BE49-F238E27FC236}">
                <a16:creationId xmlns:a16="http://schemas.microsoft.com/office/drawing/2014/main" id="{75159702-CB1D-1FC3-A80D-C5F38DF247AA}"/>
              </a:ext>
              <a:ext uri="{C183D7F6-B498-43B3-948B-1728B52AA6E4}">
                <adec:decorative xmlns:adec="http://schemas.microsoft.com/office/drawing/2017/decorative" val="1"/>
              </a:ext>
            </a:extLst>
          </p:cNvPr>
          <p:cNvGrpSpPr/>
          <p:nvPr/>
        </p:nvGrpSpPr>
        <p:grpSpPr>
          <a:xfrm>
            <a:off x="588963" y="1588160"/>
            <a:ext cx="580622" cy="580622"/>
            <a:chOff x="734517" y="2069690"/>
            <a:chExt cx="580622" cy="580622"/>
          </a:xfrm>
        </p:grpSpPr>
        <p:sp>
          <p:nvSpPr>
            <p:cNvPr id="3" name="Oval 2">
              <a:extLst>
                <a:ext uri="{FF2B5EF4-FFF2-40B4-BE49-F238E27FC236}">
                  <a16:creationId xmlns:a16="http://schemas.microsoft.com/office/drawing/2014/main" id="{0293A98B-C98A-010C-D9BC-ED4B2933E8CE}"/>
                </a:ext>
                <a:ext uri="{C183D7F6-B498-43B3-948B-1728B52AA6E4}">
                  <adec:decorative xmlns:adec="http://schemas.microsoft.com/office/drawing/2017/decorative" val="1"/>
                </a:ext>
              </a:extLst>
            </p:cNvPr>
            <p:cNvSpPr>
              <a:spLocks/>
            </p:cNvSpPr>
            <p:nvPr/>
          </p:nvSpPr>
          <p:spPr>
            <a:xfrm>
              <a:off x="734517" y="2069690"/>
              <a:ext cx="580622" cy="580622"/>
            </a:xfrm>
            <a:prstGeom prst="ellipse">
              <a:avLst/>
            </a:prstGeom>
            <a:solidFill>
              <a:srgbClr val="463668"/>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43840" tIns="365760" rIns="243840" bIns="195072"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667" b="0" i="0" u="none" strike="noStrike" kern="1200" cap="none" spc="0" normalizeH="0" baseline="0" noProof="0">
                <a:ln>
                  <a:noFill/>
                </a:ln>
                <a:solidFill>
                  <a:prstClr val="black"/>
                </a:solidFill>
                <a:effectLst/>
                <a:uLnTx/>
                <a:uFillTx/>
                <a:latin typeface="Aptos Display" panose="02110004020202020204"/>
                <a:ea typeface="+mn-ea"/>
                <a:cs typeface="+mn-cs"/>
              </a:endParaRPr>
            </a:p>
          </p:txBody>
        </p:sp>
        <p:sp>
          <p:nvSpPr>
            <p:cNvPr id="4" name="Move_E7C2" title="Icon of four arrows pointing away from eachother">
              <a:extLst>
                <a:ext uri="{FF2B5EF4-FFF2-40B4-BE49-F238E27FC236}">
                  <a16:creationId xmlns:a16="http://schemas.microsoft.com/office/drawing/2014/main" id="{795C76BF-F073-AC55-D0D1-BC3D68680294}"/>
                </a:ext>
              </a:extLst>
            </p:cNvPr>
            <p:cNvSpPr>
              <a:spLocks noChangeAspect="1" noEditPoints="1"/>
            </p:cNvSpPr>
            <p:nvPr/>
          </p:nvSpPr>
          <p:spPr bwMode="auto">
            <a:xfrm>
              <a:off x="823311" y="2158434"/>
              <a:ext cx="403034" cy="403134"/>
            </a:xfrm>
            <a:custGeom>
              <a:avLst/>
              <a:gdLst>
                <a:gd name="T0" fmla="*/ 736 w 3999"/>
                <a:gd name="T1" fmla="*/ 2737 h 4000"/>
                <a:gd name="T2" fmla="*/ 0 w 3999"/>
                <a:gd name="T3" fmla="*/ 2001 h 4000"/>
                <a:gd name="T4" fmla="*/ 736 w 3999"/>
                <a:gd name="T5" fmla="*/ 1264 h 4000"/>
                <a:gd name="T6" fmla="*/ 86 w 3999"/>
                <a:gd name="T7" fmla="*/ 2001 h 4000"/>
                <a:gd name="T8" fmla="*/ 1264 w 3999"/>
                <a:gd name="T9" fmla="*/ 2001 h 4000"/>
                <a:gd name="T10" fmla="*/ 1264 w 3999"/>
                <a:gd name="T11" fmla="*/ 3265 h 4000"/>
                <a:gd name="T12" fmla="*/ 2000 w 3999"/>
                <a:gd name="T13" fmla="*/ 4000 h 4000"/>
                <a:gd name="T14" fmla="*/ 2735 w 3999"/>
                <a:gd name="T15" fmla="*/ 3265 h 4000"/>
                <a:gd name="T16" fmla="*/ 2000 w 3999"/>
                <a:gd name="T17" fmla="*/ 3915 h 4000"/>
                <a:gd name="T18" fmla="*/ 2000 w 3999"/>
                <a:gd name="T19" fmla="*/ 2737 h 4000"/>
                <a:gd name="T20" fmla="*/ 3264 w 3999"/>
                <a:gd name="T21" fmla="*/ 2737 h 4000"/>
                <a:gd name="T22" fmla="*/ 3999 w 3999"/>
                <a:gd name="T23" fmla="*/ 2001 h 4000"/>
                <a:gd name="T24" fmla="*/ 3264 w 3999"/>
                <a:gd name="T25" fmla="*/ 1264 h 4000"/>
                <a:gd name="T26" fmla="*/ 3913 w 3999"/>
                <a:gd name="T27" fmla="*/ 2001 h 4000"/>
                <a:gd name="T28" fmla="*/ 2735 w 3999"/>
                <a:gd name="T29" fmla="*/ 2001 h 4000"/>
                <a:gd name="T30" fmla="*/ 2735 w 3999"/>
                <a:gd name="T31" fmla="*/ 736 h 4000"/>
                <a:gd name="T32" fmla="*/ 2000 w 3999"/>
                <a:gd name="T33" fmla="*/ 0 h 4000"/>
                <a:gd name="T34" fmla="*/ 1264 w 3999"/>
                <a:gd name="T35" fmla="*/ 736 h 4000"/>
                <a:gd name="T36" fmla="*/ 2000 w 3999"/>
                <a:gd name="T37" fmla="*/ 86 h 4000"/>
                <a:gd name="T38" fmla="*/ 2000 w 3999"/>
                <a:gd name="T39" fmla="*/ 1264 h 4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999" h="4000">
                  <a:moveTo>
                    <a:pt x="736" y="2737"/>
                  </a:moveTo>
                  <a:lnTo>
                    <a:pt x="0" y="2001"/>
                  </a:lnTo>
                  <a:lnTo>
                    <a:pt x="736" y="1264"/>
                  </a:lnTo>
                  <a:moveTo>
                    <a:pt x="86" y="2001"/>
                  </a:moveTo>
                  <a:lnTo>
                    <a:pt x="1264" y="2001"/>
                  </a:lnTo>
                  <a:moveTo>
                    <a:pt x="1264" y="3265"/>
                  </a:moveTo>
                  <a:lnTo>
                    <a:pt x="2000" y="4000"/>
                  </a:lnTo>
                  <a:lnTo>
                    <a:pt x="2735" y="3265"/>
                  </a:lnTo>
                  <a:moveTo>
                    <a:pt x="2000" y="3915"/>
                  </a:moveTo>
                  <a:lnTo>
                    <a:pt x="2000" y="2737"/>
                  </a:lnTo>
                  <a:moveTo>
                    <a:pt x="3264" y="2737"/>
                  </a:moveTo>
                  <a:lnTo>
                    <a:pt x="3999" y="2001"/>
                  </a:lnTo>
                  <a:lnTo>
                    <a:pt x="3264" y="1264"/>
                  </a:lnTo>
                  <a:moveTo>
                    <a:pt x="3913" y="2001"/>
                  </a:moveTo>
                  <a:lnTo>
                    <a:pt x="2735" y="2001"/>
                  </a:lnTo>
                  <a:moveTo>
                    <a:pt x="2735" y="736"/>
                  </a:moveTo>
                  <a:lnTo>
                    <a:pt x="2000" y="0"/>
                  </a:lnTo>
                  <a:lnTo>
                    <a:pt x="1264" y="736"/>
                  </a:lnTo>
                  <a:moveTo>
                    <a:pt x="2000" y="86"/>
                  </a:moveTo>
                  <a:lnTo>
                    <a:pt x="2000" y="1264"/>
                  </a:lnTo>
                </a:path>
              </a:pathLst>
            </a:custGeom>
            <a:noFill/>
            <a:ln w="6350" cap="flat">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gradFill>
                  <a:gsLst>
                    <a:gs pos="0">
                      <a:srgbClr val="505050"/>
                    </a:gs>
                    <a:gs pos="100000">
                      <a:srgbClr val="505050"/>
                    </a:gs>
                  </a:gsLst>
                  <a:lin ang="5400000" scaled="1"/>
                </a:gradFill>
              </a:endParaRPr>
            </a:p>
          </p:txBody>
        </p:sp>
      </p:grpSp>
      <p:sp>
        <p:nvSpPr>
          <p:cNvPr id="5" name="Rectangle 4">
            <a:extLst>
              <a:ext uri="{FF2B5EF4-FFF2-40B4-BE49-F238E27FC236}">
                <a16:creationId xmlns:a16="http://schemas.microsoft.com/office/drawing/2014/main" id="{DC907266-EC1D-7608-11BE-C2E93F64F23E}"/>
              </a:ext>
            </a:extLst>
          </p:cNvPr>
          <p:cNvSpPr>
            <a:spLocks/>
          </p:cNvSpPr>
          <p:nvPr/>
        </p:nvSpPr>
        <p:spPr bwMode="auto">
          <a:xfrm>
            <a:off x="588963" y="2368357"/>
            <a:ext cx="3287562" cy="738664"/>
          </a:xfrm>
          <a:prstGeom prst="rect">
            <a:avLst/>
          </a:prstGeom>
          <a:noFill/>
          <a:ln w="6350" cap="flat" cmpd="sng" algn="ctr">
            <a:noFill/>
            <a:prstDash val="solid"/>
            <a:miter lim="800000"/>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r>
              <a:rPr kumimoji="0" lang="en-US" sz="1600" b="0" i="0" u="none" strike="noStrike" kern="0" cap="none" normalizeH="0" baseline="0" noProof="0">
                <a:ln>
                  <a:noFill/>
                </a:ln>
                <a:effectLst/>
                <a:uLnTx/>
                <a:uFillTx/>
                <a:cs typeface="Segoe UI" panose="020B0502040204020203" pitchFamily="34" charset="0"/>
              </a:rPr>
              <a:t>Reach new scale levels while saving on costs, by packing multiple persistent volumes in a</a:t>
            </a:r>
            <a:r>
              <a:rPr lang="en-US" sz="1600" kern="0">
                <a:cs typeface="Segoe UI" panose="020B0502040204020203" pitchFamily="34" charset="0"/>
              </a:rPr>
              <a:t> </a:t>
            </a:r>
            <a:r>
              <a:rPr kumimoji="0" lang="en-US" sz="1600" b="0" i="0" u="none" strike="noStrike" kern="0" cap="none" normalizeH="0" baseline="0" noProof="0">
                <a:ln>
                  <a:noFill/>
                </a:ln>
                <a:effectLst/>
                <a:uLnTx/>
                <a:uFillTx/>
                <a:cs typeface="Segoe UI" panose="020B0502040204020203" pitchFamily="34" charset="0"/>
              </a:rPr>
              <a:t>single disk</a:t>
            </a:r>
          </a:p>
        </p:txBody>
      </p:sp>
      <p:grpSp>
        <p:nvGrpSpPr>
          <p:cNvPr id="8" name="Group 7">
            <a:extLst>
              <a:ext uri="{FF2B5EF4-FFF2-40B4-BE49-F238E27FC236}">
                <a16:creationId xmlns:a16="http://schemas.microsoft.com/office/drawing/2014/main" id="{7E2ACD27-E154-FC3B-12CC-00AC9658BBE4}"/>
              </a:ext>
              <a:ext uri="{C183D7F6-B498-43B3-948B-1728B52AA6E4}">
                <adec:decorative xmlns:adec="http://schemas.microsoft.com/office/drawing/2017/decorative" val="1"/>
              </a:ext>
            </a:extLst>
          </p:cNvPr>
          <p:cNvGrpSpPr/>
          <p:nvPr/>
        </p:nvGrpSpPr>
        <p:grpSpPr>
          <a:xfrm>
            <a:off x="588963" y="3629175"/>
            <a:ext cx="580622" cy="580622"/>
            <a:chOff x="4413077" y="2069690"/>
            <a:chExt cx="580622" cy="580622"/>
          </a:xfrm>
        </p:grpSpPr>
        <p:sp>
          <p:nvSpPr>
            <p:cNvPr id="9" name="Oval 8">
              <a:extLst>
                <a:ext uri="{FF2B5EF4-FFF2-40B4-BE49-F238E27FC236}">
                  <a16:creationId xmlns:a16="http://schemas.microsoft.com/office/drawing/2014/main" id="{F5392DE1-FD32-8425-15AC-619C37C7981F}"/>
                </a:ext>
                <a:ext uri="{C183D7F6-B498-43B3-948B-1728B52AA6E4}">
                  <adec:decorative xmlns:adec="http://schemas.microsoft.com/office/drawing/2017/decorative" val="1"/>
                </a:ext>
              </a:extLst>
            </p:cNvPr>
            <p:cNvSpPr>
              <a:spLocks/>
            </p:cNvSpPr>
            <p:nvPr/>
          </p:nvSpPr>
          <p:spPr>
            <a:xfrm>
              <a:off x="4413077" y="2069690"/>
              <a:ext cx="580622" cy="580622"/>
            </a:xfrm>
            <a:prstGeom prst="ellipse">
              <a:avLst/>
            </a:prstGeom>
            <a:solidFill>
              <a:srgbClr val="463668"/>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43840" tIns="365760" rIns="243840" bIns="195072"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667" b="0" i="0" u="none" strike="noStrike" kern="1200" cap="none" spc="0" normalizeH="0" baseline="0" noProof="0">
                <a:ln>
                  <a:noFill/>
                </a:ln>
                <a:solidFill>
                  <a:prstClr val="black"/>
                </a:solidFill>
                <a:effectLst/>
                <a:uLnTx/>
                <a:uFillTx/>
                <a:latin typeface="Aptos Display" panose="02110004020202020204"/>
                <a:ea typeface="+mn-ea"/>
                <a:cs typeface="+mn-cs"/>
              </a:endParaRPr>
            </a:p>
          </p:txBody>
        </p:sp>
        <p:sp>
          <p:nvSpPr>
            <p:cNvPr id="10" name="plan" title="Icon of a circle with an arrow projecting from it between two exes">
              <a:extLst>
                <a:ext uri="{FF2B5EF4-FFF2-40B4-BE49-F238E27FC236}">
                  <a16:creationId xmlns:a16="http://schemas.microsoft.com/office/drawing/2014/main" id="{44011F4C-F486-4518-730E-22CC97B13506}"/>
                </a:ext>
              </a:extLst>
            </p:cNvPr>
            <p:cNvSpPr>
              <a:spLocks noChangeAspect="1" noEditPoints="1"/>
            </p:cNvSpPr>
            <p:nvPr/>
          </p:nvSpPr>
          <p:spPr bwMode="auto">
            <a:xfrm>
              <a:off x="4545359" y="2201350"/>
              <a:ext cx="316058" cy="317302"/>
            </a:xfrm>
            <a:custGeom>
              <a:avLst/>
              <a:gdLst>
                <a:gd name="T0" fmla="*/ 116 w 352"/>
                <a:gd name="T1" fmla="*/ 117 h 352"/>
                <a:gd name="T2" fmla="*/ 0 w 352"/>
                <a:gd name="T3" fmla="*/ 0 h 352"/>
                <a:gd name="T4" fmla="*/ 116 w 352"/>
                <a:gd name="T5" fmla="*/ 0 h 352"/>
                <a:gd name="T6" fmla="*/ 0 w 352"/>
                <a:gd name="T7" fmla="*/ 117 h 352"/>
                <a:gd name="T8" fmla="*/ 352 w 352"/>
                <a:gd name="T9" fmla="*/ 352 h 352"/>
                <a:gd name="T10" fmla="*/ 235 w 352"/>
                <a:gd name="T11" fmla="*/ 236 h 352"/>
                <a:gd name="T12" fmla="*/ 352 w 352"/>
                <a:gd name="T13" fmla="*/ 236 h 352"/>
                <a:gd name="T14" fmla="*/ 235 w 352"/>
                <a:gd name="T15" fmla="*/ 352 h 352"/>
                <a:gd name="T16" fmla="*/ 66 w 352"/>
                <a:gd name="T17" fmla="*/ 218 h 352"/>
                <a:gd name="T18" fmla="*/ 2 w 352"/>
                <a:gd name="T19" fmla="*/ 282 h 352"/>
                <a:gd name="T20" fmla="*/ 66 w 352"/>
                <a:gd name="T21" fmla="*/ 347 h 352"/>
                <a:gd name="T22" fmla="*/ 130 w 352"/>
                <a:gd name="T23" fmla="*/ 282 h 352"/>
                <a:gd name="T24" fmla="*/ 66 w 352"/>
                <a:gd name="T25" fmla="*/ 218 h 352"/>
                <a:gd name="T26" fmla="*/ 113 w 352"/>
                <a:gd name="T27" fmla="*/ 239 h 352"/>
                <a:gd name="T28" fmla="*/ 345 w 352"/>
                <a:gd name="T29" fmla="*/ 8 h 352"/>
                <a:gd name="T30" fmla="*/ 345 w 352"/>
                <a:gd name="T31" fmla="*/ 83 h 352"/>
                <a:gd name="T32" fmla="*/ 345 w 352"/>
                <a:gd name="T33" fmla="*/ 7 h 352"/>
                <a:gd name="T34" fmla="*/ 269 w 352"/>
                <a:gd name="T35" fmla="*/ 7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52" h="352">
                  <a:moveTo>
                    <a:pt x="116" y="117"/>
                  </a:moveTo>
                  <a:cubicBezTo>
                    <a:pt x="0" y="0"/>
                    <a:pt x="0" y="0"/>
                    <a:pt x="0" y="0"/>
                  </a:cubicBezTo>
                  <a:moveTo>
                    <a:pt x="116" y="0"/>
                  </a:moveTo>
                  <a:cubicBezTo>
                    <a:pt x="0" y="117"/>
                    <a:pt x="0" y="117"/>
                    <a:pt x="0" y="117"/>
                  </a:cubicBezTo>
                  <a:moveTo>
                    <a:pt x="352" y="352"/>
                  </a:moveTo>
                  <a:cubicBezTo>
                    <a:pt x="235" y="236"/>
                    <a:pt x="235" y="236"/>
                    <a:pt x="235" y="236"/>
                  </a:cubicBezTo>
                  <a:moveTo>
                    <a:pt x="352" y="236"/>
                  </a:moveTo>
                  <a:cubicBezTo>
                    <a:pt x="235" y="352"/>
                    <a:pt x="235" y="352"/>
                    <a:pt x="235" y="352"/>
                  </a:cubicBezTo>
                  <a:moveTo>
                    <a:pt x="66" y="218"/>
                  </a:moveTo>
                  <a:cubicBezTo>
                    <a:pt x="30" y="218"/>
                    <a:pt x="2" y="247"/>
                    <a:pt x="2" y="282"/>
                  </a:cubicBezTo>
                  <a:cubicBezTo>
                    <a:pt x="2" y="318"/>
                    <a:pt x="30" y="347"/>
                    <a:pt x="66" y="347"/>
                  </a:cubicBezTo>
                  <a:cubicBezTo>
                    <a:pt x="101" y="347"/>
                    <a:pt x="130" y="318"/>
                    <a:pt x="130" y="282"/>
                  </a:cubicBezTo>
                  <a:cubicBezTo>
                    <a:pt x="130" y="247"/>
                    <a:pt x="101" y="218"/>
                    <a:pt x="66" y="218"/>
                  </a:cubicBezTo>
                  <a:close/>
                  <a:moveTo>
                    <a:pt x="113" y="239"/>
                  </a:moveTo>
                  <a:cubicBezTo>
                    <a:pt x="345" y="8"/>
                    <a:pt x="345" y="8"/>
                    <a:pt x="345" y="8"/>
                  </a:cubicBezTo>
                  <a:moveTo>
                    <a:pt x="345" y="83"/>
                  </a:moveTo>
                  <a:cubicBezTo>
                    <a:pt x="345" y="7"/>
                    <a:pt x="345" y="7"/>
                    <a:pt x="345" y="7"/>
                  </a:cubicBezTo>
                  <a:cubicBezTo>
                    <a:pt x="269" y="7"/>
                    <a:pt x="269" y="7"/>
                    <a:pt x="269" y="7"/>
                  </a:cubicBezTo>
                </a:path>
              </a:pathLst>
            </a:custGeom>
            <a:noFill/>
            <a:ln w="6350" cap="flat">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gradFill>
                  <a:gsLst>
                    <a:gs pos="0">
                      <a:srgbClr val="505050"/>
                    </a:gs>
                    <a:gs pos="100000">
                      <a:srgbClr val="505050"/>
                    </a:gs>
                  </a:gsLst>
                  <a:lin ang="5400000" scaled="1"/>
                </a:gradFill>
              </a:endParaRPr>
            </a:p>
          </p:txBody>
        </p:sp>
      </p:grpSp>
      <p:sp>
        <p:nvSpPr>
          <p:cNvPr id="11" name="Rectangle 10">
            <a:extLst>
              <a:ext uri="{FF2B5EF4-FFF2-40B4-BE49-F238E27FC236}">
                <a16:creationId xmlns:a16="http://schemas.microsoft.com/office/drawing/2014/main" id="{1C690253-C461-B34B-DE46-143BF3B0AE11}"/>
              </a:ext>
            </a:extLst>
          </p:cNvPr>
          <p:cNvSpPr>
            <a:spLocks/>
          </p:cNvSpPr>
          <p:nvPr/>
        </p:nvSpPr>
        <p:spPr bwMode="auto">
          <a:xfrm>
            <a:off x="588963" y="4409372"/>
            <a:ext cx="3287562" cy="1231106"/>
          </a:xfrm>
          <a:prstGeom prst="rect">
            <a:avLst/>
          </a:prstGeom>
          <a:noFill/>
          <a:ln w="6350" cap="flat" cmpd="sng" algn="ctr">
            <a:noFill/>
            <a:prstDash val="solid"/>
            <a:miter lim="800000"/>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932293" fontAlgn="base">
              <a:spcBef>
                <a:spcPct val="0"/>
              </a:spcBef>
              <a:spcAft>
                <a:spcPct val="0"/>
              </a:spcAft>
              <a:defRPr/>
            </a:pPr>
            <a:r>
              <a:rPr lang="en-US" sz="1600" kern="0">
                <a:cs typeface="Segoe UI" panose="020B0502040204020203" pitchFamily="34" charset="0"/>
              </a:rPr>
              <a:t>Obtain flexibility in how you design </a:t>
            </a:r>
            <a:br>
              <a:rPr lang="en-US" sz="1600" kern="0">
                <a:cs typeface="Segoe UI" panose="020B0502040204020203" pitchFamily="34" charset="0"/>
              </a:rPr>
            </a:br>
            <a:r>
              <a:rPr lang="en-US" sz="1600" kern="0">
                <a:cs typeface="Segoe UI" panose="020B0502040204020203" pitchFamily="34" charset="0"/>
              </a:rPr>
              <a:t>your application architecture by allowing a larger number of PVs that can be attached to</a:t>
            </a:r>
            <a:br>
              <a:rPr lang="en-US" sz="1600" kern="0">
                <a:cs typeface="Segoe UI" panose="020B0502040204020203" pitchFamily="34" charset="0"/>
              </a:rPr>
            </a:br>
            <a:r>
              <a:rPr lang="en-US" sz="1600" kern="0">
                <a:cs typeface="Segoe UI" panose="020B0502040204020203" pitchFamily="34" charset="0"/>
              </a:rPr>
              <a:t>a node</a:t>
            </a:r>
          </a:p>
        </p:txBody>
      </p:sp>
      <p:sp>
        <p:nvSpPr>
          <p:cNvPr id="12" name="Title 1">
            <a:extLst>
              <a:ext uri="{FF2B5EF4-FFF2-40B4-BE49-F238E27FC236}">
                <a16:creationId xmlns:a16="http://schemas.microsoft.com/office/drawing/2014/main" id="{10E46253-797B-DA8C-DC58-62018B15652C}"/>
              </a:ext>
            </a:extLst>
          </p:cNvPr>
          <p:cNvSpPr>
            <a:spLocks noGrp="1"/>
          </p:cNvSpPr>
          <p:nvPr>
            <p:ph type="title"/>
          </p:nvPr>
        </p:nvSpPr>
        <p:spPr>
          <a:xfrm>
            <a:off x="588963" y="457200"/>
            <a:ext cx="11017250" cy="554038"/>
          </a:xfrm>
        </p:spPr>
        <p:txBody>
          <a:bodyPr>
            <a:normAutofit/>
          </a:bodyPr>
          <a:lstStyle/>
          <a:p>
            <a:r>
              <a:rPr lang="en-US"/>
              <a:t>Key benefits</a:t>
            </a:r>
          </a:p>
        </p:txBody>
      </p:sp>
      <p:sp>
        <p:nvSpPr>
          <p:cNvPr id="13" name="Text Placeholder 5">
            <a:extLst>
              <a:ext uri="{FF2B5EF4-FFF2-40B4-BE49-F238E27FC236}">
                <a16:creationId xmlns:a16="http://schemas.microsoft.com/office/drawing/2014/main" id="{C9A4C46D-94D3-4758-0E8D-E48490551076}"/>
              </a:ext>
            </a:extLst>
          </p:cNvPr>
          <p:cNvSpPr txBox="1">
            <a:spLocks/>
          </p:cNvSpPr>
          <p:nvPr/>
        </p:nvSpPr>
        <p:spPr>
          <a:xfrm>
            <a:off x="588963" y="1056610"/>
            <a:ext cx="9765710" cy="184666"/>
          </a:xfrm>
          <a:prstGeom prst="rect">
            <a:avLst/>
          </a:prstGeom>
        </p:spPr>
        <p:txBody>
          <a:bodyPr wrap="square" lIns="0" tIns="0" rIns="0" bIns="0" anchor="t">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defRPr/>
            </a:pPr>
            <a:r>
              <a:rPr lang="en-US" sz="1200">
                <a:solidFill>
                  <a:schemeClr val="tx2"/>
                </a:solidFill>
                <a:cs typeface="Segoe UI Semibold"/>
              </a:rPr>
              <a:t>Achieve target performance with the most cost-efficiency</a:t>
            </a:r>
          </a:p>
        </p:txBody>
      </p:sp>
    </p:spTree>
    <p:extLst>
      <p:ext uri="{BB962C8B-B14F-4D97-AF65-F5344CB8AC3E}">
        <p14:creationId xmlns:p14="http://schemas.microsoft.com/office/powerpoint/2010/main" val="2581533299"/>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E823A-516E-A742-046C-6FE33C3E05CE}"/>
              </a:ext>
            </a:extLst>
          </p:cNvPr>
          <p:cNvSpPr>
            <a:spLocks noGrp="1"/>
          </p:cNvSpPr>
          <p:nvPr>
            <p:ph type="title"/>
          </p:nvPr>
        </p:nvSpPr>
        <p:spPr/>
        <p:txBody>
          <a:bodyPr/>
          <a:lstStyle/>
          <a:p>
            <a:r>
              <a:rPr lang="en-US" b="1">
                <a:latin typeface="Segoe Semibold" charset="0"/>
              </a:rPr>
              <a:t>How do we do it?</a:t>
            </a:r>
            <a:endParaRPr lang="en-US"/>
          </a:p>
        </p:txBody>
      </p:sp>
      <p:sp>
        <p:nvSpPr>
          <p:cNvPr id="3" name="Rectangle 2">
            <a:extLst>
              <a:ext uri="{FF2B5EF4-FFF2-40B4-BE49-F238E27FC236}">
                <a16:creationId xmlns:a16="http://schemas.microsoft.com/office/drawing/2014/main" id="{BE96EB70-B071-A50F-F38A-1C126A22C4FB}"/>
              </a:ext>
              <a:ext uri="{C183D7F6-B498-43B3-948B-1728B52AA6E4}">
                <adec:decorative xmlns:adec="http://schemas.microsoft.com/office/drawing/2017/decorative" val="1"/>
              </a:ext>
            </a:extLst>
          </p:cNvPr>
          <p:cNvSpPr/>
          <p:nvPr/>
        </p:nvSpPr>
        <p:spPr>
          <a:xfrm>
            <a:off x="762861" y="1419119"/>
            <a:ext cx="10505052" cy="3314620"/>
          </a:xfrm>
          <a:prstGeom prst="rect">
            <a:avLst/>
          </a:prstGeom>
          <a:solidFill>
            <a:schemeClr val="bg1">
              <a:lumMod val="95000"/>
            </a:schemeClr>
          </a:solidFill>
          <a:ln w="63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134464" rIns="89642" bIns="44821"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US" sz="2353">
              <a:solidFill>
                <a:schemeClr val="tx2"/>
              </a:solidFill>
              <a:latin typeface="+mj-lt"/>
            </a:endParaRPr>
          </a:p>
        </p:txBody>
      </p:sp>
      <p:sp>
        <p:nvSpPr>
          <p:cNvPr id="4" name="Rectangle 3">
            <a:extLst>
              <a:ext uri="{FF2B5EF4-FFF2-40B4-BE49-F238E27FC236}">
                <a16:creationId xmlns:a16="http://schemas.microsoft.com/office/drawing/2014/main" id="{6BABE058-52D1-E5E4-914D-CDCB3ACE0DF0}"/>
              </a:ext>
            </a:extLst>
          </p:cNvPr>
          <p:cNvSpPr/>
          <p:nvPr/>
        </p:nvSpPr>
        <p:spPr>
          <a:xfrm>
            <a:off x="762861" y="1419120"/>
            <a:ext cx="10505052" cy="633035"/>
          </a:xfrm>
          <a:prstGeom prst="rect">
            <a:avLst/>
          </a:prstGeom>
          <a:no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134464" rIns="89642" bIns="44821" numCol="1" spcCol="0" rtlCol="0" fromWordArt="0" anchor="t" anchorCtr="0" forceAA="0" compatLnSpc="1">
            <a:prstTxWarp prst="textNoShape">
              <a:avLst/>
            </a:prstTxWarp>
            <a:noAutofit/>
          </a:bodyPr>
          <a:lstStyle/>
          <a:p>
            <a:pPr algn="ctr" defTabSz="914102" fontAlgn="base">
              <a:spcBef>
                <a:spcPct val="0"/>
              </a:spcBef>
              <a:spcAft>
                <a:spcPct val="0"/>
              </a:spcAft>
            </a:pPr>
            <a:r>
              <a:rPr lang="en-US" sz="2353">
                <a:solidFill>
                  <a:schemeClr val="tx2"/>
                </a:solidFill>
                <a:latin typeface="+mj-lt"/>
              </a:rPr>
              <a:t>Azure Kubernetes Service (AKS) Cluster</a:t>
            </a:r>
          </a:p>
        </p:txBody>
      </p:sp>
      <p:sp>
        <p:nvSpPr>
          <p:cNvPr id="5" name="Rectangle 4">
            <a:extLst>
              <a:ext uri="{FF2B5EF4-FFF2-40B4-BE49-F238E27FC236}">
                <a16:creationId xmlns:a16="http://schemas.microsoft.com/office/drawing/2014/main" id="{CC38FE80-332F-93AD-2DA6-264EEBDC4677}"/>
              </a:ext>
            </a:extLst>
          </p:cNvPr>
          <p:cNvSpPr/>
          <p:nvPr/>
        </p:nvSpPr>
        <p:spPr>
          <a:xfrm>
            <a:off x="1906197" y="2329448"/>
            <a:ext cx="1056878" cy="4693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25">
              <a:defRPr/>
            </a:pPr>
            <a:r>
              <a:rPr lang="en-US" sz="1961">
                <a:solidFill>
                  <a:schemeClr val="bg1"/>
                </a:solidFill>
                <a:latin typeface="+mj-lt"/>
              </a:rPr>
              <a:t>Pod</a:t>
            </a:r>
          </a:p>
        </p:txBody>
      </p:sp>
      <p:grpSp>
        <p:nvGrpSpPr>
          <p:cNvPr id="6" name="Group 5" descr="A line connecting Pod with two PV Boxes">
            <a:extLst>
              <a:ext uri="{FF2B5EF4-FFF2-40B4-BE49-F238E27FC236}">
                <a16:creationId xmlns:a16="http://schemas.microsoft.com/office/drawing/2014/main" id="{09899298-DD3C-B970-A9A9-5E16C2FD5D74}"/>
              </a:ext>
            </a:extLst>
          </p:cNvPr>
          <p:cNvGrpSpPr/>
          <p:nvPr/>
        </p:nvGrpSpPr>
        <p:grpSpPr>
          <a:xfrm>
            <a:off x="1863835" y="2798786"/>
            <a:ext cx="1141601" cy="447508"/>
            <a:chOff x="1983438" y="2018594"/>
            <a:chExt cx="1164492" cy="456481"/>
          </a:xfrm>
        </p:grpSpPr>
        <p:cxnSp>
          <p:nvCxnSpPr>
            <p:cNvPr id="7" name="Straight Connector 150">
              <a:extLst>
                <a:ext uri="{FF2B5EF4-FFF2-40B4-BE49-F238E27FC236}">
                  <a16:creationId xmlns:a16="http://schemas.microsoft.com/office/drawing/2014/main" id="{3BC97A83-F44C-E9E8-5801-71DADFBCAE5E}"/>
                </a:ext>
              </a:extLst>
            </p:cNvPr>
            <p:cNvCxnSpPr>
              <a:cxnSpLocks/>
              <a:stCxn id="5" idx="2"/>
              <a:endCxn id="9" idx="0"/>
            </p:cNvCxnSpPr>
            <p:nvPr/>
          </p:nvCxnSpPr>
          <p:spPr>
            <a:xfrm rot="5400000">
              <a:off x="2046322" y="1955711"/>
              <a:ext cx="456480" cy="582247"/>
            </a:xfrm>
            <a:prstGeom prst="bentConnector3">
              <a:avLst>
                <a:gd name="adj1" fmla="val 50000"/>
              </a:avLst>
            </a:prstGeom>
            <a:ln w="12700">
              <a:solidFill>
                <a:schemeClr val="bg1">
                  <a:lumMod val="75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150">
              <a:extLst>
                <a:ext uri="{FF2B5EF4-FFF2-40B4-BE49-F238E27FC236}">
                  <a16:creationId xmlns:a16="http://schemas.microsoft.com/office/drawing/2014/main" id="{9B005F42-61DC-F763-8A40-AA5D52F60142}"/>
                </a:ext>
              </a:extLst>
            </p:cNvPr>
            <p:cNvCxnSpPr>
              <a:cxnSpLocks/>
              <a:stCxn id="5" idx="2"/>
              <a:endCxn id="10" idx="0"/>
            </p:cNvCxnSpPr>
            <p:nvPr/>
          </p:nvCxnSpPr>
          <p:spPr>
            <a:xfrm rot="16200000" flipH="1">
              <a:off x="2628568" y="1955711"/>
              <a:ext cx="456480" cy="582245"/>
            </a:xfrm>
            <a:prstGeom prst="bentConnector3">
              <a:avLst>
                <a:gd name="adj1" fmla="val 50000"/>
              </a:avLst>
            </a:prstGeom>
            <a:ln w="12700">
              <a:solidFill>
                <a:schemeClr val="bg1">
                  <a:lumMod val="75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9" name="Rectangle 8">
            <a:extLst>
              <a:ext uri="{FF2B5EF4-FFF2-40B4-BE49-F238E27FC236}">
                <a16:creationId xmlns:a16="http://schemas.microsoft.com/office/drawing/2014/main" id="{FB1CE629-0B9B-F59F-6021-95F5FA100E9E}"/>
              </a:ext>
            </a:extLst>
          </p:cNvPr>
          <p:cNvSpPr/>
          <p:nvPr/>
        </p:nvSpPr>
        <p:spPr>
          <a:xfrm>
            <a:off x="1335396" y="3246294"/>
            <a:ext cx="1056878" cy="46933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25">
              <a:defRPr/>
            </a:pPr>
            <a:r>
              <a:rPr lang="en-US" sz="1961">
                <a:solidFill>
                  <a:schemeClr val="tx1"/>
                </a:solidFill>
                <a:latin typeface="+mj-lt"/>
              </a:rPr>
              <a:t>PV</a:t>
            </a:r>
          </a:p>
        </p:txBody>
      </p:sp>
      <p:sp>
        <p:nvSpPr>
          <p:cNvPr id="10" name="Rectangle 9">
            <a:extLst>
              <a:ext uri="{FF2B5EF4-FFF2-40B4-BE49-F238E27FC236}">
                <a16:creationId xmlns:a16="http://schemas.microsoft.com/office/drawing/2014/main" id="{A3E0AD65-3561-0409-D618-1F9A889E52E3}"/>
              </a:ext>
            </a:extLst>
          </p:cNvPr>
          <p:cNvSpPr/>
          <p:nvPr/>
        </p:nvSpPr>
        <p:spPr>
          <a:xfrm>
            <a:off x="2476997" y="3246294"/>
            <a:ext cx="1056878" cy="46933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25">
              <a:defRPr/>
            </a:pPr>
            <a:r>
              <a:rPr lang="en-US" sz="1961">
                <a:solidFill>
                  <a:schemeClr val="tx1"/>
                </a:solidFill>
                <a:latin typeface="+mj-lt"/>
              </a:rPr>
              <a:t>PV</a:t>
            </a:r>
          </a:p>
        </p:txBody>
      </p:sp>
      <p:grpSp>
        <p:nvGrpSpPr>
          <p:cNvPr id="11" name="Group 10" descr="A line pointing upwards from Ephemeral Disk to two PV Boxes">
            <a:extLst>
              <a:ext uri="{FF2B5EF4-FFF2-40B4-BE49-F238E27FC236}">
                <a16:creationId xmlns:a16="http://schemas.microsoft.com/office/drawing/2014/main" id="{12C39FD4-5D83-FD6F-F12A-6EA8B0813F85}"/>
              </a:ext>
            </a:extLst>
          </p:cNvPr>
          <p:cNvGrpSpPr/>
          <p:nvPr/>
        </p:nvGrpSpPr>
        <p:grpSpPr>
          <a:xfrm>
            <a:off x="1863835" y="3715633"/>
            <a:ext cx="1141602" cy="1407830"/>
            <a:chOff x="1983437" y="2953853"/>
            <a:chExt cx="1164494" cy="1436060"/>
          </a:xfrm>
        </p:grpSpPr>
        <p:cxnSp>
          <p:nvCxnSpPr>
            <p:cNvPr id="12" name="Straight Connector 133">
              <a:extLst>
                <a:ext uri="{FF2B5EF4-FFF2-40B4-BE49-F238E27FC236}">
                  <a16:creationId xmlns:a16="http://schemas.microsoft.com/office/drawing/2014/main" id="{6A6A0FB8-F5D0-6499-A811-332A1F661A97}"/>
                </a:ext>
              </a:extLst>
            </p:cNvPr>
            <p:cNvCxnSpPr>
              <a:cxnSpLocks/>
              <a:stCxn id="10" idx="2"/>
              <a:endCxn id="14" idx="0"/>
            </p:cNvCxnSpPr>
            <p:nvPr/>
          </p:nvCxnSpPr>
          <p:spPr>
            <a:xfrm rot="5400000">
              <a:off x="2138779" y="3380760"/>
              <a:ext cx="1436058" cy="582247"/>
            </a:xfrm>
            <a:prstGeom prst="bentConnector3">
              <a:avLst>
                <a:gd name="adj1" fmla="val 50000"/>
              </a:avLst>
            </a:prstGeom>
            <a:ln w="12700">
              <a:solidFill>
                <a:schemeClr val="bg1">
                  <a:lumMod val="75000"/>
                </a:schemeClr>
              </a:solidFill>
              <a:headEnd type="triangle" w="lg" len="med"/>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33">
              <a:extLst>
                <a:ext uri="{FF2B5EF4-FFF2-40B4-BE49-F238E27FC236}">
                  <a16:creationId xmlns:a16="http://schemas.microsoft.com/office/drawing/2014/main" id="{0A9B4DD1-C480-E5C6-F401-2DE71F3CAB71}"/>
                </a:ext>
              </a:extLst>
            </p:cNvPr>
            <p:cNvCxnSpPr>
              <a:cxnSpLocks/>
              <a:stCxn id="9" idx="2"/>
              <a:endCxn id="14" idx="0"/>
            </p:cNvCxnSpPr>
            <p:nvPr/>
          </p:nvCxnSpPr>
          <p:spPr>
            <a:xfrm rot="16200000" flipH="1">
              <a:off x="1556531" y="3380759"/>
              <a:ext cx="1436058" cy="582246"/>
            </a:xfrm>
            <a:prstGeom prst="bentConnector3">
              <a:avLst>
                <a:gd name="adj1" fmla="val 50000"/>
              </a:avLst>
            </a:prstGeom>
            <a:ln w="12700">
              <a:solidFill>
                <a:schemeClr val="bg1">
                  <a:lumMod val="75000"/>
                </a:schemeClr>
              </a:solidFill>
              <a:headEnd type="triangle" w="lg" len="med"/>
              <a:tailEnd type="none"/>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8385A0E7-F7F8-E02F-F6DC-282A8679C85A}"/>
              </a:ext>
            </a:extLst>
          </p:cNvPr>
          <p:cNvSpPr/>
          <p:nvPr/>
        </p:nvSpPr>
        <p:spPr>
          <a:xfrm>
            <a:off x="8150434" y="5123461"/>
            <a:ext cx="2855901" cy="1114112"/>
          </a:xfrm>
          <a:prstGeom prst="rect">
            <a:avLst/>
          </a:prstGeom>
          <a:solidFill>
            <a:schemeClr val="bg1"/>
          </a:solidFill>
          <a:ln w="635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87152" tIns="37351" rIns="87152" bIns="89642"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225">
              <a:defRPr/>
            </a:pPr>
            <a:r>
              <a:rPr lang="en-US" sz="1961" b="1">
                <a:solidFill>
                  <a:prstClr val="black"/>
                </a:solidFill>
                <a:latin typeface="+mj-lt"/>
              </a:rPr>
              <a:t>Ephemeral Disk</a:t>
            </a:r>
          </a:p>
        </p:txBody>
      </p:sp>
      <p:sp>
        <p:nvSpPr>
          <p:cNvPr id="15" name="Rectangle 14">
            <a:extLst>
              <a:ext uri="{FF2B5EF4-FFF2-40B4-BE49-F238E27FC236}">
                <a16:creationId xmlns:a16="http://schemas.microsoft.com/office/drawing/2014/main" id="{C927C894-6207-5976-4818-332AE83EBEDF}"/>
              </a:ext>
            </a:extLst>
          </p:cNvPr>
          <p:cNvSpPr>
            <a:spLocks/>
          </p:cNvSpPr>
          <p:nvPr/>
        </p:nvSpPr>
        <p:spPr>
          <a:xfrm>
            <a:off x="8282868" y="5240911"/>
            <a:ext cx="2394757" cy="427574"/>
          </a:xfrm>
          <a:prstGeom prst="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225">
              <a:defRPr/>
            </a:pPr>
            <a:r>
              <a:rPr lang="en-US" sz="1765">
                <a:solidFill>
                  <a:schemeClr val="tx1"/>
                </a:solidFill>
                <a:latin typeface="+mj-lt"/>
              </a:rPr>
              <a:t>                         NVMe</a:t>
            </a:r>
          </a:p>
        </p:txBody>
      </p:sp>
      <p:sp>
        <p:nvSpPr>
          <p:cNvPr id="16" name="Rectangle 15">
            <a:extLst>
              <a:ext uri="{FF2B5EF4-FFF2-40B4-BE49-F238E27FC236}">
                <a16:creationId xmlns:a16="http://schemas.microsoft.com/office/drawing/2014/main" id="{E69C78CF-CEFB-5E31-B8E1-D959E950DE52}"/>
              </a:ext>
            </a:extLst>
          </p:cNvPr>
          <p:cNvSpPr>
            <a:spLocks/>
          </p:cNvSpPr>
          <p:nvPr/>
        </p:nvSpPr>
        <p:spPr>
          <a:xfrm>
            <a:off x="8282868" y="5246277"/>
            <a:ext cx="980568" cy="42757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225">
              <a:defRPr/>
            </a:pPr>
            <a:r>
              <a:rPr lang="en-US" sz="1765">
                <a:solidFill>
                  <a:prstClr val="white"/>
                </a:solidFill>
                <a:latin typeface="+mj-lt"/>
              </a:rPr>
              <a:t>Volume</a:t>
            </a:r>
          </a:p>
        </p:txBody>
      </p:sp>
      <p:sp>
        <p:nvSpPr>
          <p:cNvPr id="17" name="Rectangle 16">
            <a:extLst>
              <a:ext uri="{FF2B5EF4-FFF2-40B4-BE49-F238E27FC236}">
                <a16:creationId xmlns:a16="http://schemas.microsoft.com/office/drawing/2014/main" id="{CCF1FC55-E23D-94A7-BC9F-DC6DCA355063}"/>
              </a:ext>
            </a:extLst>
          </p:cNvPr>
          <p:cNvSpPr/>
          <p:nvPr/>
        </p:nvSpPr>
        <p:spPr>
          <a:xfrm>
            <a:off x="5494568" y="2329448"/>
            <a:ext cx="1056878" cy="4693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25">
              <a:defRPr/>
            </a:pPr>
            <a:r>
              <a:rPr lang="en-US" sz="1961">
                <a:solidFill>
                  <a:schemeClr val="bg1"/>
                </a:solidFill>
                <a:latin typeface="+mj-lt"/>
              </a:rPr>
              <a:t>Pod</a:t>
            </a:r>
          </a:p>
        </p:txBody>
      </p:sp>
      <p:grpSp>
        <p:nvGrpSpPr>
          <p:cNvPr id="18" name="Group 17" descr="A line connecting Pod with two PV Boxes">
            <a:extLst>
              <a:ext uri="{FF2B5EF4-FFF2-40B4-BE49-F238E27FC236}">
                <a16:creationId xmlns:a16="http://schemas.microsoft.com/office/drawing/2014/main" id="{B1A979C4-F29E-8E27-8ED1-C8F321A91AAF}"/>
              </a:ext>
            </a:extLst>
          </p:cNvPr>
          <p:cNvGrpSpPr/>
          <p:nvPr/>
        </p:nvGrpSpPr>
        <p:grpSpPr>
          <a:xfrm>
            <a:off x="5452207" y="2798785"/>
            <a:ext cx="1141601" cy="447507"/>
            <a:chOff x="5643764" y="2018598"/>
            <a:chExt cx="1164492" cy="456480"/>
          </a:xfrm>
        </p:grpSpPr>
        <p:cxnSp>
          <p:nvCxnSpPr>
            <p:cNvPr id="19" name="Straight Connector 150">
              <a:extLst>
                <a:ext uri="{FF2B5EF4-FFF2-40B4-BE49-F238E27FC236}">
                  <a16:creationId xmlns:a16="http://schemas.microsoft.com/office/drawing/2014/main" id="{4E033F7C-347C-93D1-3517-4C634481E4CE}"/>
                </a:ext>
              </a:extLst>
            </p:cNvPr>
            <p:cNvCxnSpPr>
              <a:cxnSpLocks/>
              <a:stCxn id="17" idx="2"/>
              <a:endCxn id="21" idx="0"/>
            </p:cNvCxnSpPr>
            <p:nvPr/>
          </p:nvCxnSpPr>
          <p:spPr>
            <a:xfrm rot="5400000">
              <a:off x="5706647" y="1955715"/>
              <a:ext cx="456480" cy="582246"/>
            </a:xfrm>
            <a:prstGeom prst="bentConnector3">
              <a:avLst>
                <a:gd name="adj1" fmla="val 50000"/>
              </a:avLst>
            </a:prstGeom>
            <a:ln w="12700">
              <a:solidFill>
                <a:schemeClr val="bg1">
                  <a:lumMod val="75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50">
              <a:extLst>
                <a:ext uri="{FF2B5EF4-FFF2-40B4-BE49-F238E27FC236}">
                  <a16:creationId xmlns:a16="http://schemas.microsoft.com/office/drawing/2014/main" id="{38B9106E-F602-F2C7-1EB5-21E488F40A98}"/>
                </a:ext>
              </a:extLst>
            </p:cNvPr>
            <p:cNvCxnSpPr>
              <a:cxnSpLocks/>
              <a:stCxn id="17" idx="2"/>
              <a:endCxn id="22" idx="0"/>
            </p:cNvCxnSpPr>
            <p:nvPr/>
          </p:nvCxnSpPr>
          <p:spPr>
            <a:xfrm rot="16200000" flipH="1">
              <a:off x="6288893" y="1955715"/>
              <a:ext cx="456480" cy="582246"/>
            </a:xfrm>
            <a:prstGeom prst="bentConnector3">
              <a:avLst>
                <a:gd name="adj1" fmla="val 50000"/>
              </a:avLst>
            </a:prstGeom>
            <a:ln w="12700">
              <a:solidFill>
                <a:schemeClr val="bg1">
                  <a:lumMod val="75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21" name="Rectangle 20">
            <a:extLst>
              <a:ext uri="{FF2B5EF4-FFF2-40B4-BE49-F238E27FC236}">
                <a16:creationId xmlns:a16="http://schemas.microsoft.com/office/drawing/2014/main" id="{6DD7784A-55D9-F321-7580-0E6A6ECC230B}"/>
              </a:ext>
            </a:extLst>
          </p:cNvPr>
          <p:cNvSpPr/>
          <p:nvPr/>
        </p:nvSpPr>
        <p:spPr>
          <a:xfrm>
            <a:off x="4923768" y="3246294"/>
            <a:ext cx="1056878" cy="46933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25">
              <a:defRPr/>
            </a:pPr>
            <a:r>
              <a:rPr lang="en-US" sz="1961">
                <a:solidFill>
                  <a:schemeClr val="tx1"/>
                </a:solidFill>
                <a:latin typeface="+mj-lt"/>
              </a:rPr>
              <a:t>PV</a:t>
            </a:r>
          </a:p>
        </p:txBody>
      </p:sp>
      <p:sp>
        <p:nvSpPr>
          <p:cNvPr id="22" name="Rectangle 21">
            <a:extLst>
              <a:ext uri="{FF2B5EF4-FFF2-40B4-BE49-F238E27FC236}">
                <a16:creationId xmlns:a16="http://schemas.microsoft.com/office/drawing/2014/main" id="{C874E03A-D0B7-3428-8DC2-795EA9D25A53}"/>
              </a:ext>
            </a:extLst>
          </p:cNvPr>
          <p:cNvSpPr/>
          <p:nvPr/>
        </p:nvSpPr>
        <p:spPr>
          <a:xfrm>
            <a:off x="6065368" y="3246294"/>
            <a:ext cx="1056878" cy="46933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25">
              <a:defRPr/>
            </a:pPr>
            <a:r>
              <a:rPr lang="en-US" sz="1961">
                <a:solidFill>
                  <a:schemeClr val="tx1"/>
                </a:solidFill>
                <a:latin typeface="+mj-lt"/>
              </a:rPr>
              <a:t>PV</a:t>
            </a:r>
          </a:p>
        </p:txBody>
      </p:sp>
      <p:grpSp>
        <p:nvGrpSpPr>
          <p:cNvPr id="23" name="Group 22" descr="A line pointing upwards from Azure Disks to two PV Boxes">
            <a:extLst>
              <a:ext uri="{FF2B5EF4-FFF2-40B4-BE49-F238E27FC236}">
                <a16:creationId xmlns:a16="http://schemas.microsoft.com/office/drawing/2014/main" id="{6256CA73-D14E-ED07-3268-6BCBF85573D8}"/>
              </a:ext>
            </a:extLst>
          </p:cNvPr>
          <p:cNvGrpSpPr/>
          <p:nvPr/>
        </p:nvGrpSpPr>
        <p:grpSpPr>
          <a:xfrm>
            <a:off x="5452203" y="3715633"/>
            <a:ext cx="1141603" cy="1403554"/>
            <a:chOff x="5643762" y="2953846"/>
            <a:chExt cx="1164495" cy="1431698"/>
          </a:xfrm>
        </p:grpSpPr>
        <p:cxnSp>
          <p:nvCxnSpPr>
            <p:cNvPr id="24" name="Straight Connector 133">
              <a:extLst>
                <a:ext uri="{FF2B5EF4-FFF2-40B4-BE49-F238E27FC236}">
                  <a16:creationId xmlns:a16="http://schemas.microsoft.com/office/drawing/2014/main" id="{573975F7-08B5-8A8D-BBC4-6D8CCBBBA63C}"/>
                </a:ext>
              </a:extLst>
            </p:cNvPr>
            <p:cNvCxnSpPr>
              <a:cxnSpLocks/>
              <a:stCxn id="22" idx="2"/>
              <a:endCxn id="26" idx="0"/>
            </p:cNvCxnSpPr>
            <p:nvPr/>
          </p:nvCxnSpPr>
          <p:spPr>
            <a:xfrm rot="5400000">
              <a:off x="5801287" y="3378573"/>
              <a:ext cx="1431696" cy="582245"/>
            </a:xfrm>
            <a:prstGeom prst="bentConnector3">
              <a:avLst>
                <a:gd name="adj1" fmla="val 50000"/>
              </a:avLst>
            </a:prstGeom>
            <a:ln w="12700">
              <a:solidFill>
                <a:schemeClr val="bg1">
                  <a:lumMod val="75000"/>
                </a:schemeClr>
              </a:solidFill>
              <a:headEnd type="triangle" w="lg" len="med"/>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133">
              <a:extLst>
                <a:ext uri="{FF2B5EF4-FFF2-40B4-BE49-F238E27FC236}">
                  <a16:creationId xmlns:a16="http://schemas.microsoft.com/office/drawing/2014/main" id="{68CA0AB5-E5DC-AD26-57C9-A6AC856A9AC6}"/>
                </a:ext>
              </a:extLst>
            </p:cNvPr>
            <p:cNvCxnSpPr>
              <a:cxnSpLocks/>
              <a:stCxn id="21" idx="2"/>
              <a:endCxn id="26" idx="0"/>
            </p:cNvCxnSpPr>
            <p:nvPr/>
          </p:nvCxnSpPr>
          <p:spPr>
            <a:xfrm rot="16200000" flipH="1">
              <a:off x="5219038" y="3378570"/>
              <a:ext cx="1431696" cy="582247"/>
            </a:xfrm>
            <a:prstGeom prst="bentConnector3">
              <a:avLst>
                <a:gd name="adj1" fmla="val 50000"/>
              </a:avLst>
            </a:prstGeom>
            <a:ln w="12700">
              <a:solidFill>
                <a:schemeClr val="bg1">
                  <a:lumMod val="75000"/>
                </a:schemeClr>
              </a:solidFill>
              <a:headEnd type="triangle" w="lg" len="med"/>
              <a:tailEnd type="none"/>
            </a:ln>
          </p:spPr>
          <p:style>
            <a:lnRef idx="1">
              <a:schemeClr val="accent1"/>
            </a:lnRef>
            <a:fillRef idx="0">
              <a:schemeClr val="accent1"/>
            </a:fillRef>
            <a:effectRef idx="0">
              <a:schemeClr val="accent1"/>
            </a:effectRef>
            <a:fontRef idx="minor">
              <a:schemeClr val="tx1"/>
            </a:fontRef>
          </p:style>
        </p:cxnSp>
      </p:grpSp>
      <p:sp>
        <p:nvSpPr>
          <p:cNvPr id="26" name="Rectangle 25">
            <a:extLst>
              <a:ext uri="{FF2B5EF4-FFF2-40B4-BE49-F238E27FC236}">
                <a16:creationId xmlns:a16="http://schemas.microsoft.com/office/drawing/2014/main" id="{7F45632A-70B6-FF6E-63D8-C1DDB1BC276B}"/>
              </a:ext>
            </a:extLst>
          </p:cNvPr>
          <p:cNvSpPr/>
          <p:nvPr/>
        </p:nvSpPr>
        <p:spPr>
          <a:xfrm>
            <a:off x="975557" y="5119185"/>
            <a:ext cx="2855901" cy="1118388"/>
          </a:xfrm>
          <a:prstGeom prst="rect">
            <a:avLst/>
          </a:prstGeom>
          <a:solidFill>
            <a:schemeClr val="bg1"/>
          </a:solidFill>
          <a:ln w="635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87152" tIns="37351" rIns="87152" bIns="89642"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225">
              <a:defRPr/>
            </a:pPr>
            <a:r>
              <a:rPr lang="en-US" sz="1961" b="1">
                <a:solidFill>
                  <a:prstClr val="black"/>
                </a:solidFill>
                <a:latin typeface="+mj-lt"/>
              </a:rPr>
              <a:t>Azure Disks</a:t>
            </a:r>
          </a:p>
        </p:txBody>
      </p:sp>
      <p:sp>
        <p:nvSpPr>
          <p:cNvPr id="27" name="Rectangle 26">
            <a:extLst>
              <a:ext uri="{FF2B5EF4-FFF2-40B4-BE49-F238E27FC236}">
                <a16:creationId xmlns:a16="http://schemas.microsoft.com/office/drawing/2014/main" id="{35643BB6-CFA5-B1C7-53F7-4B678E5F112D}"/>
              </a:ext>
            </a:extLst>
          </p:cNvPr>
          <p:cNvSpPr/>
          <p:nvPr/>
        </p:nvSpPr>
        <p:spPr>
          <a:xfrm>
            <a:off x="9082939" y="2329448"/>
            <a:ext cx="1056878" cy="4693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25">
              <a:defRPr/>
            </a:pPr>
            <a:r>
              <a:rPr lang="en-US" sz="1961">
                <a:solidFill>
                  <a:schemeClr val="bg1"/>
                </a:solidFill>
                <a:latin typeface="+mj-lt"/>
              </a:rPr>
              <a:t>Pod</a:t>
            </a:r>
          </a:p>
        </p:txBody>
      </p:sp>
      <p:grpSp>
        <p:nvGrpSpPr>
          <p:cNvPr id="28" name="Group 27" descr="A line connecting Pod with two PV Boxes">
            <a:extLst>
              <a:ext uri="{FF2B5EF4-FFF2-40B4-BE49-F238E27FC236}">
                <a16:creationId xmlns:a16="http://schemas.microsoft.com/office/drawing/2014/main" id="{A832D881-E757-ED24-0ACB-FD7E75237354}"/>
              </a:ext>
            </a:extLst>
          </p:cNvPr>
          <p:cNvGrpSpPr/>
          <p:nvPr/>
        </p:nvGrpSpPr>
        <p:grpSpPr>
          <a:xfrm>
            <a:off x="9040578" y="2798786"/>
            <a:ext cx="1141601" cy="447507"/>
            <a:chOff x="9304090" y="2018598"/>
            <a:chExt cx="1164492" cy="456480"/>
          </a:xfrm>
        </p:grpSpPr>
        <p:cxnSp>
          <p:nvCxnSpPr>
            <p:cNvPr id="29" name="Straight Connector 150">
              <a:extLst>
                <a:ext uri="{FF2B5EF4-FFF2-40B4-BE49-F238E27FC236}">
                  <a16:creationId xmlns:a16="http://schemas.microsoft.com/office/drawing/2014/main" id="{90005D9C-82AA-758E-F167-21AD8AC9BB09}"/>
                </a:ext>
              </a:extLst>
            </p:cNvPr>
            <p:cNvCxnSpPr>
              <a:stCxn id="27" idx="2"/>
              <a:endCxn id="31" idx="0"/>
            </p:cNvCxnSpPr>
            <p:nvPr/>
          </p:nvCxnSpPr>
          <p:spPr>
            <a:xfrm rot="5400000">
              <a:off x="9366973" y="1955715"/>
              <a:ext cx="456480" cy="582246"/>
            </a:xfrm>
            <a:prstGeom prst="bentConnector3">
              <a:avLst>
                <a:gd name="adj1" fmla="val 50000"/>
              </a:avLst>
            </a:prstGeom>
            <a:ln w="12700">
              <a:solidFill>
                <a:schemeClr val="bg1">
                  <a:lumMod val="75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150">
              <a:extLst>
                <a:ext uri="{FF2B5EF4-FFF2-40B4-BE49-F238E27FC236}">
                  <a16:creationId xmlns:a16="http://schemas.microsoft.com/office/drawing/2014/main" id="{D088D87D-D44E-25FD-8F12-3EB583CB4037}"/>
                </a:ext>
              </a:extLst>
            </p:cNvPr>
            <p:cNvCxnSpPr>
              <a:cxnSpLocks/>
              <a:stCxn id="27" idx="2"/>
              <a:endCxn id="32" idx="0"/>
            </p:cNvCxnSpPr>
            <p:nvPr/>
          </p:nvCxnSpPr>
          <p:spPr>
            <a:xfrm rot="16200000" flipH="1">
              <a:off x="9949219" y="1955715"/>
              <a:ext cx="456480" cy="582246"/>
            </a:xfrm>
            <a:prstGeom prst="bentConnector3">
              <a:avLst>
                <a:gd name="adj1" fmla="val 50000"/>
              </a:avLst>
            </a:prstGeom>
            <a:ln w="12700">
              <a:solidFill>
                <a:schemeClr val="bg1">
                  <a:lumMod val="75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1" name="Rectangle 30">
            <a:extLst>
              <a:ext uri="{FF2B5EF4-FFF2-40B4-BE49-F238E27FC236}">
                <a16:creationId xmlns:a16="http://schemas.microsoft.com/office/drawing/2014/main" id="{5FC8AF0E-5007-188F-9DE7-4C4B9014D5F4}"/>
              </a:ext>
            </a:extLst>
          </p:cNvPr>
          <p:cNvSpPr/>
          <p:nvPr/>
        </p:nvSpPr>
        <p:spPr>
          <a:xfrm>
            <a:off x="8512139" y="3246294"/>
            <a:ext cx="1056878" cy="46933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25">
              <a:defRPr/>
            </a:pPr>
            <a:r>
              <a:rPr lang="en-US" sz="1961">
                <a:solidFill>
                  <a:schemeClr val="tx1"/>
                </a:solidFill>
                <a:latin typeface="+mj-lt"/>
              </a:rPr>
              <a:t>PV</a:t>
            </a:r>
          </a:p>
        </p:txBody>
      </p:sp>
      <p:sp>
        <p:nvSpPr>
          <p:cNvPr id="32" name="Rectangle 31">
            <a:extLst>
              <a:ext uri="{FF2B5EF4-FFF2-40B4-BE49-F238E27FC236}">
                <a16:creationId xmlns:a16="http://schemas.microsoft.com/office/drawing/2014/main" id="{53EF6BCF-7BFF-953E-6977-520E5FEBD526}"/>
              </a:ext>
            </a:extLst>
          </p:cNvPr>
          <p:cNvSpPr/>
          <p:nvPr/>
        </p:nvSpPr>
        <p:spPr>
          <a:xfrm>
            <a:off x="9653739" y="3246294"/>
            <a:ext cx="1056878" cy="46933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25">
              <a:defRPr/>
            </a:pPr>
            <a:r>
              <a:rPr lang="en-US" sz="1961">
                <a:solidFill>
                  <a:schemeClr val="tx1"/>
                </a:solidFill>
                <a:latin typeface="+mj-lt"/>
              </a:rPr>
              <a:t>PV</a:t>
            </a:r>
          </a:p>
        </p:txBody>
      </p:sp>
      <p:grpSp>
        <p:nvGrpSpPr>
          <p:cNvPr id="33" name="Group 32" descr="A line pointing upwards from Managed SAN to two PV Boxes">
            <a:extLst>
              <a:ext uri="{FF2B5EF4-FFF2-40B4-BE49-F238E27FC236}">
                <a16:creationId xmlns:a16="http://schemas.microsoft.com/office/drawing/2014/main" id="{F6895CF6-69C3-11EC-6C81-780F8D3B6005}"/>
              </a:ext>
            </a:extLst>
          </p:cNvPr>
          <p:cNvGrpSpPr/>
          <p:nvPr/>
        </p:nvGrpSpPr>
        <p:grpSpPr>
          <a:xfrm>
            <a:off x="9040575" y="3715633"/>
            <a:ext cx="1141600" cy="1403552"/>
            <a:chOff x="9304091" y="2953846"/>
            <a:chExt cx="1164492" cy="1431696"/>
          </a:xfrm>
        </p:grpSpPr>
        <p:cxnSp>
          <p:nvCxnSpPr>
            <p:cNvPr id="34" name="Straight Connector 133">
              <a:extLst>
                <a:ext uri="{FF2B5EF4-FFF2-40B4-BE49-F238E27FC236}">
                  <a16:creationId xmlns:a16="http://schemas.microsoft.com/office/drawing/2014/main" id="{B3471DC6-4826-E89F-AB41-3AB285B5833D}"/>
                </a:ext>
              </a:extLst>
            </p:cNvPr>
            <p:cNvCxnSpPr>
              <a:cxnSpLocks/>
              <a:stCxn id="32" idx="2"/>
              <a:endCxn id="36" idx="0"/>
            </p:cNvCxnSpPr>
            <p:nvPr/>
          </p:nvCxnSpPr>
          <p:spPr>
            <a:xfrm rot="5400000">
              <a:off x="9461612" y="3378571"/>
              <a:ext cx="1431696" cy="582246"/>
            </a:xfrm>
            <a:prstGeom prst="bentConnector3">
              <a:avLst>
                <a:gd name="adj1" fmla="val 50000"/>
              </a:avLst>
            </a:prstGeom>
            <a:ln w="12700">
              <a:solidFill>
                <a:schemeClr val="bg1">
                  <a:lumMod val="75000"/>
                </a:schemeClr>
              </a:solidFill>
              <a:headEnd type="triangle" w="lg" len="med"/>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133">
              <a:extLst>
                <a:ext uri="{FF2B5EF4-FFF2-40B4-BE49-F238E27FC236}">
                  <a16:creationId xmlns:a16="http://schemas.microsoft.com/office/drawing/2014/main" id="{1B839A01-E5A5-AF54-8F70-E20377334368}"/>
                </a:ext>
              </a:extLst>
            </p:cNvPr>
            <p:cNvCxnSpPr>
              <a:cxnSpLocks/>
              <a:stCxn id="31" idx="2"/>
              <a:endCxn id="36" idx="0"/>
            </p:cNvCxnSpPr>
            <p:nvPr/>
          </p:nvCxnSpPr>
          <p:spPr>
            <a:xfrm rot="16200000" flipH="1">
              <a:off x="8879366" y="3378571"/>
              <a:ext cx="1431696" cy="582246"/>
            </a:xfrm>
            <a:prstGeom prst="bentConnector3">
              <a:avLst>
                <a:gd name="adj1" fmla="val 50000"/>
              </a:avLst>
            </a:prstGeom>
            <a:ln w="12700">
              <a:solidFill>
                <a:schemeClr val="bg1">
                  <a:lumMod val="75000"/>
                </a:schemeClr>
              </a:solidFill>
              <a:headEnd type="triangle" w="lg" len="med"/>
              <a:tailEnd type="none"/>
            </a:ln>
          </p:spPr>
          <p:style>
            <a:lnRef idx="1">
              <a:schemeClr val="accent1"/>
            </a:lnRef>
            <a:fillRef idx="0">
              <a:schemeClr val="accent1"/>
            </a:fillRef>
            <a:effectRef idx="0">
              <a:schemeClr val="accent1"/>
            </a:effectRef>
            <a:fontRef idx="minor">
              <a:schemeClr val="tx1"/>
            </a:fontRef>
          </p:style>
        </p:cxnSp>
      </p:grpSp>
      <p:sp>
        <p:nvSpPr>
          <p:cNvPr id="36" name="Rectangle 35">
            <a:extLst>
              <a:ext uri="{FF2B5EF4-FFF2-40B4-BE49-F238E27FC236}">
                <a16:creationId xmlns:a16="http://schemas.microsoft.com/office/drawing/2014/main" id="{EE39AC2C-688D-377B-D925-6DD7F2C381B6}"/>
              </a:ext>
            </a:extLst>
          </p:cNvPr>
          <p:cNvSpPr/>
          <p:nvPr/>
        </p:nvSpPr>
        <p:spPr>
          <a:xfrm>
            <a:off x="4563927" y="5119185"/>
            <a:ext cx="2855901" cy="1118388"/>
          </a:xfrm>
          <a:prstGeom prst="rect">
            <a:avLst/>
          </a:prstGeom>
          <a:solidFill>
            <a:schemeClr val="bg1"/>
          </a:solidFill>
          <a:ln w="635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87152" tIns="37351" rIns="87152" bIns="89642"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225">
              <a:defRPr/>
            </a:pPr>
            <a:r>
              <a:rPr lang="en-US" sz="1961" b="1">
                <a:solidFill>
                  <a:prstClr val="black"/>
                </a:solidFill>
                <a:latin typeface="+mj-lt"/>
              </a:rPr>
              <a:t>Azure Elastic SAN</a:t>
            </a:r>
          </a:p>
        </p:txBody>
      </p:sp>
      <p:sp>
        <p:nvSpPr>
          <p:cNvPr id="37" name="Rectangle 36">
            <a:extLst>
              <a:ext uri="{FF2B5EF4-FFF2-40B4-BE49-F238E27FC236}">
                <a16:creationId xmlns:a16="http://schemas.microsoft.com/office/drawing/2014/main" id="{3780D409-CC00-740C-4D80-CF4DF712E700}"/>
              </a:ext>
            </a:extLst>
          </p:cNvPr>
          <p:cNvSpPr/>
          <p:nvPr/>
        </p:nvSpPr>
        <p:spPr>
          <a:xfrm>
            <a:off x="4747598" y="5240911"/>
            <a:ext cx="1154419" cy="42757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25">
              <a:defRPr/>
            </a:pPr>
            <a:r>
              <a:rPr lang="en-US">
                <a:solidFill>
                  <a:prstClr val="white"/>
                </a:solidFill>
                <a:latin typeface="+mj-lt"/>
              </a:rPr>
              <a:t>Volume</a:t>
            </a:r>
          </a:p>
        </p:txBody>
      </p:sp>
      <p:sp>
        <p:nvSpPr>
          <p:cNvPr id="38" name="Rectangle 37">
            <a:extLst>
              <a:ext uri="{FF2B5EF4-FFF2-40B4-BE49-F238E27FC236}">
                <a16:creationId xmlns:a16="http://schemas.microsoft.com/office/drawing/2014/main" id="{1513E0CD-784E-795E-0BDC-2C8E0D8F1FFC}"/>
              </a:ext>
            </a:extLst>
          </p:cNvPr>
          <p:cNvSpPr/>
          <p:nvPr/>
        </p:nvSpPr>
        <p:spPr>
          <a:xfrm>
            <a:off x="6092901" y="5245553"/>
            <a:ext cx="1154419" cy="42757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25">
              <a:defRPr/>
            </a:pPr>
            <a:r>
              <a:rPr lang="en-US">
                <a:solidFill>
                  <a:prstClr val="white"/>
                </a:solidFill>
                <a:latin typeface="+mj-lt"/>
              </a:rPr>
              <a:t>Volume</a:t>
            </a:r>
          </a:p>
        </p:txBody>
      </p:sp>
      <p:sp>
        <p:nvSpPr>
          <p:cNvPr id="39" name="Rectangle 38">
            <a:extLst>
              <a:ext uri="{FF2B5EF4-FFF2-40B4-BE49-F238E27FC236}">
                <a16:creationId xmlns:a16="http://schemas.microsoft.com/office/drawing/2014/main" id="{3FE6183E-04B2-F856-248F-E61FC365485F}"/>
              </a:ext>
            </a:extLst>
          </p:cNvPr>
          <p:cNvSpPr/>
          <p:nvPr/>
        </p:nvSpPr>
        <p:spPr>
          <a:xfrm>
            <a:off x="770480" y="4117478"/>
            <a:ext cx="10505052" cy="560266"/>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9642" tIns="44821" rIns="89642" bIns="44821" rtlCol="0" anchor="ctr"/>
          <a:lstStyle/>
          <a:p>
            <a:pPr algn="ctr" defTabSz="914225">
              <a:defRPr/>
            </a:pPr>
            <a:r>
              <a:rPr lang="fr-FR" sz="2157">
                <a:solidFill>
                  <a:schemeClr val="bg1"/>
                </a:solidFill>
                <a:latin typeface="+mj-lt"/>
              </a:rPr>
              <a:t>Azure Container Storage</a:t>
            </a:r>
          </a:p>
        </p:txBody>
      </p:sp>
      <p:sp>
        <p:nvSpPr>
          <p:cNvPr id="40" name="Rectangle 39">
            <a:extLst>
              <a:ext uri="{FF2B5EF4-FFF2-40B4-BE49-F238E27FC236}">
                <a16:creationId xmlns:a16="http://schemas.microsoft.com/office/drawing/2014/main" id="{9A0B6340-9E56-7EDF-0128-5439134E3E59}"/>
              </a:ext>
            </a:extLst>
          </p:cNvPr>
          <p:cNvSpPr>
            <a:spLocks/>
          </p:cNvSpPr>
          <p:nvPr/>
        </p:nvSpPr>
        <p:spPr>
          <a:xfrm>
            <a:off x="1222258" y="5257428"/>
            <a:ext cx="2394757" cy="427574"/>
          </a:xfrm>
          <a:prstGeom prst="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225">
              <a:defRPr/>
            </a:pPr>
            <a:r>
              <a:rPr lang="en-US" sz="1765">
                <a:solidFill>
                  <a:schemeClr val="tx1"/>
                </a:solidFill>
                <a:latin typeface="+mj-lt"/>
              </a:rPr>
              <a:t>                         Disk</a:t>
            </a:r>
          </a:p>
        </p:txBody>
      </p:sp>
      <p:sp>
        <p:nvSpPr>
          <p:cNvPr id="41" name="Rectangle 40">
            <a:extLst>
              <a:ext uri="{FF2B5EF4-FFF2-40B4-BE49-F238E27FC236}">
                <a16:creationId xmlns:a16="http://schemas.microsoft.com/office/drawing/2014/main" id="{FE47F947-A27F-FC8B-5BFD-9D3E080F67A4}"/>
              </a:ext>
            </a:extLst>
          </p:cNvPr>
          <p:cNvSpPr>
            <a:spLocks/>
          </p:cNvSpPr>
          <p:nvPr/>
        </p:nvSpPr>
        <p:spPr>
          <a:xfrm>
            <a:off x="1222258" y="5249231"/>
            <a:ext cx="980568" cy="42757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225">
              <a:defRPr/>
            </a:pPr>
            <a:r>
              <a:rPr lang="en-US" sz="1765">
                <a:solidFill>
                  <a:prstClr val="white"/>
                </a:solidFill>
                <a:latin typeface="+mj-lt"/>
              </a:rPr>
              <a:t>Volume</a:t>
            </a:r>
          </a:p>
        </p:txBody>
      </p:sp>
      <p:sp>
        <p:nvSpPr>
          <p:cNvPr id="42" name="TextBox 41">
            <a:extLst>
              <a:ext uri="{FF2B5EF4-FFF2-40B4-BE49-F238E27FC236}">
                <a16:creationId xmlns:a16="http://schemas.microsoft.com/office/drawing/2014/main" id="{54850766-7B79-3322-03EF-9A12848BCF51}"/>
              </a:ext>
            </a:extLst>
          </p:cNvPr>
          <p:cNvSpPr txBox="1"/>
          <p:nvPr/>
        </p:nvSpPr>
        <p:spPr>
          <a:xfrm>
            <a:off x="6111414" y="4804113"/>
            <a:ext cx="1083500" cy="246221"/>
          </a:xfrm>
          <a:prstGeom prst="rect">
            <a:avLst/>
          </a:prstGeom>
          <a:noFill/>
        </p:spPr>
        <p:txBody>
          <a:bodyPr wrap="square" lIns="0" tIns="0" rIns="0" bIns="0" rtlCol="0">
            <a:spAutoFit/>
          </a:bodyPr>
          <a:lstStyle/>
          <a:p>
            <a:pPr algn="l"/>
            <a:r>
              <a:rPr lang="en-US" sz="1600"/>
              <a:t>iSCSI</a:t>
            </a:r>
          </a:p>
        </p:txBody>
      </p:sp>
      <p:sp>
        <p:nvSpPr>
          <p:cNvPr id="43" name="TextBox 42">
            <a:extLst>
              <a:ext uri="{FF2B5EF4-FFF2-40B4-BE49-F238E27FC236}">
                <a16:creationId xmlns:a16="http://schemas.microsoft.com/office/drawing/2014/main" id="{4784E8BB-D6A8-0408-7FED-897D4F709898}"/>
              </a:ext>
            </a:extLst>
          </p:cNvPr>
          <p:cNvSpPr txBox="1"/>
          <p:nvPr/>
        </p:nvSpPr>
        <p:spPr>
          <a:xfrm>
            <a:off x="5443721" y="3829613"/>
            <a:ext cx="1143661" cy="246221"/>
          </a:xfrm>
          <a:prstGeom prst="rect">
            <a:avLst/>
          </a:prstGeom>
          <a:noFill/>
        </p:spPr>
        <p:txBody>
          <a:bodyPr wrap="square" lIns="0" tIns="0" rIns="0" bIns="0" rtlCol="0">
            <a:spAutoFit/>
          </a:bodyPr>
          <a:lstStyle/>
          <a:p>
            <a:pPr algn="ctr"/>
            <a:r>
              <a:rPr lang="en-US" sz="1600"/>
              <a:t>iSCSI</a:t>
            </a:r>
          </a:p>
        </p:txBody>
      </p:sp>
      <p:sp>
        <p:nvSpPr>
          <p:cNvPr id="44" name="TextBox 43">
            <a:extLst>
              <a:ext uri="{FF2B5EF4-FFF2-40B4-BE49-F238E27FC236}">
                <a16:creationId xmlns:a16="http://schemas.microsoft.com/office/drawing/2014/main" id="{93F4EAFE-84DF-D54C-7CA8-0D856E2F5EA5}"/>
              </a:ext>
            </a:extLst>
          </p:cNvPr>
          <p:cNvSpPr txBox="1"/>
          <p:nvPr/>
        </p:nvSpPr>
        <p:spPr>
          <a:xfrm>
            <a:off x="9079505" y="3802138"/>
            <a:ext cx="1146174" cy="246221"/>
          </a:xfrm>
          <a:prstGeom prst="rect">
            <a:avLst/>
          </a:prstGeom>
          <a:noFill/>
        </p:spPr>
        <p:txBody>
          <a:bodyPr wrap="square" lIns="0" tIns="0" rIns="0" bIns="0" rtlCol="0">
            <a:spAutoFit/>
          </a:bodyPr>
          <a:lstStyle/>
          <a:p>
            <a:pPr algn="ctr"/>
            <a:r>
              <a:rPr lang="en-US" sz="1600"/>
              <a:t>NVMe-oF</a:t>
            </a:r>
          </a:p>
        </p:txBody>
      </p:sp>
      <p:sp>
        <p:nvSpPr>
          <p:cNvPr id="45" name="TextBox 44">
            <a:extLst>
              <a:ext uri="{FF2B5EF4-FFF2-40B4-BE49-F238E27FC236}">
                <a16:creationId xmlns:a16="http://schemas.microsoft.com/office/drawing/2014/main" id="{30243F7D-C188-DF09-E824-322BE0F20DF9}"/>
              </a:ext>
            </a:extLst>
          </p:cNvPr>
          <p:cNvSpPr txBox="1"/>
          <p:nvPr/>
        </p:nvSpPr>
        <p:spPr>
          <a:xfrm>
            <a:off x="9696831" y="4802590"/>
            <a:ext cx="2224710" cy="246221"/>
          </a:xfrm>
          <a:prstGeom prst="rect">
            <a:avLst/>
          </a:prstGeom>
          <a:noFill/>
        </p:spPr>
        <p:txBody>
          <a:bodyPr wrap="square" lIns="0" tIns="0" rIns="0" bIns="0" rtlCol="0">
            <a:spAutoFit/>
          </a:bodyPr>
          <a:lstStyle/>
          <a:p>
            <a:pPr algn="l"/>
            <a:r>
              <a:rPr lang="en-US" sz="1600"/>
              <a:t>Direct attach to node</a:t>
            </a:r>
          </a:p>
        </p:txBody>
      </p:sp>
      <p:sp>
        <p:nvSpPr>
          <p:cNvPr id="46" name="TextBox 45">
            <a:extLst>
              <a:ext uri="{FF2B5EF4-FFF2-40B4-BE49-F238E27FC236}">
                <a16:creationId xmlns:a16="http://schemas.microsoft.com/office/drawing/2014/main" id="{997386A4-2A08-A64C-A454-78ED5E4B0B58}"/>
              </a:ext>
            </a:extLst>
          </p:cNvPr>
          <p:cNvSpPr txBox="1"/>
          <p:nvPr/>
        </p:nvSpPr>
        <p:spPr>
          <a:xfrm>
            <a:off x="2524236" y="4800730"/>
            <a:ext cx="2224710" cy="246221"/>
          </a:xfrm>
          <a:prstGeom prst="rect">
            <a:avLst/>
          </a:prstGeom>
          <a:noFill/>
        </p:spPr>
        <p:txBody>
          <a:bodyPr wrap="square" lIns="0" tIns="0" rIns="0" bIns="0" rtlCol="0">
            <a:spAutoFit/>
          </a:bodyPr>
          <a:lstStyle/>
          <a:p>
            <a:pPr algn="l"/>
            <a:r>
              <a:rPr lang="en-US" sz="1600"/>
              <a:t>Direct attach to node</a:t>
            </a:r>
          </a:p>
        </p:txBody>
      </p:sp>
      <p:sp>
        <p:nvSpPr>
          <p:cNvPr id="47" name="TextBox 46">
            <a:extLst>
              <a:ext uri="{FF2B5EF4-FFF2-40B4-BE49-F238E27FC236}">
                <a16:creationId xmlns:a16="http://schemas.microsoft.com/office/drawing/2014/main" id="{DD6C9647-E9C9-4659-9E11-BCBD02B3F10C}"/>
              </a:ext>
            </a:extLst>
          </p:cNvPr>
          <p:cNvSpPr txBox="1"/>
          <p:nvPr/>
        </p:nvSpPr>
        <p:spPr>
          <a:xfrm>
            <a:off x="1846546" y="3800723"/>
            <a:ext cx="1146174" cy="246221"/>
          </a:xfrm>
          <a:prstGeom prst="rect">
            <a:avLst/>
          </a:prstGeom>
          <a:noFill/>
        </p:spPr>
        <p:txBody>
          <a:bodyPr wrap="square" lIns="0" tIns="0" rIns="0" bIns="0" rtlCol="0">
            <a:spAutoFit/>
          </a:bodyPr>
          <a:lstStyle/>
          <a:p>
            <a:pPr algn="ctr"/>
            <a:r>
              <a:rPr lang="en-US" sz="1600"/>
              <a:t>NVMe-oF</a:t>
            </a:r>
          </a:p>
        </p:txBody>
      </p:sp>
    </p:spTree>
    <p:extLst>
      <p:ext uri="{BB962C8B-B14F-4D97-AF65-F5344CB8AC3E}">
        <p14:creationId xmlns:p14="http://schemas.microsoft.com/office/powerpoint/2010/main" val="2088135792"/>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B03F2-B336-B426-448F-88999B3AB8A1}"/>
              </a:ext>
            </a:extLst>
          </p:cNvPr>
          <p:cNvSpPr>
            <a:spLocks noGrp="1"/>
          </p:cNvSpPr>
          <p:nvPr>
            <p:ph type="title"/>
          </p:nvPr>
        </p:nvSpPr>
        <p:spPr/>
        <p:txBody>
          <a:bodyPr/>
          <a:lstStyle/>
          <a:p>
            <a:r>
              <a:rPr lang="en-US" b="1">
                <a:latin typeface="Segoe Semibold" charset="0"/>
              </a:rPr>
              <a:t>Using NVMe Local Storage </a:t>
            </a:r>
            <a:endParaRPr lang="en-US"/>
          </a:p>
        </p:txBody>
      </p:sp>
      <p:sp>
        <p:nvSpPr>
          <p:cNvPr id="3" name="Rectangle 2">
            <a:extLst>
              <a:ext uri="{FF2B5EF4-FFF2-40B4-BE49-F238E27FC236}">
                <a16:creationId xmlns:a16="http://schemas.microsoft.com/office/drawing/2014/main" id="{CD0E3FB2-A3C1-1751-E291-DD173611AA03}"/>
              </a:ext>
            </a:extLst>
          </p:cNvPr>
          <p:cNvSpPr/>
          <p:nvPr/>
        </p:nvSpPr>
        <p:spPr bwMode="auto">
          <a:xfrm>
            <a:off x="4783194" y="6156450"/>
            <a:ext cx="2628658" cy="142627"/>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cxnSp>
        <p:nvCxnSpPr>
          <p:cNvPr id="4" name="Straight Connector 3">
            <a:extLst>
              <a:ext uri="{FF2B5EF4-FFF2-40B4-BE49-F238E27FC236}">
                <a16:creationId xmlns:a16="http://schemas.microsoft.com/office/drawing/2014/main" id="{50F800E4-7226-5F7C-6E72-5B7505D7F714}"/>
              </a:ext>
              <a:ext uri="{C183D7F6-B498-43B3-948B-1728B52AA6E4}">
                <adec:decorative xmlns:adec="http://schemas.microsoft.com/office/drawing/2017/decorative" val="1"/>
              </a:ext>
            </a:extLst>
          </p:cNvPr>
          <p:cNvCxnSpPr>
            <a:cxnSpLocks/>
          </p:cNvCxnSpPr>
          <p:nvPr/>
        </p:nvCxnSpPr>
        <p:spPr>
          <a:xfrm>
            <a:off x="4253352" y="2445763"/>
            <a:ext cx="0" cy="3931920"/>
          </a:xfrm>
          <a:prstGeom prst="line">
            <a:avLst/>
          </a:prstGeom>
          <a:ln w="6350">
            <a:solidFill>
              <a:schemeClr val="bg1">
                <a:lumMod val="85000"/>
              </a:schemeClr>
            </a:solidFill>
            <a:prstDash val="dash"/>
            <a:headEnd type="none" w="lg" len="med"/>
            <a:tailEnd type="oval" w="sm" len="sm"/>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F7029147-FC56-95F3-D2DA-A919F0A43EE6}"/>
              </a:ext>
              <a:ext uri="{C183D7F6-B498-43B3-948B-1728B52AA6E4}">
                <adec:decorative xmlns:adec="http://schemas.microsoft.com/office/drawing/2017/decorative" val="1"/>
              </a:ext>
            </a:extLst>
          </p:cNvPr>
          <p:cNvCxnSpPr>
            <a:cxnSpLocks/>
          </p:cNvCxnSpPr>
          <p:nvPr/>
        </p:nvCxnSpPr>
        <p:spPr>
          <a:xfrm>
            <a:off x="8087488" y="2466255"/>
            <a:ext cx="35483" cy="3931920"/>
          </a:xfrm>
          <a:prstGeom prst="line">
            <a:avLst/>
          </a:prstGeom>
          <a:ln w="6350">
            <a:solidFill>
              <a:schemeClr val="bg1">
                <a:lumMod val="85000"/>
              </a:schemeClr>
            </a:solidFill>
            <a:prstDash val="dash"/>
            <a:headEnd type="none" w="lg" len="med"/>
            <a:tailEnd type="oval" w="sm" len="sm"/>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62ACD0C2-FCD1-93A1-F671-9C790C2AC932}"/>
              </a:ext>
              <a:ext uri="{C183D7F6-B498-43B3-948B-1728B52AA6E4}">
                <adec:decorative xmlns:adec="http://schemas.microsoft.com/office/drawing/2017/decorative" val="1"/>
              </a:ext>
            </a:extLst>
          </p:cNvPr>
          <p:cNvSpPr/>
          <p:nvPr/>
        </p:nvSpPr>
        <p:spPr bwMode="auto">
          <a:xfrm>
            <a:off x="1513236" y="1392882"/>
            <a:ext cx="1190754" cy="1191532"/>
          </a:xfrm>
          <a:prstGeom prst="ellipse">
            <a:avLst/>
          </a:prstGeom>
          <a:solidFill>
            <a:schemeClr val="accent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7" name="Oval 6">
            <a:extLst>
              <a:ext uri="{FF2B5EF4-FFF2-40B4-BE49-F238E27FC236}">
                <a16:creationId xmlns:a16="http://schemas.microsoft.com/office/drawing/2014/main" id="{AFCF9B33-B680-8708-703F-70F2C5AE5453}"/>
              </a:ext>
              <a:ext uri="{C183D7F6-B498-43B3-948B-1728B52AA6E4}">
                <adec:decorative xmlns:adec="http://schemas.microsoft.com/office/drawing/2017/decorative" val="1"/>
              </a:ext>
            </a:extLst>
          </p:cNvPr>
          <p:cNvSpPr/>
          <p:nvPr/>
        </p:nvSpPr>
        <p:spPr bwMode="auto">
          <a:xfrm>
            <a:off x="5502146" y="1392882"/>
            <a:ext cx="1190754" cy="1191532"/>
          </a:xfrm>
          <a:prstGeom prst="ellipse">
            <a:avLst/>
          </a:prstGeom>
          <a:solidFill>
            <a:schemeClr val="tx2"/>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8" name="Oval 7">
            <a:extLst>
              <a:ext uri="{FF2B5EF4-FFF2-40B4-BE49-F238E27FC236}">
                <a16:creationId xmlns:a16="http://schemas.microsoft.com/office/drawing/2014/main" id="{17A4B098-0783-7D6B-9CC8-B335122C773D}"/>
              </a:ext>
              <a:ext uri="{C183D7F6-B498-43B3-948B-1728B52AA6E4}">
                <adec:decorative xmlns:adec="http://schemas.microsoft.com/office/drawing/2017/decorative" val="1"/>
              </a:ext>
            </a:extLst>
          </p:cNvPr>
          <p:cNvSpPr/>
          <p:nvPr/>
        </p:nvSpPr>
        <p:spPr bwMode="auto">
          <a:xfrm>
            <a:off x="9478353" y="1392882"/>
            <a:ext cx="1190754" cy="1191532"/>
          </a:xfrm>
          <a:prstGeom prst="ellipse">
            <a:avLst/>
          </a:prstGeom>
          <a:solidFill>
            <a:schemeClr val="accent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mn-ea"/>
              <a:cs typeface="Segoe UI" pitchFamily="34" charset="0"/>
            </a:endParaRPr>
          </a:p>
        </p:txBody>
      </p:sp>
      <p:sp>
        <p:nvSpPr>
          <p:cNvPr id="9" name="Rectangle 8">
            <a:extLst>
              <a:ext uri="{FF2B5EF4-FFF2-40B4-BE49-F238E27FC236}">
                <a16:creationId xmlns:a16="http://schemas.microsoft.com/office/drawing/2014/main" id="{27676A99-D26C-5373-9153-ACDC6629839F}"/>
              </a:ext>
              <a:ext uri="{C183D7F6-B498-43B3-948B-1728B52AA6E4}">
                <adec:decorative xmlns:adec="http://schemas.microsoft.com/office/drawing/2017/decorative" val="1"/>
              </a:ext>
            </a:extLst>
          </p:cNvPr>
          <p:cNvSpPr/>
          <p:nvPr/>
        </p:nvSpPr>
        <p:spPr bwMode="auto">
          <a:xfrm>
            <a:off x="0" y="2150127"/>
            <a:ext cx="12192000" cy="553998"/>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Oval 9">
            <a:extLst>
              <a:ext uri="{FF2B5EF4-FFF2-40B4-BE49-F238E27FC236}">
                <a16:creationId xmlns:a16="http://schemas.microsoft.com/office/drawing/2014/main" id="{76F4A7A6-36BF-B666-6D21-F2BA7FC78D12}"/>
              </a:ext>
              <a:ext uri="{C183D7F6-B498-43B3-948B-1728B52AA6E4}">
                <adec:decorative xmlns:adec="http://schemas.microsoft.com/office/drawing/2017/decorative" val="1"/>
              </a:ext>
            </a:extLst>
          </p:cNvPr>
          <p:cNvSpPr/>
          <p:nvPr/>
        </p:nvSpPr>
        <p:spPr bwMode="auto">
          <a:xfrm>
            <a:off x="1571971" y="1451656"/>
            <a:ext cx="1073282" cy="1073984"/>
          </a:xfrm>
          <a:prstGeom prst="ellipse">
            <a:avLst/>
          </a:prstGeom>
          <a:solidFill>
            <a:schemeClr val="bg1"/>
          </a:solidFill>
          <a:ln w="6350">
            <a:solidFill>
              <a:schemeClr val="accent1"/>
            </a:solidFill>
            <a:headEnd type="none" w="med" len="med"/>
            <a:tailEnd type="none" w="med" len="med"/>
          </a:ln>
          <a:effectLst>
            <a:outerShdw blurRad="63500" sx="102000" sy="102000" algn="ctr" rotWithShape="0">
              <a:prstClr val="black">
                <a:alpha val="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11" name="Oval 10">
            <a:extLst>
              <a:ext uri="{FF2B5EF4-FFF2-40B4-BE49-F238E27FC236}">
                <a16:creationId xmlns:a16="http://schemas.microsoft.com/office/drawing/2014/main" id="{78511990-1277-F2C0-EDBA-D04DEB381F13}"/>
              </a:ext>
              <a:ext uri="{C183D7F6-B498-43B3-948B-1728B52AA6E4}">
                <adec:decorative xmlns:adec="http://schemas.microsoft.com/office/drawing/2017/decorative" val="1"/>
              </a:ext>
            </a:extLst>
          </p:cNvPr>
          <p:cNvSpPr/>
          <p:nvPr/>
        </p:nvSpPr>
        <p:spPr bwMode="auto">
          <a:xfrm>
            <a:off x="5560881" y="1451656"/>
            <a:ext cx="1073282" cy="1073984"/>
          </a:xfrm>
          <a:prstGeom prst="ellipse">
            <a:avLst/>
          </a:prstGeom>
          <a:solidFill>
            <a:schemeClr val="bg1"/>
          </a:solidFill>
          <a:ln w="6350">
            <a:solidFill>
              <a:schemeClr val="tx2"/>
            </a:solidFill>
            <a:headEnd type="none" w="med" len="med"/>
            <a:tailEnd type="none" w="med" len="med"/>
          </a:ln>
          <a:effectLst>
            <a:outerShdw blurRad="63500" sx="102000" sy="102000" algn="ctr" rotWithShape="0">
              <a:prstClr val="black">
                <a:alpha val="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12" name="Oval 11">
            <a:extLst>
              <a:ext uri="{FF2B5EF4-FFF2-40B4-BE49-F238E27FC236}">
                <a16:creationId xmlns:a16="http://schemas.microsoft.com/office/drawing/2014/main" id="{53C74BAD-EF45-7B32-30C6-59E651D08A1D}"/>
              </a:ext>
              <a:ext uri="{C183D7F6-B498-43B3-948B-1728B52AA6E4}">
                <adec:decorative xmlns:adec="http://schemas.microsoft.com/office/drawing/2017/decorative" val="1"/>
              </a:ext>
            </a:extLst>
          </p:cNvPr>
          <p:cNvSpPr/>
          <p:nvPr/>
        </p:nvSpPr>
        <p:spPr bwMode="auto">
          <a:xfrm>
            <a:off x="9537088" y="1451656"/>
            <a:ext cx="1073282" cy="1073984"/>
          </a:xfrm>
          <a:prstGeom prst="ellipse">
            <a:avLst/>
          </a:prstGeom>
          <a:solidFill>
            <a:schemeClr val="bg1"/>
          </a:solidFill>
          <a:ln w="6350">
            <a:solidFill>
              <a:schemeClr val="accent1"/>
            </a:solidFill>
            <a:headEnd type="none" w="med" len="med"/>
            <a:tailEnd type="none" w="med" len="med"/>
          </a:ln>
          <a:effectLst>
            <a:outerShdw blurRad="63500" sx="102000" sy="102000" algn="ctr" rotWithShape="0">
              <a:prstClr val="black">
                <a:alpha val="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grpSp>
        <p:nvGrpSpPr>
          <p:cNvPr id="13" name="Group 12" descr="Icon of a data server with two arrows having dollar symbols rotating around it">
            <a:extLst>
              <a:ext uri="{FF2B5EF4-FFF2-40B4-BE49-F238E27FC236}">
                <a16:creationId xmlns:a16="http://schemas.microsoft.com/office/drawing/2014/main" id="{A2A32AA2-6858-AC74-E216-CF603426B5EE}"/>
              </a:ext>
            </a:extLst>
          </p:cNvPr>
          <p:cNvGrpSpPr/>
          <p:nvPr/>
        </p:nvGrpSpPr>
        <p:grpSpPr>
          <a:xfrm>
            <a:off x="1713401" y="1657134"/>
            <a:ext cx="790424" cy="663037"/>
            <a:chOff x="4944712" y="2463356"/>
            <a:chExt cx="2304955" cy="1933478"/>
          </a:xfrm>
        </p:grpSpPr>
        <p:sp>
          <p:nvSpPr>
            <p:cNvPr id="14" name="Freeform: Shape 13">
              <a:extLst>
                <a:ext uri="{FF2B5EF4-FFF2-40B4-BE49-F238E27FC236}">
                  <a16:creationId xmlns:a16="http://schemas.microsoft.com/office/drawing/2014/main" id="{B6C5057A-75D0-DBDB-5716-BC7CC6A53B58}"/>
                </a:ext>
              </a:extLst>
            </p:cNvPr>
            <p:cNvSpPr/>
            <p:nvPr/>
          </p:nvSpPr>
          <p:spPr>
            <a:xfrm>
              <a:off x="5683281" y="2910554"/>
              <a:ext cx="809720" cy="1051083"/>
            </a:xfrm>
            <a:custGeom>
              <a:avLst/>
              <a:gdLst>
                <a:gd name="connsiteX0" fmla="*/ 796480 w 809720"/>
                <a:gd name="connsiteY0" fmla="*/ 201930 h 1051083"/>
                <a:gd name="connsiteX1" fmla="*/ 809720 w 809720"/>
                <a:gd name="connsiteY1" fmla="*/ 165259 h 1051083"/>
                <a:gd name="connsiteX2" fmla="*/ 809720 w 809720"/>
                <a:gd name="connsiteY2" fmla="*/ 889445 h 1051083"/>
                <a:gd name="connsiteX3" fmla="*/ 404717 w 809720"/>
                <a:gd name="connsiteY3" fmla="*/ 1051084 h 1051083"/>
                <a:gd name="connsiteX4" fmla="*/ 0 w 809720"/>
                <a:gd name="connsiteY4" fmla="*/ 889445 h 1051083"/>
                <a:gd name="connsiteX5" fmla="*/ 0 w 809720"/>
                <a:gd name="connsiteY5" fmla="*/ 165259 h 1051083"/>
                <a:gd name="connsiteX6" fmla="*/ 13240 w 809720"/>
                <a:gd name="connsiteY6" fmla="*/ 201930 h 1051083"/>
                <a:gd name="connsiteX7" fmla="*/ 404717 w 809720"/>
                <a:gd name="connsiteY7" fmla="*/ 323374 h 1051083"/>
                <a:gd name="connsiteX8" fmla="*/ 796480 w 809720"/>
                <a:gd name="connsiteY8" fmla="*/ 201930 h 1051083"/>
                <a:gd name="connsiteX9" fmla="*/ 796480 w 809720"/>
                <a:gd name="connsiteY9" fmla="*/ 201930 h 1051083"/>
                <a:gd name="connsiteX10" fmla="*/ 404717 w 809720"/>
                <a:gd name="connsiteY10" fmla="*/ 0 h 1051083"/>
                <a:gd name="connsiteX11" fmla="*/ 0 w 809720"/>
                <a:gd name="connsiteY11" fmla="*/ 161639 h 1051083"/>
                <a:gd name="connsiteX12" fmla="*/ 404717 w 809720"/>
                <a:gd name="connsiteY12" fmla="*/ 323279 h 1051083"/>
                <a:gd name="connsiteX13" fmla="*/ 809720 w 809720"/>
                <a:gd name="connsiteY13" fmla="*/ 161639 h 1051083"/>
                <a:gd name="connsiteX14" fmla="*/ 404717 w 809720"/>
                <a:gd name="connsiteY14" fmla="*/ 0 h 1051083"/>
                <a:gd name="connsiteX15" fmla="*/ 404717 w 809720"/>
                <a:gd name="connsiteY15" fmla="*/ 0 h 1051083"/>
                <a:gd name="connsiteX16" fmla="*/ 0 w 809720"/>
                <a:gd name="connsiteY16" fmla="*/ 392335 h 1051083"/>
                <a:gd name="connsiteX17" fmla="*/ 404717 w 809720"/>
                <a:gd name="connsiteY17" fmla="*/ 553974 h 1051083"/>
                <a:gd name="connsiteX18" fmla="*/ 809720 w 809720"/>
                <a:gd name="connsiteY18" fmla="*/ 392335 h 1051083"/>
                <a:gd name="connsiteX19" fmla="*/ 0 w 809720"/>
                <a:gd name="connsiteY19" fmla="*/ 631508 h 1051083"/>
                <a:gd name="connsiteX20" fmla="*/ 404717 w 809720"/>
                <a:gd name="connsiteY20" fmla="*/ 793147 h 1051083"/>
                <a:gd name="connsiteX21" fmla="*/ 809720 w 809720"/>
                <a:gd name="connsiteY21" fmla="*/ 631508 h 1051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09720" h="1051083">
                  <a:moveTo>
                    <a:pt x="796480" y="201930"/>
                  </a:moveTo>
                  <a:cubicBezTo>
                    <a:pt x="806101" y="192310"/>
                    <a:pt x="809720" y="165259"/>
                    <a:pt x="809720" y="165259"/>
                  </a:cubicBezTo>
                  <a:lnTo>
                    <a:pt x="809720" y="889445"/>
                  </a:lnTo>
                  <a:cubicBezTo>
                    <a:pt x="809720" y="978980"/>
                    <a:pt x="628459" y="1051084"/>
                    <a:pt x="404717" y="1051084"/>
                  </a:cubicBezTo>
                  <a:cubicBezTo>
                    <a:pt x="180975" y="1051084"/>
                    <a:pt x="0" y="978980"/>
                    <a:pt x="0" y="889445"/>
                  </a:cubicBezTo>
                  <a:lnTo>
                    <a:pt x="0" y="165259"/>
                  </a:lnTo>
                  <a:cubicBezTo>
                    <a:pt x="2667" y="187928"/>
                    <a:pt x="13240" y="201930"/>
                    <a:pt x="13240" y="201930"/>
                  </a:cubicBezTo>
                  <a:cubicBezTo>
                    <a:pt x="58102" y="271844"/>
                    <a:pt x="216408" y="323374"/>
                    <a:pt x="404717" y="323374"/>
                  </a:cubicBezTo>
                  <a:cubicBezTo>
                    <a:pt x="593026" y="323374"/>
                    <a:pt x="751332" y="271844"/>
                    <a:pt x="796480" y="201930"/>
                  </a:cubicBezTo>
                  <a:lnTo>
                    <a:pt x="796480" y="201930"/>
                  </a:lnTo>
                  <a:close/>
                  <a:moveTo>
                    <a:pt x="404717" y="0"/>
                  </a:moveTo>
                  <a:cubicBezTo>
                    <a:pt x="181261" y="0"/>
                    <a:pt x="0" y="72104"/>
                    <a:pt x="0" y="161639"/>
                  </a:cubicBezTo>
                  <a:cubicBezTo>
                    <a:pt x="0" y="251174"/>
                    <a:pt x="181261" y="323279"/>
                    <a:pt x="404717" y="323279"/>
                  </a:cubicBezTo>
                  <a:cubicBezTo>
                    <a:pt x="628174" y="323279"/>
                    <a:pt x="809720" y="250793"/>
                    <a:pt x="809720" y="161639"/>
                  </a:cubicBezTo>
                  <a:cubicBezTo>
                    <a:pt x="809720" y="72485"/>
                    <a:pt x="628459" y="0"/>
                    <a:pt x="404717" y="0"/>
                  </a:cubicBezTo>
                  <a:lnTo>
                    <a:pt x="404717" y="0"/>
                  </a:lnTo>
                  <a:close/>
                  <a:moveTo>
                    <a:pt x="0" y="392335"/>
                  </a:moveTo>
                  <a:cubicBezTo>
                    <a:pt x="0" y="481489"/>
                    <a:pt x="181261" y="553974"/>
                    <a:pt x="404717" y="553974"/>
                  </a:cubicBezTo>
                  <a:cubicBezTo>
                    <a:pt x="628174" y="553974"/>
                    <a:pt x="809720" y="481489"/>
                    <a:pt x="809720" y="392335"/>
                  </a:cubicBezTo>
                  <a:moveTo>
                    <a:pt x="0" y="631508"/>
                  </a:moveTo>
                  <a:cubicBezTo>
                    <a:pt x="0" y="720662"/>
                    <a:pt x="181261" y="793147"/>
                    <a:pt x="404717" y="793147"/>
                  </a:cubicBezTo>
                  <a:cubicBezTo>
                    <a:pt x="628174" y="793147"/>
                    <a:pt x="809720" y="720662"/>
                    <a:pt x="809720" y="631508"/>
                  </a:cubicBezTo>
                </a:path>
              </a:pathLst>
            </a:custGeom>
            <a:noFill/>
            <a:ln w="9525"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sp>
          <p:nvSpPr>
            <p:cNvPr id="15" name="Freeform: Shape 14">
              <a:extLst>
                <a:ext uri="{FF2B5EF4-FFF2-40B4-BE49-F238E27FC236}">
                  <a16:creationId xmlns:a16="http://schemas.microsoft.com/office/drawing/2014/main" id="{37606546-E4F2-3942-304D-D519F4888FC3}"/>
                </a:ext>
              </a:extLst>
            </p:cNvPr>
            <p:cNvSpPr/>
            <p:nvPr/>
          </p:nvSpPr>
          <p:spPr>
            <a:xfrm>
              <a:off x="5085111" y="3095434"/>
              <a:ext cx="173164" cy="314801"/>
            </a:xfrm>
            <a:custGeom>
              <a:avLst/>
              <a:gdLst>
                <a:gd name="connsiteX0" fmla="*/ 0 w 173164"/>
                <a:gd name="connsiteY0" fmla="*/ 251746 h 314801"/>
                <a:gd name="connsiteX1" fmla="*/ 125635 w 173164"/>
                <a:gd name="connsiteY1" fmla="*/ 251746 h 314801"/>
                <a:gd name="connsiteX2" fmla="*/ 173165 w 173164"/>
                <a:gd name="connsiteY2" fmla="*/ 205454 h 314801"/>
                <a:gd name="connsiteX3" fmla="*/ 125635 w 173164"/>
                <a:gd name="connsiteY3" fmla="*/ 159163 h 314801"/>
                <a:gd name="connsiteX4" fmla="*/ 46387 w 173164"/>
                <a:gd name="connsiteY4" fmla="*/ 156877 h 314801"/>
                <a:gd name="connsiteX5" fmla="*/ 0 w 173164"/>
                <a:gd name="connsiteY5" fmla="*/ 110585 h 314801"/>
                <a:gd name="connsiteX6" fmla="*/ 46387 w 173164"/>
                <a:gd name="connsiteY6" fmla="*/ 63151 h 314801"/>
                <a:gd name="connsiteX7" fmla="*/ 169735 w 173164"/>
                <a:gd name="connsiteY7" fmla="*/ 63151 h 314801"/>
                <a:gd name="connsiteX8" fmla="*/ 86011 w 173164"/>
                <a:gd name="connsiteY8" fmla="*/ 0 h 314801"/>
                <a:gd name="connsiteX9" fmla="*/ 86011 w 173164"/>
                <a:gd name="connsiteY9" fmla="*/ 314801 h 31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3164" h="314801">
                  <a:moveTo>
                    <a:pt x="0" y="251746"/>
                  </a:moveTo>
                  <a:lnTo>
                    <a:pt x="125635" y="251746"/>
                  </a:lnTo>
                  <a:cubicBezTo>
                    <a:pt x="151638" y="251746"/>
                    <a:pt x="173165" y="231457"/>
                    <a:pt x="173165" y="205454"/>
                  </a:cubicBezTo>
                  <a:cubicBezTo>
                    <a:pt x="173165" y="179451"/>
                    <a:pt x="151638" y="159163"/>
                    <a:pt x="125635" y="159163"/>
                  </a:cubicBezTo>
                  <a:lnTo>
                    <a:pt x="46387" y="156877"/>
                  </a:lnTo>
                  <a:cubicBezTo>
                    <a:pt x="21526" y="156877"/>
                    <a:pt x="0" y="135445"/>
                    <a:pt x="0" y="110585"/>
                  </a:cubicBezTo>
                  <a:cubicBezTo>
                    <a:pt x="0" y="85725"/>
                    <a:pt x="21526" y="63151"/>
                    <a:pt x="46387" y="63151"/>
                  </a:cubicBezTo>
                  <a:lnTo>
                    <a:pt x="169735" y="63151"/>
                  </a:lnTo>
                  <a:moveTo>
                    <a:pt x="86011" y="0"/>
                  </a:moveTo>
                  <a:lnTo>
                    <a:pt x="86011" y="314801"/>
                  </a:lnTo>
                </a:path>
              </a:pathLst>
            </a:custGeom>
            <a:noFill/>
            <a:ln w="9525"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sp>
          <p:nvSpPr>
            <p:cNvPr id="16" name="Freeform: Shape 15">
              <a:extLst>
                <a:ext uri="{FF2B5EF4-FFF2-40B4-BE49-F238E27FC236}">
                  <a16:creationId xmlns:a16="http://schemas.microsoft.com/office/drawing/2014/main" id="{0CD956C1-4ECE-2159-D312-1CA8D35FDE6B}"/>
                </a:ext>
              </a:extLst>
            </p:cNvPr>
            <p:cNvSpPr/>
            <p:nvPr/>
          </p:nvSpPr>
          <p:spPr>
            <a:xfrm>
              <a:off x="6913435" y="3449193"/>
              <a:ext cx="173164" cy="314801"/>
            </a:xfrm>
            <a:custGeom>
              <a:avLst/>
              <a:gdLst>
                <a:gd name="connsiteX0" fmla="*/ 0 w 173164"/>
                <a:gd name="connsiteY0" fmla="*/ 251746 h 314801"/>
                <a:gd name="connsiteX1" fmla="*/ 125635 w 173164"/>
                <a:gd name="connsiteY1" fmla="*/ 251746 h 314801"/>
                <a:gd name="connsiteX2" fmla="*/ 173164 w 173164"/>
                <a:gd name="connsiteY2" fmla="*/ 205454 h 314801"/>
                <a:gd name="connsiteX3" fmla="*/ 125635 w 173164"/>
                <a:gd name="connsiteY3" fmla="*/ 159163 h 314801"/>
                <a:gd name="connsiteX4" fmla="*/ 46387 w 173164"/>
                <a:gd name="connsiteY4" fmla="*/ 156877 h 314801"/>
                <a:gd name="connsiteX5" fmla="*/ 0 w 173164"/>
                <a:gd name="connsiteY5" fmla="*/ 110585 h 314801"/>
                <a:gd name="connsiteX6" fmla="*/ 46387 w 173164"/>
                <a:gd name="connsiteY6" fmla="*/ 63151 h 314801"/>
                <a:gd name="connsiteX7" fmla="*/ 169735 w 173164"/>
                <a:gd name="connsiteY7" fmla="*/ 63151 h 314801"/>
                <a:gd name="connsiteX8" fmla="*/ 86011 w 173164"/>
                <a:gd name="connsiteY8" fmla="*/ 0 h 314801"/>
                <a:gd name="connsiteX9" fmla="*/ 86011 w 173164"/>
                <a:gd name="connsiteY9" fmla="*/ 314801 h 31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3164" h="314801">
                  <a:moveTo>
                    <a:pt x="0" y="251746"/>
                  </a:moveTo>
                  <a:lnTo>
                    <a:pt x="125635" y="251746"/>
                  </a:lnTo>
                  <a:cubicBezTo>
                    <a:pt x="151638" y="251746"/>
                    <a:pt x="173164" y="231457"/>
                    <a:pt x="173164" y="205454"/>
                  </a:cubicBezTo>
                  <a:cubicBezTo>
                    <a:pt x="173164" y="179451"/>
                    <a:pt x="151638" y="159163"/>
                    <a:pt x="125635" y="159163"/>
                  </a:cubicBezTo>
                  <a:lnTo>
                    <a:pt x="46387" y="156877"/>
                  </a:lnTo>
                  <a:cubicBezTo>
                    <a:pt x="21526" y="156877"/>
                    <a:pt x="0" y="135445"/>
                    <a:pt x="0" y="110585"/>
                  </a:cubicBezTo>
                  <a:cubicBezTo>
                    <a:pt x="0" y="85725"/>
                    <a:pt x="21526" y="63151"/>
                    <a:pt x="46387" y="63151"/>
                  </a:cubicBezTo>
                  <a:lnTo>
                    <a:pt x="169735" y="63151"/>
                  </a:lnTo>
                  <a:moveTo>
                    <a:pt x="86011" y="0"/>
                  </a:moveTo>
                  <a:lnTo>
                    <a:pt x="86011" y="314801"/>
                  </a:lnTo>
                </a:path>
              </a:pathLst>
            </a:custGeom>
            <a:noFill/>
            <a:ln w="9525"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sp>
          <p:nvSpPr>
            <p:cNvPr id="17" name="Freeform: Shape 16">
              <a:extLst>
                <a:ext uri="{FF2B5EF4-FFF2-40B4-BE49-F238E27FC236}">
                  <a16:creationId xmlns:a16="http://schemas.microsoft.com/office/drawing/2014/main" id="{99F4803F-13E5-404C-2C4E-A92CAB8DE4F0}"/>
                </a:ext>
              </a:extLst>
            </p:cNvPr>
            <p:cNvSpPr/>
            <p:nvPr/>
          </p:nvSpPr>
          <p:spPr>
            <a:xfrm>
              <a:off x="5205793" y="2463356"/>
              <a:ext cx="1818418" cy="706944"/>
            </a:xfrm>
            <a:custGeom>
              <a:avLst/>
              <a:gdLst>
                <a:gd name="connsiteX0" fmla="*/ 0 w 1818417"/>
                <a:gd name="connsiteY0" fmla="*/ 562642 h 706945"/>
                <a:gd name="connsiteX1" fmla="*/ 882301 w 1818417"/>
                <a:gd name="connsiteY1" fmla="*/ 0 h 706945"/>
                <a:gd name="connsiteX2" fmla="*/ 1818418 w 1818417"/>
                <a:gd name="connsiteY2" fmla="*/ 706945 h 706945"/>
              </a:gdLst>
              <a:ahLst/>
              <a:cxnLst>
                <a:cxn ang="0">
                  <a:pos x="connsiteX0" y="connsiteY0"/>
                </a:cxn>
                <a:cxn ang="0">
                  <a:pos x="connsiteX1" y="connsiteY1"/>
                </a:cxn>
                <a:cxn ang="0">
                  <a:pos x="connsiteX2" y="connsiteY2"/>
                </a:cxn>
              </a:cxnLst>
              <a:rect l="l" t="t" r="r" b="b"/>
              <a:pathLst>
                <a:path w="1818417" h="706945">
                  <a:moveTo>
                    <a:pt x="0" y="562642"/>
                  </a:moveTo>
                  <a:cubicBezTo>
                    <a:pt x="154686" y="230315"/>
                    <a:pt x="491585" y="0"/>
                    <a:pt x="882301" y="0"/>
                  </a:cubicBezTo>
                  <a:cubicBezTo>
                    <a:pt x="1327404" y="0"/>
                    <a:pt x="1702689" y="298895"/>
                    <a:pt x="1818418" y="706945"/>
                  </a:cubicBezTo>
                </a:path>
              </a:pathLst>
            </a:custGeom>
            <a:noFill/>
            <a:ln w="9525"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sp>
          <p:nvSpPr>
            <p:cNvPr id="18" name="Freeform: Shape 17">
              <a:extLst>
                <a:ext uri="{FF2B5EF4-FFF2-40B4-BE49-F238E27FC236}">
                  <a16:creationId xmlns:a16="http://schemas.microsoft.com/office/drawing/2014/main" id="{011C282D-B2F5-0B67-EB12-8833B65F9324}"/>
                </a:ext>
              </a:extLst>
            </p:cNvPr>
            <p:cNvSpPr/>
            <p:nvPr/>
          </p:nvSpPr>
          <p:spPr>
            <a:xfrm>
              <a:off x="4944712" y="3025997"/>
              <a:ext cx="453961" cy="453961"/>
            </a:xfrm>
            <a:custGeom>
              <a:avLst/>
              <a:gdLst>
                <a:gd name="connsiteX0" fmla="*/ 453962 w 453961"/>
                <a:gd name="connsiteY0" fmla="*/ 226981 h 453961"/>
                <a:gd name="connsiteX1" fmla="*/ 226981 w 453961"/>
                <a:gd name="connsiteY1" fmla="*/ 453962 h 453961"/>
                <a:gd name="connsiteX2" fmla="*/ 0 w 453961"/>
                <a:gd name="connsiteY2" fmla="*/ 226981 h 453961"/>
                <a:gd name="connsiteX3" fmla="*/ 226981 w 453961"/>
                <a:gd name="connsiteY3" fmla="*/ 0 h 453961"/>
                <a:gd name="connsiteX4" fmla="*/ 453962 w 453961"/>
                <a:gd name="connsiteY4" fmla="*/ 226981 h 453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3961" h="453961">
                  <a:moveTo>
                    <a:pt x="453962" y="226981"/>
                  </a:moveTo>
                  <a:cubicBezTo>
                    <a:pt x="453962" y="352339"/>
                    <a:pt x="352339" y="453962"/>
                    <a:pt x="226981" y="453962"/>
                  </a:cubicBezTo>
                  <a:cubicBezTo>
                    <a:pt x="101623" y="453962"/>
                    <a:pt x="0" y="352339"/>
                    <a:pt x="0" y="226981"/>
                  </a:cubicBezTo>
                  <a:cubicBezTo>
                    <a:pt x="0" y="101623"/>
                    <a:pt x="101623" y="0"/>
                    <a:pt x="226981" y="0"/>
                  </a:cubicBezTo>
                  <a:cubicBezTo>
                    <a:pt x="352339" y="0"/>
                    <a:pt x="453962" y="101623"/>
                    <a:pt x="453962" y="226981"/>
                  </a:cubicBezTo>
                  <a:close/>
                </a:path>
              </a:pathLst>
            </a:custGeom>
            <a:noFill/>
            <a:ln w="9525"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sp>
          <p:nvSpPr>
            <p:cNvPr id="19" name="Freeform: Shape 18">
              <a:extLst>
                <a:ext uri="{FF2B5EF4-FFF2-40B4-BE49-F238E27FC236}">
                  <a16:creationId xmlns:a16="http://schemas.microsoft.com/office/drawing/2014/main" id="{4EAB1D34-29AF-0601-49D1-CD18B8A8EF93}"/>
                </a:ext>
              </a:extLst>
            </p:cNvPr>
            <p:cNvSpPr/>
            <p:nvPr/>
          </p:nvSpPr>
          <p:spPr>
            <a:xfrm>
              <a:off x="6788848" y="2919888"/>
              <a:ext cx="338899" cy="244506"/>
            </a:xfrm>
            <a:custGeom>
              <a:avLst/>
              <a:gdLst>
                <a:gd name="connsiteX0" fmla="*/ 338900 w 338899"/>
                <a:gd name="connsiteY0" fmla="*/ 0 h 244506"/>
                <a:gd name="connsiteX1" fmla="*/ 234791 w 338899"/>
                <a:gd name="connsiteY1" fmla="*/ 244507 h 244506"/>
                <a:gd name="connsiteX2" fmla="*/ 0 w 338899"/>
                <a:gd name="connsiteY2" fmla="*/ 144494 h 244506"/>
              </a:gdLst>
              <a:ahLst/>
              <a:cxnLst>
                <a:cxn ang="0">
                  <a:pos x="connsiteX0" y="connsiteY0"/>
                </a:cxn>
                <a:cxn ang="0">
                  <a:pos x="connsiteX1" y="connsiteY1"/>
                </a:cxn>
                <a:cxn ang="0">
                  <a:pos x="connsiteX2" y="connsiteY2"/>
                </a:cxn>
              </a:cxnLst>
              <a:rect l="l" t="t" r="r" b="b"/>
              <a:pathLst>
                <a:path w="338899" h="244506">
                  <a:moveTo>
                    <a:pt x="338900" y="0"/>
                  </a:moveTo>
                  <a:lnTo>
                    <a:pt x="234791" y="244507"/>
                  </a:lnTo>
                  <a:lnTo>
                    <a:pt x="0" y="144494"/>
                  </a:lnTo>
                </a:path>
              </a:pathLst>
            </a:custGeom>
            <a:noFill/>
            <a:ln w="9525"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grpSp>
          <p:nvGrpSpPr>
            <p:cNvPr id="20" name="Graphic 11">
              <a:extLst>
                <a:ext uri="{FF2B5EF4-FFF2-40B4-BE49-F238E27FC236}">
                  <a16:creationId xmlns:a16="http://schemas.microsoft.com/office/drawing/2014/main" id="{61A4D3CA-44DA-829F-9FF9-D41AAC757FDA}"/>
                </a:ext>
              </a:extLst>
            </p:cNvPr>
            <p:cNvGrpSpPr/>
            <p:nvPr/>
          </p:nvGrpSpPr>
          <p:grpSpPr>
            <a:xfrm>
              <a:off x="5040343" y="3357086"/>
              <a:ext cx="2209324" cy="1039748"/>
              <a:chOff x="5040343" y="3357086"/>
              <a:chExt cx="2209324" cy="1039748"/>
            </a:xfrm>
            <a:noFill/>
          </p:grpSpPr>
          <p:sp>
            <p:nvSpPr>
              <p:cNvPr id="21" name="Freeform: Shape 20">
                <a:extLst>
                  <a:ext uri="{FF2B5EF4-FFF2-40B4-BE49-F238E27FC236}">
                    <a16:creationId xmlns:a16="http://schemas.microsoft.com/office/drawing/2014/main" id="{57C72371-5841-709A-1729-66C8B771FBCA}"/>
                  </a:ext>
                </a:extLst>
              </p:cNvPr>
              <p:cNvSpPr/>
              <p:nvPr/>
            </p:nvSpPr>
            <p:spPr>
              <a:xfrm>
                <a:off x="5146833" y="3689889"/>
                <a:ext cx="1807273" cy="706945"/>
              </a:xfrm>
              <a:custGeom>
                <a:avLst/>
                <a:gdLst>
                  <a:gd name="connsiteX0" fmla="*/ 1807274 w 1807273"/>
                  <a:gd name="connsiteY0" fmla="*/ 167640 h 706945"/>
                  <a:gd name="connsiteX1" fmla="*/ 936117 w 1807273"/>
                  <a:gd name="connsiteY1" fmla="*/ 706946 h 706945"/>
                  <a:gd name="connsiteX2" fmla="*/ 0 w 1807273"/>
                  <a:gd name="connsiteY2" fmla="*/ 0 h 706945"/>
                </a:gdLst>
                <a:ahLst/>
                <a:cxnLst>
                  <a:cxn ang="0">
                    <a:pos x="connsiteX0" y="connsiteY0"/>
                  </a:cxn>
                  <a:cxn ang="0">
                    <a:pos x="connsiteX1" y="connsiteY1"/>
                  </a:cxn>
                  <a:cxn ang="0">
                    <a:pos x="connsiteX2" y="connsiteY2"/>
                  </a:cxn>
                </a:cxnLst>
                <a:rect l="l" t="t" r="r" b="b"/>
                <a:pathLst>
                  <a:path w="1807273" h="706945">
                    <a:moveTo>
                      <a:pt x="1807274" y="167640"/>
                    </a:moveTo>
                    <a:cubicBezTo>
                      <a:pt x="1647825" y="487394"/>
                      <a:pt x="1317689" y="706946"/>
                      <a:pt x="936117" y="706946"/>
                    </a:cubicBezTo>
                    <a:cubicBezTo>
                      <a:pt x="491014" y="706946"/>
                      <a:pt x="115729" y="408051"/>
                      <a:pt x="0" y="0"/>
                    </a:cubicBezTo>
                  </a:path>
                </a:pathLst>
              </a:custGeom>
              <a:noFill/>
              <a:ln w="9525"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sp>
            <p:nvSpPr>
              <p:cNvPr id="22" name="Freeform: Shape 21">
                <a:extLst>
                  <a:ext uri="{FF2B5EF4-FFF2-40B4-BE49-F238E27FC236}">
                    <a16:creationId xmlns:a16="http://schemas.microsoft.com/office/drawing/2014/main" id="{13692425-5F95-AD34-C607-60F4435514B4}"/>
                  </a:ext>
                </a:extLst>
              </p:cNvPr>
              <p:cNvSpPr/>
              <p:nvPr/>
            </p:nvSpPr>
            <p:spPr>
              <a:xfrm>
                <a:off x="6749224" y="3357086"/>
                <a:ext cx="500443" cy="500443"/>
              </a:xfrm>
              <a:custGeom>
                <a:avLst/>
                <a:gdLst>
                  <a:gd name="connsiteX0" fmla="*/ 500443 w 500443"/>
                  <a:gd name="connsiteY0" fmla="*/ 250222 h 500443"/>
                  <a:gd name="connsiteX1" fmla="*/ 250222 w 500443"/>
                  <a:gd name="connsiteY1" fmla="*/ 500444 h 500443"/>
                  <a:gd name="connsiteX2" fmla="*/ 0 w 500443"/>
                  <a:gd name="connsiteY2" fmla="*/ 250222 h 500443"/>
                  <a:gd name="connsiteX3" fmla="*/ 250222 w 500443"/>
                  <a:gd name="connsiteY3" fmla="*/ 0 h 500443"/>
                  <a:gd name="connsiteX4" fmla="*/ 500443 w 500443"/>
                  <a:gd name="connsiteY4" fmla="*/ 250222 h 500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443" h="500443">
                    <a:moveTo>
                      <a:pt x="500443" y="250222"/>
                    </a:moveTo>
                    <a:cubicBezTo>
                      <a:pt x="500443" y="388415"/>
                      <a:pt x="388415" y="500444"/>
                      <a:pt x="250222" y="500444"/>
                    </a:cubicBezTo>
                    <a:cubicBezTo>
                      <a:pt x="112028" y="500444"/>
                      <a:pt x="0" y="388416"/>
                      <a:pt x="0" y="250222"/>
                    </a:cubicBezTo>
                    <a:cubicBezTo>
                      <a:pt x="0" y="112028"/>
                      <a:pt x="112028" y="0"/>
                      <a:pt x="250222" y="0"/>
                    </a:cubicBezTo>
                    <a:cubicBezTo>
                      <a:pt x="388415" y="0"/>
                      <a:pt x="500443" y="112028"/>
                      <a:pt x="500443" y="250222"/>
                    </a:cubicBezTo>
                    <a:close/>
                  </a:path>
                </a:pathLst>
              </a:custGeom>
              <a:noFill/>
              <a:ln w="9525"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sp>
            <p:nvSpPr>
              <p:cNvPr id="23" name="Freeform: Shape 22">
                <a:extLst>
                  <a:ext uri="{FF2B5EF4-FFF2-40B4-BE49-F238E27FC236}">
                    <a16:creationId xmlns:a16="http://schemas.microsoft.com/office/drawing/2014/main" id="{3A161438-8F4B-0F46-1281-A4704FDCE59C}"/>
                  </a:ext>
                </a:extLst>
              </p:cNvPr>
              <p:cNvSpPr/>
              <p:nvPr/>
            </p:nvSpPr>
            <p:spPr>
              <a:xfrm>
                <a:off x="5040343" y="3695985"/>
                <a:ext cx="348424" cy="251269"/>
              </a:xfrm>
              <a:custGeom>
                <a:avLst/>
                <a:gdLst>
                  <a:gd name="connsiteX0" fmla="*/ 0 w 348424"/>
                  <a:gd name="connsiteY0" fmla="*/ 251270 h 251269"/>
                  <a:gd name="connsiteX1" fmla="*/ 107061 w 348424"/>
                  <a:gd name="connsiteY1" fmla="*/ 0 h 251269"/>
                  <a:gd name="connsiteX2" fmla="*/ 348425 w 348424"/>
                  <a:gd name="connsiteY2" fmla="*/ 102775 h 251269"/>
                </a:gdLst>
                <a:ahLst/>
                <a:cxnLst>
                  <a:cxn ang="0">
                    <a:pos x="connsiteX0" y="connsiteY0"/>
                  </a:cxn>
                  <a:cxn ang="0">
                    <a:pos x="connsiteX1" y="connsiteY1"/>
                  </a:cxn>
                  <a:cxn ang="0">
                    <a:pos x="connsiteX2" y="connsiteY2"/>
                  </a:cxn>
                </a:cxnLst>
                <a:rect l="l" t="t" r="r" b="b"/>
                <a:pathLst>
                  <a:path w="348424" h="251269">
                    <a:moveTo>
                      <a:pt x="0" y="251270"/>
                    </a:moveTo>
                    <a:lnTo>
                      <a:pt x="107061" y="0"/>
                    </a:lnTo>
                    <a:lnTo>
                      <a:pt x="348425" y="102775"/>
                    </a:lnTo>
                  </a:path>
                </a:pathLst>
              </a:custGeom>
              <a:noFill/>
              <a:ln w="9525"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grpSp>
      </p:grpSp>
      <p:sp>
        <p:nvSpPr>
          <p:cNvPr id="24" name="TextBox 23">
            <a:extLst>
              <a:ext uri="{FF2B5EF4-FFF2-40B4-BE49-F238E27FC236}">
                <a16:creationId xmlns:a16="http://schemas.microsoft.com/office/drawing/2014/main" id="{480B09CE-2353-AF64-B5E3-B2CC86356BF6}"/>
              </a:ext>
            </a:extLst>
          </p:cNvPr>
          <p:cNvSpPr txBox="1">
            <a:spLocks/>
          </p:cNvSpPr>
          <p:nvPr/>
        </p:nvSpPr>
        <p:spPr>
          <a:xfrm>
            <a:off x="116115" y="2801833"/>
            <a:ext cx="4065526" cy="834521"/>
          </a:xfrm>
          <a:prstGeom prst="rect">
            <a:avLst/>
          </a:prstGeom>
          <a:noFill/>
        </p:spPr>
        <p:txBody>
          <a:bodyPr wrap="square" lIns="91440" tIns="45720" rIns="91440" bIns="45720"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Segoe UI"/>
                <a:ea typeface="+mn-ea"/>
                <a:cs typeface="Segoe UI"/>
              </a:rPr>
              <a:t>Use high performance local storage already available on nodes</a:t>
            </a:r>
          </a:p>
        </p:txBody>
      </p:sp>
      <p:grpSp>
        <p:nvGrpSpPr>
          <p:cNvPr id="25" name="Group 24" descr="Icon of a monitor with two interlocked gears ">
            <a:extLst>
              <a:ext uri="{FF2B5EF4-FFF2-40B4-BE49-F238E27FC236}">
                <a16:creationId xmlns:a16="http://schemas.microsoft.com/office/drawing/2014/main" id="{E9982453-87AB-CF9C-759B-6858D2FA602D}"/>
              </a:ext>
            </a:extLst>
          </p:cNvPr>
          <p:cNvGrpSpPr/>
          <p:nvPr/>
        </p:nvGrpSpPr>
        <p:grpSpPr>
          <a:xfrm>
            <a:off x="9741498" y="1617436"/>
            <a:ext cx="637985" cy="644751"/>
            <a:chOff x="5016055" y="2335815"/>
            <a:chExt cx="2164365" cy="2187320"/>
          </a:xfrm>
        </p:grpSpPr>
        <p:sp>
          <p:nvSpPr>
            <p:cNvPr id="26" name="Freeform: Shape 25">
              <a:extLst>
                <a:ext uri="{FF2B5EF4-FFF2-40B4-BE49-F238E27FC236}">
                  <a16:creationId xmlns:a16="http://schemas.microsoft.com/office/drawing/2014/main" id="{EBBBC653-CA84-52C1-86F7-225310AECDFE}"/>
                </a:ext>
              </a:extLst>
            </p:cNvPr>
            <p:cNvSpPr/>
            <p:nvPr/>
          </p:nvSpPr>
          <p:spPr>
            <a:xfrm>
              <a:off x="5016055" y="2863881"/>
              <a:ext cx="2164365" cy="1659254"/>
            </a:xfrm>
            <a:custGeom>
              <a:avLst/>
              <a:gdLst>
                <a:gd name="connsiteX0" fmla="*/ 1717739 w 2164365"/>
                <a:gd name="connsiteY0" fmla="*/ 0 h 1659254"/>
                <a:gd name="connsiteX1" fmla="*/ 2164366 w 2164365"/>
                <a:gd name="connsiteY1" fmla="*/ 0 h 1659254"/>
                <a:gd name="connsiteX2" fmla="*/ 2164366 w 2164365"/>
                <a:gd name="connsiteY2" fmla="*/ 603409 h 1659254"/>
                <a:gd name="connsiteX3" fmla="*/ 2164366 w 2164365"/>
                <a:gd name="connsiteY3" fmla="*/ 603409 h 1659254"/>
                <a:gd name="connsiteX4" fmla="*/ 2164366 w 2164365"/>
                <a:gd name="connsiteY4" fmla="*/ 1339882 h 1659254"/>
                <a:gd name="connsiteX5" fmla="*/ 0 w 2164365"/>
                <a:gd name="connsiteY5" fmla="*/ 1339882 h 1659254"/>
                <a:gd name="connsiteX6" fmla="*/ 0 w 2164365"/>
                <a:gd name="connsiteY6" fmla="*/ 0 h 1659254"/>
                <a:gd name="connsiteX7" fmla="*/ 268319 w 2164365"/>
                <a:gd name="connsiteY7" fmla="*/ 0 h 1659254"/>
                <a:gd name="connsiteX8" fmla="*/ 1082231 w 2164365"/>
                <a:gd name="connsiteY8" fmla="*/ 1339787 h 1659254"/>
                <a:gd name="connsiteX9" fmla="*/ 1082231 w 2164365"/>
                <a:gd name="connsiteY9" fmla="*/ 1659255 h 1659254"/>
                <a:gd name="connsiteX10" fmla="*/ 647605 w 2164365"/>
                <a:gd name="connsiteY10" fmla="*/ 1659255 h 1659254"/>
                <a:gd name="connsiteX11" fmla="*/ 1516856 w 2164365"/>
                <a:gd name="connsiteY11" fmla="*/ 1659255 h 1659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64365" h="1659254">
                  <a:moveTo>
                    <a:pt x="1717739" y="0"/>
                  </a:moveTo>
                  <a:lnTo>
                    <a:pt x="2164366" y="0"/>
                  </a:lnTo>
                  <a:lnTo>
                    <a:pt x="2164366" y="603409"/>
                  </a:lnTo>
                  <a:moveTo>
                    <a:pt x="2164366" y="603409"/>
                  </a:moveTo>
                  <a:lnTo>
                    <a:pt x="2164366" y="1339882"/>
                  </a:lnTo>
                  <a:lnTo>
                    <a:pt x="0" y="1339882"/>
                  </a:lnTo>
                  <a:lnTo>
                    <a:pt x="0" y="0"/>
                  </a:lnTo>
                  <a:lnTo>
                    <a:pt x="268319" y="0"/>
                  </a:lnTo>
                  <a:moveTo>
                    <a:pt x="1082231" y="1339787"/>
                  </a:moveTo>
                  <a:lnTo>
                    <a:pt x="1082231" y="1659255"/>
                  </a:lnTo>
                  <a:moveTo>
                    <a:pt x="647605" y="1659255"/>
                  </a:moveTo>
                  <a:lnTo>
                    <a:pt x="1516856" y="1659255"/>
                  </a:lnTo>
                </a:path>
              </a:pathLst>
            </a:custGeom>
            <a:noFill/>
            <a:ln w="9525"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grpSp>
          <p:nvGrpSpPr>
            <p:cNvPr id="27" name="Graphic 6">
              <a:extLst>
                <a:ext uri="{FF2B5EF4-FFF2-40B4-BE49-F238E27FC236}">
                  <a16:creationId xmlns:a16="http://schemas.microsoft.com/office/drawing/2014/main" id="{2E6DAFE8-60C9-9393-016B-B2F0E769C9E7}"/>
                </a:ext>
              </a:extLst>
            </p:cNvPr>
            <p:cNvGrpSpPr/>
            <p:nvPr/>
          </p:nvGrpSpPr>
          <p:grpSpPr>
            <a:xfrm>
              <a:off x="5385054" y="2335815"/>
              <a:ext cx="1426368" cy="1346929"/>
              <a:chOff x="5385054" y="2335815"/>
              <a:chExt cx="1426368" cy="1346929"/>
            </a:xfrm>
            <a:noFill/>
          </p:grpSpPr>
          <p:grpSp>
            <p:nvGrpSpPr>
              <p:cNvPr id="28" name="Graphic 6">
                <a:extLst>
                  <a:ext uri="{FF2B5EF4-FFF2-40B4-BE49-F238E27FC236}">
                    <a16:creationId xmlns:a16="http://schemas.microsoft.com/office/drawing/2014/main" id="{3318FC5B-972D-E4F2-5150-47699F0BD2A3}"/>
                  </a:ext>
                </a:extLst>
              </p:cNvPr>
              <p:cNvGrpSpPr/>
              <p:nvPr/>
            </p:nvGrpSpPr>
            <p:grpSpPr>
              <a:xfrm>
                <a:off x="5920930" y="2792157"/>
                <a:ext cx="890492" cy="890587"/>
                <a:chOff x="5920930" y="2792157"/>
                <a:chExt cx="890492" cy="890587"/>
              </a:xfrm>
              <a:noFill/>
            </p:grpSpPr>
            <p:sp>
              <p:nvSpPr>
                <p:cNvPr id="32" name="Freeform: Shape 31">
                  <a:extLst>
                    <a:ext uri="{FF2B5EF4-FFF2-40B4-BE49-F238E27FC236}">
                      <a16:creationId xmlns:a16="http://schemas.microsoft.com/office/drawing/2014/main" id="{89831112-8F58-87CB-73C9-6F9F3C3F5F26}"/>
                    </a:ext>
                  </a:extLst>
                </p:cNvPr>
                <p:cNvSpPr/>
                <p:nvPr/>
              </p:nvSpPr>
              <p:spPr>
                <a:xfrm>
                  <a:off x="5920930" y="2792157"/>
                  <a:ext cx="890492" cy="890587"/>
                </a:xfrm>
                <a:custGeom>
                  <a:avLst/>
                  <a:gdLst>
                    <a:gd name="connsiteX0" fmla="*/ 890492 w 890492"/>
                    <a:gd name="connsiteY0" fmla="*/ 514350 h 890587"/>
                    <a:gd name="connsiteX1" fmla="*/ 890492 w 890492"/>
                    <a:gd name="connsiteY1" fmla="*/ 375952 h 890587"/>
                    <a:gd name="connsiteX2" fmla="*/ 826389 w 890492"/>
                    <a:gd name="connsiteY2" fmla="*/ 375952 h 890587"/>
                    <a:gd name="connsiteX3" fmla="*/ 772287 w 890492"/>
                    <a:gd name="connsiteY3" fmla="*/ 235648 h 890587"/>
                    <a:gd name="connsiteX4" fmla="*/ 818388 w 890492"/>
                    <a:gd name="connsiteY4" fmla="*/ 192786 h 890587"/>
                    <a:gd name="connsiteX5" fmla="*/ 724090 w 890492"/>
                    <a:gd name="connsiteY5" fmla="*/ 91440 h 890587"/>
                    <a:gd name="connsiteX6" fmla="*/ 678466 w 890492"/>
                    <a:gd name="connsiteY6" fmla="*/ 133826 h 890587"/>
                    <a:gd name="connsiteX7" fmla="*/ 514350 w 890492"/>
                    <a:gd name="connsiteY7" fmla="*/ 61913 h 890587"/>
                    <a:gd name="connsiteX8" fmla="*/ 514350 w 890492"/>
                    <a:gd name="connsiteY8" fmla="*/ 0 h 890587"/>
                    <a:gd name="connsiteX9" fmla="*/ 375952 w 890492"/>
                    <a:gd name="connsiteY9" fmla="*/ 0 h 890587"/>
                    <a:gd name="connsiteX10" fmla="*/ 375952 w 890492"/>
                    <a:gd name="connsiteY10" fmla="*/ 62103 h 890587"/>
                    <a:gd name="connsiteX11" fmla="*/ 235458 w 890492"/>
                    <a:gd name="connsiteY11" fmla="*/ 118015 h 890587"/>
                    <a:gd name="connsiteX12" fmla="*/ 192691 w 890492"/>
                    <a:gd name="connsiteY12" fmla="*/ 72104 h 890587"/>
                    <a:gd name="connsiteX13" fmla="*/ 91345 w 890492"/>
                    <a:gd name="connsiteY13" fmla="*/ 166402 h 890587"/>
                    <a:gd name="connsiteX14" fmla="*/ 134684 w 890492"/>
                    <a:gd name="connsiteY14" fmla="*/ 213074 h 890587"/>
                    <a:gd name="connsiteX15" fmla="*/ 65056 w 890492"/>
                    <a:gd name="connsiteY15" fmla="*/ 376142 h 890587"/>
                    <a:gd name="connsiteX16" fmla="*/ 0 w 890492"/>
                    <a:gd name="connsiteY16" fmla="*/ 376142 h 890587"/>
                    <a:gd name="connsiteX17" fmla="*/ 0 w 890492"/>
                    <a:gd name="connsiteY17" fmla="*/ 514541 h 890587"/>
                    <a:gd name="connsiteX18" fmla="*/ 66199 w 890492"/>
                    <a:gd name="connsiteY18" fmla="*/ 514541 h 890587"/>
                    <a:gd name="connsiteX19" fmla="*/ 121253 w 890492"/>
                    <a:gd name="connsiteY19" fmla="*/ 651986 h 890587"/>
                    <a:gd name="connsiteX20" fmla="*/ 71914 w 890492"/>
                    <a:gd name="connsiteY20" fmla="*/ 697802 h 890587"/>
                    <a:gd name="connsiteX21" fmla="*/ 166211 w 890492"/>
                    <a:gd name="connsiteY21" fmla="*/ 799147 h 890587"/>
                    <a:gd name="connsiteX22" fmla="*/ 216027 w 890492"/>
                    <a:gd name="connsiteY22" fmla="*/ 752856 h 890587"/>
                    <a:gd name="connsiteX23" fmla="*/ 375952 w 890492"/>
                    <a:gd name="connsiteY23" fmla="*/ 822198 h 890587"/>
                    <a:gd name="connsiteX24" fmla="*/ 375952 w 890492"/>
                    <a:gd name="connsiteY24" fmla="*/ 890588 h 890587"/>
                    <a:gd name="connsiteX25" fmla="*/ 514350 w 890492"/>
                    <a:gd name="connsiteY25" fmla="*/ 890588 h 890587"/>
                    <a:gd name="connsiteX26" fmla="*/ 514350 w 890492"/>
                    <a:gd name="connsiteY26" fmla="*/ 822388 h 890587"/>
                    <a:gd name="connsiteX27" fmla="*/ 651605 w 890492"/>
                    <a:gd name="connsiteY27" fmla="*/ 769049 h 890587"/>
                    <a:gd name="connsiteX28" fmla="*/ 697611 w 890492"/>
                    <a:gd name="connsiteY28" fmla="*/ 818579 h 890587"/>
                    <a:gd name="connsiteX29" fmla="*/ 798957 w 890492"/>
                    <a:gd name="connsiteY29" fmla="*/ 724281 h 890587"/>
                    <a:gd name="connsiteX30" fmla="*/ 753523 w 890492"/>
                    <a:gd name="connsiteY30" fmla="*/ 675418 h 890587"/>
                    <a:gd name="connsiteX31" fmla="*/ 825056 w 890492"/>
                    <a:gd name="connsiteY31" fmla="*/ 514541 h 890587"/>
                    <a:gd name="connsiteX32" fmla="*/ 890302 w 890492"/>
                    <a:gd name="connsiteY32" fmla="*/ 514541 h 890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890492" h="890587">
                      <a:moveTo>
                        <a:pt x="890492" y="514350"/>
                      </a:moveTo>
                      <a:lnTo>
                        <a:pt x="890492" y="375952"/>
                      </a:lnTo>
                      <a:lnTo>
                        <a:pt x="826389" y="375952"/>
                      </a:lnTo>
                      <a:cubicBezTo>
                        <a:pt x="817626" y="325088"/>
                        <a:pt x="798862" y="277559"/>
                        <a:pt x="772287" y="235648"/>
                      </a:cubicBezTo>
                      <a:lnTo>
                        <a:pt x="818388" y="192786"/>
                      </a:lnTo>
                      <a:lnTo>
                        <a:pt x="724090" y="91440"/>
                      </a:lnTo>
                      <a:lnTo>
                        <a:pt x="678466" y="133826"/>
                      </a:lnTo>
                      <a:cubicBezTo>
                        <a:pt x="631127" y="98012"/>
                        <a:pt x="575215" y="72866"/>
                        <a:pt x="514350" y="61913"/>
                      </a:cubicBezTo>
                      <a:lnTo>
                        <a:pt x="514350" y="0"/>
                      </a:lnTo>
                      <a:lnTo>
                        <a:pt x="375952" y="0"/>
                      </a:lnTo>
                      <a:lnTo>
                        <a:pt x="375952" y="62103"/>
                      </a:lnTo>
                      <a:cubicBezTo>
                        <a:pt x="324898" y="71438"/>
                        <a:pt x="277368" y="90773"/>
                        <a:pt x="235458" y="118015"/>
                      </a:cubicBezTo>
                      <a:lnTo>
                        <a:pt x="192691" y="72104"/>
                      </a:lnTo>
                      <a:lnTo>
                        <a:pt x="91345" y="166402"/>
                      </a:lnTo>
                      <a:lnTo>
                        <a:pt x="134684" y="213074"/>
                      </a:lnTo>
                      <a:cubicBezTo>
                        <a:pt x="99822" y="260318"/>
                        <a:pt x="75438" y="315849"/>
                        <a:pt x="65056" y="376142"/>
                      </a:cubicBezTo>
                      <a:lnTo>
                        <a:pt x="0" y="376142"/>
                      </a:lnTo>
                      <a:lnTo>
                        <a:pt x="0" y="514541"/>
                      </a:lnTo>
                      <a:lnTo>
                        <a:pt x="66199" y="514541"/>
                      </a:lnTo>
                      <a:cubicBezTo>
                        <a:pt x="75628" y="564356"/>
                        <a:pt x="94678" y="610838"/>
                        <a:pt x="121253" y="651986"/>
                      </a:cubicBezTo>
                      <a:lnTo>
                        <a:pt x="71914" y="697802"/>
                      </a:lnTo>
                      <a:lnTo>
                        <a:pt x="166211" y="799147"/>
                      </a:lnTo>
                      <a:lnTo>
                        <a:pt x="216027" y="752856"/>
                      </a:lnTo>
                      <a:cubicBezTo>
                        <a:pt x="262414" y="787241"/>
                        <a:pt x="316802" y="811435"/>
                        <a:pt x="375952" y="822198"/>
                      </a:cubicBezTo>
                      <a:lnTo>
                        <a:pt x="375952" y="890588"/>
                      </a:lnTo>
                      <a:lnTo>
                        <a:pt x="514350" y="890588"/>
                      </a:lnTo>
                      <a:lnTo>
                        <a:pt x="514350" y="822388"/>
                      </a:lnTo>
                      <a:cubicBezTo>
                        <a:pt x="564070" y="813435"/>
                        <a:pt x="610457" y="795052"/>
                        <a:pt x="651605" y="769049"/>
                      </a:cubicBezTo>
                      <a:lnTo>
                        <a:pt x="697611" y="818579"/>
                      </a:lnTo>
                      <a:lnTo>
                        <a:pt x="798957" y="724281"/>
                      </a:lnTo>
                      <a:lnTo>
                        <a:pt x="753523" y="675418"/>
                      </a:lnTo>
                      <a:cubicBezTo>
                        <a:pt x="788765" y="628936"/>
                        <a:pt x="813816" y="574167"/>
                        <a:pt x="825056" y="514541"/>
                      </a:cubicBezTo>
                      <a:lnTo>
                        <a:pt x="890302" y="514541"/>
                      </a:lnTo>
                      <a:close/>
                    </a:path>
                  </a:pathLst>
                </a:custGeom>
                <a:noFill/>
                <a:ln w="9525"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sp>
              <p:nvSpPr>
                <p:cNvPr id="33" name="Freeform: Shape 32">
                  <a:extLst>
                    <a:ext uri="{FF2B5EF4-FFF2-40B4-BE49-F238E27FC236}">
                      <a16:creationId xmlns:a16="http://schemas.microsoft.com/office/drawing/2014/main" id="{9D55754F-8972-9C07-6B35-B03ADFB6D5BC}"/>
                    </a:ext>
                  </a:extLst>
                </p:cNvPr>
                <p:cNvSpPr/>
                <p:nvPr/>
              </p:nvSpPr>
              <p:spPr>
                <a:xfrm>
                  <a:off x="6144672" y="3012090"/>
                  <a:ext cx="444055" cy="444055"/>
                </a:xfrm>
                <a:custGeom>
                  <a:avLst/>
                  <a:gdLst>
                    <a:gd name="connsiteX0" fmla="*/ 444055 w 444055"/>
                    <a:gd name="connsiteY0" fmla="*/ 222028 h 444055"/>
                    <a:gd name="connsiteX1" fmla="*/ 222028 w 444055"/>
                    <a:gd name="connsiteY1" fmla="*/ 444056 h 444055"/>
                    <a:gd name="connsiteX2" fmla="*/ 0 w 444055"/>
                    <a:gd name="connsiteY2" fmla="*/ 222028 h 444055"/>
                    <a:gd name="connsiteX3" fmla="*/ 222028 w 444055"/>
                    <a:gd name="connsiteY3" fmla="*/ 0 h 444055"/>
                    <a:gd name="connsiteX4" fmla="*/ 444055 w 444055"/>
                    <a:gd name="connsiteY4" fmla="*/ 222028 h 444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4055" h="444055">
                      <a:moveTo>
                        <a:pt x="444055" y="222028"/>
                      </a:moveTo>
                      <a:cubicBezTo>
                        <a:pt x="444055" y="344650"/>
                        <a:pt x="344650" y="444056"/>
                        <a:pt x="222028" y="444056"/>
                      </a:cubicBezTo>
                      <a:cubicBezTo>
                        <a:pt x="99405" y="444056"/>
                        <a:pt x="0" y="344650"/>
                        <a:pt x="0" y="222028"/>
                      </a:cubicBezTo>
                      <a:cubicBezTo>
                        <a:pt x="0" y="99405"/>
                        <a:pt x="99405" y="0"/>
                        <a:pt x="222028" y="0"/>
                      </a:cubicBezTo>
                      <a:cubicBezTo>
                        <a:pt x="344650" y="0"/>
                        <a:pt x="444055" y="99405"/>
                        <a:pt x="444055" y="222028"/>
                      </a:cubicBezTo>
                      <a:close/>
                    </a:path>
                  </a:pathLst>
                </a:custGeom>
                <a:noFill/>
                <a:ln w="9525"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grpSp>
          <p:grpSp>
            <p:nvGrpSpPr>
              <p:cNvPr id="29" name="Graphic 6">
                <a:extLst>
                  <a:ext uri="{FF2B5EF4-FFF2-40B4-BE49-F238E27FC236}">
                    <a16:creationId xmlns:a16="http://schemas.microsoft.com/office/drawing/2014/main" id="{E423F2A7-3485-BFE6-E267-DFEDD81811EB}"/>
                  </a:ext>
                </a:extLst>
              </p:cNvPr>
              <p:cNvGrpSpPr/>
              <p:nvPr/>
            </p:nvGrpSpPr>
            <p:grpSpPr>
              <a:xfrm>
                <a:off x="5385054" y="2335815"/>
                <a:ext cx="701611" cy="701516"/>
                <a:chOff x="5385054" y="2335815"/>
                <a:chExt cx="701611" cy="701516"/>
              </a:xfrm>
              <a:noFill/>
            </p:grpSpPr>
            <p:sp>
              <p:nvSpPr>
                <p:cNvPr id="30" name="Freeform: Shape 29">
                  <a:extLst>
                    <a:ext uri="{FF2B5EF4-FFF2-40B4-BE49-F238E27FC236}">
                      <a16:creationId xmlns:a16="http://schemas.microsoft.com/office/drawing/2014/main" id="{10685B8A-B024-C2C3-5BF4-BD94F01221F1}"/>
                    </a:ext>
                  </a:extLst>
                </p:cNvPr>
                <p:cNvSpPr/>
                <p:nvPr/>
              </p:nvSpPr>
              <p:spPr>
                <a:xfrm>
                  <a:off x="5385054" y="2335815"/>
                  <a:ext cx="701611" cy="701516"/>
                </a:xfrm>
                <a:custGeom>
                  <a:avLst/>
                  <a:gdLst>
                    <a:gd name="connsiteX0" fmla="*/ 681704 w 701611"/>
                    <a:gd name="connsiteY0" fmla="*/ 467868 h 701516"/>
                    <a:gd name="connsiteX1" fmla="*/ 701611 w 701611"/>
                    <a:gd name="connsiteY1" fmla="*/ 361855 h 701516"/>
                    <a:gd name="connsiteX2" fmla="*/ 652558 w 701611"/>
                    <a:gd name="connsiteY2" fmla="*/ 352616 h 701516"/>
                    <a:gd name="connsiteX3" fmla="*/ 631317 w 701611"/>
                    <a:gd name="connsiteY3" fmla="*/ 237363 h 701516"/>
                    <a:gd name="connsiteX4" fmla="*/ 672846 w 701611"/>
                    <a:gd name="connsiteY4" fmla="*/ 211169 h 701516"/>
                    <a:gd name="connsiteX5" fmla="*/ 615315 w 701611"/>
                    <a:gd name="connsiteY5" fmla="*/ 120015 h 701516"/>
                    <a:gd name="connsiteX6" fmla="*/ 574262 w 701611"/>
                    <a:gd name="connsiteY6" fmla="*/ 145923 h 701516"/>
                    <a:gd name="connsiteX7" fmla="*/ 459010 w 701611"/>
                    <a:gd name="connsiteY7" fmla="*/ 67247 h 701516"/>
                    <a:gd name="connsiteX8" fmla="*/ 467868 w 701611"/>
                    <a:gd name="connsiteY8" fmla="*/ 19907 h 701516"/>
                    <a:gd name="connsiteX9" fmla="*/ 361855 w 701611"/>
                    <a:gd name="connsiteY9" fmla="*/ 0 h 701516"/>
                    <a:gd name="connsiteX10" fmla="*/ 352901 w 701611"/>
                    <a:gd name="connsiteY10" fmla="*/ 47530 h 701516"/>
                    <a:gd name="connsiteX11" fmla="*/ 237268 w 701611"/>
                    <a:gd name="connsiteY11" fmla="*/ 70104 h 701516"/>
                    <a:gd name="connsiteX12" fmla="*/ 211169 w 701611"/>
                    <a:gd name="connsiteY12" fmla="*/ 28766 h 701516"/>
                    <a:gd name="connsiteX13" fmla="*/ 120015 w 701611"/>
                    <a:gd name="connsiteY13" fmla="*/ 86297 h 701516"/>
                    <a:gd name="connsiteX14" fmla="*/ 146495 w 701611"/>
                    <a:gd name="connsiteY14" fmla="*/ 128206 h 701516"/>
                    <a:gd name="connsiteX15" fmla="*/ 69723 w 701611"/>
                    <a:gd name="connsiteY15" fmla="*/ 242983 h 701516"/>
                    <a:gd name="connsiteX16" fmla="*/ 19907 w 701611"/>
                    <a:gd name="connsiteY16" fmla="*/ 233648 h 701516"/>
                    <a:gd name="connsiteX17" fmla="*/ 0 w 701611"/>
                    <a:gd name="connsiteY17" fmla="*/ 339662 h 701516"/>
                    <a:gd name="connsiteX18" fmla="*/ 50673 w 701611"/>
                    <a:gd name="connsiteY18" fmla="*/ 349187 h 701516"/>
                    <a:gd name="connsiteX19" fmla="*/ 73057 w 701611"/>
                    <a:gd name="connsiteY19" fmla="*/ 462344 h 701516"/>
                    <a:gd name="connsiteX20" fmla="*/ 28766 w 701611"/>
                    <a:gd name="connsiteY20" fmla="*/ 490347 h 701516"/>
                    <a:gd name="connsiteX21" fmla="*/ 86296 w 701611"/>
                    <a:gd name="connsiteY21" fmla="*/ 581501 h 701516"/>
                    <a:gd name="connsiteX22" fmla="*/ 131159 w 701611"/>
                    <a:gd name="connsiteY22" fmla="*/ 553212 h 701516"/>
                    <a:gd name="connsiteX23" fmla="*/ 243554 w 701611"/>
                    <a:gd name="connsiteY23" fmla="*/ 629317 h 701516"/>
                    <a:gd name="connsiteX24" fmla="*/ 233744 w 701611"/>
                    <a:gd name="connsiteY24" fmla="*/ 681609 h 701516"/>
                    <a:gd name="connsiteX25" fmla="*/ 339757 w 701611"/>
                    <a:gd name="connsiteY25" fmla="*/ 701516 h 701516"/>
                    <a:gd name="connsiteX26" fmla="*/ 349567 w 701611"/>
                    <a:gd name="connsiteY26" fmla="*/ 649319 h 701516"/>
                    <a:gd name="connsiteX27" fmla="*/ 462248 w 701611"/>
                    <a:gd name="connsiteY27" fmla="*/ 628269 h 701516"/>
                    <a:gd name="connsiteX28" fmla="*/ 490347 w 701611"/>
                    <a:gd name="connsiteY28" fmla="*/ 672751 h 701516"/>
                    <a:gd name="connsiteX29" fmla="*/ 581501 w 701611"/>
                    <a:gd name="connsiteY29" fmla="*/ 615220 h 701516"/>
                    <a:gd name="connsiteX30" fmla="*/ 553784 w 701611"/>
                    <a:gd name="connsiteY30" fmla="*/ 571310 h 701516"/>
                    <a:gd name="connsiteX31" fmla="*/ 631698 w 701611"/>
                    <a:gd name="connsiteY31" fmla="*/ 458438 h 701516"/>
                    <a:gd name="connsiteX32" fmla="*/ 681609 w 701611"/>
                    <a:gd name="connsiteY32" fmla="*/ 467868 h 701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701611" h="701516">
                      <a:moveTo>
                        <a:pt x="681704" y="467868"/>
                      </a:moveTo>
                      <a:lnTo>
                        <a:pt x="701611" y="361855"/>
                      </a:lnTo>
                      <a:lnTo>
                        <a:pt x="652558" y="352616"/>
                      </a:lnTo>
                      <a:cubicBezTo>
                        <a:pt x="653129" y="312420"/>
                        <a:pt x="645700" y="273368"/>
                        <a:pt x="631317" y="237363"/>
                      </a:cubicBezTo>
                      <a:lnTo>
                        <a:pt x="672846" y="211169"/>
                      </a:lnTo>
                      <a:lnTo>
                        <a:pt x="615315" y="120015"/>
                      </a:lnTo>
                      <a:lnTo>
                        <a:pt x="574262" y="145923"/>
                      </a:lnTo>
                      <a:cubicBezTo>
                        <a:pt x="543115" y="111633"/>
                        <a:pt x="503968" y="84392"/>
                        <a:pt x="459010" y="67247"/>
                      </a:cubicBezTo>
                      <a:lnTo>
                        <a:pt x="467868" y="19907"/>
                      </a:lnTo>
                      <a:lnTo>
                        <a:pt x="361855" y="0"/>
                      </a:lnTo>
                      <a:lnTo>
                        <a:pt x="352901" y="47530"/>
                      </a:lnTo>
                      <a:cubicBezTo>
                        <a:pt x="312515" y="47339"/>
                        <a:pt x="273272" y="55245"/>
                        <a:pt x="237268" y="70104"/>
                      </a:cubicBezTo>
                      <a:lnTo>
                        <a:pt x="211169" y="28766"/>
                      </a:lnTo>
                      <a:lnTo>
                        <a:pt x="120015" y="86297"/>
                      </a:lnTo>
                      <a:lnTo>
                        <a:pt x="146495" y="128206"/>
                      </a:lnTo>
                      <a:cubicBezTo>
                        <a:pt x="112967" y="159353"/>
                        <a:pt x="86296" y="198311"/>
                        <a:pt x="69723" y="242983"/>
                      </a:cubicBezTo>
                      <a:lnTo>
                        <a:pt x="19907" y="233648"/>
                      </a:lnTo>
                      <a:lnTo>
                        <a:pt x="0" y="339662"/>
                      </a:lnTo>
                      <a:lnTo>
                        <a:pt x="50673" y="349187"/>
                      </a:lnTo>
                      <a:cubicBezTo>
                        <a:pt x="50673" y="388715"/>
                        <a:pt x="58579" y="427006"/>
                        <a:pt x="73057" y="462344"/>
                      </a:cubicBezTo>
                      <a:lnTo>
                        <a:pt x="28766" y="490347"/>
                      </a:lnTo>
                      <a:lnTo>
                        <a:pt x="86296" y="581501"/>
                      </a:lnTo>
                      <a:lnTo>
                        <a:pt x="131159" y="553212"/>
                      </a:lnTo>
                      <a:cubicBezTo>
                        <a:pt x="161735" y="586169"/>
                        <a:pt x="199930" y="612553"/>
                        <a:pt x="243554" y="629317"/>
                      </a:cubicBezTo>
                      <a:lnTo>
                        <a:pt x="233744" y="681609"/>
                      </a:lnTo>
                      <a:lnTo>
                        <a:pt x="339757" y="701516"/>
                      </a:lnTo>
                      <a:lnTo>
                        <a:pt x="349567" y="649319"/>
                      </a:lnTo>
                      <a:cubicBezTo>
                        <a:pt x="388906" y="649605"/>
                        <a:pt x="427101" y="642176"/>
                        <a:pt x="462248" y="628269"/>
                      </a:cubicBezTo>
                      <a:lnTo>
                        <a:pt x="490347" y="672751"/>
                      </a:lnTo>
                      <a:lnTo>
                        <a:pt x="581501" y="615220"/>
                      </a:lnTo>
                      <a:lnTo>
                        <a:pt x="553784" y="571310"/>
                      </a:lnTo>
                      <a:cubicBezTo>
                        <a:pt x="587502" y="540734"/>
                        <a:pt x="614458" y="502444"/>
                        <a:pt x="631698" y="458438"/>
                      </a:cubicBezTo>
                      <a:lnTo>
                        <a:pt x="681609" y="467868"/>
                      </a:lnTo>
                      <a:close/>
                    </a:path>
                  </a:pathLst>
                </a:custGeom>
                <a:noFill/>
                <a:ln w="9525"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sp>
              <p:nvSpPr>
                <p:cNvPr id="31" name="Freeform: Shape 30">
                  <a:extLst>
                    <a:ext uri="{FF2B5EF4-FFF2-40B4-BE49-F238E27FC236}">
                      <a16:creationId xmlns:a16="http://schemas.microsoft.com/office/drawing/2014/main" id="{E29A94C4-2FC3-573B-B0A2-A8637375594C}"/>
                    </a:ext>
                  </a:extLst>
                </p:cNvPr>
                <p:cNvSpPr/>
                <p:nvPr/>
              </p:nvSpPr>
              <p:spPr>
                <a:xfrm>
                  <a:off x="5563743" y="2511265"/>
                  <a:ext cx="345947" cy="345947"/>
                </a:xfrm>
                <a:custGeom>
                  <a:avLst/>
                  <a:gdLst>
                    <a:gd name="connsiteX0" fmla="*/ 345948 w 345947"/>
                    <a:gd name="connsiteY0" fmla="*/ 172974 h 345947"/>
                    <a:gd name="connsiteX1" fmla="*/ 172974 w 345947"/>
                    <a:gd name="connsiteY1" fmla="*/ 345948 h 345947"/>
                    <a:gd name="connsiteX2" fmla="*/ 0 w 345947"/>
                    <a:gd name="connsiteY2" fmla="*/ 172974 h 345947"/>
                    <a:gd name="connsiteX3" fmla="*/ 172974 w 345947"/>
                    <a:gd name="connsiteY3" fmla="*/ 0 h 345947"/>
                    <a:gd name="connsiteX4" fmla="*/ 345948 w 345947"/>
                    <a:gd name="connsiteY4" fmla="*/ 172974 h 3459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947" h="345947">
                      <a:moveTo>
                        <a:pt x="345948" y="172974"/>
                      </a:moveTo>
                      <a:cubicBezTo>
                        <a:pt x="345948" y="268505"/>
                        <a:pt x="268505" y="345948"/>
                        <a:pt x="172974" y="345948"/>
                      </a:cubicBezTo>
                      <a:cubicBezTo>
                        <a:pt x="77443" y="345948"/>
                        <a:pt x="0" y="268505"/>
                        <a:pt x="0" y="172974"/>
                      </a:cubicBezTo>
                      <a:cubicBezTo>
                        <a:pt x="0" y="77443"/>
                        <a:pt x="77443" y="0"/>
                        <a:pt x="172974" y="0"/>
                      </a:cubicBezTo>
                      <a:cubicBezTo>
                        <a:pt x="268505" y="0"/>
                        <a:pt x="345948" y="77443"/>
                        <a:pt x="345948" y="172974"/>
                      </a:cubicBezTo>
                      <a:close/>
                    </a:path>
                  </a:pathLst>
                </a:custGeom>
                <a:noFill/>
                <a:ln w="9525"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grpSp>
        </p:grpSp>
      </p:grpSp>
      <p:sp>
        <p:nvSpPr>
          <p:cNvPr id="34" name="TextBox 33">
            <a:extLst>
              <a:ext uri="{FF2B5EF4-FFF2-40B4-BE49-F238E27FC236}">
                <a16:creationId xmlns:a16="http://schemas.microsoft.com/office/drawing/2014/main" id="{854D69DE-C35C-919B-7331-514DCE578F65}"/>
              </a:ext>
            </a:extLst>
          </p:cNvPr>
          <p:cNvSpPr txBox="1">
            <a:spLocks/>
          </p:cNvSpPr>
          <p:nvPr/>
        </p:nvSpPr>
        <p:spPr>
          <a:xfrm>
            <a:off x="8287592" y="2799088"/>
            <a:ext cx="3641837" cy="1015663"/>
          </a:xfrm>
          <a:prstGeom prst="rect">
            <a:avLst/>
          </a:prstGeom>
          <a:noFill/>
        </p:spPr>
        <p:txBody>
          <a:bodyPr wrap="square" lIns="91440" tIns="45720" rIns="91440" bIns="4572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Segoe UI"/>
                <a:ea typeface="+mn-lt"/>
                <a:cs typeface="Segoe UI"/>
              </a:rPr>
              <a:t>Use with Azure Container Storage via NVMeoF</a:t>
            </a:r>
          </a:p>
        </p:txBody>
      </p:sp>
      <p:grpSp>
        <p:nvGrpSpPr>
          <p:cNvPr id="35" name="Group 34" descr="Icon of multiple nodes around a person">
            <a:extLst>
              <a:ext uri="{FF2B5EF4-FFF2-40B4-BE49-F238E27FC236}">
                <a16:creationId xmlns:a16="http://schemas.microsoft.com/office/drawing/2014/main" id="{FF9D27D4-416D-7077-7B47-E57C01ADA23F}"/>
              </a:ext>
            </a:extLst>
          </p:cNvPr>
          <p:cNvGrpSpPr>
            <a:grpSpLocks noChangeAspect="1"/>
          </p:cNvGrpSpPr>
          <p:nvPr/>
        </p:nvGrpSpPr>
        <p:grpSpPr>
          <a:xfrm>
            <a:off x="5683965" y="1639436"/>
            <a:ext cx="824128" cy="649577"/>
            <a:chOff x="2958349" y="3616589"/>
            <a:chExt cx="395157" cy="311467"/>
          </a:xfrm>
        </p:grpSpPr>
        <p:sp>
          <p:nvSpPr>
            <p:cNvPr id="36" name="Freeform: Shape 300">
              <a:extLst>
                <a:ext uri="{FF2B5EF4-FFF2-40B4-BE49-F238E27FC236}">
                  <a16:creationId xmlns:a16="http://schemas.microsoft.com/office/drawing/2014/main" id="{3620D42A-C8BF-BC65-97A2-D7FF304B48C3}"/>
                </a:ext>
              </a:extLst>
            </p:cNvPr>
            <p:cNvSpPr/>
            <p:nvPr/>
          </p:nvSpPr>
          <p:spPr>
            <a:xfrm>
              <a:off x="3091444" y="3756606"/>
              <a:ext cx="133350" cy="171450"/>
            </a:xfrm>
            <a:custGeom>
              <a:avLst/>
              <a:gdLst>
                <a:gd name="connsiteX0" fmla="*/ 19738 w 133350"/>
                <a:gd name="connsiteY0" fmla="*/ 55933 h 171450"/>
                <a:gd name="connsiteX1" fmla="*/ 67363 w 133350"/>
                <a:gd name="connsiteY1" fmla="*/ 7355 h 171450"/>
                <a:gd name="connsiteX2" fmla="*/ 114988 w 133350"/>
                <a:gd name="connsiteY2" fmla="*/ 55933 h 171450"/>
                <a:gd name="connsiteX3" fmla="*/ 67363 w 133350"/>
                <a:gd name="connsiteY3" fmla="*/ 104510 h 171450"/>
                <a:gd name="connsiteX4" fmla="*/ 19738 w 133350"/>
                <a:gd name="connsiteY4" fmla="*/ 55933 h 171450"/>
                <a:gd name="connsiteX5" fmla="*/ 19738 w 133350"/>
                <a:gd name="connsiteY5" fmla="*/ 55933 h 171450"/>
                <a:gd name="connsiteX6" fmla="*/ 127370 w 133350"/>
                <a:gd name="connsiteY6" fmla="*/ 165470 h 171450"/>
                <a:gd name="connsiteX7" fmla="*/ 67363 w 133350"/>
                <a:gd name="connsiteY7" fmla="*/ 104510 h 171450"/>
                <a:gd name="connsiteX8" fmla="*/ 7355 w 133350"/>
                <a:gd name="connsiteY8" fmla="*/ 16547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350" h="171450">
                  <a:moveTo>
                    <a:pt x="19738" y="55933"/>
                  </a:moveTo>
                  <a:cubicBezTo>
                    <a:pt x="19738" y="29263"/>
                    <a:pt x="40693" y="7355"/>
                    <a:pt x="67363" y="7355"/>
                  </a:cubicBezTo>
                  <a:cubicBezTo>
                    <a:pt x="94033" y="7355"/>
                    <a:pt x="114988" y="29263"/>
                    <a:pt x="114988" y="55933"/>
                  </a:cubicBezTo>
                  <a:cubicBezTo>
                    <a:pt x="114988" y="82603"/>
                    <a:pt x="93080" y="104510"/>
                    <a:pt x="67363" y="104510"/>
                  </a:cubicBezTo>
                  <a:cubicBezTo>
                    <a:pt x="40693" y="104510"/>
                    <a:pt x="19738" y="83555"/>
                    <a:pt x="19738" y="55933"/>
                  </a:cubicBezTo>
                  <a:lnTo>
                    <a:pt x="19738" y="55933"/>
                  </a:lnTo>
                  <a:close/>
                  <a:moveTo>
                    <a:pt x="127370" y="165470"/>
                  </a:moveTo>
                  <a:cubicBezTo>
                    <a:pt x="127370" y="132133"/>
                    <a:pt x="100700" y="104510"/>
                    <a:pt x="67363" y="104510"/>
                  </a:cubicBezTo>
                  <a:cubicBezTo>
                    <a:pt x="34025" y="104510"/>
                    <a:pt x="7355" y="132133"/>
                    <a:pt x="7355" y="165470"/>
                  </a:cubicBezTo>
                </a:path>
              </a:pathLst>
            </a:custGeom>
            <a:noFill/>
            <a:ln w="9525"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sp>
          <p:nvSpPr>
            <p:cNvPr id="37" name="Freeform: Shape 301">
              <a:extLst>
                <a:ext uri="{FF2B5EF4-FFF2-40B4-BE49-F238E27FC236}">
                  <a16:creationId xmlns:a16="http://schemas.microsoft.com/office/drawing/2014/main" id="{DE6EE067-28C1-CEBC-E5AD-16412851A466}"/>
                </a:ext>
              </a:extLst>
            </p:cNvPr>
            <p:cNvSpPr/>
            <p:nvPr/>
          </p:nvSpPr>
          <p:spPr>
            <a:xfrm>
              <a:off x="3132401" y="3616589"/>
              <a:ext cx="47625" cy="47625"/>
            </a:xfrm>
            <a:custGeom>
              <a:avLst/>
              <a:gdLst>
                <a:gd name="connsiteX0" fmla="*/ 7355 w 47625"/>
                <a:gd name="connsiteY0" fmla="*/ 7355 h 47625"/>
                <a:gd name="connsiteX1" fmla="*/ 45455 w 47625"/>
                <a:gd name="connsiteY1" fmla="*/ 7355 h 47625"/>
                <a:gd name="connsiteX2" fmla="*/ 45455 w 47625"/>
                <a:gd name="connsiteY2" fmla="*/ 45455 h 47625"/>
                <a:gd name="connsiteX3" fmla="*/ 7355 w 47625"/>
                <a:gd name="connsiteY3" fmla="*/ 45455 h 47625"/>
              </a:gdLst>
              <a:ahLst/>
              <a:cxnLst>
                <a:cxn ang="0">
                  <a:pos x="connsiteX0" y="connsiteY0"/>
                </a:cxn>
                <a:cxn ang="0">
                  <a:pos x="connsiteX1" y="connsiteY1"/>
                </a:cxn>
                <a:cxn ang="0">
                  <a:pos x="connsiteX2" y="connsiteY2"/>
                </a:cxn>
                <a:cxn ang="0">
                  <a:pos x="connsiteX3" y="connsiteY3"/>
                </a:cxn>
              </a:cxnLst>
              <a:rect l="l" t="t" r="r" b="b"/>
              <a:pathLst>
                <a:path w="47625" h="47625">
                  <a:moveTo>
                    <a:pt x="7355" y="7355"/>
                  </a:moveTo>
                  <a:lnTo>
                    <a:pt x="45455" y="7355"/>
                  </a:lnTo>
                  <a:lnTo>
                    <a:pt x="45455" y="45455"/>
                  </a:lnTo>
                  <a:lnTo>
                    <a:pt x="7355" y="45455"/>
                  </a:lnTo>
                  <a:close/>
                </a:path>
              </a:pathLst>
            </a:custGeom>
            <a:noFill/>
            <a:ln w="9525"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sp>
          <p:nvSpPr>
            <p:cNvPr id="38" name="Freeform: Shape 302">
              <a:extLst>
                <a:ext uri="{FF2B5EF4-FFF2-40B4-BE49-F238E27FC236}">
                  <a16:creationId xmlns:a16="http://schemas.microsoft.com/office/drawing/2014/main" id="{0F8B6CA3-E778-57AC-371A-E8ECC147718F}"/>
                </a:ext>
              </a:extLst>
            </p:cNvPr>
            <p:cNvSpPr/>
            <p:nvPr/>
          </p:nvSpPr>
          <p:spPr>
            <a:xfrm>
              <a:off x="2997484" y="3656553"/>
              <a:ext cx="66675" cy="66675"/>
            </a:xfrm>
            <a:custGeom>
              <a:avLst/>
              <a:gdLst>
                <a:gd name="connsiteX0" fmla="*/ 10402 w 66675"/>
                <a:gd name="connsiteY0" fmla="*/ 37342 h 66675"/>
                <a:gd name="connsiteX1" fmla="*/ 37342 w 66675"/>
                <a:gd name="connsiteY1" fmla="*/ 10402 h 66675"/>
                <a:gd name="connsiteX2" fmla="*/ 64283 w 66675"/>
                <a:gd name="connsiteY2" fmla="*/ 37342 h 66675"/>
                <a:gd name="connsiteX3" fmla="*/ 37342 w 66675"/>
                <a:gd name="connsiteY3" fmla="*/ 64283 h 66675"/>
              </a:gdLst>
              <a:ahLst/>
              <a:cxnLst>
                <a:cxn ang="0">
                  <a:pos x="connsiteX0" y="connsiteY0"/>
                </a:cxn>
                <a:cxn ang="0">
                  <a:pos x="connsiteX1" y="connsiteY1"/>
                </a:cxn>
                <a:cxn ang="0">
                  <a:pos x="connsiteX2" y="connsiteY2"/>
                </a:cxn>
                <a:cxn ang="0">
                  <a:pos x="connsiteX3" y="connsiteY3"/>
                </a:cxn>
              </a:cxnLst>
              <a:rect l="l" t="t" r="r" b="b"/>
              <a:pathLst>
                <a:path w="66675" h="66675">
                  <a:moveTo>
                    <a:pt x="10402" y="37342"/>
                  </a:moveTo>
                  <a:lnTo>
                    <a:pt x="37342" y="10402"/>
                  </a:lnTo>
                  <a:lnTo>
                    <a:pt x="64283" y="37342"/>
                  </a:lnTo>
                  <a:lnTo>
                    <a:pt x="37342" y="64283"/>
                  </a:lnTo>
                  <a:close/>
                </a:path>
              </a:pathLst>
            </a:custGeom>
            <a:noFill/>
            <a:ln w="9525"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sp>
          <p:nvSpPr>
            <p:cNvPr id="39" name="Freeform: Shape 303">
              <a:extLst>
                <a:ext uri="{FF2B5EF4-FFF2-40B4-BE49-F238E27FC236}">
                  <a16:creationId xmlns:a16="http://schemas.microsoft.com/office/drawing/2014/main" id="{6CCEF9A3-D9C3-5C24-CCAE-1A95585D6C94}"/>
                </a:ext>
              </a:extLst>
            </p:cNvPr>
            <p:cNvSpPr/>
            <p:nvPr/>
          </p:nvSpPr>
          <p:spPr>
            <a:xfrm>
              <a:off x="2958349" y="3790484"/>
              <a:ext cx="47625" cy="47625"/>
            </a:xfrm>
            <a:custGeom>
              <a:avLst/>
              <a:gdLst>
                <a:gd name="connsiteX0" fmla="*/ 7355 w 47625"/>
                <a:gd name="connsiteY0" fmla="*/ 45455 h 47625"/>
                <a:gd name="connsiteX1" fmla="*/ 7355 w 47625"/>
                <a:gd name="connsiteY1" fmla="*/ 7355 h 47625"/>
                <a:gd name="connsiteX2" fmla="*/ 45455 w 47625"/>
                <a:gd name="connsiteY2" fmla="*/ 7355 h 47625"/>
                <a:gd name="connsiteX3" fmla="*/ 45455 w 47625"/>
                <a:gd name="connsiteY3" fmla="*/ 45455 h 47625"/>
              </a:gdLst>
              <a:ahLst/>
              <a:cxnLst>
                <a:cxn ang="0">
                  <a:pos x="connsiteX0" y="connsiteY0"/>
                </a:cxn>
                <a:cxn ang="0">
                  <a:pos x="connsiteX1" y="connsiteY1"/>
                </a:cxn>
                <a:cxn ang="0">
                  <a:pos x="connsiteX2" y="connsiteY2"/>
                </a:cxn>
                <a:cxn ang="0">
                  <a:pos x="connsiteX3" y="connsiteY3"/>
                </a:cxn>
              </a:cxnLst>
              <a:rect l="l" t="t" r="r" b="b"/>
              <a:pathLst>
                <a:path w="47625" h="47625">
                  <a:moveTo>
                    <a:pt x="7355" y="45455"/>
                  </a:moveTo>
                  <a:lnTo>
                    <a:pt x="7355" y="7355"/>
                  </a:lnTo>
                  <a:lnTo>
                    <a:pt x="45455" y="7355"/>
                  </a:lnTo>
                  <a:lnTo>
                    <a:pt x="45455" y="45455"/>
                  </a:lnTo>
                  <a:close/>
                </a:path>
              </a:pathLst>
            </a:custGeom>
            <a:noFill/>
            <a:ln w="9525"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sp>
          <p:nvSpPr>
            <p:cNvPr id="40" name="Freeform: Shape 304">
              <a:extLst>
                <a:ext uri="{FF2B5EF4-FFF2-40B4-BE49-F238E27FC236}">
                  <a16:creationId xmlns:a16="http://schemas.microsoft.com/office/drawing/2014/main" id="{4DF1BBF1-6FF8-6423-AC2D-1586F15347D0}"/>
                </a:ext>
              </a:extLst>
            </p:cNvPr>
            <p:cNvSpPr/>
            <p:nvPr/>
          </p:nvSpPr>
          <p:spPr>
            <a:xfrm>
              <a:off x="3305881" y="3790104"/>
              <a:ext cx="47625" cy="47625"/>
            </a:xfrm>
            <a:custGeom>
              <a:avLst/>
              <a:gdLst>
                <a:gd name="connsiteX0" fmla="*/ 45455 w 47625"/>
                <a:gd name="connsiteY0" fmla="*/ 7355 h 47625"/>
                <a:gd name="connsiteX1" fmla="*/ 45455 w 47625"/>
                <a:gd name="connsiteY1" fmla="*/ 45455 h 47625"/>
                <a:gd name="connsiteX2" fmla="*/ 7355 w 47625"/>
                <a:gd name="connsiteY2" fmla="*/ 45455 h 47625"/>
                <a:gd name="connsiteX3" fmla="*/ 7355 w 47625"/>
                <a:gd name="connsiteY3" fmla="*/ 7355 h 47625"/>
              </a:gdLst>
              <a:ahLst/>
              <a:cxnLst>
                <a:cxn ang="0">
                  <a:pos x="connsiteX0" y="connsiteY0"/>
                </a:cxn>
                <a:cxn ang="0">
                  <a:pos x="connsiteX1" y="connsiteY1"/>
                </a:cxn>
                <a:cxn ang="0">
                  <a:pos x="connsiteX2" y="connsiteY2"/>
                </a:cxn>
                <a:cxn ang="0">
                  <a:pos x="connsiteX3" y="connsiteY3"/>
                </a:cxn>
              </a:cxnLst>
              <a:rect l="l" t="t" r="r" b="b"/>
              <a:pathLst>
                <a:path w="47625" h="47625">
                  <a:moveTo>
                    <a:pt x="45455" y="7355"/>
                  </a:moveTo>
                  <a:lnTo>
                    <a:pt x="45455" y="45455"/>
                  </a:lnTo>
                  <a:lnTo>
                    <a:pt x="7355" y="45455"/>
                  </a:lnTo>
                  <a:lnTo>
                    <a:pt x="7355" y="7355"/>
                  </a:lnTo>
                  <a:close/>
                </a:path>
              </a:pathLst>
            </a:custGeom>
            <a:noFill/>
            <a:ln w="9525"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sp>
          <p:nvSpPr>
            <p:cNvPr id="41" name="Freeform: Shape 305">
              <a:extLst>
                <a:ext uri="{FF2B5EF4-FFF2-40B4-BE49-F238E27FC236}">
                  <a16:creationId xmlns:a16="http://schemas.microsoft.com/office/drawing/2014/main" id="{CEBE6D90-EFCE-534F-9DFB-1AEEC2C5A1F3}"/>
                </a:ext>
              </a:extLst>
            </p:cNvPr>
            <p:cNvSpPr/>
            <p:nvPr/>
          </p:nvSpPr>
          <p:spPr>
            <a:xfrm>
              <a:off x="3244590" y="3656272"/>
              <a:ext cx="66675" cy="66675"/>
            </a:xfrm>
            <a:custGeom>
              <a:avLst/>
              <a:gdLst>
                <a:gd name="connsiteX0" fmla="*/ 37342 w 66675"/>
                <a:gd name="connsiteY0" fmla="*/ 10402 h 66675"/>
                <a:gd name="connsiteX1" fmla="*/ 64283 w 66675"/>
                <a:gd name="connsiteY1" fmla="*/ 37342 h 66675"/>
                <a:gd name="connsiteX2" fmla="*/ 37342 w 66675"/>
                <a:gd name="connsiteY2" fmla="*/ 64283 h 66675"/>
                <a:gd name="connsiteX3" fmla="*/ 10402 w 66675"/>
                <a:gd name="connsiteY3" fmla="*/ 37342 h 66675"/>
              </a:gdLst>
              <a:ahLst/>
              <a:cxnLst>
                <a:cxn ang="0">
                  <a:pos x="connsiteX0" y="connsiteY0"/>
                </a:cxn>
                <a:cxn ang="0">
                  <a:pos x="connsiteX1" y="connsiteY1"/>
                </a:cxn>
                <a:cxn ang="0">
                  <a:pos x="connsiteX2" y="connsiteY2"/>
                </a:cxn>
                <a:cxn ang="0">
                  <a:pos x="connsiteX3" y="connsiteY3"/>
                </a:cxn>
              </a:cxnLst>
              <a:rect l="l" t="t" r="r" b="b"/>
              <a:pathLst>
                <a:path w="66675" h="66675">
                  <a:moveTo>
                    <a:pt x="37342" y="10402"/>
                  </a:moveTo>
                  <a:lnTo>
                    <a:pt x="64283" y="37342"/>
                  </a:lnTo>
                  <a:lnTo>
                    <a:pt x="37342" y="64283"/>
                  </a:lnTo>
                  <a:lnTo>
                    <a:pt x="10402" y="37342"/>
                  </a:lnTo>
                  <a:close/>
                </a:path>
              </a:pathLst>
            </a:custGeom>
            <a:noFill/>
            <a:ln w="9525"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sp>
          <p:nvSpPr>
            <p:cNvPr id="42" name="Freeform: Shape 306">
              <a:extLst>
                <a:ext uri="{FF2B5EF4-FFF2-40B4-BE49-F238E27FC236}">
                  <a16:creationId xmlns:a16="http://schemas.microsoft.com/office/drawing/2014/main" id="{3AB2A139-AAE0-847E-93B7-2A2651E57FFB}"/>
                </a:ext>
              </a:extLst>
            </p:cNvPr>
            <p:cNvSpPr/>
            <p:nvPr/>
          </p:nvSpPr>
          <p:spPr>
            <a:xfrm>
              <a:off x="3151451" y="3656594"/>
              <a:ext cx="9525" cy="57150"/>
            </a:xfrm>
            <a:custGeom>
              <a:avLst/>
              <a:gdLst>
                <a:gd name="connsiteX0" fmla="*/ 7355 w 9525"/>
                <a:gd name="connsiteY0" fmla="*/ 7355 h 57150"/>
                <a:gd name="connsiteX1" fmla="*/ 7355 w 9525"/>
                <a:gd name="connsiteY1" fmla="*/ 56885 h 57150"/>
              </a:gdLst>
              <a:ahLst/>
              <a:cxnLst>
                <a:cxn ang="0">
                  <a:pos x="connsiteX0" y="connsiteY0"/>
                </a:cxn>
                <a:cxn ang="0">
                  <a:pos x="connsiteX1" y="connsiteY1"/>
                </a:cxn>
              </a:cxnLst>
              <a:rect l="l" t="t" r="r" b="b"/>
              <a:pathLst>
                <a:path w="9525" h="57150">
                  <a:moveTo>
                    <a:pt x="7355" y="7355"/>
                  </a:moveTo>
                  <a:lnTo>
                    <a:pt x="7355" y="56885"/>
                  </a:lnTo>
                </a:path>
              </a:pathLst>
            </a:custGeom>
            <a:noFill/>
            <a:ln w="9525"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sp>
          <p:nvSpPr>
            <p:cNvPr id="43" name="Freeform: Shape 307">
              <a:extLst>
                <a:ext uri="{FF2B5EF4-FFF2-40B4-BE49-F238E27FC236}">
                  <a16:creationId xmlns:a16="http://schemas.microsoft.com/office/drawing/2014/main" id="{1C0FA7D7-D02A-FE3B-00EF-53BF173F050B}"/>
                </a:ext>
              </a:extLst>
            </p:cNvPr>
            <p:cNvSpPr/>
            <p:nvPr/>
          </p:nvSpPr>
          <p:spPr>
            <a:xfrm>
              <a:off x="3042866" y="3701361"/>
              <a:ext cx="47625" cy="47625"/>
            </a:xfrm>
            <a:custGeom>
              <a:avLst/>
              <a:gdLst>
                <a:gd name="connsiteX0" fmla="*/ 7355 w 47625"/>
                <a:gd name="connsiteY0" fmla="*/ 7355 h 47625"/>
                <a:gd name="connsiteX1" fmla="*/ 42598 w 47625"/>
                <a:gd name="connsiteY1" fmla="*/ 42598 h 47625"/>
              </a:gdLst>
              <a:ahLst/>
              <a:cxnLst>
                <a:cxn ang="0">
                  <a:pos x="connsiteX0" y="connsiteY0"/>
                </a:cxn>
                <a:cxn ang="0">
                  <a:pos x="connsiteX1" y="connsiteY1"/>
                </a:cxn>
              </a:cxnLst>
              <a:rect l="l" t="t" r="r" b="b"/>
              <a:pathLst>
                <a:path w="47625" h="47625">
                  <a:moveTo>
                    <a:pt x="7355" y="7355"/>
                  </a:moveTo>
                  <a:lnTo>
                    <a:pt x="42598" y="42598"/>
                  </a:lnTo>
                </a:path>
              </a:pathLst>
            </a:custGeom>
            <a:noFill/>
            <a:ln w="9525"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sp>
          <p:nvSpPr>
            <p:cNvPr id="44" name="Freeform: Shape 308">
              <a:extLst>
                <a:ext uri="{FF2B5EF4-FFF2-40B4-BE49-F238E27FC236}">
                  <a16:creationId xmlns:a16="http://schemas.microsoft.com/office/drawing/2014/main" id="{B75DEF8A-A544-451E-42AD-5E1A418322FD}"/>
                </a:ext>
              </a:extLst>
            </p:cNvPr>
            <p:cNvSpPr/>
            <p:nvPr/>
          </p:nvSpPr>
          <p:spPr>
            <a:xfrm>
              <a:off x="2998099" y="3809946"/>
              <a:ext cx="57150" cy="9525"/>
            </a:xfrm>
            <a:custGeom>
              <a:avLst/>
              <a:gdLst>
                <a:gd name="connsiteX0" fmla="*/ 7355 w 57150"/>
                <a:gd name="connsiteY0" fmla="*/ 7355 h 9525"/>
                <a:gd name="connsiteX1" fmla="*/ 56885 w 57150"/>
                <a:gd name="connsiteY1" fmla="*/ 7355 h 9525"/>
              </a:gdLst>
              <a:ahLst/>
              <a:cxnLst>
                <a:cxn ang="0">
                  <a:pos x="connsiteX0" y="connsiteY0"/>
                </a:cxn>
                <a:cxn ang="0">
                  <a:pos x="connsiteX1" y="connsiteY1"/>
                </a:cxn>
              </a:cxnLst>
              <a:rect l="l" t="t" r="r" b="b"/>
              <a:pathLst>
                <a:path w="57150" h="9525">
                  <a:moveTo>
                    <a:pt x="7355" y="7355"/>
                  </a:moveTo>
                  <a:lnTo>
                    <a:pt x="56885" y="7355"/>
                  </a:lnTo>
                </a:path>
              </a:pathLst>
            </a:custGeom>
            <a:noFill/>
            <a:ln w="9525"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sp>
          <p:nvSpPr>
            <p:cNvPr id="45" name="Freeform: Shape 309">
              <a:extLst>
                <a:ext uri="{FF2B5EF4-FFF2-40B4-BE49-F238E27FC236}">
                  <a16:creationId xmlns:a16="http://schemas.microsoft.com/office/drawing/2014/main" id="{921896AD-DAFC-898E-67C8-FF216BFD8C3D}"/>
                </a:ext>
              </a:extLst>
            </p:cNvPr>
            <p:cNvSpPr/>
            <p:nvPr/>
          </p:nvSpPr>
          <p:spPr>
            <a:xfrm>
              <a:off x="3254321" y="3809946"/>
              <a:ext cx="57150" cy="9525"/>
            </a:xfrm>
            <a:custGeom>
              <a:avLst/>
              <a:gdLst>
                <a:gd name="connsiteX0" fmla="*/ 56885 w 57150"/>
                <a:gd name="connsiteY0" fmla="*/ 7355 h 9525"/>
                <a:gd name="connsiteX1" fmla="*/ 7355 w 57150"/>
                <a:gd name="connsiteY1" fmla="*/ 7355 h 9525"/>
              </a:gdLst>
              <a:ahLst/>
              <a:cxnLst>
                <a:cxn ang="0">
                  <a:pos x="connsiteX0" y="connsiteY0"/>
                </a:cxn>
                <a:cxn ang="0">
                  <a:pos x="connsiteX1" y="connsiteY1"/>
                </a:cxn>
              </a:cxnLst>
              <a:rect l="l" t="t" r="r" b="b"/>
              <a:pathLst>
                <a:path w="57150" h="9525">
                  <a:moveTo>
                    <a:pt x="56885" y="7355"/>
                  </a:moveTo>
                  <a:lnTo>
                    <a:pt x="7355" y="7355"/>
                  </a:lnTo>
                </a:path>
              </a:pathLst>
            </a:custGeom>
            <a:noFill/>
            <a:ln w="9525"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sp>
          <p:nvSpPr>
            <p:cNvPr id="46" name="Freeform: Shape 310">
              <a:extLst>
                <a:ext uri="{FF2B5EF4-FFF2-40B4-BE49-F238E27FC236}">
                  <a16:creationId xmlns:a16="http://schemas.microsoft.com/office/drawing/2014/main" id="{78A6A1EF-454E-2FE9-50D2-85C09F02673A}"/>
                </a:ext>
              </a:extLst>
            </p:cNvPr>
            <p:cNvSpPr/>
            <p:nvPr/>
          </p:nvSpPr>
          <p:spPr>
            <a:xfrm>
              <a:off x="3223841" y="3701361"/>
              <a:ext cx="47625" cy="47625"/>
            </a:xfrm>
            <a:custGeom>
              <a:avLst/>
              <a:gdLst>
                <a:gd name="connsiteX0" fmla="*/ 42598 w 47625"/>
                <a:gd name="connsiteY0" fmla="*/ 7355 h 47625"/>
                <a:gd name="connsiteX1" fmla="*/ 7355 w 47625"/>
                <a:gd name="connsiteY1" fmla="*/ 42598 h 47625"/>
              </a:gdLst>
              <a:ahLst/>
              <a:cxnLst>
                <a:cxn ang="0">
                  <a:pos x="connsiteX0" y="connsiteY0"/>
                </a:cxn>
                <a:cxn ang="0">
                  <a:pos x="connsiteX1" y="connsiteY1"/>
                </a:cxn>
              </a:cxnLst>
              <a:rect l="l" t="t" r="r" b="b"/>
              <a:pathLst>
                <a:path w="47625" h="47625">
                  <a:moveTo>
                    <a:pt x="42598" y="7355"/>
                  </a:moveTo>
                  <a:lnTo>
                    <a:pt x="7355" y="42598"/>
                  </a:lnTo>
                </a:path>
              </a:pathLst>
            </a:custGeom>
            <a:noFill/>
            <a:ln w="9525"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grpSp>
      <p:sp>
        <p:nvSpPr>
          <p:cNvPr id="47" name="TextBox 46">
            <a:extLst>
              <a:ext uri="{FF2B5EF4-FFF2-40B4-BE49-F238E27FC236}">
                <a16:creationId xmlns:a16="http://schemas.microsoft.com/office/drawing/2014/main" id="{C623994F-5262-6D08-F6F2-8EA7FB14464B}"/>
              </a:ext>
            </a:extLst>
          </p:cNvPr>
          <p:cNvSpPr txBox="1">
            <a:spLocks/>
          </p:cNvSpPr>
          <p:nvPr/>
        </p:nvSpPr>
        <p:spPr>
          <a:xfrm>
            <a:off x="4170433" y="2799088"/>
            <a:ext cx="3995822" cy="834521"/>
          </a:xfrm>
          <a:prstGeom prst="rect">
            <a:avLst/>
          </a:prstGeom>
          <a:noFill/>
        </p:spPr>
        <p:txBody>
          <a:bodyPr wrap="square" lIns="91440" tIns="45720" rIns="91440" bIns="45720"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Segoe UI"/>
                <a:ea typeface="+mn-ea"/>
                <a:cs typeface="Segoe UI"/>
              </a:rPr>
              <a:t>Simplify discovery of NVMe storage capacity in cluster</a:t>
            </a:r>
          </a:p>
        </p:txBody>
      </p:sp>
      <p:sp>
        <p:nvSpPr>
          <p:cNvPr id="48" name="Freeform: Shape 9">
            <a:extLst>
              <a:ext uri="{FF2B5EF4-FFF2-40B4-BE49-F238E27FC236}">
                <a16:creationId xmlns:a16="http://schemas.microsoft.com/office/drawing/2014/main" id="{C6038E19-D9F0-9F94-0D46-EBB6CF7725C0}"/>
              </a:ext>
            </a:extLst>
          </p:cNvPr>
          <p:cNvSpPr/>
          <p:nvPr/>
        </p:nvSpPr>
        <p:spPr bwMode="auto">
          <a:xfrm>
            <a:off x="4528846" y="3923894"/>
            <a:ext cx="3296374" cy="2201084"/>
          </a:xfrm>
          <a:prstGeom prst="roundRect">
            <a:avLst>
              <a:gd name="adj" fmla="val 2908"/>
            </a:avLst>
          </a:prstGeom>
          <a:solidFill>
            <a:schemeClr val="accent1">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243A5E"/>
                </a:solidFill>
                <a:effectLst/>
                <a:uLnTx/>
                <a:uFillTx/>
                <a:latin typeface="Segoe UI Semibold"/>
                <a:ea typeface="+mn-ea"/>
                <a:cs typeface="+mn-cs"/>
              </a:rPr>
              <a:t>Storage Pool</a:t>
            </a:r>
          </a:p>
        </p:txBody>
      </p:sp>
      <p:sp>
        <p:nvSpPr>
          <p:cNvPr id="49" name="Freeform: Shape 9">
            <a:extLst>
              <a:ext uri="{FF2B5EF4-FFF2-40B4-BE49-F238E27FC236}">
                <a16:creationId xmlns:a16="http://schemas.microsoft.com/office/drawing/2014/main" id="{5AAF2DA2-4C6E-45EA-D98A-3EB65EBC0859}"/>
              </a:ext>
            </a:extLst>
          </p:cNvPr>
          <p:cNvSpPr/>
          <p:nvPr/>
        </p:nvSpPr>
        <p:spPr bwMode="auto">
          <a:xfrm>
            <a:off x="4642847" y="5088104"/>
            <a:ext cx="2844672" cy="665505"/>
          </a:xfrm>
          <a:prstGeom prst="roundRect">
            <a:avLst>
              <a:gd name="adj" fmla="val 8389"/>
            </a:avLst>
          </a:prstGeom>
          <a:solidFill>
            <a:schemeClr val="accent1">
              <a:lumMod val="75000"/>
            </a:schemeClr>
          </a:solidFill>
          <a:ln>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bold"/>
              <a:ea typeface="+mn-ea"/>
              <a:cs typeface="+mn-cs"/>
            </a:endParaRPr>
          </a:p>
        </p:txBody>
      </p:sp>
      <p:sp>
        <p:nvSpPr>
          <p:cNvPr id="50" name="Freeform: Shape 9">
            <a:extLst>
              <a:ext uri="{FF2B5EF4-FFF2-40B4-BE49-F238E27FC236}">
                <a16:creationId xmlns:a16="http://schemas.microsoft.com/office/drawing/2014/main" id="{4D1B76AC-FB2E-150D-B143-A7A50E4C5591}"/>
              </a:ext>
            </a:extLst>
          </p:cNvPr>
          <p:cNvSpPr/>
          <p:nvPr/>
        </p:nvSpPr>
        <p:spPr bwMode="auto">
          <a:xfrm>
            <a:off x="4754697" y="5209329"/>
            <a:ext cx="2844672" cy="665505"/>
          </a:xfrm>
          <a:prstGeom prst="roundRect">
            <a:avLst>
              <a:gd name="adj" fmla="val 8389"/>
            </a:avLst>
          </a:prstGeom>
          <a:solidFill>
            <a:schemeClr val="accent1">
              <a:lumMod val="75000"/>
            </a:schemeClr>
          </a:solidFill>
          <a:ln>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bold"/>
              <a:ea typeface="+mn-ea"/>
              <a:cs typeface="+mn-cs"/>
            </a:endParaRPr>
          </a:p>
        </p:txBody>
      </p:sp>
      <p:sp>
        <p:nvSpPr>
          <p:cNvPr id="51" name="Freeform: Shape 9">
            <a:extLst>
              <a:ext uri="{FF2B5EF4-FFF2-40B4-BE49-F238E27FC236}">
                <a16:creationId xmlns:a16="http://schemas.microsoft.com/office/drawing/2014/main" id="{A955D0B3-799C-3FD9-26F2-63D82D7DA9C3}"/>
              </a:ext>
            </a:extLst>
          </p:cNvPr>
          <p:cNvSpPr/>
          <p:nvPr/>
        </p:nvSpPr>
        <p:spPr bwMode="auto">
          <a:xfrm>
            <a:off x="4866546" y="5330554"/>
            <a:ext cx="2844672" cy="665505"/>
          </a:xfrm>
          <a:prstGeom prst="roundRect">
            <a:avLst>
              <a:gd name="adj" fmla="val 8389"/>
            </a:avLst>
          </a:prstGeom>
          <a:solidFill>
            <a:schemeClr val="accent1">
              <a:lumMod val="75000"/>
            </a:schemeClr>
          </a:solidFill>
          <a:ln>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40080" tIns="146304" rIns="182880" bIns="146304"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IN" sz="1800" b="0" i="0" u="none" strike="noStrike" kern="1200" cap="none" spc="0" normalizeH="0" baseline="0" noProof="0" err="1">
                <a:ln>
                  <a:noFill/>
                </a:ln>
                <a:solidFill>
                  <a:srgbClr val="FFFFFF"/>
                </a:solidFill>
                <a:effectLst/>
                <a:uLnTx/>
                <a:uFillTx/>
                <a:latin typeface="Segoe UI Semibold"/>
                <a:ea typeface="+mn-ea"/>
                <a:cs typeface="+mn-cs"/>
              </a:rPr>
              <a:t>NVMe</a:t>
            </a:r>
            <a:r>
              <a:rPr kumimoji="0" lang="en-IN" sz="1800" b="0" i="0" u="none" strike="noStrike" kern="1200" cap="none" spc="0" normalizeH="0" baseline="0" noProof="0">
                <a:ln>
                  <a:noFill/>
                </a:ln>
                <a:solidFill>
                  <a:srgbClr val="FFFFFF"/>
                </a:solidFill>
                <a:effectLst/>
                <a:uLnTx/>
                <a:uFillTx/>
                <a:latin typeface="Segoe UI Semibold"/>
                <a:ea typeface="+mn-ea"/>
                <a:cs typeface="+mn-cs"/>
              </a:rPr>
              <a:t> device</a:t>
            </a:r>
            <a:endParaRPr kumimoji="0" lang="en-US" sz="1800" b="0" i="0" u="none" strike="noStrike" kern="1200" cap="none" spc="0" normalizeH="0" baseline="0" noProof="0">
              <a:ln>
                <a:noFill/>
              </a:ln>
              <a:solidFill>
                <a:srgbClr val="FFFFFF"/>
              </a:solidFill>
              <a:effectLst/>
              <a:uLnTx/>
              <a:uFillTx/>
              <a:latin typeface="Segoe UI Semibold"/>
              <a:ea typeface="+mn-ea"/>
              <a:cs typeface="+mn-cs"/>
            </a:endParaRPr>
          </a:p>
        </p:txBody>
      </p:sp>
      <p:sp>
        <p:nvSpPr>
          <p:cNvPr id="52" name="Graphic 72">
            <a:extLst>
              <a:ext uri="{FF2B5EF4-FFF2-40B4-BE49-F238E27FC236}">
                <a16:creationId xmlns:a16="http://schemas.microsoft.com/office/drawing/2014/main" id="{65B4C69F-2C20-95BF-9950-89CAD956A261}"/>
              </a:ext>
            </a:extLst>
          </p:cNvPr>
          <p:cNvSpPr/>
          <p:nvPr/>
        </p:nvSpPr>
        <p:spPr>
          <a:xfrm>
            <a:off x="5005119" y="5448848"/>
            <a:ext cx="345898" cy="425986"/>
          </a:xfrm>
          <a:custGeom>
            <a:avLst/>
            <a:gdLst>
              <a:gd name="connsiteX0" fmla="*/ 387001 w 773906"/>
              <a:gd name="connsiteY0" fmla="*/ 253079 h 953095"/>
              <a:gd name="connsiteX1" fmla="*/ 0 w 773906"/>
              <a:gd name="connsiteY1" fmla="*/ 126587 h 953095"/>
              <a:gd name="connsiteX2" fmla="*/ 387001 w 773906"/>
              <a:gd name="connsiteY2" fmla="*/ 0 h 953095"/>
              <a:gd name="connsiteX3" fmla="*/ 773906 w 773906"/>
              <a:gd name="connsiteY3" fmla="*/ 126587 h 953095"/>
              <a:gd name="connsiteX4" fmla="*/ 387001 w 773906"/>
              <a:gd name="connsiteY4" fmla="*/ 253079 h 953095"/>
              <a:gd name="connsiteX5" fmla="*/ 0 w 773906"/>
              <a:gd name="connsiteY5" fmla="*/ 227171 h 953095"/>
              <a:gd name="connsiteX6" fmla="*/ 0 w 773906"/>
              <a:gd name="connsiteY6" fmla="*/ 401860 h 953095"/>
              <a:gd name="connsiteX7" fmla="*/ 387001 w 773906"/>
              <a:gd name="connsiteY7" fmla="*/ 491204 h 953095"/>
              <a:gd name="connsiteX8" fmla="*/ 773906 w 773906"/>
              <a:gd name="connsiteY8" fmla="*/ 401860 h 953095"/>
              <a:gd name="connsiteX9" fmla="*/ 773906 w 773906"/>
              <a:gd name="connsiteY9" fmla="*/ 227171 h 953095"/>
              <a:gd name="connsiteX10" fmla="*/ 0 w 773906"/>
              <a:gd name="connsiteY10" fmla="*/ 481394 h 953095"/>
              <a:gd name="connsiteX11" fmla="*/ 0 w 773906"/>
              <a:gd name="connsiteY11" fmla="*/ 639985 h 953095"/>
              <a:gd name="connsiteX12" fmla="*/ 387001 w 773906"/>
              <a:gd name="connsiteY12" fmla="*/ 729329 h 953095"/>
              <a:gd name="connsiteX13" fmla="*/ 773906 w 773906"/>
              <a:gd name="connsiteY13" fmla="*/ 639985 h 953095"/>
              <a:gd name="connsiteX14" fmla="*/ 773906 w 773906"/>
              <a:gd name="connsiteY14" fmla="*/ 481394 h 953095"/>
              <a:gd name="connsiteX15" fmla="*/ 0 w 773906"/>
              <a:gd name="connsiteY15" fmla="*/ 719519 h 953095"/>
              <a:gd name="connsiteX16" fmla="*/ 0 w 773906"/>
              <a:gd name="connsiteY16" fmla="*/ 830294 h 953095"/>
              <a:gd name="connsiteX17" fmla="*/ 773906 w 773906"/>
              <a:gd name="connsiteY17" fmla="*/ 830294 h 953095"/>
              <a:gd name="connsiteX18" fmla="*/ 773906 w 773906"/>
              <a:gd name="connsiteY18" fmla="*/ 719519 h 953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73906" h="953095">
                <a:moveTo>
                  <a:pt x="387001" y="253079"/>
                </a:moveTo>
                <a:cubicBezTo>
                  <a:pt x="173260" y="253079"/>
                  <a:pt x="0" y="196405"/>
                  <a:pt x="0" y="126587"/>
                </a:cubicBezTo>
                <a:cubicBezTo>
                  <a:pt x="0" y="56769"/>
                  <a:pt x="173260" y="0"/>
                  <a:pt x="387001" y="0"/>
                </a:cubicBezTo>
                <a:cubicBezTo>
                  <a:pt x="600742" y="0"/>
                  <a:pt x="773906" y="56769"/>
                  <a:pt x="773906" y="126587"/>
                </a:cubicBezTo>
                <a:cubicBezTo>
                  <a:pt x="773906" y="196405"/>
                  <a:pt x="600742" y="253079"/>
                  <a:pt x="387001" y="253079"/>
                </a:cubicBezTo>
                <a:close/>
                <a:moveTo>
                  <a:pt x="0" y="227171"/>
                </a:moveTo>
                <a:lnTo>
                  <a:pt x="0" y="401860"/>
                </a:lnTo>
                <a:cubicBezTo>
                  <a:pt x="0" y="428530"/>
                  <a:pt x="131731" y="491204"/>
                  <a:pt x="387001" y="491204"/>
                </a:cubicBezTo>
                <a:cubicBezTo>
                  <a:pt x="642271" y="491204"/>
                  <a:pt x="773906" y="428530"/>
                  <a:pt x="773906" y="401860"/>
                </a:cubicBezTo>
                <a:lnTo>
                  <a:pt x="773906" y="227171"/>
                </a:lnTo>
                <a:moveTo>
                  <a:pt x="0" y="481394"/>
                </a:moveTo>
                <a:lnTo>
                  <a:pt x="0" y="639985"/>
                </a:lnTo>
                <a:cubicBezTo>
                  <a:pt x="0" y="666655"/>
                  <a:pt x="131731" y="729329"/>
                  <a:pt x="387001" y="729329"/>
                </a:cubicBezTo>
                <a:cubicBezTo>
                  <a:pt x="642271" y="729329"/>
                  <a:pt x="773906" y="666655"/>
                  <a:pt x="773906" y="639985"/>
                </a:cubicBezTo>
                <a:lnTo>
                  <a:pt x="773906" y="481394"/>
                </a:lnTo>
                <a:moveTo>
                  <a:pt x="0" y="719519"/>
                </a:moveTo>
                <a:lnTo>
                  <a:pt x="0" y="830294"/>
                </a:lnTo>
                <a:cubicBezTo>
                  <a:pt x="0" y="994029"/>
                  <a:pt x="773906" y="994029"/>
                  <a:pt x="773906" y="830294"/>
                </a:cubicBezTo>
                <a:lnTo>
                  <a:pt x="773906" y="719519"/>
                </a:lnTo>
              </a:path>
            </a:pathLst>
          </a:custGeom>
          <a:solidFill>
            <a:schemeClr val="accent1">
              <a:lumMod val="20000"/>
              <a:lumOff val="80000"/>
            </a:schemeClr>
          </a:solidFill>
          <a:ln w="15875" cap="flat">
            <a:solidFill>
              <a:schemeClr val="bg1"/>
            </a:solidFill>
            <a:prstDash val="solid"/>
            <a:miter lim="800000"/>
            <a:headEnd/>
            <a:tailE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53" name="Freeform: Shape 9">
            <a:extLst>
              <a:ext uri="{FF2B5EF4-FFF2-40B4-BE49-F238E27FC236}">
                <a16:creationId xmlns:a16="http://schemas.microsoft.com/office/drawing/2014/main" id="{335B0E85-A9EB-F54B-F7C6-81366ED1873C}"/>
              </a:ext>
            </a:extLst>
          </p:cNvPr>
          <p:cNvSpPr/>
          <p:nvPr/>
        </p:nvSpPr>
        <p:spPr bwMode="auto">
          <a:xfrm>
            <a:off x="4719047" y="4516038"/>
            <a:ext cx="2915972" cy="30768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chemeClr val="accent1">
                    <a:lumMod val="75000"/>
                  </a:schemeClr>
                </a:solidFill>
                <a:effectLst/>
                <a:uLnTx/>
                <a:uFillTx/>
                <a:latin typeface="Segoe UI Semibold"/>
                <a:ea typeface="+mn-ea"/>
                <a:cs typeface="+mn-cs"/>
              </a:rPr>
              <a:t>discover and add</a:t>
            </a:r>
            <a:endParaRPr kumimoji="0" lang="en-US" sz="1800" b="0" i="0" u="none" strike="noStrike" kern="1200" cap="none" spc="0" normalizeH="0" baseline="0" noProof="0">
              <a:ln>
                <a:noFill/>
              </a:ln>
              <a:solidFill>
                <a:schemeClr val="accent1">
                  <a:lumMod val="75000"/>
                </a:schemeClr>
              </a:solidFill>
              <a:effectLst/>
              <a:uLnTx/>
              <a:uFillTx/>
              <a:latin typeface="Segoe UI Semibold"/>
              <a:ea typeface="+mn-ea"/>
              <a:cs typeface="Segoe UI Semibold"/>
            </a:endParaRPr>
          </a:p>
        </p:txBody>
      </p:sp>
      <p:sp>
        <p:nvSpPr>
          <p:cNvPr id="54" name="Freeform: Shape 9">
            <a:extLst>
              <a:ext uri="{FF2B5EF4-FFF2-40B4-BE49-F238E27FC236}">
                <a16:creationId xmlns:a16="http://schemas.microsoft.com/office/drawing/2014/main" id="{F69ED278-E256-6FEE-B804-D6F366197162}"/>
              </a:ext>
            </a:extLst>
          </p:cNvPr>
          <p:cNvSpPr/>
          <p:nvPr/>
        </p:nvSpPr>
        <p:spPr bwMode="auto">
          <a:xfrm>
            <a:off x="4591121" y="5041493"/>
            <a:ext cx="3171825" cy="1019175"/>
          </a:xfrm>
          <a:prstGeom prst="roundRect">
            <a:avLst>
              <a:gd name="adj" fmla="val 8389"/>
            </a:avLst>
          </a:prstGeom>
          <a:noFill/>
          <a:ln>
            <a:solidFill>
              <a:schemeClr val="accent5">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640080" tIns="146304" rIns="182880" bIns="146304"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Semibold"/>
              <a:ea typeface="+mn-ea"/>
              <a:cs typeface="+mn-cs"/>
            </a:endParaRPr>
          </a:p>
        </p:txBody>
      </p:sp>
      <p:cxnSp>
        <p:nvCxnSpPr>
          <p:cNvPr id="55" name="Straight Arrow Connector 54">
            <a:extLst>
              <a:ext uri="{FF2B5EF4-FFF2-40B4-BE49-F238E27FC236}">
                <a16:creationId xmlns:a16="http://schemas.microsoft.com/office/drawing/2014/main" id="{295E1779-EFF4-6CA8-E955-C2BE2B28EA3D}"/>
              </a:ext>
            </a:extLst>
          </p:cNvPr>
          <p:cNvCxnSpPr>
            <a:cxnSpLocks/>
            <a:stCxn id="53" idx="2"/>
          </p:cNvCxnSpPr>
          <p:nvPr/>
        </p:nvCxnSpPr>
        <p:spPr>
          <a:xfrm>
            <a:off x="6177033" y="4823723"/>
            <a:ext cx="0" cy="343976"/>
          </a:xfrm>
          <a:prstGeom prst="straightConnector1">
            <a:avLst/>
          </a:prstGeom>
          <a:ln>
            <a:solidFill>
              <a:schemeClr val="accent5">
                <a:lumMod val="75000"/>
              </a:schemeClr>
            </a:solidFill>
            <a:headEnd type="non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3032F76A-EFCA-2EC2-5F59-DAB91464F2FF}"/>
              </a:ext>
            </a:extLst>
          </p:cNvPr>
          <p:cNvCxnSpPr>
            <a:cxnSpLocks/>
            <a:stCxn id="53" idx="2"/>
          </p:cNvCxnSpPr>
          <p:nvPr/>
        </p:nvCxnSpPr>
        <p:spPr>
          <a:xfrm>
            <a:off x="6177033" y="4823723"/>
            <a:ext cx="460242" cy="474945"/>
          </a:xfrm>
          <a:prstGeom prst="straightConnector1">
            <a:avLst/>
          </a:prstGeom>
          <a:ln>
            <a:solidFill>
              <a:schemeClr val="accent5">
                <a:lumMod val="75000"/>
              </a:schemeClr>
            </a:solidFill>
            <a:headEnd type="non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461F5D13-A6A1-D3B5-0E3D-9230821F219A}"/>
              </a:ext>
            </a:extLst>
          </p:cNvPr>
          <p:cNvCxnSpPr>
            <a:cxnSpLocks/>
            <a:stCxn id="53" idx="2"/>
          </p:cNvCxnSpPr>
          <p:nvPr/>
        </p:nvCxnSpPr>
        <p:spPr>
          <a:xfrm>
            <a:off x="6177033" y="4823723"/>
            <a:ext cx="1205573" cy="632108"/>
          </a:xfrm>
          <a:prstGeom prst="straightConnector1">
            <a:avLst/>
          </a:prstGeom>
          <a:ln>
            <a:solidFill>
              <a:schemeClr val="accent5">
                <a:lumMod val="75000"/>
              </a:schemeClr>
            </a:solidFill>
            <a:headEnd type="none" w="lg" len="med"/>
            <a:tailEnd type="triangle" w="lg" len="med"/>
          </a:ln>
        </p:spPr>
        <p:style>
          <a:lnRef idx="1">
            <a:schemeClr val="accent1"/>
          </a:lnRef>
          <a:fillRef idx="0">
            <a:schemeClr val="accent1"/>
          </a:fillRef>
          <a:effectRef idx="0">
            <a:schemeClr val="accent1"/>
          </a:effectRef>
          <a:fontRef idx="minor">
            <a:schemeClr val="tx1"/>
          </a:fontRef>
        </p:style>
      </p:cxnSp>
      <p:sp>
        <p:nvSpPr>
          <p:cNvPr id="58" name="Rectangle 57">
            <a:extLst>
              <a:ext uri="{FF2B5EF4-FFF2-40B4-BE49-F238E27FC236}">
                <a16:creationId xmlns:a16="http://schemas.microsoft.com/office/drawing/2014/main" id="{C0BEA203-5791-D941-35B0-051AFFFD786F}"/>
              </a:ext>
            </a:extLst>
          </p:cNvPr>
          <p:cNvSpPr/>
          <p:nvPr/>
        </p:nvSpPr>
        <p:spPr>
          <a:xfrm>
            <a:off x="9535901" y="4021792"/>
            <a:ext cx="1056878" cy="469339"/>
          </a:xfrm>
          <a:prstGeom prst="rect">
            <a:avLst/>
          </a:prstGeom>
          <a:solidFill>
            <a:schemeClr val="accent1"/>
          </a:solidFill>
          <a:ln w="10795" cap="flat" cmpd="sng" algn="ctr">
            <a:noFill/>
            <a:prstDash val="solid"/>
          </a:ln>
          <a:effectLst/>
        </p:spPr>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Segoe UI Semibold"/>
                <a:ea typeface="+mn-ea"/>
                <a:cs typeface="+mn-cs"/>
              </a:rPr>
              <a:t>Pod</a:t>
            </a:r>
          </a:p>
        </p:txBody>
      </p:sp>
      <p:sp>
        <p:nvSpPr>
          <p:cNvPr id="59" name="Rectangle 58">
            <a:extLst>
              <a:ext uri="{FF2B5EF4-FFF2-40B4-BE49-F238E27FC236}">
                <a16:creationId xmlns:a16="http://schemas.microsoft.com/office/drawing/2014/main" id="{4EA4B677-4FC2-5326-C928-6CBBBF9DCD73}"/>
              </a:ext>
            </a:extLst>
          </p:cNvPr>
          <p:cNvSpPr/>
          <p:nvPr/>
        </p:nvSpPr>
        <p:spPr>
          <a:xfrm>
            <a:off x="9535900" y="4745767"/>
            <a:ext cx="1060704" cy="466344"/>
          </a:xfrm>
          <a:prstGeom prst="rect">
            <a:avLst/>
          </a:prstGeom>
          <a:solidFill>
            <a:srgbClr val="243A5E">
              <a:lumMod val="20000"/>
              <a:lumOff val="80000"/>
            </a:srgbClr>
          </a:solidFill>
          <a:ln w="10795" cap="flat" cmpd="sng" algn="ctr">
            <a:noFill/>
            <a:prstDash val="solid"/>
          </a:ln>
          <a:effectLst/>
        </p:spPr>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Segoe UI Semibold"/>
                <a:ea typeface="+mn-ea"/>
                <a:cs typeface="+mn-cs"/>
              </a:rPr>
              <a:t>PV</a:t>
            </a:r>
          </a:p>
        </p:txBody>
      </p:sp>
      <p:sp>
        <p:nvSpPr>
          <p:cNvPr id="60" name="TextBox 59">
            <a:extLst>
              <a:ext uri="{FF2B5EF4-FFF2-40B4-BE49-F238E27FC236}">
                <a16:creationId xmlns:a16="http://schemas.microsoft.com/office/drawing/2014/main" id="{EDDBCFC2-9542-AB68-3BC0-C39CF4209529}"/>
              </a:ext>
            </a:extLst>
          </p:cNvPr>
          <p:cNvSpPr txBox="1"/>
          <p:nvPr/>
        </p:nvSpPr>
        <p:spPr>
          <a:xfrm>
            <a:off x="10413404" y="5226441"/>
            <a:ext cx="1143661"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a:solidFill>
                  <a:srgbClr val="000000"/>
                </a:solidFill>
                <a:latin typeface="Segoe UI"/>
              </a:rPr>
              <a:t>NVMeoF</a:t>
            </a:r>
            <a:endParaRPr kumimoji="0" lang="en-US" sz="1600" b="0" i="0" u="none" strike="noStrike" kern="1200" cap="none" spc="0" normalizeH="0" baseline="0" noProof="0">
              <a:ln>
                <a:noFill/>
              </a:ln>
              <a:solidFill>
                <a:srgbClr val="000000"/>
              </a:solidFill>
              <a:effectLst/>
              <a:uLnTx/>
              <a:uFillTx/>
              <a:latin typeface="Segoe UI"/>
              <a:ea typeface="+mn-ea"/>
              <a:cs typeface="+mn-cs"/>
            </a:endParaRPr>
          </a:p>
        </p:txBody>
      </p:sp>
      <p:pic>
        <p:nvPicPr>
          <p:cNvPr id="61" name="Graphic 60">
            <a:extLst>
              <a:ext uri="{FF2B5EF4-FFF2-40B4-BE49-F238E27FC236}">
                <a16:creationId xmlns:a16="http://schemas.microsoft.com/office/drawing/2014/main" id="{443415A8-601E-7DCA-DA57-F566446FC3D1}"/>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197954" y="3767156"/>
            <a:ext cx="552933" cy="552933"/>
          </a:xfrm>
          <a:prstGeom prst="rect">
            <a:avLst/>
          </a:prstGeom>
        </p:spPr>
      </p:pic>
      <p:sp>
        <p:nvSpPr>
          <p:cNvPr id="62" name="Rectangle 61">
            <a:extLst>
              <a:ext uri="{FF2B5EF4-FFF2-40B4-BE49-F238E27FC236}">
                <a16:creationId xmlns:a16="http://schemas.microsoft.com/office/drawing/2014/main" id="{51630DF0-83BB-B129-F87E-F75F99140B4C}"/>
              </a:ext>
            </a:extLst>
          </p:cNvPr>
          <p:cNvSpPr/>
          <p:nvPr/>
        </p:nvSpPr>
        <p:spPr>
          <a:xfrm>
            <a:off x="9535627" y="5457289"/>
            <a:ext cx="1060704" cy="466344"/>
          </a:xfrm>
          <a:prstGeom prst="rect">
            <a:avLst/>
          </a:prstGeom>
          <a:solidFill>
            <a:srgbClr val="243A5E">
              <a:lumMod val="50000"/>
            </a:srgbClr>
          </a:solidFill>
          <a:ln w="10795" cap="flat" cmpd="sng" algn="ctr">
            <a:noFill/>
            <a:prstDash val="solid"/>
          </a:ln>
          <a:effectLst/>
        </p:spPr>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prstClr val="white"/>
                </a:solidFill>
                <a:effectLst/>
                <a:uLnTx/>
                <a:uFillTx/>
                <a:latin typeface="Segoe UI Semibold"/>
                <a:ea typeface="+mn-ea"/>
                <a:cs typeface="+mn-cs"/>
              </a:rPr>
              <a:t>Volume</a:t>
            </a:r>
          </a:p>
        </p:txBody>
      </p:sp>
      <p:cxnSp>
        <p:nvCxnSpPr>
          <p:cNvPr id="63" name="Straight Arrow Connector 62">
            <a:extLst>
              <a:ext uri="{FF2B5EF4-FFF2-40B4-BE49-F238E27FC236}">
                <a16:creationId xmlns:a16="http://schemas.microsoft.com/office/drawing/2014/main" id="{B457FD34-6A6C-DABB-3396-FCEE81EA91BC}"/>
              </a:ext>
            </a:extLst>
          </p:cNvPr>
          <p:cNvCxnSpPr>
            <a:cxnSpLocks/>
            <a:stCxn id="58" idx="2"/>
            <a:endCxn id="59" idx="0"/>
          </p:cNvCxnSpPr>
          <p:nvPr/>
        </p:nvCxnSpPr>
        <p:spPr>
          <a:xfrm>
            <a:off x="10064340" y="4491131"/>
            <a:ext cx="1912" cy="254636"/>
          </a:xfrm>
          <a:prstGeom prst="straightConnector1">
            <a:avLst/>
          </a:prstGeom>
          <a:ln>
            <a:headEnd type="none" w="lg" len="med"/>
            <a:tailEnd type="triangle" w="lg" len="med"/>
          </a:ln>
        </p:spPr>
        <p:style>
          <a:lnRef idx="1">
            <a:schemeClr val="dk1"/>
          </a:lnRef>
          <a:fillRef idx="0">
            <a:schemeClr val="dk1"/>
          </a:fillRef>
          <a:effectRef idx="0">
            <a:schemeClr val="dk1"/>
          </a:effectRef>
          <a:fontRef idx="minor">
            <a:schemeClr val="tx1"/>
          </a:fontRef>
        </p:style>
      </p:cxnSp>
      <p:cxnSp>
        <p:nvCxnSpPr>
          <p:cNvPr id="64" name="Straight Arrow Connector 63">
            <a:extLst>
              <a:ext uri="{FF2B5EF4-FFF2-40B4-BE49-F238E27FC236}">
                <a16:creationId xmlns:a16="http://schemas.microsoft.com/office/drawing/2014/main" id="{640B2383-1956-2181-34C4-15DF8E48B76C}"/>
              </a:ext>
            </a:extLst>
          </p:cNvPr>
          <p:cNvCxnSpPr>
            <a:cxnSpLocks/>
            <a:stCxn id="59" idx="2"/>
            <a:endCxn id="62" idx="0"/>
          </p:cNvCxnSpPr>
          <p:nvPr/>
        </p:nvCxnSpPr>
        <p:spPr>
          <a:xfrm flipH="1">
            <a:off x="10065979" y="5212111"/>
            <a:ext cx="273" cy="245178"/>
          </a:xfrm>
          <a:prstGeom prst="straightConnector1">
            <a:avLst/>
          </a:prstGeom>
          <a:ln>
            <a:headEnd type="none" w="lg" len="med"/>
            <a:tailEnd type="triangle" w="lg" len="med"/>
          </a:ln>
        </p:spPr>
        <p:style>
          <a:lnRef idx="1">
            <a:schemeClr val="dk1"/>
          </a:lnRef>
          <a:fillRef idx="0">
            <a:schemeClr val="dk1"/>
          </a:fillRef>
          <a:effectRef idx="0">
            <a:schemeClr val="dk1"/>
          </a:effectRef>
          <a:fontRef idx="minor">
            <a:schemeClr val="tx1"/>
          </a:fontRef>
        </p:style>
      </p:cxnSp>
      <p:grpSp>
        <p:nvGrpSpPr>
          <p:cNvPr id="65" name="Group 64" descr="Icon of four monitor Virtual Machines stacked with each other along with an arrow pointing upwards">
            <a:extLst>
              <a:ext uri="{FF2B5EF4-FFF2-40B4-BE49-F238E27FC236}">
                <a16:creationId xmlns:a16="http://schemas.microsoft.com/office/drawing/2014/main" id="{FDA469C1-2D29-B9D3-4300-EC1DD8E547E6}"/>
              </a:ext>
            </a:extLst>
          </p:cNvPr>
          <p:cNvGrpSpPr/>
          <p:nvPr/>
        </p:nvGrpSpPr>
        <p:grpSpPr>
          <a:xfrm>
            <a:off x="1658579" y="3784455"/>
            <a:ext cx="1277217" cy="1223919"/>
            <a:chOff x="7189858" y="1841098"/>
            <a:chExt cx="4831057" cy="4132661"/>
          </a:xfrm>
        </p:grpSpPr>
        <p:sp>
          <p:nvSpPr>
            <p:cNvPr id="66" name="Arrow: Right 65">
              <a:extLst>
                <a:ext uri="{FF2B5EF4-FFF2-40B4-BE49-F238E27FC236}">
                  <a16:creationId xmlns:a16="http://schemas.microsoft.com/office/drawing/2014/main" id="{18E3B8BB-8983-9144-FBDF-A38A439442FD}"/>
                </a:ext>
                <a:ext uri="{C183D7F6-B498-43B3-948B-1728B52AA6E4}">
                  <adec:decorative xmlns:adec="http://schemas.microsoft.com/office/drawing/2017/decorative" val="1"/>
                </a:ext>
              </a:extLst>
            </p:cNvPr>
            <p:cNvSpPr/>
            <p:nvPr/>
          </p:nvSpPr>
          <p:spPr>
            <a:xfrm>
              <a:off x="7189858" y="3951279"/>
              <a:ext cx="1067693" cy="231667"/>
            </a:xfrm>
            <a:prstGeom prst="rightArrow">
              <a:avLst>
                <a:gd name="adj1" fmla="val 100000"/>
                <a:gd name="adj2" fmla="val 0"/>
              </a:avLst>
            </a:pr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842" tIns="43921" rIns="87842" bIns="43921" numCol="1" anchor="t" anchorCtr="0" compatLnSpc="1">
              <a:prstTxWarp prst="textNoShape">
                <a:avLst/>
              </a:prstTxWarp>
            </a:bodyPr>
            <a:lstStyle/>
            <a:p>
              <a:pPr marL="0" marR="0" lvl="0" indent="0" algn="ctr" defTabSz="878221" rtl="0" eaLnBrk="1" fontAlgn="base" latinLnBrk="0" hangingPunct="1">
                <a:lnSpc>
                  <a:spcPct val="100000"/>
                </a:lnSpc>
                <a:spcBef>
                  <a:spcPts val="0"/>
                </a:spcBef>
                <a:spcAft>
                  <a:spcPts val="0"/>
                </a:spcAft>
                <a:buClrTx/>
                <a:buSzTx/>
                <a:buFontTx/>
                <a:buNone/>
                <a:tabLst/>
                <a:defRPr/>
              </a:pPr>
              <a:endParaRPr kumimoji="0" lang="en-US" sz="1567" b="0" i="0" u="none" strike="noStrike" kern="1200" cap="none" spc="0" normalizeH="0" baseline="0" noProof="0">
                <a:ln>
                  <a:noFill/>
                </a:ln>
                <a:solidFill>
                  <a:srgbClr val="505050"/>
                </a:solidFill>
                <a:effectLst/>
                <a:uLnTx/>
                <a:uFillTx/>
                <a:latin typeface="Segoe UI"/>
                <a:ea typeface="+mn-ea"/>
                <a:cs typeface="+mn-cs"/>
              </a:endParaRPr>
            </a:p>
          </p:txBody>
        </p:sp>
        <p:sp>
          <p:nvSpPr>
            <p:cNvPr id="67" name="Arrow: Right 66">
              <a:extLst>
                <a:ext uri="{FF2B5EF4-FFF2-40B4-BE49-F238E27FC236}">
                  <a16:creationId xmlns:a16="http://schemas.microsoft.com/office/drawing/2014/main" id="{2FFC65B5-22D4-339E-0930-556CC638D048}"/>
                </a:ext>
                <a:ext uri="{C183D7F6-B498-43B3-948B-1728B52AA6E4}">
                  <adec:decorative xmlns:adec="http://schemas.microsoft.com/office/drawing/2017/decorative" val="1"/>
                </a:ext>
              </a:extLst>
            </p:cNvPr>
            <p:cNvSpPr/>
            <p:nvPr/>
          </p:nvSpPr>
          <p:spPr>
            <a:xfrm rot="5400000">
              <a:off x="7763369" y="3688765"/>
              <a:ext cx="756696" cy="231667"/>
            </a:xfrm>
            <a:prstGeom prst="rightArrow">
              <a:avLst>
                <a:gd name="adj1" fmla="val 100000"/>
                <a:gd name="adj2" fmla="val 0"/>
              </a:avLst>
            </a:pr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842" tIns="43921" rIns="87842" bIns="43921" numCol="1" anchor="t" anchorCtr="0" compatLnSpc="1">
              <a:prstTxWarp prst="textNoShape">
                <a:avLst/>
              </a:prstTxWarp>
            </a:bodyPr>
            <a:lstStyle/>
            <a:p>
              <a:pPr marL="0" marR="0" lvl="0" indent="0" algn="ctr" defTabSz="878221" rtl="0" eaLnBrk="1" fontAlgn="base" latinLnBrk="0" hangingPunct="1">
                <a:lnSpc>
                  <a:spcPct val="100000"/>
                </a:lnSpc>
                <a:spcBef>
                  <a:spcPts val="0"/>
                </a:spcBef>
                <a:spcAft>
                  <a:spcPts val="0"/>
                </a:spcAft>
                <a:buClrTx/>
                <a:buSzTx/>
                <a:buFontTx/>
                <a:buNone/>
                <a:tabLst/>
                <a:defRPr/>
              </a:pPr>
              <a:endParaRPr kumimoji="0" lang="en-US" sz="1567" b="0" i="0" u="none" strike="noStrike" kern="1200" cap="none" spc="0" normalizeH="0" baseline="0" noProof="0">
                <a:ln>
                  <a:noFill/>
                </a:ln>
                <a:solidFill>
                  <a:srgbClr val="505050"/>
                </a:solidFill>
                <a:effectLst/>
                <a:uLnTx/>
                <a:uFillTx/>
                <a:latin typeface="Segoe UI"/>
                <a:ea typeface="+mn-ea"/>
                <a:cs typeface="+mn-cs"/>
              </a:endParaRPr>
            </a:p>
          </p:txBody>
        </p:sp>
        <p:sp>
          <p:nvSpPr>
            <p:cNvPr id="68" name="Arrow: Right 67">
              <a:extLst>
                <a:ext uri="{FF2B5EF4-FFF2-40B4-BE49-F238E27FC236}">
                  <a16:creationId xmlns:a16="http://schemas.microsoft.com/office/drawing/2014/main" id="{936BD1C5-23C4-391E-EC19-A385EDCD19FD}"/>
                </a:ext>
                <a:ext uri="{C183D7F6-B498-43B3-948B-1728B52AA6E4}">
                  <adec:decorative xmlns:adec="http://schemas.microsoft.com/office/drawing/2017/decorative" val="1"/>
                </a:ext>
              </a:extLst>
            </p:cNvPr>
            <p:cNvSpPr/>
            <p:nvPr/>
          </p:nvSpPr>
          <p:spPr>
            <a:xfrm rot="16200000">
              <a:off x="6586559" y="4713146"/>
              <a:ext cx="1438265" cy="231667"/>
            </a:xfrm>
            <a:prstGeom prst="rightArrow">
              <a:avLst>
                <a:gd name="adj1" fmla="val 100000"/>
                <a:gd name="adj2" fmla="val 0"/>
              </a:avLst>
            </a:pr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842" tIns="43921" rIns="87842" bIns="43921" numCol="1" anchor="t" anchorCtr="0" compatLnSpc="1">
              <a:prstTxWarp prst="textNoShape">
                <a:avLst/>
              </a:prstTxWarp>
            </a:bodyPr>
            <a:lstStyle/>
            <a:p>
              <a:pPr marL="0" marR="0" lvl="0" indent="0" algn="ctr" defTabSz="878221" rtl="0" eaLnBrk="1" fontAlgn="base" latinLnBrk="0" hangingPunct="1">
                <a:lnSpc>
                  <a:spcPct val="100000"/>
                </a:lnSpc>
                <a:spcBef>
                  <a:spcPts val="0"/>
                </a:spcBef>
                <a:spcAft>
                  <a:spcPts val="0"/>
                </a:spcAft>
                <a:buClrTx/>
                <a:buSzTx/>
                <a:buFontTx/>
                <a:buNone/>
                <a:tabLst/>
                <a:defRPr/>
              </a:pPr>
              <a:endParaRPr kumimoji="0" lang="en-US" sz="1567" b="0" i="0" u="none" strike="noStrike" kern="1200" cap="none" spc="0" normalizeH="0" baseline="0" noProof="0">
                <a:ln>
                  <a:noFill/>
                </a:ln>
                <a:solidFill>
                  <a:srgbClr val="505050"/>
                </a:solidFill>
                <a:effectLst/>
                <a:uLnTx/>
                <a:uFillTx/>
                <a:latin typeface="Segoe UI"/>
                <a:ea typeface="+mn-ea"/>
                <a:cs typeface="+mn-cs"/>
              </a:endParaRPr>
            </a:p>
          </p:txBody>
        </p:sp>
        <p:sp>
          <p:nvSpPr>
            <p:cNvPr id="69" name="Isosceles Triangle 68">
              <a:extLst>
                <a:ext uri="{FF2B5EF4-FFF2-40B4-BE49-F238E27FC236}">
                  <a16:creationId xmlns:a16="http://schemas.microsoft.com/office/drawing/2014/main" id="{78749594-0E35-DC12-57BD-BC956E177224}"/>
                </a:ext>
              </a:extLst>
            </p:cNvPr>
            <p:cNvSpPr/>
            <p:nvPr/>
          </p:nvSpPr>
          <p:spPr bwMode="auto">
            <a:xfrm>
              <a:off x="9420456" y="1841098"/>
              <a:ext cx="500059" cy="268432"/>
            </a:xfrm>
            <a:prstGeom prst="triangle">
              <a:avLst/>
            </a:pr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842" tIns="43921" rIns="87842" bIns="43921" numCol="1" anchor="t" anchorCtr="0" compatLnSpc="1">
              <a:prstTxWarp prst="textNoShape">
                <a:avLst/>
              </a:prstTxWarp>
            </a:bodyPr>
            <a:lstStyle/>
            <a:p>
              <a:pPr marL="0" marR="0" lvl="0" indent="0" algn="ctr" defTabSz="878221" rtl="0" eaLnBrk="1" fontAlgn="base" latinLnBrk="0" hangingPunct="1">
                <a:lnSpc>
                  <a:spcPct val="100000"/>
                </a:lnSpc>
                <a:spcBef>
                  <a:spcPts val="0"/>
                </a:spcBef>
                <a:spcAft>
                  <a:spcPts val="0"/>
                </a:spcAft>
                <a:buClrTx/>
                <a:buSzTx/>
                <a:buFontTx/>
                <a:buNone/>
                <a:tabLst/>
                <a:defRPr/>
              </a:pPr>
              <a:endParaRPr kumimoji="0" lang="en-US" sz="1567" b="0" i="0" u="none" strike="noStrike" kern="1200" cap="none" spc="0" normalizeH="0" baseline="0" noProof="0" err="1">
                <a:ln>
                  <a:noFill/>
                </a:ln>
                <a:solidFill>
                  <a:srgbClr val="505050"/>
                </a:solidFill>
                <a:effectLst/>
                <a:uLnTx/>
                <a:uFillTx/>
                <a:latin typeface="Segoe UI"/>
                <a:ea typeface="+mn-ea"/>
                <a:cs typeface="+mn-cs"/>
              </a:endParaRPr>
            </a:p>
          </p:txBody>
        </p:sp>
        <p:grpSp>
          <p:nvGrpSpPr>
            <p:cNvPr id="70" name="Group 69">
              <a:extLst>
                <a:ext uri="{FF2B5EF4-FFF2-40B4-BE49-F238E27FC236}">
                  <a16:creationId xmlns:a16="http://schemas.microsoft.com/office/drawing/2014/main" id="{5E9E7340-FB41-6ABF-7590-C58D8ACA5A01}"/>
                </a:ext>
              </a:extLst>
            </p:cNvPr>
            <p:cNvGrpSpPr/>
            <p:nvPr/>
          </p:nvGrpSpPr>
          <p:grpSpPr>
            <a:xfrm>
              <a:off x="7572628" y="2109526"/>
              <a:ext cx="4448287" cy="3864233"/>
              <a:chOff x="9768092" y="2078695"/>
              <a:chExt cx="2252820" cy="1957029"/>
            </a:xfrm>
          </p:grpSpPr>
          <p:grpSp>
            <p:nvGrpSpPr>
              <p:cNvPr id="75" name="Group 74">
                <a:extLst>
                  <a:ext uri="{FF2B5EF4-FFF2-40B4-BE49-F238E27FC236}">
                    <a16:creationId xmlns:a16="http://schemas.microsoft.com/office/drawing/2014/main" id="{F7D5A762-4479-2920-7402-8278C891E81A}"/>
                  </a:ext>
                </a:extLst>
              </p:cNvPr>
              <p:cNvGrpSpPr/>
              <p:nvPr/>
            </p:nvGrpSpPr>
            <p:grpSpPr>
              <a:xfrm>
                <a:off x="10967944" y="2078695"/>
                <a:ext cx="1052968" cy="858126"/>
                <a:chOff x="1217647" y="2772668"/>
                <a:chExt cx="960223" cy="782542"/>
              </a:xfrm>
            </p:grpSpPr>
            <p:sp>
              <p:nvSpPr>
                <p:cNvPr id="106" name="Freeform 53">
                  <a:extLst>
                    <a:ext uri="{FF2B5EF4-FFF2-40B4-BE49-F238E27FC236}">
                      <a16:creationId xmlns:a16="http://schemas.microsoft.com/office/drawing/2014/main" id="{184647F9-1487-8136-AB13-80758D9A952B}"/>
                    </a:ext>
                  </a:extLst>
                </p:cNvPr>
                <p:cNvSpPr>
                  <a:spLocks/>
                </p:cNvSpPr>
                <p:nvPr/>
              </p:nvSpPr>
              <p:spPr bwMode="auto">
                <a:xfrm>
                  <a:off x="1217647" y="2772668"/>
                  <a:ext cx="960223" cy="585961"/>
                </a:xfrm>
                <a:custGeom>
                  <a:avLst/>
                  <a:gdLst>
                    <a:gd name="T0" fmla="*/ 0 w 240"/>
                    <a:gd name="T1" fmla="*/ 11 h 147"/>
                    <a:gd name="T2" fmla="*/ 0 w 240"/>
                    <a:gd name="T3" fmla="*/ 137 h 147"/>
                    <a:gd name="T4" fmla="*/ 11 w 240"/>
                    <a:gd name="T5" fmla="*/ 147 h 147"/>
                    <a:gd name="T6" fmla="*/ 230 w 240"/>
                    <a:gd name="T7" fmla="*/ 147 h 147"/>
                    <a:gd name="T8" fmla="*/ 240 w 240"/>
                    <a:gd name="T9" fmla="*/ 137 h 147"/>
                    <a:gd name="T10" fmla="*/ 240 w 240"/>
                    <a:gd name="T11" fmla="*/ 11 h 147"/>
                    <a:gd name="T12" fmla="*/ 230 w 240"/>
                    <a:gd name="T13" fmla="*/ 0 h 147"/>
                    <a:gd name="T14" fmla="*/ 11 w 240"/>
                    <a:gd name="T15" fmla="*/ 0 h 147"/>
                    <a:gd name="T16" fmla="*/ 0 w 240"/>
                    <a:gd name="T17" fmla="*/ 11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0" h="147">
                      <a:moveTo>
                        <a:pt x="0" y="11"/>
                      </a:moveTo>
                      <a:cubicBezTo>
                        <a:pt x="0" y="137"/>
                        <a:pt x="0" y="137"/>
                        <a:pt x="0" y="137"/>
                      </a:cubicBezTo>
                      <a:cubicBezTo>
                        <a:pt x="0" y="142"/>
                        <a:pt x="5" y="147"/>
                        <a:pt x="11" y="147"/>
                      </a:cubicBezTo>
                      <a:cubicBezTo>
                        <a:pt x="230" y="147"/>
                        <a:pt x="230" y="147"/>
                        <a:pt x="230" y="147"/>
                      </a:cubicBezTo>
                      <a:cubicBezTo>
                        <a:pt x="236" y="147"/>
                        <a:pt x="240" y="142"/>
                        <a:pt x="240" y="137"/>
                      </a:cubicBezTo>
                      <a:cubicBezTo>
                        <a:pt x="240" y="11"/>
                        <a:pt x="240" y="11"/>
                        <a:pt x="240" y="11"/>
                      </a:cubicBezTo>
                      <a:cubicBezTo>
                        <a:pt x="240" y="5"/>
                        <a:pt x="236" y="0"/>
                        <a:pt x="230" y="0"/>
                      </a:cubicBezTo>
                      <a:cubicBezTo>
                        <a:pt x="11" y="0"/>
                        <a:pt x="11" y="0"/>
                        <a:pt x="11" y="0"/>
                      </a:cubicBezTo>
                      <a:cubicBezTo>
                        <a:pt x="5" y="0"/>
                        <a:pt x="0" y="5"/>
                        <a:pt x="0" y="11"/>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830" tIns="43914" rIns="87830" bIns="43914" numCol="1" anchor="t" anchorCtr="0" compatLnSpc="1">
                  <a:prstTxWarp prst="textNoShape">
                    <a:avLst/>
                  </a:prstTxWarp>
                </a:bodyPr>
                <a:lstStyle/>
                <a:p>
                  <a:pPr marL="0" marR="0" lvl="0" indent="0" algn="ctr" defTabSz="878053" rtl="0" eaLnBrk="1" fontAlgn="base" latinLnBrk="0" hangingPunct="1">
                    <a:lnSpc>
                      <a:spcPct val="100000"/>
                    </a:lnSpc>
                    <a:spcBef>
                      <a:spcPts val="0"/>
                    </a:spcBef>
                    <a:spcAft>
                      <a:spcPts val="0"/>
                    </a:spcAft>
                    <a:buClrTx/>
                    <a:buSzTx/>
                    <a:buFontTx/>
                    <a:buNone/>
                    <a:tabLst/>
                    <a:defRPr/>
                  </a:pPr>
                  <a:endParaRPr kumimoji="0" lang="en-US" sz="1567" b="0" i="0" u="none" strike="noStrike" kern="0" cap="none" spc="0" normalizeH="0" baseline="0" noProof="0">
                    <a:ln>
                      <a:noFill/>
                    </a:ln>
                    <a:solidFill>
                      <a:srgbClr val="505050"/>
                    </a:solidFill>
                    <a:effectLst/>
                    <a:uLnTx/>
                    <a:uFillTx/>
                    <a:latin typeface="Segoe UI"/>
                    <a:ea typeface="+mn-ea"/>
                    <a:cs typeface="+mn-cs"/>
                  </a:endParaRPr>
                </a:p>
              </p:txBody>
            </p:sp>
            <p:grpSp>
              <p:nvGrpSpPr>
                <p:cNvPr id="107" name="Group 106">
                  <a:extLst>
                    <a:ext uri="{FF2B5EF4-FFF2-40B4-BE49-F238E27FC236}">
                      <a16:creationId xmlns:a16="http://schemas.microsoft.com/office/drawing/2014/main" id="{79AE3CFF-33AF-3AD7-9BCE-70ECD08C7CC9}"/>
                    </a:ext>
                  </a:extLst>
                </p:cNvPr>
                <p:cNvGrpSpPr/>
                <p:nvPr/>
              </p:nvGrpSpPr>
              <p:grpSpPr>
                <a:xfrm>
                  <a:off x="1217647" y="2772668"/>
                  <a:ext cx="960223" cy="782542"/>
                  <a:chOff x="2122727" y="5360538"/>
                  <a:chExt cx="579864" cy="472564"/>
                </a:xfrm>
              </p:grpSpPr>
              <p:sp>
                <p:nvSpPr>
                  <p:cNvPr id="113" name="Freeform 54">
                    <a:extLst>
                      <a:ext uri="{FF2B5EF4-FFF2-40B4-BE49-F238E27FC236}">
                        <a16:creationId xmlns:a16="http://schemas.microsoft.com/office/drawing/2014/main" id="{A7DA16C0-586D-EE69-51D0-F2B82A34246F}"/>
                      </a:ext>
                    </a:extLst>
                  </p:cNvPr>
                  <p:cNvSpPr>
                    <a:spLocks/>
                  </p:cNvSpPr>
                  <p:nvPr/>
                </p:nvSpPr>
                <p:spPr bwMode="auto">
                  <a:xfrm>
                    <a:off x="2122727" y="5625356"/>
                    <a:ext cx="579864" cy="207746"/>
                  </a:xfrm>
                  <a:custGeom>
                    <a:avLst/>
                    <a:gdLst>
                      <a:gd name="T0" fmla="*/ 0 w 240"/>
                      <a:gd name="T1" fmla="*/ 0 h 86"/>
                      <a:gd name="T2" fmla="*/ 0 w 240"/>
                      <a:gd name="T3" fmla="*/ 27 h 86"/>
                      <a:gd name="T4" fmla="*/ 11 w 240"/>
                      <a:gd name="T5" fmla="*/ 37 h 86"/>
                      <a:gd name="T6" fmla="*/ 115 w 240"/>
                      <a:gd name="T7" fmla="*/ 37 h 86"/>
                      <a:gd name="T8" fmla="*/ 115 w 240"/>
                      <a:gd name="T9" fmla="*/ 74 h 86"/>
                      <a:gd name="T10" fmla="*/ 59 w 240"/>
                      <a:gd name="T11" fmla="*/ 74 h 86"/>
                      <a:gd name="T12" fmla="*/ 59 w 240"/>
                      <a:gd name="T13" fmla="*/ 86 h 86"/>
                      <a:gd name="T14" fmla="*/ 182 w 240"/>
                      <a:gd name="T15" fmla="*/ 86 h 86"/>
                      <a:gd name="T16" fmla="*/ 182 w 240"/>
                      <a:gd name="T17" fmla="*/ 74 h 86"/>
                      <a:gd name="T18" fmla="*/ 126 w 240"/>
                      <a:gd name="T19" fmla="*/ 74 h 86"/>
                      <a:gd name="T20" fmla="*/ 126 w 240"/>
                      <a:gd name="T21" fmla="*/ 37 h 86"/>
                      <a:gd name="T22" fmla="*/ 230 w 240"/>
                      <a:gd name="T23" fmla="*/ 37 h 86"/>
                      <a:gd name="T24" fmla="*/ 240 w 240"/>
                      <a:gd name="T25" fmla="*/ 27 h 86"/>
                      <a:gd name="T26" fmla="*/ 240 w 240"/>
                      <a:gd name="T27" fmla="*/ 0 h 86"/>
                      <a:gd name="T28" fmla="*/ 0 w 240"/>
                      <a:gd name="T29"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0" h="86">
                        <a:moveTo>
                          <a:pt x="0" y="0"/>
                        </a:moveTo>
                        <a:cubicBezTo>
                          <a:pt x="0" y="27"/>
                          <a:pt x="0" y="27"/>
                          <a:pt x="0" y="27"/>
                        </a:cubicBezTo>
                        <a:cubicBezTo>
                          <a:pt x="0" y="32"/>
                          <a:pt x="5" y="37"/>
                          <a:pt x="11" y="37"/>
                        </a:cubicBezTo>
                        <a:cubicBezTo>
                          <a:pt x="115" y="37"/>
                          <a:pt x="115" y="37"/>
                          <a:pt x="115" y="37"/>
                        </a:cubicBezTo>
                        <a:cubicBezTo>
                          <a:pt x="115" y="74"/>
                          <a:pt x="115" y="74"/>
                          <a:pt x="115" y="74"/>
                        </a:cubicBezTo>
                        <a:cubicBezTo>
                          <a:pt x="59" y="74"/>
                          <a:pt x="59" y="74"/>
                          <a:pt x="59" y="74"/>
                        </a:cubicBezTo>
                        <a:cubicBezTo>
                          <a:pt x="59" y="86"/>
                          <a:pt x="59" y="86"/>
                          <a:pt x="59" y="86"/>
                        </a:cubicBezTo>
                        <a:cubicBezTo>
                          <a:pt x="182" y="86"/>
                          <a:pt x="182" y="86"/>
                          <a:pt x="182" y="86"/>
                        </a:cubicBezTo>
                        <a:cubicBezTo>
                          <a:pt x="182" y="74"/>
                          <a:pt x="182" y="74"/>
                          <a:pt x="182" y="74"/>
                        </a:cubicBezTo>
                        <a:cubicBezTo>
                          <a:pt x="126" y="74"/>
                          <a:pt x="126" y="74"/>
                          <a:pt x="126" y="74"/>
                        </a:cubicBezTo>
                        <a:cubicBezTo>
                          <a:pt x="126" y="37"/>
                          <a:pt x="126" y="37"/>
                          <a:pt x="126" y="37"/>
                        </a:cubicBezTo>
                        <a:cubicBezTo>
                          <a:pt x="230" y="37"/>
                          <a:pt x="230" y="37"/>
                          <a:pt x="230" y="37"/>
                        </a:cubicBezTo>
                        <a:cubicBezTo>
                          <a:pt x="236" y="37"/>
                          <a:pt x="240" y="32"/>
                          <a:pt x="240" y="27"/>
                        </a:cubicBezTo>
                        <a:cubicBezTo>
                          <a:pt x="240" y="0"/>
                          <a:pt x="240" y="0"/>
                          <a:pt x="240" y="0"/>
                        </a:cubicBezTo>
                        <a:lnTo>
                          <a:pt x="0" y="0"/>
                        </a:lnTo>
                        <a:close/>
                      </a:path>
                    </a:pathLst>
                  </a:custGeom>
                  <a:solidFill>
                    <a:schemeClr val="accent1"/>
                  </a:solidFill>
                  <a:ln>
                    <a:noFill/>
                  </a:ln>
                </p:spPr>
                <p:txBody>
                  <a:bodyPr vert="horz" wrap="square" lIns="87830" tIns="43914" rIns="87830" bIns="43914" numCol="1" anchor="t" anchorCtr="0" compatLnSpc="1">
                    <a:prstTxWarp prst="textNoShape">
                      <a:avLst/>
                    </a:prstTxWarp>
                  </a:bodyPr>
                  <a:lstStyle/>
                  <a:p>
                    <a:pPr marL="0" marR="0" lvl="0" indent="0" algn="ctr" defTabSz="878053" rtl="0" eaLnBrk="1" fontAlgn="base" latinLnBrk="0" hangingPunct="1">
                      <a:lnSpc>
                        <a:spcPct val="100000"/>
                      </a:lnSpc>
                      <a:spcBef>
                        <a:spcPts val="0"/>
                      </a:spcBef>
                      <a:spcAft>
                        <a:spcPts val="0"/>
                      </a:spcAft>
                      <a:buClrTx/>
                      <a:buSzTx/>
                      <a:buFontTx/>
                      <a:buNone/>
                      <a:tabLst/>
                      <a:defRPr/>
                    </a:pPr>
                    <a:endParaRPr kumimoji="0" lang="en-US" sz="1567" b="0" i="0" u="none" strike="noStrike" kern="0" cap="none" spc="0" normalizeH="0" baseline="0" noProof="0">
                      <a:ln>
                        <a:noFill/>
                      </a:ln>
                      <a:solidFill>
                        <a:srgbClr val="505050"/>
                      </a:solidFill>
                      <a:effectLst/>
                      <a:uLnTx/>
                      <a:uFillTx/>
                      <a:latin typeface="Segoe UI"/>
                      <a:ea typeface="+mn-ea"/>
                      <a:cs typeface="+mn-cs"/>
                    </a:endParaRPr>
                  </a:p>
                </p:txBody>
              </p:sp>
              <p:sp>
                <p:nvSpPr>
                  <p:cNvPr id="114" name="Freeform 173">
                    <a:extLst>
                      <a:ext uri="{FF2B5EF4-FFF2-40B4-BE49-F238E27FC236}">
                        <a16:creationId xmlns:a16="http://schemas.microsoft.com/office/drawing/2014/main" id="{6C1DA590-A268-2496-13BC-FD18C636609F}"/>
                      </a:ext>
                    </a:extLst>
                  </p:cNvPr>
                  <p:cNvSpPr>
                    <a:spLocks/>
                  </p:cNvSpPr>
                  <p:nvPr/>
                </p:nvSpPr>
                <p:spPr bwMode="auto">
                  <a:xfrm>
                    <a:off x="2122730" y="5360538"/>
                    <a:ext cx="328742" cy="264818"/>
                  </a:xfrm>
                  <a:custGeom>
                    <a:avLst/>
                    <a:gdLst>
                      <a:gd name="T0" fmla="*/ 0 w 136"/>
                      <a:gd name="T1" fmla="*/ 110 h 110"/>
                      <a:gd name="T2" fmla="*/ 27 w 136"/>
                      <a:gd name="T3" fmla="*/ 110 h 110"/>
                      <a:gd name="T4" fmla="*/ 136 w 136"/>
                      <a:gd name="T5" fmla="*/ 0 h 110"/>
                      <a:gd name="T6" fmla="*/ 10 w 136"/>
                      <a:gd name="T7" fmla="*/ 0 h 110"/>
                      <a:gd name="T8" fmla="*/ 0 w 136"/>
                      <a:gd name="T9" fmla="*/ 10 h 110"/>
                      <a:gd name="T10" fmla="*/ 0 w 136"/>
                      <a:gd name="T11" fmla="*/ 110 h 110"/>
                    </a:gdLst>
                    <a:ahLst/>
                    <a:cxnLst>
                      <a:cxn ang="0">
                        <a:pos x="T0" y="T1"/>
                      </a:cxn>
                      <a:cxn ang="0">
                        <a:pos x="T2" y="T3"/>
                      </a:cxn>
                      <a:cxn ang="0">
                        <a:pos x="T4" y="T5"/>
                      </a:cxn>
                      <a:cxn ang="0">
                        <a:pos x="T6" y="T7"/>
                      </a:cxn>
                      <a:cxn ang="0">
                        <a:pos x="T8" y="T9"/>
                      </a:cxn>
                      <a:cxn ang="0">
                        <a:pos x="T10" y="T11"/>
                      </a:cxn>
                    </a:cxnLst>
                    <a:rect l="0" t="0" r="r" b="b"/>
                    <a:pathLst>
                      <a:path w="136" h="110">
                        <a:moveTo>
                          <a:pt x="0" y="110"/>
                        </a:moveTo>
                        <a:cubicBezTo>
                          <a:pt x="27" y="110"/>
                          <a:pt x="27" y="110"/>
                          <a:pt x="27" y="110"/>
                        </a:cubicBezTo>
                        <a:cubicBezTo>
                          <a:pt x="136" y="0"/>
                          <a:pt x="136" y="0"/>
                          <a:pt x="136" y="0"/>
                        </a:cubicBezTo>
                        <a:cubicBezTo>
                          <a:pt x="10" y="0"/>
                          <a:pt x="10" y="0"/>
                          <a:pt x="10" y="0"/>
                        </a:cubicBezTo>
                        <a:cubicBezTo>
                          <a:pt x="5" y="0"/>
                          <a:pt x="0" y="5"/>
                          <a:pt x="0" y="10"/>
                        </a:cubicBezTo>
                        <a:lnTo>
                          <a:pt x="0" y="110"/>
                        </a:lnTo>
                        <a:close/>
                      </a:path>
                    </a:pathLst>
                  </a:custGeom>
                  <a:solidFill>
                    <a:schemeClr val="accent1"/>
                  </a:solidFill>
                  <a:ln>
                    <a:noFill/>
                  </a:ln>
                </p:spPr>
                <p:txBody>
                  <a:bodyPr vert="horz" wrap="square" lIns="87830" tIns="43914" rIns="87830" bIns="43914" numCol="1" anchor="t" anchorCtr="0" compatLnSpc="1">
                    <a:prstTxWarp prst="textNoShape">
                      <a:avLst/>
                    </a:prstTxWarp>
                  </a:bodyPr>
                  <a:lstStyle/>
                  <a:p>
                    <a:pPr marL="0" marR="0" lvl="0" indent="0" algn="ctr" defTabSz="878053" rtl="0" eaLnBrk="1" fontAlgn="base" latinLnBrk="0" hangingPunct="1">
                      <a:lnSpc>
                        <a:spcPct val="100000"/>
                      </a:lnSpc>
                      <a:spcBef>
                        <a:spcPts val="0"/>
                      </a:spcBef>
                      <a:spcAft>
                        <a:spcPts val="0"/>
                      </a:spcAft>
                      <a:buClrTx/>
                      <a:buSzTx/>
                      <a:buFontTx/>
                      <a:buNone/>
                      <a:tabLst/>
                      <a:defRPr/>
                    </a:pPr>
                    <a:endParaRPr kumimoji="0" lang="en-US" sz="1567" b="0" i="0" u="none" strike="noStrike" kern="0" cap="none" spc="0" normalizeH="0" baseline="0" noProof="0">
                      <a:ln>
                        <a:noFill/>
                      </a:ln>
                      <a:solidFill>
                        <a:srgbClr val="505050"/>
                      </a:solidFill>
                      <a:effectLst/>
                      <a:uLnTx/>
                      <a:uFillTx/>
                      <a:latin typeface="Segoe UI"/>
                      <a:ea typeface="+mn-ea"/>
                      <a:cs typeface="+mn-cs"/>
                    </a:endParaRPr>
                  </a:p>
                </p:txBody>
              </p:sp>
            </p:grpSp>
            <p:sp>
              <p:nvSpPr>
                <p:cNvPr id="108" name="Rectangle 107">
                  <a:extLst>
                    <a:ext uri="{FF2B5EF4-FFF2-40B4-BE49-F238E27FC236}">
                      <a16:creationId xmlns:a16="http://schemas.microsoft.com/office/drawing/2014/main" id="{2A7F28BB-5E32-D9E5-4B63-473187184DC0}"/>
                    </a:ext>
                  </a:extLst>
                </p:cNvPr>
                <p:cNvSpPr/>
                <p:nvPr/>
              </p:nvSpPr>
              <p:spPr>
                <a:xfrm>
                  <a:off x="1316310" y="2859046"/>
                  <a:ext cx="762897" cy="417587"/>
                </a:xfrm>
                <a:prstGeom prst="rect">
                  <a:avLst/>
                </a:prstGeom>
                <a:solidFill>
                  <a:schemeClr val="bg1"/>
                </a:solidFill>
                <a:ln w="19050" cap="flat" cmpd="sng" algn="ctr">
                  <a:noFill/>
                  <a:prstDash val="solid"/>
                  <a:miter lim="800000"/>
                </a:ln>
                <a:effectLst/>
              </p:spPr>
              <p:txBody>
                <a:bodyPr rtlCol="0" anchor="ctr"/>
                <a:lstStyle/>
                <a:p>
                  <a:pPr marL="0" marR="0" lvl="0" indent="0" algn="ctr" defTabSz="913665"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grpSp>
              <p:nvGrpSpPr>
                <p:cNvPr id="109" name="Group 108">
                  <a:extLst>
                    <a:ext uri="{FF2B5EF4-FFF2-40B4-BE49-F238E27FC236}">
                      <a16:creationId xmlns:a16="http://schemas.microsoft.com/office/drawing/2014/main" id="{65722E5B-26DC-092C-3A9D-97267B964BC0}"/>
                    </a:ext>
                    <a:ext uri="{C183D7F6-B498-43B3-948B-1728B52AA6E4}">
                      <adec:decorative xmlns:adec="http://schemas.microsoft.com/office/drawing/2017/decorative" val="1"/>
                    </a:ext>
                  </a:extLst>
                </p:cNvPr>
                <p:cNvGrpSpPr/>
                <p:nvPr/>
              </p:nvGrpSpPr>
              <p:grpSpPr>
                <a:xfrm flipH="1">
                  <a:off x="1568887" y="2931385"/>
                  <a:ext cx="257748" cy="272908"/>
                  <a:chOff x="10172984" y="2471788"/>
                  <a:chExt cx="543580" cy="575555"/>
                </a:xfrm>
              </p:grpSpPr>
              <p:sp>
                <p:nvSpPr>
                  <p:cNvPr id="110" name="Freeform 8">
                    <a:extLst>
                      <a:ext uri="{FF2B5EF4-FFF2-40B4-BE49-F238E27FC236}">
                        <a16:creationId xmlns:a16="http://schemas.microsoft.com/office/drawing/2014/main" id="{25DB16C0-CEBE-C149-A46F-56003D4C6BDE}"/>
                      </a:ext>
                      <a:ext uri="{C183D7F6-B498-43B3-948B-1728B52AA6E4}">
                        <adec:decorative xmlns:adec="http://schemas.microsoft.com/office/drawing/2017/decorative" val="1"/>
                      </a:ext>
                    </a:extLst>
                  </p:cNvPr>
                  <p:cNvSpPr>
                    <a:spLocks/>
                  </p:cNvSpPr>
                  <p:nvPr/>
                </p:nvSpPr>
                <p:spPr bwMode="auto">
                  <a:xfrm>
                    <a:off x="10211354" y="2471788"/>
                    <a:ext cx="466840" cy="204642"/>
                  </a:xfrm>
                  <a:custGeom>
                    <a:avLst/>
                    <a:gdLst>
                      <a:gd name="T0" fmla="*/ 73 w 146"/>
                      <a:gd name="T1" fmla="*/ 0 h 64"/>
                      <a:gd name="T2" fmla="*/ 0 w 146"/>
                      <a:gd name="T3" fmla="*/ 31 h 64"/>
                      <a:gd name="T4" fmla="*/ 73 w 146"/>
                      <a:gd name="T5" fmla="*/ 64 h 64"/>
                      <a:gd name="T6" fmla="*/ 146 w 146"/>
                      <a:gd name="T7" fmla="*/ 31 h 64"/>
                      <a:gd name="T8" fmla="*/ 73 w 146"/>
                      <a:gd name="T9" fmla="*/ 0 h 64"/>
                      <a:gd name="T10" fmla="*/ 73 w 146"/>
                      <a:gd name="T11" fmla="*/ 0 h 64"/>
                    </a:gdLst>
                    <a:ahLst/>
                    <a:cxnLst>
                      <a:cxn ang="0">
                        <a:pos x="T0" y="T1"/>
                      </a:cxn>
                      <a:cxn ang="0">
                        <a:pos x="T2" y="T3"/>
                      </a:cxn>
                      <a:cxn ang="0">
                        <a:pos x="T4" y="T5"/>
                      </a:cxn>
                      <a:cxn ang="0">
                        <a:pos x="T6" y="T7"/>
                      </a:cxn>
                      <a:cxn ang="0">
                        <a:pos x="T8" y="T9"/>
                      </a:cxn>
                      <a:cxn ang="0">
                        <a:pos x="T10" y="T11"/>
                      </a:cxn>
                    </a:cxnLst>
                    <a:rect l="0" t="0" r="r" b="b"/>
                    <a:pathLst>
                      <a:path w="146" h="64">
                        <a:moveTo>
                          <a:pt x="73" y="0"/>
                        </a:moveTo>
                        <a:lnTo>
                          <a:pt x="0" y="31"/>
                        </a:lnTo>
                        <a:lnTo>
                          <a:pt x="73" y="64"/>
                        </a:lnTo>
                        <a:lnTo>
                          <a:pt x="146" y="31"/>
                        </a:lnTo>
                        <a:lnTo>
                          <a:pt x="73" y="0"/>
                        </a:lnTo>
                        <a:lnTo>
                          <a:pt x="73"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842" tIns="43921" rIns="87842" bIns="43921" numCol="1" anchor="t" anchorCtr="0" compatLnSpc="1">
                    <a:prstTxWarp prst="textNoShape">
                      <a:avLst/>
                    </a:prstTxWarp>
                  </a:bodyPr>
                  <a:lstStyle/>
                  <a:p>
                    <a:pPr marL="0" marR="0" lvl="0" indent="0" algn="ctr" defTabSz="878221" rtl="0" eaLnBrk="1" fontAlgn="base" latinLnBrk="0" hangingPunct="1">
                      <a:lnSpc>
                        <a:spcPct val="100000"/>
                      </a:lnSpc>
                      <a:spcBef>
                        <a:spcPts val="0"/>
                      </a:spcBef>
                      <a:spcAft>
                        <a:spcPts val="0"/>
                      </a:spcAft>
                      <a:buClrTx/>
                      <a:buSzTx/>
                      <a:buFontTx/>
                      <a:buNone/>
                      <a:tabLst/>
                      <a:defRPr/>
                    </a:pPr>
                    <a:endParaRPr kumimoji="0" lang="en-US" sz="1567" b="0" i="0" u="none" strike="noStrike" kern="1200" cap="none" spc="0" normalizeH="0" baseline="0" noProof="0">
                      <a:ln>
                        <a:noFill/>
                      </a:ln>
                      <a:solidFill>
                        <a:srgbClr val="505050"/>
                      </a:solidFill>
                      <a:effectLst/>
                      <a:uLnTx/>
                      <a:uFillTx/>
                      <a:latin typeface="Segoe UI"/>
                      <a:ea typeface="+mn-ea"/>
                      <a:cs typeface="+mn-cs"/>
                    </a:endParaRPr>
                  </a:p>
                </p:txBody>
              </p:sp>
              <p:sp>
                <p:nvSpPr>
                  <p:cNvPr id="111" name="Freeform 9">
                    <a:extLst>
                      <a:ext uri="{FF2B5EF4-FFF2-40B4-BE49-F238E27FC236}">
                        <a16:creationId xmlns:a16="http://schemas.microsoft.com/office/drawing/2014/main" id="{68C3A497-8C94-9625-3203-F714842892D1}"/>
                      </a:ext>
                      <a:ext uri="{C183D7F6-B498-43B3-948B-1728B52AA6E4}">
                        <adec:decorative xmlns:adec="http://schemas.microsoft.com/office/drawing/2017/decorative" val="1"/>
                      </a:ext>
                    </a:extLst>
                  </p:cNvPr>
                  <p:cNvSpPr>
                    <a:spLocks/>
                  </p:cNvSpPr>
                  <p:nvPr/>
                </p:nvSpPr>
                <p:spPr bwMode="auto">
                  <a:xfrm>
                    <a:off x="10473552" y="2618873"/>
                    <a:ext cx="243012" cy="428470"/>
                  </a:xfrm>
                  <a:custGeom>
                    <a:avLst/>
                    <a:gdLst>
                      <a:gd name="T0" fmla="*/ 0 w 76"/>
                      <a:gd name="T1" fmla="*/ 35 h 134"/>
                      <a:gd name="T2" fmla="*/ 0 w 76"/>
                      <a:gd name="T3" fmla="*/ 134 h 134"/>
                      <a:gd name="T4" fmla="*/ 76 w 76"/>
                      <a:gd name="T5" fmla="*/ 101 h 134"/>
                      <a:gd name="T6" fmla="*/ 76 w 76"/>
                      <a:gd name="T7" fmla="*/ 0 h 134"/>
                      <a:gd name="T8" fmla="*/ 0 w 76"/>
                      <a:gd name="T9" fmla="*/ 35 h 134"/>
                      <a:gd name="T10" fmla="*/ 0 w 76"/>
                      <a:gd name="T11" fmla="*/ 35 h 134"/>
                    </a:gdLst>
                    <a:ahLst/>
                    <a:cxnLst>
                      <a:cxn ang="0">
                        <a:pos x="T0" y="T1"/>
                      </a:cxn>
                      <a:cxn ang="0">
                        <a:pos x="T2" y="T3"/>
                      </a:cxn>
                      <a:cxn ang="0">
                        <a:pos x="T4" y="T5"/>
                      </a:cxn>
                      <a:cxn ang="0">
                        <a:pos x="T6" y="T7"/>
                      </a:cxn>
                      <a:cxn ang="0">
                        <a:pos x="T8" y="T9"/>
                      </a:cxn>
                      <a:cxn ang="0">
                        <a:pos x="T10" y="T11"/>
                      </a:cxn>
                    </a:cxnLst>
                    <a:rect l="0" t="0" r="r" b="b"/>
                    <a:pathLst>
                      <a:path w="76" h="134">
                        <a:moveTo>
                          <a:pt x="0" y="35"/>
                        </a:moveTo>
                        <a:lnTo>
                          <a:pt x="0" y="134"/>
                        </a:lnTo>
                        <a:lnTo>
                          <a:pt x="76" y="101"/>
                        </a:lnTo>
                        <a:lnTo>
                          <a:pt x="76" y="0"/>
                        </a:lnTo>
                        <a:lnTo>
                          <a:pt x="0" y="35"/>
                        </a:lnTo>
                        <a:lnTo>
                          <a:pt x="0" y="35"/>
                        </a:lnTo>
                        <a:close/>
                      </a:path>
                    </a:pathLst>
                  </a:custGeom>
                  <a:solidFill>
                    <a:srgbClr val="50E6FF"/>
                  </a:solidFill>
                  <a:ln w="12700" cap="flat">
                    <a:solidFill>
                      <a:srgbClr val="50E6FF"/>
                    </a:solidFill>
                    <a:prstDash val="solid"/>
                    <a:miter lim="800000"/>
                    <a:headEnd/>
                    <a:tailEnd/>
                  </a:ln>
                </p:spPr>
                <p:txBody>
                  <a:bodyPr vert="horz" wrap="square" lIns="89592" tIns="44796" rIns="89592" bIns="44796" numCol="1" anchor="t" anchorCtr="0" compatLnSpc="1">
                    <a:prstTxWarp prst="textNoShape">
                      <a:avLst/>
                    </a:prstTxWarp>
                  </a:bodyPr>
                  <a:lstStyle/>
                  <a:p>
                    <a:pPr marL="0" marR="0" lvl="0" indent="0" algn="l" defTabSz="895870"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112" name="Freeform 10">
                    <a:extLst>
                      <a:ext uri="{FF2B5EF4-FFF2-40B4-BE49-F238E27FC236}">
                        <a16:creationId xmlns:a16="http://schemas.microsoft.com/office/drawing/2014/main" id="{BA41C556-1529-8575-A2CD-659576DA9B96}"/>
                      </a:ext>
                      <a:ext uri="{C183D7F6-B498-43B3-948B-1728B52AA6E4}">
                        <adec:decorative xmlns:adec="http://schemas.microsoft.com/office/drawing/2017/decorative" val="1"/>
                      </a:ext>
                    </a:extLst>
                  </p:cNvPr>
                  <p:cNvSpPr>
                    <a:spLocks/>
                  </p:cNvSpPr>
                  <p:nvPr/>
                </p:nvSpPr>
                <p:spPr bwMode="auto">
                  <a:xfrm>
                    <a:off x="10172984" y="2618873"/>
                    <a:ext cx="246211" cy="428470"/>
                  </a:xfrm>
                  <a:custGeom>
                    <a:avLst/>
                    <a:gdLst>
                      <a:gd name="T0" fmla="*/ 0 w 77"/>
                      <a:gd name="T1" fmla="*/ 101 h 134"/>
                      <a:gd name="T2" fmla="*/ 77 w 77"/>
                      <a:gd name="T3" fmla="*/ 134 h 134"/>
                      <a:gd name="T4" fmla="*/ 77 w 77"/>
                      <a:gd name="T5" fmla="*/ 35 h 134"/>
                      <a:gd name="T6" fmla="*/ 0 w 77"/>
                      <a:gd name="T7" fmla="*/ 0 h 134"/>
                      <a:gd name="T8" fmla="*/ 0 w 77"/>
                      <a:gd name="T9" fmla="*/ 101 h 134"/>
                      <a:gd name="T10" fmla="*/ 0 w 77"/>
                      <a:gd name="T11" fmla="*/ 101 h 134"/>
                    </a:gdLst>
                    <a:ahLst/>
                    <a:cxnLst>
                      <a:cxn ang="0">
                        <a:pos x="T0" y="T1"/>
                      </a:cxn>
                      <a:cxn ang="0">
                        <a:pos x="T2" y="T3"/>
                      </a:cxn>
                      <a:cxn ang="0">
                        <a:pos x="T4" y="T5"/>
                      </a:cxn>
                      <a:cxn ang="0">
                        <a:pos x="T6" y="T7"/>
                      </a:cxn>
                      <a:cxn ang="0">
                        <a:pos x="T8" y="T9"/>
                      </a:cxn>
                      <a:cxn ang="0">
                        <a:pos x="T10" y="T11"/>
                      </a:cxn>
                    </a:cxnLst>
                    <a:rect l="0" t="0" r="r" b="b"/>
                    <a:pathLst>
                      <a:path w="77" h="134">
                        <a:moveTo>
                          <a:pt x="0" y="101"/>
                        </a:moveTo>
                        <a:lnTo>
                          <a:pt x="77" y="134"/>
                        </a:lnTo>
                        <a:lnTo>
                          <a:pt x="77" y="35"/>
                        </a:lnTo>
                        <a:lnTo>
                          <a:pt x="0" y="0"/>
                        </a:lnTo>
                        <a:lnTo>
                          <a:pt x="0" y="101"/>
                        </a:lnTo>
                        <a:lnTo>
                          <a:pt x="0" y="101"/>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842" tIns="43921" rIns="87842" bIns="43921" numCol="1" anchor="t" anchorCtr="0" compatLnSpc="1">
                    <a:prstTxWarp prst="textNoShape">
                      <a:avLst/>
                    </a:prstTxWarp>
                  </a:bodyPr>
                  <a:lstStyle/>
                  <a:p>
                    <a:pPr marL="0" marR="0" lvl="0" indent="0" algn="ctr" defTabSz="878221" rtl="0" eaLnBrk="1" fontAlgn="base" latinLnBrk="0" hangingPunct="1">
                      <a:lnSpc>
                        <a:spcPct val="100000"/>
                      </a:lnSpc>
                      <a:spcBef>
                        <a:spcPts val="0"/>
                      </a:spcBef>
                      <a:spcAft>
                        <a:spcPts val="0"/>
                      </a:spcAft>
                      <a:buClrTx/>
                      <a:buSzTx/>
                      <a:buFontTx/>
                      <a:buNone/>
                      <a:tabLst/>
                      <a:defRPr/>
                    </a:pPr>
                    <a:endParaRPr kumimoji="0" lang="en-US" sz="1567" b="0" i="0" u="none" strike="noStrike" kern="1200" cap="none" spc="0" normalizeH="0" baseline="0" noProof="0">
                      <a:ln>
                        <a:noFill/>
                      </a:ln>
                      <a:solidFill>
                        <a:srgbClr val="505050"/>
                      </a:solidFill>
                      <a:effectLst/>
                      <a:uLnTx/>
                      <a:uFillTx/>
                      <a:latin typeface="Segoe UI"/>
                      <a:ea typeface="+mn-ea"/>
                      <a:cs typeface="+mn-cs"/>
                    </a:endParaRPr>
                  </a:p>
                </p:txBody>
              </p:sp>
            </p:grpSp>
          </p:grpSp>
          <p:grpSp>
            <p:nvGrpSpPr>
              <p:cNvPr id="76" name="Group 75">
                <a:extLst>
                  <a:ext uri="{FF2B5EF4-FFF2-40B4-BE49-F238E27FC236}">
                    <a16:creationId xmlns:a16="http://schemas.microsoft.com/office/drawing/2014/main" id="{9AA06945-7289-60CE-125D-6253C7C3CF5B}"/>
                  </a:ext>
                </a:extLst>
              </p:cNvPr>
              <p:cNvGrpSpPr/>
              <p:nvPr/>
            </p:nvGrpSpPr>
            <p:grpSpPr>
              <a:xfrm>
                <a:off x="10567994" y="2444996"/>
                <a:ext cx="1052968" cy="858126"/>
                <a:chOff x="1217647" y="2772668"/>
                <a:chExt cx="960223" cy="782542"/>
              </a:xfrm>
            </p:grpSpPr>
            <p:sp>
              <p:nvSpPr>
                <p:cNvPr id="97" name="Freeform 53">
                  <a:extLst>
                    <a:ext uri="{FF2B5EF4-FFF2-40B4-BE49-F238E27FC236}">
                      <a16:creationId xmlns:a16="http://schemas.microsoft.com/office/drawing/2014/main" id="{8435A0B4-70A5-0DFF-FF25-E35FDAB04623}"/>
                    </a:ext>
                  </a:extLst>
                </p:cNvPr>
                <p:cNvSpPr>
                  <a:spLocks/>
                </p:cNvSpPr>
                <p:nvPr/>
              </p:nvSpPr>
              <p:spPr bwMode="auto">
                <a:xfrm>
                  <a:off x="1217647" y="2772668"/>
                  <a:ext cx="960223" cy="585961"/>
                </a:xfrm>
                <a:custGeom>
                  <a:avLst/>
                  <a:gdLst>
                    <a:gd name="T0" fmla="*/ 0 w 240"/>
                    <a:gd name="T1" fmla="*/ 11 h 147"/>
                    <a:gd name="T2" fmla="*/ 0 w 240"/>
                    <a:gd name="T3" fmla="*/ 137 h 147"/>
                    <a:gd name="T4" fmla="*/ 11 w 240"/>
                    <a:gd name="T5" fmla="*/ 147 h 147"/>
                    <a:gd name="T6" fmla="*/ 230 w 240"/>
                    <a:gd name="T7" fmla="*/ 147 h 147"/>
                    <a:gd name="T8" fmla="*/ 240 w 240"/>
                    <a:gd name="T9" fmla="*/ 137 h 147"/>
                    <a:gd name="T10" fmla="*/ 240 w 240"/>
                    <a:gd name="T11" fmla="*/ 11 h 147"/>
                    <a:gd name="T12" fmla="*/ 230 w 240"/>
                    <a:gd name="T13" fmla="*/ 0 h 147"/>
                    <a:gd name="T14" fmla="*/ 11 w 240"/>
                    <a:gd name="T15" fmla="*/ 0 h 147"/>
                    <a:gd name="T16" fmla="*/ 0 w 240"/>
                    <a:gd name="T17" fmla="*/ 11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0" h="147">
                      <a:moveTo>
                        <a:pt x="0" y="11"/>
                      </a:moveTo>
                      <a:cubicBezTo>
                        <a:pt x="0" y="137"/>
                        <a:pt x="0" y="137"/>
                        <a:pt x="0" y="137"/>
                      </a:cubicBezTo>
                      <a:cubicBezTo>
                        <a:pt x="0" y="142"/>
                        <a:pt x="5" y="147"/>
                        <a:pt x="11" y="147"/>
                      </a:cubicBezTo>
                      <a:cubicBezTo>
                        <a:pt x="230" y="147"/>
                        <a:pt x="230" y="147"/>
                        <a:pt x="230" y="147"/>
                      </a:cubicBezTo>
                      <a:cubicBezTo>
                        <a:pt x="236" y="147"/>
                        <a:pt x="240" y="142"/>
                        <a:pt x="240" y="137"/>
                      </a:cubicBezTo>
                      <a:cubicBezTo>
                        <a:pt x="240" y="11"/>
                        <a:pt x="240" y="11"/>
                        <a:pt x="240" y="11"/>
                      </a:cubicBezTo>
                      <a:cubicBezTo>
                        <a:pt x="240" y="5"/>
                        <a:pt x="236" y="0"/>
                        <a:pt x="230" y="0"/>
                      </a:cubicBezTo>
                      <a:cubicBezTo>
                        <a:pt x="11" y="0"/>
                        <a:pt x="11" y="0"/>
                        <a:pt x="11" y="0"/>
                      </a:cubicBezTo>
                      <a:cubicBezTo>
                        <a:pt x="5" y="0"/>
                        <a:pt x="0" y="5"/>
                        <a:pt x="0" y="11"/>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830" tIns="43914" rIns="87830" bIns="43914" numCol="1" anchor="t" anchorCtr="0" compatLnSpc="1">
                  <a:prstTxWarp prst="textNoShape">
                    <a:avLst/>
                  </a:prstTxWarp>
                </a:bodyPr>
                <a:lstStyle/>
                <a:p>
                  <a:pPr marL="0" marR="0" lvl="0" indent="0" algn="ctr" defTabSz="878053" rtl="0" eaLnBrk="1" fontAlgn="base" latinLnBrk="0" hangingPunct="1">
                    <a:lnSpc>
                      <a:spcPct val="100000"/>
                    </a:lnSpc>
                    <a:spcBef>
                      <a:spcPts val="0"/>
                    </a:spcBef>
                    <a:spcAft>
                      <a:spcPts val="0"/>
                    </a:spcAft>
                    <a:buClrTx/>
                    <a:buSzTx/>
                    <a:buFontTx/>
                    <a:buNone/>
                    <a:tabLst/>
                    <a:defRPr/>
                  </a:pPr>
                  <a:endParaRPr kumimoji="0" lang="en-US" sz="1567" b="0" i="0" u="none" strike="noStrike" kern="0" cap="none" spc="0" normalizeH="0" baseline="0" noProof="0">
                    <a:ln>
                      <a:noFill/>
                    </a:ln>
                    <a:solidFill>
                      <a:srgbClr val="505050"/>
                    </a:solidFill>
                    <a:effectLst/>
                    <a:uLnTx/>
                    <a:uFillTx/>
                    <a:latin typeface="Segoe UI"/>
                    <a:ea typeface="+mn-ea"/>
                    <a:cs typeface="+mn-cs"/>
                  </a:endParaRPr>
                </a:p>
              </p:txBody>
            </p:sp>
            <p:grpSp>
              <p:nvGrpSpPr>
                <p:cNvPr id="98" name="Group 97">
                  <a:extLst>
                    <a:ext uri="{FF2B5EF4-FFF2-40B4-BE49-F238E27FC236}">
                      <a16:creationId xmlns:a16="http://schemas.microsoft.com/office/drawing/2014/main" id="{9FBF6407-83C9-95F7-752E-9E4A91F1F180}"/>
                    </a:ext>
                  </a:extLst>
                </p:cNvPr>
                <p:cNvGrpSpPr/>
                <p:nvPr/>
              </p:nvGrpSpPr>
              <p:grpSpPr>
                <a:xfrm>
                  <a:off x="1217647" y="2772668"/>
                  <a:ext cx="960223" cy="782542"/>
                  <a:chOff x="2122727" y="5360538"/>
                  <a:chExt cx="579864" cy="472564"/>
                </a:xfrm>
              </p:grpSpPr>
              <p:sp>
                <p:nvSpPr>
                  <p:cNvPr id="104" name="Freeform 54">
                    <a:extLst>
                      <a:ext uri="{FF2B5EF4-FFF2-40B4-BE49-F238E27FC236}">
                        <a16:creationId xmlns:a16="http://schemas.microsoft.com/office/drawing/2014/main" id="{DCC92481-2F78-9796-A554-CE0D06693B23}"/>
                      </a:ext>
                    </a:extLst>
                  </p:cNvPr>
                  <p:cNvSpPr>
                    <a:spLocks/>
                  </p:cNvSpPr>
                  <p:nvPr/>
                </p:nvSpPr>
                <p:spPr bwMode="auto">
                  <a:xfrm>
                    <a:off x="2122727" y="5625356"/>
                    <a:ext cx="579864" cy="207746"/>
                  </a:xfrm>
                  <a:custGeom>
                    <a:avLst/>
                    <a:gdLst>
                      <a:gd name="T0" fmla="*/ 0 w 240"/>
                      <a:gd name="T1" fmla="*/ 0 h 86"/>
                      <a:gd name="T2" fmla="*/ 0 w 240"/>
                      <a:gd name="T3" fmla="*/ 27 h 86"/>
                      <a:gd name="T4" fmla="*/ 11 w 240"/>
                      <a:gd name="T5" fmla="*/ 37 h 86"/>
                      <a:gd name="T6" fmla="*/ 115 w 240"/>
                      <a:gd name="T7" fmla="*/ 37 h 86"/>
                      <a:gd name="T8" fmla="*/ 115 w 240"/>
                      <a:gd name="T9" fmla="*/ 74 h 86"/>
                      <a:gd name="T10" fmla="*/ 59 w 240"/>
                      <a:gd name="T11" fmla="*/ 74 h 86"/>
                      <a:gd name="T12" fmla="*/ 59 w 240"/>
                      <a:gd name="T13" fmla="*/ 86 h 86"/>
                      <a:gd name="T14" fmla="*/ 182 w 240"/>
                      <a:gd name="T15" fmla="*/ 86 h 86"/>
                      <a:gd name="T16" fmla="*/ 182 w 240"/>
                      <a:gd name="T17" fmla="*/ 74 h 86"/>
                      <a:gd name="T18" fmla="*/ 126 w 240"/>
                      <a:gd name="T19" fmla="*/ 74 h 86"/>
                      <a:gd name="T20" fmla="*/ 126 w 240"/>
                      <a:gd name="T21" fmla="*/ 37 h 86"/>
                      <a:gd name="T22" fmla="*/ 230 w 240"/>
                      <a:gd name="T23" fmla="*/ 37 h 86"/>
                      <a:gd name="T24" fmla="*/ 240 w 240"/>
                      <a:gd name="T25" fmla="*/ 27 h 86"/>
                      <a:gd name="T26" fmla="*/ 240 w 240"/>
                      <a:gd name="T27" fmla="*/ 0 h 86"/>
                      <a:gd name="T28" fmla="*/ 0 w 240"/>
                      <a:gd name="T29"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0" h="86">
                        <a:moveTo>
                          <a:pt x="0" y="0"/>
                        </a:moveTo>
                        <a:cubicBezTo>
                          <a:pt x="0" y="27"/>
                          <a:pt x="0" y="27"/>
                          <a:pt x="0" y="27"/>
                        </a:cubicBezTo>
                        <a:cubicBezTo>
                          <a:pt x="0" y="32"/>
                          <a:pt x="5" y="37"/>
                          <a:pt x="11" y="37"/>
                        </a:cubicBezTo>
                        <a:cubicBezTo>
                          <a:pt x="115" y="37"/>
                          <a:pt x="115" y="37"/>
                          <a:pt x="115" y="37"/>
                        </a:cubicBezTo>
                        <a:cubicBezTo>
                          <a:pt x="115" y="74"/>
                          <a:pt x="115" y="74"/>
                          <a:pt x="115" y="74"/>
                        </a:cubicBezTo>
                        <a:cubicBezTo>
                          <a:pt x="59" y="74"/>
                          <a:pt x="59" y="74"/>
                          <a:pt x="59" y="74"/>
                        </a:cubicBezTo>
                        <a:cubicBezTo>
                          <a:pt x="59" y="86"/>
                          <a:pt x="59" y="86"/>
                          <a:pt x="59" y="86"/>
                        </a:cubicBezTo>
                        <a:cubicBezTo>
                          <a:pt x="182" y="86"/>
                          <a:pt x="182" y="86"/>
                          <a:pt x="182" y="86"/>
                        </a:cubicBezTo>
                        <a:cubicBezTo>
                          <a:pt x="182" y="74"/>
                          <a:pt x="182" y="74"/>
                          <a:pt x="182" y="74"/>
                        </a:cubicBezTo>
                        <a:cubicBezTo>
                          <a:pt x="126" y="74"/>
                          <a:pt x="126" y="74"/>
                          <a:pt x="126" y="74"/>
                        </a:cubicBezTo>
                        <a:cubicBezTo>
                          <a:pt x="126" y="37"/>
                          <a:pt x="126" y="37"/>
                          <a:pt x="126" y="37"/>
                        </a:cubicBezTo>
                        <a:cubicBezTo>
                          <a:pt x="230" y="37"/>
                          <a:pt x="230" y="37"/>
                          <a:pt x="230" y="37"/>
                        </a:cubicBezTo>
                        <a:cubicBezTo>
                          <a:pt x="236" y="37"/>
                          <a:pt x="240" y="32"/>
                          <a:pt x="240" y="27"/>
                        </a:cubicBezTo>
                        <a:cubicBezTo>
                          <a:pt x="240" y="0"/>
                          <a:pt x="240" y="0"/>
                          <a:pt x="240" y="0"/>
                        </a:cubicBezTo>
                        <a:lnTo>
                          <a:pt x="0" y="0"/>
                        </a:lnTo>
                        <a:close/>
                      </a:path>
                    </a:pathLst>
                  </a:custGeom>
                  <a:solidFill>
                    <a:schemeClr val="accent1"/>
                  </a:solidFill>
                  <a:ln>
                    <a:noFill/>
                  </a:ln>
                </p:spPr>
                <p:txBody>
                  <a:bodyPr vert="horz" wrap="square" lIns="87830" tIns="43914" rIns="87830" bIns="43914" numCol="1" anchor="t" anchorCtr="0" compatLnSpc="1">
                    <a:prstTxWarp prst="textNoShape">
                      <a:avLst/>
                    </a:prstTxWarp>
                  </a:bodyPr>
                  <a:lstStyle/>
                  <a:p>
                    <a:pPr marL="0" marR="0" lvl="0" indent="0" algn="ctr" defTabSz="878053" rtl="0" eaLnBrk="1" fontAlgn="base" latinLnBrk="0" hangingPunct="1">
                      <a:lnSpc>
                        <a:spcPct val="100000"/>
                      </a:lnSpc>
                      <a:spcBef>
                        <a:spcPts val="0"/>
                      </a:spcBef>
                      <a:spcAft>
                        <a:spcPts val="0"/>
                      </a:spcAft>
                      <a:buClrTx/>
                      <a:buSzTx/>
                      <a:buFontTx/>
                      <a:buNone/>
                      <a:tabLst/>
                      <a:defRPr/>
                    </a:pPr>
                    <a:endParaRPr kumimoji="0" lang="en-US" sz="1567" b="0" i="0" u="none" strike="noStrike" kern="0" cap="none" spc="0" normalizeH="0" baseline="0" noProof="0">
                      <a:ln>
                        <a:noFill/>
                      </a:ln>
                      <a:solidFill>
                        <a:srgbClr val="505050"/>
                      </a:solidFill>
                      <a:effectLst/>
                      <a:uLnTx/>
                      <a:uFillTx/>
                      <a:latin typeface="Segoe UI"/>
                      <a:ea typeface="+mn-ea"/>
                      <a:cs typeface="+mn-cs"/>
                    </a:endParaRPr>
                  </a:p>
                </p:txBody>
              </p:sp>
              <p:sp>
                <p:nvSpPr>
                  <p:cNvPr id="105" name="Freeform 173">
                    <a:extLst>
                      <a:ext uri="{FF2B5EF4-FFF2-40B4-BE49-F238E27FC236}">
                        <a16:creationId xmlns:a16="http://schemas.microsoft.com/office/drawing/2014/main" id="{750216F3-F70A-8622-5F69-A33377DE2723}"/>
                      </a:ext>
                    </a:extLst>
                  </p:cNvPr>
                  <p:cNvSpPr>
                    <a:spLocks/>
                  </p:cNvSpPr>
                  <p:nvPr/>
                </p:nvSpPr>
                <p:spPr bwMode="auto">
                  <a:xfrm>
                    <a:off x="2122730" y="5360538"/>
                    <a:ext cx="328742" cy="264818"/>
                  </a:xfrm>
                  <a:custGeom>
                    <a:avLst/>
                    <a:gdLst>
                      <a:gd name="T0" fmla="*/ 0 w 136"/>
                      <a:gd name="T1" fmla="*/ 110 h 110"/>
                      <a:gd name="T2" fmla="*/ 27 w 136"/>
                      <a:gd name="T3" fmla="*/ 110 h 110"/>
                      <a:gd name="T4" fmla="*/ 136 w 136"/>
                      <a:gd name="T5" fmla="*/ 0 h 110"/>
                      <a:gd name="T6" fmla="*/ 10 w 136"/>
                      <a:gd name="T7" fmla="*/ 0 h 110"/>
                      <a:gd name="T8" fmla="*/ 0 w 136"/>
                      <a:gd name="T9" fmla="*/ 10 h 110"/>
                      <a:gd name="T10" fmla="*/ 0 w 136"/>
                      <a:gd name="T11" fmla="*/ 110 h 110"/>
                    </a:gdLst>
                    <a:ahLst/>
                    <a:cxnLst>
                      <a:cxn ang="0">
                        <a:pos x="T0" y="T1"/>
                      </a:cxn>
                      <a:cxn ang="0">
                        <a:pos x="T2" y="T3"/>
                      </a:cxn>
                      <a:cxn ang="0">
                        <a:pos x="T4" y="T5"/>
                      </a:cxn>
                      <a:cxn ang="0">
                        <a:pos x="T6" y="T7"/>
                      </a:cxn>
                      <a:cxn ang="0">
                        <a:pos x="T8" y="T9"/>
                      </a:cxn>
                      <a:cxn ang="0">
                        <a:pos x="T10" y="T11"/>
                      </a:cxn>
                    </a:cxnLst>
                    <a:rect l="0" t="0" r="r" b="b"/>
                    <a:pathLst>
                      <a:path w="136" h="110">
                        <a:moveTo>
                          <a:pt x="0" y="110"/>
                        </a:moveTo>
                        <a:cubicBezTo>
                          <a:pt x="27" y="110"/>
                          <a:pt x="27" y="110"/>
                          <a:pt x="27" y="110"/>
                        </a:cubicBezTo>
                        <a:cubicBezTo>
                          <a:pt x="136" y="0"/>
                          <a:pt x="136" y="0"/>
                          <a:pt x="136" y="0"/>
                        </a:cubicBezTo>
                        <a:cubicBezTo>
                          <a:pt x="10" y="0"/>
                          <a:pt x="10" y="0"/>
                          <a:pt x="10" y="0"/>
                        </a:cubicBezTo>
                        <a:cubicBezTo>
                          <a:pt x="5" y="0"/>
                          <a:pt x="0" y="5"/>
                          <a:pt x="0" y="10"/>
                        </a:cubicBezTo>
                        <a:lnTo>
                          <a:pt x="0" y="110"/>
                        </a:lnTo>
                        <a:close/>
                      </a:path>
                    </a:pathLst>
                  </a:custGeom>
                  <a:solidFill>
                    <a:schemeClr val="accent1"/>
                  </a:solidFill>
                  <a:ln>
                    <a:noFill/>
                  </a:ln>
                </p:spPr>
                <p:txBody>
                  <a:bodyPr vert="horz" wrap="square" lIns="87830" tIns="43914" rIns="87830" bIns="43914" numCol="1" anchor="t" anchorCtr="0" compatLnSpc="1">
                    <a:prstTxWarp prst="textNoShape">
                      <a:avLst/>
                    </a:prstTxWarp>
                  </a:bodyPr>
                  <a:lstStyle/>
                  <a:p>
                    <a:pPr marL="0" marR="0" lvl="0" indent="0" algn="ctr" defTabSz="878053" rtl="0" eaLnBrk="1" fontAlgn="base" latinLnBrk="0" hangingPunct="1">
                      <a:lnSpc>
                        <a:spcPct val="100000"/>
                      </a:lnSpc>
                      <a:spcBef>
                        <a:spcPts val="0"/>
                      </a:spcBef>
                      <a:spcAft>
                        <a:spcPts val="0"/>
                      </a:spcAft>
                      <a:buClrTx/>
                      <a:buSzTx/>
                      <a:buFontTx/>
                      <a:buNone/>
                      <a:tabLst/>
                      <a:defRPr/>
                    </a:pPr>
                    <a:endParaRPr kumimoji="0" lang="en-US" sz="1567" b="0" i="0" u="none" strike="noStrike" kern="0" cap="none" spc="0" normalizeH="0" baseline="0" noProof="0">
                      <a:ln>
                        <a:noFill/>
                      </a:ln>
                      <a:solidFill>
                        <a:srgbClr val="505050"/>
                      </a:solidFill>
                      <a:effectLst/>
                      <a:uLnTx/>
                      <a:uFillTx/>
                      <a:latin typeface="Segoe UI"/>
                      <a:ea typeface="+mn-ea"/>
                      <a:cs typeface="+mn-cs"/>
                    </a:endParaRPr>
                  </a:p>
                </p:txBody>
              </p:sp>
            </p:grpSp>
            <p:sp>
              <p:nvSpPr>
                <p:cNvPr id="99" name="Rectangle 98">
                  <a:extLst>
                    <a:ext uri="{FF2B5EF4-FFF2-40B4-BE49-F238E27FC236}">
                      <a16:creationId xmlns:a16="http://schemas.microsoft.com/office/drawing/2014/main" id="{B326A14F-8BC1-0FE9-F973-18C3D5C477F4}"/>
                    </a:ext>
                  </a:extLst>
                </p:cNvPr>
                <p:cNvSpPr/>
                <p:nvPr/>
              </p:nvSpPr>
              <p:spPr>
                <a:xfrm>
                  <a:off x="1316310" y="2859046"/>
                  <a:ext cx="762897" cy="417587"/>
                </a:xfrm>
                <a:prstGeom prst="rect">
                  <a:avLst/>
                </a:prstGeom>
                <a:solidFill>
                  <a:schemeClr val="bg1"/>
                </a:solidFill>
                <a:ln w="19050" cap="flat" cmpd="sng" algn="ctr">
                  <a:noFill/>
                  <a:prstDash val="solid"/>
                  <a:miter lim="800000"/>
                </a:ln>
                <a:effectLst/>
              </p:spPr>
              <p:txBody>
                <a:bodyPr rtlCol="0" anchor="ctr"/>
                <a:lstStyle/>
                <a:p>
                  <a:pPr marL="0" marR="0" lvl="0" indent="0" algn="ctr" defTabSz="913665"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grpSp>
              <p:nvGrpSpPr>
                <p:cNvPr id="100" name="Group 99">
                  <a:extLst>
                    <a:ext uri="{FF2B5EF4-FFF2-40B4-BE49-F238E27FC236}">
                      <a16:creationId xmlns:a16="http://schemas.microsoft.com/office/drawing/2014/main" id="{A8AEC3EC-5F0E-88BA-8C28-EA355B444B5D}"/>
                    </a:ext>
                    <a:ext uri="{C183D7F6-B498-43B3-948B-1728B52AA6E4}">
                      <adec:decorative xmlns:adec="http://schemas.microsoft.com/office/drawing/2017/decorative" val="1"/>
                    </a:ext>
                  </a:extLst>
                </p:cNvPr>
                <p:cNvGrpSpPr/>
                <p:nvPr/>
              </p:nvGrpSpPr>
              <p:grpSpPr>
                <a:xfrm flipH="1">
                  <a:off x="1568887" y="2931385"/>
                  <a:ext cx="257748" cy="272908"/>
                  <a:chOff x="10172984" y="2471788"/>
                  <a:chExt cx="543580" cy="575555"/>
                </a:xfrm>
              </p:grpSpPr>
              <p:sp>
                <p:nvSpPr>
                  <p:cNvPr id="101" name="Freeform 8">
                    <a:extLst>
                      <a:ext uri="{FF2B5EF4-FFF2-40B4-BE49-F238E27FC236}">
                        <a16:creationId xmlns:a16="http://schemas.microsoft.com/office/drawing/2014/main" id="{DA07DBAA-A7AD-053D-D876-D0F62B227557}"/>
                      </a:ext>
                      <a:ext uri="{C183D7F6-B498-43B3-948B-1728B52AA6E4}">
                        <adec:decorative xmlns:adec="http://schemas.microsoft.com/office/drawing/2017/decorative" val="1"/>
                      </a:ext>
                    </a:extLst>
                  </p:cNvPr>
                  <p:cNvSpPr>
                    <a:spLocks/>
                  </p:cNvSpPr>
                  <p:nvPr/>
                </p:nvSpPr>
                <p:spPr bwMode="auto">
                  <a:xfrm>
                    <a:off x="10211354" y="2471788"/>
                    <a:ext cx="466840" cy="204642"/>
                  </a:xfrm>
                  <a:custGeom>
                    <a:avLst/>
                    <a:gdLst>
                      <a:gd name="T0" fmla="*/ 73 w 146"/>
                      <a:gd name="T1" fmla="*/ 0 h 64"/>
                      <a:gd name="T2" fmla="*/ 0 w 146"/>
                      <a:gd name="T3" fmla="*/ 31 h 64"/>
                      <a:gd name="T4" fmla="*/ 73 w 146"/>
                      <a:gd name="T5" fmla="*/ 64 h 64"/>
                      <a:gd name="T6" fmla="*/ 146 w 146"/>
                      <a:gd name="T7" fmla="*/ 31 h 64"/>
                      <a:gd name="T8" fmla="*/ 73 w 146"/>
                      <a:gd name="T9" fmla="*/ 0 h 64"/>
                      <a:gd name="T10" fmla="*/ 73 w 146"/>
                      <a:gd name="T11" fmla="*/ 0 h 64"/>
                    </a:gdLst>
                    <a:ahLst/>
                    <a:cxnLst>
                      <a:cxn ang="0">
                        <a:pos x="T0" y="T1"/>
                      </a:cxn>
                      <a:cxn ang="0">
                        <a:pos x="T2" y="T3"/>
                      </a:cxn>
                      <a:cxn ang="0">
                        <a:pos x="T4" y="T5"/>
                      </a:cxn>
                      <a:cxn ang="0">
                        <a:pos x="T6" y="T7"/>
                      </a:cxn>
                      <a:cxn ang="0">
                        <a:pos x="T8" y="T9"/>
                      </a:cxn>
                      <a:cxn ang="0">
                        <a:pos x="T10" y="T11"/>
                      </a:cxn>
                    </a:cxnLst>
                    <a:rect l="0" t="0" r="r" b="b"/>
                    <a:pathLst>
                      <a:path w="146" h="64">
                        <a:moveTo>
                          <a:pt x="73" y="0"/>
                        </a:moveTo>
                        <a:lnTo>
                          <a:pt x="0" y="31"/>
                        </a:lnTo>
                        <a:lnTo>
                          <a:pt x="73" y="64"/>
                        </a:lnTo>
                        <a:lnTo>
                          <a:pt x="146" y="31"/>
                        </a:lnTo>
                        <a:lnTo>
                          <a:pt x="73" y="0"/>
                        </a:lnTo>
                        <a:lnTo>
                          <a:pt x="73"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842" tIns="43921" rIns="87842" bIns="43921" numCol="1" anchor="t" anchorCtr="0" compatLnSpc="1">
                    <a:prstTxWarp prst="textNoShape">
                      <a:avLst/>
                    </a:prstTxWarp>
                  </a:bodyPr>
                  <a:lstStyle/>
                  <a:p>
                    <a:pPr marL="0" marR="0" lvl="0" indent="0" algn="ctr" defTabSz="878221" rtl="0" eaLnBrk="1" fontAlgn="base" latinLnBrk="0" hangingPunct="1">
                      <a:lnSpc>
                        <a:spcPct val="100000"/>
                      </a:lnSpc>
                      <a:spcBef>
                        <a:spcPts val="0"/>
                      </a:spcBef>
                      <a:spcAft>
                        <a:spcPts val="0"/>
                      </a:spcAft>
                      <a:buClrTx/>
                      <a:buSzTx/>
                      <a:buFontTx/>
                      <a:buNone/>
                      <a:tabLst/>
                      <a:defRPr/>
                    </a:pPr>
                    <a:endParaRPr kumimoji="0" lang="en-US" sz="1567" b="0" i="0" u="none" strike="noStrike" kern="1200" cap="none" spc="0" normalizeH="0" baseline="0" noProof="0">
                      <a:ln>
                        <a:noFill/>
                      </a:ln>
                      <a:solidFill>
                        <a:srgbClr val="505050"/>
                      </a:solidFill>
                      <a:effectLst/>
                      <a:uLnTx/>
                      <a:uFillTx/>
                      <a:latin typeface="Segoe UI"/>
                      <a:ea typeface="+mn-ea"/>
                      <a:cs typeface="+mn-cs"/>
                    </a:endParaRPr>
                  </a:p>
                </p:txBody>
              </p:sp>
              <p:sp>
                <p:nvSpPr>
                  <p:cNvPr id="102" name="Freeform 9">
                    <a:extLst>
                      <a:ext uri="{FF2B5EF4-FFF2-40B4-BE49-F238E27FC236}">
                        <a16:creationId xmlns:a16="http://schemas.microsoft.com/office/drawing/2014/main" id="{0EDD8885-A7C1-93CA-632E-40B1B4412C46}"/>
                      </a:ext>
                      <a:ext uri="{C183D7F6-B498-43B3-948B-1728B52AA6E4}">
                        <adec:decorative xmlns:adec="http://schemas.microsoft.com/office/drawing/2017/decorative" val="1"/>
                      </a:ext>
                    </a:extLst>
                  </p:cNvPr>
                  <p:cNvSpPr>
                    <a:spLocks/>
                  </p:cNvSpPr>
                  <p:nvPr/>
                </p:nvSpPr>
                <p:spPr bwMode="auto">
                  <a:xfrm>
                    <a:off x="10473552" y="2618873"/>
                    <a:ext cx="243012" cy="428470"/>
                  </a:xfrm>
                  <a:custGeom>
                    <a:avLst/>
                    <a:gdLst>
                      <a:gd name="T0" fmla="*/ 0 w 76"/>
                      <a:gd name="T1" fmla="*/ 35 h 134"/>
                      <a:gd name="T2" fmla="*/ 0 w 76"/>
                      <a:gd name="T3" fmla="*/ 134 h 134"/>
                      <a:gd name="T4" fmla="*/ 76 w 76"/>
                      <a:gd name="T5" fmla="*/ 101 h 134"/>
                      <a:gd name="T6" fmla="*/ 76 w 76"/>
                      <a:gd name="T7" fmla="*/ 0 h 134"/>
                      <a:gd name="T8" fmla="*/ 0 w 76"/>
                      <a:gd name="T9" fmla="*/ 35 h 134"/>
                      <a:gd name="T10" fmla="*/ 0 w 76"/>
                      <a:gd name="T11" fmla="*/ 35 h 134"/>
                    </a:gdLst>
                    <a:ahLst/>
                    <a:cxnLst>
                      <a:cxn ang="0">
                        <a:pos x="T0" y="T1"/>
                      </a:cxn>
                      <a:cxn ang="0">
                        <a:pos x="T2" y="T3"/>
                      </a:cxn>
                      <a:cxn ang="0">
                        <a:pos x="T4" y="T5"/>
                      </a:cxn>
                      <a:cxn ang="0">
                        <a:pos x="T6" y="T7"/>
                      </a:cxn>
                      <a:cxn ang="0">
                        <a:pos x="T8" y="T9"/>
                      </a:cxn>
                      <a:cxn ang="0">
                        <a:pos x="T10" y="T11"/>
                      </a:cxn>
                    </a:cxnLst>
                    <a:rect l="0" t="0" r="r" b="b"/>
                    <a:pathLst>
                      <a:path w="76" h="134">
                        <a:moveTo>
                          <a:pt x="0" y="35"/>
                        </a:moveTo>
                        <a:lnTo>
                          <a:pt x="0" y="134"/>
                        </a:lnTo>
                        <a:lnTo>
                          <a:pt x="76" y="101"/>
                        </a:lnTo>
                        <a:lnTo>
                          <a:pt x="76" y="0"/>
                        </a:lnTo>
                        <a:lnTo>
                          <a:pt x="0" y="35"/>
                        </a:lnTo>
                        <a:lnTo>
                          <a:pt x="0" y="35"/>
                        </a:lnTo>
                        <a:close/>
                      </a:path>
                    </a:pathLst>
                  </a:custGeom>
                  <a:solidFill>
                    <a:srgbClr val="50E6FF"/>
                  </a:solidFill>
                  <a:ln w="12700" cap="flat">
                    <a:solidFill>
                      <a:srgbClr val="50E6FF"/>
                    </a:solidFill>
                    <a:prstDash val="solid"/>
                    <a:miter lim="800000"/>
                    <a:headEnd/>
                    <a:tailEnd/>
                  </a:ln>
                </p:spPr>
                <p:txBody>
                  <a:bodyPr vert="horz" wrap="square" lIns="89592" tIns="44796" rIns="89592" bIns="44796" numCol="1" anchor="t" anchorCtr="0" compatLnSpc="1">
                    <a:prstTxWarp prst="textNoShape">
                      <a:avLst/>
                    </a:prstTxWarp>
                  </a:bodyPr>
                  <a:lstStyle/>
                  <a:p>
                    <a:pPr marL="0" marR="0" lvl="0" indent="0" algn="l" defTabSz="895870"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103" name="Freeform 10">
                    <a:extLst>
                      <a:ext uri="{FF2B5EF4-FFF2-40B4-BE49-F238E27FC236}">
                        <a16:creationId xmlns:a16="http://schemas.microsoft.com/office/drawing/2014/main" id="{6C5A414C-9076-23A2-1A90-2461860614B1}"/>
                      </a:ext>
                      <a:ext uri="{C183D7F6-B498-43B3-948B-1728B52AA6E4}">
                        <adec:decorative xmlns:adec="http://schemas.microsoft.com/office/drawing/2017/decorative" val="1"/>
                      </a:ext>
                    </a:extLst>
                  </p:cNvPr>
                  <p:cNvSpPr>
                    <a:spLocks/>
                  </p:cNvSpPr>
                  <p:nvPr/>
                </p:nvSpPr>
                <p:spPr bwMode="auto">
                  <a:xfrm>
                    <a:off x="10172984" y="2618873"/>
                    <a:ext cx="246211" cy="428470"/>
                  </a:xfrm>
                  <a:custGeom>
                    <a:avLst/>
                    <a:gdLst>
                      <a:gd name="T0" fmla="*/ 0 w 77"/>
                      <a:gd name="T1" fmla="*/ 101 h 134"/>
                      <a:gd name="T2" fmla="*/ 77 w 77"/>
                      <a:gd name="T3" fmla="*/ 134 h 134"/>
                      <a:gd name="T4" fmla="*/ 77 w 77"/>
                      <a:gd name="T5" fmla="*/ 35 h 134"/>
                      <a:gd name="T6" fmla="*/ 0 w 77"/>
                      <a:gd name="T7" fmla="*/ 0 h 134"/>
                      <a:gd name="T8" fmla="*/ 0 w 77"/>
                      <a:gd name="T9" fmla="*/ 101 h 134"/>
                      <a:gd name="T10" fmla="*/ 0 w 77"/>
                      <a:gd name="T11" fmla="*/ 101 h 134"/>
                    </a:gdLst>
                    <a:ahLst/>
                    <a:cxnLst>
                      <a:cxn ang="0">
                        <a:pos x="T0" y="T1"/>
                      </a:cxn>
                      <a:cxn ang="0">
                        <a:pos x="T2" y="T3"/>
                      </a:cxn>
                      <a:cxn ang="0">
                        <a:pos x="T4" y="T5"/>
                      </a:cxn>
                      <a:cxn ang="0">
                        <a:pos x="T6" y="T7"/>
                      </a:cxn>
                      <a:cxn ang="0">
                        <a:pos x="T8" y="T9"/>
                      </a:cxn>
                      <a:cxn ang="0">
                        <a:pos x="T10" y="T11"/>
                      </a:cxn>
                    </a:cxnLst>
                    <a:rect l="0" t="0" r="r" b="b"/>
                    <a:pathLst>
                      <a:path w="77" h="134">
                        <a:moveTo>
                          <a:pt x="0" y="101"/>
                        </a:moveTo>
                        <a:lnTo>
                          <a:pt x="77" y="134"/>
                        </a:lnTo>
                        <a:lnTo>
                          <a:pt x="77" y="35"/>
                        </a:lnTo>
                        <a:lnTo>
                          <a:pt x="0" y="0"/>
                        </a:lnTo>
                        <a:lnTo>
                          <a:pt x="0" y="101"/>
                        </a:lnTo>
                        <a:lnTo>
                          <a:pt x="0" y="101"/>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842" tIns="43921" rIns="87842" bIns="43921" numCol="1" anchor="t" anchorCtr="0" compatLnSpc="1">
                    <a:prstTxWarp prst="textNoShape">
                      <a:avLst/>
                    </a:prstTxWarp>
                  </a:bodyPr>
                  <a:lstStyle/>
                  <a:p>
                    <a:pPr marL="0" marR="0" lvl="0" indent="0" algn="ctr" defTabSz="878221" rtl="0" eaLnBrk="1" fontAlgn="base" latinLnBrk="0" hangingPunct="1">
                      <a:lnSpc>
                        <a:spcPct val="100000"/>
                      </a:lnSpc>
                      <a:spcBef>
                        <a:spcPts val="0"/>
                      </a:spcBef>
                      <a:spcAft>
                        <a:spcPts val="0"/>
                      </a:spcAft>
                      <a:buClrTx/>
                      <a:buSzTx/>
                      <a:buFontTx/>
                      <a:buNone/>
                      <a:tabLst/>
                      <a:defRPr/>
                    </a:pPr>
                    <a:endParaRPr kumimoji="0" lang="en-US" sz="1567" b="0" i="0" u="none" strike="noStrike" kern="1200" cap="none" spc="0" normalizeH="0" baseline="0" noProof="0">
                      <a:ln>
                        <a:noFill/>
                      </a:ln>
                      <a:solidFill>
                        <a:srgbClr val="505050"/>
                      </a:solidFill>
                      <a:effectLst/>
                      <a:uLnTx/>
                      <a:uFillTx/>
                      <a:latin typeface="Segoe UI"/>
                      <a:ea typeface="+mn-ea"/>
                      <a:cs typeface="+mn-cs"/>
                    </a:endParaRPr>
                  </a:p>
                </p:txBody>
              </p:sp>
            </p:grpSp>
          </p:grpSp>
          <p:grpSp>
            <p:nvGrpSpPr>
              <p:cNvPr id="77" name="Group 76">
                <a:extLst>
                  <a:ext uri="{FF2B5EF4-FFF2-40B4-BE49-F238E27FC236}">
                    <a16:creationId xmlns:a16="http://schemas.microsoft.com/office/drawing/2014/main" id="{F7EAA8FF-B953-0EE4-53DB-DE9F9C74E13E}"/>
                  </a:ext>
                </a:extLst>
              </p:cNvPr>
              <p:cNvGrpSpPr/>
              <p:nvPr/>
            </p:nvGrpSpPr>
            <p:grpSpPr>
              <a:xfrm>
                <a:off x="10168043" y="2811297"/>
                <a:ext cx="1052968" cy="858126"/>
                <a:chOff x="1217647" y="2772668"/>
                <a:chExt cx="960223" cy="782542"/>
              </a:xfrm>
            </p:grpSpPr>
            <p:sp>
              <p:nvSpPr>
                <p:cNvPr id="88" name="Freeform 53">
                  <a:extLst>
                    <a:ext uri="{FF2B5EF4-FFF2-40B4-BE49-F238E27FC236}">
                      <a16:creationId xmlns:a16="http://schemas.microsoft.com/office/drawing/2014/main" id="{965FE887-861C-C192-C934-7DCCAC21C49F}"/>
                    </a:ext>
                  </a:extLst>
                </p:cNvPr>
                <p:cNvSpPr>
                  <a:spLocks/>
                </p:cNvSpPr>
                <p:nvPr/>
              </p:nvSpPr>
              <p:spPr bwMode="auto">
                <a:xfrm>
                  <a:off x="1217647" y="2772668"/>
                  <a:ext cx="960223" cy="585961"/>
                </a:xfrm>
                <a:custGeom>
                  <a:avLst/>
                  <a:gdLst>
                    <a:gd name="T0" fmla="*/ 0 w 240"/>
                    <a:gd name="T1" fmla="*/ 11 h 147"/>
                    <a:gd name="T2" fmla="*/ 0 w 240"/>
                    <a:gd name="T3" fmla="*/ 137 h 147"/>
                    <a:gd name="T4" fmla="*/ 11 w 240"/>
                    <a:gd name="T5" fmla="*/ 147 h 147"/>
                    <a:gd name="T6" fmla="*/ 230 w 240"/>
                    <a:gd name="T7" fmla="*/ 147 h 147"/>
                    <a:gd name="T8" fmla="*/ 240 w 240"/>
                    <a:gd name="T9" fmla="*/ 137 h 147"/>
                    <a:gd name="T10" fmla="*/ 240 w 240"/>
                    <a:gd name="T11" fmla="*/ 11 h 147"/>
                    <a:gd name="T12" fmla="*/ 230 w 240"/>
                    <a:gd name="T13" fmla="*/ 0 h 147"/>
                    <a:gd name="T14" fmla="*/ 11 w 240"/>
                    <a:gd name="T15" fmla="*/ 0 h 147"/>
                    <a:gd name="T16" fmla="*/ 0 w 240"/>
                    <a:gd name="T17" fmla="*/ 11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0" h="147">
                      <a:moveTo>
                        <a:pt x="0" y="11"/>
                      </a:moveTo>
                      <a:cubicBezTo>
                        <a:pt x="0" y="137"/>
                        <a:pt x="0" y="137"/>
                        <a:pt x="0" y="137"/>
                      </a:cubicBezTo>
                      <a:cubicBezTo>
                        <a:pt x="0" y="142"/>
                        <a:pt x="5" y="147"/>
                        <a:pt x="11" y="147"/>
                      </a:cubicBezTo>
                      <a:cubicBezTo>
                        <a:pt x="230" y="147"/>
                        <a:pt x="230" y="147"/>
                        <a:pt x="230" y="147"/>
                      </a:cubicBezTo>
                      <a:cubicBezTo>
                        <a:pt x="236" y="147"/>
                        <a:pt x="240" y="142"/>
                        <a:pt x="240" y="137"/>
                      </a:cubicBezTo>
                      <a:cubicBezTo>
                        <a:pt x="240" y="11"/>
                        <a:pt x="240" y="11"/>
                        <a:pt x="240" y="11"/>
                      </a:cubicBezTo>
                      <a:cubicBezTo>
                        <a:pt x="240" y="5"/>
                        <a:pt x="236" y="0"/>
                        <a:pt x="230" y="0"/>
                      </a:cubicBezTo>
                      <a:cubicBezTo>
                        <a:pt x="11" y="0"/>
                        <a:pt x="11" y="0"/>
                        <a:pt x="11" y="0"/>
                      </a:cubicBezTo>
                      <a:cubicBezTo>
                        <a:pt x="5" y="0"/>
                        <a:pt x="0" y="5"/>
                        <a:pt x="0" y="11"/>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830" tIns="43914" rIns="87830" bIns="43914" numCol="1" anchor="t" anchorCtr="0" compatLnSpc="1">
                  <a:prstTxWarp prst="textNoShape">
                    <a:avLst/>
                  </a:prstTxWarp>
                </a:bodyPr>
                <a:lstStyle/>
                <a:p>
                  <a:pPr marL="0" marR="0" lvl="0" indent="0" algn="ctr" defTabSz="878053" rtl="0" eaLnBrk="1" fontAlgn="base" latinLnBrk="0" hangingPunct="1">
                    <a:lnSpc>
                      <a:spcPct val="100000"/>
                    </a:lnSpc>
                    <a:spcBef>
                      <a:spcPts val="0"/>
                    </a:spcBef>
                    <a:spcAft>
                      <a:spcPts val="0"/>
                    </a:spcAft>
                    <a:buClrTx/>
                    <a:buSzTx/>
                    <a:buFontTx/>
                    <a:buNone/>
                    <a:tabLst/>
                    <a:defRPr/>
                  </a:pPr>
                  <a:endParaRPr kumimoji="0" lang="en-US" sz="1567" b="0" i="0" u="none" strike="noStrike" kern="0" cap="none" spc="0" normalizeH="0" baseline="0" noProof="0">
                    <a:ln>
                      <a:noFill/>
                    </a:ln>
                    <a:solidFill>
                      <a:srgbClr val="505050"/>
                    </a:solidFill>
                    <a:effectLst/>
                    <a:uLnTx/>
                    <a:uFillTx/>
                    <a:latin typeface="Segoe UI"/>
                    <a:ea typeface="+mn-ea"/>
                    <a:cs typeface="+mn-cs"/>
                  </a:endParaRPr>
                </a:p>
              </p:txBody>
            </p:sp>
            <p:grpSp>
              <p:nvGrpSpPr>
                <p:cNvPr id="89" name="Group 88">
                  <a:extLst>
                    <a:ext uri="{FF2B5EF4-FFF2-40B4-BE49-F238E27FC236}">
                      <a16:creationId xmlns:a16="http://schemas.microsoft.com/office/drawing/2014/main" id="{ACA59F23-5DAE-6B98-E160-0E732AD1EF2A}"/>
                    </a:ext>
                  </a:extLst>
                </p:cNvPr>
                <p:cNvGrpSpPr/>
                <p:nvPr/>
              </p:nvGrpSpPr>
              <p:grpSpPr>
                <a:xfrm>
                  <a:off x="1217647" y="2772668"/>
                  <a:ext cx="960223" cy="782542"/>
                  <a:chOff x="2122727" y="5360538"/>
                  <a:chExt cx="579864" cy="472564"/>
                </a:xfrm>
              </p:grpSpPr>
              <p:sp>
                <p:nvSpPr>
                  <p:cNvPr id="95" name="Freeform 54">
                    <a:extLst>
                      <a:ext uri="{FF2B5EF4-FFF2-40B4-BE49-F238E27FC236}">
                        <a16:creationId xmlns:a16="http://schemas.microsoft.com/office/drawing/2014/main" id="{B17536B8-A635-4670-A590-128BEAC68EE3}"/>
                      </a:ext>
                    </a:extLst>
                  </p:cNvPr>
                  <p:cNvSpPr>
                    <a:spLocks/>
                  </p:cNvSpPr>
                  <p:nvPr/>
                </p:nvSpPr>
                <p:spPr bwMode="auto">
                  <a:xfrm>
                    <a:off x="2122727" y="5625356"/>
                    <a:ext cx="579864" cy="207746"/>
                  </a:xfrm>
                  <a:custGeom>
                    <a:avLst/>
                    <a:gdLst>
                      <a:gd name="T0" fmla="*/ 0 w 240"/>
                      <a:gd name="T1" fmla="*/ 0 h 86"/>
                      <a:gd name="T2" fmla="*/ 0 w 240"/>
                      <a:gd name="T3" fmla="*/ 27 h 86"/>
                      <a:gd name="T4" fmla="*/ 11 w 240"/>
                      <a:gd name="T5" fmla="*/ 37 h 86"/>
                      <a:gd name="T6" fmla="*/ 115 w 240"/>
                      <a:gd name="T7" fmla="*/ 37 h 86"/>
                      <a:gd name="T8" fmla="*/ 115 w 240"/>
                      <a:gd name="T9" fmla="*/ 74 h 86"/>
                      <a:gd name="T10" fmla="*/ 59 w 240"/>
                      <a:gd name="T11" fmla="*/ 74 h 86"/>
                      <a:gd name="T12" fmla="*/ 59 w 240"/>
                      <a:gd name="T13" fmla="*/ 86 h 86"/>
                      <a:gd name="T14" fmla="*/ 182 w 240"/>
                      <a:gd name="T15" fmla="*/ 86 h 86"/>
                      <a:gd name="T16" fmla="*/ 182 w 240"/>
                      <a:gd name="T17" fmla="*/ 74 h 86"/>
                      <a:gd name="T18" fmla="*/ 126 w 240"/>
                      <a:gd name="T19" fmla="*/ 74 h 86"/>
                      <a:gd name="T20" fmla="*/ 126 w 240"/>
                      <a:gd name="T21" fmla="*/ 37 h 86"/>
                      <a:gd name="T22" fmla="*/ 230 w 240"/>
                      <a:gd name="T23" fmla="*/ 37 h 86"/>
                      <a:gd name="T24" fmla="*/ 240 w 240"/>
                      <a:gd name="T25" fmla="*/ 27 h 86"/>
                      <a:gd name="T26" fmla="*/ 240 w 240"/>
                      <a:gd name="T27" fmla="*/ 0 h 86"/>
                      <a:gd name="T28" fmla="*/ 0 w 240"/>
                      <a:gd name="T29"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0" h="86">
                        <a:moveTo>
                          <a:pt x="0" y="0"/>
                        </a:moveTo>
                        <a:cubicBezTo>
                          <a:pt x="0" y="27"/>
                          <a:pt x="0" y="27"/>
                          <a:pt x="0" y="27"/>
                        </a:cubicBezTo>
                        <a:cubicBezTo>
                          <a:pt x="0" y="32"/>
                          <a:pt x="5" y="37"/>
                          <a:pt x="11" y="37"/>
                        </a:cubicBezTo>
                        <a:cubicBezTo>
                          <a:pt x="115" y="37"/>
                          <a:pt x="115" y="37"/>
                          <a:pt x="115" y="37"/>
                        </a:cubicBezTo>
                        <a:cubicBezTo>
                          <a:pt x="115" y="74"/>
                          <a:pt x="115" y="74"/>
                          <a:pt x="115" y="74"/>
                        </a:cubicBezTo>
                        <a:cubicBezTo>
                          <a:pt x="59" y="74"/>
                          <a:pt x="59" y="74"/>
                          <a:pt x="59" y="74"/>
                        </a:cubicBezTo>
                        <a:cubicBezTo>
                          <a:pt x="59" y="86"/>
                          <a:pt x="59" y="86"/>
                          <a:pt x="59" y="86"/>
                        </a:cubicBezTo>
                        <a:cubicBezTo>
                          <a:pt x="182" y="86"/>
                          <a:pt x="182" y="86"/>
                          <a:pt x="182" y="86"/>
                        </a:cubicBezTo>
                        <a:cubicBezTo>
                          <a:pt x="182" y="74"/>
                          <a:pt x="182" y="74"/>
                          <a:pt x="182" y="74"/>
                        </a:cubicBezTo>
                        <a:cubicBezTo>
                          <a:pt x="126" y="74"/>
                          <a:pt x="126" y="74"/>
                          <a:pt x="126" y="74"/>
                        </a:cubicBezTo>
                        <a:cubicBezTo>
                          <a:pt x="126" y="37"/>
                          <a:pt x="126" y="37"/>
                          <a:pt x="126" y="37"/>
                        </a:cubicBezTo>
                        <a:cubicBezTo>
                          <a:pt x="230" y="37"/>
                          <a:pt x="230" y="37"/>
                          <a:pt x="230" y="37"/>
                        </a:cubicBezTo>
                        <a:cubicBezTo>
                          <a:pt x="236" y="37"/>
                          <a:pt x="240" y="32"/>
                          <a:pt x="240" y="27"/>
                        </a:cubicBezTo>
                        <a:cubicBezTo>
                          <a:pt x="240" y="0"/>
                          <a:pt x="240" y="0"/>
                          <a:pt x="240" y="0"/>
                        </a:cubicBezTo>
                        <a:lnTo>
                          <a:pt x="0" y="0"/>
                        </a:lnTo>
                        <a:close/>
                      </a:path>
                    </a:pathLst>
                  </a:custGeom>
                  <a:solidFill>
                    <a:schemeClr val="accent1"/>
                  </a:solidFill>
                  <a:ln>
                    <a:noFill/>
                  </a:ln>
                </p:spPr>
                <p:txBody>
                  <a:bodyPr vert="horz" wrap="square" lIns="87830" tIns="43914" rIns="87830" bIns="43914" numCol="1" anchor="t" anchorCtr="0" compatLnSpc="1">
                    <a:prstTxWarp prst="textNoShape">
                      <a:avLst/>
                    </a:prstTxWarp>
                  </a:bodyPr>
                  <a:lstStyle/>
                  <a:p>
                    <a:pPr marL="0" marR="0" lvl="0" indent="0" algn="ctr" defTabSz="878053" rtl="0" eaLnBrk="1" fontAlgn="base" latinLnBrk="0" hangingPunct="1">
                      <a:lnSpc>
                        <a:spcPct val="100000"/>
                      </a:lnSpc>
                      <a:spcBef>
                        <a:spcPts val="0"/>
                      </a:spcBef>
                      <a:spcAft>
                        <a:spcPts val="0"/>
                      </a:spcAft>
                      <a:buClrTx/>
                      <a:buSzTx/>
                      <a:buFontTx/>
                      <a:buNone/>
                      <a:tabLst/>
                      <a:defRPr/>
                    </a:pPr>
                    <a:endParaRPr kumimoji="0" lang="en-US" sz="1567" b="0" i="0" u="none" strike="noStrike" kern="0" cap="none" spc="0" normalizeH="0" baseline="0" noProof="0">
                      <a:ln>
                        <a:noFill/>
                      </a:ln>
                      <a:solidFill>
                        <a:srgbClr val="505050"/>
                      </a:solidFill>
                      <a:effectLst/>
                      <a:uLnTx/>
                      <a:uFillTx/>
                      <a:latin typeface="Segoe UI"/>
                      <a:ea typeface="+mn-ea"/>
                      <a:cs typeface="+mn-cs"/>
                    </a:endParaRPr>
                  </a:p>
                </p:txBody>
              </p:sp>
              <p:sp>
                <p:nvSpPr>
                  <p:cNvPr id="96" name="Freeform 173">
                    <a:extLst>
                      <a:ext uri="{FF2B5EF4-FFF2-40B4-BE49-F238E27FC236}">
                        <a16:creationId xmlns:a16="http://schemas.microsoft.com/office/drawing/2014/main" id="{96502231-A161-633B-C325-5EB575252A62}"/>
                      </a:ext>
                    </a:extLst>
                  </p:cNvPr>
                  <p:cNvSpPr>
                    <a:spLocks/>
                  </p:cNvSpPr>
                  <p:nvPr/>
                </p:nvSpPr>
                <p:spPr bwMode="auto">
                  <a:xfrm>
                    <a:off x="2122730" y="5360538"/>
                    <a:ext cx="328742" cy="264818"/>
                  </a:xfrm>
                  <a:custGeom>
                    <a:avLst/>
                    <a:gdLst>
                      <a:gd name="T0" fmla="*/ 0 w 136"/>
                      <a:gd name="T1" fmla="*/ 110 h 110"/>
                      <a:gd name="T2" fmla="*/ 27 w 136"/>
                      <a:gd name="T3" fmla="*/ 110 h 110"/>
                      <a:gd name="T4" fmla="*/ 136 w 136"/>
                      <a:gd name="T5" fmla="*/ 0 h 110"/>
                      <a:gd name="T6" fmla="*/ 10 w 136"/>
                      <a:gd name="T7" fmla="*/ 0 h 110"/>
                      <a:gd name="T8" fmla="*/ 0 w 136"/>
                      <a:gd name="T9" fmla="*/ 10 h 110"/>
                      <a:gd name="T10" fmla="*/ 0 w 136"/>
                      <a:gd name="T11" fmla="*/ 110 h 110"/>
                    </a:gdLst>
                    <a:ahLst/>
                    <a:cxnLst>
                      <a:cxn ang="0">
                        <a:pos x="T0" y="T1"/>
                      </a:cxn>
                      <a:cxn ang="0">
                        <a:pos x="T2" y="T3"/>
                      </a:cxn>
                      <a:cxn ang="0">
                        <a:pos x="T4" y="T5"/>
                      </a:cxn>
                      <a:cxn ang="0">
                        <a:pos x="T6" y="T7"/>
                      </a:cxn>
                      <a:cxn ang="0">
                        <a:pos x="T8" y="T9"/>
                      </a:cxn>
                      <a:cxn ang="0">
                        <a:pos x="T10" y="T11"/>
                      </a:cxn>
                    </a:cxnLst>
                    <a:rect l="0" t="0" r="r" b="b"/>
                    <a:pathLst>
                      <a:path w="136" h="110">
                        <a:moveTo>
                          <a:pt x="0" y="110"/>
                        </a:moveTo>
                        <a:cubicBezTo>
                          <a:pt x="27" y="110"/>
                          <a:pt x="27" y="110"/>
                          <a:pt x="27" y="110"/>
                        </a:cubicBezTo>
                        <a:cubicBezTo>
                          <a:pt x="136" y="0"/>
                          <a:pt x="136" y="0"/>
                          <a:pt x="136" y="0"/>
                        </a:cubicBezTo>
                        <a:cubicBezTo>
                          <a:pt x="10" y="0"/>
                          <a:pt x="10" y="0"/>
                          <a:pt x="10" y="0"/>
                        </a:cubicBezTo>
                        <a:cubicBezTo>
                          <a:pt x="5" y="0"/>
                          <a:pt x="0" y="5"/>
                          <a:pt x="0" y="10"/>
                        </a:cubicBezTo>
                        <a:lnTo>
                          <a:pt x="0" y="110"/>
                        </a:lnTo>
                        <a:close/>
                      </a:path>
                    </a:pathLst>
                  </a:custGeom>
                  <a:solidFill>
                    <a:schemeClr val="accent1"/>
                  </a:solidFill>
                  <a:ln>
                    <a:noFill/>
                  </a:ln>
                </p:spPr>
                <p:txBody>
                  <a:bodyPr vert="horz" wrap="square" lIns="87830" tIns="43914" rIns="87830" bIns="43914" numCol="1" anchor="t" anchorCtr="0" compatLnSpc="1">
                    <a:prstTxWarp prst="textNoShape">
                      <a:avLst/>
                    </a:prstTxWarp>
                  </a:bodyPr>
                  <a:lstStyle/>
                  <a:p>
                    <a:pPr marL="0" marR="0" lvl="0" indent="0" algn="ctr" defTabSz="878053" rtl="0" eaLnBrk="1" fontAlgn="base" latinLnBrk="0" hangingPunct="1">
                      <a:lnSpc>
                        <a:spcPct val="100000"/>
                      </a:lnSpc>
                      <a:spcBef>
                        <a:spcPts val="0"/>
                      </a:spcBef>
                      <a:spcAft>
                        <a:spcPts val="0"/>
                      </a:spcAft>
                      <a:buClrTx/>
                      <a:buSzTx/>
                      <a:buFontTx/>
                      <a:buNone/>
                      <a:tabLst/>
                      <a:defRPr/>
                    </a:pPr>
                    <a:endParaRPr kumimoji="0" lang="en-US" sz="1567" b="0" i="0" u="none" strike="noStrike" kern="0" cap="none" spc="0" normalizeH="0" baseline="0" noProof="0">
                      <a:ln>
                        <a:noFill/>
                      </a:ln>
                      <a:solidFill>
                        <a:srgbClr val="505050"/>
                      </a:solidFill>
                      <a:effectLst/>
                      <a:uLnTx/>
                      <a:uFillTx/>
                      <a:latin typeface="Segoe UI"/>
                      <a:ea typeface="+mn-ea"/>
                      <a:cs typeface="+mn-cs"/>
                    </a:endParaRPr>
                  </a:p>
                </p:txBody>
              </p:sp>
            </p:grpSp>
            <p:sp>
              <p:nvSpPr>
                <p:cNvPr id="90" name="Rectangle 89">
                  <a:extLst>
                    <a:ext uri="{FF2B5EF4-FFF2-40B4-BE49-F238E27FC236}">
                      <a16:creationId xmlns:a16="http://schemas.microsoft.com/office/drawing/2014/main" id="{F6A7B6D6-ADB3-141B-C5BE-ED51094AC5A1}"/>
                    </a:ext>
                  </a:extLst>
                </p:cNvPr>
                <p:cNvSpPr/>
                <p:nvPr/>
              </p:nvSpPr>
              <p:spPr>
                <a:xfrm>
                  <a:off x="1316310" y="2859046"/>
                  <a:ext cx="762897" cy="417587"/>
                </a:xfrm>
                <a:prstGeom prst="rect">
                  <a:avLst/>
                </a:prstGeom>
                <a:solidFill>
                  <a:schemeClr val="bg1"/>
                </a:solidFill>
                <a:ln w="19050" cap="flat" cmpd="sng" algn="ctr">
                  <a:noFill/>
                  <a:prstDash val="solid"/>
                  <a:miter lim="800000"/>
                </a:ln>
                <a:effectLst/>
              </p:spPr>
              <p:txBody>
                <a:bodyPr rtlCol="0" anchor="ctr"/>
                <a:lstStyle/>
                <a:p>
                  <a:pPr marL="0" marR="0" lvl="0" indent="0" algn="ctr" defTabSz="913665"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grpSp>
              <p:nvGrpSpPr>
                <p:cNvPr id="91" name="Group 90">
                  <a:extLst>
                    <a:ext uri="{FF2B5EF4-FFF2-40B4-BE49-F238E27FC236}">
                      <a16:creationId xmlns:a16="http://schemas.microsoft.com/office/drawing/2014/main" id="{27812B8C-35D3-9653-1B9C-837D5060D8E9}"/>
                    </a:ext>
                    <a:ext uri="{C183D7F6-B498-43B3-948B-1728B52AA6E4}">
                      <adec:decorative xmlns:adec="http://schemas.microsoft.com/office/drawing/2017/decorative" val="1"/>
                    </a:ext>
                  </a:extLst>
                </p:cNvPr>
                <p:cNvGrpSpPr/>
                <p:nvPr/>
              </p:nvGrpSpPr>
              <p:grpSpPr>
                <a:xfrm flipH="1">
                  <a:off x="1568887" y="2931385"/>
                  <a:ext cx="257748" cy="272908"/>
                  <a:chOff x="10172984" y="2471788"/>
                  <a:chExt cx="543580" cy="575555"/>
                </a:xfrm>
              </p:grpSpPr>
              <p:sp>
                <p:nvSpPr>
                  <p:cNvPr id="92" name="Freeform 8">
                    <a:extLst>
                      <a:ext uri="{FF2B5EF4-FFF2-40B4-BE49-F238E27FC236}">
                        <a16:creationId xmlns:a16="http://schemas.microsoft.com/office/drawing/2014/main" id="{F85777CD-FDC4-CAA5-3EF5-8F8F8F3B7071}"/>
                      </a:ext>
                      <a:ext uri="{C183D7F6-B498-43B3-948B-1728B52AA6E4}">
                        <adec:decorative xmlns:adec="http://schemas.microsoft.com/office/drawing/2017/decorative" val="1"/>
                      </a:ext>
                    </a:extLst>
                  </p:cNvPr>
                  <p:cNvSpPr>
                    <a:spLocks/>
                  </p:cNvSpPr>
                  <p:nvPr/>
                </p:nvSpPr>
                <p:spPr bwMode="auto">
                  <a:xfrm>
                    <a:off x="10211354" y="2471788"/>
                    <a:ext cx="466840" cy="204642"/>
                  </a:xfrm>
                  <a:custGeom>
                    <a:avLst/>
                    <a:gdLst>
                      <a:gd name="T0" fmla="*/ 73 w 146"/>
                      <a:gd name="T1" fmla="*/ 0 h 64"/>
                      <a:gd name="T2" fmla="*/ 0 w 146"/>
                      <a:gd name="T3" fmla="*/ 31 h 64"/>
                      <a:gd name="T4" fmla="*/ 73 w 146"/>
                      <a:gd name="T5" fmla="*/ 64 h 64"/>
                      <a:gd name="T6" fmla="*/ 146 w 146"/>
                      <a:gd name="T7" fmla="*/ 31 h 64"/>
                      <a:gd name="T8" fmla="*/ 73 w 146"/>
                      <a:gd name="T9" fmla="*/ 0 h 64"/>
                      <a:gd name="T10" fmla="*/ 73 w 146"/>
                      <a:gd name="T11" fmla="*/ 0 h 64"/>
                    </a:gdLst>
                    <a:ahLst/>
                    <a:cxnLst>
                      <a:cxn ang="0">
                        <a:pos x="T0" y="T1"/>
                      </a:cxn>
                      <a:cxn ang="0">
                        <a:pos x="T2" y="T3"/>
                      </a:cxn>
                      <a:cxn ang="0">
                        <a:pos x="T4" y="T5"/>
                      </a:cxn>
                      <a:cxn ang="0">
                        <a:pos x="T6" y="T7"/>
                      </a:cxn>
                      <a:cxn ang="0">
                        <a:pos x="T8" y="T9"/>
                      </a:cxn>
                      <a:cxn ang="0">
                        <a:pos x="T10" y="T11"/>
                      </a:cxn>
                    </a:cxnLst>
                    <a:rect l="0" t="0" r="r" b="b"/>
                    <a:pathLst>
                      <a:path w="146" h="64">
                        <a:moveTo>
                          <a:pt x="73" y="0"/>
                        </a:moveTo>
                        <a:lnTo>
                          <a:pt x="0" y="31"/>
                        </a:lnTo>
                        <a:lnTo>
                          <a:pt x="73" y="64"/>
                        </a:lnTo>
                        <a:lnTo>
                          <a:pt x="146" y="31"/>
                        </a:lnTo>
                        <a:lnTo>
                          <a:pt x="73" y="0"/>
                        </a:lnTo>
                        <a:lnTo>
                          <a:pt x="73"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842" tIns="43921" rIns="87842" bIns="43921" numCol="1" anchor="t" anchorCtr="0" compatLnSpc="1">
                    <a:prstTxWarp prst="textNoShape">
                      <a:avLst/>
                    </a:prstTxWarp>
                  </a:bodyPr>
                  <a:lstStyle/>
                  <a:p>
                    <a:pPr marL="0" marR="0" lvl="0" indent="0" algn="ctr" defTabSz="878221" rtl="0" eaLnBrk="1" fontAlgn="base" latinLnBrk="0" hangingPunct="1">
                      <a:lnSpc>
                        <a:spcPct val="100000"/>
                      </a:lnSpc>
                      <a:spcBef>
                        <a:spcPts val="0"/>
                      </a:spcBef>
                      <a:spcAft>
                        <a:spcPts val="0"/>
                      </a:spcAft>
                      <a:buClrTx/>
                      <a:buSzTx/>
                      <a:buFontTx/>
                      <a:buNone/>
                      <a:tabLst/>
                      <a:defRPr/>
                    </a:pPr>
                    <a:endParaRPr kumimoji="0" lang="en-US" sz="1567" b="0" i="0" u="none" strike="noStrike" kern="1200" cap="none" spc="0" normalizeH="0" baseline="0" noProof="0">
                      <a:ln>
                        <a:noFill/>
                      </a:ln>
                      <a:solidFill>
                        <a:srgbClr val="505050"/>
                      </a:solidFill>
                      <a:effectLst/>
                      <a:uLnTx/>
                      <a:uFillTx/>
                      <a:latin typeface="Segoe UI"/>
                      <a:ea typeface="+mn-ea"/>
                      <a:cs typeface="+mn-cs"/>
                    </a:endParaRPr>
                  </a:p>
                </p:txBody>
              </p:sp>
              <p:sp>
                <p:nvSpPr>
                  <p:cNvPr id="93" name="Freeform 9">
                    <a:extLst>
                      <a:ext uri="{FF2B5EF4-FFF2-40B4-BE49-F238E27FC236}">
                        <a16:creationId xmlns:a16="http://schemas.microsoft.com/office/drawing/2014/main" id="{54E03405-C2D1-C58B-F754-856CDA9A2490}"/>
                      </a:ext>
                      <a:ext uri="{C183D7F6-B498-43B3-948B-1728B52AA6E4}">
                        <adec:decorative xmlns:adec="http://schemas.microsoft.com/office/drawing/2017/decorative" val="1"/>
                      </a:ext>
                    </a:extLst>
                  </p:cNvPr>
                  <p:cNvSpPr>
                    <a:spLocks/>
                  </p:cNvSpPr>
                  <p:nvPr/>
                </p:nvSpPr>
                <p:spPr bwMode="auto">
                  <a:xfrm>
                    <a:off x="10473552" y="2618873"/>
                    <a:ext cx="243012" cy="428470"/>
                  </a:xfrm>
                  <a:custGeom>
                    <a:avLst/>
                    <a:gdLst>
                      <a:gd name="T0" fmla="*/ 0 w 76"/>
                      <a:gd name="T1" fmla="*/ 35 h 134"/>
                      <a:gd name="T2" fmla="*/ 0 w 76"/>
                      <a:gd name="T3" fmla="*/ 134 h 134"/>
                      <a:gd name="T4" fmla="*/ 76 w 76"/>
                      <a:gd name="T5" fmla="*/ 101 h 134"/>
                      <a:gd name="T6" fmla="*/ 76 w 76"/>
                      <a:gd name="T7" fmla="*/ 0 h 134"/>
                      <a:gd name="T8" fmla="*/ 0 w 76"/>
                      <a:gd name="T9" fmla="*/ 35 h 134"/>
                      <a:gd name="T10" fmla="*/ 0 w 76"/>
                      <a:gd name="T11" fmla="*/ 35 h 134"/>
                    </a:gdLst>
                    <a:ahLst/>
                    <a:cxnLst>
                      <a:cxn ang="0">
                        <a:pos x="T0" y="T1"/>
                      </a:cxn>
                      <a:cxn ang="0">
                        <a:pos x="T2" y="T3"/>
                      </a:cxn>
                      <a:cxn ang="0">
                        <a:pos x="T4" y="T5"/>
                      </a:cxn>
                      <a:cxn ang="0">
                        <a:pos x="T6" y="T7"/>
                      </a:cxn>
                      <a:cxn ang="0">
                        <a:pos x="T8" y="T9"/>
                      </a:cxn>
                      <a:cxn ang="0">
                        <a:pos x="T10" y="T11"/>
                      </a:cxn>
                    </a:cxnLst>
                    <a:rect l="0" t="0" r="r" b="b"/>
                    <a:pathLst>
                      <a:path w="76" h="134">
                        <a:moveTo>
                          <a:pt x="0" y="35"/>
                        </a:moveTo>
                        <a:lnTo>
                          <a:pt x="0" y="134"/>
                        </a:lnTo>
                        <a:lnTo>
                          <a:pt x="76" y="101"/>
                        </a:lnTo>
                        <a:lnTo>
                          <a:pt x="76" y="0"/>
                        </a:lnTo>
                        <a:lnTo>
                          <a:pt x="0" y="35"/>
                        </a:lnTo>
                        <a:lnTo>
                          <a:pt x="0" y="35"/>
                        </a:lnTo>
                        <a:close/>
                      </a:path>
                    </a:pathLst>
                  </a:custGeom>
                  <a:solidFill>
                    <a:srgbClr val="50E6FF"/>
                  </a:solidFill>
                  <a:ln w="12700" cap="flat">
                    <a:solidFill>
                      <a:srgbClr val="50E6FF"/>
                    </a:solidFill>
                    <a:prstDash val="solid"/>
                    <a:miter lim="800000"/>
                    <a:headEnd/>
                    <a:tailEnd/>
                  </a:ln>
                </p:spPr>
                <p:txBody>
                  <a:bodyPr vert="horz" wrap="square" lIns="89592" tIns="44796" rIns="89592" bIns="44796" numCol="1" anchor="t" anchorCtr="0" compatLnSpc="1">
                    <a:prstTxWarp prst="textNoShape">
                      <a:avLst/>
                    </a:prstTxWarp>
                  </a:bodyPr>
                  <a:lstStyle/>
                  <a:p>
                    <a:pPr marL="0" marR="0" lvl="0" indent="0" algn="l" defTabSz="895870"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94" name="Freeform 10">
                    <a:extLst>
                      <a:ext uri="{FF2B5EF4-FFF2-40B4-BE49-F238E27FC236}">
                        <a16:creationId xmlns:a16="http://schemas.microsoft.com/office/drawing/2014/main" id="{9F09DAF3-EC86-0264-2B27-2DD86376B893}"/>
                      </a:ext>
                      <a:ext uri="{C183D7F6-B498-43B3-948B-1728B52AA6E4}">
                        <adec:decorative xmlns:adec="http://schemas.microsoft.com/office/drawing/2017/decorative" val="1"/>
                      </a:ext>
                    </a:extLst>
                  </p:cNvPr>
                  <p:cNvSpPr>
                    <a:spLocks/>
                  </p:cNvSpPr>
                  <p:nvPr/>
                </p:nvSpPr>
                <p:spPr bwMode="auto">
                  <a:xfrm>
                    <a:off x="10172984" y="2618873"/>
                    <a:ext cx="246211" cy="428470"/>
                  </a:xfrm>
                  <a:custGeom>
                    <a:avLst/>
                    <a:gdLst>
                      <a:gd name="T0" fmla="*/ 0 w 77"/>
                      <a:gd name="T1" fmla="*/ 101 h 134"/>
                      <a:gd name="T2" fmla="*/ 77 w 77"/>
                      <a:gd name="T3" fmla="*/ 134 h 134"/>
                      <a:gd name="T4" fmla="*/ 77 w 77"/>
                      <a:gd name="T5" fmla="*/ 35 h 134"/>
                      <a:gd name="T6" fmla="*/ 0 w 77"/>
                      <a:gd name="T7" fmla="*/ 0 h 134"/>
                      <a:gd name="T8" fmla="*/ 0 w 77"/>
                      <a:gd name="T9" fmla="*/ 101 h 134"/>
                      <a:gd name="T10" fmla="*/ 0 w 77"/>
                      <a:gd name="T11" fmla="*/ 101 h 134"/>
                    </a:gdLst>
                    <a:ahLst/>
                    <a:cxnLst>
                      <a:cxn ang="0">
                        <a:pos x="T0" y="T1"/>
                      </a:cxn>
                      <a:cxn ang="0">
                        <a:pos x="T2" y="T3"/>
                      </a:cxn>
                      <a:cxn ang="0">
                        <a:pos x="T4" y="T5"/>
                      </a:cxn>
                      <a:cxn ang="0">
                        <a:pos x="T6" y="T7"/>
                      </a:cxn>
                      <a:cxn ang="0">
                        <a:pos x="T8" y="T9"/>
                      </a:cxn>
                      <a:cxn ang="0">
                        <a:pos x="T10" y="T11"/>
                      </a:cxn>
                    </a:cxnLst>
                    <a:rect l="0" t="0" r="r" b="b"/>
                    <a:pathLst>
                      <a:path w="77" h="134">
                        <a:moveTo>
                          <a:pt x="0" y="101"/>
                        </a:moveTo>
                        <a:lnTo>
                          <a:pt x="77" y="134"/>
                        </a:lnTo>
                        <a:lnTo>
                          <a:pt x="77" y="35"/>
                        </a:lnTo>
                        <a:lnTo>
                          <a:pt x="0" y="0"/>
                        </a:lnTo>
                        <a:lnTo>
                          <a:pt x="0" y="101"/>
                        </a:lnTo>
                        <a:lnTo>
                          <a:pt x="0" y="101"/>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842" tIns="43921" rIns="87842" bIns="43921" numCol="1" anchor="t" anchorCtr="0" compatLnSpc="1">
                    <a:prstTxWarp prst="textNoShape">
                      <a:avLst/>
                    </a:prstTxWarp>
                  </a:bodyPr>
                  <a:lstStyle/>
                  <a:p>
                    <a:pPr marL="0" marR="0" lvl="0" indent="0" algn="ctr" defTabSz="878221" rtl="0" eaLnBrk="1" fontAlgn="base" latinLnBrk="0" hangingPunct="1">
                      <a:lnSpc>
                        <a:spcPct val="100000"/>
                      </a:lnSpc>
                      <a:spcBef>
                        <a:spcPts val="0"/>
                      </a:spcBef>
                      <a:spcAft>
                        <a:spcPts val="0"/>
                      </a:spcAft>
                      <a:buClrTx/>
                      <a:buSzTx/>
                      <a:buFontTx/>
                      <a:buNone/>
                      <a:tabLst/>
                      <a:defRPr/>
                    </a:pPr>
                    <a:endParaRPr kumimoji="0" lang="en-US" sz="1567" b="0" i="0" u="none" strike="noStrike" kern="1200" cap="none" spc="0" normalizeH="0" baseline="0" noProof="0">
                      <a:ln>
                        <a:noFill/>
                      </a:ln>
                      <a:solidFill>
                        <a:srgbClr val="505050"/>
                      </a:solidFill>
                      <a:effectLst/>
                      <a:uLnTx/>
                      <a:uFillTx/>
                      <a:latin typeface="Segoe UI"/>
                      <a:ea typeface="+mn-ea"/>
                      <a:cs typeface="+mn-cs"/>
                    </a:endParaRPr>
                  </a:p>
                </p:txBody>
              </p:sp>
            </p:grpSp>
          </p:grpSp>
          <p:grpSp>
            <p:nvGrpSpPr>
              <p:cNvPr id="78" name="Group 77">
                <a:extLst>
                  <a:ext uri="{FF2B5EF4-FFF2-40B4-BE49-F238E27FC236}">
                    <a16:creationId xmlns:a16="http://schemas.microsoft.com/office/drawing/2014/main" id="{017255EB-2A29-87DA-273B-9A8CBF4A5529}"/>
                  </a:ext>
                </a:extLst>
              </p:cNvPr>
              <p:cNvGrpSpPr/>
              <p:nvPr/>
            </p:nvGrpSpPr>
            <p:grpSpPr>
              <a:xfrm>
                <a:off x="9768092" y="3177598"/>
                <a:ext cx="1052968" cy="858126"/>
                <a:chOff x="1217647" y="2772668"/>
                <a:chExt cx="960223" cy="782542"/>
              </a:xfrm>
            </p:grpSpPr>
            <p:sp>
              <p:nvSpPr>
                <p:cNvPr id="79" name="Freeform 53">
                  <a:extLst>
                    <a:ext uri="{FF2B5EF4-FFF2-40B4-BE49-F238E27FC236}">
                      <a16:creationId xmlns:a16="http://schemas.microsoft.com/office/drawing/2014/main" id="{3917CAAC-B1BF-EA9C-76E3-BDFFC3A0365F}"/>
                    </a:ext>
                  </a:extLst>
                </p:cNvPr>
                <p:cNvSpPr>
                  <a:spLocks/>
                </p:cNvSpPr>
                <p:nvPr/>
              </p:nvSpPr>
              <p:spPr bwMode="auto">
                <a:xfrm>
                  <a:off x="1217647" y="2772668"/>
                  <a:ext cx="960223" cy="585961"/>
                </a:xfrm>
                <a:custGeom>
                  <a:avLst/>
                  <a:gdLst>
                    <a:gd name="T0" fmla="*/ 0 w 240"/>
                    <a:gd name="T1" fmla="*/ 11 h 147"/>
                    <a:gd name="T2" fmla="*/ 0 w 240"/>
                    <a:gd name="T3" fmla="*/ 137 h 147"/>
                    <a:gd name="T4" fmla="*/ 11 w 240"/>
                    <a:gd name="T5" fmla="*/ 147 h 147"/>
                    <a:gd name="T6" fmla="*/ 230 w 240"/>
                    <a:gd name="T7" fmla="*/ 147 h 147"/>
                    <a:gd name="T8" fmla="*/ 240 w 240"/>
                    <a:gd name="T9" fmla="*/ 137 h 147"/>
                    <a:gd name="T10" fmla="*/ 240 w 240"/>
                    <a:gd name="T11" fmla="*/ 11 h 147"/>
                    <a:gd name="T12" fmla="*/ 230 w 240"/>
                    <a:gd name="T13" fmla="*/ 0 h 147"/>
                    <a:gd name="T14" fmla="*/ 11 w 240"/>
                    <a:gd name="T15" fmla="*/ 0 h 147"/>
                    <a:gd name="T16" fmla="*/ 0 w 240"/>
                    <a:gd name="T17" fmla="*/ 11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0" h="147">
                      <a:moveTo>
                        <a:pt x="0" y="11"/>
                      </a:moveTo>
                      <a:cubicBezTo>
                        <a:pt x="0" y="137"/>
                        <a:pt x="0" y="137"/>
                        <a:pt x="0" y="137"/>
                      </a:cubicBezTo>
                      <a:cubicBezTo>
                        <a:pt x="0" y="142"/>
                        <a:pt x="5" y="147"/>
                        <a:pt x="11" y="147"/>
                      </a:cubicBezTo>
                      <a:cubicBezTo>
                        <a:pt x="230" y="147"/>
                        <a:pt x="230" y="147"/>
                        <a:pt x="230" y="147"/>
                      </a:cubicBezTo>
                      <a:cubicBezTo>
                        <a:pt x="236" y="147"/>
                        <a:pt x="240" y="142"/>
                        <a:pt x="240" y="137"/>
                      </a:cubicBezTo>
                      <a:cubicBezTo>
                        <a:pt x="240" y="11"/>
                        <a:pt x="240" y="11"/>
                        <a:pt x="240" y="11"/>
                      </a:cubicBezTo>
                      <a:cubicBezTo>
                        <a:pt x="240" y="5"/>
                        <a:pt x="236" y="0"/>
                        <a:pt x="230" y="0"/>
                      </a:cubicBezTo>
                      <a:cubicBezTo>
                        <a:pt x="11" y="0"/>
                        <a:pt x="11" y="0"/>
                        <a:pt x="11" y="0"/>
                      </a:cubicBezTo>
                      <a:cubicBezTo>
                        <a:pt x="5" y="0"/>
                        <a:pt x="0" y="5"/>
                        <a:pt x="0" y="11"/>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830" tIns="43914" rIns="87830" bIns="43914" numCol="1" anchor="t" anchorCtr="0" compatLnSpc="1">
                  <a:prstTxWarp prst="textNoShape">
                    <a:avLst/>
                  </a:prstTxWarp>
                </a:bodyPr>
                <a:lstStyle/>
                <a:p>
                  <a:pPr marL="0" marR="0" lvl="0" indent="0" algn="ctr" defTabSz="878053" rtl="0" eaLnBrk="1" fontAlgn="base" latinLnBrk="0" hangingPunct="1">
                    <a:lnSpc>
                      <a:spcPct val="100000"/>
                    </a:lnSpc>
                    <a:spcBef>
                      <a:spcPts val="0"/>
                    </a:spcBef>
                    <a:spcAft>
                      <a:spcPts val="0"/>
                    </a:spcAft>
                    <a:buClrTx/>
                    <a:buSzTx/>
                    <a:buFontTx/>
                    <a:buNone/>
                    <a:tabLst/>
                    <a:defRPr/>
                  </a:pPr>
                  <a:endParaRPr kumimoji="0" lang="en-US" sz="1567" b="0" i="0" u="none" strike="noStrike" kern="0" cap="none" spc="0" normalizeH="0" baseline="0" noProof="0">
                    <a:ln>
                      <a:noFill/>
                    </a:ln>
                    <a:solidFill>
                      <a:srgbClr val="505050"/>
                    </a:solidFill>
                    <a:effectLst/>
                    <a:uLnTx/>
                    <a:uFillTx/>
                    <a:latin typeface="Segoe UI"/>
                    <a:ea typeface="+mn-ea"/>
                    <a:cs typeface="+mn-cs"/>
                  </a:endParaRPr>
                </a:p>
              </p:txBody>
            </p:sp>
            <p:grpSp>
              <p:nvGrpSpPr>
                <p:cNvPr id="80" name="Group 79">
                  <a:extLst>
                    <a:ext uri="{FF2B5EF4-FFF2-40B4-BE49-F238E27FC236}">
                      <a16:creationId xmlns:a16="http://schemas.microsoft.com/office/drawing/2014/main" id="{F211F8CE-102B-15FF-5327-89CBE8C7DBD0}"/>
                    </a:ext>
                  </a:extLst>
                </p:cNvPr>
                <p:cNvGrpSpPr/>
                <p:nvPr/>
              </p:nvGrpSpPr>
              <p:grpSpPr>
                <a:xfrm>
                  <a:off x="1217647" y="2772668"/>
                  <a:ext cx="960223" cy="782542"/>
                  <a:chOff x="2122727" y="5360538"/>
                  <a:chExt cx="579864" cy="472564"/>
                </a:xfrm>
              </p:grpSpPr>
              <p:sp>
                <p:nvSpPr>
                  <p:cNvPr id="86" name="Freeform 54">
                    <a:extLst>
                      <a:ext uri="{FF2B5EF4-FFF2-40B4-BE49-F238E27FC236}">
                        <a16:creationId xmlns:a16="http://schemas.microsoft.com/office/drawing/2014/main" id="{33FB627B-0B60-D1C1-677C-17888F28D46D}"/>
                      </a:ext>
                    </a:extLst>
                  </p:cNvPr>
                  <p:cNvSpPr>
                    <a:spLocks/>
                  </p:cNvSpPr>
                  <p:nvPr/>
                </p:nvSpPr>
                <p:spPr bwMode="auto">
                  <a:xfrm>
                    <a:off x="2122727" y="5625356"/>
                    <a:ext cx="579864" cy="207746"/>
                  </a:xfrm>
                  <a:custGeom>
                    <a:avLst/>
                    <a:gdLst>
                      <a:gd name="T0" fmla="*/ 0 w 240"/>
                      <a:gd name="T1" fmla="*/ 0 h 86"/>
                      <a:gd name="T2" fmla="*/ 0 w 240"/>
                      <a:gd name="T3" fmla="*/ 27 h 86"/>
                      <a:gd name="T4" fmla="*/ 11 w 240"/>
                      <a:gd name="T5" fmla="*/ 37 h 86"/>
                      <a:gd name="T6" fmla="*/ 115 w 240"/>
                      <a:gd name="T7" fmla="*/ 37 h 86"/>
                      <a:gd name="T8" fmla="*/ 115 w 240"/>
                      <a:gd name="T9" fmla="*/ 74 h 86"/>
                      <a:gd name="T10" fmla="*/ 59 w 240"/>
                      <a:gd name="T11" fmla="*/ 74 h 86"/>
                      <a:gd name="T12" fmla="*/ 59 w 240"/>
                      <a:gd name="T13" fmla="*/ 86 h 86"/>
                      <a:gd name="T14" fmla="*/ 182 w 240"/>
                      <a:gd name="T15" fmla="*/ 86 h 86"/>
                      <a:gd name="T16" fmla="*/ 182 w 240"/>
                      <a:gd name="T17" fmla="*/ 74 h 86"/>
                      <a:gd name="T18" fmla="*/ 126 w 240"/>
                      <a:gd name="T19" fmla="*/ 74 h 86"/>
                      <a:gd name="T20" fmla="*/ 126 w 240"/>
                      <a:gd name="T21" fmla="*/ 37 h 86"/>
                      <a:gd name="T22" fmla="*/ 230 w 240"/>
                      <a:gd name="T23" fmla="*/ 37 h 86"/>
                      <a:gd name="T24" fmla="*/ 240 w 240"/>
                      <a:gd name="T25" fmla="*/ 27 h 86"/>
                      <a:gd name="T26" fmla="*/ 240 w 240"/>
                      <a:gd name="T27" fmla="*/ 0 h 86"/>
                      <a:gd name="T28" fmla="*/ 0 w 240"/>
                      <a:gd name="T29"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0" h="86">
                        <a:moveTo>
                          <a:pt x="0" y="0"/>
                        </a:moveTo>
                        <a:cubicBezTo>
                          <a:pt x="0" y="27"/>
                          <a:pt x="0" y="27"/>
                          <a:pt x="0" y="27"/>
                        </a:cubicBezTo>
                        <a:cubicBezTo>
                          <a:pt x="0" y="32"/>
                          <a:pt x="5" y="37"/>
                          <a:pt x="11" y="37"/>
                        </a:cubicBezTo>
                        <a:cubicBezTo>
                          <a:pt x="115" y="37"/>
                          <a:pt x="115" y="37"/>
                          <a:pt x="115" y="37"/>
                        </a:cubicBezTo>
                        <a:cubicBezTo>
                          <a:pt x="115" y="74"/>
                          <a:pt x="115" y="74"/>
                          <a:pt x="115" y="74"/>
                        </a:cubicBezTo>
                        <a:cubicBezTo>
                          <a:pt x="59" y="74"/>
                          <a:pt x="59" y="74"/>
                          <a:pt x="59" y="74"/>
                        </a:cubicBezTo>
                        <a:cubicBezTo>
                          <a:pt x="59" y="86"/>
                          <a:pt x="59" y="86"/>
                          <a:pt x="59" y="86"/>
                        </a:cubicBezTo>
                        <a:cubicBezTo>
                          <a:pt x="182" y="86"/>
                          <a:pt x="182" y="86"/>
                          <a:pt x="182" y="86"/>
                        </a:cubicBezTo>
                        <a:cubicBezTo>
                          <a:pt x="182" y="74"/>
                          <a:pt x="182" y="74"/>
                          <a:pt x="182" y="74"/>
                        </a:cubicBezTo>
                        <a:cubicBezTo>
                          <a:pt x="126" y="74"/>
                          <a:pt x="126" y="74"/>
                          <a:pt x="126" y="74"/>
                        </a:cubicBezTo>
                        <a:cubicBezTo>
                          <a:pt x="126" y="37"/>
                          <a:pt x="126" y="37"/>
                          <a:pt x="126" y="37"/>
                        </a:cubicBezTo>
                        <a:cubicBezTo>
                          <a:pt x="230" y="37"/>
                          <a:pt x="230" y="37"/>
                          <a:pt x="230" y="37"/>
                        </a:cubicBezTo>
                        <a:cubicBezTo>
                          <a:pt x="236" y="37"/>
                          <a:pt x="240" y="32"/>
                          <a:pt x="240" y="27"/>
                        </a:cubicBezTo>
                        <a:cubicBezTo>
                          <a:pt x="240" y="0"/>
                          <a:pt x="240" y="0"/>
                          <a:pt x="240" y="0"/>
                        </a:cubicBezTo>
                        <a:lnTo>
                          <a:pt x="0" y="0"/>
                        </a:lnTo>
                        <a:close/>
                      </a:path>
                    </a:pathLst>
                  </a:custGeom>
                  <a:solidFill>
                    <a:schemeClr val="accent1"/>
                  </a:solidFill>
                  <a:ln>
                    <a:noFill/>
                  </a:ln>
                </p:spPr>
                <p:txBody>
                  <a:bodyPr vert="horz" wrap="square" lIns="87830" tIns="43914" rIns="87830" bIns="43914" numCol="1" anchor="t" anchorCtr="0" compatLnSpc="1">
                    <a:prstTxWarp prst="textNoShape">
                      <a:avLst/>
                    </a:prstTxWarp>
                  </a:bodyPr>
                  <a:lstStyle/>
                  <a:p>
                    <a:pPr marL="0" marR="0" lvl="0" indent="0" algn="ctr" defTabSz="878053" rtl="0" eaLnBrk="1" fontAlgn="base" latinLnBrk="0" hangingPunct="1">
                      <a:lnSpc>
                        <a:spcPct val="100000"/>
                      </a:lnSpc>
                      <a:spcBef>
                        <a:spcPts val="0"/>
                      </a:spcBef>
                      <a:spcAft>
                        <a:spcPts val="0"/>
                      </a:spcAft>
                      <a:buClrTx/>
                      <a:buSzTx/>
                      <a:buFontTx/>
                      <a:buNone/>
                      <a:tabLst/>
                      <a:defRPr/>
                    </a:pPr>
                    <a:endParaRPr kumimoji="0" lang="en-US" sz="1567" b="0" i="0" u="none" strike="noStrike" kern="0" cap="none" spc="0" normalizeH="0" baseline="0" noProof="0">
                      <a:ln>
                        <a:noFill/>
                      </a:ln>
                      <a:solidFill>
                        <a:srgbClr val="505050"/>
                      </a:solidFill>
                      <a:effectLst/>
                      <a:uLnTx/>
                      <a:uFillTx/>
                      <a:latin typeface="Segoe UI"/>
                      <a:ea typeface="+mn-ea"/>
                      <a:cs typeface="+mn-cs"/>
                    </a:endParaRPr>
                  </a:p>
                </p:txBody>
              </p:sp>
              <p:sp>
                <p:nvSpPr>
                  <p:cNvPr id="87" name="Freeform 173">
                    <a:extLst>
                      <a:ext uri="{FF2B5EF4-FFF2-40B4-BE49-F238E27FC236}">
                        <a16:creationId xmlns:a16="http://schemas.microsoft.com/office/drawing/2014/main" id="{BC5B107C-F042-3272-D2A9-FD5A3135E7B8}"/>
                      </a:ext>
                    </a:extLst>
                  </p:cNvPr>
                  <p:cNvSpPr>
                    <a:spLocks/>
                  </p:cNvSpPr>
                  <p:nvPr/>
                </p:nvSpPr>
                <p:spPr bwMode="auto">
                  <a:xfrm>
                    <a:off x="2122730" y="5360538"/>
                    <a:ext cx="328742" cy="264818"/>
                  </a:xfrm>
                  <a:custGeom>
                    <a:avLst/>
                    <a:gdLst>
                      <a:gd name="T0" fmla="*/ 0 w 136"/>
                      <a:gd name="T1" fmla="*/ 110 h 110"/>
                      <a:gd name="T2" fmla="*/ 27 w 136"/>
                      <a:gd name="T3" fmla="*/ 110 h 110"/>
                      <a:gd name="T4" fmla="*/ 136 w 136"/>
                      <a:gd name="T5" fmla="*/ 0 h 110"/>
                      <a:gd name="T6" fmla="*/ 10 w 136"/>
                      <a:gd name="T7" fmla="*/ 0 h 110"/>
                      <a:gd name="T8" fmla="*/ 0 w 136"/>
                      <a:gd name="T9" fmla="*/ 10 h 110"/>
                      <a:gd name="T10" fmla="*/ 0 w 136"/>
                      <a:gd name="T11" fmla="*/ 110 h 110"/>
                    </a:gdLst>
                    <a:ahLst/>
                    <a:cxnLst>
                      <a:cxn ang="0">
                        <a:pos x="T0" y="T1"/>
                      </a:cxn>
                      <a:cxn ang="0">
                        <a:pos x="T2" y="T3"/>
                      </a:cxn>
                      <a:cxn ang="0">
                        <a:pos x="T4" y="T5"/>
                      </a:cxn>
                      <a:cxn ang="0">
                        <a:pos x="T6" y="T7"/>
                      </a:cxn>
                      <a:cxn ang="0">
                        <a:pos x="T8" y="T9"/>
                      </a:cxn>
                      <a:cxn ang="0">
                        <a:pos x="T10" y="T11"/>
                      </a:cxn>
                    </a:cxnLst>
                    <a:rect l="0" t="0" r="r" b="b"/>
                    <a:pathLst>
                      <a:path w="136" h="110">
                        <a:moveTo>
                          <a:pt x="0" y="110"/>
                        </a:moveTo>
                        <a:cubicBezTo>
                          <a:pt x="27" y="110"/>
                          <a:pt x="27" y="110"/>
                          <a:pt x="27" y="110"/>
                        </a:cubicBezTo>
                        <a:cubicBezTo>
                          <a:pt x="136" y="0"/>
                          <a:pt x="136" y="0"/>
                          <a:pt x="136" y="0"/>
                        </a:cubicBezTo>
                        <a:cubicBezTo>
                          <a:pt x="10" y="0"/>
                          <a:pt x="10" y="0"/>
                          <a:pt x="10" y="0"/>
                        </a:cubicBezTo>
                        <a:cubicBezTo>
                          <a:pt x="5" y="0"/>
                          <a:pt x="0" y="5"/>
                          <a:pt x="0" y="10"/>
                        </a:cubicBezTo>
                        <a:lnTo>
                          <a:pt x="0" y="110"/>
                        </a:lnTo>
                        <a:close/>
                      </a:path>
                    </a:pathLst>
                  </a:custGeom>
                  <a:solidFill>
                    <a:schemeClr val="accent1"/>
                  </a:solidFill>
                  <a:ln>
                    <a:noFill/>
                  </a:ln>
                </p:spPr>
                <p:txBody>
                  <a:bodyPr vert="horz" wrap="square" lIns="87830" tIns="43914" rIns="87830" bIns="43914" numCol="1" anchor="t" anchorCtr="0" compatLnSpc="1">
                    <a:prstTxWarp prst="textNoShape">
                      <a:avLst/>
                    </a:prstTxWarp>
                  </a:bodyPr>
                  <a:lstStyle/>
                  <a:p>
                    <a:pPr marL="0" marR="0" lvl="0" indent="0" algn="ctr" defTabSz="878053" rtl="0" eaLnBrk="1" fontAlgn="base" latinLnBrk="0" hangingPunct="1">
                      <a:lnSpc>
                        <a:spcPct val="100000"/>
                      </a:lnSpc>
                      <a:spcBef>
                        <a:spcPts val="0"/>
                      </a:spcBef>
                      <a:spcAft>
                        <a:spcPts val="0"/>
                      </a:spcAft>
                      <a:buClrTx/>
                      <a:buSzTx/>
                      <a:buFontTx/>
                      <a:buNone/>
                      <a:tabLst/>
                      <a:defRPr/>
                    </a:pPr>
                    <a:endParaRPr kumimoji="0" lang="en-US" sz="1567" b="0" i="0" u="none" strike="noStrike" kern="0" cap="none" spc="0" normalizeH="0" baseline="0" noProof="0">
                      <a:ln>
                        <a:noFill/>
                      </a:ln>
                      <a:solidFill>
                        <a:srgbClr val="505050"/>
                      </a:solidFill>
                      <a:effectLst/>
                      <a:uLnTx/>
                      <a:uFillTx/>
                      <a:latin typeface="Segoe UI"/>
                      <a:ea typeface="+mn-ea"/>
                      <a:cs typeface="+mn-cs"/>
                    </a:endParaRPr>
                  </a:p>
                </p:txBody>
              </p:sp>
            </p:grpSp>
            <p:sp>
              <p:nvSpPr>
                <p:cNvPr id="81" name="Rectangle 80">
                  <a:extLst>
                    <a:ext uri="{FF2B5EF4-FFF2-40B4-BE49-F238E27FC236}">
                      <a16:creationId xmlns:a16="http://schemas.microsoft.com/office/drawing/2014/main" id="{D6869148-F00C-9F65-8645-94CC1656EAF1}"/>
                    </a:ext>
                  </a:extLst>
                </p:cNvPr>
                <p:cNvSpPr/>
                <p:nvPr/>
              </p:nvSpPr>
              <p:spPr>
                <a:xfrm>
                  <a:off x="1316310" y="2859046"/>
                  <a:ext cx="762897" cy="417587"/>
                </a:xfrm>
                <a:prstGeom prst="rect">
                  <a:avLst/>
                </a:prstGeom>
                <a:solidFill>
                  <a:schemeClr val="bg1"/>
                </a:solidFill>
                <a:ln w="19050" cap="flat" cmpd="sng" algn="ctr">
                  <a:noFill/>
                  <a:prstDash val="solid"/>
                  <a:miter lim="800000"/>
                </a:ln>
                <a:effectLst/>
              </p:spPr>
              <p:txBody>
                <a:bodyPr rtlCol="0" anchor="ctr"/>
                <a:lstStyle/>
                <a:p>
                  <a:pPr marL="0" marR="0" lvl="0" indent="0" algn="ctr" defTabSz="913665"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grpSp>
              <p:nvGrpSpPr>
                <p:cNvPr id="82" name="Group 81">
                  <a:extLst>
                    <a:ext uri="{FF2B5EF4-FFF2-40B4-BE49-F238E27FC236}">
                      <a16:creationId xmlns:a16="http://schemas.microsoft.com/office/drawing/2014/main" id="{392A8549-03C7-F49A-9295-A3E648548A6F}"/>
                    </a:ext>
                    <a:ext uri="{C183D7F6-B498-43B3-948B-1728B52AA6E4}">
                      <adec:decorative xmlns:adec="http://schemas.microsoft.com/office/drawing/2017/decorative" val="1"/>
                    </a:ext>
                  </a:extLst>
                </p:cNvPr>
                <p:cNvGrpSpPr/>
                <p:nvPr/>
              </p:nvGrpSpPr>
              <p:grpSpPr>
                <a:xfrm flipH="1">
                  <a:off x="1568887" y="2931385"/>
                  <a:ext cx="257748" cy="272908"/>
                  <a:chOff x="10172984" y="2471788"/>
                  <a:chExt cx="543580" cy="575555"/>
                </a:xfrm>
              </p:grpSpPr>
              <p:sp>
                <p:nvSpPr>
                  <p:cNvPr id="83" name="Freeform 8">
                    <a:extLst>
                      <a:ext uri="{FF2B5EF4-FFF2-40B4-BE49-F238E27FC236}">
                        <a16:creationId xmlns:a16="http://schemas.microsoft.com/office/drawing/2014/main" id="{239EB796-0F2E-FFE5-5D79-BA568A5C3C0E}"/>
                      </a:ext>
                      <a:ext uri="{C183D7F6-B498-43B3-948B-1728B52AA6E4}">
                        <adec:decorative xmlns:adec="http://schemas.microsoft.com/office/drawing/2017/decorative" val="1"/>
                      </a:ext>
                    </a:extLst>
                  </p:cNvPr>
                  <p:cNvSpPr>
                    <a:spLocks/>
                  </p:cNvSpPr>
                  <p:nvPr/>
                </p:nvSpPr>
                <p:spPr bwMode="auto">
                  <a:xfrm>
                    <a:off x="10211354" y="2471788"/>
                    <a:ext cx="466840" cy="204642"/>
                  </a:xfrm>
                  <a:custGeom>
                    <a:avLst/>
                    <a:gdLst>
                      <a:gd name="T0" fmla="*/ 73 w 146"/>
                      <a:gd name="T1" fmla="*/ 0 h 64"/>
                      <a:gd name="T2" fmla="*/ 0 w 146"/>
                      <a:gd name="T3" fmla="*/ 31 h 64"/>
                      <a:gd name="T4" fmla="*/ 73 w 146"/>
                      <a:gd name="T5" fmla="*/ 64 h 64"/>
                      <a:gd name="T6" fmla="*/ 146 w 146"/>
                      <a:gd name="T7" fmla="*/ 31 h 64"/>
                      <a:gd name="T8" fmla="*/ 73 w 146"/>
                      <a:gd name="T9" fmla="*/ 0 h 64"/>
                      <a:gd name="T10" fmla="*/ 73 w 146"/>
                      <a:gd name="T11" fmla="*/ 0 h 64"/>
                    </a:gdLst>
                    <a:ahLst/>
                    <a:cxnLst>
                      <a:cxn ang="0">
                        <a:pos x="T0" y="T1"/>
                      </a:cxn>
                      <a:cxn ang="0">
                        <a:pos x="T2" y="T3"/>
                      </a:cxn>
                      <a:cxn ang="0">
                        <a:pos x="T4" y="T5"/>
                      </a:cxn>
                      <a:cxn ang="0">
                        <a:pos x="T6" y="T7"/>
                      </a:cxn>
                      <a:cxn ang="0">
                        <a:pos x="T8" y="T9"/>
                      </a:cxn>
                      <a:cxn ang="0">
                        <a:pos x="T10" y="T11"/>
                      </a:cxn>
                    </a:cxnLst>
                    <a:rect l="0" t="0" r="r" b="b"/>
                    <a:pathLst>
                      <a:path w="146" h="64">
                        <a:moveTo>
                          <a:pt x="73" y="0"/>
                        </a:moveTo>
                        <a:lnTo>
                          <a:pt x="0" y="31"/>
                        </a:lnTo>
                        <a:lnTo>
                          <a:pt x="73" y="64"/>
                        </a:lnTo>
                        <a:lnTo>
                          <a:pt x="146" y="31"/>
                        </a:lnTo>
                        <a:lnTo>
                          <a:pt x="73" y="0"/>
                        </a:lnTo>
                        <a:lnTo>
                          <a:pt x="73"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842" tIns="43921" rIns="87842" bIns="43921" numCol="1" anchor="t" anchorCtr="0" compatLnSpc="1">
                    <a:prstTxWarp prst="textNoShape">
                      <a:avLst/>
                    </a:prstTxWarp>
                  </a:bodyPr>
                  <a:lstStyle/>
                  <a:p>
                    <a:pPr marL="0" marR="0" lvl="0" indent="0" algn="ctr" defTabSz="878221" rtl="0" eaLnBrk="1" fontAlgn="base" latinLnBrk="0" hangingPunct="1">
                      <a:lnSpc>
                        <a:spcPct val="100000"/>
                      </a:lnSpc>
                      <a:spcBef>
                        <a:spcPts val="0"/>
                      </a:spcBef>
                      <a:spcAft>
                        <a:spcPts val="0"/>
                      </a:spcAft>
                      <a:buClrTx/>
                      <a:buSzTx/>
                      <a:buFontTx/>
                      <a:buNone/>
                      <a:tabLst/>
                      <a:defRPr/>
                    </a:pPr>
                    <a:endParaRPr kumimoji="0" lang="en-US" sz="1567" b="0" i="0" u="none" strike="noStrike" kern="1200" cap="none" spc="0" normalizeH="0" baseline="0" noProof="0">
                      <a:ln>
                        <a:noFill/>
                      </a:ln>
                      <a:solidFill>
                        <a:srgbClr val="505050"/>
                      </a:solidFill>
                      <a:effectLst/>
                      <a:uLnTx/>
                      <a:uFillTx/>
                      <a:latin typeface="Segoe UI"/>
                      <a:ea typeface="+mn-ea"/>
                      <a:cs typeface="+mn-cs"/>
                    </a:endParaRPr>
                  </a:p>
                </p:txBody>
              </p:sp>
              <p:sp>
                <p:nvSpPr>
                  <p:cNvPr id="84" name="Freeform 9">
                    <a:extLst>
                      <a:ext uri="{FF2B5EF4-FFF2-40B4-BE49-F238E27FC236}">
                        <a16:creationId xmlns:a16="http://schemas.microsoft.com/office/drawing/2014/main" id="{B0868B03-6527-830B-A104-21B5FFDDC429}"/>
                      </a:ext>
                      <a:ext uri="{C183D7F6-B498-43B3-948B-1728B52AA6E4}">
                        <adec:decorative xmlns:adec="http://schemas.microsoft.com/office/drawing/2017/decorative" val="1"/>
                      </a:ext>
                    </a:extLst>
                  </p:cNvPr>
                  <p:cNvSpPr>
                    <a:spLocks/>
                  </p:cNvSpPr>
                  <p:nvPr/>
                </p:nvSpPr>
                <p:spPr bwMode="auto">
                  <a:xfrm>
                    <a:off x="10473552" y="2618873"/>
                    <a:ext cx="243012" cy="428470"/>
                  </a:xfrm>
                  <a:custGeom>
                    <a:avLst/>
                    <a:gdLst>
                      <a:gd name="T0" fmla="*/ 0 w 76"/>
                      <a:gd name="T1" fmla="*/ 35 h 134"/>
                      <a:gd name="T2" fmla="*/ 0 w 76"/>
                      <a:gd name="T3" fmla="*/ 134 h 134"/>
                      <a:gd name="T4" fmla="*/ 76 w 76"/>
                      <a:gd name="T5" fmla="*/ 101 h 134"/>
                      <a:gd name="T6" fmla="*/ 76 w 76"/>
                      <a:gd name="T7" fmla="*/ 0 h 134"/>
                      <a:gd name="T8" fmla="*/ 0 w 76"/>
                      <a:gd name="T9" fmla="*/ 35 h 134"/>
                      <a:gd name="T10" fmla="*/ 0 w 76"/>
                      <a:gd name="T11" fmla="*/ 35 h 134"/>
                    </a:gdLst>
                    <a:ahLst/>
                    <a:cxnLst>
                      <a:cxn ang="0">
                        <a:pos x="T0" y="T1"/>
                      </a:cxn>
                      <a:cxn ang="0">
                        <a:pos x="T2" y="T3"/>
                      </a:cxn>
                      <a:cxn ang="0">
                        <a:pos x="T4" y="T5"/>
                      </a:cxn>
                      <a:cxn ang="0">
                        <a:pos x="T6" y="T7"/>
                      </a:cxn>
                      <a:cxn ang="0">
                        <a:pos x="T8" y="T9"/>
                      </a:cxn>
                      <a:cxn ang="0">
                        <a:pos x="T10" y="T11"/>
                      </a:cxn>
                    </a:cxnLst>
                    <a:rect l="0" t="0" r="r" b="b"/>
                    <a:pathLst>
                      <a:path w="76" h="134">
                        <a:moveTo>
                          <a:pt x="0" y="35"/>
                        </a:moveTo>
                        <a:lnTo>
                          <a:pt x="0" y="134"/>
                        </a:lnTo>
                        <a:lnTo>
                          <a:pt x="76" y="101"/>
                        </a:lnTo>
                        <a:lnTo>
                          <a:pt x="76" y="0"/>
                        </a:lnTo>
                        <a:lnTo>
                          <a:pt x="0" y="35"/>
                        </a:lnTo>
                        <a:lnTo>
                          <a:pt x="0" y="35"/>
                        </a:lnTo>
                        <a:close/>
                      </a:path>
                    </a:pathLst>
                  </a:custGeom>
                  <a:solidFill>
                    <a:srgbClr val="50E6FF"/>
                  </a:solidFill>
                  <a:ln w="12700" cap="flat">
                    <a:solidFill>
                      <a:srgbClr val="50E6FF"/>
                    </a:solidFill>
                    <a:prstDash val="solid"/>
                    <a:miter lim="800000"/>
                    <a:headEnd/>
                    <a:tailEnd/>
                  </a:ln>
                </p:spPr>
                <p:txBody>
                  <a:bodyPr vert="horz" wrap="square" lIns="89592" tIns="44796" rIns="89592" bIns="44796" numCol="1" anchor="t" anchorCtr="0" compatLnSpc="1">
                    <a:prstTxWarp prst="textNoShape">
                      <a:avLst/>
                    </a:prstTxWarp>
                  </a:bodyPr>
                  <a:lstStyle/>
                  <a:p>
                    <a:pPr marL="0" marR="0" lvl="0" indent="0" algn="l" defTabSz="895870"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85" name="Freeform 10">
                    <a:extLst>
                      <a:ext uri="{FF2B5EF4-FFF2-40B4-BE49-F238E27FC236}">
                        <a16:creationId xmlns:a16="http://schemas.microsoft.com/office/drawing/2014/main" id="{F31F5F97-BD09-96C9-AE16-528EFC3AE2EA}"/>
                      </a:ext>
                      <a:ext uri="{C183D7F6-B498-43B3-948B-1728B52AA6E4}">
                        <adec:decorative xmlns:adec="http://schemas.microsoft.com/office/drawing/2017/decorative" val="1"/>
                      </a:ext>
                    </a:extLst>
                  </p:cNvPr>
                  <p:cNvSpPr>
                    <a:spLocks/>
                  </p:cNvSpPr>
                  <p:nvPr/>
                </p:nvSpPr>
                <p:spPr bwMode="auto">
                  <a:xfrm>
                    <a:off x="10172984" y="2618873"/>
                    <a:ext cx="246211" cy="428470"/>
                  </a:xfrm>
                  <a:custGeom>
                    <a:avLst/>
                    <a:gdLst>
                      <a:gd name="T0" fmla="*/ 0 w 77"/>
                      <a:gd name="T1" fmla="*/ 101 h 134"/>
                      <a:gd name="T2" fmla="*/ 77 w 77"/>
                      <a:gd name="T3" fmla="*/ 134 h 134"/>
                      <a:gd name="T4" fmla="*/ 77 w 77"/>
                      <a:gd name="T5" fmla="*/ 35 h 134"/>
                      <a:gd name="T6" fmla="*/ 0 w 77"/>
                      <a:gd name="T7" fmla="*/ 0 h 134"/>
                      <a:gd name="T8" fmla="*/ 0 w 77"/>
                      <a:gd name="T9" fmla="*/ 101 h 134"/>
                      <a:gd name="T10" fmla="*/ 0 w 77"/>
                      <a:gd name="T11" fmla="*/ 101 h 134"/>
                    </a:gdLst>
                    <a:ahLst/>
                    <a:cxnLst>
                      <a:cxn ang="0">
                        <a:pos x="T0" y="T1"/>
                      </a:cxn>
                      <a:cxn ang="0">
                        <a:pos x="T2" y="T3"/>
                      </a:cxn>
                      <a:cxn ang="0">
                        <a:pos x="T4" y="T5"/>
                      </a:cxn>
                      <a:cxn ang="0">
                        <a:pos x="T6" y="T7"/>
                      </a:cxn>
                      <a:cxn ang="0">
                        <a:pos x="T8" y="T9"/>
                      </a:cxn>
                      <a:cxn ang="0">
                        <a:pos x="T10" y="T11"/>
                      </a:cxn>
                    </a:cxnLst>
                    <a:rect l="0" t="0" r="r" b="b"/>
                    <a:pathLst>
                      <a:path w="77" h="134">
                        <a:moveTo>
                          <a:pt x="0" y="101"/>
                        </a:moveTo>
                        <a:lnTo>
                          <a:pt x="77" y="134"/>
                        </a:lnTo>
                        <a:lnTo>
                          <a:pt x="77" y="35"/>
                        </a:lnTo>
                        <a:lnTo>
                          <a:pt x="0" y="0"/>
                        </a:lnTo>
                        <a:lnTo>
                          <a:pt x="0" y="101"/>
                        </a:lnTo>
                        <a:lnTo>
                          <a:pt x="0" y="101"/>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842" tIns="43921" rIns="87842" bIns="43921" numCol="1" anchor="t" anchorCtr="0" compatLnSpc="1">
                    <a:prstTxWarp prst="textNoShape">
                      <a:avLst/>
                    </a:prstTxWarp>
                  </a:bodyPr>
                  <a:lstStyle/>
                  <a:p>
                    <a:pPr marL="0" marR="0" lvl="0" indent="0" algn="ctr" defTabSz="878221" rtl="0" eaLnBrk="1" fontAlgn="base" latinLnBrk="0" hangingPunct="1">
                      <a:lnSpc>
                        <a:spcPct val="100000"/>
                      </a:lnSpc>
                      <a:spcBef>
                        <a:spcPts val="0"/>
                      </a:spcBef>
                      <a:spcAft>
                        <a:spcPts val="0"/>
                      </a:spcAft>
                      <a:buClrTx/>
                      <a:buSzTx/>
                      <a:buFontTx/>
                      <a:buNone/>
                      <a:tabLst/>
                      <a:defRPr/>
                    </a:pPr>
                    <a:endParaRPr kumimoji="0" lang="en-US" sz="1567" b="0" i="0" u="none" strike="noStrike" kern="1200" cap="none" spc="0" normalizeH="0" baseline="0" noProof="0">
                      <a:ln>
                        <a:noFill/>
                      </a:ln>
                      <a:solidFill>
                        <a:srgbClr val="505050"/>
                      </a:solidFill>
                      <a:effectLst/>
                      <a:uLnTx/>
                      <a:uFillTx/>
                      <a:latin typeface="Segoe UI"/>
                      <a:ea typeface="+mn-ea"/>
                      <a:cs typeface="+mn-cs"/>
                    </a:endParaRPr>
                  </a:p>
                </p:txBody>
              </p:sp>
            </p:grpSp>
          </p:grpSp>
        </p:grpSp>
        <p:sp>
          <p:nvSpPr>
            <p:cNvPr id="71" name="Arrow: Right 70">
              <a:extLst>
                <a:ext uri="{FF2B5EF4-FFF2-40B4-BE49-F238E27FC236}">
                  <a16:creationId xmlns:a16="http://schemas.microsoft.com/office/drawing/2014/main" id="{A919BEC3-179B-8388-0CB5-53ED870D86D6}"/>
                </a:ext>
                <a:ext uri="{C183D7F6-B498-43B3-948B-1728B52AA6E4}">
                  <adec:decorative xmlns:adec="http://schemas.microsoft.com/office/drawing/2017/decorative" val="1"/>
                </a:ext>
              </a:extLst>
            </p:cNvPr>
            <p:cNvSpPr/>
            <p:nvPr/>
          </p:nvSpPr>
          <p:spPr>
            <a:xfrm>
              <a:off x="8025882" y="3209352"/>
              <a:ext cx="997021" cy="231667"/>
            </a:xfrm>
            <a:prstGeom prst="rightArrow">
              <a:avLst>
                <a:gd name="adj1" fmla="val 100000"/>
                <a:gd name="adj2" fmla="val 0"/>
              </a:avLst>
            </a:pr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842" tIns="43921" rIns="87842" bIns="43921" numCol="1" anchor="t" anchorCtr="0" compatLnSpc="1">
              <a:prstTxWarp prst="textNoShape">
                <a:avLst/>
              </a:prstTxWarp>
            </a:bodyPr>
            <a:lstStyle/>
            <a:p>
              <a:pPr marL="0" marR="0" lvl="0" indent="0" algn="ctr" defTabSz="878221" rtl="0" eaLnBrk="1" fontAlgn="base" latinLnBrk="0" hangingPunct="1">
                <a:lnSpc>
                  <a:spcPct val="100000"/>
                </a:lnSpc>
                <a:spcBef>
                  <a:spcPts val="0"/>
                </a:spcBef>
                <a:spcAft>
                  <a:spcPts val="0"/>
                </a:spcAft>
                <a:buClrTx/>
                <a:buSzTx/>
                <a:buFontTx/>
                <a:buNone/>
                <a:tabLst/>
                <a:defRPr/>
              </a:pPr>
              <a:endParaRPr kumimoji="0" lang="en-US" sz="1567" b="0" i="0" u="none" strike="noStrike" kern="1200" cap="none" spc="0" normalizeH="0" baseline="0" noProof="0">
                <a:ln>
                  <a:noFill/>
                </a:ln>
                <a:solidFill>
                  <a:srgbClr val="505050"/>
                </a:solidFill>
                <a:effectLst/>
                <a:uLnTx/>
                <a:uFillTx/>
                <a:latin typeface="Segoe UI"/>
                <a:ea typeface="+mn-ea"/>
                <a:cs typeface="+mn-cs"/>
              </a:endParaRPr>
            </a:p>
          </p:txBody>
        </p:sp>
        <p:sp>
          <p:nvSpPr>
            <p:cNvPr id="72" name="Arrow: Right 71">
              <a:extLst>
                <a:ext uri="{FF2B5EF4-FFF2-40B4-BE49-F238E27FC236}">
                  <a16:creationId xmlns:a16="http://schemas.microsoft.com/office/drawing/2014/main" id="{767DAD17-EA66-7CFF-0F3D-9477218398EA}"/>
                </a:ext>
                <a:ext uri="{C183D7F6-B498-43B3-948B-1728B52AA6E4}">
                  <adec:decorative xmlns:adec="http://schemas.microsoft.com/office/drawing/2017/decorative" val="1"/>
                </a:ext>
              </a:extLst>
            </p:cNvPr>
            <p:cNvSpPr/>
            <p:nvPr/>
          </p:nvSpPr>
          <p:spPr>
            <a:xfrm rot="5400000">
              <a:off x="8528722" y="2946838"/>
              <a:ext cx="756696" cy="231667"/>
            </a:xfrm>
            <a:prstGeom prst="rightArrow">
              <a:avLst>
                <a:gd name="adj1" fmla="val 100000"/>
                <a:gd name="adj2" fmla="val 0"/>
              </a:avLst>
            </a:pr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842" tIns="43921" rIns="87842" bIns="43921" numCol="1" anchor="t" anchorCtr="0" compatLnSpc="1">
              <a:prstTxWarp prst="textNoShape">
                <a:avLst/>
              </a:prstTxWarp>
            </a:bodyPr>
            <a:lstStyle/>
            <a:p>
              <a:pPr marL="0" marR="0" lvl="0" indent="0" algn="ctr" defTabSz="878221" rtl="0" eaLnBrk="1" fontAlgn="base" latinLnBrk="0" hangingPunct="1">
                <a:lnSpc>
                  <a:spcPct val="100000"/>
                </a:lnSpc>
                <a:spcBef>
                  <a:spcPts val="0"/>
                </a:spcBef>
                <a:spcAft>
                  <a:spcPts val="0"/>
                </a:spcAft>
                <a:buClrTx/>
                <a:buSzTx/>
                <a:buFontTx/>
                <a:buNone/>
                <a:tabLst/>
                <a:defRPr/>
              </a:pPr>
              <a:endParaRPr kumimoji="0" lang="en-US" sz="1567" b="0" i="0" u="none" strike="noStrike" kern="1200" cap="none" spc="0" normalizeH="0" baseline="0" noProof="0">
                <a:ln>
                  <a:noFill/>
                </a:ln>
                <a:solidFill>
                  <a:srgbClr val="505050"/>
                </a:solidFill>
                <a:effectLst/>
                <a:uLnTx/>
                <a:uFillTx/>
                <a:latin typeface="Segoe UI"/>
                <a:ea typeface="+mn-ea"/>
                <a:cs typeface="+mn-cs"/>
              </a:endParaRPr>
            </a:p>
          </p:txBody>
        </p:sp>
        <p:sp>
          <p:nvSpPr>
            <p:cNvPr id="73" name="Arrow: Right 72">
              <a:extLst>
                <a:ext uri="{FF2B5EF4-FFF2-40B4-BE49-F238E27FC236}">
                  <a16:creationId xmlns:a16="http://schemas.microsoft.com/office/drawing/2014/main" id="{102A35F3-4AE3-FAC0-340A-180DE8E35608}"/>
                </a:ext>
                <a:ext uri="{C183D7F6-B498-43B3-948B-1728B52AA6E4}">
                  <adec:decorative xmlns:adec="http://schemas.microsoft.com/office/drawing/2017/decorative" val="1"/>
                </a:ext>
              </a:extLst>
            </p:cNvPr>
            <p:cNvSpPr/>
            <p:nvPr/>
          </p:nvSpPr>
          <p:spPr>
            <a:xfrm>
              <a:off x="8791236" y="2469365"/>
              <a:ext cx="997021" cy="231667"/>
            </a:xfrm>
            <a:prstGeom prst="rightArrow">
              <a:avLst>
                <a:gd name="adj1" fmla="val 100000"/>
                <a:gd name="adj2" fmla="val 0"/>
              </a:avLst>
            </a:pr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842" tIns="43921" rIns="87842" bIns="43921" numCol="1" anchor="t" anchorCtr="0" compatLnSpc="1">
              <a:prstTxWarp prst="textNoShape">
                <a:avLst/>
              </a:prstTxWarp>
            </a:bodyPr>
            <a:lstStyle/>
            <a:p>
              <a:pPr marL="0" marR="0" lvl="0" indent="0" algn="ctr" defTabSz="878221" rtl="0" eaLnBrk="1" fontAlgn="base" latinLnBrk="0" hangingPunct="1">
                <a:lnSpc>
                  <a:spcPct val="100000"/>
                </a:lnSpc>
                <a:spcBef>
                  <a:spcPts val="0"/>
                </a:spcBef>
                <a:spcAft>
                  <a:spcPts val="0"/>
                </a:spcAft>
                <a:buClrTx/>
                <a:buSzTx/>
                <a:buFontTx/>
                <a:buNone/>
                <a:tabLst/>
                <a:defRPr/>
              </a:pPr>
              <a:endParaRPr kumimoji="0" lang="en-US" sz="1567" b="0" i="0" u="none" strike="noStrike" kern="1200" cap="none" spc="0" normalizeH="0" baseline="0" noProof="0">
                <a:ln>
                  <a:noFill/>
                </a:ln>
                <a:solidFill>
                  <a:srgbClr val="505050"/>
                </a:solidFill>
                <a:effectLst/>
                <a:uLnTx/>
                <a:uFillTx/>
                <a:latin typeface="Segoe UI"/>
                <a:ea typeface="+mn-ea"/>
                <a:cs typeface="+mn-cs"/>
              </a:endParaRPr>
            </a:p>
          </p:txBody>
        </p:sp>
        <p:sp>
          <p:nvSpPr>
            <p:cNvPr id="74" name="Arrow: Right 73">
              <a:extLst>
                <a:ext uri="{FF2B5EF4-FFF2-40B4-BE49-F238E27FC236}">
                  <a16:creationId xmlns:a16="http://schemas.microsoft.com/office/drawing/2014/main" id="{E8DB0A34-13AE-407F-1EBB-186A26DD9A75}"/>
                </a:ext>
                <a:ext uri="{C183D7F6-B498-43B3-948B-1728B52AA6E4}">
                  <adec:decorative xmlns:adec="http://schemas.microsoft.com/office/drawing/2017/decorative" val="1"/>
                </a:ext>
              </a:extLst>
            </p:cNvPr>
            <p:cNvSpPr/>
            <p:nvPr/>
          </p:nvSpPr>
          <p:spPr>
            <a:xfrm rot="5400000">
              <a:off x="9376672" y="2289447"/>
              <a:ext cx="591503" cy="231667"/>
            </a:xfrm>
            <a:prstGeom prst="rightArrow">
              <a:avLst>
                <a:gd name="adj1" fmla="val 100000"/>
                <a:gd name="adj2" fmla="val 0"/>
              </a:avLst>
            </a:pr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842" tIns="43921" rIns="87842" bIns="43921" numCol="1" anchor="t" anchorCtr="0" compatLnSpc="1">
              <a:prstTxWarp prst="textNoShape">
                <a:avLst/>
              </a:prstTxWarp>
            </a:bodyPr>
            <a:lstStyle/>
            <a:p>
              <a:pPr marL="0" marR="0" lvl="0" indent="0" algn="ctr" defTabSz="878221" rtl="0" eaLnBrk="1" fontAlgn="base" latinLnBrk="0" hangingPunct="1">
                <a:lnSpc>
                  <a:spcPct val="100000"/>
                </a:lnSpc>
                <a:spcBef>
                  <a:spcPts val="0"/>
                </a:spcBef>
                <a:spcAft>
                  <a:spcPts val="0"/>
                </a:spcAft>
                <a:buClrTx/>
                <a:buSzTx/>
                <a:buFontTx/>
                <a:buNone/>
                <a:tabLst/>
                <a:defRPr/>
              </a:pPr>
              <a:endParaRPr kumimoji="0" lang="en-US" sz="1567" b="0" i="0" u="none" strike="noStrike" kern="1200" cap="none" spc="0" normalizeH="0" baseline="0" noProof="0">
                <a:ln>
                  <a:noFill/>
                </a:ln>
                <a:solidFill>
                  <a:srgbClr val="505050"/>
                </a:solidFill>
                <a:effectLst/>
                <a:uLnTx/>
                <a:uFillTx/>
                <a:latin typeface="Segoe UI"/>
                <a:ea typeface="+mn-ea"/>
                <a:cs typeface="+mn-cs"/>
              </a:endParaRPr>
            </a:p>
          </p:txBody>
        </p:sp>
      </p:grpSp>
      <p:grpSp>
        <p:nvGrpSpPr>
          <p:cNvPr id="115" name="Group 114">
            <a:extLst>
              <a:ext uri="{FF2B5EF4-FFF2-40B4-BE49-F238E27FC236}">
                <a16:creationId xmlns:a16="http://schemas.microsoft.com/office/drawing/2014/main" id="{DD2A496D-9A3F-8E35-4FCA-F2A23E31066E}"/>
              </a:ext>
              <a:ext uri="{C183D7F6-B498-43B3-948B-1728B52AA6E4}">
                <adec:decorative xmlns:adec="http://schemas.microsoft.com/office/drawing/2017/decorative" val="1"/>
              </a:ext>
            </a:extLst>
          </p:cNvPr>
          <p:cNvGrpSpPr/>
          <p:nvPr/>
        </p:nvGrpSpPr>
        <p:grpSpPr>
          <a:xfrm>
            <a:off x="1011472" y="5132422"/>
            <a:ext cx="579619" cy="579616"/>
            <a:chOff x="1600638" y="3957575"/>
            <a:chExt cx="462421" cy="462421"/>
          </a:xfrm>
        </p:grpSpPr>
        <p:sp>
          <p:nvSpPr>
            <p:cNvPr id="116" name="Oval 115">
              <a:extLst>
                <a:ext uri="{FF2B5EF4-FFF2-40B4-BE49-F238E27FC236}">
                  <a16:creationId xmlns:a16="http://schemas.microsoft.com/office/drawing/2014/main" id="{D236D752-52F6-14EB-7B42-CE70F3E282DC}"/>
                </a:ext>
              </a:extLst>
            </p:cNvPr>
            <p:cNvSpPr>
              <a:spLocks noChangeArrowheads="1"/>
            </p:cNvSpPr>
            <p:nvPr/>
          </p:nvSpPr>
          <p:spPr bwMode="auto">
            <a:xfrm>
              <a:off x="1600638" y="3957575"/>
              <a:ext cx="462421" cy="462421"/>
            </a:xfrm>
            <a:prstGeom prst="ellipse">
              <a:avLst/>
            </a:prstGeom>
            <a:solidFill>
              <a:srgbClr val="0078D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842" tIns="43921" rIns="87842" bIns="43921" numCol="1" anchor="t" anchorCtr="0" compatLnSpc="1">
              <a:prstTxWarp prst="textNoShape">
                <a:avLst/>
              </a:prstTxWarp>
            </a:bodyPr>
            <a:lstStyle/>
            <a:p>
              <a:pPr marL="0" marR="0" lvl="0" indent="0" algn="ctr" defTabSz="878221" rtl="0" eaLnBrk="1" fontAlgn="base" latinLnBrk="0" hangingPunct="1">
                <a:lnSpc>
                  <a:spcPct val="100000"/>
                </a:lnSpc>
                <a:spcBef>
                  <a:spcPts val="0"/>
                </a:spcBef>
                <a:spcAft>
                  <a:spcPts val="0"/>
                </a:spcAft>
                <a:buClrTx/>
                <a:buSzTx/>
                <a:buFontTx/>
                <a:buNone/>
                <a:tabLst/>
                <a:defRPr/>
              </a:pPr>
              <a:endParaRPr kumimoji="0" lang="en-US" sz="1634" b="0" i="0" u="none" strike="noStrike" kern="0" cap="none" spc="0" normalizeH="0" baseline="0" noProof="0">
                <a:ln>
                  <a:noFill/>
                </a:ln>
                <a:solidFill>
                  <a:srgbClr val="505050"/>
                </a:solidFill>
                <a:effectLst/>
                <a:uLnTx/>
                <a:uFillTx/>
                <a:latin typeface="Segoe UI"/>
                <a:ea typeface="+mn-ea"/>
                <a:cs typeface="+mn-cs"/>
              </a:endParaRPr>
            </a:p>
          </p:txBody>
        </p:sp>
        <p:sp>
          <p:nvSpPr>
            <p:cNvPr id="117" name="Freeform 169">
              <a:extLst>
                <a:ext uri="{FF2B5EF4-FFF2-40B4-BE49-F238E27FC236}">
                  <a16:creationId xmlns:a16="http://schemas.microsoft.com/office/drawing/2014/main" id="{DE6236C6-7668-1F1D-255E-3D9633A5F746}"/>
                </a:ext>
              </a:extLst>
            </p:cNvPr>
            <p:cNvSpPr>
              <a:spLocks/>
            </p:cNvSpPr>
            <p:nvPr/>
          </p:nvSpPr>
          <p:spPr bwMode="auto">
            <a:xfrm>
              <a:off x="1659621" y="4016558"/>
              <a:ext cx="342098" cy="301989"/>
            </a:xfrm>
            <a:custGeom>
              <a:avLst/>
              <a:gdLst>
                <a:gd name="T0" fmla="*/ 24 w 137"/>
                <a:gd name="T1" fmla="*/ 121 h 121"/>
                <a:gd name="T2" fmla="*/ 0 w 137"/>
                <a:gd name="T3" fmla="*/ 69 h 121"/>
                <a:gd name="T4" fmla="*/ 69 w 137"/>
                <a:gd name="T5" fmla="*/ 0 h 121"/>
                <a:gd name="T6" fmla="*/ 137 w 137"/>
                <a:gd name="T7" fmla="*/ 69 h 121"/>
                <a:gd name="T8" fmla="*/ 114 w 137"/>
                <a:gd name="T9" fmla="*/ 121 h 121"/>
              </a:gdLst>
              <a:ahLst/>
              <a:cxnLst>
                <a:cxn ang="0">
                  <a:pos x="T0" y="T1"/>
                </a:cxn>
                <a:cxn ang="0">
                  <a:pos x="T2" y="T3"/>
                </a:cxn>
                <a:cxn ang="0">
                  <a:pos x="T4" y="T5"/>
                </a:cxn>
                <a:cxn ang="0">
                  <a:pos x="T6" y="T7"/>
                </a:cxn>
                <a:cxn ang="0">
                  <a:pos x="T8" y="T9"/>
                </a:cxn>
              </a:cxnLst>
              <a:rect l="0" t="0" r="r" b="b"/>
              <a:pathLst>
                <a:path w="137" h="121">
                  <a:moveTo>
                    <a:pt x="24" y="121"/>
                  </a:moveTo>
                  <a:cubicBezTo>
                    <a:pt x="9" y="108"/>
                    <a:pt x="0" y="90"/>
                    <a:pt x="0" y="69"/>
                  </a:cubicBezTo>
                  <a:cubicBezTo>
                    <a:pt x="0" y="31"/>
                    <a:pt x="31" y="0"/>
                    <a:pt x="69" y="0"/>
                  </a:cubicBezTo>
                  <a:cubicBezTo>
                    <a:pt x="107" y="0"/>
                    <a:pt x="137" y="31"/>
                    <a:pt x="137" y="69"/>
                  </a:cubicBezTo>
                  <a:cubicBezTo>
                    <a:pt x="137" y="90"/>
                    <a:pt x="128" y="108"/>
                    <a:pt x="114" y="121"/>
                  </a:cubicBezTo>
                </a:path>
              </a:pathLst>
            </a:custGeom>
            <a:noFill/>
            <a:ln w="19050" cap="flat">
              <a:solidFill>
                <a:srgbClr val="4FE4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7842" tIns="43921" rIns="87842" bIns="43921" numCol="1" anchor="t" anchorCtr="0" compatLnSpc="1">
              <a:prstTxWarp prst="textNoShape">
                <a:avLst/>
              </a:prstTxWarp>
            </a:bodyPr>
            <a:lstStyle/>
            <a:p>
              <a:pPr marL="0" marR="0" lvl="0" indent="0" algn="ctr" defTabSz="878221" rtl="0" eaLnBrk="1" fontAlgn="base" latinLnBrk="0" hangingPunct="1">
                <a:lnSpc>
                  <a:spcPct val="100000"/>
                </a:lnSpc>
                <a:spcBef>
                  <a:spcPts val="0"/>
                </a:spcBef>
                <a:spcAft>
                  <a:spcPts val="0"/>
                </a:spcAft>
                <a:buClrTx/>
                <a:buSzTx/>
                <a:buFontTx/>
                <a:buNone/>
                <a:tabLst/>
                <a:defRPr/>
              </a:pPr>
              <a:endParaRPr kumimoji="0" lang="en-US" sz="1634" b="0" i="0" u="none" strike="noStrike" kern="0" cap="none" spc="0" normalizeH="0" baseline="0" noProof="0">
                <a:ln>
                  <a:noFill/>
                </a:ln>
                <a:solidFill>
                  <a:srgbClr val="505050"/>
                </a:solidFill>
                <a:effectLst/>
                <a:uLnTx/>
                <a:uFillTx/>
                <a:latin typeface="Segoe UI"/>
                <a:ea typeface="+mn-ea"/>
                <a:cs typeface="+mn-cs"/>
              </a:endParaRPr>
            </a:p>
          </p:txBody>
        </p:sp>
        <p:sp>
          <p:nvSpPr>
            <p:cNvPr id="118" name="Oval 117">
              <a:extLst>
                <a:ext uri="{FF2B5EF4-FFF2-40B4-BE49-F238E27FC236}">
                  <a16:creationId xmlns:a16="http://schemas.microsoft.com/office/drawing/2014/main" id="{FA2F87F9-6D5F-A82D-A34B-7983F35CD65A}"/>
                </a:ext>
              </a:extLst>
            </p:cNvPr>
            <p:cNvSpPr>
              <a:spLocks noChangeArrowheads="1"/>
            </p:cNvSpPr>
            <p:nvPr/>
          </p:nvSpPr>
          <p:spPr bwMode="auto">
            <a:xfrm>
              <a:off x="1798819" y="4155756"/>
              <a:ext cx="68420" cy="68420"/>
            </a:xfrm>
            <a:prstGeom prst="ellipse">
              <a:avLst/>
            </a:prstGeom>
            <a:noFill/>
            <a:ln w="17463"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7842" tIns="43921" rIns="87842" bIns="43921" numCol="1" anchor="t" anchorCtr="0" compatLnSpc="1">
              <a:prstTxWarp prst="textNoShape">
                <a:avLst/>
              </a:prstTxWarp>
            </a:bodyPr>
            <a:lstStyle/>
            <a:p>
              <a:pPr marL="0" marR="0" lvl="0" indent="0" algn="ctr" defTabSz="878221" rtl="0" eaLnBrk="1" fontAlgn="base" latinLnBrk="0" hangingPunct="1">
                <a:lnSpc>
                  <a:spcPct val="100000"/>
                </a:lnSpc>
                <a:spcBef>
                  <a:spcPts val="0"/>
                </a:spcBef>
                <a:spcAft>
                  <a:spcPts val="0"/>
                </a:spcAft>
                <a:buClrTx/>
                <a:buSzTx/>
                <a:buFontTx/>
                <a:buNone/>
                <a:tabLst/>
                <a:defRPr/>
              </a:pPr>
              <a:endParaRPr kumimoji="0" lang="en-US" sz="1634" b="0" i="0" u="none" strike="noStrike" kern="0" cap="none" spc="0" normalizeH="0" baseline="0" noProof="0">
                <a:ln>
                  <a:noFill/>
                </a:ln>
                <a:solidFill>
                  <a:srgbClr val="505050"/>
                </a:solidFill>
                <a:effectLst/>
                <a:uLnTx/>
                <a:uFillTx/>
                <a:latin typeface="Segoe UI"/>
                <a:ea typeface="+mn-ea"/>
                <a:cs typeface="+mn-cs"/>
              </a:endParaRPr>
            </a:p>
          </p:txBody>
        </p:sp>
        <p:sp>
          <p:nvSpPr>
            <p:cNvPr id="119" name="Line 171">
              <a:extLst>
                <a:ext uri="{FF2B5EF4-FFF2-40B4-BE49-F238E27FC236}">
                  <a16:creationId xmlns:a16="http://schemas.microsoft.com/office/drawing/2014/main" id="{CBEFAACA-A7FB-E1D6-7BC9-29C7802D8136}"/>
                </a:ext>
              </a:extLst>
            </p:cNvPr>
            <p:cNvSpPr>
              <a:spLocks noChangeShapeType="1"/>
            </p:cNvSpPr>
            <p:nvPr/>
          </p:nvSpPr>
          <p:spPr bwMode="auto">
            <a:xfrm flipV="1">
              <a:off x="1857801" y="4056666"/>
              <a:ext cx="106169" cy="108527"/>
            </a:xfrm>
            <a:prstGeom prst="line">
              <a:avLst/>
            </a:prstGeom>
            <a:noFill/>
            <a:ln w="17463"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87842" tIns="43921" rIns="87842" bIns="43921" numCol="1" anchor="t" anchorCtr="0" compatLnSpc="1">
              <a:prstTxWarp prst="textNoShape">
                <a:avLst/>
              </a:prstTxWarp>
            </a:bodyPr>
            <a:lstStyle/>
            <a:p>
              <a:pPr marL="0" marR="0" lvl="0" indent="0" algn="ctr" defTabSz="878221" rtl="0" eaLnBrk="1" fontAlgn="base" latinLnBrk="0" hangingPunct="1">
                <a:lnSpc>
                  <a:spcPct val="100000"/>
                </a:lnSpc>
                <a:spcBef>
                  <a:spcPts val="0"/>
                </a:spcBef>
                <a:spcAft>
                  <a:spcPts val="0"/>
                </a:spcAft>
                <a:buClrTx/>
                <a:buSzTx/>
                <a:buFontTx/>
                <a:buNone/>
                <a:tabLst/>
                <a:defRPr/>
              </a:pPr>
              <a:endParaRPr kumimoji="0" lang="en-US" sz="1634" b="0" i="0" u="none" strike="noStrike" kern="0" cap="none" spc="0" normalizeH="0" baseline="0" noProof="0">
                <a:ln>
                  <a:noFill/>
                </a:ln>
                <a:solidFill>
                  <a:srgbClr val="505050"/>
                </a:solidFill>
                <a:effectLst/>
                <a:uLnTx/>
                <a:uFillTx/>
                <a:latin typeface="Segoe UI"/>
                <a:ea typeface="+mn-ea"/>
                <a:cs typeface="+mn-cs"/>
              </a:endParaRPr>
            </a:p>
          </p:txBody>
        </p:sp>
      </p:grpSp>
      <p:grpSp>
        <p:nvGrpSpPr>
          <p:cNvPr id="120" name="Graphic 201">
            <a:extLst>
              <a:ext uri="{FF2B5EF4-FFF2-40B4-BE49-F238E27FC236}">
                <a16:creationId xmlns:a16="http://schemas.microsoft.com/office/drawing/2014/main" id="{9FD9900A-646B-8800-C6D4-2A886B6AACDA}"/>
              </a:ext>
              <a:ext uri="{C183D7F6-B498-43B3-948B-1728B52AA6E4}">
                <adec:decorative xmlns:adec="http://schemas.microsoft.com/office/drawing/2017/decorative" val="1"/>
              </a:ext>
            </a:extLst>
          </p:cNvPr>
          <p:cNvGrpSpPr/>
          <p:nvPr/>
        </p:nvGrpSpPr>
        <p:grpSpPr>
          <a:xfrm>
            <a:off x="2648968" y="5086122"/>
            <a:ext cx="489110" cy="619659"/>
            <a:chOff x="7331896" y="2174583"/>
            <a:chExt cx="298009" cy="377551"/>
          </a:xfrm>
        </p:grpSpPr>
        <p:sp>
          <p:nvSpPr>
            <p:cNvPr id="121" name="Freeform: Shape 120">
              <a:extLst>
                <a:ext uri="{FF2B5EF4-FFF2-40B4-BE49-F238E27FC236}">
                  <a16:creationId xmlns:a16="http://schemas.microsoft.com/office/drawing/2014/main" id="{1073868C-C254-123F-0CDE-D1B6EEDF1FD8}"/>
                </a:ext>
              </a:extLst>
            </p:cNvPr>
            <p:cNvSpPr/>
            <p:nvPr/>
          </p:nvSpPr>
          <p:spPr>
            <a:xfrm>
              <a:off x="7331896" y="2391366"/>
              <a:ext cx="298009" cy="160768"/>
            </a:xfrm>
            <a:custGeom>
              <a:avLst/>
              <a:gdLst>
                <a:gd name="connsiteX0" fmla="*/ 297720 w 298009"/>
                <a:gd name="connsiteY0" fmla="*/ 1182 h 160768"/>
                <a:gd name="connsiteX1" fmla="*/ 1182 w 298009"/>
                <a:gd name="connsiteY1" fmla="*/ 1182 h 160768"/>
                <a:gd name="connsiteX2" fmla="*/ 1182 w 298009"/>
                <a:gd name="connsiteY2" fmla="*/ 90155 h 160768"/>
                <a:gd name="connsiteX3" fmla="*/ 149880 w 298009"/>
                <a:gd name="connsiteY3" fmla="*/ 160369 h 160768"/>
                <a:gd name="connsiteX4" fmla="*/ 298512 w 298009"/>
                <a:gd name="connsiteY4" fmla="*/ 90155 h 160768"/>
                <a:gd name="connsiteX5" fmla="*/ 297720 w 298009"/>
                <a:gd name="connsiteY5" fmla="*/ 1182 h 160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8009" h="160768">
                  <a:moveTo>
                    <a:pt x="297720" y="1182"/>
                  </a:moveTo>
                  <a:lnTo>
                    <a:pt x="1182" y="1182"/>
                  </a:lnTo>
                  <a:lnTo>
                    <a:pt x="1182" y="90155"/>
                  </a:lnTo>
                  <a:cubicBezTo>
                    <a:pt x="1182" y="128928"/>
                    <a:pt x="67740" y="160369"/>
                    <a:pt x="149880" y="160369"/>
                  </a:cubicBezTo>
                  <a:cubicBezTo>
                    <a:pt x="232021" y="160369"/>
                    <a:pt x="298512" y="128928"/>
                    <a:pt x="298512" y="90155"/>
                  </a:cubicBezTo>
                  <a:cubicBezTo>
                    <a:pt x="298512" y="90155"/>
                    <a:pt x="298380" y="1777"/>
                    <a:pt x="297720" y="1182"/>
                  </a:cubicBezTo>
                  <a:close/>
                </a:path>
              </a:pathLst>
            </a:custGeom>
            <a:solidFill>
              <a:srgbClr val="0078D3"/>
            </a:solidFill>
            <a:ln w="3830" cap="flat">
              <a:noFill/>
              <a:prstDash val="solid"/>
              <a:miter/>
            </a:ln>
          </p:spPr>
          <p:txBody>
            <a:bodyPr rtlCol="0" anchor="ctr"/>
            <a:lstStyle/>
            <a:p>
              <a:pPr marL="0" marR="0" lvl="0" indent="0" algn="l" defTabSz="913841"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000000"/>
                </a:solidFill>
                <a:effectLst/>
                <a:uLnTx/>
                <a:uFillTx/>
                <a:latin typeface="Segoe UI"/>
                <a:ea typeface="+mn-ea"/>
                <a:cs typeface="+mn-cs"/>
              </a:endParaRPr>
            </a:p>
          </p:txBody>
        </p:sp>
        <p:sp>
          <p:nvSpPr>
            <p:cNvPr id="122" name="Freeform: Shape 121">
              <a:extLst>
                <a:ext uri="{FF2B5EF4-FFF2-40B4-BE49-F238E27FC236}">
                  <a16:creationId xmlns:a16="http://schemas.microsoft.com/office/drawing/2014/main" id="{C0E1016F-393E-0E08-F72B-88534200A9FC}"/>
                </a:ext>
              </a:extLst>
            </p:cNvPr>
            <p:cNvSpPr/>
            <p:nvPr/>
          </p:nvSpPr>
          <p:spPr>
            <a:xfrm>
              <a:off x="7331896" y="2375589"/>
              <a:ext cx="298009" cy="149005"/>
            </a:xfrm>
            <a:custGeom>
              <a:avLst/>
              <a:gdLst>
                <a:gd name="connsiteX0" fmla="*/ 298380 w 298009"/>
                <a:gd name="connsiteY0" fmla="*/ 1182 h 149004"/>
                <a:gd name="connsiteX1" fmla="*/ 298578 w 298009"/>
                <a:gd name="connsiteY1" fmla="*/ 78992 h 149004"/>
                <a:gd name="connsiteX2" fmla="*/ 149880 w 298009"/>
                <a:gd name="connsiteY2" fmla="*/ 149206 h 149004"/>
                <a:gd name="connsiteX3" fmla="*/ 1182 w 298009"/>
                <a:gd name="connsiteY3" fmla="*/ 78992 h 149004"/>
                <a:gd name="connsiteX4" fmla="*/ 1182 w 298009"/>
                <a:gd name="connsiteY4" fmla="*/ 1182 h 149004"/>
                <a:gd name="connsiteX5" fmla="*/ 298380 w 298009"/>
                <a:gd name="connsiteY5" fmla="*/ 1182 h 149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8009" h="149004">
                  <a:moveTo>
                    <a:pt x="298380" y="1182"/>
                  </a:moveTo>
                  <a:lnTo>
                    <a:pt x="298578" y="78992"/>
                  </a:lnTo>
                  <a:cubicBezTo>
                    <a:pt x="298578" y="117765"/>
                    <a:pt x="232021" y="149206"/>
                    <a:pt x="149880" y="149206"/>
                  </a:cubicBezTo>
                  <a:cubicBezTo>
                    <a:pt x="67740" y="149206"/>
                    <a:pt x="1182" y="117699"/>
                    <a:pt x="1182" y="78992"/>
                  </a:cubicBezTo>
                  <a:lnTo>
                    <a:pt x="1182" y="1182"/>
                  </a:lnTo>
                  <a:lnTo>
                    <a:pt x="298380" y="1182"/>
                  </a:lnTo>
                  <a:close/>
                </a:path>
              </a:pathLst>
            </a:custGeom>
            <a:solidFill>
              <a:srgbClr val="50E6FF"/>
            </a:solidFill>
            <a:ln w="3830" cap="flat">
              <a:noFill/>
              <a:prstDash val="solid"/>
              <a:miter/>
            </a:ln>
          </p:spPr>
          <p:txBody>
            <a:bodyPr rtlCol="0" anchor="ctr"/>
            <a:lstStyle/>
            <a:p>
              <a:pPr marL="0" marR="0" lvl="0" indent="0" algn="l" defTabSz="913841"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000000"/>
                </a:solidFill>
                <a:effectLst/>
                <a:uLnTx/>
                <a:uFillTx/>
                <a:latin typeface="Segoe UI"/>
                <a:ea typeface="+mn-ea"/>
                <a:cs typeface="+mn-cs"/>
              </a:endParaRPr>
            </a:p>
          </p:txBody>
        </p:sp>
        <p:sp>
          <p:nvSpPr>
            <p:cNvPr id="123" name="Freeform: Shape 122">
              <a:extLst>
                <a:ext uri="{FF2B5EF4-FFF2-40B4-BE49-F238E27FC236}">
                  <a16:creationId xmlns:a16="http://schemas.microsoft.com/office/drawing/2014/main" id="{D382253A-020D-7A79-0EA7-C6AB878F6E78}"/>
                </a:ext>
              </a:extLst>
            </p:cNvPr>
            <p:cNvSpPr/>
            <p:nvPr/>
          </p:nvSpPr>
          <p:spPr>
            <a:xfrm>
              <a:off x="7331896" y="2295267"/>
              <a:ext cx="298009" cy="160768"/>
            </a:xfrm>
            <a:custGeom>
              <a:avLst/>
              <a:gdLst>
                <a:gd name="connsiteX0" fmla="*/ 297720 w 298009"/>
                <a:gd name="connsiteY0" fmla="*/ 1182 h 160768"/>
                <a:gd name="connsiteX1" fmla="*/ 1182 w 298009"/>
                <a:gd name="connsiteY1" fmla="*/ 1182 h 160768"/>
                <a:gd name="connsiteX2" fmla="*/ 1182 w 298009"/>
                <a:gd name="connsiteY2" fmla="*/ 90155 h 160768"/>
                <a:gd name="connsiteX3" fmla="*/ 149880 w 298009"/>
                <a:gd name="connsiteY3" fmla="*/ 160369 h 160768"/>
                <a:gd name="connsiteX4" fmla="*/ 298578 w 298009"/>
                <a:gd name="connsiteY4" fmla="*/ 90155 h 160768"/>
                <a:gd name="connsiteX5" fmla="*/ 297720 w 298009"/>
                <a:gd name="connsiteY5" fmla="*/ 1182 h 160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8009" h="160768">
                  <a:moveTo>
                    <a:pt x="297720" y="1182"/>
                  </a:moveTo>
                  <a:lnTo>
                    <a:pt x="1182" y="1182"/>
                  </a:lnTo>
                  <a:lnTo>
                    <a:pt x="1182" y="90155"/>
                  </a:lnTo>
                  <a:cubicBezTo>
                    <a:pt x="1182" y="128928"/>
                    <a:pt x="67740" y="160369"/>
                    <a:pt x="149880" y="160369"/>
                  </a:cubicBezTo>
                  <a:cubicBezTo>
                    <a:pt x="232021" y="160369"/>
                    <a:pt x="298578" y="128928"/>
                    <a:pt x="298578" y="90155"/>
                  </a:cubicBezTo>
                  <a:cubicBezTo>
                    <a:pt x="298512" y="90155"/>
                    <a:pt x="298380" y="1777"/>
                    <a:pt x="297720" y="1182"/>
                  </a:cubicBezTo>
                  <a:close/>
                </a:path>
              </a:pathLst>
            </a:custGeom>
            <a:solidFill>
              <a:srgbClr val="0078D3"/>
            </a:solidFill>
            <a:ln w="3830" cap="flat">
              <a:noFill/>
              <a:prstDash val="solid"/>
              <a:miter/>
            </a:ln>
          </p:spPr>
          <p:txBody>
            <a:bodyPr rtlCol="0" anchor="ctr"/>
            <a:lstStyle/>
            <a:p>
              <a:pPr marL="0" marR="0" lvl="0" indent="0" algn="l" defTabSz="913841"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000000"/>
                </a:solidFill>
                <a:effectLst/>
                <a:uLnTx/>
                <a:uFillTx/>
                <a:latin typeface="Segoe UI"/>
                <a:ea typeface="+mn-ea"/>
                <a:cs typeface="+mn-cs"/>
              </a:endParaRPr>
            </a:p>
          </p:txBody>
        </p:sp>
        <p:sp>
          <p:nvSpPr>
            <p:cNvPr id="124" name="Freeform: Shape 123">
              <a:extLst>
                <a:ext uri="{FF2B5EF4-FFF2-40B4-BE49-F238E27FC236}">
                  <a16:creationId xmlns:a16="http://schemas.microsoft.com/office/drawing/2014/main" id="{75B1B8AF-0E8C-C359-6362-D4971910A12E}"/>
                </a:ext>
              </a:extLst>
            </p:cNvPr>
            <p:cNvSpPr/>
            <p:nvPr/>
          </p:nvSpPr>
          <p:spPr>
            <a:xfrm>
              <a:off x="7331896" y="2240171"/>
              <a:ext cx="298009" cy="145083"/>
            </a:xfrm>
            <a:custGeom>
              <a:avLst/>
              <a:gdLst>
                <a:gd name="connsiteX0" fmla="*/ 298512 w 298009"/>
                <a:gd name="connsiteY0" fmla="*/ 1182 h 145083"/>
                <a:gd name="connsiteX1" fmla="*/ 1182 w 298009"/>
                <a:gd name="connsiteY1" fmla="*/ 1182 h 145083"/>
                <a:gd name="connsiteX2" fmla="*/ 1182 w 298009"/>
                <a:gd name="connsiteY2" fmla="*/ 74897 h 145083"/>
                <a:gd name="connsiteX3" fmla="*/ 149880 w 298009"/>
                <a:gd name="connsiteY3" fmla="*/ 145111 h 145083"/>
                <a:gd name="connsiteX4" fmla="*/ 298512 w 298009"/>
                <a:gd name="connsiteY4" fmla="*/ 74897 h 145083"/>
                <a:gd name="connsiteX5" fmla="*/ 298512 w 298009"/>
                <a:gd name="connsiteY5" fmla="*/ 1182 h 14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8009" h="145083">
                  <a:moveTo>
                    <a:pt x="298512" y="1182"/>
                  </a:moveTo>
                  <a:lnTo>
                    <a:pt x="1182" y="1182"/>
                  </a:lnTo>
                  <a:lnTo>
                    <a:pt x="1182" y="74897"/>
                  </a:lnTo>
                  <a:cubicBezTo>
                    <a:pt x="1182" y="113670"/>
                    <a:pt x="67740" y="145111"/>
                    <a:pt x="149880" y="145111"/>
                  </a:cubicBezTo>
                  <a:cubicBezTo>
                    <a:pt x="232021" y="145111"/>
                    <a:pt x="298512" y="113670"/>
                    <a:pt x="298512" y="74897"/>
                  </a:cubicBezTo>
                  <a:cubicBezTo>
                    <a:pt x="298512" y="74897"/>
                    <a:pt x="298512" y="1777"/>
                    <a:pt x="298512" y="1182"/>
                  </a:cubicBezTo>
                  <a:close/>
                </a:path>
              </a:pathLst>
            </a:custGeom>
            <a:solidFill>
              <a:srgbClr val="50E6FF"/>
            </a:solidFill>
            <a:ln w="3830" cap="flat">
              <a:noFill/>
              <a:prstDash val="solid"/>
              <a:miter/>
            </a:ln>
          </p:spPr>
          <p:txBody>
            <a:bodyPr rtlCol="0" anchor="ctr"/>
            <a:lstStyle/>
            <a:p>
              <a:pPr marL="0" marR="0" lvl="0" indent="0" algn="l" defTabSz="913841"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000000"/>
                </a:solidFill>
                <a:effectLst/>
                <a:uLnTx/>
                <a:uFillTx/>
                <a:latin typeface="Segoe UI"/>
                <a:ea typeface="+mn-ea"/>
                <a:cs typeface="+mn-cs"/>
              </a:endParaRPr>
            </a:p>
          </p:txBody>
        </p:sp>
        <p:sp>
          <p:nvSpPr>
            <p:cNvPr id="125" name="Freeform: Shape 124">
              <a:extLst>
                <a:ext uri="{FF2B5EF4-FFF2-40B4-BE49-F238E27FC236}">
                  <a16:creationId xmlns:a16="http://schemas.microsoft.com/office/drawing/2014/main" id="{D6B9827B-C3CC-50C1-6390-75AA39F05C21}"/>
                </a:ext>
              </a:extLst>
            </p:cNvPr>
            <p:cNvSpPr/>
            <p:nvPr/>
          </p:nvSpPr>
          <p:spPr>
            <a:xfrm>
              <a:off x="7331896" y="2174583"/>
              <a:ext cx="298009" cy="137241"/>
            </a:xfrm>
            <a:custGeom>
              <a:avLst/>
              <a:gdLst>
                <a:gd name="connsiteX0" fmla="*/ 149880 w 298009"/>
                <a:gd name="connsiteY0" fmla="*/ 139893 h 137241"/>
                <a:gd name="connsiteX1" fmla="*/ 298578 w 298009"/>
                <a:gd name="connsiteY1" fmla="*/ 70537 h 137241"/>
                <a:gd name="connsiteX2" fmla="*/ 149880 w 298009"/>
                <a:gd name="connsiteY2" fmla="*/ 1182 h 137241"/>
                <a:gd name="connsiteX3" fmla="*/ 1182 w 298009"/>
                <a:gd name="connsiteY3" fmla="*/ 70537 h 137241"/>
                <a:gd name="connsiteX4" fmla="*/ 149880 w 298009"/>
                <a:gd name="connsiteY4" fmla="*/ 139893 h 1372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09" h="137241">
                  <a:moveTo>
                    <a:pt x="149880" y="139893"/>
                  </a:moveTo>
                  <a:cubicBezTo>
                    <a:pt x="232004" y="139893"/>
                    <a:pt x="298578" y="108841"/>
                    <a:pt x="298578" y="70537"/>
                  </a:cubicBezTo>
                  <a:cubicBezTo>
                    <a:pt x="298578" y="32234"/>
                    <a:pt x="232004" y="1182"/>
                    <a:pt x="149880" y="1182"/>
                  </a:cubicBezTo>
                  <a:cubicBezTo>
                    <a:pt x="67757" y="1182"/>
                    <a:pt x="1182" y="32234"/>
                    <a:pt x="1182" y="70537"/>
                  </a:cubicBezTo>
                  <a:cubicBezTo>
                    <a:pt x="1182" y="108841"/>
                    <a:pt x="67757" y="139893"/>
                    <a:pt x="149880" y="139893"/>
                  </a:cubicBezTo>
                  <a:close/>
                </a:path>
              </a:pathLst>
            </a:custGeom>
            <a:solidFill>
              <a:srgbClr val="0078D3"/>
            </a:solidFill>
            <a:ln w="3830" cap="flat">
              <a:noFill/>
              <a:prstDash val="solid"/>
              <a:miter/>
            </a:ln>
          </p:spPr>
          <p:txBody>
            <a:bodyPr rtlCol="0" anchor="ctr"/>
            <a:lstStyle/>
            <a:p>
              <a:pPr marL="0" marR="0" lvl="0" indent="0" algn="l" defTabSz="913841"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000000"/>
                </a:solidFill>
                <a:effectLst/>
                <a:uLnTx/>
                <a:uFillTx/>
                <a:latin typeface="Segoe UI"/>
                <a:ea typeface="+mn-ea"/>
                <a:cs typeface="+mn-cs"/>
              </a:endParaRPr>
            </a:p>
          </p:txBody>
        </p:sp>
      </p:grpSp>
      <p:sp>
        <p:nvSpPr>
          <p:cNvPr id="126" name="TextBox 125">
            <a:extLst>
              <a:ext uri="{FF2B5EF4-FFF2-40B4-BE49-F238E27FC236}">
                <a16:creationId xmlns:a16="http://schemas.microsoft.com/office/drawing/2014/main" id="{F776B268-500F-B7AC-BF0B-EC70E44341E9}"/>
              </a:ext>
            </a:extLst>
          </p:cNvPr>
          <p:cNvSpPr txBox="1"/>
          <p:nvPr/>
        </p:nvSpPr>
        <p:spPr>
          <a:xfrm>
            <a:off x="419217" y="5788440"/>
            <a:ext cx="1779460" cy="584775"/>
          </a:xfrm>
          <a:prstGeom prst="rect">
            <a:avLst/>
          </a:prstGeom>
          <a:noFill/>
        </p:spPr>
        <p:txBody>
          <a:bodyPr wrap="square">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chemeClr val="accent1"/>
                </a:solidFill>
                <a:effectLst/>
                <a:uLnTx/>
                <a:uFillTx/>
                <a:latin typeface="+mn-lt"/>
                <a:ea typeface="+mn-ea"/>
                <a:cs typeface="Segoe UI"/>
              </a:rPr>
              <a:t>GPU </a:t>
            </a:r>
            <a:br>
              <a:rPr kumimoji="0" lang="en-US" sz="1600" b="0" i="0" u="none" strike="noStrike" kern="0" cap="none" spc="0" normalizeH="0" baseline="0" noProof="0">
                <a:ln>
                  <a:noFill/>
                </a:ln>
                <a:solidFill>
                  <a:schemeClr val="accent1"/>
                </a:solidFill>
                <a:effectLst/>
                <a:uLnTx/>
                <a:uFillTx/>
                <a:latin typeface="+mn-lt"/>
                <a:ea typeface="+mn-ea"/>
                <a:cs typeface="Segoe UI"/>
              </a:rPr>
            </a:br>
            <a:r>
              <a:rPr kumimoji="0" lang="en-US" sz="1600" b="0" i="0" u="none" strike="noStrike" kern="0" cap="none" spc="0" normalizeH="0" baseline="0" noProof="0">
                <a:ln>
                  <a:noFill/>
                </a:ln>
                <a:solidFill>
                  <a:schemeClr val="accent1"/>
                </a:solidFill>
                <a:effectLst/>
                <a:uLnTx/>
                <a:uFillTx/>
                <a:latin typeface="+mn-lt"/>
                <a:ea typeface="+mn-ea"/>
                <a:cs typeface="Segoe UI"/>
              </a:rPr>
              <a:t>accelerated</a:t>
            </a:r>
          </a:p>
        </p:txBody>
      </p:sp>
      <p:sp>
        <p:nvSpPr>
          <p:cNvPr id="127" name="TextBox 126">
            <a:extLst>
              <a:ext uri="{FF2B5EF4-FFF2-40B4-BE49-F238E27FC236}">
                <a16:creationId xmlns:a16="http://schemas.microsoft.com/office/drawing/2014/main" id="{3B43C965-BE56-CBAF-F05C-DB7B0E01B97F}"/>
              </a:ext>
            </a:extLst>
          </p:cNvPr>
          <p:cNvSpPr txBox="1"/>
          <p:nvPr/>
        </p:nvSpPr>
        <p:spPr>
          <a:xfrm>
            <a:off x="2001761" y="5804706"/>
            <a:ext cx="1913027" cy="584775"/>
          </a:xfrm>
          <a:prstGeom prst="rect">
            <a:avLst/>
          </a:prstGeom>
          <a:noFill/>
        </p:spPr>
        <p:txBody>
          <a:bodyPr wrap="square">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chemeClr val="accent1"/>
                </a:solidFill>
                <a:effectLst/>
                <a:uLnTx/>
                <a:uFillTx/>
                <a:latin typeface="+mn-lt"/>
                <a:ea typeface="+mn-ea"/>
                <a:cs typeface="Segoe UI"/>
              </a:rPr>
              <a:t>Storage </a:t>
            </a:r>
            <a:br>
              <a:rPr kumimoji="0" lang="en-US" sz="1600" b="0" i="0" u="none" strike="noStrike" kern="0" cap="none" spc="0" normalizeH="0" baseline="0" noProof="0">
                <a:ln>
                  <a:noFill/>
                </a:ln>
                <a:solidFill>
                  <a:schemeClr val="accent1"/>
                </a:solidFill>
                <a:effectLst/>
                <a:uLnTx/>
                <a:uFillTx/>
                <a:latin typeface="+mn-lt"/>
                <a:ea typeface="+mn-ea"/>
                <a:cs typeface="Segoe UI"/>
              </a:rPr>
            </a:br>
            <a:r>
              <a:rPr kumimoji="0" lang="en-US" sz="1600" b="0" i="0" u="none" strike="noStrike" kern="0" cap="none" spc="0" normalizeH="0" baseline="0" noProof="0">
                <a:ln>
                  <a:noFill/>
                </a:ln>
                <a:solidFill>
                  <a:schemeClr val="accent1"/>
                </a:solidFill>
                <a:effectLst/>
                <a:uLnTx/>
                <a:uFillTx/>
                <a:latin typeface="+mn-lt"/>
                <a:ea typeface="+mn-ea"/>
                <a:cs typeface="Segoe UI"/>
              </a:rPr>
              <a:t>optimized</a:t>
            </a:r>
          </a:p>
        </p:txBody>
      </p:sp>
    </p:spTree>
    <p:extLst>
      <p:ext uri="{BB962C8B-B14F-4D97-AF65-F5344CB8AC3E}">
        <p14:creationId xmlns:p14="http://schemas.microsoft.com/office/powerpoint/2010/main" val="2300510798"/>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10">
            <a:extLst>
              <a:ext uri="{FF2B5EF4-FFF2-40B4-BE49-F238E27FC236}">
                <a16:creationId xmlns:a16="http://schemas.microsoft.com/office/drawing/2014/main" id="{4910E265-641D-8FE2-5612-7C7B44591BB0}"/>
              </a:ext>
              <a:ext uri="{C183D7F6-B498-43B3-948B-1728B52AA6E4}">
                <adec:decorative xmlns:adec="http://schemas.microsoft.com/office/drawing/2017/decorative" val="1"/>
              </a:ext>
            </a:extLst>
          </p:cNvPr>
          <p:cNvPicPr>
            <a:picLocks noChangeAspect="1"/>
          </p:cNvPicPr>
          <p:nvPr/>
        </p:nvPicPr>
        <p:blipFill rotWithShape="1">
          <a:blip r:embed="rId3"/>
          <a:srcRect t="12435" b="12435"/>
          <a:stretch/>
        </p:blipFill>
        <p:spPr>
          <a:xfrm>
            <a:off x="8424101" y="1360885"/>
            <a:ext cx="914400" cy="686990"/>
          </a:xfrm>
          <a:prstGeom prst="rect">
            <a:avLst/>
          </a:prstGeom>
        </p:spPr>
      </p:pic>
      <p:pic>
        <p:nvPicPr>
          <p:cNvPr id="27" name="Picture 10">
            <a:extLst>
              <a:ext uri="{FF2B5EF4-FFF2-40B4-BE49-F238E27FC236}">
                <a16:creationId xmlns:a16="http://schemas.microsoft.com/office/drawing/2014/main" id="{B89A9BE4-0A90-2EA5-AF60-70B045564527}"/>
              </a:ext>
              <a:ext uri="{C183D7F6-B498-43B3-948B-1728B52AA6E4}">
                <adec:decorative xmlns:adec="http://schemas.microsoft.com/office/drawing/2017/decorative" val="1"/>
              </a:ext>
            </a:extLst>
          </p:cNvPr>
          <p:cNvPicPr>
            <a:picLocks noChangeAspect="1"/>
          </p:cNvPicPr>
          <p:nvPr/>
        </p:nvPicPr>
        <p:blipFill rotWithShape="1">
          <a:blip r:embed="rId3"/>
          <a:srcRect t="12435" b="12435"/>
          <a:stretch/>
        </p:blipFill>
        <p:spPr>
          <a:xfrm>
            <a:off x="9381648" y="1360885"/>
            <a:ext cx="914400" cy="686990"/>
          </a:xfrm>
          <a:prstGeom prst="rect">
            <a:avLst/>
          </a:prstGeom>
        </p:spPr>
      </p:pic>
      <p:pic>
        <p:nvPicPr>
          <p:cNvPr id="28" name="Picture 10">
            <a:extLst>
              <a:ext uri="{FF2B5EF4-FFF2-40B4-BE49-F238E27FC236}">
                <a16:creationId xmlns:a16="http://schemas.microsoft.com/office/drawing/2014/main" id="{7612A251-78D9-CA82-2DAE-90F6283587C5}"/>
              </a:ext>
              <a:ext uri="{C183D7F6-B498-43B3-948B-1728B52AA6E4}">
                <adec:decorative xmlns:adec="http://schemas.microsoft.com/office/drawing/2017/decorative" val="1"/>
              </a:ext>
            </a:extLst>
          </p:cNvPr>
          <p:cNvPicPr>
            <a:picLocks noChangeAspect="1"/>
          </p:cNvPicPr>
          <p:nvPr/>
        </p:nvPicPr>
        <p:blipFill rotWithShape="1">
          <a:blip r:embed="rId3"/>
          <a:srcRect t="12435" b="12435"/>
          <a:stretch/>
        </p:blipFill>
        <p:spPr>
          <a:xfrm>
            <a:off x="10339195" y="1360885"/>
            <a:ext cx="914400" cy="686990"/>
          </a:xfrm>
          <a:prstGeom prst="rect">
            <a:avLst/>
          </a:prstGeom>
        </p:spPr>
      </p:pic>
      <p:pic>
        <p:nvPicPr>
          <p:cNvPr id="30" name="Picture 4">
            <a:extLst>
              <a:ext uri="{FF2B5EF4-FFF2-40B4-BE49-F238E27FC236}">
                <a16:creationId xmlns:a16="http://schemas.microsoft.com/office/drawing/2014/main" id="{CD9344FF-597D-A88C-3C0B-9FB6AFB718F9}"/>
              </a:ext>
              <a:ext uri="{C183D7F6-B498-43B3-948B-1728B52AA6E4}">
                <adec:decorative xmlns:adec="http://schemas.microsoft.com/office/drawing/2017/decorative" val="1"/>
              </a:ext>
            </a:extLst>
          </p:cNvPr>
          <p:cNvPicPr>
            <a:picLocks noChangeAspect="1"/>
          </p:cNvPicPr>
          <p:nvPr/>
        </p:nvPicPr>
        <p:blipFill rotWithShape="1">
          <a:blip r:embed="rId4"/>
          <a:srcRect l="4981" t="4646" r="4394" b="3948"/>
          <a:stretch/>
        </p:blipFill>
        <p:spPr>
          <a:xfrm>
            <a:off x="5241989" y="1364069"/>
            <a:ext cx="701571" cy="707619"/>
          </a:xfrm>
          <a:prstGeom prst="rect">
            <a:avLst/>
          </a:prstGeom>
        </p:spPr>
      </p:pic>
      <p:pic>
        <p:nvPicPr>
          <p:cNvPr id="31" name="Picture 12">
            <a:extLst>
              <a:ext uri="{FF2B5EF4-FFF2-40B4-BE49-F238E27FC236}">
                <a16:creationId xmlns:a16="http://schemas.microsoft.com/office/drawing/2014/main" id="{261A146F-50B9-3B72-5F81-AE4DCF81BB4C}"/>
              </a:ext>
              <a:ext uri="{C183D7F6-B498-43B3-948B-1728B52AA6E4}">
                <adec:decorative xmlns:adec="http://schemas.microsoft.com/office/drawing/2017/decorative" val="1"/>
              </a:ext>
            </a:extLst>
          </p:cNvPr>
          <p:cNvPicPr>
            <a:picLocks noChangeAspect="1"/>
          </p:cNvPicPr>
          <p:nvPr/>
        </p:nvPicPr>
        <p:blipFill rotWithShape="1">
          <a:blip r:embed="rId5"/>
          <a:srcRect l="3277" t="7878" b="7878"/>
          <a:stretch/>
        </p:blipFill>
        <p:spPr>
          <a:xfrm>
            <a:off x="2059877" y="1360885"/>
            <a:ext cx="788747" cy="686990"/>
          </a:xfrm>
          <a:prstGeom prst="rect">
            <a:avLst/>
          </a:prstGeom>
        </p:spPr>
      </p:pic>
      <p:sp>
        <p:nvSpPr>
          <p:cNvPr id="12" name="Title 11">
            <a:extLst>
              <a:ext uri="{FF2B5EF4-FFF2-40B4-BE49-F238E27FC236}">
                <a16:creationId xmlns:a16="http://schemas.microsoft.com/office/drawing/2014/main" id="{DD1BE1AF-1652-FDCF-F9F1-CC0F9AF1210D}"/>
              </a:ext>
            </a:extLst>
          </p:cNvPr>
          <p:cNvSpPr>
            <a:spLocks noGrp="1"/>
          </p:cNvSpPr>
          <p:nvPr>
            <p:ph type="title"/>
          </p:nvPr>
        </p:nvSpPr>
        <p:spPr>
          <a:xfrm>
            <a:off x="588963" y="457200"/>
            <a:ext cx="11017250" cy="554038"/>
          </a:xfrm>
        </p:spPr>
        <p:txBody>
          <a:bodyPr/>
          <a:lstStyle/>
          <a:p>
            <a:r>
              <a:rPr lang="en-US"/>
              <a:t>Backing storage options</a:t>
            </a:r>
          </a:p>
        </p:txBody>
      </p:sp>
      <p:graphicFrame>
        <p:nvGraphicFramePr>
          <p:cNvPr id="4" name="Table 8">
            <a:extLst>
              <a:ext uri="{FF2B5EF4-FFF2-40B4-BE49-F238E27FC236}">
                <a16:creationId xmlns:a16="http://schemas.microsoft.com/office/drawing/2014/main" id="{2AFB04F3-22E8-D981-E8D6-0972FF78169C}"/>
              </a:ext>
            </a:extLst>
          </p:cNvPr>
          <p:cNvGraphicFramePr>
            <a:graphicFrameLocks noGrp="1"/>
          </p:cNvGraphicFramePr>
          <p:nvPr>
            <p:extLst>
              <p:ext uri="{D42A27DB-BD31-4B8C-83A1-F6EECF244321}">
                <p14:modId xmlns:p14="http://schemas.microsoft.com/office/powerpoint/2010/main" val="3730897776"/>
              </p:ext>
            </p:extLst>
          </p:nvPr>
        </p:nvGraphicFramePr>
        <p:xfrm>
          <a:off x="603993" y="2153716"/>
          <a:ext cx="11002220" cy="4114800"/>
        </p:xfrm>
        <a:graphic>
          <a:graphicData uri="http://schemas.openxmlformats.org/drawingml/2006/table">
            <a:tbl>
              <a:tblPr firstRow="1" bandRow="1">
                <a:effectLst>
                  <a:outerShdw blurRad="63500" algn="ctr" rotWithShape="0">
                    <a:prstClr val="black">
                      <a:alpha val="10000"/>
                    </a:prstClr>
                  </a:outerShdw>
                </a:effectLst>
              </a:tblPr>
              <a:tblGrid>
                <a:gridCol w="1462802">
                  <a:extLst>
                    <a:ext uri="{9D8B030D-6E8A-4147-A177-3AD203B41FA5}">
                      <a16:colId xmlns:a16="http://schemas.microsoft.com/office/drawing/2014/main" val="3072398654"/>
                    </a:ext>
                  </a:extLst>
                </a:gridCol>
                <a:gridCol w="3179806">
                  <a:extLst>
                    <a:ext uri="{9D8B030D-6E8A-4147-A177-3AD203B41FA5}">
                      <a16:colId xmlns:a16="http://schemas.microsoft.com/office/drawing/2014/main" val="46785426"/>
                    </a:ext>
                  </a:extLst>
                </a:gridCol>
                <a:gridCol w="3179806">
                  <a:extLst>
                    <a:ext uri="{9D8B030D-6E8A-4147-A177-3AD203B41FA5}">
                      <a16:colId xmlns:a16="http://schemas.microsoft.com/office/drawing/2014/main" val="1434387964"/>
                    </a:ext>
                  </a:extLst>
                </a:gridCol>
                <a:gridCol w="3179806">
                  <a:extLst>
                    <a:ext uri="{9D8B030D-6E8A-4147-A177-3AD203B41FA5}">
                      <a16:colId xmlns:a16="http://schemas.microsoft.com/office/drawing/2014/main" val="2144012195"/>
                    </a:ext>
                  </a:extLst>
                </a:gridCol>
              </a:tblGrid>
              <a:tr h="0">
                <a:tc>
                  <a:txBody>
                    <a:bodyPr/>
                    <a:lstStyle/>
                    <a:p>
                      <a:pPr algn="l">
                        <a:lnSpc>
                          <a:spcPct val="100000"/>
                        </a:lnSpc>
                      </a:pPr>
                      <a:endParaRPr lang="en-US" sz="1600" spc="0">
                        <a:solidFill>
                          <a:schemeClr val="tx1"/>
                        </a:solidFill>
                        <a:latin typeface="+mj-lt"/>
                      </a:endParaRPr>
                    </a:p>
                  </a:txBody>
                  <a:tcPr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dk1"/>
                          </a:solidFill>
                          <a:latin typeface="Segoe UI"/>
                        </a:defRPr>
                      </a:lvl1pPr>
                      <a:lvl2pPr marL="466371" algn="l" defTabSz="932742" rtl="0" eaLnBrk="1" latinLnBrk="0" hangingPunct="1">
                        <a:defRPr sz="1800" kern="1200">
                          <a:solidFill>
                            <a:schemeClr val="dk1"/>
                          </a:solidFill>
                          <a:latin typeface="Segoe UI"/>
                        </a:defRPr>
                      </a:lvl2pPr>
                      <a:lvl3pPr marL="932742" algn="l" defTabSz="932742" rtl="0" eaLnBrk="1" latinLnBrk="0" hangingPunct="1">
                        <a:defRPr sz="1800" kern="1200">
                          <a:solidFill>
                            <a:schemeClr val="dk1"/>
                          </a:solidFill>
                          <a:latin typeface="Segoe UI"/>
                        </a:defRPr>
                      </a:lvl3pPr>
                      <a:lvl4pPr marL="1399113" algn="l" defTabSz="932742" rtl="0" eaLnBrk="1" latinLnBrk="0" hangingPunct="1">
                        <a:defRPr sz="1800" kern="1200">
                          <a:solidFill>
                            <a:schemeClr val="dk1"/>
                          </a:solidFill>
                          <a:latin typeface="Segoe UI"/>
                        </a:defRPr>
                      </a:lvl4pPr>
                      <a:lvl5pPr marL="1865484" algn="l" defTabSz="932742" rtl="0" eaLnBrk="1" latinLnBrk="0" hangingPunct="1">
                        <a:defRPr sz="1800" kern="1200">
                          <a:solidFill>
                            <a:schemeClr val="dk1"/>
                          </a:solidFill>
                          <a:latin typeface="Segoe UI"/>
                        </a:defRPr>
                      </a:lvl5pPr>
                      <a:lvl6pPr marL="2331856" algn="l" defTabSz="932742" rtl="0" eaLnBrk="1" latinLnBrk="0" hangingPunct="1">
                        <a:defRPr sz="1800" kern="1200">
                          <a:solidFill>
                            <a:schemeClr val="dk1"/>
                          </a:solidFill>
                          <a:latin typeface="Segoe UI"/>
                        </a:defRPr>
                      </a:lvl6pPr>
                      <a:lvl7pPr marL="2798226" algn="l" defTabSz="932742" rtl="0" eaLnBrk="1" latinLnBrk="0" hangingPunct="1">
                        <a:defRPr sz="1800" kern="1200">
                          <a:solidFill>
                            <a:schemeClr val="dk1"/>
                          </a:solidFill>
                          <a:latin typeface="Segoe UI"/>
                        </a:defRPr>
                      </a:lvl7pPr>
                      <a:lvl8pPr marL="3264597" algn="l" defTabSz="932742" rtl="0" eaLnBrk="1" latinLnBrk="0" hangingPunct="1">
                        <a:defRPr sz="1800" kern="1200">
                          <a:solidFill>
                            <a:schemeClr val="dk1"/>
                          </a:solidFill>
                          <a:latin typeface="Segoe UI"/>
                        </a:defRPr>
                      </a:lvl8pPr>
                      <a:lvl9pPr marL="3730969" algn="l" defTabSz="932742" rtl="0" eaLnBrk="1" latinLnBrk="0" hangingPunct="1">
                        <a:defRPr sz="1800" kern="1200">
                          <a:solidFill>
                            <a:schemeClr val="dk1"/>
                          </a:solidFill>
                          <a:latin typeface="Segoe UI"/>
                        </a:defRPr>
                      </a:lvl9p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IN" sz="1600" b="0" i="0" u="none" strike="noStrike" kern="0" cap="none" spc="0" normalizeH="0" baseline="0" noProof="0">
                          <a:ln>
                            <a:noFill/>
                          </a:ln>
                          <a:solidFill>
                            <a:schemeClr val="tx2"/>
                          </a:solidFill>
                          <a:effectLst/>
                          <a:uLnTx/>
                          <a:uFillTx/>
                          <a:latin typeface="+mj-lt"/>
                          <a:ea typeface="+mn-ea"/>
                          <a:cs typeface="Segoe UI Semibold"/>
                        </a:rPr>
                        <a:t>Azure Disks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dk1"/>
                          </a:solidFill>
                          <a:latin typeface="Segoe UI"/>
                        </a:defRPr>
                      </a:lvl1pPr>
                      <a:lvl2pPr marL="466371" algn="l" defTabSz="932742" rtl="0" eaLnBrk="1" latinLnBrk="0" hangingPunct="1">
                        <a:defRPr sz="1800" kern="1200">
                          <a:solidFill>
                            <a:schemeClr val="dk1"/>
                          </a:solidFill>
                          <a:latin typeface="Segoe UI"/>
                        </a:defRPr>
                      </a:lvl2pPr>
                      <a:lvl3pPr marL="932742" algn="l" defTabSz="932742" rtl="0" eaLnBrk="1" latinLnBrk="0" hangingPunct="1">
                        <a:defRPr sz="1800" kern="1200">
                          <a:solidFill>
                            <a:schemeClr val="dk1"/>
                          </a:solidFill>
                          <a:latin typeface="Segoe UI"/>
                        </a:defRPr>
                      </a:lvl3pPr>
                      <a:lvl4pPr marL="1399113" algn="l" defTabSz="932742" rtl="0" eaLnBrk="1" latinLnBrk="0" hangingPunct="1">
                        <a:defRPr sz="1800" kern="1200">
                          <a:solidFill>
                            <a:schemeClr val="dk1"/>
                          </a:solidFill>
                          <a:latin typeface="Segoe UI"/>
                        </a:defRPr>
                      </a:lvl4pPr>
                      <a:lvl5pPr marL="1865484" algn="l" defTabSz="932742" rtl="0" eaLnBrk="1" latinLnBrk="0" hangingPunct="1">
                        <a:defRPr sz="1800" kern="1200">
                          <a:solidFill>
                            <a:schemeClr val="dk1"/>
                          </a:solidFill>
                          <a:latin typeface="Segoe UI"/>
                        </a:defRPr>
                      </a:lvl5pPr>
                      <a:lvl6pPr marL="2331856" algn="l" defTabSz="932742" rtl="0" eaLnBrk="1" latinLnBrk="0" hangingPunct="1">
                        <a:defRPr sz="1800" kern="1200">
                          <a:solidFill>
                            <a:schemeClr val="dk1"/>
                          </a:solidFill>
                          <a:latin typeface="Segoe UI"/>
                        </a:defRPr>
                      </a:lvl6pPr>
                      <a:lvl7pPr marL="2798226" algn="l" defTabSz="932742" rtl="0" eaLnBrk="1" latinLnBrk="0" hangingPunct="1">
                        <a:defRPr sz="1800" kern="1200">
                          <a:solidFill>
                            <a:schemeClr val="dk1"/>
                          </a:solidFill>
                          <a:latin typeface="Segoe UI"/>
                        </a:defRPr>
                      </a:lvl7pPr>
                      <a:lvl8pPr marL="3264597" algn="l" defTabSz="932742" rtl="0" eaLnBrk="1" latinLnBrk="0" hangingPunct="1">
                        <a:defRPr sz="1800" kern="1200">
                          <a:solidFill>
                            <a:schemeClr val="dk1"/>
                          </a:solidFill>
                          <a:latin typeface="Segoe UI"/>
                        </a:defRPr>
                      </a:lvl8pPr>
                      <a:lvl9pPr marL="3730969" algn="l" defTabSz="932742" rtl="0" eaLnBrk="1" latinLnBrk="0" hangingPunct="1">
                        <a:defRPr sz="1800" kern="1200">
                          <a:solidFill>
                            <a:schemeClr val="dk1"/>
                          </a:solidFill>
                          <a:latin typeface="Segoe UI"/>
                        </a:defRPr>
                      </a:lvl9p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IN" sz="1600" b="0" i="0" u="none" strike="noStrike" kern="0" cap="none" spc="0" normalizeH="0" baseline="0" noProof="0">
                          <a:ln>
                            <a:noFill/>
                          </a:ln>
                          <a:solidFill>
                            <a:schemeClr val="tx2"/>
                          </a:solidFill>
                          <a:effectLst/>
                          <a:uLnTx/>
                          <a:uFillTx/>
                          <a:latin typeface="+mj-lt"/>
                          <a:ea typeface="+mn-ea"/>
                          <a:cs typeface="Segoe UI Semibold"/>
                        </a:rPr>
                        <a:t>Azure Elastic SAN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dk1"/>
                          </a:solidFill>
                          <a:latin typeface="Segoe UI"/>
                        </a:defRPr>
                      </a:lvl1pPr>
                      <a:lvl2pPr marL="466371" algn="l" defTabSz="932742" rtl="0" eaLnBrk="1" latinLnBrk="0" hangingPunct="1">
                        <a:defRPr sz="1800" kern="1200">
                          <a:solidFill>
                            <a:schemeClr val="dk1"/>
                          </a:solidFill>
                          <a:latin typeface="Segoe UI"/>
                        </a:defRPr>
                      </a:lvl2pPr>
                      <a:lvl3pPr marL="932742" algn="l" defTabSz="932742" rtl="0" eaLnBrk="1" latinLnBrk="0" hangingPunct="1">
                        <a:defRPr sz="1800" kern="1200">
                          <a:solidFill>
                            <a:schemeClr val="dk1"/>
                          </a:solidFill>
                          <a:latin typeface="Segoe UI"/>
                        </a:defRPr>
                      </a:lvl3pPr>
                      <a:lvl4pPr marL="1399113" algn="l" defTabSz="932742" rtl="0" eaLnBrk="1" latinLnBrk="0" hangingPunct="1">
                        <a:defRPr sz="1800" kern="1200">
                          <a:solidFill>
                            <a:schemeClr val="dk1"/>
                          </a:solidFill>
                          <a:latin typeface="Segoe UI"/>
                        </a:defRPr>
                      </a:lvl4pPr>
                      <a:lvl5pPr marL="1865484" algn="l" defTabSz="932742" rtl="0" eaLnBrk="1" latinLnBrk="0" hangingPunct="1">
                        <a:defRPr sz="1800" kern="1200">
                          <a:solidFill>
                            <a:schemeClr val="dk1"/>
                          </a:solidFill>
                          <a:latin typeface="Segoe UI"/>
                        </a:defRPr>
                      </a:lvl5pPr>
                      <a:lvl6pPr marL="2331856" algn="l" defTabSz="932742" rtl="0" eaLnBrk="1" latinLnBrk="0" hangingPunct="1">
                        <a:defRPr sz="1800" kern="1200">
                          <a:solidFill>
                            <a:schemeClr val="dk1"/>
                          </a:solidFill>
                          <a:latin typeface="Segoe UI"/>
                        </a:defRPr>
                      </a:lvl6pPr>
                      <a:lvl7pPr marL="2798226" algn="l" defTabSz="932742" rtl="0" eaLnBrk="1" latinLnBrk="0" hangingPunct="1">
                        <a:defRPr sz="1800" kern="1200">
                          <a:solidFill>
                            <a:schemeClr val="dk1"/>
                          </a:solidFill>
                          <a:latin typeface="Segoe UI"/>
                        </a:defRPr>
                      </a:lvl7pPr>
                      <a:lvl8pPr marL="3264597" algn="l" defTabSz="932742" rtl="0" eaLnBrk="1" latinLnBrk="0" hangingPunct="1">
                        <a:defRPr sz="1800" kern="1200">
                          <a:solidFill>
                            <a:schemeClr val="dk1"/>
                          </a:solidFill>
                          <a:latin typeface="Segoe UI"/>
                        </a:defRPr>
                      </a:lvl8pPr>
                      <a:lvl9pPr marL="3730969" algn="l" defTabSz="932742" rtl="0" eaLnBrk="1" latinLnBrk="0" hangingPunct="1">
                        <a:defRPr sz="1800" kern="1200">
                          <a:solidFill>
                            <a:schemeClr val="dk1"/>
                          </a:solidFill>
                          <a:latin typeface="Segoe UI"/>
                        </a:defRPr>
                      </a:lvl9p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IN" sz="1600" b="0" i="0" u="none" strike="noStrike" kern="0" cap="none" spc="0" normalizeH="0" baseline="0" noProof="0">
                          <a:ln>
                            <a:noFill/>
                          </a:ln>
                          <a:solidFill>
                            <a:schemeClr val="tx2"/>
                          </a:solidFill>
                          <a:effectLst/>
                          <a:uLnTx/>
                          <a:uFillTx/>
                          <a:latin typeface="+mj-lt"/>
                          <a:ea typeface="+mn-ea"/>
                          <a:cs typeface="Segoe UI Semibold"/>
                        </a:rPr>
                        <a:t>Ephemeral Disk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4384444"/>
                  </a:ext>
                </a:extLst>
              </a:tr>
              <a:tr h="0">
                <a:tc>
                  <a:txBody>
                    <a:bodyPr/>
                    <a:lstStyle/>
                    <a:p>
                      <a:pPr algn="l">
                        <a:lnSpc>
                          <a:spcPct val="100000"/>
                        </a:lnSpc>
                      </a:pPr>
                      <a:endParaRPr lang="en-US" sz="1600" spc="0">
                        <a:solidFill>
                          <a:schemeClr val="tx1"/>
                        </a:solidFill>
                        <a:latin typeface="+mj-lt"/>
                      </a:endParaRPr>
                    </a:p>
                  </a:txBody>
                  <a:tcPr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dk1"/>
                          </a:solidFill>
                          <a:latin typeface="Segoe UI"/>
                        </a:defRPr>
                      </a:lvl1pPr>
                      <a:lvl2pPr marL="466371" algn="l" defTabSz="932742" rtl="0" eaLnBrk="1" latinLnBrk="0" hangingPunct="1">
                        <a:defRPr sz="1800" kern="1200">
                          <a:solidFill>
                            <a:schemeClr val="dk1"/>
                          </a:solidFill>
                          <a:latin typeface="Segoe UI"/>
                        </a:defRPr>
                      </a:lvl2pPr>
                      <a:lvl3pPr marL="932742" algn="l" defTabSz="932742" rtl="0" eaLnBrk="1" latinLnBrk="0" hangingPunct="1">
                        <a:defRPr sz="1800" kern="1200">
                          <a:solidFill>
                            <a:schemeClr val="dk1"/>
                          </a:solidFill>
                          <a:latin typeface="Segoe UI"/>
                        </a:defRPr>
                      </a:lvl3pPr>
                      <a:lvl4pPr marL="1399113" algn="l" defTabSz="932742" rtl="0" eaLnBrk="1" latinLnBrk="0" hangingPunct="1">
                        <a:defRPr sz="1800" kern="1200">
                          <a:solidFill>
                            <a:schemeClr val="dk1"/>
                          </a:solidFill>
                          <a:latin typeface="Segoe UI"/>
                        </a:defRPr>
                      </a:lvl4pPr>
                      <a:lvl5pPr marL="1865484" algn="l" defTabSz="932742" rtl="0" eaLnBrk="1" latinLnBrk="0" hangingPunct="1">
                        <a:defRPr sz="1800" kern="1200">
                          <a:solidFill>
                            <a:schemeClr val="dk1"/>
                          </a:solidFill>
                          <a:latin typeface="Segoe UI"/>
                        </a:defRPr>
                      </a:lvl5pPr>
                      <a:lvl6pPr marL="2331856" algn="l" defTabSz="932742" rtl="0" eaLnBrk="1" latinLnBrk="0" hangingPunct="1">
                        <a:defRPr sz="1800" kern="1200">
                          <a:solidFill>
                            <a:schemeClr val="dk1"/>
                          </a:solidFill>
                          <a:latin typeface="Segoe UI"/>
                        </a:defRPr>
                      </a:lvl6pPr>
                      <a:lvl7pPr marL="2798226" algn="l" defTabSz="932742" rtl="0" eaLnBrk="1" latinLnBrk="0" hangingPunct="1">
                        <a:defRPr sz="1800" kern="1200">
                          <a:solidFill>
                            <a:schemeClr val="dk1"/>
                          </a:solidFill>
                          <a:latin typeface="Segoe UI"/>
                        </a:defRPr>
                      </a:lvl7pPr>
                      <a:lvl8pPr marL="3264597" algn="l" defTabSz="932742" rtl="0" eaLnBrk="1" latinLnBrk="0" hangingPunct="1">
                        <a:defRPr sz="1800" kern="1200">
                          <a:solidFill>
                            <a:schemeClr val="dk1"/>
                          </a:solidFill>
                          <a:latin typeface="Segoe UI"/>
                        </a:defRPr>
                      </a:lvl8pPr>
                      <a:lvl9pPr marL="3730969" algn="l" defTabSz="932742" rtl="0" eaLnBrk="1" latinLnBrk="0" hangingPunct="1">
                        <a:defRPr sz="1800" kern="1200">
                          <a:solidFill>
                            <a:schemeClr val="dk1"/>
                          </a:solidFill>
                          <a:latin typeface="Segoe UI"/>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400" kern="1200" spc="0" baseline="0" noProof="0" dirty="0">
                          <a:solidFill>
                            <a:schemeClr val="accent1">
                              <a:lumMod val="75000"/>
                            </a:schemeClr>
                          </a:solidFill>
                          <a:latin typeface="+mj-lt"/>
                          <a:ea typeface="+mn-ea"/>
                          <a:cs typeface="Segoe UI Semibold"/>
                        </a:rPr>
                        <a:t>Granular control of storage SKUs and configurations</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tx2"/>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32742" rtl="0" eaLnBrk="1" latinLnBrk="0" hangingPunct="1">
                        <a:defRPr sz="1800" kern="1200">
                          <a:solidFill>
                            <a:schemeClr val="dk1"/>
                          </a:solidFill>
                          <a:latin typeface="Segoe UI"/>
                        </a:defRPr>
                      </a:lvl1pPr>
                      <a:lvl2pPr marL="466371" algn="l" defTabSz="932742" rtl="0" eaLnBrk="1" latinLnBrk="0" hangingPunct="1">
                        <a:defRPr sz="1800" kern="1200">
                          <a:solidFill>
                            <a:schemeClr val="dk1"/>
                          </a:solidFill>
                          <a:latin typeface="Segoe UI"/>
                        </a:defRPr>
                      </a:lvl2pPr>
                      <a:lvl3pPr marL="932742" algn="l" defTabSz="932742" rtl="0" eaLnBrk="1" latinLnBrk="0" hangingPunct="1">
                        <a:defRPr sz="1800" kern="1200">
                          <a:solidFill>
                            <a:schemeClr val="dk1"/>
                          </a:solidFill>
                          <a:latin typeface="Segoe UI"/>
                        </a:defRPr>
                      </a:lvl3pPr>
                      <a:lvl4pPr marL="1399113" algn="l" defTabSz="932742" rtl="0" eaLnBrk="1" latinLnBrk="0" hangingPunct="1">
                        <a:defRPr sz="1800" kern="1200">
                          <a:solidFill>
                            <a:schemeClr val="dk1"/>
                          </a:solidFill>
                          <a:latin typeface="Segoe UI"/>
                        </a:defRPr>
                      </a:lvl4pPr>
                      <a:lvl5pPr marL="1865484" algn="l" defTabSz="932742" rtl="0" eaLnBrk="1" latinLnBrk="0" hangingPunct="1">
                        <a:defRPr sz="1800" kern="1200">
                          <a:solidFill>
                            <a:schemeClr val="dk1"/>
                          </a:solidFill>
                          <a:latin typeface="Segoe UI"/>
                        </a:defRPr>
                      </a:lvl5pPr>
                      <a:lvl6pPr marL="2331856" algn="l" defTabSz="932742" rtl="0" eaLnBrk="1" latinLnBrk="0" hangingPunct="1">
                        <a:defRPr sz="1800" kern="1200">
                          <a:solidFill>
                            <a:schemeClr val="dk1"/>
                          </a:solidFill>
                          <a:latin typeface="Segoe UI"/>
                        </a:defRPr>
                      </a:lvl6pPr>
                      <a:lvl7pPr marL="2798226" algn="l" defTabSz="932742" rtl="0" eaLnBrk="1" latinLnBrk="0" hangingPunct="1">
                        <a:defRPr sz="1800" kern="1200">
                          <a:solidFill>
                            <a:schemeClr val="dk1"/>
                          </a:solidFill>
                          <a:latin typeface="Segoe UI"/>
                        </a:defRPr>
                      </a:lvl7pPr>
                      <a:lvl8pPr marL="3264597" algn="l" defTabSz="932742" rtl="0" eaLnBrk="1" latinLnBrk="0" hangingPunct="1">
                        <a:defRPr sz="1800" kern="1200">
                          <a:solidFill>
                            <a:schemeClr val="dk1"/>
                          </a:solidFill>
                          <a:latin typeface="Segoe UI"/>
                        </a:defRPr>
                      </a:lvl8pPr>
                      <a:lvl9pPr marL="3730969" algn="l" defTabSz="932742" rtl="0" eaLnBrk="1" latinLnBrk="0" hangingPunct="1">
                        <a:defRPr sz="1800" kern="1200">
                          <a:solidFill>
                            <a:schemeClr val="dk1"/>
                          </a:solidFill>
                          <a:latin typeface="Segoe UI"/>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400" kern="1200" spc="0" baseline="0" noProof="0" dirty="0">
                          <a:solidFill>
                            <a:schemeClr val="accent1">
                              <a:lumMod val="75000"/>
                            </a:schemeClr>
                          </a:solidFill>
                          <a:latin typeface="+mj-lt"/>
                          <a:ea typeface="+mn-ea"/>
                          <a:cs typeface="Segoe UI Semibold"/>
                        </a:rPr>
                        <a:t>Provision on demand, fully</a:t>
                      </a:r>
                      <a:br>
                        <a:rPr lang="en-US" sz="1400" kern="1200" spc="0" baseline="0" noProof="0" dirty="0">
                          <a:solidFill>
                            <a:schemeClr val="accent1">
                              <a:lumMod val="75000"/>
                            </a:schemeClr>
                          </a:solidFill>
                          <a:latin typeface="+mj-lt"/>
                          <a:ea typeface="+mn-ea"/>
                          <a:cs typeface="Segoe UI Semibold"/>
                        </a:rPr>
                      </a:br>
                      <a:r>
                        <a:rPr lang="en-US" sz="1400" kern="1200" spc="0" baseline="0" noProof="0" dirty="0">
                          <a:solidFill>
                            <a:schemeClr val="accent1">
                              <a:lumMod val="75000"/>
                            </a:schemeClr>
                          </a:solidFill>
                          <a:latin typeface="+mj-lt"/>
                          <a:ea typeface="+mn-ea"/>
                          <a:cs typeface="Segoe UI Semibold"/>
                        </a:rPr>
                        <a:t>managed resource </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tx2"/>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lvl1pPr marL="0" algn="l" defTabSz="932742" rtl="0" eaLnBrk="1" latinLnBrk="0" hangingPunct="1">
                        <a:defRPr sz="1800" kern="1200">
                          <a:solidFill>
                            <a:schemeClr val="dk1"/>
                          </a:solidFill>
                          <a:latin typeface="Segoe UI"/>
                        </a:defRPr>
                      </a:lvl1pPr>
                      <a:lvl2pPr marL="466371" algn="l" defTabSz="932742" rtl="0" eaLnBrk="1" latinLnBrk="0" hangingPunct="1">
                        <a:defRPr sz="1800" kern="1200">
                          <a:solidFill>
                            <a:schemeClr val="dk1"/>
                          </a:solidFill>
                          <a:latin typeface="Segoe UI"/>
                        </a:defRPr>
                      </a:lvl2pPr>
                      <a:lvl3pPr marL="932742" algn="l" defTabSz="932742" rtl="0" eaLnBrk="1" latinLnBrk="0" hangingPunct="1">
                        <a:defRPr sz="1800" kern="1200">
                          <a:solidFill>
                            <a:schemeClr val="dk1"/>
                          </a:solidFill>
                          <a:latin typeface="Segoe UI"/>
                        </a:defRPr>
                      </a:lvl3pPr>
                      <a:lvl4pPr marL="1399113" algn="l" defTabSz="932742" rtl="0" eaLnBrk="1" latinLnBrk="0" hangingPunct="1">
                        <a:defRPr sz="1800" kern="1200">
                          <a:solidFill>
                            <a:schemeClr val="dk1"/>
                          </a:solidFill>
                          <a:latin typeface="Segoe UI"/>
                        </a:defRPr>
                      </a:lvl4pPr>
                      <a:lvl5pPr marL="1865484" algn="l" defTabSz="932742" rtl="0" eaLnBrk="1" latinLnBrk="0" hangingPunct="1">
                        <a:defRPr sz="1800" kern="1200">
                          <a:solidFill>
                            <a:schemeClr val="dk1"/>
                          </a:solidFill>
                          <a:latin typeface="Segoe UI"/>
                        </a:defRPr>
                      </a:lvl5pPr>
                      <a:lvl6pPr marL="2331856" algn="l" defTabSz="932742" rtl="0" eaLnBrk="1" latinLnBrk="0" hangingPunct="1">
                        <a:defRPr sz="1800" kern="1200">
                          <a:solidFill>
                            <a:schemeClr val="dk1"/>
                          </a:solidFill>
                          <a:latin typeface="Segoe UI"/>
                        </a:defRPr>
                      </a:lvl6pPr>
                      <a:lvl7pPr marL="2798226" algn="l" defTabSz="932742" rtl="0" eaLnBrk="1" latinLnBrk="0" hangingPunct="1">
                        <a:defRPr sz="1800" kern="1200">
                          <a:solidFill>
                            <a:schemeClr val="dk1"/>
                          </a:solidFill>
                          <a:latin typeface="Segoe UI"/>
                        </a:defRPr>
                      </a:lvl7pPr>
                      <a:lvl8pPr marL="3264597" algn="l" defTabSz="932742" rtl="0" eaLnBrk="1" latinLnBrk="0" hangingPunct="1">
                        <a:defRPr sz="1800" kern="1200">
                          <a:solidFill>
                            <a:schemeClr val="dk1"/>
                          </a:solidFill>
                          <a:latin typeface="Segoe UI"/>
                        </a:defRPr>
                      </a:lvl8pPr>
                      <a:lvl9pPr marL="3730969" algn="l" defTabSz="932742" rtl="0" eaLnBrk="1" latinLnBrk="0" hangingPunct="1">
                        <a:defRPr sz="1800" kern="1200">
                          <a:solidFill>
                            <a:schemeClr val="dk1"/>
                          </a:solidFill>
                          <a:latin typeface="Segoe UI"/>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400" kern="1200" spc="0" baseline="0" noProof="0" dirty="0">
                          <a:solidFill>
                            <a:schemeClr val="accent1">
                              <a:lumMod val="75000"/>
                            </a:schemeClr>
                          </a:solidFill>
                          <a:latin typeface="+mj-lt"/>
                          <a:ea typeface="+mn-ea"/>
                          <a:cs typeface="Segoe UI Semibold"/>
                        </a:rPr>
                        <a:t>Utilize local storage resources</a:t>
                      </a:r>
                      <a:br>
                        <a:rPr lang="en-US" sz="1400" kern="1200" spc="0" baseline="0" noProof="0" dirty="0">
                          <a:solidFill>
                            <a:schemeClr val="accent1">
                              <a:lumMod val="75000"/>
                            </a:schemeClr>
                          </a:solidFill>
                          <a:latin typeface="+mj-lt"/>
                          <a:ea typeface="+mn-ea"/>
                          <a:cs typeface="Segoe UI Semibold"/>
                        </a:rPr>
                      </a:br>
                      <a:r>
                        <a:rPr lang="en-US" sz="1400" kern="1200" spc="0" baseline="0" noProof="0" dirty="0">
                          <a:solidFill>
                            <a:schemeClr val="accent1">
                              <a:lumMod val="75000"/>
                            </a:schemeClr>
                          </a:solidFill>
                          <a:latin typeface="+mj-lt"/>
                          <a:ea typeface="+mn-ea"/>
                          <a:cs typeface="Segoe UI Semibold"/>
                        </a:rPr>
                        <a:t>on AKS nodes</a:t>
                      </a:r>
                    </a:p>
                  </a:txBody>
                  <a:tcPr anchor="ctr">
                    <a:lnL w="6350" cap="flat" cmpd="sng" algn="ctr">
                      <a:solidFill>
                        <a:schemeClr val="bg1"/>
                      </a:solidFill>
                      <a:prstDash val="solid"/>
                      <a:round/>
                      <a:headEnd type="none" w="med" len="med"/>
                      <a:tailEnd type="none" w="med" len="med"/>
                    </a:lnL>
                    <a:lnR w="6350" cap="flat" cmpd="sng" algn="ctr">
                      <a:solidFill>
                        <a:schemeClr val="tx2">
                          <a:lumMod val="20000"/>
                          <a:lumOff val="80000"/>
                        </a:schemeClr>
                      </a:solidFill>
                      <a:prstDash val="solid"/>
                      <a:round/>
                      <a:headEnd type="none" w="med" len="med"/>
                      <a:tailEnd type="none" w="med" len="med"/>
                    </a:lnR>
                    <a:lnT w="12700" cap="flat" cmpd="sng" algn="ctr">
                      <a:solidFill>
                        <a:schemeClr val="tx2"/>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extLst>
                  <a:ext uri="{0D108BD9-81ED-4DB2-BD59-A6C34878D82A}">
                    <a16:rowId xmlns:a16="http://schemas.microsoft.com/office/drawing/2014/main" val="2370835895"/>
                  </a:ext>
                </a:extLst>
              </a:tr>
              <a:tr h="0">
                <a:tc>
                  <a:txBody>
                    <a:bodyPr/>
                    <a:lstStyle/>
                    <a:p>
                      <a:pPr marL="0" marR="0" lvl="0" indent="0" algn="l" defTabSz="932742" rtl="0" eaLnBrk="1" fontAlgn="auto" latinLnBrk="0" hangingPunct="1">
                        <a:lnSpc>
                          <a:spcPct val="100000"/>
                        </a:lnSpc>
                        <a:spcBef>
                          <a:spcPts val="0"/>
                        </a:spcBef>
                        <a:spcAft>
                          <a:spcPts val="300"/>
                        </a:spcAft>
                        <a:buClrTx/>
                        <a:buSzTx/>
                        <a:buFontTx/>
                        <a:buNone/>
                        <a:tabLst/>
                        <a:defRPr/>
                      </a:pPr>
                      <a:r>
                        <a:rPr kumimoji="0" lang="en-US" sz="1600" b="0" i="0" u="none" strike="noStrike" kern="0" cap="none" spc="0" normalizeH="0" baseline="0" noProof="0">
                          <a:ln>
                            <a:noFill/>
                          </a:ln>
                          <a:solidFill>
                            <a:schemeClr val="tx1"/>
                          </a:solidFill>
                          <a:effectLst/>
                          <a:uLnTx/>
                          <a:uFillTx/>
                          <a:latin typeface="+mj-lt"/>
                          <a:ea typeface="+mn-ea"/>
                          <a:cs typeface="Segoe UI Semibold"/>
                        </a:rPr>
                        <a:t>Workloads</a:t>
                      </a:r>
                    </a:p>
                  </a:txBody>
                  <a:tcPr>
                    <a:lnL w="6350" cap="flat" cmpd="sng" algn="ctr">
                      <a:solidFill>
                        <a:schemeClr val="bg1">
                          <a:lumMod val="85000"/>
                        </a:schemeClr>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l">
                        <a:lnSpc>
                          <a:spcPct val="100000"/>
                        </a:lnSpc>
                        <a:spcBef>
                          <a:spcPts val="0"/>
                        </a:spcBef>
                        <a:spcAft>
                          <a:spcPts val="300"/>
                        </a:spcAft>
                      </a:pPr>
                      <a:r>
                        <a:rPr kumimoji="0" lang="en-US" sz="1400" b="0" i="0" u="none" strike="noStrike" kern="0" cap="none" spc="0" normalizeH="0" baseline="0" noProof="0">
                          <a:ln>
                            <a:noFill/>
                          </a:ln>
                          <a:solidFill>
                            <a:schemeClr val="tx1"/>
                          </a:solidFill>
                          <a:effectLst/>
                          <a:uLnTx/>
                          <a:uFillTx/>
                          <a:latin typeface="+mn-lt"/>
                          <a:ea typeface="+mn-ea"/>
                          <a:cs typeface="Segoe UI"/>
                        </a:rPr>
                        <a:t>Tier-1 and general-purpose databases </a:t>
                      </a:r>
                      <a:br>
                        <a:rPr kumimoji="0" lang="en-US" sz="1400" b="0" i="0" u="none" strike="noStrike" kern="0" cap="none" spc="0" normalizeH="0" baseline="0" noProof="0">
                          <a:ln>
                            <a:noFill/>
                          </a:ln>
                          <a:solidFill>
                            <a:srgbClr val="000000"/>
                          </a:solidFill>
                          <a:effectLst/>
                          <a:uLnTx/>
                          <a:uFillTx/>
                          <a:latin typeface="+mn-lt"/>
                          <a:ea typeface="+mn-ea"/>
                          <a:cs typeface="Segoe UI"/>
                        </a:rPr>
                      </a:br>
                      <a:r>
                        <a:rPr kumimoji="0" lang="en-US" sz="1400" b="0" i="0" u="none" strike="noStrike" kern="0" cap="none" spc="0" normalizeH="0" baseline="0" noProof="0">
                          <a:ln>
                            <a:noFill/>
                          </a:ln>
                          <a:solidFill>
                            <a:schemeClr val="tx1"/>
                          </a:solidFill>
                          <a:effectLst/>
                          <a:uLnTx/>
                          <a:uFillTx/>
                          <a:latin typeface="+mn-lt"/>
                          <a:ea typeface="+mn-ea"/>
                          <a:cs typeface="Segoe UI"/>
                        </a:rPr>
                        <a:t>(e.g., MySQL, MongoDB, PostgreSQL)</a:t>
                      </a:r>
                    </a:p>
                  </a:txBody>
                  <a:tcPr>
                    <a:lnL w="6350" cap="flat" cmpd="sng" algn="ctr">
                      <a:solidFill>
                        <a:schemeClr val="bg1"/>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rtl="0" eaLnBrk="1" fontAlgn="auto" latinLnBrk="0" hangingPunct="1">
                        <a:lnSpc>
                          <a:spcPct val="100000"/>
                        </a:lnSpc>
                        <a:spcBef>
                          <a:spcPts val="0"/>
                        </a:spcBef>
                        <a:spcAft>
                          <a:spcPts val="300"/>
                        </a:spcAft>
                        <a:buClrTx/>
                        <a:buSzTx/>
                        <a:buFontTx/>
                        <a:buNone/>
                      </a:pPr>
                      <a:r>
                        <a:rPr kumimoji="0" lang="en-US" sz="1400" b="0" i="0" u="none" strike="noStrike" kern="0" cap="none" spc="0" normalizeH="0" baseline="0" noProof="0">
                          <a:ln>
                            <a:noFill/>
                          </a:ln>
                          <a:solidFill>
                            <a:schemeClr val="tx1"/>
                          </a:solidFill>
                          <a:effectLst/>
                          <a:uLnTx/>
                          <a:uFillTx/>
                          <a:latin typeface="+mn-lt"/>
                          <a:ea typeface="+mn-ea"/>
                          <a:cs typeface="Segoe UI"/>
                        </a:rPr>
                        <a:t>General-purpose LOB apps, streaming and messaging services, CI/CD environments, and other Tier 1/</a:t>
                      </a:r>
                      <a:br>
                        <a:rPr kumimoji="0" lang="en-US" sz="1400" b="0" i="0" u="none" strike="noStrike" kern="0" cap="none" spc="0" normalizeH="0" baseline="0" noProof="0">
                          <a:ln>
                            <a:noFill/>
                          </a:ln>
                          <a:solidFill>
                            <a:schemeClr val="tx1"/>
                          </a:solidFill>
                          <a:effectLst/>
                          <a:uLnTx/>
                          <a:uFillTx/>
                          <a:latin typeface="+mn-lt"/>
                          <a:ea typeface="+mn-ea"/>
                          <a:cs typeface="Segoe UI"/>
                        </a:rPr>
                      </a:br>
                      <a:r>
                        <a:rPr kumimoji="0" lang="en-US" sz="1400" b="0" i="0" u="none" strike="noStrike" kern="0" cap="none" spc="0" normalizeH="0" baseline="0" noProof="0">
                          <a:ln>
                            <a:noFill/>
                          </a:ln>
                          <a:solidFill>
                            <a:schemeClr val="tx1"/>
                          </a:solidFill>
                          <a:effectLst/>
                          <a:uLnTx/>
                          <a:uFillTx/>
                          <a:latin typeface="+mn-lt"/>
                          <a:ea typeface="+mn-ea"/>
                          <a:cs typeface="Segoe UI"/>
                        </a:rPr>
                        <a:t>Tier 2 workloads </a:t>
                      </a: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32742" rtl="0" eaLnBrk="1" fontAlgn="auto" latinLnBrk="0" hangingPunct="1">
                        <a:lnSpc>
                          <a:spcPct val="100000"/>
                        </a:lnSpc>
                        <a:spcBef>
                          <a:spcPts val="0"/>
                        </a:spcBef>
                        <a:spcAft>
                          <a:spcPts val="300"/>
                        </a:spcAft>
                        <a:buClrTx/>
                        <a:buSzTx/>
                        <a:buFontTx/>
                        <a:buNone/>
                        <a:tabLst/>
                        <a:defRPr/>
                      </a:pPr>
                      <a:r>
                        <a:rPr kumimoji="0" lang="en-US" sz="1400" b="0" i="0" u="none" strike="noStrike" kern="0" cap="none" spc="0" normalizeH="0" baseline="0" noProof="0">
                          <a:ln>
                            <a:noFill/>
                          </a:ln>
                          <a:solidFill>
                            <a:schemeClr val="tx1"/>
                          </a:solidFill>
                          <a:effectLst/>
                          <a:uLnTx/>
                          <a:uFillTx/>
                          <a:latin typeface="+mn-lt"/>
                          <a:ea typeface="+mn-ea"/>
                          <a:cs typeface="Segoe UI"/>
                        </a:rPr>
                        <a:t>Extremely latency sensitive (low</a:t>
                      </a:r>
                      <a:br>
                        <a:rPr kumimoji="0" lang="en-US" sz="1400" b="0" i="0" u="none" strike="noStrike" kern="0" cap="none" spc="0" normalizeH="0" baseline="0" noProof="0">
                          <a:ln>
                            <a:noFill/>
                          </a:ln>
                          <a:solidFill>
                            <a:schemeClr val="tx1"/>
                          </a:solidFill>
                          <a:effectLst/>
                          <a:uLnTx/>
                          <a:uFillTx/>
                          <a:latin typeface="+mn-lt"/>
                          <a:ea typeface="+mn-ea"/>
                          <a:cs typeface="Segoe UI"/>
                        </a:rPr>
                      </a:br>
                      <a:r>
                        <a:rPr kumimoji="0" lang="en-US" sz="1400" b="0" i="0" u="none" strike="noStrike" kern="0" cap="none" spc="0" normalizeH="0" baseline="0" noProof="0">
                          <a:ln>
                            <a:noFill/>
                          </a:ln>
                          <a:solidFill>
                            <a:schemeClr val="tx1"/>
                          </a:solidFill>
                          <a:effectLst/>
                          <a:uLnTx/>
                          <a:uFillTx/>
                          <a:latin typeface="+mn-lt"/>
                          <a:ea typeface="+mn-ea"/>
                          <a:cs typeface="Segoe UI"/>
                        </a:rPr>
                        <a:t>sub-</a:t>
                      </a:r>
                      <a:r>
                        <a:rPr kumimoji="0" lang="en-US" sz="1400" b="0" i="0" u="none" strike="noStrike" kern="0" cap="none" spc="0" normalizeH="0" baseline="0" noProof="0" err="1">
                          <a:ln>
                            <a:noFill/>
                          </a:ln>
                          <a:solidFill>
                            <a:schemeClr val="tx1"/>
                          </a:solidFill>
                          <a:effectLst/>
                          <a:uLnTx/>
                          <a:uFillTx/>
                          <a:latin typeface="+mn-lt"/>
                          <a:ea typeface="+mn-ea"/>
                          <a:cs typeface="Segoe UI"/>
                        </a:rPr>
                        <a:t>ms</a:t>
                      </a:r>
                      <a:r>
                        <a:rPr kumimoji="0" lang="en-US" sz="1400" b="0" i="0" u="none" strike="noStrike" kern="0" cap="none" spc="0" normalizeH="0" baseline="0" noProof="0">
                          <a:ln>
                            <a:noFill/>
                          </a:ln>
                          <a:solidFill>
                            <a:schemeClr val="tx1"/>
                          </a:solidFill>
                          <a:effectLst/>
                          <a:uLnTx/>
                          <a:uFillTx/>
                          <a:latin typeface="+mn-lt"/>
                          <a:ea typeface="+mn-ea"/>
                          <a:cs typeface="Segoe UI"/>
                        </a:rPr>
                        <a:t> latency), Applications with no data durability requirement or with built-in data replication support</a:t>
                      </a:r>
                      <a:br>
                        <a:rPr kumimoji="0" lang="en-US" sz="1400" b="0" i="0" u="none" strike="noStrike" kern="0" cap="none" spc="0" normalizeH="0" baseline="0" noProof="0">
                          <a:ln>
                            <a:noFill/>
                          </a:ln>
                          <a:solidFill>
                            <a:schemeClr val="tx1"/>
                          </a:solidFill>
                          <a:effectLst/>
                          <a:uLnTx/>
                          <a:uFillTx/>
                          <a:latin typeface="+mn-lt"/>
                          <a:ea typeface="+mn-ea"/>
                          <a:cs typeface="Segoe UI"/>
                        </a:rPr>
                      </a:br>
                      <a:r>
                        <a:rPr kumimoji="0" lang="en-US" sz="1400" b="0" i="0" u="none" strike="noStrike" kern="0" cap="none" spc="0" normalizeH="0" baseline="0" noProof="0">
                          <a:ln>
                            <a:noFill/>
                          </a:ln>
                          <a:solidFill>
                            <a:schemeClr val="tx1"/>
                          </a:solidFill>
                          <a:effectLst/>
                          <a:uLnTx/>
                          <a:uFillTx/>
                          <a:latin typeface="+mn-lt"/>
                          <a:ea typeface="+mn-ea"/>
                          <a:cs typeface="Segoe UI"/>
                        </a:rPr>
                        <a:t>(e.g., Cassandra)</a:t>
                      </a:r>
                      <a:endParaRPr kumimoji="0" lang="fr-FR" sz="1400" b="0" i="0" u="none" strike="noStrike" kern="0" cap="none" spc="0" normalizeH="0" baseline="0" noProof="0">
                        <a:ln>
                          <a:noFill/>
                        </a:ln>
                        <a:solidFill>
                          <a:schemeClr val="tx1"/>
                        </a:solidFill>
                        <a:effectLst/>
                        <a:uLnTx/>
                        <a:uFillTx/>
                        <a:latin typeface="+mn-lt"/>
                        <a:ea typeface="+mn-ea"/>
                        <a:cs typeface="Segoe UI"/>
                      </a:endParaRP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8684940"/>
                  </a:ext>
                </a:extLst>
              </a:tr>
              <a:tr h="0">
                <a:tc>
                  <a:txBody>
                    <a:bodyPr/>
                    <a:lstStyle/>
                    <a:p>
                      <a:pPr algn="l">
                        <a:lnSpc>
                          <a:spcPct val="100000"/>
                        </a:lnSpc>
                        <a:spcBef>
                          <a:spcPts val="0"/>
                        </a:spcBef>
                        <a:spcAft>
                          <a:spcPts val="300"/>
                        </a:spcAft>
                      </a:pPr>
                      <a:r>
                        <a:rPr kumimoji="0" lang="en-US" sz="1600" b="0" i="0" u="none" strike="noStrike" kern="0" cap="none" spc="0" normalizeH="0" baseline="0" noProof="0">
                          <a:ln>
                            <a:noFill/>
                          </a:ln>
                          <a:solidFill>
                            <a:schemeClr val="tx1"/>
                          </a:solidFill>
                          <a:effectLst/>
                          <a:uLnTx/>
                          <a:uFillTx/>
                          <a:latin typeface="+mj-lt"/>
                          <a:ea typeface="+mn-ea"/>
                          <a:cs typeface="Segoe UI Semibold"/>
                        </a:rPr>
                        <a:t>Offerings</a:t>
                      </a:r>
                    </a:p>
                  </a:txBody>
                  <a:tcPr>
                    <a:lnL w="6350" cap="flat" cmpd="sng" algn="ctr">
                      <a:solidFill>
                        <a:schemeClr val="bg1">
                          <a:lumMod val="85000"/>
                        </a:schemeClr>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l">
                        <a:lnSpc>
                          <a:spcPct val="100000"/>
                        </a:lnSpc>
                        <a:spcBef>
                          <a:spcPts val="0"/>
                        </a:spcBef>
                        <a:spcAft>
                          <a:spcPts val="300"/>
                        </a:spcAft>
                      </a:pPr>
                      <a:r>
                        <a:rPr kumimoji="0" lang="en-US" sz="1400" b="0" i="0" u="none" strike="noStrike" kern="0" cap="none" spc="0" normalizeH="0" baseline="0" noProof="0">
                          <a:ln>
                            <a:noFill/>
                          </a:ln>
                          <a:solidFill>
                            <a:schemeClr val="tx1"/>
                          </a:solidFill>
                          <a:effectLst/>
                          <a:uLnTx/>
                          <a:uFillTx/>
                          <a:latin typeface="+mn-lt"/>
                          <a:ea typeface="+mn-ea"/>
                          <a:cs typeface="Segoe UI"/>
                        </a:rPr>
                        <a:t>Premium SSD, Premium SSD v2, Standard SDD, Standard HDD, Ultra SSD, Standard ZRS, Premium ZRS</a:t>
                      </a:r>
                    </a:p>
                  </a:txBody>
                  <a:tcPr>
                    <a:lnL w="6350" cap="flat" cmpd="sng" algn="ctr">
                      <a:solidFill>
                        <a:schemeClr val="bg1"/>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32742" rtl="0" eaLnBrk="1" fontAlgn="auto" latinLnBrk="0" hangingPunct="1">
                        <a:lnSpc>
                          <a:spcPct val="100000"/>
                        </a:lnSpc>
                        <a:spcBef>
                          <a:spcPts val="0"/>
                        </a:spcBef>
                        <a:spcAft>
                          <a:spcPts val="300"/>
                        </a:spcAft>
                        <a:buClrTx/>
                        <a:buSzTx/>
                        <a:buFontTx/>
                        <a:buNone/>
                        <a:tabLst/>
                        <a:defRPr/>
                      </a:pPr>
                      <a:r>
                        <a:rPr kumimoji="0" lang="en-US" sz="1400" b="0" i="0" u="none" strike="noStrike" kern="0" cap="none" spc="0" normalizeH="0" baseline="0" noProof="0">
                          <a:ln>
                            <a:noFill/>
                          </a:ln>
                          <a:solidFill>
                            <a:schemeClr val="tx1"/>
                          </a:solidFill>
                          <a:effectLst/>
                          <a:uLnTx/>
                          <a:uFillTx/>
                          <a:latin typeface="+mn-lt"/>
                          <a:ea typeface="+mn-ea"/>
                          <a:cs typeface="Segoe UI"/>
                        </a:rPr>
                        <a:t>Azure Elastic SAN</a:t>
                      </a: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rtl="0" eaLnBrk="1" fontAlgn="auto" latinLnBrk="0" hangingPunct="1">
                        <a:lnSpc>
                          <a:spcPct val="100000"/>
                        </a:lnSpc>
                        <a:spcBef>
                          <a:spcPts val="0"/>
                        </a:spcBef>
                        <a:spcAft>
                          <a:spcPts val="600"/>
                        </a:spcAft>
                        <a:buClrTx/>
                        <a:buSzTx/>
                        <a:buFont typeface="Arial" panose="020B0604020202020204" pitchFamily="34" charset="0"/>
                        <a:buChar char="•"/>
                      </a:pPr>
                      <a:r>
                        <a:rPr kumimoji="0" lang="en-US" sz="1400" b="0" i="0" u="none" strike="noStrike" kern="0" cap="none" spc="0" normalizeH="0" baseline="0" noProof="0">
                          <a:ln>
                            <a:noFill/>
                          </a:ln>
                          <a:solidFill>
                            <a:schemeClr val="tx1"/>
                          </a:solidFill>
                          <a:effectLst/>
                          <a:uLnTx/>
                          <a:uFillTx/>
                          <a:latin typeface="+mn-lt"/>
                          <a:ea typeface="+mn-ea"/>
                          <a:cs typeface="Segoe UI"/>
                        </a:rPr>
                        <a:t>Local </a:t>
                      </a:r>
                      <a:r>
                        <a:rPr kumimoji="0" lang="en-US" sz="1400" b="0" i="0" u="none" strike="noStrike" kern="0" cap="none" spc="0" normalizeH="0" baseline="0" noProof="0" err="1">
                          <a:ln>
                            <a:noFill/>
                          </a:ln>
                          <a:solidFill>
                            <a:schemeClr val="tx1"/>
                          </a:solidFill>
                          <a:effectLst/>
                          <a:uLnTx/>
                          <a:uFillTx/>
                          <a:latin typeface="+mn-lt"/>
                          <a:ea typeface="+mn-ea"/>
                          <a:cs typeface="Segoe UI"/>
                        </a:rPr>
                        <a:t>NVMe</a:t>
                      </a:r>
                      <a:r>
                        <a:rPr lang="en-US" sz="1400" b="0" i="0" u="none" strike="noStrike" kern="0" cap="none" spc="0" normalizeH="0" baseline="0" noProof="0">
                          <a:ln>
                            <a:noFill/>
                          </a:ln>
                          <a:solidFill>
                            <a:schemeClr val="tx1"/>
                          </a:solidFill>
                          <a:effectLst/>
                          <a:uLnTx/>
                          <a:uFillTx/>
                          <a:latin typeface="+mn-lt"/>
                          <a:ea typeface="+mn-ea"/>
                          <a:cs typeface="Segoe UI"/>
                        </a:rPr>
                        <a:t> </a:t>
                      </a:r>
                      <a:endParaRPr lang="en-US" sz="1400" spc="0"/>
                    </a:p>
                    <a:p>
                      <a:pPr marL="171450" marR="0" lvl="0" indent="-171450" algn="l">
                        <a:lnSpc>
                          <a:spcPct val="100000"/>
                        </a:lnSpc>
                        <a:spcBef>
                          <a:spcPts val="0"/>
                        </a:spcBef>
                        <a:spcAft>
                          <a:spcPts val="600"/>
                        </a:spcAft>
                        <a:buClrTx/>
                        <a:buSzTx/>
                        <a:buFont typeface="Arial" panose="020B0604020202020204" pitchFamily="34" charset="0"/>
                        <a:buChar char="•"/>
                      </a:pPr>
                      <a:r>
                        <a:rPr lang="en-US" sz="1400" b="0" i="0" u="none" strike="noStrike" kern="0" cap="none" spc="0" normalizeH="0" baseline="0" noProof="0">
                          <a:ln>
                            <a:noFill/>
                          </a:ln>
                          <a:solidFill>
                            <a:schemeClr val="tx1"/>
                          </a:solidFill>
                          <a:effectLst/>
                          <a:uLnTx/>
                          <a:uFillTx/>
                          <a:latin typeface="+mn-lt"/>
                          <a:ea typeface="+mn-ea"/>
                          <a:cs typeface="Segoe UI"/>
                        </a:rPr>
                        <a:t>Temp SSD</a:t>
                      </a:r>
                      <a:endParaRPr kumimoji="0" lang="en-US" sz="1400" b="0" i="0" u="none" strike="noStrike" kern="0" cap="none" spc="0" normalizeH="0" baseline="0" noProof="0">
                        <a:ln>
                          <a:noFill/>
                        </a:ln>
                        <a:solidFill>
                          <a:schemeClr val="tx1"/>
                        </a:solidFill>
                        <a:effectLst/>
                        <a:uLnTx/>
                        <a:uFillTx/>
                        <a:latin typeface="+mn-lt"/>
                        <a:ea typeface="+mn-ea"/>
                        <a:cs typeface="Segoe UI"/>
                      </a:endParaRP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94100584"/>
                  </a:ext>
                </a:extLst>
              </a:tr>
              <a:tr h="0">
                <a:tc>
                  <a:txBody>
                    <a:bodyPr/>
                    <a:lstStyle/>
                    <a:p>
                      <a:pPr marL="0" marR="0" lvl="0" indent="0" algn="l" defTabSz="932742" rtl="0" eaLnBrk="1" fontAlgn="auto" latinLnBrk="0" hangingPunct="1">
                        <a:lnSpc>
                          <a:spcPct val="100000"/>
                        </a:lnSpc>
                        <a:spcBef>
                          <a:spcPts val="0"/>
                        </a:spcBef>
                        <a:spcAft>
                          <a:spcPts val="300"/>
                        </a:spcAft>
                        <a:buClrTx/>
                        <a:buSzTx/>
                        <a:buFontTx/>
                        <a:buNone/>
                        <a:tabLst/>
                        <a:defRPr/>
                      </a:pPr>
                      <a:r>
                        <a:rPr kumimoji="0" lang="en-US" sz="1600" b="0" i="0" u="none" strike="noStrike" kern="0" cap="none" spc="0" normalizeH="0" baseline="0" noProof="0">
                          <a:ln>
                            <a:noFill/>
                          </a:ln>
                          <a:solidFill>
                            <a:schemeClr val="tx1"/>
                          </a:solidFill>
                          <a:effectLst/>
                          <a:uLnTx/>
                          <a:uFillTx/>
                          <a:latin typeface="+mj-lt"/>
                          <a:ea typeface="+mn-ea"/>
                          <a:cs typeface="Segoe UI Semibold"/>
                        </a:rPr>
                        <a:t>Provisioning model</a:t>
                      </a:r>
                    </a:p>
                  </a:txBody>
                  <a:tcPr>
                    <a:lnL w="6350" cap="flat" cmpd="sng" algn="ctr">
                      <a:solidFill>
                        <a:schemeClr val="bg1">
                          <a:lumMod val="85000"/>
                        </a:schemeClr>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indent="0" algn="l">
                        <a:lnSpc>
                          <a:spcPct val="100000"/>
                        </a:lnSpc>
                        <a:spcBef>
                          <a:spcPts val="0"/>
                        </a:spcBef>
                        <a:spcAft>
                          <a:spcPts val="300"/>
                        </a:spcAft>
                        <a:buFont typeface="Arial" panose="020B0604020202020204" pitchFamily="34" charset="0"/>
                        <a:buNone/>
                      </a:pPr>
                      <a:r>
                        <a:rPr kumimoji="0" lang="en-IN" sz="1400" b="0" i="0" u="none" strike="noStrike" kern="0" cap="none" spc="0" normalizeH="0" baseline="0" noProof="0">
                          <a:ln>
                            <a:noFill/>
                          </a:ln>
                          <a:solidFill>
                            <a:schemeClr val="tx1"/>
                          </a:solidFill>
                          <a:effectLst/>
                          <a:uLnTx/>
                          <a:uFillTx/>
                          <a:latin typeface="+mn-lt"/>
                          <a:ea typeface="+mn-ea"/>
                          <a:cs typeface="Segoe UI"/>
                        </a:rPr>
                        <a:t>Provisioned per target container storge pool size and max volume size</a:t>
                      </a:r>
                    </a:p>
                  </a:txBody>
                  <a:tcPr>
                    <a:lnL w="6350" cap="flat" cmpd="sng" algn="ctr">
                      <a:solidFill>
                        <a:schemeClr val="bg1"/>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32742"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IN" sz="1400" b="0" i="0" u="none" strike="noStrike" kern="0" cap="none" spc="0" normalizeH="0" baseline="0" noProof="0">
                          <a:ln>
                            <a:noFill/>
                          </a:ln>
                          <a:solidFill>
                            <a:schemeClr val="tx1"/>
                          </a:solidFill>
                          <a:effectLst/>
                          <a:uLnTx/>
                          <a:uFillTx/>
                          <a:latin typeface="+mn-lt"/>
                          <a:ea typeface="+mn-ea"/>
                          <a:cs typeface="Segoe UI"/>
                        </a:rPr>
                        <a:t>Provisioned on demand per created volume and volume snapshot</a:t>
                      </a:r>
                    </a:p>
                    <a:p>
                      <a:pPr marL="171450" marR="0" lvl="0" indent="-171450" algn="l" defTabSz="932742" rtl="0" eaLnBrk="1" latinLnBrk="0" hangingPunct="1">
                        <a:lnSpc>
                          <a:spcPct val="100000"/>
                        </a:lnSpc>
                        <a:spcBef>
                          <a:spcPts val="0"/>
                        </a:spcBef>
                        <a:spcAft>
                          <a:spcPts val="600"/>
                        </a:spcAft>
                        <a:buClrTx/>
                        <a:buSzTx/>
                        <a:buFont typeface="Arial" panose="020B0604020202020204" pitchFamily="34" charset="0"/>
                        <a:buChar char="•"/>
                      </a:pPr>
                      <a:r>
                        <a:rPr kumimoji="0" lang="en-IN" sz="1400" b="0" i="0" u="none" strike="noStrike" kern="0" cap="none" spc="0" normalizeH="0" baseline="0" noProof="0">
                          <a:ln>
                            <a:noFill/>
                          </a:ln>
                          <a:solidFill>
                            <a:schemeClr val="tx1"/>
                          </a:solidFill>
                          <a:effectLst/>
                          <a:uLnTx/>
                          <a:uFillTx/>
                          <a:latin typeface="+mn-lt"/>
                          <a:ea typeface="+mn-ea"/>
                          <a:cs typeface="Segoe UI"/>
                        </a:rPr>
                        <a:t>Minimal footprint: 1TiB</a:t>
                      </a: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32742" rtl="0" eaLnBrk="1" fontAlgn="auto" latinLnBrk="0" hangingPunct="1">
                        <a:lnSpc>
                          <a:spcPct val="100000"/>
                        </a:lnSpc>
                        <a:spcBef>
                          <a:spcPts val="0"/>
                        </a:spcBef>
                        <a:spcAft>
                          <a:spcPts val="300"/>
                        </a:spcAft>
                        <a:buClrTx/>
                        <a:buSzTx/>
                        <a:buFontTx/>
                        <a:buNone/>
                        <a:tabLst/>
                        <a:defRPr/>
                      </a:pPr>
                      <a:r>
                        <a:rPr kumimoji="0" lang="en-IN" sz="1400" b="0" i="0" u="none" strike="noStrike" kern="0" cap="none" spc="0" normalizeH="0" baseline="0" noProof="0" dirty="0">
                          <a:ln>
                            <a:noFill/>
                          </a:ln>
                          <a:solidFill>
                            <a:schemeClr val="tx1"/>
                          </a:solidFill>
                          <a:effectLst/>
                          <a:uLnTx/>
                          <a:uFillTx/>
                          <a:latin typeface="+mn-lt"/>
                          <a:ea typeface="+mn-ea"/>
                          <a:cs typeface="Segoe UI"/>
                        </a:rPr>
                        <a:t>Deployed as part of the Virtual Machines hosting an AKS cluster. Azure Container Storage discovers the available ephemeral storage on AKS nodes </a:t>
                      </a:r>
                      <a:r>
                        <a:rPr kumimoji="0" lang="en-US" sz="1400" b="0" i="0" u="none" strike="noStrike" kern="0" cap="none" spc="0" normalizeH="0" baseline="0" noProof="0" dirty="0">
                          <a:ln>
                            <a:noFill/>
                          </a:ln>
                          <a:solidFill>
                            <a:schemeClr val="tx1"/>
                          </a:solidFill>
                          <a:effectLst/>
                          <a:uLnTx/>
                          <a:uFillTx/>
                          <a:latin typeface="+mn-lt"/>
                          <a:ea typeface="+mn-ea"/>
                          <a:cs typeface="Segoe UI"/>
                        </a:rPr>
                        <a:t>and acquires them for volume deployment</a:t>
                      </a:r>
                      <a:endParaRPr kumimoji="0" lang="en-IN" sz="1400" b="0" i="0" u="none" strike="noStrike" kern="0" cap="none" spc="0" normalizeH="0" baseline="0" noProof="0" dirty="0">
                        <a:ln>
                          <a:noFill/>
                        </a:ln>
                        <a:solidFill>
                          <a:schemeClr val="tx1"/>
                        </a:solidFill>
                        <a:effectLst/>
                        <a:uLnTx/>
                        <a:uFillTx/>
                        <a:latin typeface="+mn-lt"/>
                        <a:ea typeface="+mn-ea"/>
                        <a:cs typeface="Segoe UI"/>
                      </a:endParaRP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43360310"/>
                  </a:ext>
                </a:extLst>
              </a:tr>
            </a:tbl>
          </a:graphicData>
        </a:graphic>
      </p:graphicFrame>
    </p:spTree>
    <p:extLst>
      <p:ext uri="{BB962C8B-B14F-4D97-AF65-F5344CB8AC3E}">
        <p14:creationId xmlns:p14="http://schemas.microsoft.com/office/powerpoint/2010/main" val="2831284298"/>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F7031AB-B12E-4065-A753-70742EAEF108}"/>
              </a:ext>
              <a:ext uri="{C183D7F6-B498-43B3-948B-1728B52AA6E4}">
                <adec:decorative xmlns:adec="http://schemas.microsoft.com/office/drawing/2017/decorative" val="1"/>
              </a:ext>
            </a:extLst>
          </p:cNvPr>
          <p:cNvSpPr>
            <a:spLocks/>
          </p:cNvSpPr>
          <p:nvPr/>
        </p:nvSpPr>
        <p:spPr>
          <a:xfrm>
            <a:off x="571500" y="1508338"/>
            <a:ext cx="11049000" cy="4760700"/>
          </a:xfrm>
          <a:prstGeom prst="rect">
            <a:avLst/>
          </a:prstGeom>
          <a:noFill/>
          <a:ln w="3175">
            <a:solidFill>
              <a:schemeClr val="bg1">
                <a:lumMod val="85000"/>
              </a:schemeClr>
            </a:solidFill>
          </a:ln>
        </p:spPr>
        <p:txBody>
          <a:bodyPr wrap="square" lIns="137160" tIns="768096" rIns="137160" bIns="91440" anchor="t">
            <a:noAutofit/>
          </a:bodyPr>
          <a:lstStyle/>
          <a:p>
            <a:pPr marL="230188" indent="-230188" defTabSz="914192">
              <a:spcBef>
                <a:spcPts val="300"/>
              </a:spcBef>
              <a:spcAft>
                <a:spcPts val="300"/>
              </a:spcAft>
              <a:buFont typeface="Arial" panose="020B0604020202020204" pitchFamily="34" charset="0"/>
              <a:buChar char="•"/>
              <a:defRPr/>
            </a:pPr>
            <a:endParaRPr lang="en-US" sz="1600">
              <a:cs typeface="Segoe UI Semibold" panose="020B0702040204020203" pitchFamily="34" charset="0"/>
            </a:endParaRPr>
          </a:p>
        </p:txBody>
      </p:sp>
      <p:sp>
        <p:nvSpPr>
          <p:cNvPr id="2" name="Title 1">
            <a:extLst>
              <a:ext uri="{FF2B5EF4-FFF2-40B4-BE49-F238E27FC236}">
                <a16:creationId xmlns:a16="http://schemas.microsoft.com/office/drawing/2014/main" id="{BC57B38C-8413-4861-A4F5-7DF656AEAD0D}"/>
              </a:ext>
            </a:extLst>
          </p:cNvPr>
          <p:cNvSpPr>
            <a:spLocks noGrp="1"/>
          </p:cNvSpPr>
          <p:nvPr>
            <p:ph type="title"/>
          </p:nvPr>
        </p:nvSpPr>
        <p:spPr>
          <a:xfrm>
            <a:off x="575481" y="599436"/>
            <a:ext cx="11018520" cy="553998"/>
          </a:xfrm>
        </p:spPr>
        <p:txBody>
          <a:bodyPr/>
          <a:lstStyle/>
          <a:p>
            <a:r>
              <a:rPr lang="en-US">
                <a:cs typeface="Segoe UI"/>
              </a:rPr>
              <a:t>Lab: Monitoring on AKS</a:t>
            </a:r>
            <a:endParaRPr lang="en-US"/>
          </a:p>
        </p:txBody>
      </p:sp>
      <p:sp>
        <p:nvSpPr>
          <p:cNvPr id="8" name="Rectangle 7">
            <a:extLst>
              <a:ext uri="{FF2B5EF4-FFF2-40B4-BE49-F238E27FC236}">
                <a16:creationId xmlns:a16="http://schemas.microsoft.com/office/drawing/2014/main" id="{D4FF7A47-CBB8-435B-B88D-A883B77A33E2}"/>
              </a:ext>
            </a:extLst>
          </p:cNvPr>
          <p:cNvSpPr>
            <a:spLocks/>
          </p:cNvSpPr>
          <p:nvPr/>
        </p:nvSpPr>
        <p:spPr>
          <a:xfrm>
            <a:off x="571499" y="1751640"/>
            <a:ext cx="11049000" cy="465121"/>
          </a:xfrm>
          <a:prstGeom prst="rect">
            <a:avLst/>
          </a:prstGeom>
          <a:solidFill>
            <a:schemeClr val="accent2"/>
          </a:solidFill>
        </p:spPr>
        <p:txBody>
          <a:bodyPr wrap="square" lIns="91440" tIns="45720" rIns="91440" bIns="45720" anchor="ctr">
            <a:noAutofit/>
          </a:bodyPr>
          <a:lstStyle/>
          <a:p>
            <a:pPr algn="ctr" defTabSz="914192">
              <a:spcAft>
                <a:spcPts val="300"/>
              </a:spcAft>
            </a:pPr>
            <a:r>
              <a:rPr lang="en-US">
                <a:solidFill>
                  <a:srgbClr val="FFFFFF"/>
                </a:solidFill>
                <a:latin typeface="Segoe Semibold"/>
                <a:cs typeface="Segoe UI Semibold"/>
              </a:rPr>
              <a:t>Lab Description</a:t>
            </a:r>
          </a:p>
        </p:txBody>
      </p:sp>
      <p:grpSp>
        <p:nvGrpSpPr>
          <p:cNvPr id="9" name="Group 8">
            <a:extLst>
              <a:ext uri="{FF2B5EF4-FFF2-40B4-BE49-F238E27FC236}">
                <a16:creationId xmlns:a16="http://schemas.microsoft.com/office/drawing/2014/main" id="{3FA0384F-D0CE-445D-B234-7EDD1C677A6D}"/>
              </a:ext>
              <a:ext uri="{C183D7F6-B498-43B3-948B-1728B52AA6E4}">
                <adec:decorative xmlns:adec="http://schemas.microsoft.com/office/drawing/2017/decorative" val="1"/>
              </a:ext>
            </a:extLst>
          </p:cNvPr>
          <p:cNvGrpSpPr>
            <a:grpSpLocks/>
          </p:cNvGrpSpPr>
          <p:nvPr/>
        </p:nvGrpSpPr>
        <p:grpSpPr>
          <a:xfrm>
            <a:off x="574674" y="1751640"/>
            <a:ext cx="11045826" cy="465121"/>
            <a:chOff x="574675" y="1519848"/>
            <a:chExt cx="7312025" cy="465121"/>
          </a:xfrm>
        </p:grpSpPr>
        <p:cxnSp>
          <p:nvCxnSpPr>
            <p:cNvPr id="12" name="Straight Connector 11">
              <a:extLst>
                <a:ext uri="{FF2B5EF4-FFF2-40B4-BE49-F238E27FC236}">
                  <a16:creationId xmlns:a16="http://schemas.microsoft.com/office/drawing/2014/main" id="{EA2657A6-5FF3-4E59-94B3-355886C9B57A}"/>
                </a:ext>
                <a:ext uri="{C183D7F6-B498-43B3-948B-1728B52AA6E4}">
                  <adec:decorative xmlns:adec="http://schemas.microsoft.com/office/drawing/2017/decorative" val="1"/>
                </a:ext>
              </a:extLst>
            </p:cNvPr>
            <p:cNvCxnSpPr>
              <a:cxnSpLocks/>
            </p:cNvCxnSpPr>
            <p:nvPr/>
          </p:nvCxnSpPr>
          <p:spPr>
            <a:xfrm>
              <a:off x="574675" y="1519848"/>
              <a:ext cx="0" cy="465121"/>
            </a:xfrm>
            <a:prstGeom prst="line">
              <a:avLst/>
            </a:prstGeom>
            <a:ln w="28575" cap="rnd">
              <a:solidFill>
                <a:schemeClr val="accent2">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140C465-8DCE-4F31-8C4F-37C0F2DB8BFA}"/>
                </a:ext>
                <a:ext uri="{C183D7F6-B498-43B3-948B-1728B52AA6E4}">
                  <adec:decorative xmlns:adec="http://schemas.microsoft.com/office/drawing/2017/decorative" val="1"/>
                </a:ext>
              </a:extLst>
            </p:cNvPr>
            <p:cNvCxnSpPr>
              <a:cxnSpLocks/>
            </p:cNvCxnSpPr>
            <p:nvPr/>
          </p:nvCxnSpPr>
          <p:spPr>
            <a:xfrm>
              <a:off x="7886700" y="1519848"/>
              <a:ext cx="0" cy="465121"/>
            </a:xfrm>
            <a:prstGeom prst="line">
              <a:avLst/>
            </a:prstGeom>
            <a:ln w="28575" cap="rnd">
              <a:solidFill>
                <a:schemeClr val="accent2">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14" name="TextBox 13">
            <a:extLst>
              <a:ext uri="{FF2B5EF4-FFF2-40B4-BE49-F238E27FC236}">
                <a16:creationId xmlns:a16="http://schemas.microsoft.com/office/drawing/2014/main" id="{2044E162-68FA-4C0E-B9D3-D4C8561D02EE}"/>
              </a:ext>
            </a:extLst>
          </p:cNvPr>
          <p:cNvSpPr txBox="1">
            <a:spLocks/>
          </p:cNvSpPr>
          <p:nvPr/>
        </p:nvSpPr>
        <p:spPr>
          <a:xfrm>
            <a:off x="571500" y="2339873"/>
            <a:ext cx="11048999" cy="3669041"/>
          </a:xfrm>
          <a:prstGeom prst="rect">
            <a:avLst/>
          </a:prstGeom>
        </p:spPr>
        <p:txBody>
          <a:bodyPr wrap="square" lIns="91440" tIns="45720" rIns="91440" bIns="45720">
            <a:noAutofit/>
          </a:bodyPr>
          <a:lstStyle/>
          <a:p>
            <a:pPr marL="230188" indent="-230188" defTabSz="914192">
              <a:spcBef>
                <a:spcPts val="600"/>
              </a:spcBef>
              <a:spcAft>
                <a:spcPts val="600"/>
              </a:spcAft>
              <a:buFont typeface="Arial" panose="020B0604020202020204" pitchFamily="34" charset="0"/>
              <a:buChar char="•"/>
              <a:defRPr/>
            </a:pPr>
            <a:r>
              <a:rPr lang="en-US" sz="1600" dirty="0">
                <a:cs typeface="Segoe UI Semibold" panose="020B0702040204020203" pitchFamily="34" charset="0"/>
              </a:rPr>
              <a:t>Deploying a Cluster with NAP and scaling an application</a:t>
            </a:r>
            <a:endParaRPr lang="en-US" sz="1600">
              <a:cs typeface="Segoe UI Semibold" panose="020B0702040204020203" pitchFamily="34" charset="0"/>
            </a:endParaRPr>
          </a:p>
          <a:p>
            <a:pPr marL="230188" indent="-230188" defTabSz="914192">
              <a:spcBef>
                <a:spcPts val="600"/>
              </a:spcBef>
              <a:spcAft>
                <a:spcPts val="600"/>
              </a:spcAft>
              <a:buFont typeface="Arial" panose="020B0604020202020204" pitchFamily="34" charset="0"/>
              <a:buChar char="•"/>
              <a:defRPr/>
            </a:pPr>
            <a:r>
              <a:rPr lang="en-US" sz="1600" dirty="0">
                <a:cs typeface="Segoe UI Semibold" panose="020B0702040204020203" pitchFamily="34" charset="0"/>
              </a:rPr>
              <a:t>Deploying a Cluster with the Cluster </a:t>
            </a:r>
            <a:r>
              <a:rPr lang="en-US" sz="1600" dirty="0" err="1">
                <a:cs typeface="Segoe UI Semibold" panose="020B0702040204020203" pitchFamily="34" charset="0"/>
              </a:rPr>
              <a:t>Autoscaler</a:t>
            </a:r>
            <a:endParaRPr lang="en-US" sz="1600">
              <a:cs typeface="Segoe UI Semibold" panose="020B0702040204020203" pitchFamily="34" charset="0"/>
            </a:endParaRPr>
          </a:p>
        </p:txBody>
      </p:sp>
      <p:sp>
        <p:nvSpPr>
          <p:cNvPr id="17" name="Footer Placeholder 4">
            <a:extLst>
              <a:ext uri="{FF2B5EF4-FFF2-40B4-BE49-F238E27FC236}">
                <a16:creationId xmlns:a16="http://schemas.microsoft.com/office/drawing/2014/main" id="{E243B2FB-C5E3-4E84-87ED-FB0A2A1A0F89}"/>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8" name="Slide Number Placeholder 3">
            <a:extLst>
              <a:ext uri="{FF2B5EF4-FFF2-40B4-BE49-F238E27FC236}">
                <a16:creationId xmlns:a16="http://schemas.microsoft.com/office/drawing/2014/main" id="{81A9DA9D-1DBE-46E5-BC06-5CF26ACB5995}"/>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34</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3977638465"/>
      </p:ext>
    </p:extLst>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AB36255-785A-C971-66C5-852FBCC48063}"/>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F4384F0B-E657-2DB2-6E93-7AEB345A861F}"/>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35</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Title 1">
            <a:extLst>
              <a:ext uri="{FF2B5EF4-FFF2-40B4-BE49-F238E27FC236}">
                <a16:creationId xmlns:a16="http://schemas.microsoft.com/office/drawing/2014/main" id="{A870B1FA-29AF-2296-5A21-F27F312E6E01}"/>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805424575"/>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MIO_NATIVESECTIONS" val="﻿&lt;?xml version=&quot;1.0&quot; encoding=&quot;utf-8&quot;?&gt;&lt;ArrayOfNativeSection xmlns:xsi=&quot;http://www.w3.org/2001/XMLSchema-instance&quot; xmlns:xsd=&quot;http://www.w3.org/2001/XMLSchema&quot;&gt;&lt;NativeSection&gt;&lt;Name&gt;Introduction to Windows PowerShell&lt;/Name&gt;&lt;FirstSlideIndex&gt;4&lt;/FirstSlideIndex&gt;&lt;SlidesCount&gt;6&lt;/SlidesCount&gt;&lt;SlideGuids&gt;&lt;guid&gt;9d9e1da7-2723-4f69-b69f-21b1693715c5&lt;/guid&gt;&lt;guid&gt;3ccd3973-1ec5-46fa-8710-ff514ce2a1f3&lt;/guid&gt;&lt;guid&gt;bc67d307-7296-45c5-86cd-00562e489dd6&lt;/guid&gt;&lt;guid&gt;672fc58f-c006-4e7b-83c2-90f4529f2400&lt;/guid&gt;&lt;guid&gt;318999cc-0be6-4be2-83d0-cb8fe10122fa&lt;/guid&gt;&lt;guid&gt;459b7d24-9e19-433a-accc-69f76be60f43&lt;/guid&gt;&lt;/SlideGuids&gt;&lt;/NativeSection&gt;&lt;NativeSection&gt;&lt;Name&gt;Introduction to Windows PowerShell - The PowerShell shell&lt;/Name&gt;&lt;FirstSlideIndex&gt;10&lt;/FirstSlideIndex&gt;&lt;SlidesCount&gt;7&lt;/SlidesCount&gt;&lt;SlideGuids&gt;&lt;guid&gt;3358efb2-d4c0-4d61-994f-75e3275fac2b&lt;/guid&gt;&lt;guid&gt;6ae3b69a-fbee-464e-ae86-3ecd39513fa0&lt;/guid&gt;&lt;guid&gt;4e0b095b-d004-4f1b-9c6b-30c2d0469d61&lt;/guid&gt;&lt;guid&gt;1d1652e4-8311-451e-9a8c-b2119571880d&lt;/guid&gt;&lt;guid&gt;aa04ec43-c604-4a73-b2eb-0ef0ee77f79c&lt;/guid&gt;&lt;guid&gt;00adf8b6-932b-4200-a1bc-c3f07f8f4d64&lt;/guid&gt;&lt;guid&gt;7e7f40d8-8d37-45ee-9724-a8bf02ad8fcf&lt;/guid&gt;&lt;/SlideGuids&gt;&lt;/NativeSection&gt;&lt;NativeSection&gt;&lt;Name&gt;Introduction to Windows PowerShell - Integrated Scripting Environment (ISE)&lt;/Name&gt;&lt;FirstSlideIndex&gt;17&lt;/FirstSlideIndex&gt;&lt;SlidesCount&gt;7&lt;/SlidesCount&gt;&lt;SlideGuids&gt;&lt;guid&gt;ca3cdbe2-c1a0-496c-8b03-963455ae08cc&lt;/guid&gt;&lt;guid&gt;b1a90355-9415-45f5-a99d-f37839064456&lt;/guid&gt;&lt;guid&gt;3bc041ee-b16c-40a8-a375-66ea1d776dc0&lt;/guid&gt;&lt;guid&gt;b6acce1c-41ec-4e65-bdcc-23f3b5b20db0&lt;/guid&gt;&lt;guid&gt;768a6834-0cfa-4d1b-b334-ac15dc4109ca&lt;/guid&gt;&lt;guid&gt;00adf8b6-932b-4200-a1bc-c3f07f8f4d64&lt;/guid&gt;&lt;guid&gt;7e7f40d8-8d37-45ee-9724-a8bf02ad8fcf&lt;/guid&gt;&lt;/SlideGuids&gt;&lt;/NativeSection&gt;&lt;NativeSection&gt;&lt;Name&gt;Introduction to Windows PowerShell - Integrated Scripting Environment (ISE) - Features&lt;/Name&gt;&lt;FirstSlideIndex&gt;24&lt;/FirstSlideIndex&gt;&lt;SlidesCount&gt;10&lt;/SlidesCount&gt;&lt;SlideGuids&gt;&lt;guid&gt;e1166bed-b1cf-4a18-b3fa-270e99523a73&lt;/guid&gt;&lt;guid&gt;1b439196-c8b3-443c-adfe-ddd445fc1dea&lt;/guid&gt;&lt;guid&gt;5db85947-b1b2-4c61-b1a6-466fcb9ccbc5&lt;/guid&gt;&lt;guid&gt;ff6facb6-682b-4525-82a1-7d48607b7e88&lt;/guid&gt;&lt;guid&gt;30280d42-31cf-4e37-be85-b7dbaab0bb92&lt;/guid&gt;&lt;guid&gt;f026dc64-98b4-4191-a399-1bde3e751c77&lt;/guid&gt;&lt;guid&gt;96dccee5-e57f-4ffe-9f58-07c261f2f193&lt;/guid&gt;&lt;guid&gt;58797128-d2cf-4e7b-ad59-8a18432caccf&lt;/guid&gt;&lt;guid&gt;00adf8b6-932b-4200-a1bc-c3f07f8f4d64&lt;/guid&gt;&lt;guid&gt;7e7f40d8-8d37-45ee-9724-a8bf02ad8fcf&lt;/guid&gt;&lt;/SlideGuids&gt;&lt;/NativeSection&gt;&lt;NativeSection&gt;&lt;Name&gt;Introduction to Commands&lt;/Name&gt;&lt;FirstSlideIndex&gt;34&lt;/FirstSlideIndex&gt;&lt;SlidesCount&gt;2&lt;/SlidesCount&gt;&lt;SlideGuids&gt;&lt;guid&gt;1f669531-dd69-4ef9-a692-f0ee18299d4d&lt;/guid&gt;&lt;guid&gt;3ccd3973-1ec5-46fa-8710-ff514ce2a1f3&lt;/guid&gt;&lt;/SlideGuids&gt;&lt;/NativeSection&gt;&lt;NativeSection&gt;&lt;Name&gt;Introduction to Commands - External Commands&lt;/Name&gt;&lt;FirstSlideIndex&gt;36&lt;/FirstSlideIndex&gt;&lt;SlidesCount&gt;5&lt;/SlidesCount&gt;&lt;SlideGuids&gt;&lt;guid&gt;3feb09ab-e4a3-4df2-b9b2-7c59bed53a69&lt;/guid&gt;&lt;guid&gt;6f878c01-a3eb-40d3-a213-c43f4a3ab641&lt;/guid&gt;&lt;guid&gt;cb107531-a8e9-469d-b5bd-c28436624552&lt;/guid&gt;&lt;guid&gt;6b3f75de-a037-4381-8fc8-618b7e265e56&lt;/guid&gt;&lt;guid&gt;7e7f40d8-8d37-45ee-9724-a8bf02ad8fcf&lt;/guid&gt;&lt;/SlideGuids&gt;&lt;/NativeSection&gt;&lt;NativeSection&gt;&lt;Name&gt;Introduction to Commands - PowerShell commands&lt;/Name&gt;&lt;FirstSlideIndex&gt;41&lt;/FirstSlideIndex&gt;&lt;SlidesCount&gt;12&lt;/SlidesCount&gt;&lt;SlideGuids&gt;&lt;guid&gt;426e1b04-391b-466b-bc29-8a42babefe40&lt;/guid&gt;&lt;guid&gt;a0578b4a-a1e6-4f54-93e4-8bf201accac6&lt;/guid&gt;&lt;guid&gt;a6d5c4db-5b9a-49b0-b2ba-bd0b3bff0758&lt;/guid&gt;&lt;guid&gt;b8052ebc-3fa8-4abe-9c2e-59c3bb4707ee&lt;/guid&gt;&lt;guid&gt;b794a4d1-9791-4bab-b28e-5253577824c6&lt;/guid&gt;&lt;guid&gt;0998e991-5e28-429f-9c2c-28193cee6032&lt;/guid&gt;&lt;guid&gt;4986f64a-99cf-404c-b710-071ed6bff202&lt;/guid&gt;&lt;guid&gt;9d70877b-88a2-415b-b023-87e5f0f10101&lt;/guid&gt;&lt;guid&gt;62563174-4078-46c5-a87c-d458e27091aa&lt;/guid&gt;&lt;guid&gt;bcf04dda-96d7-464b-ab84-ae63980a8e84&lt;/guid&gt;&lt;guid&gt;0e9c346d-8ca7-47d7-a3ea-dd9761e48c90&lt;/guid&gt;&lt;guid&gt;7e7f40d8-8d37-45ee-9724-a8bf02ad8fcf&lt;/guid&gt;&lt;/SlideGuids&gt;&lt;/NativeSection&gt;&lt;NativeSection&gt;&lt;Name&gt;Introduction to Commands - Cmdlet Syntax&lt;/Name&gt;&lt;FirstSlideIndex&gt;53&lt;/FirstSlideIndex&gt;&lt;SlidesCount&gt;14&lt;/SlidesCount&gt;&lt;SlideGuids&gt;&lt;guid&gt;7209000d-aa96-4e20-a91c-501ebc107778&lt;/guid&gt;&lt;guid&gt;f01cb306-9e1f-4590-9e38-bbf493ef8b1f&lt;/guid&gt;&lt;guid&gt;27b66761-f25d-4ebf-b7cd-c087bafe2652&lt;/guid&gt;&lt;guid&gt;7209000d-aa96-4e20-a91c-501ebc107778&lt;/guid&gt;&lt;guid&gt;7209000d-aa96-4e20-a91c-501ebc107778&lt;/guid&gt;&lt;guid&gt;7209000d-aa96-4e20-a91c-501ebc107778&lt;/guid&gt;&lt;guid&gt;7209000d-aa96-4e20-a91c-501ebc107778&lt;/guid&gt;&lt;guid&gt;7209000d-aa96-4e20-a91c-501ebc107778&lt;/guid&gt;&lt;guid&gt;7209000d-aa96-4e20-a91c-501ebc107778&lt;/guid&gt;&lt;guid&gt;5be2a765-e72f-40ef-9415-d6db991094bf&lt;/guid&gt;&lt;guid&gt;0c6b5fa0-27fa-4460-9bdd-29a275a83938&lt;/guid&gt;&lt;guid&gt;6806274d-ae00-4671-bcc4-6c446fd75137&lt;/guid&gt;&lt;guid&gt;eff1ad0d-edff-4696-b71d-26e747cd86cc&lt;/guid&gt;&lt;guid&gt;7e7f40d8-8d37-45ee-9724-a8bf02ad8fcf&lt;/guid&gt;&lt;/SlideGuids&gt;&lt;/NativeSection&gt;&lt;NativeSection&gt;&lt;Name&gt;Introduction to Commands - Cmdlet Common Parameters&lt;/Name&gt;&lt;FirstSlideIndex&gt;67&lt;/FirstSlideIndex&gt;&lt;SlidesCount&gt;12&lt;/SlidesCount&gt;&lt;SlideGuids&gt;&lt;guid&gt;9654f450-f019-44e6-b65b-d1bb1c9ab9cf&lt;/guid&gt;&lt;guid&gt;3f57c3d8-ad09-42db-8b7f-fb53311bbcb1&lt;/guid&gt;&lt;guid&gt;1b20324c-120d-4cd2-829e-ef4a36f4353a&lt;/guid&gt;&lt;guid&gt;cac7793a-fc43-4ff7-bf41-3e011449d657&lt;/guid&gt;&lt;guid&gt;8f045e5b-b095-40cd-80a0-6e971422544f&lt;/guid&gt;&lt;guid&gt;95714aaa-8dfb-4b1e-8b1e-37271dd273fa&lt;/guid&gt;&lt;guid&gt;9ab87bb2-7e8f-4af4-a94a-a8610fdccfdc&lt;/guid&gt;&lt;guid&gt;777d5f4b-0b2a-4316-82e8-5d730bbccaab&lt;/guid&gt;&lt;guid&gt;4654dda3-5a19-4678-8030-b1706eb3eb3f&lt;/guid&gt;&lt;guid&gt;2446594d-bc9d-40a4-8baa-b7757caf755f&lt;/guid&gt;&lt;guid&gt;b9cda98c-f984-44d2-949b-c0a768deba69&lt;/guid&gt;&lt;guid&gt;7e7f40d8-8d37-45ee-9724-a8bf02ad8fcf&lt;/guid&gt;&lt;/SlideGuids&gt;&lt;/NativeSection&gt;&lt;NativeSection&gt;&lt;Name&gt;Introduction to Commands - Command Termination and Line Continuation&lt;/Name&gt;&lt;FirstSlideIndex&gt;79&lt;/FirstSlideIndex&gt;&lt;SlidesCount&gt;8&lt;/SlidesCount&gt;&lt;SlideGuids&gt;&lt;guid&gt;1a25d4e7-21ea-4c9d-82ca-1c4d40b802e6&lt;/guid&gt;&lt;guid&gt;d4fc2cfb-1f4c-4284-9a90-8a9dfac87a51&lt;/guid&gt;&lt;guid&gt;00691e86-e96c-4ad2-9f74-ef4b3fa2693f&lt;/guid&gt;&lt;guid&gt;24f45a39-5d68-4f45-9666-28a431578cb4&lt;/guid&gt;&lt;guid&gt;cda6b029-eec0-4e35-9554-8139afb73cdf&lt;/guid&gt;&lt;guid&gt;ed0db01f-b035-4031-8354-c833afab6954&lt;/guid&gt;&lt;guid&gt;ae2f9860-d0e5-45d9-aeb9-b8c30276d763&lt;/guid&gt;&lt;guid&gt;7e7f40d8-8d37-45ee-9724-a8bf02ad8fcf&lt;/guid&gt;&lt;/SlideGuids&gt;&lt;/NativeSection&gt;&lt;NativeSection&gt;&lt;Name&gt;Introduction to Commands - Built-in Aliases&lt;/Name&gt;&lt;FirstSlideIndex&gt;87&lt;/FirstSlideIndex&gt;&lt;SlidesCount&gt;5&lt;/SlidesCount&gt;&lt;SlideGuids&gt;&lt;guid&gt;daa0c646-4964-4677-b662-6d7b5bde0af7&lt;/guid&gt;&lt;guid&gt;4df4c6eb-d2a5-4e73-bc8d-d337ce32b5c8&lt;/guid&gt;&lt;guid&gt;c1f56b12-3707-4f35-8733-39b9c38473e9&lt;/guid&gt;&lt;guid&gt;a3c72e30-c9fd-41a2-81b7-774a592681f2&lt;/guid&gt;&lt;guid&gt;7e7f40d8-8d37-45ee-9724-a8bf02ad8fcf&lt;/guid&gt;&lt;/SlideGuids&gt;&lt;/NativeSection&gt;&lt;NativeSection&gt;&lt;Name&gt;Introduction to Commands - User-defined Aliases&lt;/Name&gt;&lt;FirstSlideIndex&gt;92&lt;/FirstSlideIndex&gt;&lt;SlidesCount&gt;5&lt;/SlidesCount&gt;&lt;SlideGuids&gt;&lt;guid&gt;a7c2d5d0-e482-48f2-9014-d873da40f698&lt;/guid&gt;&lt;guid&gt;aa04ec43-c604-4a73-b2eb-0ef0ee77f79c&lt;/guid&gt;&lt;guid&gt;7209000d-aa96-4e20-a91c-501ebc107778&lt;/guid&gt;&lt;guid&gt;20c1946b-9a3c-4b0a-ba7c-74353ae716f5&lt;/guid&gt;&lt;guid&gt;7e7f40d8-8d37-45ee-9724-a8bf02ad8fcf&lt;/guid&gt;&lt;/SlideGuids&gt;&lt;/NativeSection&gt;&lt;NativeSection&gt;&lt;Name&gt;Introduction to Commands - Lab: Introduction to Commands&lt;/Name&gt;&lt;FirstSlideIndex&gt;97&lt;/FirstSlideIndex&gt;&lt;SlidesCount&gt;2&lt;/SlidesCount&gt;&lt;SlideGuids&gt;&lt;guid&gt;e5936d9c-b546-443b-afcc-e10e11a5dae6&lt;/guid&gt;&lt;guid&gt;1e5e1ebb-e8bf-4fba-87f5-5fca36bd0235&lt;/guid&gt;&lt;/SlideGuids&gt;&lt;/NativeSection&gt;&lt;/ArrayOfNativeSection&gt;"/>
  <p:tag name="MIO_EKGUID" val="602ca75f-b92d-4d33-a8d7-07e8571bebc5"/>
  <p:tag name="MIO_UPDATE" val="True"/>
  <p:tag name="MIO_VERSION" val="30.03.2020 15:44:06"/>
  <p:tag name="MIO_DBID" val="12B0C59E-2253-4124-A5E9-470ADF4CB168"/>
  <p:tag name="MIO_LASTDOWNLOADED" val="30.03.2020 17:44:54"/>
  <p:tag name="MIO_OBJECTNAME" val="Module Dark Grey"/>
  <p:tag name="MIO_LASTEDITORNAME" val="Devid Treuling"/>
</p:tagLst>
</file>

<file path=ppt/tags/tag2.xml><?xml version="1.0" encoding="utf-8"?>
<p:tagLst xmlns:a="http://schemas.openxmlformats.org/drawingml/2006/main" xmlns:r="http://schemas.openxmlformats.org/officeDocument/2006/relationships" xmlns:p="http://schemas.openxmlformats.org/presentationml/2006/main">
  <p:tag name="MIO_GUID" val="77499e9a-31aa-40e0-aa71-ba32caef6098"/>
  <p:tag name="MIO_EKGUID" val="dadf7f33-1b3b-444f-82e3-91528bb138ab"/>
  <p:tag name="MIO_UPDATE" val="True"/>
  <p:tag name="MIO_VERSION" val="30.03.2020 15:44:05"/>
  <p:tag name="MIO_DBID" val="12b0c59e-2253-4124-a5e9-470adf4cb168"/>
  <p:tag name="MIO_LASTDOWNLOADED" val="30.03.2020 15:44:51"/>
  <p:tag name="MIO_OBJECTNAME" val="Title"/>
  <p:tag name="MIO_LASTEDITORNAME" val="Devid Treuling"/>
</p:tagLst>
</file>

<file path=ppt/tags/tag3.xml><?xml version="1.0" encoding="utf-8"?>
<p:tagLst xmlns:a="http://schemas.openxmlformats.org/drawingml/2006/main" xmlns:r="http://schemas.openxmlformats.org/officeDocument/2006/relationships" xmlns:p="http://schemas.openxmlformats.org/presentationml/2006/main">
  <p:tag name="MIO_GUID" val="55a10cb0-526b-427f-b329-564b9d813585"/>
  <p:tag name="MIO_EKGUID" val="16198fbd-a8ef-4b10-90b5-600ff933c912"/>
  <p:tag name="MIO_UPDATE" val="True"/>
  <p:tag name="MIO_VERSION" val="30.03.2020 15:44:05"/>
  <p:tag name="MIO_DBID" val="12b0c59e-2253-4124-a5e9-470adf4cb168"/>
  <p:tag name="MIO_LASTDOWNLOADED" val="30.03.2020 15:44:51"/>
  <p:tag name="MIO_OBJECTNAME" val="Disclaimer"/>
  <p:tag name="MIO_LASTEDITORNAME" val="Devid Treuling"/>
</p:tagLst>
</file>

<file path=ppt/tags/tag4.xml><?xml version="1.0" encoding="utf-8"?>
<p:tagLst xmlns:a="http://schemas.openxmlformats.org/drawingml/2006/main" xmlns:r="http://schemas.openxmlformats.org/officeDocument/2006/relationships" xmlns:p="http://schemas.openxmlformats.org/presentationml/2006/main">
  <p:tag name="MIO_GUID" val="3f15d768-aaeb-472a-a613-08046adda187"/>
  <p:tag name="MIO_EKGUID" val="66b2b442-327e-43dd-bd4d-df915862f5d3"/>
  <p:tag name="MIO_UPDATE" val="True"/>
  <p:tag name="MIO_VERSION" val="30.03.2020 15:44:05"/>
  <p:tag name="MIO_DBID" val="12b0c59e-2253-4124-a5e9-470adf4cb168"/>
  <p:tag name="MIO_LASTDOWNLOADED" val="30.03.2020 15:44:51"/>
  <p:tag name="MIO_OBJECTNAME" val="Learning Units covered in this Module"/>
  <p:tag name="MIO_LASTEDITORNAME" val="Devid Treuling"/>
</p:tagLst>
</file>

<file path=ppt/tags/tag5.xml><?xml version="1.0" encoding="utf-8"?>
<p:tagLst xmlns:a="http://schemas.openxmlformats.org/drawingml/2006/main" xmlns:r="http://schemas.openxmlformats.org/officeDocument/2006/relationships" xmlns:p="http://schemas.openxmlformats.org/presentationml/2006/main">
  <p:tag name="MIO_GUID" val="9d9e1da7-2723-4f69-b69f-21b1693715c5"/>
  <p:tag name="MIO_EKGUID" val="54ade1c1-5b04-4aab-863d-fd2e000d0565"/>
  <p:tag name="MIO_UPDATE" val="True"/>
  <p:tag name="MIO_VERSION" val="30.03.2020 15:44:05"/>
  <p:tag name="MIO_DBID" val="12b0c59e-2253-4124-a5e9-470adf4cb168"/>
  <p:tag name="MIO_LASTDOWNLOADED" val="30.03.2020 15:44:51"/>
  <p:tag name="MIO_OBJECTNAME" val="Learning 1"/>
  <p:tag name="MIO_LASTEDITORNAME" val="Devid Treuling"/>
</p:tagLst>
</file>

<file path=ppt/tags/tag6.xml><?xml version="1.0" encoding="utf-8"?>
<p:tagLst xmlns:a="http://schemas.openxmlformats.org/drawingml/2006/main" xmlns:r="http://schemas.openxmlformats.org/officeDocument/2006/relationships" xmlns:p="http://schemas.openxmlformats.org/presentationml/2006/main">
  <p:tag name="MIO_GUID" val="3ccd3973-1ec5-46fa-8710-ff514ce2a1f3"/>
  <p:tag name="MIO_EKGUID" val="a97e8222-500f-45cb-8331-4583a822eeb0"/>
  <p:tag name="MIO_UPDATE" val="True"/>
  <p:tag name="MIO_VERSION" val="30.03.2020 15:44:05"/>
  <p:tag name="MIO_DBID" val="12b0c59e-2253-4124-a5e9-470adf4cb168"/>
  <p:tag name="MIO_LASTDOWNLOADED" val="30.03.2020 15:44:51"/>
  <p:tag name="MIO_OBJECTNAME" val="Objectives"/>
  <p:tag name="MIO_LASTEDITORNAME" val="Devid Treuling"/>
</p:tagLst>
</file>

<file path=ppt/tags/tag7.xml><?xml version="1.0" encoding="utf-8"?>
<p:tagLst xmlns:a="http://schemas.openxmlformats.org/drawingml/2006/main" xmlns:r="http://schemas.openxmlformats.org/officeDocument/2006/relationships" xmlns:p="http://schemas.openxmlformats.org/presentationml/2006/main">
  <p:tag name="MIO_GUID" val="3358efb2-d4c0-4d61-994f-75e3275fac2b"/>
  <p:tag name="MIO_EKGUID" val="a56ec7a2-ebc6-4a2a-9495-6dad13f4de77"/>
  <p:tag name="MIO_UPDATE" val="True"/>
  <p:tag name="MIO_VERSION" val="30.03.2020 15:44:05"/>
  <p:tag name="MIO_DBID" val="12b0c59e-2253-4124-a5e9-470adf4cb168"/>
  <p:tag name="MIO_LASTDOWNLOADED" val="30.03.2020 15:44:52"/>
  <p:tag name="MIO_OBJECTNAME" val="Lesson 1"/>
  <p:tag name="MIO_LASTEDITORNAME" val="Devid Treuling"/>
</p:tagLst>
</file>

<file path=ppt/tags/tag8.xml><?xml version="1.0" encoding="utf-8"?>
<p:tagLst xmlns:a="http://schemas.openxmlformats.org/drawingml/2006/main" xmlns:r="http://schemas.openxmlformats.org/officeDocument/2006/relationships" xmlns:p="http://schemas.openxmlformats.org/presentationml/2006/main">
  <p:tag name="MIO_GUID" val="3358efb2-d4c0-4d61-994f-75e3275fac2b"/>
  <p:tag name="MIO_EKGUID" val="a56ec7a2-ebc6-4a2a-9495-6dad13f4de77"/>
  <p:tag name="MIO_UPDATE" val="True"/>
  <p:tag name="MIO_VERSION" val="30.03.2020 15:44:05"/>
  <p:tag name="MIO_DBID" val="12b0c59e-2253-4124-a5e9-470adf4cb168"/>
  <p:tag name="MIO_LASTDOWNLOADED" val="30.03.2020 15:44:52"/>
  <p:tag name="MIO_OBJECTNAME" val="Lesson 1"/>
  <p:tag name="MIO_LASTEDITORNAME" val="Devid Treuling"/>
</p:tagLst>
</file>

<file path=ppt/tags/tag9.xml><?xml version="1.0" encoding="utf-8"?>
<p:tagLst xmlns:a="http://schemas.openxmlformats.org/drawingml/2006/main" xmlns:r="http://schemas.openxmlformats.org/officeDocument/2006/relationships" xmlns:p="http://schemas.openxmlformats.org/presentationml/2006/main">
  <p:tag name="MIO_GUID" val="e5936d9c-b546-443b-afcc-e10e11a5dae6"/>
  <p:tag name="MIO_EKGUID" val="49620678-51bf-43f9-9090-c87048a425b9"/>
  <p:tag name="MIO_UPDATE" val="True"/>
  <p:tag name="MIO_VERSION" val="30.03.2020 15:44:06"/>
  <p:tag name="MIO_DBID" val="12b0c59e-2253-4124-a5e9-470adf4cb168"/>
  <p:tag name="MIO_LASTDOWNLOADED" val="30.03.2020 15:44:52"/>
  <p:tag name="MIO_OBJECTNAME" val="Lab Name"/>
  <p:tag name="MIO_LASTEDITORNAME" val="Devid Treuling"/>
</p:tagLst>
</file>

<file path=ppt/theme/theme1.xml><?xml version="1.0" encoding="utf-8"?>
<a:theme xmlns:a="http://schemas.openxmlformats.org/drawingml/2006/main" name="White Template">
  <a:themeElements>
    <a:clrScheme name="Custom 2">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_rels/item44.xml.rels><?xml version="1.0" encoding="UTF-8" standalone="yes"?>
<Relationships xmlns="http://schemas.openxmlformats.org/package/2006/relationships"><Relationship Id="rId1" Type="http://schemas.openxmlformats.org/officeDocument/2006/relationships/customXmlProps" Target="itemProps44.xml"/></Relationships>
</file>

<file path=customXml/item1.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3.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4.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5.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6.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7.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8.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9.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10.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1.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2.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3.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4.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5.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6.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MediaLengthInSeconds xmlns="fe7a4c3d-94ce-45db-961b-252eaa2a0914" xsi:nil="true"/>
  </documentManagement>
</p:properties>
</file>

<file path=customXml/item17.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18.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9.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0.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1.xml><?xml version="1.0" encoding="utf-8"?>
<pd:PersonalizationDefinition xmlns:pd="Strauss.PersonalizationDefinition" name="">
  <pd:DataReferenceList>
    <pd:DataReference datasourceID="feebff45-792f-402d-b0b2-aef9b0ece030" dataFieldID="c025b050-8f9b-4a58-8690-6c2d0d1906cd" variableListUniqueId="d6c5d8a6-45b5-4a0e-b0e7-cf1e0e53bdd5"/>
  </pd:DataReferenceList>
  <pd:VariableReplacementDescriptor name="" desc="" uid="">
    <pd:DataReferenceList>
      <pd:DataReference datasourceID="feebff45-792f-402d-b0b2-aef9b0ece030" dataFieldID="c025b050-8f9b-4a58-8690-6c2d0d1906cd" variableListUniqueId="d6c5d8a6-45b5-4a0e-b0e7-cf1e0e53bdd5"/>
    </pd:DataReferenceList>
  </pd:VariableReplacementDescriptor>
</pd:PersonalizationDefinition>
</file>

<file path=customXml/item22.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23.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24.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5.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6.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7.xml><?xml version="1.0" encoding="utf-8"?>
<ct:contentTypeSchema xmlns:ct="http://schemas.microsoft.com/office/2006/metadata/contentType" xmlns:ma="http://schemas.microsoft.com/office/2006/metadata/properties/metaAttributes" ct:_="" ma:_="" ma:contentTypeName="Document" ma:contentTypeID="0x010100E69BC7A8EC74B74F8EB826872BF35821" ma:contentTypeVersion="11" ma:contentTypeDescription="Create a new document." ma:contentTypeScope="" ma:versionID="98f8333384bacb13134c50c15d5bcc22">
  <xsd:schema xmlns:xsd="http://www.w3.org/2001/XMLSchema" xmlns:xs="http://www.w3.org/2001/XMLSchema" xmlns:p="http://schemas.microsoft.com/office/2006/metadata/properties" xmlns:ns1="http://schemas.microsoft.com/sharepoint/v3" xmlns:ns2="fe7a4c3d-94ce-45db-961b-252eaa2a0914" targetNamespace="http://schemas.microsoft.com/office/2006/metadata/properties" ma:root="true" ma:fieldsID="760a6c141a50ce6b1373ff46f6810f2c" ns1:_="" ns2:_="">
    <xsd:import namespace="http://schemas.microsoft.com/sharepoint/v3"/>
    <xsd:import namespace="fe7a4c3d-94ce-45db-961b-252eaa2a091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MediaServiceDoc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1" nillable="true" ma:displayName="Unified Compliance Policy Properties" ma:hidden="true" ma:internalName="_ip_UnifiedCompliancePolicyProperties">
      <xsd:simpleType>
        <xsd:restriction base="dms:Note"/>
      </xsd:simpleType>
    </xsd:element>
    <xsd:element name="_ip_UnifiedCompliancePolicyUIAction" ma:index="1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e7a4c3d-94ce-45db-961b-252eaa2a091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3" nillable="true" ma:displayName="MediaServiceBillingMetadata" ma:hidden="true" ma:internalName="MediaServiceBillingMetadata"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DocTags" ma:index="18" nillable="true" ma:displayName="MediaServiceDocTags" ma:hidden="true" ma:internalName="MediaServiceDocTag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8.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9.xml><?xml version="1.0" encoding="utf-8"?>
<pd:PersonalizationDefinition xmlns:pd="Strauss.PersonalizationDefinition" name="">
  <pd:DataReferenceList>
    <pd:DataReference datasourceID="feebff45-792f-402d-b0b2-aef9b0ece030" dataFieldID="0fc3de7b-ed55-4ec3-b286-0b42951918c3" variableListUniqueId="d6c5d8a6-45b5-4a0e-b0e7-cf1e0e53bdd5"/>
  </pd:DataReferenceList>
  <pd:VariableReplacementDescriptor name="" desc="" uid="">
    <pd:DataReferenceList>
      <pd:DataReference datasourceID="feebff45-792f-402d-b0b2-aef9b0ece030" dataFieldID="0fc3de7b-ed55-4ec3-b286-0b42951918c3" variableListUniqueId="d6c5d8a6-45b5-4a0e-b0e7-cf1e0e53bdd5"/>
    </pd:DataReferenceList>
  </pd:VariableReplacementDescriptor>
</pd:PersonalizationDefinition>
</file>

<file path=customXml/item30.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31.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2.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3.xml><?xml version="1.0" encoding="utf-8"?>
<?mso-contentType ?>
<FormTemplates xmlns="http://schemas.microsoft.com/sharepoint/v3/contenttype/forms">
  <Display>DocumentLibraryForm</Display>
  <Edit>DocumentLibraryForm</Edit>
  <New>DocumentLibraryForm</New>
</FormTemplates>
</file>

<file path=customXml/item34.xml><?xml version="1.0" encoding="utf-8"?>
<pd:PersonalizationDefinition xmlns:pd="Strauss.PersonalizationDefinition" name="">
  <pd:DataReferenceList>
    <pd:DataReference datasourceID="feebff45-792f-402d-b0b2-aef9b0ece030" dataFieldID="c025b050-8f9b-4a58-8690-6c2d0d1906cd" variableListUniqueId="d6c5d8a6-45b5-4a0e-b0e7-cf1e0e53bdd5"/>
  </pd:DataReferenceList>
  <pd:VariableReplacementDescriptor name="" desc="" uid="">
    <pd:DataReferenceList>
      <pd:DataReference datasourceID="feebff45-792f-402d-b0b2-aef9b0ece030" dataFieldID="c025b050-8f9b-4a58-8690-6c2d0d1906cd" variableListUniqueId="d6c5d8a6-45b5-4a0e-b0e7-cf1e0e53bdd5"/>
    </pd:DataReferenceList>
  </pd:VariableReplacementDescriptor>
</pd:PersonalizationDefinition>
</file>

<file path=customXml/item35.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36.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7.xml><?xml version="1.0" encoding="utf-8"?>
<pd:PersonalizationDefinition xmlns:pd="Strauss.PersonalizationDefinition" name="">
  <pd:DataReferenceList>
    <pd:DataReference datasourceID="feebff45-792f-402d-b0b2-aef9b0ece030" dataFieldID="0fc3de7b-ed55-4ec3-b286-0b42951918c3" variableListUniqueId="d6c5d8a6-45b5-4a0e-b0e7-cf1e0e53bdd5"/>
  </pd:DataReferenceList>
  <pd:VariableReplacementDescriptor name="" desc="" uid="">
    <pd:DataReferenceList>
      <pd:DataReference datasourceID="feebff45-792f-402d-b0b2-aef9b0ece030" dataFieldID="0fc3de7b-ed55-4ec3-b286-0b42951918c3" variableListUniqueId="d6c5d8a6-45b5-4a0e-b0e7-cf1e0e53bdd5"/>
    </pd:DataReferenceList>
  </pd:VariableReplacementDescriptor>
</pd:PersonalizationDefinition>
</file>

<file path=customXml/item38.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39.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40.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41.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42.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43.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44.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Props1.xml><?xml version="1.0" encoding="utf-8"?>
<ds:datastoreItem xmlns:ds="http://schemas.openxmlformats.org/officeDocument/2006/customXml" ds:itemID="{B09E3EAE-66CA-4A91-A5FE-A34A70B099ED}">
  <ds:schemaRefs>
    <ds:schemaRef ds:uri="Strauss.PersonalizationDefinition"/>
  </ds:schemaRefs>
</ds:datastoreItem>
</file>

<file path=customXml/itemProps2.xml><?xml version="1.0" encoding="utf-8"?>
<ds:datastoreItem xmlns:ds="http://schemas.openxmlformats.org/officeDocument/2006/customXml" ds:itemID="{46522A59-B026-4350-BB1A-BEB05240770F}">
  <ds:schemaRefs>
    <ds:schemaRef ds:uri="Strauss.PersonalizationDefinition"/>
  </ds:schemaRefs>
</ds:datastoreItem>
</file>

<file path=customXml/itemProps3.xml><?xml version="1.0" encoding="utf-8"?>
<ds:datastoreItem xmlns:ds="http://schemas.openxmlformats.org/officeDocument/2006/customXml" ds:itemID="{5C919DC8-E31E-42F0-9621-B916C2E029BA}">
  <ds:schemaRefs>
    <ds:schemaRef ds:uri="Strauss.PersonalizationDefinition"/>
  </ds:schemaRefs>
</ds:datastoreItem>
</file>

<file path=customXml/itemProps4.xml><?xml version="1.0" encoding="utf-8"?>
<ds:datastoreItem xmlns:ds="http://schemas.openxmlformats.org/officeDocument/2006/customXml" ds:itemID="{103AB8E4-C30A-4895-9606-8D77F2E70F19}">
  <ds:schemaRefs>
    <ds:schemaRef ds:uri="Strauss.PersonalizationDefinition"/>
  </ds:schemaRefs>
</ds:datastoreItem>
</file>

<file path=customXml/itemProps5.xml><?xml version="1.0" encoding="utf-8"?>
<ds:datastoreItem xmlns:ds="http://schemas.openxmlformats.org/officeDocument/2006/customXml" ds:itemID="{C1060A51-5976-4775-97EE-ABE1B1E4972A}">
  <ds:schemaRefs>
    <ds:schemaRef ds:uri="Strauss.PersonalizationDefinition"/>
  </ds:schemaRefs>
</ds:datastoreItem>
</file>

<file path=customXml/itemProps6.xml><?xml version="1.0" encoding="utf-8"?>
<ds:datastoreItem xmlns:ds="http://schemas.openxmlformats.org/officeDocument/2006/customXml" ds:itemID="{68BE9F8F-073F-46B7-B2D0-86DC8E2E9DCE}">
  <ds:schemaRefs>
    <ds:schemaRef ds:uri="Strauss.PersonalizationDefinition"/>
  </ds:schemaRefs>
</ds:datastoreItem>
</file>

<file path=customXml/itemProps7.xml><?xml version="1.0" encoding="utf-8"?>
<ds:datastoreItem xmlns:ds="http://schemas.openxmlformats.org/officeDocument/2006/customXml" ds:itemID="{4A3F169F-E27D-4A25-888C-4C5D83BAC082}">
  <ds:schemaRefs>
    <ds:schemaRef ds:uri="Strauss.PersonalizationDefinition"/>
  </ds:schemaRefs>
</ds:datastoreItem>
</file>

<file path=customXml/itemProps8.xml><?xml version="1.0" encoding="utf-8"?>
<ds:datastoreItem xmlns:ds="http://schemas.openxmlformats.org/officeDocument/2006/customXml" ds:itemID="{6F485757-9F3C-4A1E-9E86-E1C1551910BA}">
  <ds:schemaRefs>
    <ds:schemaRef ds:uri="Strauss.PersonalizationDefinition"/>
  </ds:schemaRefs>
</ds:datastoreItem>
</file>

<file path=customXml/itemProps9.xml><?xml version="1.0" encoding="utf-8"?>
<ds:datastoreItem xmlns:ds="http://schemas.openxmlformats.org/officeDocument/2006/customXml" ds:itemID="{DF333A1B-0A9C-4DA8-ADAB-4378B69FDC48}">
  <ds:schemaRefs>
    <ds:schemaRef ds:uri="Strauss.PersonalizationDefinition"/>
  </ds:schemaRefs>
</ds:datastoreItem>
</file>

<file path=customXml/itemProps10.xml><?xml version="1.0" encoding="utf-8"?>
<ds:datastoreItem xmlns:ds="http://schemas.openxmlformats.org/officeDocument/2006/customXml" ds:itemID="{7469151F-B4F3-4C21-84F8-69D9E2B09815}">
  <ds:schemaRefs>
    <ds:schemaRef ds:uri="Strauss.PersonalizationDefinition"/>
  </ds:schemaRefs>
</ds:datastoreItem>
</file>

<file path=customXml/itemProps11.xml><?xml version="1.0" encoding="utf-8"?>
<ds:datastoreItem xmlns:ds="http://schemas.openxmlformats.org/officeDocument/2006/customXml" ds:itemID="{4EA01338-72BB-48B6-B6A4-05B31FE21105}">
  <ds:schemaRefs>
    <ds:schemaRef ds:uri="Strauss.PersonalizationDefinition"/>
  </ds:schemaRefs>
</ds:datastoreItem>
</file>

<file path=customXml/itemProps12.xml><?xml version="1.0" encoding="utf-8"?>
<ds:datastoreItem xmlns:ds="http://schemas.openxmlformats.org/officeDocument/2006/customXml" ds:itemID="{DE0DC7DC-A960-4E6E-BF1B-D3D906B081A2}">
  <ds:schemaRefs>
    <ds:schemaRef ds:uri="Strauss.PersonalizationDefinition"/>
  </ds:schemaRefs>
</ds:datastoreItem>
</file>

<file path=customXml/itemProps13.xml><?xml version="1.0" encoding="utf-8"?>
<ds:datastoreItem xmlns:ds="http://schemas.openxmlformats.org/officeDocument/2006/customXml" ds:itemID="{BC268A45-186B-46A3-937F-0E016CEA70C1}">
  <ds:schemaRefs>
    <ds:schemaRef ds:uri="Strauss.PersonalizationDefinition"/>
  </ds:schemaRefs>
</ds:datastoreItem>
</file>

<file path=customXml/itemProps14.xml><?xml version="1.0" encoding="utf-8"?>
<ds:datastoreItem xmlns:ds="http://schemas.openxmlformats.org/officeDocument/2006/customXml" ds:itemID="{EDFBA6C8-3A38-44F0-B645-B6B0034983DA}">
  <ds:schemaRefs>
    <ds:schemaRef ds:uri="Strauss.PersonalizationDefinition"/>
  </ds:schemaRefs>
</ds:datastoreItem>
</file>

<file path=customXml/itemProps15.xml><?xml version="1.0" encoding="utf-8"?>
<ds:datastoreItem xmlns:ds="http://schemas.openxmlformats.org/officeDocument/2006/customXml" ds:itemID="{60C37345-664C-4C93-8908-233B1FDB84E8}">
  <ds:schemaRefs>
    <ds:schemaRef ds:uri="Strauss.PersonalizationDefinition"/>
  </ds:schemaRefs>
</ds:datastoreItem>
</file>

<file path=customXml/itemProps16.xml><?xml version="1.0" encoding="utf-8"?>
<ds:datastoreItem xmlns:ds="http://schemas.openxmlformats.org/officeDocument/2006/customXml" ds:itemID="{AC7687D8-5695-4F99-A8BA-1D247B418C22}">
  <ds:schemaRefs>
    <ds:schemaRef ds:uri="fb9ea31f-0ab8-44ff-80d1-5777f6d9d945"/>
    <ds:schemaRef ds:uri="http://www.w3.org/XML/1998/namespace"/>
    <ds:schemaRef ds:uri="http://schemas.microsoft.com/office/2006/metadata/properties"/>
    <ds:schemaRef ds:uri="http://purl.org/dc/elements/1.1/"/>
    <ds:schemaRef ds:uri="http://schemas.microsoft.com/office/2006/documentManagement/types"/>
    <ds:schemaRef ds:uri="http://purl.org/dc/dcmitype/"/>
    <ds:schemaRef ds:uri="http://schemas.microsoft.com/sharepoint/v3"/>
    <ds:schemaRef ds:uri="http://purl.org/dc/terms/"/>
    <ds:schemaRef ds:uri="cea7764e-6bf9-427d-be15-e74097e0a61c"/>
    <ds:schemaRef ds:uri="http://schemas.microsoft.com/office/infopath/2007/PartnerControls"/>
    <ds:schemaRef ds:uri="http://schemas.openxmlformats.org/package/2006/metadata/core-properties"/>
    <ds:schemaRef ds:uri="230e9df3-be65-4c73-a93b-d1236ebd677e"/>
  </ds:schemaRefs>
</ds:datastoreItem>
</file>

<file path=customXml/itemProps17.xml><?xml version="1.0" encoding="utf-8"?>
<ds:datastoreItem xmlns:ds="http://schemas.openxmlformats.org/officeDocument/2006/customXml" ds:itemID="{ECCE7DC3-F525-4E76-8812-56FCA2D21E50}">
  <ds:schemaRefs>
    <ds:schemaRef ds:uri="Strauss.PersonalizationDefinition"/>
  </ds:schemaRefs>
</ds:datastoreItem>
</file>

<file path=customXml/itemProps18.xml><?xml version="1.0" encoding="utf-8"?>
<ds:datastoreItem xmlns:ds="http://schemas.openxmlformats.org/officeDocument/2006/customXml" ds:itemID="{7BE5F28F-50CA-40F1-A02E-E794FE33362D}">
  <ds:schemaRefs>
    <ds:schemaRef ds:uri="Strauss.PersonalizationDefinition"/>
  </ds:schemaRefs>
</ds:datastoreItem>
</file>

<file path=customXml/itemProps19.xml><?xml version="1.0" encoding="utf-8"?>
<ds:datastoreItem xmlns:ds="http://schemas.openxmlformats.org/officeDocument/2006/customXml" ds:itemID="{D7FDC28F-4CBD-40ED-9D33-0A1360D5DEC4}">
  <ds:schemaRefs>
    <ds:schemaRef ds:uri="Strauss.PersonalizationDefinition"/>
  </ds:schemaRefs>
</ds:datastoreItem>
</file>

<file path=customXml/itemProps20.xml><?xml version="1.0" encoding="utf-8"?>
<ds:datastoreItem xmlns:ds="http://schemas.openxmlformats.org/officeDocument/2006/customXml" ds:itemID="{406127A5-B8F7-4F8A-95A9-8E20F72EA129}">
  <ds:schemaRefs>
    <ds:schemaRef ds:uri="Strauss.PersonalizationDefinition"/>
  </ds:schemaRefs>
</ds:datastoreItem>
</file>

<file path=customXml/itemProps21.xml><?xml version="1.0" encoding="utf-8"?>
<ds:datastoreItem xmlns:ds="http://schemas.openxmlformats.org/officeDocument/2006/customXml" ds:itemID="{11767EAE-0FC6-472D-9D35-EB3533243F22}">
  <ds:schemaRefs>
    <ds:schemaRef ds:uri="Strauss.PersonalizationDefinition"/>
  </ds:schemaRefs>
</ds:datastoreItem>
</file>

<file path=customXml/itemProps22.xml><?xml version="1.0" encoding="utf-8"?>
<ds:datastoreItem xmlns:ds="http://schemas.openxmlformats.org/officeDocument/2006/customXml" ds:itemID="{A09B3D8F-A36C-4B6D-871D-C53F61DFD219}">
  <ds:schemaRefs>
    <ds:schemaRef ds:uri="Strauss.PersonalizationDefinition"/>
  </ds:schemaRefs>
</ds:datastoreItem>
</file>

<file path=customXml/itemProps23.xml><?xml version="1.0" encoding="utf-8"?>
<ds:datastoreItem xmlns:ds="http://schemas.openxmlformats.org/officeDocument/2006/customXml" ds:itemID="{FC25CD5D-A9DA-407F-9106-47BDA14BCED9}">
  <ds:schemaRefs>
    <ds:schemaRef ds:uri="Strauss.PersonalizationDefinition"/>
  </ds:schemaRefs>
</ds:datastoreItem>
</file>

<file path=customXml/itemProps24.xml><?xml version="1.0" encoding="utf-8"?>
<ds:datastoreItem xmlns:ds="http://schemas.openxmlformats.org/officeDocument/2006/customXml" ds:itemID="{08068EAD-DA6C-4DC8-843E-9CB0982D15F3}">
  <ds:schemaRefs>
    <ds:schemaRef ds:uri="Strauss.PersonalizationDefinition"/>
  </ds:schemaRefs>
</ds:datastoreItem>
</file>

<file path=customXml/itemProps25.xml><?xml version="1.0" encoding="utf-8"?>
<ds:datastoreItem xmlns:ds="http://schemas.openxmlformats.org/officeDocument/2006/customXml" ds:itemID="{82C716E8-B770-4139-99B0-F35B9C64B90F}">
  <ds:schemaRefs>
    <ds:schemaRef ds:uri="Strauss.PersonalizationDefinition"/>
  </ds:schemaRefs>
</ds:datastoreItem>
</file>

<file path=customXml/itemProps26.xml><?xml version="1.0" encoding="utf-8"?>
<ds:datastoreItem xmlns:ds="http://schemas.openxmlformats.org/officeDocument/2006/customXml" ds:itemID="{2BCFCE7B-4A43-491B-887D-365E2A1C50B2}">
  <ds:schemaRefs>
    <ds:schemaRef ds:uri="Strauss.PersonalizationDefinition"/>
  </ds:schemaRefs>
</ds:datastoreItem>
</file>

<file path=customXml/itemProps27.xml><?xml version="1.0" encoding="utf-8"?>
<ds:datastoreItem xmlns:ds="http://schemas.openxmlformats.org/officeDocument/2006/customXml" ds:itemID="{13EB9913-9401-4C6A-9CFE-F70AD495AC7B}"/>
</file>

<file path=customXml/itemProps28.xml><?xml version="1.0" encoding="utf-8"?>
<ds:datastoreItem xmlns:ds="http://schemas.openxmlformats.org/officeDocument/2006/customXml" ds:itemID="{B228D3F7-8445-4CE7-92DC-AC7FE2D5A2AF}">
  <ds:schemaRefs>
    <ds:schemaRef ds:uri="Strauss.PersonalizationDefinition"/>
  </ds:schemaRefs>
</ds:datastoreItem>
</file>

<file path=customXml/itemProps29.xml><?xml version="1.0" encoding="utf-8"?>
<ds:datastoreItem xmlns:ds="http://schemas.openxmlformats.org/officeDocument/2006/customXml" ds:itemID="{13A5538B-5199-4900-941A-B01E377F2065}">
  <ds:schemaRefs>
    <ds:schemaRef ds:uri="Strauss.PersonalizationDefinition"/>
  </ds:schemaRefs>
</ds:datastoreItem>
</file>

<file path=customXml/itemProps30.xml><?xml version="1.0" encoding="utf-8"?>
<ds:datastoreItem xmlns:ds="http://schemas.openxmlformats.org/officeDocument/2006/customXml" ds:itemID="{A0EED17B-F609-411E-840C-8A361DF5E053}">
  <ds:schemaRefs>
    <ds:schemaRef ds:uri="Strauss.PersonalizationDefinition"/>
  </ds:schemaRefs>
</ds:datastoreItem>
</file>

<file path=customXml/itemProps31.xml><?xml version="1.0" encoding="utf-8"?>
<ds:datastoreItem xmlns:ds="http://schemas.openxmlformats.org/officeDocument/2006/customXml" ds:itemID="{6552B3D2-5F72-49FB-8B35-AFE12BF36804}">
  <ds:schemaRefs>
    <ds:schemaRef ds:uri="Strauss.PersonalizationDefinition"/>
  </ds:schemaRefs>
</ds:datastoreItem>
</file>

<file path=customXml/itemProps32.xml><?xml version="1.0" encoding="utf-8"?>
<ds:datastoreItem xmlns:ds="http://schemas.openxmlformats.org/officeDocument/2006/customXml" ds:itemID="{F56EB5D8-3CD5-48EE-9536-13CF2B9AC25D}">
  <ds:schemaRefs>
    <ds:schemaRef ds:uri="Strauss.PersonalizationDefinition"/>
  </ds:schemaRefs>
</ds:datastoreItem>
</file>

<file path=customXml/itemProps33.xml><?xml version="1.0" encoding="utf-8"?>
<ds:datastoreItem xmlns:ds="http://schemas.openxmlformats.org/officeDocument/2006/customXml" ds:itemID="{C18D3FE9-2C4E-470C-9B85-FEEE51F2FFFE}">
  <ds:schemaRefs>
    <ds:schemaRef ds:uri="http://schemas.microsoft.com/sharepoint/v3/contenttype/forms"/>
  </ds:schemaRefs>
</ds:datastoreItem>
</file>

<file path=customXml/itemProps34.xml><?xml version="1.0" encoding="utf-8"?>
<ds:datastoreItem xmlns:ds="http://schemas.openxmlformats.org/officeDocument/2006/customXml" ds:itemID="{541D4602-AC17-4CBD-B95E-D5B3D757BC54}">
  <ds:schemaRefs>
    <ds:schemaRef ds:uri="Strauss.PersonalizationDefinition"/>
  </ds:schemaRefs>
</ds:datastoreItem>
</file>

<file path=customXml/itemProps35.xml><?xml version="1.0" encoding="utf-8"?>
<ds:datastoreItem xmlns:ds="http://schemas.openxmlformats.org/officeDocument/2006/customXml" ds:itemID="{D55AC15F-0A03-4D96-AA43-65FC3DCE2717}">
  <ds:schemaRefs>
    <ds:schemaRef ds:uri="Strauss.PersonalizationDefinition"/>
  </ds:schemaRefs>
</ds:datastoreItem>
</file>

<file path=customXml/itemProps36.xml><?xml version="1.0" encoding="utf-8"?>
<ds:datastoreItem xmlns:ds="http://schemas.openxmlformats.org/officeDocument/2006/customXml" ds:itemID="{32920470-F086-4197-B6FE-12027DE25DCC}">
  <ds:schemaRefs>
    <ds:schemaRef ds:uri="Strauss.PersonalizationDefinition"/>
  </ds:schemaRefs>
</ds:datastoreItem>
</file>

<file path=customXml/itemProps37.xml><?xml version="1.0" encoding="utf-8"?>
<ds:datastoreItem xmlns:ds="http://schemas.openxmlformats.org/officeDocument/2006/customXml" ds:itemID="{E7EBEF02-C69B-46E0-B38A-E51611CE5254}">
  <ds:schemaRefs>
    <ds:schemaRef ds:uri="Strauss.PersonalizationDefinition"/>
  </ds:schemaRefs>
</ds:datastoreItem>
</file>

<file path=customXml/itemProps38.xml><?xml version="1.0" encoding="utf-8"?>
<ds:datastoreItem xmlns:ds="http://schemas.openxmlformats.org/officeDocument/2006/customXml" ds:itemID="{628127A0-F2C3-45C3-BB9F-5B29A6B848BE}">
  <ds:schemaRefs>
    <ds:schemaRef ds:uri="Strauss.PersonalizationDefinition"/>
  </ds:schemaRefs>
</ds:datastoreItem>
</file>

<file path=customXml/itemProps39.xml><?xml version="1.0" encoding="utf-8"?>
<ds:datastoreItem xmlns:ds="http://schemas.openxmlformats.org/officeDocument/2006/customXml" ds:itemID="{EF4AA5EB-A638-4D3A-B852-E71E18ED4953}">
  <ds:schemaRefs>
    <ds:schemaRef ds:uri="Strauss.PersonalizationDefinition"/>
  </ds:schemaRefs>
</ds:datastoreItem>
</file>

<file path=customXml/itemProps40.xml><?xml version="1.0" encoding="utf-8"?>
<ds:datastoreItem xmlns:ds="http://schemas.openxmlformats.org/officeDocument/2006/customXml" ds:itemID="{734F6CED-B619-41E0-BEDE-58B64D5F5EB2}">
  <ds:schemaRefs>
    <ds:schemaRef ds:uri="Strauss.PersonalizationDefinition"/>
  </ds:schemaRefs>
</ds:datastoreItem>
</file>

<file path=customXml/itemProps41.xml><?xml version="1.0" encoding="utf-8"?>
<ds:datastoreItem xmlns:ds="http://schemas.openxmlformats.org/officeDocument/2006/customXml" ds:itemID="{712108F3-86F2-4B95-AF2D-FE4E45965FCC}">
  <ds:schemaRefs>
    <ds:schemaRef ds:uri="Strauss.PersonalizationDefinition"/>
  </ds:schemaRefs>
</ds:datastoreItem>
</file>

<file path=customXml/itemProps42.xml><?xml version="1.0" encoding="utf-8"?>
<ds:datastoreItem xmlns:ds="http://schemas.openxmlformats.org/officeDocument/2006/customXml" ds:itemID="{4C485A9E-99A8-4277-BE90-E837A967DB2E}">
  <ds:schemaRefs>
    <ds:schemaRef ds:uri="Strauss.PersonalizationDefinition"/>
  </ds:schemaRefs>
</ds:datastoreItem>
</file>

<file path=customXml/itemProps43.xml><?xml version="1.0" encoding="utf-8"?>
<ds:datastoreItem xmlns:ds="http://schemas.openxmlformats.org/officeDocument/2006/customXml" ds:itemID="{D76C1D54-C31A-41C7-8796-37E3A885C9B9}">
  <ds:schemaRefs>
    <ds:schemaRef ds:uri="Strauss.PersonalizationDefinition"/>
  </ds:schemaRefs>
</ds:datastoreItem>
</file>

<file path=customXml/itemProps44.xml><?xml version="1.0" encoding="utf-8"?>
<ds:datastoreItem xmlns:ds="http://schemas.openxmlformats.org/officeDocument/2006/customXml" ds:itemID="{FBC13881-F2DC-4AA3-88C8-97C40CA1EBC7}">
  <ds:schemaRefs>
    <ds:schemaRef ds:uri="Strauss.PersonalizationDefinition"/>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Module_Template</Template>
  <TotalTime>9008</TotalTime>
  <Words>4584</Words>
  <Application>Microsoft Office PowerPoint</Application>
  <PresentationFormat>Widescreen</PresentationFormat>
  <Paragraphs>573</Paragraphs>
  <Slides>35</Slides>
  <Notes>30</Notes>
  <HiddenSlides>1</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White Template</vt:lpstr>
      <vt:lpstr>Azure Kubernetes Service (AKS) Storage </vt:lpstr>
      <vt:lpstr>Conditions and terms of use</vt:lpstr>
      <vt:lpstr>Learning Units covered  in this Module</vt:lpstr>
      <vt:lpstr>Core Kubernetes Storage Concepts</vt:lpstr>
      <vt:lpstr>Objectives </vt:lpstr>
      <vt:lpstr>Storage Concepts</vt:lpstr>
      <vt:lpstr>Ephemeral Volumes</vt:lpstr>
      <vt:lpstr>Persistent Volumes</vt:lpstr>
      <vt:lpstr>Persistent Volumes</vt:lpstr>
      <vt:lpstr>Persistent Volume Claim</vt:lpstr>
      <vt:lpstr>Storage Class</vt:lpstr>
      <vt:lpstr>Abstracting external storage using Volumes</vt:lpstr>
      <vt:lpstr>Basic Storage Options</vt:lpstr>
      <vt:lpstr>Ephemeral OS disks</vt:lpstr>
      <vt:lpstr>Disks, Files, Blobs, Storage Pools</vt:lpstr>
      <vt:lpstr>Legacy Storage Drivers</vt:lpstr>
      <vt:lpstr>Modern CSI Drivers</vt:lpstr>
      <vt:lpstr>Azure Disk</vt:lpstr>
      <vt:lpstr>Azure Disk – CSI Driver Example</vt:lpstr>
      <vt:lpstr>Azure Files (aka Azure SMB File Shares)</vt:lpstr>
      <vt:lpstr>Azure Files – CSI Driver Example</vt:lpstr>
      <vt:lpstr>Azure NetApp Files</vt:lpstr>
      <vt:lpstr>Azure Blob Storage</vt:lpstr>
      <vt:lpstr>Azure Blob Storage Example</vt:lpstr>
      <vt:lpstr>Azure NetApp Files or Azure Files?</vt:lpstr>
      <vt:lpstr>Azure Container Storage</vt:lpstr>
      <vt:lpstr>Azure Container Storage – The Elevator Pitch</vt:lpstr>
      <vt:lpstr>Common pain points</vt:lpstr>
      <vt:lpstr>Azure Container Storage</vt:lpstr>
      <vt:lpstr>Key benefits</vt:lpstr>
      <vt:lpstr>How do we do it?</vt:lpstr>
      <vt:lpstr>Using NVMe Local Storage </vt:lpstr>
      <vt:lpstr>Backing storage options</vt:lpstr>
      <vt:lpstr>Lab: Monitoring on AKS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WorkshopPLUS - Windows PowerShell: Foundation Skills</dc:title>
  <dc:creator>Mike O'Neill</dc:creator>
  <cp:lastModifiedBy>Andrew Albers</cp:lastModifiedBy>
  <cp:revision>85</cp:revision>
  <dcterms:created xsi:type="dcterms:W3CDTF">2019-02-08T20:09:46Z</dcterms:created>
  <dcterms:modified xsi:type="dcterms:W3CDTF">2025-09-08T18:32:56Z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mconeill@microsoft.com</vt:lpwstr>
  </property>
  <property fmtid="{D5CDD505-2E9C-101B-9397-08002B2CF9AE}" pid="5" name="MSIP_Label_f42aa342-8706-4288-bd11-ebb85995028c_SetDate">
    <vt:lpwstr>2019-02-08T20:18:02.6502176Z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c97fa254-6a58-4427-a7a7-d6af83db1ac5</vt:lpwstr>
  </property>
  <property fmtid="{D5CDD505-2E9C-101B-9397-08002B2CF9AE}" pid="9" name="MSIP_Label_f42aa342-8706-4288-bd11-ebb85995028c_Extended_MSFT_Method">
    <vt:lpwstr>Automatic</vt:lpwstr>
  </property>
  <property fmtid="{D5CDD505-2E9C-101B-9397-08002B2CF9AE}" pid="10" name="ContentTypeId">
    <vt:lpwstr>0x010100E69BC7A8EC74B74F8EB826872BF35821</vt:lpwstr>
  </property>
  <property fmtid="{D5CDD505-2E9C-101B-9397-08002B2CF9AE}" pid="11" name="_dlc_DocIdItemGuid">
    <vt:lpwstr>faeaa986-2e78-4567-bd40-f1286550cf24</vt:lpwstr>
  </property>
  <property fmtid="{D5CDD505-2E9C-101B-9397-08002B2CF9AE}" pid="12" name="MediaServiceImageTags">
    <vt:lpwstr/>
  </property>
  <property fmtid="{D5CDD505-2E9C-101B-9397-08002B2CF9AE}" pid="13" name="MSIP_Label_8aa191f1-c555-4a9e-8b3e-85ef51701160_Enabled">
    <vt:lpwstr>true</vt:lpwstr>
  </property>
  <property fmtid="{D5CDD505-2E9C-101B-9397-08002B2CF9AE}" pid="14" name="MSIP_Label_8aa191f1-c555-4a9e-8b3e-85ef51701160_SetDate">
    <vt:lpwstr>2021-11-23T16:30:11Z</vt:lpwstr>
  </property>
  <property fmtid="{D5CDD505-2E9C-101B-9397-08002B2CF9AE}" pid="15" name="MSIP_Label_8aa191f1-c555-4a9e-8b3e-85ef51701160_Method">
    <vt:lpwstr>Standard</vt:lpwstr>
  </property>
  <property fmtid="{D5CDD505-2E9C-101B-9397-08002B2CF9AE}" pid="16" name="MSIP_Label_8aa191f1-c555-4a9e-8b3e-85ef51701160_Name">
    <vt:lpwstr>Confidential</vt:lpwstr>
  </property>
  <property fmtid="{D5CDD505-2E9C-101B-9397-08002B2CF9AE}" pid="17" name="MSIP_Label_8aa191f1-c555-4a9e-8b3e-85ef51701160_SiteId">
    <vt:lpwstr>a57507b2-d296-4dca-a9ae-67b1484e02a9</vt:lpwstr>
  </property>
  <property fmtid="{D5CDD505-2E9C-101B-9397-08002B2CF9AE}" pid="18" name="MSIP_Label_8aa191f1-c555-4a9e-8b3e-85ef51701160_ActionId">
    <vt:lpwstr>75c8a85a-1c6e-478a-ae68-029fd0558de5</vt:lpwstr>
  </property>
  <property fmtid="{D5CDD505-2E9C-101B-9397-08002B2CF9AE}" pid="19" name="MSIP_Label_8aa191f1-c555-4a9e-8b3e-85ef51701160_ContentBits">
    <vt:lpwstr>0</vt:lpwstr>
  </property>
  <property fmtid="{D5CDD505-2E9C-101B-9397-08002B2CF9AE}" pid="20" name="Order">
    <vt:r8>25243400</vt:r8>
  </property>
  <property fmtid="{D5CDD505-2E9C-101B-9397-08002B2CF9AE}" pid="21" name="Lead Signoff">
    <vt:bool>false</vt:bool>
  </property>
  <property fmtid="{D5CDD505-2E9C-101B-9397-08002B2CF9AE}" pid="22" name="Title URL">
    <vt:lpwstr>, </vt:lpwstr>
  </property>
  <property fmtid="{D5CDD505-2E9C-101B-9397-08002B2CF9AE}" pid="23" name="xd_Signature">
    <vt:bool>false</vt:bool>
  </property>
  <property fmtid="{D5CDD505-2E9C-101B-9397-08002B2CF9AE}" pid="24" name="xd_ProgID">
    <vt:lpwstr/>
  </property>
  <property fmtid="{D5CDD505-2E9C-101B-9397-08002B2CF9AE}" pid="25" name="_SourceUrl">
    <vt:lpwstr/>
  </property>
  <property fmtid="{D5CDD505-2E9C-101B-9397-08002B2CF9AE}" pid="26" name="_SharedFileIndex">
    <vt:lpwstr/>
  </property>
  <property fmtid="{D5CDD505-2E9C-101B-9397-08002B2CF9AE}" pid="27" name="ComplianceAssetId">
    <vt:lpwstr/>
  </property>
  <property fmtid="{D5CDD505-2E9C-101B-9397-08002B2CF9AE}" pid="28" name="TemplateUrl">
    <vt:lpwstr/>
  </property>
  <property fmtid="{D5CDD505-2E9C-101B-9397-08002B2CF9AE}" pid="29" name="State">
    <vt:lpwstr>Open</vt:lpwstr>
  </property>
  <property fmtid="{D5CDD505-2E9C-101B-9397-08002B2CF9AE}" pid="30" name="_ExtendedDescription">
    <vt:lpwstr/>
  </property>
  <property fmtid="{D5CDD505-2E9C-101B-9397-08002B2CF9AE}" pid="31" name="TriggerFlowInfo">
    <vt:lpwstr/>
  </property>
  <property fmtid="{D5CDD505-2E9C-101B-9397-08002B2CF9AE}" pid="32" name="Mail Sent">
    <vt:bool>false</vt:bool>
  </property>
</Properties>
</file>