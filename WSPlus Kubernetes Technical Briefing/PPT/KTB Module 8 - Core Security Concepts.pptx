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1.xml" ContentType="application/vnd.openxmlformats-officedocument.presentationml.tags+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50"/>
  </p:sldMasterIdLst>
  <p:notesMasterIdLst>
    <p:notesMasterId r:id="rId78"/>
  </p:notesMasterIdLst>
  <p:sldIdLst>
    <p:sldId id="256" r:id="rId51"/>
    <p:sldId id="257" r:id="rId52"/>
    <p:sldId id="2147469889" r:id="rId53"/>
    <p:sldId id="2147469909" r:id="rId54"/>
    <p:sldId id="2147469910" r:id="rId55"/>
    <p:sldId id="2147469911" r:id="rId56"/>
    <p:sldId id="2147469912" r:id="rId57"/>
    <p:sldId id="2147469913" r:id="rId58"/>
    <p:sldId id="2147469914" r:id="rId59"/>
    <p:sldId id="2147469915" r:id="rId60"/>
    <p:sldId id="2147469916" r:id="rId61"/>
    <p:sldId id="2147469917" r:id="rId62"/>
    <p:sldId id="2147469918" r:id="rId63"/>
    <p:sldId id="2147469919" r:id="rId64"/>
    <p:sldId id="2147469920" r:id="rId65"/>
    <p:sldId id="2147469921" r:id="rId66"/>
    <p:sldId id="2147469922" r:id="rId67"/>
    <p:sldId id="2147469923" r:id="rId68"/>
    <p:sldId id="2147469924" r:id="rId69"/>
    <p:sldId id="2147469931" r:id="rId70"/>
    <p:sldId id="2147469932" r:id="rId71"/>
    <p:sldId id="2147469936" r:id="rId72"/>
    <p:sldId id="2147469933" r:id="rId73"/>
    <p:sldId id="2147469935" r:id="rId74"/>
    <p:sldId id="2076138618" r:id="rId75"/>
    <p:sldId id="2147469934" r:id="rId76"/>
    <p:sldId id="2147469930" r:id="rId77"/>
  </p:sldIdLst>
  <p:sldSz cx="12192000" cy="6858000"/>
  <p:notesSz cx="6858000" cy="9144000"/>
  <p:custDataLst>
    <p:tags r:id="rId7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38B441-A14C-C76B-5DFA-C10E1EC0C25E}" v="55" dt="2025-09-08T19:12:47.827"/>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95" autoAdjust="0"/>
  </p:normalViewPr>
  <p:slideViewPr>
    <p:cSldViewPr snapToGrid="0">
      <p:cViewPr varScale="1">
        <p:scale>
          <a:sx n="80" d="100"/>
          <a:sy n="80" d="100"/>
        </p:scale>
        <p:origin x="116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slide" Target="slides/slide13.xml"/><Relationship Id="rId68" Type="http://schemas.openxmlformats.org/officeDocument/2006/relationships/slide" Target="slides/slide18.xml"/><Relationship Id="rId84" Type="http://schemas.openxmlformats.org/officeDocument/2006/relationships/tableStyles" Target="tableStyle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3.xml"/><Relationship Id="rId58" Type="http://schemas.openxmlformats.org/officeDocument/2006/relationships/slide" Target="slides/slide8.xml"/><Relationship Id="rId74" Type="http://schemas.openxmlformats.org/officeDocument/2006/relationships/slide" Target="slides/slide24.xml"/><Relationship Id="rId79" Type="http://schemas.openxmlformats.org/officeDocument/2006/relationships/tags" Target="tags/tag1.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slide" Target="slides/slide6.xml"/><Relationship Id="rId64" Type="http://schemas.openxmlformats.org/officeDocument/2006/relationships/slide" Target="slides/slide14.xml"/><Relationship Id="rId69" Type="http://schemas.openxmlformats.org/officeDocument/2006/relationships/slide" Target="slides/slide19.xml"/><Relationship Id="rId77" Type="http://schemas.openxmlformats.org/officeDocument/2006/relationships/slide" Target="slides/slide27.xml"/><Relationship Id="rId8" Type="http://schemas.openxmlformats.org/officeDocument/2006/relationships/customXml" Target="../customXml/item8.xml"/><Relationship Id="rId51" Type="http://schemas.openxmlformats.org/officeDocument/2006/relationships/slide" Target="slides/slide1.xml"/><Relationship Id="rId72" Type="http://schemas.openxmlformats.org/officeDocument/2006/relationships/slide" Target="slides/slide22.xml"/><Relationship Id="rId80" Type="http://schemas.openxmlformats.org/officeDocument/2006/relationships/commentAuthors" Target="commentAuthors.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 Target="slides/slide9.xml"/><Relationship Id="rId67" Type="http://schemas.openxmlformats.org/officeDocument/2006/relationships/slide" Target="slides/slide17.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4.xml"/><Relationship Id="rId62" Type="http://schemas.openxmlformats.org/officeDocument/2006/relationships/slide" Target="slides/slide12.xml"/><Relationship Id="rId70" Type="http://schemas.openxmlformats.org/officeDocument/2006/relationships/slide" Target="slides/slide20.xml"/><Relationship Id="rId75" Type="http://schemas.openxmlformats.org/officeDocument/2006/relationships/slide" Target="slides/slide25.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slide" Target="slides/slide7.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slide" Target="slides/slide2.xml"/><Relationship Id="rId60" Type="http://schemas.openxmlformats.org/officeDocument/2006/relationships/slide" Target="slides/slide10.xml"/><Relationship Id="rId65" Type="http://schemas.openxmlformats.org/officeDocument/2006/relationships/slide" Target="slides/slide15.xml"/><Relationship Id="rId73" Type="http://schemas.openxmlformats.org/officeDocument/2006/relationships/slide" Target="slides/slide23.xml"/><Relationship Id="rId78" Type="http://schemas.openxmlformats.org/officeDocument/2006/relationships/notesMaster" Target="notesMasters/notesMaster1.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Master" Target="slideMasters/slideMaster1.xml"/><Relationship Id="rId55" Type="http://schemas.openxmlformats.org/officeDocument/2006/relationships/slide" Target="slides/slide5.xml"/><Relationship Id="rId76" Type="http://schemas.openxmlformats.org/officeDocument/2006/relationships/slide" Target="slides/slide26.xml"/><Relationship Id="rId7" Type="http://schemas.openxmlformats.org/officeDocument/2006/relationships/customXml" Target="../customXml/item7.xml"/><Relationship Id="rId71" Type="http://schemas.openxmlformats.org/officeDocument/2006/relationships/slide" Target="slides/slide21.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slide" Target="slides/slide16.xml"/><Relationship Id="rId87" Type="http://schemas.microsoft.com/office/2018/10/relationships/authors" Target="authors.xml"/><Relationship Id="rId61" Type="http://schemas.openxmlformats.org/officeDocument/2006/relationships/slide" Target="slides/slide11.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Albers" userId="S::andrewalbers@microsoft.com::05a0db6f-a93d-4086-9310-e241c2ed23ed" providerId="AD" clId="Web-{C038B441-A14C-C76B-5DFA-C10E1EC0C25E}"/>
    <pc:docChg chg="delSld">
      <pc:chgData name="Andrew Albers" userId="S::andrewalbers@microsoft.com::05a0db6f-a93d-4086-9310-e241c2ed23ed" providerId="AD" clId="Web-{C038B441-A14C-C76B-5DFA-C10E1EC0C25E}" dt="2025-09-08T19:12:47.827" v="54"/>
      <pc:docMkLst>
        <pc:docMk/>
      </pc:docMkLst>
      <pc:sldChg chg="del">
        <pc:chgData name="Andrew Albers" userId="S::andrewalbers@microsoft.com::05a0db6f-a93d-4086-9310-e241c2ed23ed" providerId="AD" clId="Web-{C038B441-A14C-C76B-5DFA-C10E1EC0C25E}" dt="2025-09-08T19:12:47.812" v="51"/>
        <pc:sldMkLst>
          <pc:docMk/>
          <pc:sldMk cId="1635881331" sldId="259"/>
        </pc:sldMkLst>
      </pc:sldChg>
      <pc:sldChg chg="del">
        <pc:chgData name="Andrew Albers" userId="S::andrewalbers@microsoft.com::05a0db6f-a93d-4086-9310-e241c2ed23ed" providerId="AD" clId="Web-{C038B441-A14C-C76B-5DFA-C10E1EC0C25E}" dt="2025-09-08T19:12:47.796" v="48"/>
        <pc:sldMkLst>
          <pc:docMk/>
          <pc:sldMk cId="2379444036" sldId="262"/>
        </pc:sldMkLst>
      </pc:sldChg>
      <pc:sldChg chg="del">
        <pc:chgData name="Andrew Albers" userId="S::andrewalbers@microsoft.com::05a0db6f-a93d-4086-9310-e241c2ed23ed" providerId="AD" clId="Web-{C038B441-A14C-C76B-5DFA-C10E1EC0C25E}" dt="2025-09-08T19:12:47.780" v="42"/>
        <pc:sldMkLst>
          <pc:docMk/>
          <pc:sldMk cId="1385431110" sldId="263"/>
        </pc:sldMkLst>
      </pc:sldChg>
      <pc:sldChg chg="del">
        <pc:chgData name="Andrew Albers" userId="S::andrewalbers@microsoft.com::05a0db6f-a93d-4086-9310-e241c2ed23ed" providerId="AD" clId="Web-{C038B441-A14C-C76B-5DFA-C10E1EC0C25E}" dt="2025-09-08T19:12:47.780" v="41"/>
        <pc:sldMkLst>
          <pc:docMk/>
          <pc:sldMk cId="3996308554" sldId="264"/>
        </pc:sldMkLst>
      </pc:sldChg>
      <pc:sldChg chg="del">
        <pc:chgData name="Andrew Albers" userId="S::andrewalbers@microsoft.com::05a0db6f-a93d-4086-9310-e241c2ed23ed" providerId="AD" clId="Web-{C038B441-A14C-C76B-5DFA-C10E1EC0C25E}" dt="2025-09-08T19:12:47.780" v="38"/>
        <pc:sldMkLst>
          <pc:docMk/>
          <pc:sldMk cId="4145703054" sldId="265"/>
        </pc:sldMkLst>
      </pc:sldChg>
      <pc:sldChg chg="del">
        <pc:chgData name="Andrew Albers" userId="S::andrewalbers@microsoft.com::05a0db6f-a93d-4086-9310-e241c2ed23ed" providerId="AD" clId="Web-{C038B441-A14C-C76B-5DFA-C10E1EC0C25E}" dt="2025-09-08T19:12:47.780" v="39"/>
        <pc:sldMkLst>
          <pc:docMk/>
          <pc:sldMk cId="3977638465" sldId="266"/>
        </pc:sldMkLst>
      </pc:sldChg>
      <pc:sldChg chg="del">
        <pc:chgData name="Andrew Albers" userId="S::andrewalbers@microsoft.com::05a0db6f-a93d-4086-9310-e241c2ed23ed" providerId="AD" clId="Web-{C038B441-A14C-C76B-5DFA-C10E1EC0C25E}" dt="2025-09-08T19:12:47.796" v="45"/>
        <pc:sldMkLst>
          <pc:docMk/>
          <pc:sldMk cId="1660683684" sldId="272"/>
        </pc:sldMkLst>
      </pc:sldChg>
      <pc:sldChg chg="del">
        <pc:chgData name="Andrew Albers" userId="S::andrewalbers@microsoft.com::05a0db6f-a93d-4086-9310-e241c2ed23ed" providerId="AD" clId="Web-{C038B441-A14C-C76B-5DFA-C10E1EC0C25E}" dt="2025-09-08T19:12:47.812" v="49"/>
        <pc:sldMkLst>
          <pc:docMk/>
          <pc:sldMk cId="2901160637" sldId="274"/>
        </pc:sldMkLst>
      </pc:sldChg>
      <pc:sldChg chg="del">
        <pc:chgData name="Andrew Albers" userId="S::andrewalbers@microsoft.com::05a0db6f-a93d-4086-9310-e241c2ed23ed" providerId="AD" clId="Web-{C038B441-A14C-C76B-5DFA-C10E1EC0C25E}" dt="2025-09-08T19:12:47.796" v="43"/>
        <pc:sldMkLst>
          <pc:docMk/>
          <pc:sldMk cId="2658098196" sldId="277"/>
        </pc:sldMkLst>
      </pc:sldChg>
      <pc:sldChg chg="del">
        <pc:chgData name="Andrew Albers" userId="S::andrewalbers@microsoft.com::05a0db6f-a93d-4086-9310-e241c2ed23ed" providerId="AD" clId="Web-{C038B441-A14C-C76B-5DFA-C10E1EC0C25E}" dt="2025-09-08T19:12:47.796" v="46"/>
        <pc:sldMkLst>
          <pc:docMk/>
          <pc:sldMk cId="2079012354" sldId="279"/>
        </pc:sldMkLst>
      </pc:sldChg>
      <pc:sldChg chg="del">
        <pc:chgData name="Andrew Albers" userId="S::andrewalbers@microsoft.com::05a0db6f-a93d-4086-9310-e241c2ed23ed" providerId="AD" clId="Web-{C038B441-A14C-C76B-5DFA-C10E1EC0C25E}" dt="2025-09-08T19:12:47.780" v="40"/>
        <pc:sldMkLst>
          <pc:docMk/>
          <pc:sldMk cId="984083080" sldId="280"/>
        </pc:sldMkLst>
      </pc:sldChg>
      <pc:sldChg chg="del">
        <pc:chgData name="Andrew Albers" userId="S::andrewalbers@microsoft.com::05a0db6f-a93d-4086-9310-e241c2ed23ed" providerId="AD" clId="Web-{C038B441-A14C-C76B-5DFA-C10E1EC0C25E}" dt="2025-09-08T19:12:47.687" v="10"/>
        <pc:sldMkLst>
          <pc:docMk/>
          <pc:sldMk cId="596524640" sldId="2065"/>
        </pc:sldMkLst>
      </pc:sldChg>
      <pc:sldChg chg="del">
        <pc:chgData name="Andrew Albers" userId="S::andrewalbers@microsoft.com::05a0db6f-a93d-4086-9310-e241c2ed23ed" providerId="AD" clId="Web-{C038B441-A14C-C76B-5DFA-C10E1EC0C25E}" dt="2025-09-08T19:12:47.687" v="12"/>
        <pc:sldMkLst>
          <pc:docMk/>
          <pc:sldMk cId="1398734143" sldId="2066"/>
        </pc:sldMkLst>
      </pc:sldChg>
      <pc:sldChg chg="del">
        <pc:chgData name="Andrew Albers" userId="S::andrewalbers@microsoft.com::05a0db6f-a93d-4086-9310-e241c2ed23ed" providerId="AD" clId="Web-{C038B441-A14C-C76B-5DFA-C10E1EC0C25E}" dt="2025-09-08T19:12:47.687" v="14"/>
        <pc:sldMkLst>
          <pc:docMk/>
          <pc:sldMk cId="2382552501" sldId="4478"/>
        </pc:sldMkLst>
      </pc:sldChg>
      <pc:sldChg chg="del">
        <pc:chgData name="Andrew Albers" userId="S::andrewalbers@microsoft.com::05a0db6f-a93d-4086-9310-e241c2ed23ed" providerId="AD" clId="Web-{C038B441-A14C-C76B-5DFA-C10E1EC0C25E}" dt="2025-09-08T19:12:47.702" v="15"/>
        <pc:sldMkLst>
          <pc:docMk/>
          <pc:sldMk cId="1168219790" sldId="4479"/>
        </pc:sldMkLst>
      </pc:sldChg>
      <pc:sldChg chg="del">
        <pc:chgData name="Andrew Albers" userId="S::andrewalbers@microsoft.com::05a0db6f-a93d-4086-9310-e241c2ed23ed" providerId="AD" clId="Web-{C038B441-A14C-C76B-5DFA-C10E1EC0C25E}" dt="2025-09-08T19:12:47.702" v="16"/>
        <pc:sldMkLst>
          <pc:docMk/>
          <pc:sldMk cId="2297312889" sldId="4480"/>
        </pc:sldMkLst>
      </pc:sldChg>
      <pc:sldChg chg="del">
        <pc:chgData name="Andrew Albers" userId="S::andrewalbers@microsoft.com::05a0db6f-a93d-4086-9310-e241c2ed23ed" providerId="AD" clId="Web-{C038B441-A14C-C76B-5DFA-C10E1EC0C25E}" dt="2025-09-08T19:12:47.702" v="17"/>
        <pc:sldMkLst>
          <pc:docMk/>
          <pc:sldMk cId="695900476" sldId="4481"/>
        </pc:sldMkLst>
      </pc:sldChg>
      <pc:sldChg chg="del">
        <pc:chgData name="Andrew Albers" userId="S::andrewalbers@microsoft.com::05a0db6f-a93d-4086-9310-e241c2ed23ed" providerId="AD" clId="Web-{C038B441-A14C-C76B-5DFA-C10E1EC0C25E}" dt="2025-09-08T19:12:47.702" v="18"/>
        <pc:sldMkLst>
          <pc:docMk/>
          <pc:sldMk cId="1028115571" sldId="4482"/>
        </pc:sldMkLst>
      </pc:sldChg>
      <pc:sldChg chg="del">
        <pc:chgData name="Andrew Albers" userId="S::andrewalbers@microsoft.com::05a0db6f-a93d-4086-9310-e241c2ed23ed" providerId="AD" clId="Web-{C038B441-A14C-C76B-5DFA-C10E1EC0C25E}" dt="2025-09-08T19:12:47.702" v="19"/>
        <pc:sldMkLst>
          <pc:docMk/>
          <pc:sldMk cId="644073378" sldId="4483"/>
        </pc:sldMkLst>
      </pc:sldChg>
      <pc:sldChg chg="del">
        <pc:chgData name="Andrew Albers" userId="S::andrewalbers@microsoft.com::05a0db6f-a93d-4086-9310-e241c2ed23ed" providerId="AD" clId="Web-{C038B441-A14C-C76B-5DFA-C10E1EC0C25E}" dt="2025-09-08T19:12:47.702" v="20"/>
        <pc:sldMkLst>
          <pc:docMk/>
          <pc:sldMk cId="239421901" sldId="4484"/>
        </pc:sldMkLst>
      </pc:sldChg>
      <pc:sldChg chg="del">
        <pc:chgData name="Andrew Albers" userId="S::andrewalbers@microsoft.com::05a0db6f-a93d-4086-9310-e241c2ed23ed" providerId="AD" clId="Web-{C038B441-A14C-C76B-5DFA-C10E1EC0C25E}" dt="2025-09-08T19:12:47.702" v="21"/>
        <pc:sldMkLst>
          <pc:docMk/>
          <pc:sldMk cId="1500392918" sldId="4485"/>
        </pc:sldMkLst>
      </pc:sldChg>
      <pc:sldChg chg="del">
        <pc:chgData name="Andrew Albers" userId="S::andrewalbers@microsoft.com::05a0db6f-a93d-4086-9310-e241c2ed23ed" providerId="AD" clId="Web-{C038B441-A14C-C76B-5DFA-C10E1EC0C25E}" dt="2025-09-08T19:12:47.702" v="22"/>
        <pc:sldMkLst>
          <pc:docMk/>
          <pc:sldMk cId="3907173977" sldId="4486"/>
        </pc:sldMkLst>
      </pc:sldChg>
      <pc:sldChg chg="del">
        <pc:chgData name="Andrew Albers" userId="S::andrewalbers@microsoft.com::05a0db6f-a93d-4086-9310-e241c2ed23ed" providerId="AD" clId="Web-{C038B441-A14C-C76B-5DFA-C10E1EC0C25E}" dt="2025-09-08T19:12:47.718" v="23"/>
        <pc:sldMkLst>
          <pc:docMk/>
          <pc:sldMk cId="44891446" sldId="4490"/>
        </pc:sldMkLst>
      </pc:sldChg>
      <pc:sldChg chg="del">
        <pc:chgData name="Andrew Albers" userId="S::andrewalbers@microsoft.com::05a0db6f-a93d-4086-9310-e241c2ed23ed" providerId="AD" clId="Web-{C038B441-A14C-C76B-5DFA-C10E1EC0C25E}" dt="2025-09-08T19:12:47.734" v="25"/>
        <pc:sldMkLst>
          <pc:docMk/>
          <pc:sldMk cId="61196204" sldId="2147469784"/>
        </pc:sldMkLst>
      </pc:sldChg>
      <pc:sldChg chg="del">
        <pc:chgData name="Andrew Albers" userId="S::andrewalbers@microsoft.com::05a0db6f-a93d-4086-9310-e241c2ed23ed" providerId="AD" clId="Web-{C038B441-A14C-C76B-5DFA-C10E1EC0C25E}" dt="2025-09-08T19:12:47.671" v="7"/>
        <pc:sldMkLst>
          <pc:docMk/>
          <pc:sldMk cId="615209057" sldId="2147469785"/>
        </pc:sldMkLst>
      </pc:sldChg>
      <pc:sldChg chg="del">
        <pc:chgData name="Andrew Albers" userId="S::andrewalbers@microsoft.com::05a0db6f-a93d-4086-9310-e241c2ed23ed" providerId="AD" clId="Web-{C038B441-A14C-C76B-5DFA-C10E1EC0C25E}" dt="2025-09-08T19:12:47.671" v="6"/>
        <pc:sldMkLst>
          <pc:docMk/>
          <pc:sldMk cId="3320859369" sldId="2147469786"/>
        </pc:sldMkLst>
      </pc:sldChg>
      <pc:sldChg chg="del">
        <pc:chgData name="Andrew Albers" userId="S::andrewalbers@microsoft.com::05a0db6f-a93d-4086-9310-e241c2ed23ed" providerId="AD" clId="Web-{C038B441-A14C-C76B-5DFA-C10E1EC0C25E}" dt="2025-09-08T19:12:47.655" v="5"/>
        <pc:sldMkLst>
          <pc:docMk/>
          <pc:sldMk cId="793519299" sldId="2147469787"/>
        </pc:sldMkLst>
      </pc:sldChg>
      <pc:sldChg chg="del">
        <pc:chgData name="Andrew Albers" userId="S::andrewalbers@microsoft.com::05a0db6f-a93d-4086-9310-e241c2ed23ed" providerId="AD" clId="Web-{C038B441-A14C-C76B-5DFA-C10E1EC0C25E}" dt="2025-09-08T19:12:47.655" v="4"/>
        <pc:sldMkLst>
          <pc:docMk/>
          <pc:sldMk cId="1750121600" sldId="2147469788"/>
        </pc:sldMkLst>
      </pc:sldChg>
      <pc:sldChg chg="del">
        <pc:chgData name="Andrew Albers" userId="S::andrewalbers@microsoft.com::05a0db6f-a93d-4086-9310-e241c2ed23ed" providerId="AD" clId="Web-{C038B441-A14C-C76B-5DFA-C10E1EC0C25E}" dt="2025-09-08T19:12:47.687" v="11"/>
        <pc:sldMkLst>
          <pc:docMk/>
          <pc:sldMk cId="3457369424" sldId="2147469790"/>
        </pc:sldMkLst>
      </pc:sldChg>
      <pc:sldChg chg="del">
        <pc:chgData name="Andrew Albers" userId="S::andrewalbers@microsoft.com::05a0db6f-a93d-4086-9310-e241c2ed23ed" providerId="AD" clId="Web-{C038B441-A14C-C76B-5DFA-C10E1EC0C25E}" dt="2025-09-08T19:12:47.655" v="3"/>
        <pc:sldMkLst>
          <pc:docMk/>
          <pc:sldMk cId="4064413298" sldId="2147469792"/>
        </pc:sldMkLst>
      </pc:sldChg>
      <pc:sldChg chg="del">
        <pc:chgData name="Andrew Albers" userId="S::andrewalbers@microsoft.com::05a0db6f-a93d-4086-9310-e241c2ed23ed" providerId="AD" clId="Web-{C038B441-A14C-C76B-5DFA-C10E1EC0C25E}" dt="2025-09-08T19:12:47.655" v="2"/>
        <pc:sldMkLst>
          <pc:docMk/>
          <pc:sldMk cId="682416994" sldId="2147469794"/>
        </pc:sldMkLst>
      </pc:sldChg>
      <pc:sldChg chg="del">
        <pc:chgData name="Andrew Albers" userId="S::andrewalbers@microsoft.com::05a0db6f-a93d-4086-9310-e241c2ed23ed" providerId="AD" clId="Web-{C038B441-A14C-C76B-5DFA-C10E1EC0C25E}" dt="2025-09-08T19:12:47.734" v="24"/>
        <pc:sldMkLst>
          <pc:docMk/>
          <pc:sldMk cId="3788446741" sldId="2147469798"/>
        </pc:sldMkLst>
      </pc:sldChg>
      <pc:sldChg chg="del">
        <pc:chgData name="Andrew Albers" userId="S::andrewalbers@microsoft.com::05a0db6f-a93d-4086-9310-e241c2ed23ed" providerId="AD" clId="Web-{C038B441-A14C-C76B-5DFA-C10E1EC0C25E}" dt="2025-09-08T19:12:47.655" v="1"/>
        <pc:sldMkLst>
          <pc:docMk/>
          <pc:sldMk cId="859227491" sldId="2147469835"/>
        </pc:sldMkLst>
      </pc:sldChg>
      <pc:sldChg chg="del">
        <pc:chgData name="Andrew Albers" userId="S::andrewalbers@microsoft.com::05a0db6f-a93d-4086-9310-e241c2ed23ed" providerId="AD" clId="Web-{C038B441-A14C-C76B-5DFA-C10E1EC0C25E}" dt="2025-09-08T19:12:47.640" v="0"/>
        <pc:sldMkLst>
          <pc:docMk/>
          <pc:sldMk cId="3304016034" sldId="2147469836"/>
        </pc:sldMkLst>
      </pc:sldChg>
      <pc:sldChg chg="del">
        <pc:chgData name="Andrew Albers" userId="S::andrewalbers@microsoft.com::05a0db6f-a93d-4086-9310-e241c2ed23ed" providerId="AD" clId="Web-{C038B441-A14C-C76B-5DFA-C10E1EC0C25E}" dt="2025-09-08T19:12:47.765" v="32"/>
        <pc:sldMkLst>
          <pc:docMk/>
          <pc:sldMk cId="3906565222" sldId="2147469849"/>
        </pc:sldMkLst>
      </pc:sldChg>
      <pc:sldChg chg="del">
        <pc:chgData name="Andrew Albers" userId="S::andrewalbers@microsoft.com::05a0db6f-a93d-4086-9310-e241c2ed23ed" providerId="AD" clId="Web-{C038B441-A14C-C76B-5DFA-C10E1EC0C25E}" dt="2025-09-08T19:12:47.765" v="34"/>
        <pc:sldMkLst>
          <pc:docMk/>
          <pc:sldMk cId="3833674747" sldId="2147469853"/>
        </pc:sldMkLst>
      </pc:sldChg>
      <pc:sldChg chg="del">
        <pc:chgData name="Andrew Albers" userId="S::andrewalbers@microsoft.com::05a0db6f-a93d-4086-9310-e241c2ed23ed" providerId="AD" clId="Web-{C038B441-A14C-C76B-5DFA-C10E1EC0C25E}" dt="2025-09-08T19:12:47.765" v="33"/>
        <pc:sldMkLst>
          <pc:docMk/>
          <pc:sldMk cId="3096303819" sldId="2147469859"/>
        </pc:sldMkLst>
      </pc:sldChg>
      <pc:sldChg chg="del">
        <pc:chgData name="Andrew Albers" userId="S::andrewalbers@microsoft.com::05a0db6f-a93d-4086-9310-e241c2ed23ed" providerId="AD" clId="Web-{C038B441-A14C-C76B-5DFA-C10E1EC0C25E}" dt="2025-09-08T19:12:47.687" v="9"/>
        <pc:sldMkLst>
          <pc:docMk/>
          <pc:sldMk cId="3358395208" sldId="2147469864"/>
        </pc:sldMkLst>
      </pc:sldChg>
      <pc:sldChg chg="del">
        <pc:chgData name="Andrew Albers" userId="S::andrewalbers@microsoft.com::05a0db6f-a93d-4086-9310-e241c2ed23ed" providerId="AD" clId="Web-{C038B441-A14C-C76B-5DFA-C10E1EC0C25E}" dt="2025-09-08T19:12:47.749" v="28"/>
        <pc:sldMkLst>
          <pc:docMk/>
          <pc:sldMk cId="1590938168" sldId="2147469867"/>
        </pc:sldMkLst>
      </pc:sldChg>
      <pc:sldChg chg="del">
        <pc:chgData name="Andrew Albers" userId="S::andrewalbers@microsoft.com::05a0db6f-a93d-4086-9310-e241c2ed23ed" providerId="AD" clId="Web-{C038B441-A14C-C76B-5DFA-C10E1EC0C25E}" dt="2025-09-08T19:12:47.671" v="8"/>
        <pc:sldMkLst>
          <pc:docMk/>
          <pc:sldMk cId="591597269" sldId="2147469868"/>
        </pc:sldMkLst>
      </pc:sldChg>
      <pc:sldChg chg="del">
        <pc:chgData name="Andrew Albers" userId="S::andrewalbers@microsoft.com::05a0db6f-a93d-4086-9310-e241c2ed23ed" providerId="AD" clId="Web-{C038B441-A14C-C76B-5DFA-C10E1EC0C25E}" dt="2025-09-08T19:12:47.749" v="29"/>
        <pc:sldMkLst>
          <pc:docMk/>
          <pc:sldMk cId="4015218864" sldId="2147469872"/>
        </pc:sldMkLst>
      </pc:sldChg>
      <pc:sldChg chg="del">
        <pc:chgData name="Andrew Albers" userId="S::andrewalbers@microsoft.com::05a0db6f-a93d-4086-9310-e241c2ed23ed" providerId="AD" clId="Web-{C038B441-A14C-C76B-5DFA-C10E1EC0C25E}" dt="2025-09-08T19:12:47.734" v="27"/>
        <pc:sldMkLst>
          <pc:docMk/>
          <pc:sldMk cId="2635820762" sldId="2147469873"/>
        </pc:sldMkLst>
      </pc:sldChg>
      <pc:sldChg chg="del">
        <pc:chgData name="Andrew Albers" userId="S::andrewalbers@microsoft.com::05a0db6f-a93d-4086-9310-e241c2ed23ed" providerId="AD" clId="Web-{C038B441-A14C-C76B-5DFA-C10E1EC0C25E}" dt="2025-09-08T19:12:47.749" v="30"/>
        <pc:sldMkLst>
          <pc:docMk/>
          <pc:sldMk cId="2235235484" sldId="2147469875"/>
        </pc:sldMkLst>
      </pc:sldChg>
      <pc:sldChg chg="del">
        <pc:chgData name="Andrew Albers" userId="S::andrewalbers@microsoft.com::05a0db6f-a93d-4086-9310-e241c2ed23ed" providerId="AD" clId="Web-{C038B441-A14C-C76B-5DFA-C10E1EC0C25E}" dt="2025-09-08T19:12:47.749" v="31"/>
        <pc:sldMkLst>
          <pc:docMk/>
          <pc:sldMk cId="1497532563" sldId="2147469876"/>
        </pc:sldMkLst>
      </pc:sldChg>
      <pc:sldChg chg="del">
        <pc:chgData name="Andrew Albers" userId="S::andrewalbers@microsoft.com::05a0db6f-a93d-4086-9310-e241c2ed23ed" providerId="AD" clId="Web-{C038B441-A14C-C76B-5DFA-C10E1EC0C25E}" dt="2025-09-08T19:12:47.765" v="36"/>
        <pc:sldMkLst>
          <pc:docMk/>
          <pc:sldMk cId="522795473" sldId="2147469885"/>
        </pc:sldMkLst>
      </pc:sldChg>
      <pc:sldChg chg="del">
        <pc:chgData name="Andrew Albers" userId="S::andrewalbers@microsoft.com::05a0db6f-a93d-4086-9310-e241c2ed23ed" providerId="AD" clId="Web-{C038B441-A14C-C76B-5DFA-C10E1EC0C25E}" dt="2025-09-08T19:12:47.765" v="35"/>
        <pc:sldMkLst>
          <pc:docMk/>
          <pc:sldMk cId="1952507436" sldId="2147469886"/>
        </pc:sldMkLst>
      </pc:sldChg>
      <pc:sldChg chg="del">
        <pc:chgData name="Andrew Albers" userId="S::andrewalbers@microsoft.com::05a0db6f-a93d-4086-9310-e241c2ed23ed" providerId="AD" clId="Web-{C038B441-A14C-C76B-5DFA-C10E1EC0C25E}" dt="2025-09-08T19:12:47.734" v="26"/>
        <pc:sldMkLst>
          <pc:docMk/>
          <pc:sldMk cId="3592306970" sldId="2147469887"/>
        </pc:sldMkLst>
      </pc:sldChg>
      <pc:sldChg chg="del">
        <pc:chgData name="Andrew Albers" userId="S::andrewalbers@microsoft.com::05a0db6f-a93d-4086-9310-e241c2ed23ed" providerId="AD" clId="Web-{C038B441-A14C-C76B-5DFA-C10E1EC0C25E}" dt="2025-09-08T19:12:47.780" v="37"/>
        <pc:sldMkLst>
          <pc:docMk/>
          <pc:sldMk cId="3486580683" sldId="2147469888"/>
        </pc:sldMkLst>
      </pc:sldChg>
      <pc:sldChg chg="del">
        <pc:chgData name="Andrew Albers" userId="S::andrewalbers@microsoft.com::05a0db6f-a93d-4086-9310-e241c2ed23ed" providerId="AD" clId="Web-{C038B441-A14C-C76B-5DFA-C10E1EC0C25E}" dt="2025-09-08T19:12:47.827" v="52"/>
        <pc:sldMkLst>
          <pc:docMk/>
          <pc:sldMk cId="3573563435" sldId="2147469890"/>
        </pc:sldMkLst>
      </pc:sldChg>
      <pc:sldChg chg="del">
        <pc:chgData name="Andrew Albers" userId="S::andrewalbers@microsoft.com::05a0db6f-a93d-4086-9310-e241c2ed23ed" providerId="AD" clId="Web-{C038B441-A14C-C76B-5DFA-C10E1EC0C25E}" dt="2025-09-08T19:12:47.827" v="54"/>
        <pc:sldMkLst>
          <pc:docMk/>
          <pc:sldMk cId="3382956385" sldId="2147469891"/>
        </pc:sldMkLst>
      </pc:sldChg>
      <pc:sldChg chg="del">
        <pc:chgData name="Andrew Albers" userId="S::andrewalbers@microsoft.com::05a0db6f-a93d-4086-9310-e241c2ed23ed" providerId="AD" clId="Web-{C038B441-A14C-C76B-5DFA-C10E1EC0C25E}" dt="2025-09-08T19:12:47.827" v="53"/>
        <pc:sldMkLst>
          <pc:docMk/>
          <pc:sldMk cId="3162923012" sldId="2147469892"/>
        </pc:sldMkLst>
      </pc:sldChg>
      <pc:sldChg chg="del">
        <pc:chgData name="Andrew Albers" userId="S::andrewalbers@microsoft.com::05a0db6f-a93d-4086-9310-e241c2ed23ed" providerId="AD" clId="Web-{C038B441-A14C-C76B-5DFA-C10E1EC0C25E}" dt="2025-09-08T19:12:47.796" v="44"/>
        <pc:sldMkLst>
          <pc:docMk/>
          <pc:sldMk cId="272191530" sldId="2147469900"/>
        </pc:sldMkLst>
      </pc:sldChg>
      <pc:sldChg chg="del">
        <pc:chgData name="Andrew Albers" userId="S::andrewalbers@microsoft.com::05a0db6f-a93d-4086-9310-e241c2ed23ed" providerId="AD" clId="Web-{C038B441-A14C-C76B-5DFA-C10E1EC0C25E}" dt="2025-09-08T19:12:47.812" v="50"/>
        <pc:sldMkLst>
          <pc:docMk/>
          <pc:sldMk cId="641711193" sldId="2147469902"/>
        </pc:sldMkLst>
      </pc:sldChg>
      <pc:sldChg chg="del">
        <pc:chgData name="Andrew Albers" userId="S::andrewalbers@microsoft.com::05a0db6f-a93d-4086-9310-e241c2ed23ed" providerId="AD" clId="Web-{C038B441-A14C-C76B-5DFA-C10E1EC0C25E}" dt="2025-09-08T19:12:47.687" v="13"/>
        <pc:sldMkLst>
          <pc:docMk/>
          <pc:sldMk cId="1440339225" sldId="2147469908"/>
        </pc:sldMkLst>
      </pc:sldChg>
      <pc:sldChg chg="del">
        <pc:chgData name="Andrew Albers" userId="S::andrewalbers@microsoft.com::05a0db6f-a93d-4086-9310-e241c2ed23ed" providerId="AD" clId="Web-{C038B441-A14C-C76B-5DFA-C10E1EC0C25E}" dt="2025-09-08T19:12:47.796" v="47"/>
        <pc:sldMkLst>
          <pc:docMk/>
          <pc:sldMk cId="3784472988" sldId="214746992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learn.microsoft.com/en-us/azure/aks/use-network-policies#differences-between-network-policy-engines-cilium-azure-npm-and-calico"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azure-samples.github.io/aks-labs/docs/security/workload-identity-lab"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9/8/2025</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9/8/2025</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9/8/2025</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6BF3A-084B-784A-2374-D7295E88A8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4AF2EA-E582-28C5-6BA1-66B7715C6624}"/>
              </a:ext>
            </a:extLst>
          </p:cNvPr>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1CAEA055-2E7D-6F16-1DF1-793D3CE5DF45}"/>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130BCC3C-0CCB-43C0-51BD-09F61BB83A84}"/>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27289E07-66FF-5221-33FD-0FFD203E7795}"/>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FB6FC53B-ECD4-4C00-EC28-6F01332944B3}"/>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434040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defTabSz="932563">
              <a:spcBef>
                <a:spcPts val="300"/>
              </a:spcBef>
              <a:spcAft>
                <a:spcPts val="200"/>
              </a:spcAft>
              <a:buFont typeface="Arial" panose="020B0604020202020204" pitchFamily="34" charset="0"/>
              <a:buNone/>
            </a:pPr>
            <a:r>
              <a:rPr lang="en-US"/>
              <a:t>The </a:t>
            </a:r>
            <a:r>
              <a:rPr lang="en-US" b="1"/>
              <a:t>Cloud Adoption Framework (CAF) </a:t>
            </a:r>
            <a:r>
              <a:rPr lang="en-US"/>
              <a:t>talk about : </a:t>
            </a:r>
            <a:br>
              <a:rPr lang="en-US"/>
            </a:br>
            <a:endParaRPr lang="en-US">
              <a:solidFill>
                <a:schemeClr val="accent6"/>
              </a:solidFill>
              <a:cs typeface="Segoe UI Semibold" panose="020B0702040204020203" pitchFamily="34" charset="0"/>
            </a:endParaRPr>
          </a:p>
          <a:p>
            <a:pPr marL="0" indent="0" defTabSz="932563">
              <a:spcBef>
                <a:spcPts val="300"/>
              </a:spcBef>
              <a:spcAft>
                <a:spcPts val="200"/>
              </a:spcAft>
              <a:buFont typeface="Arial" panose="020B0604020202020204" pitchFamily="34" charset="0"/>
              <a:buNone/>
            </a:pPr>
            <a:r>
              <a:rPr lang="en-US">
                <a:solidFill>
                  <a:schemeClr val="accent6"/>
                </a:solidFill>
                <a:cs typeface="Segoe UI Semibold" panose="020B0702040204020203" pitchFamily="34" charset="0"/>
              </a:rPr>
              <a:t>	Build, Registry, Cluster, Node, Application</a:t>
            </a:r>
          </a:p>
          <a:p>
            <a:br>
              <a:rPr lang="en-US"/>
            </a:br>
            <a:r>
              <a:rPr lang="en-US"/>
              <a:t>	https://learn.microsoft.com/en-us/azure/cloud-adoption-framework/scenarios/app-platform/aks/security</a:t>
            </a:r>
          </a:p>
          <a:p>
            <a:endParaRPr lang="en-US"/>
          </a:p>
          <a:p>
            <a:r>
              <a:rPr lang="en-US"/>
              <a:t>And the </a:t>
            </a:r>
            <a:r>
              <a:rPr lang="en-CA" sz="1200" b="1" i="0" kern="1200">
                <a:solidFill>
                  <a:schemeClr val="tx1"/>
                </a:solidFill>
                <a:effectLst/>
                <a:latin typeface="+mn-lt"/>
                <a:ea typeface="+mn-ea"/>
                <a:cs typeface="+mn-cs"/>
              </a:rPr>
              <a:t>Containers Secure Supply Chain (CSSC) </a:t>
            </a:r>
            <a:r>
              <a:rPr lang="en-CA" sz="1200" b="0" i="0" kern="1200">
                <a:solidFill>
                  <a:schemeClr val="tx1"/>
                </a:solidFill>
                <a:effectLst/>
                <a:latin typeface="+mn-lt"/>
                <a:ea typeface="+mn-ea"/>
                <a:cs typeface="+mn-cs"/>
              </a:rPr>
              <a:t>: </a:t>
            </a:r>
            <a:br>
              <a:rPr lang="en-CA" sz="1200" b="0" i="0" kern="1200">
                <a:solidFill>
                  <a:schemeClr val="tx1"/>
                </a:solidFill>
                <a:effectLst/>
                <a:latin typeface="+mn-lt"/>
                <a:ea typeface="+mn-ea"/>
                <a:cs typeface="+mn-cs"/>
              </a:rPr>
            </a:br>
            <a:br>
              <a:rPr lang="en-CA"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Acquire	Acquire container images from external sources or third-party vendors.</a:t>
            </a:r>
          </a:p>
          <a:p>
            <a:r>
              <a:rPr lang="en-US" sz="1200" b="0" i="0" kern="1200">
                <a:solidFill>
                  <a:schemeClr val="tx1"/>
                </a:solidFill>
                <a:effectLst/>
                <a:latin typeface="+mn-lt"/>
                <a:ea typeface="+mn-ea"/>
                <a:cs typeface="+mn-cs"/>
              </a:rPr>
              <a:t>Catalog	Offer approved container images for internal consumption including builds and deployments.</a:t>
            </a:r>
          </a:p>
          <a:p>
            <a:r>
              <a:rPr lang="en-US" sz="1200" b="0" i="0" kern="1200">
                <a:solidFill>
                  <a:schemeClr val="tx1"/>
                </a:solidFill>
                <a:effectLst/>
                <a:latin typeface="+mn-lt"/>
                <a:ea typeface="+mn-ea"/>
                <a:cs typeface="+mn-cs"/>
              </a:rPr>
              <a:t>Build	Produce compliant service and application images and deployment artifacts.</a:t>
            </a:r>
          </a:p>
          <a:p>
            <a:r>
              <a:rPr lang="en-US" sz="1200" b="0" i="0" kern="1200">
                <a:solidFill>
                  <a:schemeClr val="tx1"/>
                </a:solidFill>
                <a:effectLst/>
                <a:latin typeface="+mn-lt"/>
                <a:ea typeface="+mn-ea"/>
                <a:cs typeface="+mn-cs"/>
              </a:rPr>
              <a:t>Deploy	Securely deploy containerized services and applications to the hosting environments.</a:t>
            </a:r>
          </a:p>
          <a:p>
            <a:r>
              <a:rPr lang="en-US" sz="1200" b="0" i="0" kern="1200">
                <a:solidFill>
                  <a:schemeClr val="tx1"/>
                </a:solidFill>
                <a:effectLst/>
                <a:latin typeface="+mn-lt"/>
                <a:ea typeface="+mn-ea"/>
                <a:cs typeface="+mn-cs"/>
              </a:rPr>
              <a:t>Run	Run containers created from compliant, latest, and secure container images executing the business logic for an application.</a:t>
            </a:r>
            <a:endParaRPr lang="en-US"/>
          </a:p>
          <a:p>
            <a:endParaRPr lang="en-US"/>
          </a:p>
          <a:p>
            <a:r>
              <a:rPr lang="en-US"/>
              <a:t>https://learn.microsoft.com/en-us/azure/security/container-secure-supply-chain/articles/container-secure-supply-chain-implementation/containers-secure-supply-chain-overview</a:t>
            </a:r>
          </a:p>
          <a:p>
            <a:endParaRPr lang="en-US"/>
          </a:p>
          <a:p>
            <a:r>
              <a:rPr lang="en-CA"/>
              <a:t>In fact, both framework talk about the same, one more theorical, the second more practical.</a:t>
            </a:r>
          </a:p>
          <a:p>
            <a:endParaRPr lang="en-CA"/>
          </a:p>
          <a:p>
            <a:pPr marL="171450" indent="-171450">
              <a:buFont typeface="Arial" panose="020B0604020202020204" pitchFamily="34" charset="0"/>
              <a:buChar char="•"/>
            </a:pPr>
            <a:r>
              <a:rPr lang="en-CA" b="1"/>
              <a:t>Explain that on this module we will focus on the Containers Secure Supply Chain (CSSC),</a:t>
            </a:r>
            <a:r>
              <a:rPr lang="en-CA"/>
              <a:t> but customers should use the Cloud Adoption Framework as guideline for </a:t>
            </a:r>
            <a:r>
              <a:rPr lang="en-US"/>
              <a:t>development decisions.</a:t>
            </a:r>
            <a:endParaRPr lang="en-CA"/>
          </a:p>
          <a:p>
            <a:endParaRPr lang="en-CA"/>
          </a:p>
        </p:txBody>
      </p:sp>
      <p:sp>
        <p:nvSpPr>
          <p:cNvPr id="4" name="Slide Number Placeholder 3"/>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2060790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Don’t explain everything, we will cover each topic on the next slides.</a:t>
            </a:r>
            <a:br>
              <a:rPr lang="en-US"/>
            </a:br>
            <a:br>
              <a:rPr lang="en-US"/>
            </a:br>
            <a:r>
              <a:rPr lang="en-US"/>
              <a:t>The goal here is to explain the first T :</a:t>
            </a:r>
          </a:p>
          <a:p>
            <a:endParaRPr lang="en-US"/>
          </a:p>
          <a:p>
            <a:r>
              <a:rPr lang="en-CA" sz="1200" kern="1200">
                <a:solidFill>
                  <a:schemeClr val="tx1"/>
                </a:solidFill>
                <a:effectLst/>
                <a:latin typeface="+mn-lt"/>
                <a:ea typeface="+mn-ea"/>
                <a:cs typeface="+mn-cs"/>
              </a:rPr>
              <a:t>T-T-T</a:t>
            </a:r>
          </a:p>
          <a:p>
            <a:r>
              <a:rPr lang="en-CA" sz="1200" kern="1200">
                <a:solidFill>
                  <a:schemeClr val="tx1"/>
                </a:solidFill>
                <a:effectLst/>
                <a:latin typeface="+mn-lt"/>
                <a:ea typeface="+mn-ea"/>
                <a:cs typeface="+mn-cs"/>
              </a:rPr>
              <a:t> </a:t>
            </a:r>
          </a:p>
          <a:p>
            <a:r>
              <a:rPr lang="en-CA" sz="1200" kern="1200">
                <a:solidFill>
                  <a:schemeClr val="tx1"/>
                </a:solidFill>
                <a:effectLst/>
                <a:latin typeface="+mn-lt"/>
                <a:ea typeface="+mn-ea"/>
                <a:cs typeface="+mn-cs"/>
              </a:rPr>
              <a:t>Tell them what you're going to tell them</a:t>
            </a:r>
          </a:p>
          <a:p>
            <a:r>
              <a:rPr lang="en-CA" sz="1200" kern="1200">
                <a:solidFill>
                  <a:schemeClr val="tx1"/>
                </a:solidFill>
                <a:effectLst/>
                <a:latin typeface="+mn-lt"/>
                <a:ea typeface="+mn-ea"/>
                <a:cs typeface="+mn-cs"/>
              </a:rPr>
              <a:t>Tell them the content</a:t>
            </a:r>
          </a:p>
          <a:p>
            <a:r>
              <a:rPr lang="en-CA" sz="1200" kern="1200">
                <a:solidFill>
                  <a:schemeClr val="tx1"/>
                </a:solidFill>
                <a:effectLst/>
                <a:latin typeface="+mn-lt"/>
                <a:ea typeface="+mn-ea"/>
                <a:cs typeface="+mn-cs"/>
              </a:rPr>
              <a:t>Tell them what  you told them</a:t>
            </a:r>
          </a:p>
          <a:p>
            <a:endParaRPr lang="en-CA"/>
          </a:p>
          <a:p>
            <a:r>
              <a:rPr lang="en-CA"/>
              <a:t>1min max, talk about the link on the </a:t>
            </a:r>
            <a:r>
              <a:rPr lang="en-US"/>
              <a:t>bottom </a:t>
            </a:r>
            <a:endParaRPr lang="en-CA"/>
          </a:p>
        </p:txBody>
      </p:sp>
      <p:sp>
        <p:nvSpPr>
          <p:cNvPr id="4" name="Slide Number Placeholder 3"/>
          <p:cNvSpPr>
            <a:spLocks noGrp="1"/>
          </p:cNvSpPr>
          <p:nvPr>
            <p:ph type="sldNum" sz="quarter" idx="5"/>
          </p:nvPr>
        </p:nvSpPr>
        <p:spPr/>
        <p:txBody>
          <a:bodyPr/>
          <a:lstStyle/>
          <a:p>
            <a:fld id="{1D09229F-6F41-4CC3-A51C-EB832A3392C5}" type="slidenum">
              <a:rPr lang="en-US" smtClean="0"/>
              <a:t>6</a:t>
            </a:fld>
            <a:endParaRPr lang="en-US"/>
          </a:p>
        </p:txBody>
      </p:sp>
    </p:spTree>
    <p:extLst>
      <p:ext uri="{BB962C8B-B14F-4D97-AF65-F5344CB8AC3E}">
        <p14:creationId xmlns:p14="http://schemas.microsoft.com/office/powerpoint/2010/main" val="49557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0C21D-0319-0E52-10EC-54251882E5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B306C2-0F04-2C06-5127-D03D23F04674}"/>
              </a:ext>
            </a:extLst>
          </p:cNvPr>
          <p:cNvSpPr>
            <a:spLocks noGrp="1"/>
          </p:cNvSpPr>
          <p:nvPr>
            <p:ph type="sldNum" sz="quarter" idx="10"/>
          </p:nvPr>
        </p:nvSpPr>
        <p:spPr/>
        <p:txBody>
          <a:bodyPr/>
          <a:lstStyle/>
          <a:p>
            <a:fld id="{F475C4C8-7DEA-455A-9336-A4C7DB3AE516}" type="slidenum">
              <a:rPr lang="en-US"/>
              <a:pPr/>
              <a:t>7</a:t>
            </a:fld>
            <a:endParaRPr lang="en-US"/>
          </a:p>
        </p:txBody>
      </p:sp>
      <p:sp>
        <p:nvSpPr>
          <p:cNvPr id="3" name="Date Placeholder 2">
            <a:extLst>
              <a:ext uri="{FF2B5EF4-FFF2-40B4-BE49-F238E27FC236}">
                <a16:creationId xmlns:a16="http://schemas.microsoft.com/office/drawing/2014/main" id="{132B01DE-7B25-78DE-EF8A-1B17BCCDBC6D}"/>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9FA56939-9305-73C9-E194-209325E1E84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4ABB8E7E-D9D7-EF45-4C41-FBEA2629DF65}"/>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883AEA62-FE88-A15B-C3F5-A7DBBA81554E}"/>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598707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8D1B-91BE-25B8-5029-EC4D0230F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88CCF-9917-20DF-258A-7A650203E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CC634-56CA-A8AF-9429-D93CC8833FC7}"/>
              </a:ext>
            </a:extLst>
          </p:cNvPr>
          <p:cNvSpPr>
            <a:spLocks noGrp="1"/>
          </p:cNvSpPr>
          <p:nvPr>
            <p:ph type="body" idx="1"/>
          </p:nvPr>
        </p:nvSpPr>
        <p:spPr/>
        <p:txBody>
          <a:bodyPr/>
          <a:lstStyle/>
          <a:p>
            <a:r>
              <a:rPr lang="en-US" sz="1200" b="0" i="0" kern="1200">
                <a:solidFill>
                  <a:schemeClr val="tx1"/>
                </a:solidFill>
                <a:effectLst/>
                <a:latin typeface="+mn-lt"/>
                <a:ea typeface="+mn-ea"/>
                <a:cs typeface="+mn-cs"/>
              </a:rPr>
              <a:t>Acquisition of external container images to use as base or utility images is the first stage of the supply chain for containers. Enterprises may lack the expertise or resources to build every piece of software from source and need to rely on external sources for container images.</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Examples of such images are operating system or framework images, service proxies like NGINX and Envoy, or logging and metrics images like </a:t>
            </a:r>
            <a:r>
              <a:rPr lang="en-US" sz="1200" b="0" i="0" kern="1200" err="1">
                <a:solidFill>
                  <a:schemeClr val="tx1"/>
                </a:solidFill>
                <a:effectLst/>
                <a:latin typeface="+mn-lt"/>
                <a:ea typeface="+mn-ea"/>
                <a:cs typeface="+mn-cs"/>
              </a:rPr>
              <a:t>Fluentd</a:t>
            </a:r>
            <a:r>
              <a:rPr lang="en-US" sz="1200" b="0" i="0" kern="1200">
                <a:solidFill>
                  <a:schemeClr val="tx1"/>
                </a:solidFill>
                <a:effectLst/>
                <a:latin typeface="+mn-lt"/>
                <a:ea typeface="+mn-ea"/>
                <a:cs typeface="+mn-cs"/>
              </a:rPr>
              <a:t> and Kafka. It is important to establish certain quality checks before use and ensure that such images comply with the enterprise policies.</a:t>
            </a:r>
          </a:p>
          <a:p>
            <a:endParaRPr lang="en-US"/>
          </a:p>
          <a:p>
            <a:endParaRPr lang="en-US"/>
          </a:p>
          <a:p>
            <a:pPr marL="0" indent="0">
              <a:buFont typeface="Arial" panose="020B0604020202020204" pitchFamily="34" charset="0"/>
              <a:buNone/>
            </a:pPr>
            <a:r>
              <a:rPr lang="en-US" sz="2200"/>
              <a:t>Risks</a:t>
            </a:r>
          </a:p>
          <a:p>
            <a:pPr marL="342900" lvl="0" indent="-342900">
              <a:buFont typeface="Arial" panose="020B0604020202020204" pitchFamily="34" charset="0"/>
              <a:buChar char="•"/>
            </a:pPr>
            <a:r>
              <a:rPr lang="en-US" sz="1400"/>
              <a:t>Container Running at Higher privileges</a:t>
            </a:r>
          </a:p>
          <a:p>
            <a:pPr marL="342900" lvl="0" indent="-342900">
              <a:buFont typeface="Arial" panose="020B0604020202020204" pitchFamily="34" charset="0"/>
              <a:buChar char="•"/>
            </a:pPr>
            <a:r>
              <a:rPr lang="en-US" sz="1400"/>
              <a:t>Access to the underlying host file system</a:t>
            </a:r>
          </a:p>
          <a:p>
            <a:pPr marL="342900" lvl="0" indent="-342900">
              <a:buFont typeface="Arial" panose="020B0604020202020204" pitchFamily="34" charset="0"/>
              <a:buChar char="•"/>
            </a:pPr>
            <a:r>
              <a:rPr lang="en-US" sz="1400"/>
              <a:t>Rogue containers</a:t>
            </a:r>
          </a:p>
          <a:p>
            <a:pPr marL="342900" lvl="0" indent="-342900">
              <a:buFont typeface="Arial" panose="020B0604020202020204" pitchFamily="34" charset="0"/>
              <a:buChar char="•"/>
            </a:pPr>
            <a:r>
              <a:rPr lang="en-US" sz="1400"/>
              <a:t>Images from untrusted sources</a:t>
            </a:r>
          </a:p>
          <a:p>
            <a:pPr marL="0" lvl="0" indent="0">
              <a:buFont typeface="Arial" panose="020B0604020202020204" pitchFamily="34" charset="0"/>
              <a:buNone/>
            </a:pPr>
            <a:endParaRPr lang="en-US" sz="1400"/>
          </a:p>
          <a:p>
            <a:pPr marL="0" indent="0">
              <a:buFont typeface="Arial" panose="020B0604020202020204" pitchFamily="34" charset="0"/>
              <a:buNone/>
            </a:pPr>
            <a:r>
              <a:rPr lang="en-US" sz="2200"/>
              <a:t>Solving those risks</a:t>
            </a:r>
          </a:p>
          <a:p>
            <a:pPr marL="342900" lvl="0" indent="-342900">
              <a:buFont typeface="Arial" panose="020B0604020202020204" pitchFamily="34" charset="0"/>
              <a:buChar char="•"/>
            </a:pPr>
            <a:r>
              <a:rPr lang="en-US" sz="1400"/>
              <a:t>Addressing them during build vs later down the chain</a:t>
            </a:r>
          </a:p>
          <a:p>
            <a:pPr marL="342900" lvl="0" indent="-342900">
              <a:buFont typeface="Arial" panose="020B0604020202020204" pitchFamily="34" charset="0"/>
              <a:buChar char="•"/>
            </a:pPr>
            <a:r>
              <a:rPr lang="en-US" sz="1400"/>
              <a:t>Container linting tools like docker scan docker files for best practices and find underlying security issues</a:t>
            </a:r>
          </a:p>
          <a:p>
            <a:pPr marL="342900" lvl="0" indent="-342900">
              <a:buFont typeface="Arial" panose="020B0604020202020204" pitchFamily="34" charset="0"/>
              <a:buChar char="•"/>
            </a:pPr>
            <a:r>
              <a:rPr lang="en-US" sz="1400"/>
              <a:t>Scanning the image during the build phase before pushing it remotely</a:t>
            </a:r>
          </a:p>
          <a:p>
            <a:pPr marL="342900" lvl="0" indent="-342900">
              <a:buFont typeface="Arial" panose="020B0604020202020204" pitchFamily="34" charset="0"/>
              <a:buChar char="•"/>
            </a:pPr>
            <a:r>
              <a:rPr lang="en-US" sz="1400"/>
              <a:t>Knowing all of the layers of a container image, application dependencies and custom pieces</a:t>
            </a:r>
          </a:p>
          <a:p>
            <a:pPr marL="342900" lvl="0" indent="-342900">
              <a:buFont typeface="Arial" panose="020B0604020202020204" pitchFamily="34" charset="0"/>
              <a:buChar char="•"/>
            </a:pPr>
            <a:r>
              <a:rPr lang="en-US" sz="1400"/>
              <a:t>Appropriate policies can help set quality gates at this level</a:t>
            </a:r>
          </a:p>
          <a:p>
            <a:br>
              <a:rPr lang="en-US"/>
            </a:br>
            <a:endParaRPr lang="en-CA"/>
          </a:p>
        </p:txBody>
      </p:sp>
      <p:sp>
        <p:nvSpPr>
          <p:cNvPr id="4" name="Slide Number Placeholder 3">
            <a:extLst>
              <a:ext uri="{FF2B5EF4-FFF2-40B4-BE49-F238E27FC236}">
                <a16:creationId xmlns:a16="http://schemas.microsoft.com/office/drawing/2014/main" id="{9818DFE3-7173-9038-0324-AEA834E8D8F4}"/>
              </a:ext>
            </a:extLst>
          </p:cNvPr>
          <p:cNvSpPr>
            <a:spLocks noGrp="1"/>
          </p:cNvSpPr>
          <p:nvPr>
            <p:ph type="sldNum" sz="quarter" idx="5"/>
          </p:nvPr>
        </p:nvSpPr>
        <p:spPr/>
        <p:txBody>
          <a:bodyPr/>
          <a:lstStyle/>
          <a:p>
            <a:fld id="{1D09229F-6F41-4CC3-A51C-EB832A3392C5}" type="slidenum">
              <a:rPr lang="en-US" smtClean="0"/>
              <a:t>8</a:t>
            </a:fld>
            <a:endParaRPr lang="en-US"/>
          </a:p>
        </p:txBody>
      </p:sp>
    </p:spTree>
    <p:extLst>
      <p:ext uri="{BB962C8B-B14F-4D97-AF65-F5344CB8AC3E}">
        <p14:creationId xmlns:p14="http://schemas.microsoft.com/office/powerpoint/2010/main" val="1757067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4931A-72B1-5D05-D923-3FD2633AA8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D5470A-9CA2-85E3-E8A4-641A3E8FA519}"/>
              </a:ext>
            </a:extLst>
          </p:cNvPr>
          <p:cNvSpPr>
            <a:spLocks noGrp="1"/>
          </p:cNvSpPr>
          <p:nvPr>
            <p:ph type="sldNum" sz="quarter" idx="10"/>
          </p:nvPr>
        </p:nvSpPr>
        <p:spPr/>
        <p:txBody>
          <a:bodyPr/>
          <a:lstStyle/>
          <a:p>
            <a:fld id="{F475C4C8-7DEA-455A-9336-A4C7DB3AE516}" type="slidenum">
              <a:rPr lang="en-US"/>
              <a:pPr/>
              <a:t>9</a:t>
            </a:fld>
            <a:endParaRPr lang="en-US"/>
          </a:p>
        </p:txBody>
      </p:sp>
      <p:sp>
        <p:nvSpPr>
          <p:cNvPr id="3" name="Date Placeholder 2">
            <a:extLst>
              <a:ext uri="{FF2B5EF4-FFF2-40B4-BE49-F238E27FC236}">
                <a16:creationId xmlns:a16="http://schemas.microsoft.com/office/drawing/2014/main" id="{E7FE9842-DC07-FB7F-766F-62D49579B46D}"/>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88AEAE1F-B02F-E6FE-A400-8009313367B8}"/>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CF9F0D71-2DF5-30B7-0F54-96A2DFB2BF64}"/>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995EF9AC-E298-7C1E-6BA2-410A0E3CA17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40749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D8D6-45A2-F8AE-DCB4-C1F2BB222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A815E-F361-5D51-F8A0-C07866D9B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71AD4-E306-7597-AB6A-15E89909C8EF}"/>
              </a:ext>
            </a:extLst>
          </p:cNvPr>
          <p:cNvSpPr>
            <a:spLocks noGrp="1"/>
          </p:cNvSpPr>
          <p:nvPr>
            <p:ph type="body" idx="1"/>
          </p:nvPr>
        </p:nvSpPr>
        <p:spPr/>
        <p:txBody>
          <a:bodyPr/>
          <a:lstStyle/>
          <a:p>
            <a:r>
              <a:rPr lang="en-US" sz="1200" b="0" i="0" kern="1200">
                <a:solidFill>
                  <a:schemeClr val="tx1"/>
                </a:solidFill>
                <a:effectLst/>
                <a:latin typeface="+mn-lt"/>
                <a:ea typeface="+mn-ea"/>
                <a:cs typeface="+mn-cs"/>
              </a:rPr>
              <a:t>Building a Catalog of container images for internal use is the second stage of the supply chain for containers. Container images that pass certain quality checks from the Acquire stage are hosted in an internal registry</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It is essential to catalog container images so internal teams can easily discover and consume approved images required by enterprise applications and services</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Additionally, container images in a catalog are continuously scanned for vulnerabilities and malware on a regular basis to ensure they meet the latest security requirements</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1" i="0" kern="1200">
                <a:solidFill>
                  <a:schemeClr val="tx1"/>
                </a:solidFill>
                <a:effectLst/>
                <a:latin typeface="+mn-lt"/>
                <a:ea typeface="+mn-ea"/>
                <a:cs typeface="+mn-cs"/>
              </a:rPr>
              <a:t>Preventing images from being pushed and pulled from unauthorized locations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Internal only</a:t>
            </a:r>
          </a:p>
        </p:txBody>
      </p:sp>
      <p:sp>
        <p:nvSpPr>
          <p:cNvPr id="4" name="Slide Number Placeholder 3">
            <a:extLst>
              <a:ext uri="{FF2B5EF4-FFF2-40B4-BE49-F238E27FC236}">
                <a16:creationId xmlns:a16="http://schemas.microsoft.com/office/drawing/2014/main" id="{760277B3-DC85-B25D-9630-A69DA0F613BD}"/>
              </a:ext>
            </a:extLst>
          </p:cNvPr>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2229117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FC43F-C365-60FA-1669-ABE0E0C0CB4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5E8732-81AE-3E3B-C580-0F2E02A14F49}"/>
              </a:ext>
            </a:extLst>
          </p:cNvPr>
          <p:cNvSpPr>
            <a:spLocks noGrp="1"/>
          </p:cNvSpPr>
          <p:nvPr>
            <p:ph type="sldNum" sz="quarter" idx="10"/>
          </p:nvPr>
        </p:nvSpPr>
        <p:spPr/>
        <p:txBody>
          <a:bodyPr/>
          <a:lstStyle/>
          <a:p>
            <a:fld id="{F475C4C8-7DEA-455A-9336-A4C7DB3AE516}" type="slidenum">
              <a:rPr lang="en-US"/>
              <a:pPr/>
              <a:t>11</a:t>
            </a:fld>
            <a:endParaRPr lang="en-US"/>
          </a:p>
        </p:txBody>
      </p:sp>
      <p:sp>
        <p:nvSpPr>
          <p:cNvPr id="3" name="Date Placeholder 2">
            <a:extLst>
              <a:ext uri="{FF2B5EF4-FFF2-40B4-BE49-F238E27FC236}">
                <a16:creationId xmlns:a16="http://schemas.microsoft.com/office/drawing/2014/main" id="{92D445E1-F441-4867-2B4B-FA6DDF74D881}"/>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5B94E61D-DEAA-B8D5-686C-F0278BDE674C}"/>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9CCAFC7C-4F14-9CEC-3F08-62FCE33C3786}"/>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B4208D1A-C4E6-EDC7-25C5-5E7BDEA2C120}"/>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41267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0962A-C24F-6DC1-FE7C-748925E09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1E53A-A77F-578D-8A6A-CCBFCDB24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A46ED-CAA6-A1E5-02C9-7C27B02056C5}"/>
              </a:ext>
            </a:extLst>
          </p:cNvPr>
          <p:cNvSpPr>
            <a:spLocks noGrp="1"/>
          </p:cNvSpPr>
          <p:nvPr>
            <p:ph type="body" idx="1"/>
          </p:nvPr>
        </p:nvSpPr>
        <p:spPr/>
        <p:txBody>
          <a:bodyPr/>
          <a:lstStyle/>
          <a:p>
            <a:r>
              <a:rPr lang="en-US" sz="1200" b="0" i="0" kern="1200">
                <a:solidFill>
                  <a:schemeClr val="tx1"/>
                </a:solidFill>
                <a:effectLst/>
                <a:latin typeface="+mn-lt"/>
                <a:ea typeface="+mn-ea"/>
                <a:cs typeface="+mn-cs"/>
              </a:rPr>
              <a:t>While some enterprises pull the base images from external sources directly, others may pull the base images from the internal catalog without verifying the images against their signatures and attestations. </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It is crucial to ensure that base images are always pulled from the internal catalog and verified before use.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It is essential to ensure that the produced container images are trusted and compliant with the enterprise policies.</a:t>
            </a:r>
          </a:p>
          <a:p>
            <a:endParaRPr lang="en-US" sz="1200" b="0" i="0" kern="1200">
              <a:solidFill>
                <a:schemeClr val="tx1"/>
              </a:solidFill>
              <a:effectLst/>
              <a:latin typeface="+mn-lt"/>
              <a:ea typeface="+mn-ea"/>
              <a:cs typeface="+mn-cs"/>
            </a:endParaRPr>
          </a:p>
          <a:p>
            <a:br>
              <a:rPr lang="en-US" sz="1200" b="0" i="0" kern="1200">
                <a:solidFill>
                  <a:schemeClr val="tx1"/>
                </a:solidFill>
                <a:effectLst/>
                <a:latin typeface="+mn-lt"/>
                <a:ea typeface="+mn-ea"/>
                <a:cs typeface="+mn-cs"/>
              </a:rPr>
            </a:br>
            <a:r>
              <a:rPr lang="en-US" sz="1200" b="1" i="0" kern="1200">
                <a:solidFill>
                  <a:schemeClr val="tx1"/>
                </a:solidFill>
                <a:effectLst/>
                <a:latin typeface="+mn-lt"/>
                <a:ea typeface="+mn-ea"/>
                <a:cs typeface="+mn-cs"/>
              </a:rPr>
              <a:t>Stale images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Should be removed to avoid accidental deployment</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Avoid using latest tags for images!</a:t>
            </a:r>
          </a:p>
          <a:p>
            <a:br>
              <a:rPr lang="en-US" sz="1200" b="0" i="0" kern="1200">
                <a:solidFill>
                  <a:schemeClr val="tx1"/>
                </a:solidFill>
                <a:effectLst/>
                <a:latin typeface="+mn-lt"/>
                <a:ea typeface="+mn-ea"/>
                <a:cs typeface="+mn-cs"/>
              </a:rPr>
            </a:br>
            <a:r>
              <a:rPr lang="en-US" sz="1200" b="1" i="0" kern="1200">
                <a:solidFill>
                  <a:schemeClr val="tx1"/>
                </a:solidFill>
                <a:effectLst/>
                <a:latin typeface="+mn-lt"/>
                <a:ea typeface="+mn-ea"/>
                <a:cs typeface="+mn-cs"/>
              </a:rPr>
              <a:t>Preventing images from being pushed and pulled from unauthorized locations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Internal only</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Insufficient controls around pulling images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Ci/CD pipelines should only push images after going through appropriate quality gates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Registries now contain much more than container images</a:t>
            </a:r>
          </a:p>
          <a:p>
            <a:pPr marL="0" indent="0">
              <a:buFont typeface="Arial" panose="020B0604020202020204" pitchFamily="34" charset="0"/>
              <a:buNone/>
            </a:pPr>
            <a:endParaRPr lang="en-US" sz="1200" b="0"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Signing Images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Only way to ensure images are being deployed from trusted registries</a:t>
            </a:r>
          </a:p>
          <a:p>
            <a:endParaRPr lang="en-CA"/>
          </a:p>
        </p:txBody>
      </p:sp>
      <p:sp>
        <p:nvSpPr>
          <p:cNvPr id="4" name="Slide Number Placeholder 3">
            <a:extLst>
              <a:ext uri="{FF2B5EF4-FFF2-40B4-BE49-F238E27FC236}">
                <a16:creationId xmlns:a16="http://schemas.microsoft.com/office/drawing/2014/main" id="{286652C2-2E54-5EC3-CFD2-8D2073C87F1E}"/>
              </a:ext>
            </a:extLst>
          </p:cNvPr>
          <p:cNvSpPr>
            <a:spLocks noGrp="1"/>
          </p:cNvSpPr>
          <p:nvPr>
            <p:ph type="sldNum" sz="quarter" idx="5"/>
          </p:nvPr>
        </p:nvSpPr>
        <p:spPr/>
        <p:txBody>
          <a:bodyPr/>
          <a:lstStyle/>
          <a:p>
            <a:fld id="{1D09229F-6F41-4CC3-A51C-EB832A3392C5}" type="slidenum">
              <a:rPr lang="en-US" smtClean="0"/>
              <a:t>12</a:t>
            </a:fld>
            <a:endParaRPr lang="en-US"/>
          </a:p>
        </p:txBody>
      </p:sp>
    </p:spTree>
    <p:extLst>
      <p:ext uri="{BB962C8B-B14F-4D97-AF65-F5344CB8AC3E}">
        <p14:creationId xmlns:p14="http://schemas.microsoft.com/office/powerpoint/2010/main" val="2892434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18256-17E2-8DA3-2E6D-5BDC7760033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FCE162-62E7-C069-6C49-B064324C0750}"/>
              </a:ext>
            </a:extLst>
          </p:cNvPr>
          <p:cNvSpPr>
            <a:spLocks noGrp="1"/>
          </p:cNvSpPr>
          <p:nvPr>
            <p:ph type="sldNum" sz="quarter" idx="10"/>
          </p:nvPr>
        </p:nvSpPr>
        <p:spPr/>
        <p:txBody>
          <a:bodyPr/>
          <a:lstStyle/>
          <a:p>
            <a:fld id="{F475C4C8-7DEA-455A-9336-A4C7DB3AE516}" type="slidenum">
              <a:rPr lang="en-US"/>
              <a:pPr/>
              <a:t>13</a:t>
            </a:fld>
            <a:endParaRPr lang="en-US"/>
          </a:p>
        </p:txBody>
      </p:sp>
      <p:sp>
        <p:nvSpPr>
          <p:cNvPr id="3" name="Date Placeholder 2">
            <a:extLst>
              <a:ext uri="{FF2B5EF4-FFF2-40B4-BE49-F238E27FC236}">
                <a16:creationId xmlns:a16="http://schemas.microsoft.com/office/drawing/2014/main" id="{5046FC23-74A6-D01E-E321-8886AF59E949}"/>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9AED9F38-205A-B46C-1905-5A829807676C}"/>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386A869-513C-A77F-AD81-E31DF7F150E0}"/>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7DB5379D-48BD-7871-EB14-51C4784CED83}"/>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28796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6957E-F59A-33DA-6859-734BFACEF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A02FE-ECB0-F383-6480-E53ED2F49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1DBB37-A3A7-09E6-92CE-98846874E945}"/>
              </a:ext>
            </a:extLst>
          </p:cNvPr>
          <p:cNvSpPr>
            <a:spLocks noGrp="1"/>
          </p:cNvSpPr>
          <p:nvPr>
            <p:ph type="body" idx="1"/>
          </p:nvPr>
        </p:nvSpPr>
        <p:spPr/>
        <p:txBody>
          <a:bodyPr/>
          <a:lstStyle/>
          <a:p>
            <a:r>
              <a:rPr lang="en-US" sz="1200" b="0" i="0" kern="1200">
                <a:solidFill>
                  <a:schemeClr val="tx1"/>
                </a:solidFill>
                <a:effectLst/>
                <a:latin typeface="+mn-lt"/>
                <a:ea typeface="+mn-ea"/>
                <a:cs typeface="+mn-cs"/>
              </a:rPr>
              <a:t>Enterprises might deploy container images to their hosting environment to run containerized workloads without validating the security and compliance of those container images.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This increases the potential security risks or may result in running vulnerable or malicious code in the hosting environment. </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The container image metadata and attestations produced in previous stages should be validated at deployment time. This ensures that the deployment complies with enterprise-wide security and compliance policies.</a:t>
            </a:r>
          </a:p>
          <a:p>
            <a:endParaRPr lang="en-US"/>
          </a:p>
          <a:p>
            <a:pPr marL="342900" indent="-342900">
              <a:buFont typeface="Arial" panose="020B0604020202020204" pitchFamily="34" charset="0"/>
              <a:buChar char="•"/>
            </a:pPr>
            <a:r>
              <a:rPr lang="en-US" sz="2400"/>
              <a:t>Having solutions on the cluster to scan for vulnerable components (Defender)</a:t>
            </a:r>
          </a:p>
          <a:p>
            <a:pPr marL="342900" indent="-342900">
              <a:buFont typeface="Arial" panose="020B0604020202020204" pitchFamily="34" charset="0"/>
              <a:buChar char="•"/>
            </a:pPr>
            <a:r>
              <a:rPr lang="en-US" sz="2400"/>
              <a:t>Azure policy can assist with some options to enforce standards</a:t>
            </a:r>
          </a:p>
          <a:p>
            <a:pPr marL="342900" indent="-342900">
              <a:buFont typeface="Arial" panose="020B0604020202020204" pitchFamily="34" charset="0"/>
              <a:buChar char="•"/>
            </a:pPr>
            <a:r>
              <a:rPr lang="en-US" sz="2400" err="1"/>
              <a:t>Kyverno</a:t>
            </a:r>
            <a:r>
              <a:rPr lang="en-US" sz="2400"/>
              <a:t> or Gatekeeper is another piece that can enforce polices</a:t>
            </a:r>
          </a:p>
          <a:p>
            <a:pPr marL="800100" lvl="1" indent="-342900">
              <a:buFont typeface="Arial" panose="020B0604020202020204" pitchFamily="34" charset="0"/>
              <a:buChar char="•"/>
            </a:pPr>
            <a:r>
              <a:rPr lang="en-US" sz="1600"/>
              <a:t>Gatekeeper requires using a separate language (</a:t>
            </a:r>
            <a:r>
              <a:rPr lang="en-US" sz="1600" err="1"/>
              <a:t>rego</a:t>
            </a:r>
            <a:r>
              <a:rPr lang="en-US" sz="1600"/>
              <a:t>) to create polices that control workload behavior</a:t>
            </a:r>
          </a:p>
          <a:p>
            <a:pPr marL="342900" indent="-342900">
              <a:buFont typeface="Arial" panose="020B0604020202020204" pitchFamily="34" charset="0"/>
              <a:buChar char="•"/>
            </a:pPr>
            <a:r>
              <a:rPr lang="en-US" sz="2400" err="1"/>
              <a:t>Kyverno</a:t>
            </a:r>
            <a:endParaRPr lang="en-US" sz="2400"/>
          </a:p>
          <a:p>
            <a:pPr marL="800100" lvl="1" indent="-342900">
              <a:buFont typeface="Arial" panose="020B0604020202020204" pitchFamily="34" charset="0"/>
              <a:buChar char="•"/>
            </a:pPr>
            <a:r>
              <a:rPr lang="en-US" sz="1600"/>
              <a:t>Works differently from Gatekeeper</a:t>
            </a:r>
          </a:p>
          <a:p>
            <a:pPr marL="800100" lvl="1" indent="-342900">
              <a:buFont typeface="Arial" panose="020B0604020202020204" pitchFamily="34" charset="0"/>
              <a:buChar char="•"/>
            </a:pPr>
            <a:r>
              <a:rPr lang="en-US" sz="1600"/>
              <a:t>K8s native policy engine</a:t>
            </a:r>
          </a:p>
          <a:p>
            <a:pPr marL="800100" lvl="1" indent="-342900">
              <a:buFont typeface="Arial" panose="020B0604020202020204" pitchFamily="34" charset="0"/>
              <a:buChar char="•"/>
            </a:pPr>
            <a:r>
              <a:rPr lang="en-US" sz="1600"/>
              <a:t>Define and mange polices as Kubernetes resources</a:t>
            </a:r>
          </a:p>
          <a:p>
            <a:pPr marL="800100" lvl="1" indent="-342900">
              <a:buFont typeface="Arial" panose="020B0604020202020204" pitchFamily="34" charset="0"/>
              <a:buChar char="•"/>
            </a:pPr>
            <a:r>
              <a:rPr lang="en-US" sz="1600"/>
              <a:t>Can deploy polices as individual </a:t>
            </a:r>
            <a:r>
              <a:rPr lang="en-US" sz="1600" err="1"/>
              <a:t>yaml</a:t>
            </a:r>
            <a:r>
              <a:rPr lang="en-US" sz="1600"/>
              <a:t> files or package and deploy as helm charts</a:t>
            </a:r>
          </a:p>
          <a:p>
            <a:pPr marL="800100" lvl="1" indent="-342900">
              <a:buFont typeface="Arial" panose="020B0604020202020204" pitchFamily="34" charset="0"/>
              <a:buChar char="•"/>
            </a:pPr>
            <a:r>
              <a:rPr lang="en-US" sz="1600"/>
              <a:t>Unlike gatekeeper it can generate new objects on the cluster not just validation</a:t>
            </a:r>
          </a:p>
          <a:p>
            <a:pPr marL="1000125" lvl="2" indent="-342900">
              <a:buFont typeface="Arial" panose="020B0604020202020204" pitchFamily="34" charset="0"/>
              <a:buChar char="•"/>
            </a:pPr>
            <a:r>
              <a:rPr lang="en-US" sz="1200"/>
              <a:t>Ex: create a new network policy for new namespaces, etc</a:t>
            </a:r>
          </a:p>
          <a:p>
            <a:endParaRPr lang="en-US"/>
          </a:p>
          <a:p>
            <a:r>
              <a:rPr lang="en-US"/>
              <a:t>https://kyverno.io/docs/introduction/#quick-start-guides</a:t>
            </a:r>
          </a:p>
          <a:p>
            <a:br>
              <a:rPr lang="en-US"/>
            </a:br>
            <a:endParaRPr lang="en-CA"/>
          </a:p>
        </p:txBody>
      </p:sp>
      <p:sp>
        <p:nvSpPr>
          <p:cNvPr id="4" name="Slide Number Placeholder 3">
            <a:extLst>
              <a:ext uri="{FF2B5EF4-FFF2-40B4-BE49-F238E27FC236}">
                <a16:creationId xmlns:a16="http://schemas.microsoft.com/office/drawing/2014/main" id="{1FFFDE5A-CDC7-355C-1375-76249CE22FC4}"/>
              </a:ext>
            </a:extLst>
          </p:cNvPr>
          <p:cNvSpPr>
            <a:spLocks noGrp="1"/>
          </p:cNvSpPr>
          <p:nvPr>
            <p:ph type="sldNum" sz="quarter" idx="5"/>
          </p:nvPr>
        </p:nvSpPr>
        <p:spPr/>
        <p:txBody>
          <a:bodyPr/>
          <a:lstStyle/>
          <a:p>
            <a:fld id="{1D09229F-6F41-4CC3-A51C-EB832A3392C5}" type="slidenum">
              <a:rPr lang="en-US" smtClean="0"/>
              <a:t>14</a:t>
            </a:fld>
            <a:endParaRPr lang="en-US"/>
          </a:p>
        </p:txBody>
      </p:sp>
    </p:spTree>
    <p:extLst>
      <p:ext uri="{BB962C8B-B14F-4D97-AF65-F5344CB8AC3E}">
        <p14:creationId xmlns:p14="http://schemas.microsoft.com/office/powerpoint/2010/main" val="3945293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58F2-D10C-5E10-963E-A3D31F55F3A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92347B-3921-4979-69C6-7193074137E6}"/>
              </a:ext>
            </a:extLst>
          </p:cNvPr>
          <p:cNvSpPr>
            <a:spLocks noGrp="1"/>
          </p:cNvSpPr>
          <p:nvPr>
            <p:ph type="sldNum" sz="quarter" idx="10"/>
          </p:nvPr>
        </p:nvSpPr>
        <p:spPr/>
        <p:txBody>
          <a:bodyPr/>
          <a:lstStyle/>
          <a:p>
            <a:fld id="{F475C4C8-7DEA-455A-9336-A4C7DB3AE516}" type="slidenum">
              <a:rPr lang="en-US"/>
              <a:pPr/>
              <a:t>15</a:t>
            </a:fld>
            <a:endParaRPr lang="en-US"/>
          </a:p>
        </p:txBody>
      </p:sp>
      <p:sp>
        <p:nvSpPr>
          <p:cNvPr id="3" name="Date Placeholder 2">
            <a:extLst>
              <a:ext uri="{FF2B5EF4-FFF2-40B4-BE49-F238E27FC236}">
                <a16:creationId xmlns:a16="http://schemas.microsoft.com/office/drawing/2014/main" id="{7CF0B1D6-FE12-FA57-4B10-9E8FE5683942}"/>
              </a:ext>
            </a:extLst>
          </p:cNvPr>
          <p:cNvSpPr>
            <a:spLocks noGrp="1"/>
          </p:cNvSpPr>
          <p:nvPr>
            <p:ph type="dt" idx="12"/>
          </p:nvPr>
        </p:nvSpPr>
        <p:spPr/>
        <p:txBody>
          <a:bodyPr/>
          <a:lstStyle/>
          <a:p>
            <a:fld id="{E57E3D00-9D4C-429E-9A61-DDFE4F2097D5}" type="datetime1">
              <a:rPr lang="en-US"/>
              <a:t>9/8/2025</a:t>
            </a:fld>
            <a:endParaRPr lang="en-US"/>
          </a:p>
        </p:txBody>
      </p:sp>
      <p:sp>
        <p:nvSpPr>
          <p:cNvPr id="8" name="Slide Image Placeholder 7">
            <a:extLst>
              <a:ext uri="{FF2B5EF4-FFF2-40B4-BE49-F238E27FC236}">
                <a16:creationId xmlns:a16="http://schemas.microsoft.com/office/drawing/2014/main" id="{EDD2257C-016B-B2D5-9D31-8EC9B299F813}"/>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9E24FB29-F0B8-24BB-C09B-700942C75885}"/>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E88090AE-0936-0436-D7F7-7E2CA143371B}"/>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909182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DFCBE-1E4C-2E5E-89AB-FB74F8397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91029-3BFB-9861-50B0-704DA9AED1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806C97-D96F-14ED-FC69-6D75833F6EB2}"/>
              </a:ext>
            </a:extLst>
          </p:cNvPr>
          <p:cNvSpPr>
            <a:spLocks noGrp="1"/>
          </p:cNvSpPr>
          <p:nvPr>
            <p:ph type="body" idx="1"/>
          </p:nvPr>
        </p:nvSpPr>
        <p:spPr/>
        <p:txBody>
          <a:bodyPr/>
          <a:lstStyle/>
          <a:p>
            <a:r>
              <a:rPr lang="en-US"/>
              <a:t>This stage emphasizes scanning and monitoring the runtime environments and purging them of outdated and vulnerable images. </a:t>
            </a:r>
            <a:br>
              <a:rPr lang="en-US"/>
            </a:br>
            <a:br>
              <a:rPr lang="en-US"/>
            </a:br>
            <a:r>
              <a:rPr lang="en-US" sz="1200" b="0" i="0" kern="1200">
                <a:solidFill>
                  <a:schemeClr val="tx1"/>
                </a:solidFill>
                <a:effectLst/>
                <a:latin typeface="+mn-lt"/>
                <a:ea typeface="+mn-ea"/>
                <a:cs typeface="+mn-cs"/>
              </a:rPr>
              <a:t>Microsoft recommends continuously running vulnerability and malware scanner for containerized workloads and runtime</a:t>
            </a:r>
            <a:br>
              <a:rPr lang="en-US" sz="1200" b="0" i="0" kern="1200">
                <a:solidFill>
                  <a:schemeClr val="tx1"/>
                </a:solidFill>
                <a:effectLst/>
                <a:latin typeface="+mn-lt"/>
                <a:ea typeface="+mn-ea"/>
                <a:cs typeface="+mn-cs"/>
              </a:rPr>
            </a:b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Regularly updating the containers and the nodes as well as keeping the nodes clean are effective practices to protect containerized applications from compromising.</a:t>
            </a:r>
          </a:p>
          <a:p>
            <a:br>
              <a:rPr lang="en-US" sz="1200" b="0" i="0" kern="1200">
                <a:solidFill>
                  <a:schemeClr val="tx1"/>
                </a:solidFill>
                <a:effectLst/>
                <a:latin typeface="+mn-lt"/>
                <a:ea typeface="+mn-ea"/>
                <a:cs typeface="+mn-cs"/>
              </a:rPr>
            </a:br>
            <a:endParaRPr lang="en-CA"/>
          </a:p>
        </p:txBody>
      </p:sp>
      <p:sp>
        <p:nvSpPr>
          <p:cNvPr id="4" name="Slide Number Placeholder 3">
            <a:extLst>
              <a:ext uri="{FF2B5EF4-FFF2-40B4-BE49-F238E27FC236}">
                <a16:creationId xmlns:a16="http://schemas.microsoft.com/office/drawing/2014/main" id="{FF69F7AE-8EC9-9D19-5849-18C12350C31E}"/>
              </a:ext>
            </a:extLst>
          </p:cNvPr>
          <p:cNvSpPr>
            <a:spLocks noGrp="1"/>
          </p:cNvSpPr>
          <p:nvPr>
            <p:ph type="sldNum" sz="quarter" idx="5"/>
          </p:nvPr>
        </p:nvSpPr>
        <p:spPr/>
        <p:txBody>
          <a:bodyPr/>
          <a:lstStyle/>
          <a:p>
            <a:fld id="{1D09229F-6F41-4CC3-A51C-EB832A3392C5}" type="slidenum">
              <a:rPr lang="en-US" smtClean="0"/>
              <a:t>16</a:t>
            </a:fld>
            <a:endParaRPr lang="en-US"/>
          </a:p>
        </p:txBody>
      </p:sp>
    </p:spTree>
    <p:extLst>
      <p:ext uri="{BB962C8B-B14F-4D97-AF65-F5344CB8AC3E}">
        <p14:creationId xmlns:p14="http://schemas.microsoft.com/office/powerpoint/2010/main" val="1194234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E4C27-1F1F-F05F-D3B6-E1D13C9E9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94F63-047F-35D7-84B7-683B8880F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69879-2138-8396-F8D6-F957FBCE3AA3}"/>
              </a:ext>
            </a:extLst>
          </p:cNvPr>
          <p:cNvSpPr>
            <a:spLocks noGrp="1"/>
          </p:cNvSpPr>
          <p:nvPr>
            <p:ph type="body" idx="1"/>
          </p:nvPr>
        </p:nvSpPr>
        <p:spPr/>
        <p:txBody>
          <a:bodyPr/>
          <a:lstStyle/>
          <a:p>
            <a:r>
              <a:rPr lang="en-US"/>
              <a:t>This is a high level, you can explain briefly each column </a:t>
            </a:r>
            <a:endParaRPr lang="en-CA"/>
          </a:p>
        </p:txBody>
      </p:sp>
      <p:sp>
        <p:nvSpPr>
          <p:cNvPr id="4" name="Slide Number Placeholder 3">
            <a:extLst>
              <a:ext uri="{FF2B5EF4-FFF2-40B4-BE49-F238E27FC236}">
                <a16:creationId xmlns:a16="http://schemas.microsoft.com/office/drawing/2014/main" id="{8D1B363F-B808-2742-47BE-0E97E4D50AE8}"/>
              </a:ext>
            </a:extLst>
          </p:cNvPr>
          <p:cNvSpPr>
            <a:spLocks noGrp="1"/>
          </p:cNvSpPr>
          <p:nvPr>
            <p:ph type="sldNum" sz="quarter" idx="5"/>
          </p:nvPr>
        </p:nvSpPr>
        <p:spPr/>
        <p:txBody>
          <a:bodyPr/>
          <a:lstStyle/>
          <a:p>
            <a:fld id="{1D09229F-6F41-4CC3-A51C-EB832A3392C5}" type="slidenum">
              <a:rPr lang="en-US" smtClean="0"/>
              <a:t>17</a:t>
            </a:fld>
            <a:endParaRPr lang="en-US"/>
          </a:p>
        </p:txBody>
      </p:sp>
    </p:spTree>
    <p:extLst>
      <p:ext uri="{BB962C8B-B14F-4D97-AF65-F5344CB8AC3E}">
        <p14:creationId xmlns:p14="http://schemas.microsoft.com/office/powerpoint/2010/main" val="1055778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976FD-07B4-7105-B36A-E50879398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2F3AF-E0B4-5121-CEDF-4E72240321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FF66F-9C56-8F47-4E6F-97D5F3E2A9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is a high level, you can explain briefly each column </a:t>
            </a:r>
            <a:endParaRPr lang="en-CA"/>
          </a:p>
          <a:p>
            <a:endParaRPr lang="en-CA"/>
          </a:p>
          <a:p>
            <a:r>
              <a:rPr lang="en-CA"/>
              <a:t>During labs we will check how to apply those concepts using Microsoft tools to ensure security</a:t>
            </a:r>
          </a:p>
        </p:txBody>
      </p:sp>
      <p:sp>
        <p:nvSpPr>
          <p:cNvPr id="4" name="Slide Number Placeholder 3">
            <a:extLst>
              <a:ext uri="{FF2B5EF4-FFF2-40B4-BE49-F238E27FC236}">
                <a16:creationId xmlns:a16="http://schemas.microsoft.com/office/drawing/2014/main" id="{F4AF14BC-FB15-C4EE-2E65-332F43C5CD74}"/>
              </a:ext>
            </a:extLst>
          </p:cNvPr>
          <p:cNvSpPr>
            <a:spLocks noGrp="1"/>
          </p:cNvSpPr>
          <p:nvPr>
            <p:ph type="sldNum" sz="quarter" idx="5"/>
          </p:nvPr>
        </p:nvSpPr>
        <p:spPr/>
        <p:txBody>
          <a:bodyPr/>
          <a:lstStyle/>
          <a:p>
            <a:fld id="{1D09229F-6F41-4CC3-A51C-EB832A3392C5}" type="slidenum">
              <a:rPr lang="en-US" smtClean="0"/>
              <a:t>18</a:t>
            </a:fld>
            <a:endParaRPr lang="en-US"/>
          </a:p>
        </p:txBody>
      </p:sp>
    </p:spTree>
    <p:extLst>
      <p:ext uri="{BB962C8B-B14F-4D97-AF65-F5344CB8AC3E}">
        <p14:creationId xmlns:p14="http://schemas.microsoft.com/office/powerpoint/2010/main" val="2136880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28079-C7A9-6CA0-5DD2-0DBD0A50F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25A54-82F7-6140-E09E-AF859BCBA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799D20-668A-A213-90DF-B06E1AC092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is a high level, you can explain briefly each column </a:t>
            </a:r>
            <a:endParaRPr lang="en-CA"/>
          </a:p>
          <a:p>
            <a:endParaRPr lang="en-CA"/>
          </a:p>
          <a:p>
            <a:r>
              <a:rPr lang="en-CA"/>
              <a:t>During labs we will check how to apply those concepts using Microsoft tools to ensure security</a:t>
            </a:r>
          </a:p>
        </p:txBody>
      </p:sp>
      <p:sp>
        <p:nvSpPr>
          <p:cNvPr id="4" name="Slide Number Placeholder 3">
            <a:extLst>
              <a:ext uri="{FF2B5EF4-FFF2-40B4-BE49-F238E27FC236}">
                <a16:creationId xmlns:a16="http://schemas.microsoft.com/office/drawing/2014/main" id="{03E871A5-D088-A547-A1F6-3DF6A2E9875A}"/>
              </a:ext>
            </a:extLst>
          </p:cNvPr>
          <p:cNvSpPr>
            <a:spLocks noGrp="1"/>
          </p:cNvSpPr>
          <p:nvPr>
            <p:ph type="sldNum" sz="quarter" idx="5"/>
          </p:nvPr>
        </p:nvSpPr>
        <p:spPr/>
        <p:txBody>
          <a:bodyPr/>
          <a:lstStyle/>
          <a:p>
            <a:fld id="{1D09229F-6F41-4CC3-A51C-EB832A3392C5}" type="slidenum">
              <a:rPr lang="en-US" smtClean="0"/>
              <a:t>20</a:t>
            </a:fld>
            <a:endParaRPr lang="en-US"/>
          </a:p>
        </p:txBody>
      </p:sp>
    </p:spTree>
    <p:extLst>
      <p:ext uri="{BB962C8B-B14F-4D97-AF65-F5344CB8AC3E}">
        <p14:creationId xmlns:p14="http://schemas.microsoft.com/office/powerpoint/2010/main" val="1046071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15E1-FBE2-D622-C88E-47B68784F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D5062-344C-AC2A-0036-36CCAFBF2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E984A-F8AE-E16C-D353-06A6BF5608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How it works: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this security model, the AKS cluster acts as the token issuer. Microsoft Entra ID uses OpenID Connect to discover public signing keys and verify the authenticity of the service account token before exchanging it for a Microsoft Entra token. Your workload can exchange a service account token projected to its volume for a Microsoft Entra token using the Azure Identity client library or the Microsoft Authentication Library (MSAL).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a:extLst>
              <a:ext uri="{FF2B5EF4-FFF2-40B4-BE49-F238E27FC236}">
                <a16:creationId xmlns:a16="http://schemas.microsoft.com/office/drawing/2014/main" id="{35A509D8-6A3C-3F73-9FA9-9C6DCA097DD6}"/>
              </a:ext>
            </a:extLst>
          </p:cNvPr>
          <p:cNvSpPr>
            <a:spLocks noGrp="1"/>
          </p:cNvSpPr>
          <p:nvPr>
            <p:ph type="sldNum" sz="quarter" idx="5"/>
          </p:nvPr>
        </p:nvSpPr>
        <p:spPr/>
        <p:txBody>
          <a:bodyPr/>
          <a:lstStyle/>
          <a:p>
            <a:fld id="{1D09229F-6F41-4CC3-A51C-EB832A3392C5}" type="slidenum">
              <a:rPr lang="en-US" smtClean="0"/>
              <a:t>21</a:t>
            </a:fld>
            <a:endParaRPr lang="en-US"/>
          </a:p>
        </p:txBody>
      </p:sp>
    </p:spTree>
    <p:extLst>
      <p:ext uri="{BB962C8B-B14F-4D97-AF65-F5344CB8AC3E}">
        <p14:creationId xmlns:p14="http://schemas.microsoft.com/office/powerpoint/2010/main" val="21680346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1 AKS issue a token to the pod when it is schedule on a node and based manifest</a:t>
            </a:r>
          </a:p>
          <a:p>
            <a:r>
              <a:rPr lang="en-GB" dirty="0"/>
              <a:t>2 When Pod need access to resource then it send the AKS token and send that to Entra to request a token to a resource</a:t>
            </a:r>
          </a:p>
          <a:p>
            <a:r>
              <a:rPr lang="en-GB" dirty="0"/>
              <a:t>3 Entra then check the trust and validate the incoming token with the federate identity</a:t>
            </a:r>
          </a:p>
          <a:p>
            <a:r>
              <a:rPr lang="en-GB" dirty="0"/>
              <a:t>4 AD issue a token for the resource</a:t>
            </a:r>
          </a:p>
          <a:p>
            <a:r>
              <a:rPr lang="en-GB" dirty="0"/>
              <a:t>5 And Pod can use the token to access the resource</a:t>
            </a:r>
          </a:p>
          <a:p>
            <a:endParaRPr lang="en-GB" dirty="0"/>
          </a:p>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22</a:t>
            </a:fld>
            <a:endParaRPr lang="en-US"/>
          </a:p>
        </p:txBody>
      </p:sp>
    </p:spTree>
    <p:extLst>
      <p:ext uri="{BB962C8B-B14F-4D97-AF65-F5344CB8AC3E}">
        <p14:creationId xmlns:p14="http://schemas.microsoft.com/office/powerpoint/2010/main" val="12291886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8CC6C-D41A-52F8-CB3E-F083B965E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565F1-226E-59D1-25E3-065C44A10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58441-5ACA-BE1C-6030-8EBA2D6F27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is a high level, you can explain briefly each column </a:t>
            </a:r>
            <a:endParaRPr lang="en-CA"/>
          </a:p>
          <a:p>
            <a:endParaRPr lang="en-CA"/>
          </a:p>
          <a:p>
            <a:r>
              <a:rPr lang="en-CA"/>
              <a:t>During labs we will check how to apply those concepts using Microsoft tools to ensure security</a:t>
            </a:r>
          </a:p>
        </p:txBody>
      </p:sp>
      <p:sp>
        <p:nvSpPr>
          <p:cNvPr id="4" name="Slide Number Placeholder 3">
            <a:extLst>
              <a:ext uri="{FF2B5EF4-FFF2-40B4-BE49-F238E27FC236}">
                <a16:creationId xmlns:a16="http://schemas.microsoft.com/office/drawing/2014/main" id="{8289738C-DB51-056B-D37C-6E1A36DD9892}"/>
              </a:ext>
            </a:extLst>
          </p:cNvPr>
          <p:cNvSpPr>
            <a:spLocks noGrp="1"/>
          </p:cNvSpPr>
          <p:nvPr>
            <p:ph type="sldNum" sz="quarter" idx="5"/>
          </p:nvPr>
        </p:nvSpPr>
        <p:spPr/>
        <p:txBody>
          <a:bodyPr/>
          <a:lstStyle/>
          <a:p>
            <a:fld id="{1D09229F-6F41-4CC3-A51C-EB832A3392C5}" type="slidenum">
              <a:rPr lang="en-US" smtClean="0"/>
              <a:t>23</a:t>
            </a:fld>
            <a:endParaRPr lang="en-US"/>
          </a:p>
        </p:txBody>
      </p:sp>
    </p:spTree>
    <p:extLst>
      <p:ext uri="{BB962C8B-B14F-4D97-AF65-F5344CB8AC3E}">
        <p14:creationId xmlns:p14="http://schemas.microsoft.com/office/powerpoint/2010/main" val="31099116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25</a:t>
            </a:fld>
            <a:endParaRPr lang="en-US"/>
          </a:p>
        </p:txBody>
      </p:sp>
    </p:spTree>
    <p:extLst>
      <p:ext uri="{BB962C8B-B14F-4D97-AF65-F5344CB8AC3E}">
        <p14:creationId xmlns:p14="http://schemas.microsoft.com/office/powerpoint/2010/main" val="20297417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D4331-8565-CA1B-23CC-0A57EEE9F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55554-7949-DB6A-4F84-A2ACC5F7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9B831-8321-6392-DFC9-C790777F80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While Calico can be used as a network security option it is </a:t>
            </a:r>
            <a:r>
              <a:rPr lang="en-CA" b="1" dirty="0"/>
              <a:t>NOT </a:t>
            </a:r>
            <a:r>
              <a:rPr lang="en-CA" b="0" dirty="0"/>
              <a:t> tested or supported by the AKS product group.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b="0" dirty="0"/>
              <a:t>Cilium is tested and supported by the AKS PG and Azure support can assist with issues.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b="0" dirty="0"/>
              <a:t>This link can help with explaining differences between the different policy engines </a:t>
            </a:r>
            <a:r>
              <a:rPr lang="en-US" dirty="0">
                <a:hlinkClick r:id="rId3"/>
              </a:rPr>
              <a:t>Secure pod traffic with network policies - Azure Kubernetes Service | Microsoft Learn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Gatekeeper is already used by Azure Policy on AKS. Can use Gatekeepers community library and Rego to create polices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err="1"/>
              <a:t>Kyverno</a:t>
            </a:r>
            <a:r>
              <a:rPr lang="en-CA" dirty="0"/>
              <a:t> is a similar policy engine, but it can control state and reapply Kubernetes objects on a cluster (ex: Someone deletes a limit range it can reapply it). Uses standard YAML templates.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a:extLst>
              <a:ext uri="{FF2B5EF4-FFF2-40B4-BE49-F238E27FC236}">
                <a16:creationId xmlns:a16="http://schemas.microsoft.com/office/drawing/2014/main" id="{A84E15BE-30E7-85D0-9DFE-743BFF694AE7}"/>
              </a:ext>
            </a:extLst>
          </p:cNvPr>
          <p:cNvSpPr>
            <a:spLocks noGrp="1"/>
          </p:cNvSpPr>
          <p:nvPr>
            <p:ph type="sldNum" sz="quarter" idx="5"/>
          </p:nvPr>
        </p:nvSpPr>
        <p:spPr/>
        <p:txBody>
          <a:bodyPr/>
          <a:lstStyle/>
          <a:p>
            <a:fld id="{1D09229F-6F41-4CC3-A51C-EB832A3392C5}" type="slidenum">
              <a:rPr lang="en-US" smtClean="0"/>
              <a:t>26</a:t>
            </a:fld>
            <a:endParaRPr lang="en-US"/>
          </a:p>
        </p:txBody>
      </p:sp>
    </p:spTree>
    <p:extLst>
      <p:ext uri="{BB962C8B-B14F-4D97-AF65-F5344CB8AC3E}">
        <p14:creationId xmlns:p14="http://schemas.microsoft.com/office/powerpoint/2010/main" val="1285572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F0ACE-0897-8BBB-C4EF-CC9CD9D0D263}"/>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526AAC3B-DD21-DFF8-01B4-55A581FFB106}"/>
              </a:ext>
            </a:extLst>
          </p:cNvPr>
          <p:cNvSpPr>
            <a:spLocks noGrp="1"/>
          </p:cNvSpPr>
          <p:nvPr>
            <p:ph type="body" idx="1"/>
          </p:nvPr>
        </p:nvSpPr>
        <p:spPr/>
        <p:txBody>
          <a:bodyPr/>
          <a:lstStyle/>
          <a:p>
            <a:r>
              <a:rPr lang="en-US" dirty="0"/>
              <a:t>Workload identity Demo: </a:t>
            </a:r>
            <a:r>
              <a:rPr lang="en-US" dirty="0">
                <a:hlinkClick r:id="rId3"/>
              </a:rPr>
              <a:t>Workload Identity | AKS LABS</a:t>
            </a:r>
            <a:endParaRPr lang="en-US" dirty="0"/>
          </a:p>
          <a:p>
            <a:endParaRPr lang="en-US"/>
          </a:p>
          <a:p>
            <a:endParaRPr lang="en-US" dirty="0"/>
          </a:p>
        </p:txBody>
      </p:sp>
      <p:sp>
        <p:nvSpPr>
          <p:cNvPr id="4" name="Slide Number Placeholder 3">
            <a:extLst>
              <a:ext uri="{FF2B5EF4-FFF2-40B4-BE49-F238E27FC236}">
                <a16:creationId xmlns:a16="http://schemas.microsoft.com/office/drawing/2014/main" id="{F7AA9A9D-AABF-213E-9B50-7DA2BDF092DC}"/>
              </a:ext>
            </a:extLst>
          </p:cNvPr>
          <p:cNvSpPr>
            <a:spLocks noGrp="1"/>
          </p:cNvSpPr>
          <p:nvPr>
            <p:ph type="sldNum" sz="quarter" idx="10"/>
          </p:nvPr>
        </p:nvSpPr>
        <p:spPr/>
        <p:txBody>
          <a:bodyPr/>
          <a:lstStyle/>
          <a:p>
            <a:fld id="{B4008EB6-D09E-4580-8CD6-DDB14511944F}" type="slidenum">
              <a:rPr lang="en-US" smtClean="0"/>
              <a:pPr/>
              <a:t>27</a:t>
            </a:fld>
            <a:endParaRPr lang="en-US"/>
          </a:p>
        </p:txBody>
      </p:sp>
      <p:sp>
        <p:nvSpPr>
          <p:cNvPr id="5" name="Footer Placeholder 4">
            <a:extLst>
              <a:ext uri="{FF2B5EF4-FFF2-40B4-BE49-F238E27FC236}">
                <a16:creationId xmlns:a16="http://schemas.microsoft.com/office/drawing/2014/main" id="{4002BA33-1150-5661-E5D3-4E58D39BA342}"/>
              </a:ext>
            </a:extLst>
          </p:cNvPr>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24599ADC-413D-0389-CEDA-68F829A72289}"/>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4686989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1843582"/>
          </a:xfrm>
        </p:spPr>
        <p:txBody>
          <a:bodyPr/>
          <a:lstStyle>
            <a:lvl1pPr marL="0" indent="0">
              <a:spcAft>
                <a:spcPts val="600"/>
              </a:spcAft>
              <a:buNone/>
              <a:defRPr>
                <a:solidFill>
                  <a:schemeClr val="tx1"/>
                </a:solidFill>
              </a:defRPr>
            </a:lvl1pPr>
            <a:lvl2pPr>
              <a:spcAft>
                <a:spcPts val="600"/>
              </a:spcAft>
              <a:defRPr>
                <a:solidFill>
                  <a:schemeClr val="tx1"/>
                </a:solidFill>
              </a:defRPr>
            </a:lvl2pPr>
            <a:lvl3pPr>
              <a:spcAft>
                <a:spcPts val="600"/>
              </a:spcAft>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386220483"/>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20.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6.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hyperlink" Target="https://aka.ms/csscframework" TargetMode="External"/><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2.xml"/><Relationship Id="rId1" Type="http://schemas.openxmlformats.org/officeDocument/2006/relationships/tags" Target="../tags/tag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image" Target="../media/image15.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8.xml"/><Relationship Id="rId16" Type="http://schemas.openxmlformats.org/officeDocument/2006/relationships/image" Target="../media/image27.png"/><Relationship Id="rId1" Type="http://schemas.openxmlformats.org/officeDocument/2006/relationships/slideLayout" Target="../slideLayouts/slideLayout4.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png"/><Relationship Id="rId15" Type="http://schemas.openxmlformats.org/officeDocument/2006/relationships/image" Target="../media/image26.svg"/><Relationship Id="rId10" Type="http://schemas.openxmlformats.org/officeDocument/2006/relationships/image" Target="../media/image21.png"/><Relationship Id="rId4" Type="http://schemas.microsoft.com/office/2007/relationships/hdphoto" Target="../media/hdphoto1.wdp"/><Relationship Id="rId9" Type="http://schemas.openxmlformats.org/officeDocument/2006/relationships/image" Target="../media/image20.png"/><Relationship Id="rId1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6.xml"/><Relationship Id="rId1" Type="http://schemas.openxmlformats.org/officeDocument/2006/relationships/tags" Target="../tags/tag7.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8.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9.sv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3.xml"/><Relationship Id="rId1" Type="http://schemas.openxmlformats.org/officeDocument/2006/relationships/tags" Target="../tags/tag8.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8.png"/><Relationship Id="rId7" Type="http://schemas.openxmlformats.org/officeDocument/2006/relationships/image" Target="../media/image31.svg"/><Relationship Id="rId12"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0.png"/><Relationship Id="rId11" Type="http://schemas.openxmlformats.org/officeDocument/2006/relationships/image" Target="../media/image33.svg"/><Relationship Id="rId5" Type="http://schemas.openxmlformats.org/officeDocument/2006/relationships/image" Target="../media/image17.png"/><Relationship Id="rId10" Type="http://schemas.openxmlformats.org/officeDocument/2006/relationships/image" Target="../media/image32.png"/><Relationship Id="rId4" Type="http://schemas.openxmlformats.org/officeDocument/2006/relationships/image" Target="../media/image29.svg"/><Relationship Id="rId9" Type="http://schemas.openxmlformats.org/officeDocument/2006/relationships/image" Target="../media/image26.sv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9.xml"/><Relationship Id="rId1" Type="http://schemas.openxmlformats.org/officeDocument/2006/relationships/tags" Target="../tags/tag9.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27.png"/><Relationship Id="rId3" Type="http://schemas.openxmlformats.org/officeDocument/2006/relationships/image" Target="../media/image28.png"/><Relationship Id="rId7" Type="http://schemas.openxmlformats.org/officeDocument/2006/relationships/image" Target="../media/image23.png"/><Relationship Id="rId12" Type="http://schemas.openxmlformats.org/officeDocument/2006/relationships/image" Target="../media/image26.svg"/><Relationship Id="rId2" Type="http://schemas.openxmlformats.org/officeDocument/2006/relationships/notesSlide" Target="../notesSlides/notesSlide14.xml"/><Relationship Id="rId16" Type="http://schemas.openxmlformats.org/officeDocument/2006/relationships/image" Target="../media/image38.png"/><Relationship Id="rId1" Type="http://schemas.openxmlformats.org/officeDocument/2006/relationships/slideLayout" Target="../slideLayouts/slideLayout4.xml"/><Relationship Id="rId6" Type="http://schemas.openxmlformats.org/officeDocument/2006/relationships/image" Target="../media/image22.svg"/><Relationship Id="rId11" Type="http://schemas.openxmlformats.org/officeDocument/2006/relationships/image" Target="../media/image25.png"/><Relationship Id="rId5" Type="http://schemas.openxmlformats.org/officeDocument/2006/relationships/image" Target="../media/image21.png"/><Relationship Id="rId15" Type="http://schemas.openxmlformats.org/officeDocument/2006/relationships/image" Target="../media/image37.png"/><Relationship Id="rId10" Type="http://schemas.openxmlformats.org/officeDocument/2006/relationships/image" Target="../media/image24.png"/><Relationship Id="rId4" Type="http://schemas.openxmlformats.org/officeDocument/2006/relationships/image" Target="../media/image29.svg"/><Relationship Id="rId9" Type="http://schemas.openxmlformats.org/officeDocument/2006/relationships/image" Target="../media/image35.svg"/><Relationship Id="rId1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5.xml"/><Relationship Id="rId1" Type="http://schemas.openxmlformats.org/officeDocument/2006/relationships/tags" Target="../tags/tag10.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4.svg"/><Relationship Id="rId3" Type="http://schemas.openxmlformats.org/officeDocument/2006/relationships/image" Target="../media/image28.png"/><Relationship Id="rId7" Type="http://schemas.openxmlformats.org/officeDocument/2006/relationships/image" Target="../media/image41.png"/><Relationship Id="rId12" Type="http://schemas.openxmlformats.org/officeDocument/2006/relationships/image" Target="../media/image43.png"/><Relationship Id="rId17" Type="http://schemas.openxmlformats.org/officeDocument/2006/relationships/image" Target="../media/image37.png"/><Relationship Id="rId2" Type="http://schemas.openxmlformats.org/officeDocument/2006/relationships/notesSlide" Target="../notesSlides/notesSlide16.xml"/><Relationship Id="rId16" Type="http://schemas.openxmlformats.org/officeDocument/2006/relationships/image" Target="../media/image47.png"/><Relationship Id="rId1" Type="http://schemas.openxmlformats.org/officeDocument/2006/relationships/slideLayout" Target="../slideLayouts/slideLayout4.xml"/><Relationship Id="rId6" Type="http://schemas.openxmlformats.org/officeDocument/2006/relationships/image" Target="../media/image40.svg"/><Relationship Id="rId11" Type="http://schemas.openxmlformats.org/officeDocument/2006/relationships/image" Target="../media/image38.png"/><Relationship Id="rId5" Type="http://schemas.openxmlformats.org/officeDocument/2006/relationships/image" Target="../media/image39.png"/><Relationship Id="rId15" Type="http://schemas.openxmlformats.org/officeDocument/2006/relationships/image" Target="../media/image46.svg"/><Relationship Id="rId10" Type="http://schemas.openxmlformats.org/officeDocument/2006/relationships/image" Target="../media/image26.svg"/><Relationship Id="rId4" Type="http://schemas.openxmlformats.org/officeDocument/2006/relationships/image" Target="../media/image29.svg"/><Relationship Id="rId9" Type="http://schemas.openxmlformats.org/officeDocument/2006/relationships/image" Target="../media/image25.png"/><Relationship Id="rId14" Type="http://schemas.openxmlformats.org/officeDocument/2006/relationships/image" Target="../media/image45.png"/></Relationships>
</file>

<file path=ppt/slides/_rels/slide17.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9.png"/><Relationship Id="rId18" Type="http://schemas.openxmlformats.org/officeDocument/2006/relationships/image" Target="../media/image14.sv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8.svg"/><Relationship Id="rId17" Type="http://schemas.openxmlformats.org/officeDocument/2006/relationships/image" Target="../media/image13.png"/><Relationship Id="rId2" Type="http://schemas.openxmlformats.org/officeDocument/2006/relationships/notesSlide" Target="../notesSlides/notesSlide17.xml"/><Relationship Id="rId16" Type="http://schemas.openxmlformats.org/officeDocument/2006/relationships/image" Target="../media/image12.svg"/><Relationship Id="rId1" Type="http://schemas.openxmlformats.org/officeDocument/2006/relationships/slideLayout" Target="../slideLayouts/slideLayout4.xml"/><Relationship Id="rId6" Type="http://schemas.openxmlformats.org/officeDocument/2006/relationships/image" Target="../media/image51.svg"/><Relationship Id="rId11" Type="http://schemas.openxmlformats.org/officeDocument/2006/relationships/image" Target="../media/image7.png"/><Relationship Id="rId5" Type="http://schemas.openxmlformats.org/officeDocument/2006/relationships/image" Target="../media/image50.png"/><Relationship Id="rId15" Type="http://schemas.openxmlformats.org/officeDocument/2006/relationships/image" Target="../media/image11.png"/><Relationship Id="rId10" Type="http://schemas.openxmlformats.org/officeDocument/2006/relationships/image" Target="../media/image6.svg"/><Relationship Id="rId4" Type="http://schemas.openxmlformats.org/officeDocument/2006/relationships/image" Target="../media/image49.svg"/><Relationship Id="rId9" Type="http://schemas.openxmlformats.org/officeDocument/2006/relationships/image" Target="../media/image5.png"/><Relationship Id="rId14" Type="http://schemas.openxmlformats.org/officeDocument/2006/relationships/image" Target="../media/image10.svg"/></Relationships>
</file>

<file path=ppt/slides/_rels/slide1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54.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8.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57.svg"/><Relationship Id="rId11" Type="http://schemas.openxmlformats.org/officeDocument/2006/relationships/image" Target="../media/image9.png"/><Relationship Id="rId5" Type="http://schemas.openxmlformats.org/officeDocument/2006/relationships/image" Target="../media/image56.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55.svg"/><Relationship Id="rId9" Type="http://schemas.openxmlformats.org/officeDocument/2006/relationships/image" Target="../media/image7.png"/><Relationship Id="rId14" Type="http://schemas.openxmlformats.org/officeDocument/2006/relationships/image" Target="../media/image12.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trivy.dev/latest/" TargetMode="External"/><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hyperlink" Target="https://project-copacetic.github.io/copacetic/website/"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31.xml"/><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2303312"/>
            <a:ext cx="7298437" cy="3046988"/>
          </a:xfrm>
        </p:spPr>
        <p:txBody>
          <a:bodyPr/>
          <a:lstStyle/>
          <a:p>
            <a:r>
              <a:rPr lang="en-US">
                <a:latin typeface="Segoe UI Semibold"/>
                <a:cs typeface="Segoe UI Semibold"/>
              </a:rPr>
              <a:t>Azure Kubernetes Service (AKS)</a:t>
            </a:r>
            <a:br>
              <a:rPr lang="en-US">
                <a:latin typeface="Segoe UI Semibold"/>
                <a:cs typeface="Segoe UI Semibold"/>
              </a:rPr>
            </a:br>
            <a:r>
              <a:rPr lang="en-US">
                <a:latin typeface="Segoe UI Semibold"/>
                <a:cs typeface="Segoe UI Semibold"/>
              </a:rPr>
              <a:t>Security</a:t>
            </a:r>
            <a:endParaRPr lang="en-US"/>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p:txBody>
          <a:bodyPr>
            <a:normAutofit/>
          </a:bodyPr>
          <a:lstStyle/>
          <a:p>
            <a:r>
              <a:rPr lang="en-US"/>
              <a:t>Module X</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lIns="0" tIns="0" rIns="0" bIns="0" anchor="t"/>
          <a:lstStyle/>
          <a:p>
            <a:r>
              <a:rPr lang="en-US"/>
              <a:t>Learning Units covered </a:t>
            </a:r>
            <a:br>
              <a:rPr lang="en-US"/>
            </a:br>
            <a:r>
              <a:rPr lang="en-US"/>
              <a:t>in this Module</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280860763"/>
              </p:ext>
            </p:extLst>
          </p:nvPr>
        </p:nvGraphicFramePr>
        <p:xfrm>
          <a:off x="575481" y="1815577"/>
          <a:ext cx="5669280" cy="4453461"/>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Core Kubernetes Security Concepts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kumimoji="0" lang="da-DK" sz="1800" b="0" i="0" u="none" strike="noStrike" kern="1200" cap="none" spc="0" normalizeH="0" baseline="0" noProof="0">
                          <a:ln>
                            <a:noFill/>
                          </a:ln>
                          <a:solidFill>
                            <a:srgbClr val="000000"/>
                          </a:solidFill>
                          <a:effectLst/>
                          <a:uLnTx/>
                          <a:uFillTx/>
                          <a:latin typeface="Segoe UI"/>
                          <a:ea typeface="+mn-ea"/>
                          <a:cs typeface="Segoe UI"/>
                        </a:rPr>
                        <a:t>Security options </a:t>
                      </a:r>
                      <a:r>
                        <a:rPr lang="da-DK" sz="1800" b="0" i="0" u="none" strike="noStrike" kern="1200" cap="none" spc="0" normalizeH="0" baseline="0" noProof="0">
                          <a:ln>
                            <a:noFill/>
                          </a:ln>
                          <a:solidFill>
                            <a:srgbClr val="000000"/>
                          </a:solidFill>
                          <a:effectLst/>
                          <a:uLnTx/>
                          <a:uFillTx/>
                          <a:latin typeface="Segoe UI"/>
                          <a:ea typeface="+mn-ea"/>
                          <a:cs typeface="Segoe UI"/>
                        </a:rPr>
                        <a:t>for </a:t>
                      </a:r>
                      <a:r>
                        <a:rPr kumimoji="0" lang="da-DK" sz="1800" b="0" i="0" u="none" strike="noStrike" kern="1200" cap="none" spc="0" normalizeH="0" baseline="0" noProof="0">
                          <a:ln>
                            <a:noFill/>
                          </a:ln>
                          <a:solidFill>
                            <a:srgbClr val="000000"/>
                          </a:solidFill>
                          <a:effectLst/>
                          <a:uLnTx/>
                          <a:uFillTx/>
                          <a:latin typeface="Segoe UI"/>
                          <a:ea typeface="+mn-ea"/>
                          <a:cs typeface="Segoe UI"/>
                        </a:rPr>
                        <a:t>running Kubernetes on Azure</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88902310"/>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722184" y="23071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67" name="Straight Connector 166">
            <a:extLst>
              <a:ext uri="{FF2B5EF4-FFF2-40B4-BE49-F238E27FC236}">
                <a16:creationId xmlns:a16="http://schemas.microsoft.com/office/drawing/2014/main" id="{7B195598-F76A-4EA1-BF44-B801A69B2AEB}"/>
              </a:ext>
              <a:ext uri="{C183D7F6-B498-43B3-948B-1728B52AA6E4}">
                <adec:decorative xmlns:adec="http://schemas.microsoft.com/office/drawing/2017/decorative" val="1"/>
              </a:ext>
            </a:extLst>
          </p:cNvPr>
          <p:cNvCxnSpPr>
            <a:cxnSpLocks/>
          </p:cNvCxnSpPr>
          <p:nvPr/>
        </p:nvCxnSpPr>
        <p:spPr>
          <a:xfrm>
            <a:off x="5771254" y="329609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722184" y="380254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2" name="Straight Connector 191">
            <a:extLst>
              <a:ext uri="{FF2B5EF4-FFF2-40B4-BE49-F238E27FC236}">
                <a16:creationId xmlns:a16="http://schemas.microsoft.com/office/drawing/2014/main" id="{E0224169-9119-47EF-96EE-DDA203D7C417}"/>
              </a:ext>
              <a:ext uri="{C183D7F6-B498-43B3-948B-1728B52AA6E4}">
                <adec:decorative xmlns:adec="http://schemas.microsoft.com/office/drawing/2017/decorative" val="1"/>
              </a:ext>
            </a:extLst>
          </p:cNvPr>
          <p:cNvCxnSpPr>
            <a:cxnSpLocks/>
          </p:cNvCxnSpPr>
          <p:nvPr/>
        </p:nvCxnSpPr>
        <p:spPr>
          <a:xfrm>
            <a:off x="5771254" y="478742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99" name="Group 198">
            <a:extLst>
              <a:ext uri="{FF2B5EF4-FFF2-40B4-BE49-F238E27FC236}">
                <a16:creationId xmlns:a16="http://schemas.microsoft.com/office/drawing/2014/main" id="{026E5944-69DF-4321-BDB3-841BA2C11C04}"/>
              </a:ext>
              <a:ext uri="{C183D7F6-B498-43B3-948B-1728B52AA6E4}">
                <adec:decorative xmlns:adec="http://schemas.microsoft.com/office/drawing/2017/decorative" val="1"/>
              </a:ext>
            </a:extLst>
          </p:cNvPr>
          <p:cNvGrpSpPr>
            <a:grpSpLocks/>
          </p:cNvGrpSpPr>
          <p:nvPr/>
        </p:nvGrpSpPr>
        <p:grpSpPr>
          <a:xfrm>
            <a:off x="722184" y="5297927"/>
            <a:ext cx="522238" cy="522238"/>
            <a:chOff x="7039782" y="1468393"/>
            <a:chExt cx="751672" cy="751672"/>
          </a:xfrm>
        </p:grpSpPr>
        <p:sp>
          <p:nvSpPr>
            <p:cNvPr id="200" name="Oval 199">
              <a:extLst>
                <a:ext uri="{FF2B5EF4-FFF2-40B4-BE49-F238E27FC236}">
                  <a16:creationId xmlns:a16="http://schemas.microsoft.com/office/drawing/2014/main" id="{9FCF0032-1DAB-434C-8E68-E23616E5312F}"/>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1" name="list_4">
              <a:extLst>
                <a:ext uri="{FF2B5EF4-FFF2-40B4-BE49-F238E27FC236}">
                  <a16:creationId xmlns:a16="http://schemas.microsoft.com/office/drawing/2014/main" id="{5949B67D-CC59-478A-AB79-3C00B775DB3E}"/>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F0E5C-74E1-39AA-208E-980DD87309E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216F31B-A3F9-33FA-988C-64A31BFC91DC}"/>
              </a:ext>
            </a:extLst>
          </p:cNvPr>
          <p:cNvSpPr>
            <a:spLocks noGrp="1"/>
          </p:cNvSpPr>
          <p:nvPr>
            <p:ph type="title"/>
            <p:custDataLst>
              <p:custData r:id="rId2"/>
            </p:custDataLst>
          </p:nvPr>
        </p:nvSpPr>
        <p:spPr>
          <a:xfrm>
            <a:off x="584200" y="3318975"/>
            <a:ext cx="9169400" cy="2031325"/>
          </a:xfrm>
        </p:spPr>
        <p:txBody>
          <a:bodyPr/>
          <a:lstStyle/>
          <a:p>
            <a:r>
              <a:rPr lang="en-US"/>
              <a:t>Core Kubernetes Security Concepts</a:t>
            </a:r>
          </a:p>
        </p:txBody>
      </p:sp>
      <p:sp>
        <p:nvSpPr>
          <p:cNvPr id="2" name="Text Placeholder 1">
            <a:extLst>
              <a:ext uri="{FF2B5EF4-FFF2-40B4-BE49-F238E27FC236}">
                <a16:creationId xmlns:a16="http://schemas.microsoft.com/office/drawing/2014/main" id="{4805018F-E39F-FFE3-AD24-2B1F009D6E1C}"/>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FEFF16D7-CEA3-2372-3811-72D391422513}"/>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BB10BA0C-90BC-96A2-6ED8-33D6FB93321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97190842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8F592-F6EE-03E1-C988-E9196CFCB59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D3114F4-5AAD-FE28-D381-4DD575409F5C}"/>
              </a:ext>
            </a:extLst>
          </p:cNvPr>
          <p:cNvSpPr>
            <a:spLocks noGrp="1"/>
          </p:cNvSpPr>
          <p:nvPr>
            <p:ph type="title"/>
          </p:nvPr>
        </p:nvSpPr>
        <p:spPr/>
        <p:txBody>
          <a:bodyPr/>
          <a:lstStyle/>
          <a:p>
            <a:r>
              <a:rPr lang="en-US"/>
              <a:t>Secure all the things!!</a:t>
            </a:r>
          </a:p>
        </p:txBody>
      </p:sp>
      <p:sp>
        <p:nvSpPr>
          <p:cNvPr id="38" name="Rectangle 37">
            <a:extLst>
              <a:ext uri="{FF2B5EF4-FFF2-40B4-BE49-F238E27FC236}">
                <a16:creationId xmlns:a16="http://schemas.microsoft.com/office/drawing/2014/main" id="{8D41905D-3F97-94DE-34DE-CA20C698A3DE}"/>
              </a:ext>
              <a:ext uri="{C183D7F6-B498-43B3-948B-1728B52AA6E4}">
                <adec:decorative xmlns:adec="http://schemas.microsoft.com/office/drawing/2017/decorative" val="1"/>
              </a:ext>
            </a:extLst>
          </p:cNvPr>
          <p:cNvSpPr/>
          <p:nvPr/>
        </p:nvSpPr>
        <p:spPr bwMode="auto">
          <a:xfrm>
            <a:off x="575481" y="1943965"/>
            <a:ext cx="11045019" cy="4328248"/>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defTabSz="932563">
              <a:spcBef>
                <a:spcPts val="300"/>
              </a:spcBef>
              <a:spcAft>
                <a:spcPts val="200"/>
              </a:spcAft>
            </a:pPr>
            <a:r>
              <a:rPr lang="en-US">
                <a:solidFill>
                  <a:schemeClr val="accent6"/>
                </a:solidFill>
                <a:cs typeface="Segoe UI Semibold" panose="020B0702040204020203" pitchFamily="34" charset="0"/>
              </a:rPr>
              <a:t>Consider the following five attack surfaces when you create a security strategy for Kubernetes clusters:</a:t>
            </a:r>
          </a:p>
          <a:p>
            <a:pPr marL="285750" indent="-285750" defTabSz="932563">
              <a:spcBef>
                <a:spcPts val="300"/>
              </a:spcBef>
              <a:spcAft>
                <a:spcPts val="200"/>
              </a:spcAft>
              <a:buFont typeface="Arial" panose="020B0604020202020204" pitchFamily="34" charset="0"/>
              <a:buChar char="•"/>
            </a:pPr>
            <a:endParaRPr lang="en-US">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endParaRPr lang="en-US">
              <a:solidFill>
                <a:schemeClr val="accent6"/>
              </a:solidFill>
              <a:cs typeface="Segoe UI Semibold" panose="020B0702040204020203" pitchFamily="34" charset="0"/>
            </a:endParaRPr>
          </a:p>
          <a:p>
            <a:pPr marL="285750" indent="-285750" defTabSz="932563">
              <a:spcBef>
                <a:spcPts val="300"/>
              </a:spcBef>
              <a:spcAft>
                <a:spcPts val="200"/>
              </a:spcAft>
              <a:buFont typeface="Arial" panose="020B0604020202020204" pitchFamily="34" charset="0"/>
              <a:buChar char="•"/>
            </a:pPr>
            <a:r>
              <a:rPr lang="en-US">
                <a:solidFill>
                  <a:schemeClr val="accent6"/>
                </a:solidFill>
                <a:cs typeface="Segoe UI Semibold" panose="020B0702040204020203" pitchFamily="34" charset="0"/>
              </a:rPr>
              <a:t>Build</a:t>
            </a:r>
          </a:p>
          <a:p>
            <a:pPr marL="285750" indent="-285750" defTabSz="932563">
              <a:spcBef>
                <a:spcPts val="300"/>
              </a:spcBef>
              <a:spcAft>
                <a:spcPts val="200"/>
              </a:spcAft>
              <a:buFont typeface="Arial" panose="020B0604020202020204" pitchFamily="34" charset="0"/>
              <a:buChar char="•"/>
            </a:pPr>
            <a:r>
              <a:rPr lang="en-US">
                <a:solidFill>
                  <a:schemeClr val="accent6"/>
                </a:solidFill>
                <a:cs typeface="Segoe UI Semibold" panose="020B0702040204020203" pitchFamily="34" charset="0"/>
              </a:rPr>
              <a:t>Registry</a:t>
            </a:r>
          </a:p>
          <a:p>
            <a:pPr marL="285750" indent="-285750" defTabSz="932563">
              <a:spcBef>
                <a:spcPts val="300"/>
              </a:spcBef>
              <a:spcAft>
                <a:spcPts val="200"/>
              </a:spcAft>
              <a:buFont typeface="Arial" panose="020B0604020202020204" pitchFamily="34" charset="0"/>
              <a:buChar char="•"/>
            </a:pPr>
            <a:r>
              <a:rPr lang="en-US">
                <a:solidFill>
                  <a:schemeClr val="accent6"/>
                </a:solidFill>
                <a:cs typeface="Segoe UI Semibold" panose="020B0702040204020203" pitchFamily="34" charset="0"/>
              </a:rPr>
              <a:t>Cluster</a:t>
            </a:r>
          </a:p>
          <a:p>
            <a:pPr marL="285750" indent="-285750" defTabSz="932563">
              <a:spcBef>
                <a:spcPts val="300"/>
              </a:spcBef>
              <a:spcAft>
                <a:spcPts val="200"/>
              </a:spcAft>
              <a:buFont typeface="Arial" panose="020B0604020202020204" pitchFamily="34" charset="0"/>
              <a:buChar char="•"/>
            </a:pPr>
            <a:r>
              <a:rPr lang="en-US">
                <a:solidFill>
                  <a:schemeClr val="accent6"/>
                </a:solidFill>
                <a:cs typeface="Segoe UI Semibold" panose="020B0702040204020203" pitchFamily="34" charset="0"/>
              </a:rPr>
              <a:t>Node</a:t>
            </a:r>
          </a:p>
          <a:p>
            <a:pPr marL="285750" indent="-285750" defTabSz="932563">
              <a:spcBef>
                <a:spcPts val="300"/>
              </a:spcBef>
              <a:spcAft>
                <a:spcPts val="200"/>
              </a:spcAft>
              <a:buFont typeface="Arial" panose="020B0604020202020204" pitchFamily="34" charset="0"/>
              <a:buChar char="•"/>
            </a:pPr>
            <a:r>
              <a:rPr lang="en-US">
                <a:solidFill>
                  <a:schemeClr val="accent6"/>
                </a:solidFill>
                <a:cs typeface="Segoe UI Semibold" panose="020B0702040204020203" pitchFamily="34" charset="0"/>
              </a:rPr>
              <a:t>Application</a:t>
            </a:r>
          </a:p>
        </p:txBody>
      </p:sp>
      <p:grpSp>
        <p:nvGrpSpPr>
          <p:cNvPr id="13" name="Group 12">
            <a:extLst>
              <a:ext uri="{FF2B5EF4-FFF2-40B4-BE49-F238E27FC236}">
                <a16:creationId xmlns:a16="http://schemas.microsoft.com/office/drawing/2014/main" id="{7CD7FB8E-8689-4B2B-FA74-9208278CF97D}"/>
              </a:ext>
              <a:ext uri="{C183D7F6-B498-43B3-948B-1728B52AA6E4}">
                <adec:decorative xmlns:adec="http://schemas.microsoft.com/office/drawing/2017/decorative" val="1"/>
              </a:ext>
            </a:extLst>
          </p:cNvPr>
          <p:cNvGrpSpPr/>
          <p:nvPr/>
        </p:nvGrpSpPr>
        <p:grpSpPr>
          <a:xfrm rot="5400000" flipH="1">
            <a:off x="11076794" y="5477957"/>
            <a:ext cx="623197" cy="692063"/>
            <a:chOff x="10845725" y="1231900"/>
            <a:chExt cx="623197" cy="692063"/>
          </a:xfrm>
        </p:grpSpPr>
        <p:sp>
          <p:nvSpPr>
            <p:cNvPr id="12" name="Trapezoid 11">
              <a:extLst>
                <a:ext uri="{FF2B5EF4-FFF2-40B4-BE49-F238E27FC236}">
                  <a16:creationId xmlns:a16="http://schemas.microsoft.com/office/drawing/2014/main" id="{5C66A5C2-E910-2D0C-B10D-771FEDF8E288}"/>
                </a:ext>
              </a:extLst>
            </p:cNvPr>
            <p:cNvSpPr/>
            <p:nvPr/>
          </p:nvSpPr>
          <p:spPr bwMode="auto">
            <a:xfrm>
              <a:off x="10845725" y="1231900"/>
              <a:ext cx="623197" cy="113383"/>
            </a:xfrm>
            <a:prstGeom prst="trapezoid">
              <a:avLst>
                <a:gd name="adj" fmla="val 104333"/>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C41F1AEE-120C-45BE-31ED-E34176F8C23D}"/>
                </a:ext>
              </a:extLst>
            </p:cNvPr>
            <p:cNvSpPr/>
            <p:nvPr/>
          </p:nvSpPr>
          <p:spPr bwMode="auto">
            <a:xfrm>
              <a:off x="10963126" y="1231900"/>
              <a:ext cx="388396" cy="43330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45" name="Group 44" descr="Icon of a circle and a square with a curved arrow between them">
              <a:extLst>
                <a:ext uri="{FF2B5EF4-FFF2-40B4-BE49-F238E27FC236}">
                  <a16:creationId xmlns:a16="http://schemas.microsoft.com/office/drawing/2014/main" id="{7DF531B7-E045-74FB-4681-53431091C3FE}"/>
                </a:ext>
              </a:extLst>
            </p:cNvPr>
            <p:cNvGrpSpPr>
              <a:grpSpLocks/>
            </p:cNvGrpSpPr>
            <p:nvPr/>
          </p:nvGrpSpPr>
          <p:grpSpPr>
            <a:xfrm rot="5400000">
              <a:off x="10907217" y="1423750"/>
              <a:ext cx="500214" cy="500212"/>
              <a:chOff x="2717122" y="5635692"/>
              <a:chExt cx="500214" cy="500212"/>
            </a:xfrm>
          </p:grpSpPr>
          <p:sp>
            <p:nvSpPr>
              <p:cNvPr id="46" name="Oval 45">
                <a:extLst>
                  <a:ext uri="{FF2B5EF4-FFF2-40B4-BE49-F238E27FC236}">
                    <a16:creationId xmlns:a16="http://schemas.microsoft.com/office/drawing/2014/main" id="{63B07ADB-81C0-AA7D-BF88-6494EFB808C6}"/>
                  </a:ext>
                  <a:ext uri="{C183D7F6-B498-43B3-948B-1728B52AA6E4}">
                    <adec:decorative xmlns:adec="http://schemas.microsoft.com/office/drawing/2017/decorative" val="0"/>
                  </a:ext>
                </a:extLst>
              </p:cNvPr>
              <p:cNvSpPr>
                <a:spLocks/>
              </p:cNvSpPr>
              <p:nvPr/>
            </p:nvSpPr>
            <p:spPr bwMode="auto">
              <a:xfrm>
                <a:off x="2717122" y="5635692"/>
                <a:ext cx="500214" cy="50021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7" name="transform_2" title="Icon of a circle and a square with a curved arrow between them">
                <a:extLst>
                  <a:ext uri="{FF2B5EF4-FFF2-40B4-BE49-F238E27FC236}">
                    <a16:creationId xmlns:a16="http://schemas.microsoft.com/office/drawing/2014/main" id="{6AB1447D-CCF0-2F01-7150-07EC86223C07}"/>
                  </a:ext>
                </a:extLst>
              </p:cNvPr>
              <p:cNvSpPr>
                <a:spLocks noChangeAspect="1" noEditPoints="1"/>
              </p:cNvSpPr>
              <p:nvPr/>
            </p:nvSpPr>
            <p:spPr bwMode="auto">
              <a:xfrm>
                <a:off x="2845233" y="5770820"/>
                <a:ext cx="245435" cy="227328"/>
              </a:xfrm>
              <a:custGeom>
                <a:avLst/>
                <a:gdLst>
                  <a:gd name="T0" fmla="*/ 31 w 337"/>
                  <a:gd name="T1" fmla="*/ 210 h 311"/>
                  <a:gd name="T2" fmla="*/ 185 w 337"/>
                  <a:gd name="T3" fmla="*/ 56 h 311"/>
                  <a:gd name="T4" fmla="*/ 142 w 337"/>
                  <a:gd name="T5" fmla="*/ 108 h 311"/>
                  <a:gd name="T6" fmla="*/ 185 w 337"/>
                  <a:gd name="T7" fmla="*/ 56 h 311"/>
                  <a:gd name="T8" fmla="*/ 133 w 337"/>
                  <a:gd name="T9" fmla="*/ 13 h 311"/>
                  <a:gd name="T10" fmla="*/ 37 w 337"/>
                  <a:gd name="T11" fmla="*/ 311 h 311"/>
                  <a:gd name="T12" fmla="*/ 73 w 337"/>
                  <a:gd name="T13" fmla="*/ 274 h 311"/>
                  <a:gd name="T14" fmla="*/ 37 w 337"/>
                  <a:gd name="T15" fmla="*/ 238 h 311"/>
                  <a:gd name="T16" fmla="*/ 0 w 337"/>
                  <a:gd name="T17" fmla="*/ 274 h 311"/>
                  <a:gd name="T18" fmla="*/ 37 w 337"/>
                  <a:gd name="T19" fmla="*/ 311 h 311"/>
                  <a:gd name="T20" fmla="*/ 337 w 337"/>
                  <a:gd name="T21" fmla="*/ 0 h 311"/>
                  <a:gd name="T22" fmla="*/ 219 w 337"/>
                  <a:gd name="T23" fmla="*/ 0 h 311"/>
                  <a:gd name="T24" fmla="*/ 219 w 337"/>
                  <a:gd name="T25" fmla="*/ 118 h 311"/>
                  <a:gd name="T26" fmla="*/ 337 w 337"/>
                  <a:gd name="T27" fmla="*/ 118 h 311"/>
                  <a:gd name="T28" fmla="*/ 337 w 337"/>
                  <a:gd name="T2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7" h="311">
                    <a:moveTo>
                      <a:pt x="31" y="210"/>
                    </a:moveTo>
                    <a:cubicBezTo>
                      <a:pt x="31" y="125"/>
                      <a:pt x="100" y="56"/>
                      <a:pt x="185" y="56"/>
                    </a:cubicBezTo>
                    <a:moveTo>
                      <a:pt x="142" y="108"/>
                    </a:moveTo>
                    <a:cubicBezTo>
                      <a:pt x="185" y="56"/>
                      <a:pt x="185" y="56"/>
                      <a:pt x="185" y="56"/>
                    </a:cubicBezTo>
                    <a:cubicBezTo>
                      <a:pt x="133" y="13"/>
                      <a:pt x="133" y="13"/>
                      <a:pt x="133" y="13"/>
                    </a:cubicBezTo>
                    <a:moveTo>
                      <a:pt x="37" y="311"/>
                    </a:moveTo>
                    <a:cubicBezTo>
                      <a:pt x="56" y="311"/>
                      <a:pt x="73" y="294"/>
                      <a:pt x="73" y="274"/>
                    </a:cubicBezTo>
                    <a:cubicBezTo>
                      <a:pt x="73" y="254"/>
                      <a:pt x="56" y="238"/>
                      <a:pt x="37" y="238"/>
                    </a:cubicBezTo>
                    <a:cubicBezTo>
                      <a:pt x="17" y="238"/>
                      <a:pt x="0" y="254"/>
                      <a:pt x="0" y="274"/>
                    </a:cubicBezTo>
                    <a:cubicBezTo>
                      <a:pt x="0" y="294"/>
                      <a:pt x="17" y="311"/>
                      <a:pt x="37" y="311"/>
                    </a:cubicBezTo>
                    <a:close/>
                    <a:moveTo>
                      <a:pt x="337" y="0"/>
                    </a:moveTo>
                    <a:cubicBezTo>
                      <a:pt x="219" y="0"/>
                      <a:pt x="219" y="0"/>
                      <a:pt x="219" y="0"/>
                    </a:cubicBezTo>
                    <a:cubicBezTo>
                      <a:pt x="219" y="118"/>
                      <a:pt x="219" y="118"/>
                      <a:pt x="219" y="118"/>
                    </a:cubicBezTo>
                    <a:cubicBezTo>
                      <a:pt x="337" y="118"/>
                      <a:pt x="337" y="118"/>
                      <a:pt x="337" y="118"/>
                    </a:cubicBezTo>
                    <a:lnTo>
                      <a:pt x="337" y="0"/>
                    </a:lnTo>
                    <a:close/>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58" name="Footer Placeholder 13">
            <a:extLst>
              <a:ext uri="{FF2B5EF4-FFF2-40B4-BE49-F238E27FC236}">
                <a16:creationId xmlns:a16="http://schemas.microsoft.com/office/drawing/2014/main" id="{C7006DCC-152E-7B3D-BB5F-609B82298791}"/>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7EB80754-E4FD-3CA5-B952-C75047C0DFFF}"/>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5</a:t>
            </a:fld>
            <a:endParaRPr lang="en-US" noProof="0"/>
          </a:p>
        </p:txBody>
      </p:sp>
      <p:pic>
        <p:nvPicPr>
          <p:cNvPr id="1026" name="Picture 2" descr="secure supply chain">
            <a:extLst>
              <a:ext uri="{FF2B5EF4-FFF2-40B4-BE49-F238E27FC236}">
                <a16:creationId xmlns:a16="http://schemas.microsoft.com/office/drawing/2014/main" id="{6F7342B3-56CE-FC31-6638-FAE6978038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1657" y="2802757"/>
            <a:ext cx="7165692" cy="28270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llustration of a shield with a key and two paper rockets">
            <a:extLst>
              <a:ext uri="{FF2B5EF4-FFF2-40B4-BE49-F238E27FC236}">
                <a16:creationId xmlns:a16="http://schemas.microsoft.com/office/drawing/2014/main" id="{E90A2B41-24E8-5F29-0D53-292114B8CD3F}"/>
              </a:ext>
            </a:extLst>
          </p:cNvPr>
          <p:cNvPicPr>
            <a:picLocks/>
          </p:cNvPicPr>
          <p:nvPr/>
        </p:nvPicPr>
        <p:blipFill>
          <a:blip r:embed="rId4"/>
          <a:stretch>
            <a:fillRect/>
          </a:stretch>
        </p:blipFill>
        <p:spPr>
          <a:xfrm>
            <a:off x="22289" y="5582684"/>
            <a:ext cx="1508515" cy="1508515"/>
          </a:xfrm>
          <a:prstGeom prst="rect">
            <a:avLst/>
          </a:prstGeom>
        </p:spPr>
      </p:pic>
      <p:sp>
        <p:nvSpPr>
          <p:cNvPr id="7" name="TextBox 6">
            <a:extLst>
              <a:ext uri="{FF2B5EF4-FFF2-40B4-BE49-F238E27FC236}">
                <a16:creationId xmlns:a16="http://schemas.microsoft.com/office/drawing/2014/main" id="{7333127E-D413-D363-6A2E-A48B4DA10C82}"/>
              </a:ext>
            </a:extLst>
          </p:cNvPr>
          <p:cNvSpPr txBox="1"/>
          <p:nvPr/>
        </p:nvSpPr>
        <p:spPr>
          <a:xfrm>
            <a:off x="776546" y="2512891"/>
            <a:ext cx="6093822" cy="369332"/>
          </a:xfrm>
          <a:prstGeom prst="rect">
            <a:avLst/>
          </a:prstGeom>
          <a:noFill/>
        </p:spPr>
        <p:txBody>
          <a:bodyPr wrap="square">
            <a:spAutoFit/>
          </a:bodyPr>
          <a:lstStyle/>
          <a:p>
            <a:r>
              <a:rPr lang="en-US" b="1"/>
              <a:t>CAF</a:t>
            </a:r>
            <a:endParaRPr lang="en-CA"/>
          </a:p>
        </p:txBody>
      </p:sp>
      <p:sp>
        <p:nvSpPr>
          <p:cNvPr id="9" name="TextBox 8">
            <a:extLst>
              <a:ext uri="{FF2B5EF4-FFF2-40B4-BE49-F238E27FC236}">
                <a16:creationId xmlns:a16="http://schemas.microsoft.com/office/drawing/2014/main" id="{924D82BE-4FD1-ADA0-89DB-071565E9BEC4}"/>
              </a:ext>
            </a:extLst>
          </p:cNvPr>
          <p:cNvSpPr txBox="1"/>
          <p:nvPr/>
        </p:nvSpPr>
        <p:spPr>
          <a:xfrm>
            <a:off x="6677466" y="2512891"/>
            <a:ext cx="734073" cy="369332"/>
          </a:xfrm>
          <a:prstGeom prst="rect">
            <a:avLst/>
          </a:prstGeom>
          <a:noFill/>
        </p:spPr>
        <p:txBody>
          <a:bodyPr wrap="square">
            <a:spAutoFit/>
          </a:bodyPr>
          <a:lstStyle/>
          <a:p>
            <a:r>
              <a:rPr lang="en-US" b="1"/>
              <a:t>CSSC</a:t>
            </a:r>
            <a:endParaRPr lang="en-CA"/>
          </a:p>
        </p:txBody>
      </p:sp>
    </p:spTree>
    <p:extLst>
      <p:ext uri="{BB962C8B-B14F-4D97-AF65-F5344CB8AC3E}">
        <p14:creationId xmlns:p14="http://schemas.microsoft.com/office/powerpoint/2010/main" val="388260439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3671F-54E7-B170-82FE-D2DF006B4DF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0468208-B4C6-CBA6-33B7-6D45D9FE41BC}"/>
              </a:ext>
            </a:extLst>
          </p:cNvPr>
          <p:cNvSpPr>
            <a:spLocks noGrp="1"/>
          </p:cNvSpPr>
          <p:nvPr>
            <p:ph type="title"/>
          </p:nvPr>
        </p:nvSpPr>
        <p:spPr/>
        <p:txBody>
          <a:bodyPr/>
          <a:lstStyle/>
          <a:p>
            <a:r>
              <a:rPr lang="en-US"/>
              <a:t>Containers Secure Supply Chain (CSSC) Framework</a:t>
            </a:r>
          </a:p>
        </p:txBody>
      </p:sp>
      <p:sp>
        <p:nvSpPr>
          <p:cNvPr id="38" name="Rectangle 37">
            <a:extLst>
              <a:ext uri="{FF2B5EF4-FFF2-40B4-BE49-F238E27FC236}">
                <a16:creationId xmlns:a16="http://schemas.microsoft.com/office/drawing/2014/main" id="{E375CFD3-020F-4134-50D5-3585C08A2352}"/>
              </a:ext>
              <a:ext uri="{C183D7F6-B498-43B3-948B-1728B52AA6E4}">
                <adec:decorative xmlns:adec="http://schemas.microsoft.com/office/drawing/2017/decorative" val="1"/>
              </a:ext>
            </a:extLst>
          </p:cNvPr>
          <p:cNvSpPr/>
          <p:nvPr/>
        </p:nvSpPr>
        <p:spPr bwMode="auto">
          <a:xfrm>
            <a:off x="411772" y="1876925"/>
            <a:ext cx="11496567" cy="4381639"/>
          </a:xfrm>
          <a:prstGeom prst="rect">
            <a:avLst/>
          </a:prstGeom>
          <a:solidFill>
            <a:schemeClr val="bg1"/>
          </a:solidFill>
          <a:ln w="63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28600" tIns="182880" rIns="228600" bIns="182880" numCol="1" spcCol="0" rtlCol="0" fromWordArt="0" anchor="t" anchorCtr="0" forceAA="0" compatLnSpc="1">
            <a:prstTxWarp prst="textNoShape">
              <a:avLst/>
            </a:prstTxWarp>
            <a:noAutofit/>
          </a:bodyPr>
          <a:lstStyle/>
          <a:p>
            <a:pPr defTabSz="932563">
              <a:spcBef>
                <a:spcPts val="300"/>
              </a:spcBef>
              <a:spcAft>
                <a:spcPts val="200"/>
              </a:spcAft>
            </a:pPr>
            <a:endParaRPr lang="en-GB">
              <a:solidFill>
                <a:schemeClr val="accent6"/>
              </a:solidFill>
              <a:cs typeface="Segoe UI Semibold" panose="020B0702040204020203" pitchFamily="34" charset="0"/>
            </a:endParaRPr>
          </a:p>
        </p:txBody>
      </p:sp>
      <p:grpSp>
        <p:nvGrpSpPr>
          <p:cNvPr id="13" name="Group 12">
            <a:extLst>
              <a:ext uri="{FF2B5EF4-FFF2-40B4-BE49-F238E27FC236}">
                <a16:creationId xmlns:a16="http://schemas.microsoft.com/office/drawing/2014/main" id="{54C47643-9056-E268-53F6-ED81AACD7097}"/>
              </a:ext>
              <a:ext uri="{C183D7F6-B498-43B3-948B-1728B52AA6E4}">
                <adec:decorative xmlns:adec="http://schemas.microsoft.com/office/drawing/2017/decorative" val="1"/>
              </a:ext>
            </a:extLst>
          </p:cNvPr>
          <p:cNvGrpSpPr/>
          <p:nvPr/>
        </p:nvGrpSpPr>
        <p:grpSpPr>
          <a:xfrm rot="5400000" flipH="1">
            <a:off x="11250056" y="5477957"/>
            <a:ext cx="623197" cy="692063"/>
            <a:chOff x="10845725" y="1231900"/>
            <a:chExt cx="623197" cy="692063"/>
          </a:xfrm>
        </p:grpSpPr>
        <p:sp>
          <p:nvSpPr>
            <p:cNvPr id="12" name="Trapezoid 11">
              <a:extLst>
                <a:ext uri="{FF2B5EF4-FFF2-40B4-BE49-F238E27FC236}">
                  <a16:creationId xmlns:a16="http://schemas.microsoft.com/office/drawing/2014/main" id="{C9AB55F2-EA44-DF99-7A72-0ED87CC174D2}"/>
                </a:ext>
              </a:extLst>
            </p:cNvPr>
            <p:cNvSpPr/>
            <p:nvPr/>
          </p:nvSpPr>
          <p:spPr bwMode="auto">
            <a:xfrm>
              <a:off x="10845725" y="1231900"/>
              <a:ext cx="623197" cy="113383"/>
            </a:xfrm>
            <a:prstGeom prst="trapezoid">
              <a:avLst>
                <a:gd name="adj" fmla="val 104333"/>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9B41E0A6-9304-BC95-1152-D75E567EC7F8}"/>
                </a:ext>
              </a:extLst>
            </p:cNvPr>
            <p:cNvSpPr/>
            <p:nvPr/>
          </p:nvSpPr>
          <p:spPr bwMode="auto">
            <a:xfrm>
              <a:off x="10963126" y="1231900"/>
              <a:ext cx="388396" cy="433301"/>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45" name="Group 44" descr="Icon of a circle and a square with a curved arrow between them">
              <a:extLst>
                <a:ext uri="{FF2B5EF4-FFF2-40B4-BE49-F238E27FC236}">
                  <a16:creationId xmlns:a16="http://schemas.microsoft.com/office/drawing/2014/main" id="{2746D3A9-2716-F08E-3805-F446DDE839B1}"/>
                </a:ext>
              </a:extLst>
            </p:cNvPr>
            <p:cNvGrpSpPr>
              <a:grpSpLocks/>
            </p:cNvGrpSpPr>
            <p:nvPr/>
          </p:nvGrpSpPr>
          <p:grpSpPr>
            <a:xfrm rot="5400000">
              <a:off x="10907217" y="1423750"/>
              <a:ext cx="500214" cy="500212"/>
              <a:chOff x="2717122" y="5635692"/>
              <a:chExt cx="500214" cy="500212"/>
            </a:xfrm>
          </p:grpSpPr>
          <p:sp>
            <p:nvSpPr>
              <p:cNvPr id="46" name="Oval 45">
                <a:extLst>
                  <a:ext uri="{FF2B5EF4-FFF2-40B4-BE49-F238E27FC236}">
                    <a16:creationId xmlns:a16="http://schemas.microsoft.com/office/drawing/2014/main" id="{AC3A4F22-87CB-5B0F-D0C9-7DFFD27B7B69}"/>
                  </a:ext>
                  <a:ext uri="{C183D7F6-B498-43B3-948B-1728B52AA6E4}">
                    <adec:decorative xmlns:adec="http://schemas.microsoft.com/office/drawing/2017/decorative" val="0"/>
                  </a:ext>
                </a:extLst>
              </p:cNvPr>
              <p:cNvSpPr>
                <a:spLocks/>
              </p:cNvSpPr>
              <p:nvPr/>
            </p:nvSpPr>
            <p:spPr bwMode="auto">
              <a:xfrm>
                <a:off x="2717122" y="5635692"/>
                <a:ext cx="500214" cy="500212"/>
              </a:xfrm>
              <a:prstGeom prst="ellipse">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7" name="transform_2" title="Icon of a circle and a square with a curved arrow between them">
                <a:extLst>
                  <a:ext uri="{FF2B5EF4-FFF2-40B4-BE49-F238E27FC236}">
                    <a16:creationId xmlns:a16="http://schemas.microsoft.com/office/drawing/2014/main" id="{ECEBD543-73D5-BE65-06A2-867A5211D8A9}"/>
                  </a:ext>
                </a:extLst>
              </p:cNvPr>
              <p:cNvSpPr>
                <a:spLocks noChangeAspect="1" noEditPoints="1"/>
              </p:cNvSpPr>
              <p:nvPr/>
            </p:nvSpPr>
            <p:spPr bwMode="auto">
              <a:xfrm>
                <a:off x="2845233" y="5770820"/>
                <a:ext cx="245435" cy="227328"/>
              </a:xfrm>
              <a:custGeom>
                <a:avLst/>
                <a:gdLst>
                  <a:gd name="T0" fmla="*/ 31 w 337"/>
                  <a:gd name="T1" fmla="*/ 210 h 311"/>
                  <a:gd name="T2" fmla="*/ 185 w 337"/>
                  <a:gd name="T3" fmla="*/ 56 h 311"/>
                  <a:gd name="T4" fmla="*/ 142 w 337"/>
                  <a:gd name="T5" fmla="*/ 108 h 311"/>
                  <a:gd name="T6" fmla="*/ 185 w 337"/>
                  <a:gd name="T7" fmla="*/ 56 h 311"/>
                  <a:gd name="T8" fmla="*/ 133 w 337"/>
                  <a:gd name="T9" fmla="*/ 13 h 311"/>
                  <a:gd name="T10" fmla="*/ 37 w 337"/>
                  <a:gd name="T11" fmla="*/ 311 h 311"/>
                  <a:gd name="T12" fmla="*/ 73 w 337"/>
                  <a:gd name="T13" fmla="*/ 274 h 311"/>
                  <a:gd name="T14" fmla="*/ 37 w 337"/>
                  <a:gd name="T15" fmla="*/ 238 h 311"/>
                  <a:gd name="T16" fmla="*/ 0 w 337"/>
                  <a:gd name="T17" fmla="*/ 274 h 311"/>
                  <a:gd name="T18" fmla="*/ 37 w 337"/>
                  <a:gd name="T19" fmla="*/ 311 h 311"/>
                  <a:gd name="T20" fmla="*/ 337 w 337"/>
                  <a:gd name="T21" fmla="*/ 0 h 311"/>
                  <a:gd name="T22" fmla="*/ 219 w 337"/>
                  <a:gd name="T23" fmla="*/ 0 h 311"/>
                  <a:gd name="T24" fmla="*/ 219 w 337"/>
                  <a:gd name="T25" fmla="*/ 118 h 311"/>
                  <a:gd name="T26" fmla="*/ 337 w 337"/>
                  <a:gd name="T27" fmla="*/ 118 h 311"/>
                  <a:gd name="T28" fmla="*/ 337 w 337"/>
                  <a:gd name="T29" fmla="*/ 0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7" h="311">
                    <a:moveTo>
                      <a:pt x="31" y="210"/>
                    </a:moveTo>
                    <a:cubicBezTo>
                      <a:pt x="31" y="125"/>
                      <a:pt x="100" y="56"/>
                      <a:pt x="185" y="56"/>
                    </a:cubicBezTo>
                    <a:moveTo>
                      <a:pt x="142" y="108"/>
                    </a:moveTo>
                    <a:cubicBezTo>
                      <a:pt x="185" y="56"/>
                      <a:pt x="185" y="56"/>
                      <a:pt x="185" y="56"/>
                    </a:cubicBezTo>
                    <a:cubicBezTo>
                      <a:pt x="133" y="13"/>
                      <a:pt x="133" y="13"/>
                      <a:pt x="133" y="13"/>
                    </a:cubicBezTo>
                    <a:moveTo>
                      <a:pt x="37" y="311"/>
                    </a:moveTo>
                    <a:cubicBezTo>
                      <a:pt x="56" y="311"/>
                      <a:pt x="73" y="294"/>
                      <a:pt x="73" y="274"/>
                    </a:cubicBezTo>
                    <a:cubicBezTo>
                      <a:pt x="73" y="254"/>
                      <a:pt x="56" y="238"/>
                      <a:pt x="37" y="238"/>
                    </a:cubicBezTo>
                    <a:cubicBezTo>
                      <a:pt x="17" y="238"/>
                      <a:pt x="0" y="254"/>
                      <a:pt x="0" y="274"/>
                    </a:cubicBezTo>
                    <a:cubicBezTo>
                      <a:pt x="0" y="294"/>
                      <a:pt x="17" y="311"/>
                      <a:pt x="37" y="311"/>
                    </a:cubicBezTo>
                    <a:close/>
                    <a:moveTo>
                      <a:pt x="337" y="0"/>
                    </a:moveTo>
                    <a:cubicBezTo>
                      <a:pt x="219" y="0"/>
                      <a:pt x="219" y="0"/>
                      <a:pt x="219" y="0"/>
                    </a:cubicBezTo>
                    <a:cubicBezTo>
                      <a:pt x="219" y="118"/>
                      <a:pt x="219" y="118"/>
                      <a:pt x="219" y="118"/>
                    </a:cubicBezTo>
                    <a:cubicBezTo>
                      <a:pt x="337" y="118"/>
                      <a:pt x="337" y="118"/>
                      <a:pt x="337" y="118"/>
                    </a:cubicBezTo>
                    <a:lnTo>
                      <a:pt x="337" y="0"/>
                    </a:lnTo>
                    <a:close/>
                  </a:path>
                </a:pathLst>
              </a:custGeom>
              <a:noFill/>
              <a:ln w="158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100"/>
                  </a:spcBef>
                  <a:spcAft>
                    <a:spcPts val="100"/>
                  </a:spcAft>
                  <a:buClrTx/>
                  <a:buSzTx/>
                  <a:buFontTx/>
                  <a:buNone/>
                  <a:tabLst/>
                  <a:defRPr/>
                </a:pPr>
                <a:endParaRPr kumimoji="0" lang="en-US" b="0" i="0" u="none" strike="noStrike" kern="1200" cap="none" spc="0" normalizeH="0" baseline="0" noProof="0">
                  <a:ln>
                    <a:noFill/>
                  </a:ln>
                  <a:solidFill>
                    <a:srgbClr val="000000"/>
                  </a:solidFill>
                  <a:effectLst/>
                  <a:uLnTx/>
                  <a:uFillTx/>
                  <a:latin typeface="Segoe UI"/>
                  <a:ea typeface="+mn-ea"/>
                  <a:cs typeface="+mn-cs"/>
                </a:endParaRPr>
              </a:p>
            </p:txBody>
          </p:sp>
        </p:grpSp>
      </p:grpSp>
      <p:sp>
        <p:nvSpPr>
          <p:cNvPr id="58" name="Footer Placeholder 13">
            <a:extLst>
              <a:ext uri="{FF2B5EF4-FFF2-40B4-BE49-F238E27FC236}">
                <a16:creationId xmlns:a16="http://schemas.microsoft.com/office/drawing/2014/main" id="{A23F4B32-2789-825C-4D5A-FD6A1798DEFA}"/>
              </a:ext>
            </a:extLst>
          </p:cNvPr>
          <p:cNvSpPr>
            <a:spLocks noGrp="1"/>
          </p:cNvSpPr>
          <p:nvPr>
            <p:ph type="ftr" sz="quarter" idx="3"/>
          </p:nvPr>
        </p:nvSpPr>
        <p:spPr>
          <a:xfrm>
            <a:off x="4038600" y="654948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3AB1A86B-7370-F306-59A2-43B13074A236}"/>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6</a:t>
            </a:fld>
            <a:endParaRPr lang="en-US" noProof="0"/>
          </a:p>
        </p:txBody>
      </p:sp>
      <p:sp>
        <p:nvSpPr>
          <p:cNvPr id="4" name="Oval 3">
            <a:extLst>
              <a:ext uri="{FF2B5EF4-FFF2-40B4-BE49-F238E27FC236}">
                <a16:creationId xmlns:a16="http://schemas.microsoft.com/office/drawing/2014/main" id="{FCA08532-085B-CE9E-27EF-A39768907E68}"/>
              </a:ext>
              <a:ext uri="{C183D7F6-B498-43B3-948B-1728B52AA6E4}">
                <adec:decorative xmlns:adec="http://schemas.microsoft.com/office/drawing/2017/decorative" val="1"/>
              </a:ext>
            </a:extLst>
          </p:cNvPr>
          <p:cNvSpPr/>
          <p:nvPr/>
        </p:nvSpPr>
        <p:spPr bwMode="auto">
          <a:xfrm>
            <a:off x="10338264" y="2375548"/>
            <a:ext cx="529200" cy="529200"/>
          </a:xfrm>
          <a:prstGeom prst="ellipse">
            <a:avLst/>
          </a:prstGeom>
          <a:gradFill flip="none" rotWithShape="1">
            <a:gsLst>
              <a:gs pos="80000">
                <a:srgbClr val="0078D4"/>
              </a:gs>
              <a:gs pos="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b="1" err="1">
              <a:solidFill>
                <a:srgbClr val="FFFFFF"/>
              </a:solidFill>
              <a:latin typeface="Segoe UI"/>
              <a:cs typeface="Segoe UI" pitchFamily="34" charset="0"/>
            </a:endParaRPr>
          </a:p>
        </p:txBody>
      </p:sp>
      <p:sp>
        <p:nvSpPr>
          <p:cNvPr id="5" name="Oval 4">
            <a:extLst>
              <a:ext uri="{FF2B5EF4-FFF2-40B4-BE49-F238E27FC236}">
                <a16:creationId xmlns:a16="http://schemas.microsoft.com/office/drawing/2014/main" id="{6A8B7321-BA01-C064-4753-42EA09C08845}"/>
              </a:ext>
              <a:ext uri="{C183D7F6-B498-43B3-948B-1728B52AA6E4}">
                <adec:decorative xmlns:adec="http://schemas.microsoft.com/office/drawing/2017/decorative" val="1"/>
              </a:ext>
            </a:extLst>
          </p:cNvPr>
          <p:cNvSpPr/>
          <p:nvPr/>
        </p:nvSpPr>
        <p:spPr bwMode="auto">
          <a:xfrm>
            <a:off x="4105013" y="2375548"/>
            <a:ext cx="529200" cy="529200"/>
          </a:xfrm>
          <a:prstGeom prst="ellipse">
            <a:avLst/>
          </a:prstGeom>
          <a:gradFill flip="none" rotWithShape="1">
            <a:gsLst>
              <a:gs pos="80000">
                <a:srgbClr val="0078D4"/>
              </a:gs>
              <a:gs pos="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7" name="Oval 6">
            <a:extLst>
              <a:ext uri="{FF2B5EF4-FFF2-40B4-BE49-F238E27FC236}">
                <a16:creationId xmlns:a16="http://schemas.microsoft.com/office/drawing/2014/main" id="{A2FF7072-0C7C-EBC7-DA6E-2D5744AFAA9A}"/>
              </a:ext>
              <a:ext uri="{C183D7F6-B498-43B3-948B-1728B52AA6E4}">
                <adec:decorative xmlns:adec="http://schemas.microsoft.com/office/drawing/2017/decorative" val="1"/>
              </a:ext>
            </a:extLst>
          </p:cNvPr>
          <p:cNvSpPr/>
          <p:nvPr/>
        </p:nvSpPr>
        <p:spPr bwMode="auto">
          <a:xfrm>
            <a:off x="6182764" y="2375548"/>
            <a:ext cx="529200" cy="529200"/>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8" name="Oval 7">
            <a:extLst>
              <a:ext uri="{FF2B5EF4-FFF2-40B4-BE49-F238E27FC236}">
                <a16:creationId xmlns:a16="http://schemas.microsoft.com/office/drawing/2014/main" id="{770351C8-3CDB-754A-1EB2-24841F84E464}"/>
              </a:ext>
              <a:ext uri="{C183D7F6-B498-43B3-948B-1728B52AA6E4}">
                <adec:decorative xmlns:adec="http://schemas.microsoft.com/office/drawing/2017/decorative" val="1"/>
              </a:ext>
            </a:extLst>
          </p:cNvPr>
          <p:cNvSpPr/>
          <p:nvPr/>
        </p:nvSpPr>
        <p:spPr bwMode="auto">
          <a:xfrm>
            <a:off x="8260515" y="2375548"/>
            <a:ext cx="529200" cy="529200"/>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err="1">
              <a:solidFill>
                <a:srgbClr val="FFFFFF"/>
              </a:solidFill>
              <a:latin typeface="Segoe UI"/>
            </a:endParaRPr>
          </a:p>
        </p:txBody>
      </p:sp>
      <p:sp>
        <p:nvSpPr>
          <p:cNvPr id="9" name="Oval 8">
            <a:extLst>
              <a:ext uri="{FF2B5EF4-FFF2-40B4-BE49-F238E27FC236}">
                <a16:creationId xmlns:a16="http://schemas.microsoft.com/office/drawing/2014/main" id="{0FFC0C1F-6929-4DC6-36FF-A27913A5D282}"/>
              </a:ext>
              <a:ext uri="{C183D7F6-B498-43B3-948B-1728B52AA6E4}">
                <adec:decorative xmlns:adec="http://schemas.microsoft.com/office/drawing/2017/decorative" val="1"/>
              </a:ext>
            </a:extLst>
          </p:cNvPr>
          <p:cNvSpPr/>
          <p:nvPr/>
        </p:nvSpPr>
        <p:spPr bwMode="auto">
          <a:xfrm>
            <a:off x="2026651" y="2374938"/>
            <a:ext cx="530422" cy="530420"/>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err="1">
              <a:ln>
                <a:noFill/>
              </a:ln>
              <a:solidFill>
                <a:srgbClr val="FFFFFF"/>
              </a:solidFill>
              <a:effectLst/>
              <a:uLnTx/>
              <a:uFillTx/>
              <a:latin typeface="Segoe UI"/>
              <a:ea typeface="+mn-ea"/>
              <a:cs typeface="+mn-cs"/>
            </a:endParaRPr>
          </a:p>
        </p:txBody>
      </p:sp>
      <p:cxnSp>
        <p:nvCxnSpPr>
          <p:cNvPr id="10" name="Straight Arrow Connector 9">
            <a:extLst>
              <a:ext uri="{FF2B5EF4-FFF2-40B4-BE49-F238E27FC236}">
                <a16:creationId xmlns:a16="http://schemas.microsoft.com/office/drawing/2014/main" id="{9EB50DEC-E274-9A10-0E9D-997DC07CB869}"/>
              </a:ext>
              <a:ext uri="{C183D7F6-B498-43B3-948B-1728B52AA6E4}">
                <adec:decorative xmlns:adec="http://schemas.microsoft.com/office/drawing/2017/decorative" val="1"/>
              </a:ext>
            </a:extLst>
          </p:cNvPr>
          <p:cNvCxnSpPr>
            <a:cxnSpLocks/>
          </p:cNvCxnSpPr>
          <p:nvPr/>
        </p:nvCxnSpPr>
        <p:spPr>
          <a:xfrm>
            <a:off x="8556438" y="3410530"/>
            <a:ext cx="2078832" cy="0"/>
          </a:xfrm>
          <a:prstGeom prst="straightConnector1">
            <a:avLst/>
          </a:prstGeom>
          <a:noFill/>
          <a:ln w="19050" cap="flat">
            <a:gradFill flip="none" rotWithShape="1">
              <a:gsLst>
                <a:gs pos="75000">
                  <a:srgbClr val="0078D4"/>
                </a:gs>
                <a:gs pos="0">
                  <a:srgbClr val="C03BC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11" name="Straight Arrow Connector 10">
            <a:extLst>
              <a:ext uri="{FF2B5EF4-FFF2-40B4-BE49-F238E27FC236}">
                <a16:creationId xmlns:a16="http://schemas.microsoft.com/office/drawing/2014/main" id="{61EB0C51-55C5-384A-E000-29A402FCEBB0}"/>
              </a:ext>
              <a:ext uri="{C183D7F6-B498-43B3-948B-1728B52AA6E4}">
                <adec:decorative xmlns:adec="http://schemas.microsoft.com/office/drawing/2017/decorative" val="1"/>
              </a:ext>
            </a:extLst>
          </p:cNvPr>
          <p:cNvCxnSpPr>
            <a:cxnSpLocks/>
          </p:cNvCxnSpPr>
          <p:nvPr/>
        </p:nvCxnSpPr>
        <p:spPr>
          <a:xfrm>
            <a:off x="6489513" y="3410530"/>
            <a:ext cx="2031207" cy="0"/>
          </a:xfrm>
          <a:prstGeom prst="straightConnector1">
            <a:avLst/>
          </a:prstGeom>
          <a:noFill/>
          <a:ln w="19050" cap="flat">
            <a:gradFill flip="none" rotWithShape="1">
              <a:gsLst>
                <a:gs pos="100000">
                  <a:srgbClr val="F4364C"/>
                </a:gs>
                <a:gs pos="41000">
                  <a:srgbClr val="399A91"/>
                </a:gs>
                <a:gs pos="0">
                  <a:srgbClr val="0078D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14" name="Straight Arrow Connector 13">
            <a:extLst>
              <a:ext uri="{FF2B5EF4-FFF2-40B4-BE49-F238E27FC236}">
                <a16:creationId xmlns:a16="http://schemas.microsoft.com/office/drawing/2014/main" id="{E918F297-B142-0235-FECD-D5882161865E}"/>
              </a:ext>
              <a:ext uri="{C183D7F6-B498-43B3-948B-1728B52AA6E4}">
                <adec:decorative xmlns:adec="http://schemas.microsoft.com/office/drawing/2017/decorative" val="1"/>
              </a:ext>
            </a:extLst>
          </p:cNvPr>
          <p:cNvCxnSpPr>
            <a:cxnSpLocks/>
          </p:cNvCxnSpPr>
          <p:nvPr/>
        </p:nvCxnSpPr>
        <p:spPr>
          <a:xfrm>
            <a:off x="4394013" y="3410530"/>
            <a:ext cx="2055019" cy="0"/>
          </a:xfrm>
          <a:prstGeom prst="straightConnector1">
            <a:avLst/>
          </a:prstGeom>
          <a:noFill/>
          <a:ln w="19050" cap="flat">
            <a:gradFill flip="none" rotWithShape="1">
              <a:gsLst>
                <a:gs pos="80000">
                  <a:srgbClr val="C03BC4"/>
                </a:gs>
                <a:gs pos="0">
                  <a:srgbClr val="FF5C39"/>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15" name="Straight Arrow Connector 14">
            <a:extLst>
              <a:ext uri="{FF2B5EF4-FFF2-40B4-BE49-F238E27FC236}">
                <a16:creationId xmlns:a16="http://schemas.microsoft.com/office/drawing/2014/main" id="{E1461D53-974A-23C7-84D4-C272C8A5B853}"/>
              </a:ext>
              <a:ext uri="{C183D7F6-B498-43B3-948B-1728B52AA6E4}">
                <adec:decorative xmlns:adec="http://schemas.microsoft.com/office/drawing/2017/decorative" val="1"/>
              </a:ext>
            </a:extLst>
          </p:cNvPr>
          <p:cNvCxnSpPr>
            <a:cxnSpLocks/>
          </p:cNvCxnSpPr>
          <p:nvPr/>
        </p:nvCxnSpPr>
        <p:spPr>
          <a:xfrm>
            <a:off x="2315182" y="3410530"/>
            <a:ext cx="2040731" cy="0"/>
          </a:xfrm>
          <a:prstGeom prst="straightConnector1">
            <a:avLst/>
          </a:prstGeom>
          <a:noFill/>
          <a:ln w="19050" cap="flat">
            <a:gradFill flip="none" rotWithShape="1">
              <a:gsLst>
                <a:gs pos="75000">
                  <a:srgbClr val="0078D4"/>
                </a:gs>
                <a:gs pos="0">
                  <a:srgbClr val="C03BC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16" name="Straight Arrow Connector 15">
            <a:extLst>
              <a:ext uri="{FF2B5EF4-FFF2-40B4-BE49-F238E27FC236}">
                <a16:creationId xmlns:a16="http://schemas.microsoft.com/office/drawing/2014/main" id="{4C2F035D-0434-B71A-8CD6-9B2696838068}"/>
              </a:ext>
              <a:ext uri="{C183D7F6-B498-43B3-948B-1728B52AA6E4}">
                <adec:decorative xmlns:adec="http://schemas.microsoft.com/office/drawing/2017/decorative" val="1"/>
              </a:ext>
            </a:extLst>
          </p:cNvPr>
          <p:cNvCxnSpPr>
            <a:cxnSpLocks/>
          </p:cNvCxnSpPr>
          <p:nvPr/>
        </p:nvCxnSpPr>
        <p:spPr>
          <a:xfrm>
            <a:off x="1324582" y="3410530"/>
            <a:ext cx="959644" cy="0"/>
          </a:xfrm>
          <a:prstGeom prst="straightConnector1">
            <a:avLst/>
          </a:prstGeom>
          <a:noFill/>
          <a:ln w="19050" cap="flat">
            <a:gradFill flip="none" rotWithShape="1">
              <a:gsLst>
                <a:gs pos="80000">
                  <a:srgbClr val="399A91"/>
                </a:gs>
                <a:gs pos="0">
                  <a:srgbClr val="0078D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pic>
        <p:nvPicPr>
          <p:cNvPr id="17" name="Graphic 16">
            <a:extLst>
              <a:ext uri="{FF2B5EF4-FFF2-40B4-BE49-F238E27FC236}">
                <a16:creationId xmlns:a16="http://schemas.microsoft.com/office/drawing/2014/main" id="{DEA0E762-E8FA-B545-3812-5B308F16E3D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238" y="2901189"/>
            <a:ext cx="353498" cy="353496"/>
          </a:xfrm>
          <a:prstGeom prst="rect">
            <a:avLst/>
          </a:prstGeom>
        </p:spPr>
      </p:pic>
      <p:pic>
        <p:nvPicPr>
          <p:cNvPr id="18" name="Graphic 17">
            <a:extLst>
              <a:ext uri="{FF2B5EF4-FFF2-40B4-BE49-F238E27FC236}">
                <a16:creationId xmlns:a16="http://schemas.microsoft.com/office/drawing/2014/main" id="{31D597F9-40B6-576C-8B1E-8F7D2261D52C}"/>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17813" y="2466099"/>
            <a:ext cx="348099" cy="348099"/>
          </a:xfrm>
          <a:prstGeom prst="rect">
            <a:avLst/>
          </a:prstGeom>
        </p:spPr>
      </p:pic>
      <p:sp>
        <p:nvSpPr>
          <p:cNvPr id="19" name="Graphic 57">
            <a:extLst>
              <a:ext uri="{FF2B5EF4-FFF2-40B4-BE49-F238E27FC236}">
                <a16:creationId xmlns:a16="http://schemas.microsoft.com/office/drawing/2014/main" id="{83233604-118C-EF69-2C5A-7224CD322CB8}"/>
              </a:ext>
              <a:ext uri="{C183D7F6-B498-43B3-948B-1728B52AA6E4}">
                <adec:decorative xmlns:adec="http://schemas.microsoft.com/office/drawing/2017/decorative" val="1"/>
              </a:ext>
            </a:extLst>
          </p:cNvPr>
          <p:cNvSpPr/>
          <p:nvPr/>
        </p:nvSpPr>
        <p:spPr>
          <a:xfrm>
            <a:off x="4240599" y="2493584"/>
            <a:ext cx="275578" cy="275578"/>
          </a:xfrm>
          <a:custGeom>
            <a:avLst/>
            <a:gdLst>
              <a:gd name="connsiteX0" fmla="*/ 131625 w 333450"/>
              <a:gd name="connsiteY0" fmla="*/ 17550 h 333450"/>
              <a:gd name="connsiteX1" fmla="*/ 175500 w 333450"/>
              <a:gd name="connsiteY1" fmla="*/ 61425 h 333450"/>
              <a:gd name="connsiteX2" fmla="*/ 175500 w 333450"/>
              <a:gd name="connsiteY2" fmla="*/ 157950 h 333450"/>
              <a:gd name="connsiteX3" fmla="*/ 272025 w 333450"/>
              <a:gd name="connsiteY3" fmla="*/ 157950 h 333450"/>
              <a:gd name="connsiteX4" fmla="*/ 315900 w 333450"/>
              <a:gd name="connsiteY4" fmla="*/ 201825 h 333450"/>
              <a:gd name="connsiteX5" fmla="*/ 315900 w 333450"/>
              <a:gd name="connsiteY5" fmla="*/ 289575 h 333450"/>
              <a:gd name="connsiteX6" fmla="*/ 272025 w 333450"/>
              <a:gd name="connsiteY6" fmla="*/ 333450 h 333450"/>
              <a:gd name="connsiteX7" fmla="*/ 43875 w 333450"/>
              <a:gd name="connsiteY7" fmla="*/ 333450 h 333450"/>
              <a:gd name="connsiteX8" fmla="*/ 0 w 333450"/>
              <a:gd name="connsiteY8" fmla="*/ 289575 h 333450"/>
              <a:gd name="connsiteX9" fmla="*/ 0 w 333450"/>
              <a:gd name="connsiteY9" fmla="*/ 61425 h 333450"/>
              <a:gd name="connsiteX10" fmla="*/ 43875 w 333450"/>
              <a:gd name="connsiteY10" fmla="*/ 17550 h 333450"/>
              <a:gd name="connsiteX11" fmla="*/ 131625 w 333450"/>
              <a:gd name="connsiteY11" fmla="*/ 17550 h 333450"/>
              <a:gd name="connsiteX12" fmla="*/ 140400 w 333450"/>
              <a:gd name="connsiteY12" fmla="*/ 193050 h 333450"/>
              <a:gd name="connsiteX13" fmla="*/ 35100 w 333450"/>
              <a:gd name="connsiteY13" fmla="*/ 193050 h 333450"/>
              <a:gd name="connsiteX14" fmla="*/ 35100 w 333450"/>
              <a:gd name="connsiteY14" fmla="*/ 289575 h 333450"/>
              <a:gd name="connsiteX15" fmla="*/ 43875 w 333450"/>
              <a:gd name="connsiteY15" fmla="*/ 298350 h 333450"/>
              <a:gd name="connsiteX16" fmla="*/ 140400 w 333450"/>
              <a:gd name="connsiteY16" fmla="*/ 298350 h 333450"/>
              <a:gd name="connsiteX17" fmla="*/ 140400 w 333450"/>
              <a:gd name="connsiteY17" fmla="*/ 193050 h 333450"/>
              <a:gd name="connsiteX18" fmla="*/ 272025 w 333450"/>
              <a:gd name="connsiteY18" fmla="*/ 193050 h 333450"/>
              <a:gd name="connsiteX19" fmla="*/ 175500 w 333450"/>
              <a:gd name="connsiteY19" fmla="*/ 193050 h 333450"/>
              <a:gd name="connsiteX20" fmla="*/ 175500 w 333450"/>
              <a:gd name="connsiteY20" fmla="*/ 298350 h 333450"/>
              <a:gd name="connsiteX21" fmla="*/ 272025 w 333450"/>
              <a:gd name="connsiteY21" fmla="*/ 298350 h 333450"/>
              <a:gd name="connsiteX22" fmla="*/ 280800 w 333450"/>
              <a:gd name="connsiteY22" fmla="*/ 289575 h 333450"/>
              <a:gd name="connsiteX23" fmla="*/ 280800 w 333450"/>
              <a:gd name="connsiteY23" fmla="*/ 201825 h 333450"/>
              <a:gd name="connsiteX24" fmla="*/ 272025 w 333450"/>
              <a:gd name="connsiteY24" fmla="*/ 193050 h 333450"/>
              <a:gd name="connsiteX25" fmla="*/ 131625 w 333450"/>
              <a:gd name="connsiteY25" fmla="*/ 52650 h 333450"/>
              <a:gd name="connsiteX26" fmla="*/ 43875 w 333450"/>
              <a:gd name="connsiteY26" fmla="*/ 52650 h 333450"/>
              <a:gd name="connsiteX27" fmla="*/ 35100 w 333450"/>
              <a:gd name="connsiteY27" fmla="*/ 61425 h 333450"/>
              <a:gd name="connsiteX28" fmla="*/ 35100 w 333450"/>
              <a:gd name="connsiteY28" fmla="*/ 157950 h 333450"/>
              <a:gd name="connsiteX29" fmla="*/ 140400 w 333450"/>
              <a:gd name="connsiteY29" fmla="*/ 157950 h 333450"/>
              <a:gd name="connsiteX30" fmla="*/ 140400 w 333450"/>
              <a:gd name="connsiteY30" fmla="*/ 61425 h 333450"/>
              <a:gd name="connsiteX31" fmla="*/ 131625 w 333450"/>
              <a:gd name="connsiteY31" fmla="*/ 52650 h 333450"/>
              <a:gd name="connsiteX32" fmla="*/ 261197 w 333450"/>
              <a:gd name="connsiteY32" fmla="*/ 123 h 333450"/>
              <a:gd name="connsiteX33" fmla="*/ 263250 w 333450"/>
              <a:gd name="connsiteY33" fmla="*/ 0 h 333450"/>
              <a:gd name="connsiteX34" fmla="*/ 280677 w 333450"/>
              <a:gd name="connsiteY34" fmla="*/ 15497 h 333450"/>
              <a:gd name="connsiteX35" fmla="*/ 280800 w 333450"/>
              <a:gd name="connsiteY35" fmla="*/ 17550 h 333450"/>
              <a:gd name="connsiteX36" fmla="*/ 280800 w 333450"/>
              <a:gd name="connsiteY36" fmla="*/ 52650 h 333450"/>
              <a:gd name="connsiteX37" fmla="*/ 315900 w 333450"/>
              <a:gd name="connsiteY37" fmla="*/ 52650 h 333450"/>
              <a:gd name="connsiteX38" fmla="*/ 333327 w 333450"/>
              <a:gd name="connsiteY38" fmla="*/ 68147 h 333450"/>
              <a:gd name="connsiteX39" fmla="*/ 333450 w 333450"/>
              <a:gd name="connsiteY39" fmla="*/ 70200 h 333450"/>
              <a:gd name="connsiteX40" fmla="*/ 317953 w 333450"/>
              <a:gd name="connsiteY40" fmla="*/ 87627 h 333450"/>
              <a:gd name="connsiteX41" fmla="*/ 315900 w 333450"/>
              <a:gd name="connsiteY41" fmla="*/ 87750 h 333450"/>
              <a:gd name="connsiteX42" fmla="*/ 280800 w 333450"/>
              <a:gd name="connsiteY42" fmla="*/ 87750 h 333450"/>
              <a:gd name="connsiteX43" fmla="*/ 280800 w 333450"/>
              <a:gd name="connsiteY43" fmla="*/ 122850 h 333450"/>
              <a:gd name="connsiteX44" fmla="*/ 265303 w 333450"/>
              <a:gd name="connsiteY44" fmla="*/ 140277 h 333450"/>
              <a:gd name="connsiteX45" fmla="*/ 263250 w 333450"/>
              <a:gd name="connsiteY45" fmla="*/ 140400 h 333450"/>
              <a:gd name="connsiteX46" fmla="*/ 245823 w 333450"/>
              <a:gd name="connsiteY46" fmla="*/ 124903 h 333450"/>
              <a:gd name="connsiteX47" fmla="*/ 245700 w 333450"/>
              <a:gd name="connsiteY47" fmla="*/ 122850 h 333450"/>
              <a:gd name="connsiteX48" fmla="*/ 245700 w 333450"/>
              <a:gd name="connsiteY48" fmla="*/ 87750 h 333450"/>
              <a:gd name="connsiteX49" fmla="*/ 210600 w 333450"/>
              <a:gd name="connsiteY49" fmla="*/ 87750 h 333450"/>
              <a:gd name="connsiteX50" fmla="*/ 193173 w 333450"/>
              <a:gd name="connsiteY50" fmla="*/ 72253 h 333450"/>
              <a:gd name="connsiteX51" fmla="*/ 193050 w 333450"/>
              <a:gd name="connsiteY51" fmla="*/ 70200 h 333450"/>
              <a:gd name="connsiteX52" fmla="*/ 208547 w 333450"/>
              <a:gd name="connsiteY52" fmla="*/ 52773 h 333450"/>
              <a:gd name="connsiteX53" fmla="*/ 210600 w 333450"/>
              <a:gd name="connsiteY53" fmla="*/ 52650 h 333450"/>
              <a:gd name="connsiteX54" fmla="*/ 245700 w 333450"/>
              <a:gd name="connsiteY54" fmla="*/ 52650 h 333450"/>
              <a:gd name="connsiteX55" fmla="*/ 245700 w 333450"/>
              <a:gd name="connsiteY55" fmla="*/ 17550 h 333450"/>
              <a:gd name="connsiteX56" fmla="*/ 261197 w 333450"/>
              <a:gd name="connsiteY56" fmla="*/ 123 h 333450"/>
              <a:gd name="connsiteX57" fmla="*/ 263250 w 333450"/>
              <a:gd name="connsiteY57" fmla="*/ 0 h 333450"/>
              <a:gd name="connsiteX58" fmla="*/ 261197 w 333450"/>
              <a:gd name="connsiteY58" fmla="*/ 123 h 3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33450" h="333450">
                <a:moveTo>
                  <a:pt x="131625" y="17550"/>
                </a:moveTo>
                <a:cubicBezTo>
                  <a:pt x="155856" y="17550"/>
                  <a:pt x="175500" y="37194"/>
                  <a:pt x="175500" y="61425"/>
                </a:cubicBezTo>
                <a:lnTo>
                  <a:pt x="175500" y="157950"/>
                </a:lnTo>
                <a:lnTo>
                  <a:pt x="272025" y="157950"/>
                </a:lnTo>
                <a:cubicBezTo>
                  <a:pt x="296256" y="157950"/>
                  <a:pt x="315900" y="177594"/>
                  <a:pt x="315900" y="201825"/>
                </a:cubicBezTo>
                <a:lnTo>
                  <a:pt x="315900" y="289575"/>
                </a:lnTo>
                <a:cubicBezTo>
                  <a:pt x="315900" y="313806"/>
                  <a:pt x="296256" y="333450"/>
                  <a:pt x="272025" y="333450"/>
                </a:cubicBezTo>
                <a:lnTo>
                  <a:pt x="43875" y="333450"/>
                </a:lnTo>
                <a:cubicBezTo>
                  <a:pt x="19644" y="333450"/>
                  <a:pt x="0" y="313806"/>
                  <a:pt x="0" y="289575"/>
                </a:cubicBezTo>
                <a:lnTo>
                  <a:pt x="0" y="61425"/>
                </a:lnTo>
                <a:cubicBezTo>
                  <a:pt x="0" y="37194"/>
                  <a:pt x="19644" y="17550"/>
                  <a:pt x="43875" y="17550"/>
                </a:cubicBezTo>
                <a:lnTo>
                  <a:pt x="131625" y="17550"/>
                </a:lnTo>
                <a:close/>
                <a:moveTo>
                  <a:pt x="140400" y="193050"/>
                </a:moveTo>
                <a:lnTo>
                  <a:pt x="35100" y="193050"/>
                </a:lnTo>
                <a:lnTo>
                  <a:pt x="35100" y="289575"/>
                </a:lnTo>
                <a:cubicBezTo>
                  <a:pt x="35100" y="294421"/>
                  <a:pt x="39029" y="298350"/>
                  <a:pt x="43875" y="298350"/>
                </a:cubicBezTo>
                <a:lnTo>
                  <a:pt x="140400" y="298350"/>
                </a:lnTo>
                <a:lnTo>
                  <a:pt x="140400" y="193050"/>
                </a:lnTo>
                <a:close/>
                <a:moveTo>
                  <a:pt x="272025" y="193050"/>
                </a:moveTo>
                <a:lnTo>
                  <a:pt x="175500" y="193050"/>
                </a:lnTo>
                <a:lnTo>
                  <a:pt x="175500" y="298350"/>
                </a:lnTo>
                <a:lnTo>
                  <a:pt x="272025" y="298350"/>
                </a:lnTo>
                <a:cubicBezTo>
                  <a:pt x="276871" y="298350"/>
                  <a:pt x="280800" y="294421"/>
                  <a:pt x="280800" y="289575"/>
                </a:cubicBezTo>
                <a:lnTo>
                  <a:pt x="280800" y="201825"/>
                </a:lnTo>
                <a:cubicBezTo>
                  <a:pt x="280800" y="196979"/>
                  <a:pt x="276871" y="193050"/>
                  <a:pt x="272025" y="193050"/>
                </a:cubicBezTo>
                <a:close/>
                <a:moveTo>
                  <a:pt x="131625" y="52650"/>
                </a:moveTo>
                <a:lnTo>
                  <a:pt x="43875" y="52650"/>
                </a:lnTo>
                <a:cubicBezTo>
                  <a:pt x="39029" y="52650"/>
                  <a:pt x="35100" y="56579"/>
                  <a:pt x="35100" y="61425"/>
                </a:cubicBezTo>
                <a:lnTo>
                  <a:pt x="35100" y="157950"/>
                </a:lnTo>
                <a:lnTo>
                  <a:pt x="140400" y="157950"/>
                </a:lnTo>
                <a:lnTo>
                  <a:pt x="140400" y="61425"/>
                </a:lnTo>
                <a:cubicBezTo>
                  <a:pt x="140400" y="56579"/>
                  <a:pt x="136471" y="52650"/>
                  <a:pt x="131625" y="52650"/>
                </a:cubicBezTo>
                <a:close/>
                <a:moveTo>
                  <a:pt x="261197" y="123"/>
                </a:moveTo>
                <a:lnTo>
                  <a:pt x="263250" y="0"/>
                </a:lnTo>
                <a:cubicBezTo>
                  <a:pt x="272148" y="1"/>
                  <a:pt x="279636" y="6660"/>
                  <a:pt x="280677" y="15497"/>
                </a:cubicBezTo>
                <a:lnTo>
                  <a:pt x="280800" y="17550"/>
                </a:lnTo>
                <a:lnTo>
                  <a:pt x="280800" y="52650"/>
                </a:lnTo>
                <a:lnTo>
                  <a:pt x="315900" y="52650"/>
                </a:lnTo>
                <a:cubicBezTo>
                  <a:pt x="324798" y="52651"/>
                  <a:pt x="332286" y="59310"/>
                  <a:pt x="333327" y="68147"/>
                </a:cubicBezTo>
                <a:lnTo>
                  <a:pt x="333450" y="70200"/>
                </a:lnTo>
                <a:cubicBezTo>
                  <a:pt x="333448" y="79097"/>
                  <a:pt x="326790" y="86586"/>
                  <a:pt x="317953" y="87627"/>
                </a:cubicBezTo>
                <a:lnTo>
                  <a:pt x="315900" y="87750"/>
                </a:lnTo>
                <a:lnTo>
                  <a:pt x="280800" y="87750"/>
                </a:lnTo>
                <a:lnTo>
                  <a:pt x="280800" y="122850"/>
                </a:lnTo>
                <a:cubicBezTo>
                  <a:pt x="280798" y="131748"/>
                  <a:pt x="274140" y="139236"/>
                  <a:pt x="265303" y="140277"/>
                </a:cubicBezTo>
                <a:lnTo>
                  <a:pt x="263250" y="140400"/>
                </a:lnTo>
                <a:cubicBezTo>
                  <a:pt x="254352" y="140399"/>
                  <a:pt x="246864" y="133740"/>
                  <a:pt x="245823" y="124903"/>
                </a:cubicBezTo>
                <a:lnTo>
                  <a:pt x="245700" y="122850"/>
                </a:lnTo>
                <a:lnTo>
                  <a:pt x="245700" y="87750"/>
                </a:lnTo>
                <a:lnTo>
                  <a:pt x="210600" y="87750"/>
                </a:lnTo>
                <a:cubicBezTo>
                  <a:pt x="201702" y="87749"/>
                  <a:pt x="194214" y="81090"/>
                  <a:pt x="193173" y="72253"/>
                </a:cubicBezTo>
                <a:lnTo>
                  <a:pt x="193050" y="70200"/>
                </a:lnTo>
                <a:cubicBezTo>
                  <a:pt x="193052" y="61303"/>
                  <a:pt x="199710" y="53814"/>
                  <a:pt x="208547" y="52773"/>
                </a:cubicBezTo>
                <a:lnTo>
                  <a:pt x="210600" y="52650"/>
                </a:lnTo>
                <a:lnTo>
                  <a:pt x="245700" y="52650"/>
                </a:lnTo>
                <a:lnTo>
                  <a:pt x="245700" y="17550"/>
                </a:lnTo>
                <a:cubicBezTo>
                  <a:pt x="245702" y="8653"/>
                  <a:pt x="252360" y="1164"/>
                  <a:pt x="261197" y="123"/>
                </a:cubicBezTo>
                <a:lnTo>
                  <a:pt x="263250" y="0"/>
                </a:lnTo>
                <a:lnTo>
                  <a:pt x="261197" y="123"/>
                </a:lnTo>
                <a:close/>
              </a:path>
            </a:pathLst>
          </a:custGeom>
          <a:solidFill>
            <a:schemeClr val="tx1"/>
          </a:solidFill>
          <a:ln w="7761" cap="flat">
            <a:noFill/>
            <a:prstDash val="solid"/>
            <a:miter/>
          </a:ln>
        </p:spPr>
        <p:txBody>
          <a:bodyPr rtlCol="0" anchor="ctr"/>
          <a:lstStyle/>
          <a:p>
            <a:endParaRPr lang="en-US"/>
          </a:p>
        </p:txBody>
      </p:sp>
      <p:pic>
        <p:nvPicPr>
          <p:cNvPr id="20" name="Graphic 19">
            <a:extLst>
              <a:ext uri="{FF2B5EF4-FFF2-40B4-BE49-F238E27FC236}">
                <a16:creationId xmlns:a16="http://schemas.microsoft.com/office/drawing/2014/main" id="{77D1BDA2-212D-706A-8C72-0ED78D69FF18}"/>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73315" y="2466099"/>
            <a:ext cx="348099" cy="348099"/>
          </a:xfrm>
          <a:prstGeom prst="rect">
            <a:avLst/>
          </a:prstGeom>
        </p:spPr>
      </p:pic>
      <p:pic>
        <p:nvPicPr>
          <p:cNvPr id="21" name="Graphic 20">
            <a:extLst>
              <a:ext uri="{FF2B5EF4-FFF2-40B4-BE49-F238E27FC236}">
                <a16:creationId xmlns:a16="http://schemas.microsoft.com/office/drawing/2014/main" id="{FA4DDFF3-B142-9EEB-B6DC-0FD09FC6C0D9}"/>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44637" y="2481921"/>
            <a:ext cx="316454" cy="316454"/>
          </a:xfrm>
          <a:prstGeom prst="rect">
            <a:avLst/>
          </a:prstGeom>
        </p:spPr>
      </p:pic>
      <p:pic>
        <p:nvPicPr>
          <p:cNvPr id="22" name="Graphic 21">
            <a:extLst>
              <a:ext uri="{FF2B5EF4-FFF2-40B4-BE49-F238E27FC236}">
                <a16:creationId xmlns:a16="http://schemas.microsoft.com/office/drawing/2014/main" id="{A469B304-9B89-6E6C-9E71-17E4B05046ED}"/>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51066" y="2466099"/>
            <a:ext cx="348099" cy="348099"/>
          </a:xfrm>
          <a:prstGeom prst="rect">
            <a:avLst/>
          </a:prstGeom>
        </p:spPr>
      </p:pic>
      <p:sp>
        <p:nvSpPr>
          <p:cNvPr id="23" name="Rectangle: Rounded Corners 142">
            <a:extLst>
              <a:ext uri="{FF2B5EF4-FFF2-40B4-BE49-F238E27FC236}">
                <a16:creationId xmlns:a16="http://schemas.microsoft.com/office/drawing/2014/main" id="{D066E169-588E-B400-AC5D-56B91A62A3A7}"/>
              </a:ext>
              <a:ext uri="{C183D7F6-B498-43B3-948B-1728B52AA6E4}">
                <adec:decorative xmlns:adec="http://schemas.microsoft.com/office/drawing/2017/decorative" val="1"/>
              </a:ext>
            </a:extLst>
          </p:cNvPr>
          <p:cNvSpPr>
            <a:spLocks/>
          </p:cNvSpPr>
          <p:nvPr/>
        </p:nvSpPr>
        <p:spPr bwMode="auto">
          <a:xfrm>
            <a:off x="1309693" y="2128584"/>
            <a:ext cx="1964339" cy="3368415"/>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24" name="Rectangle: Rounded Corners 142">
            <a:extLst>
              <a:ext uri="{FF2B5EF4-FFF2-40B4-BE49-F238E27FC236}">
                <a16:creationId xmlns:a16="http://schemas.microsoft.com/office/drawing/2014/main" id="{B425E927-C2A5-688F-28DE-3359B1B3333C}"/>
              </a:ext>
              <a:ext uri="{C183D7F6-B498-43B3-948B-1728B52AA6E4}">
                <adec:decorative xmlns:adec="http://schemas.microsoft.com/office/drawing/2017/decorative" val="1"/>
              </a:ext>
            </a:extLst>
          </p:cNvPr>
          <p:cNvSpPr>
            <a:spLocks/>
          </p:cNvSpPr>
          <p:nvPr/>
        </p:nvSpPr>
        <p:spPr bwMode="auto">
          <a:xfrm>
            <a:off x="3387444" y="2128584"/>
            <a:ext cx="1964339" cy="3368415"/>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25" name="Rectangle: Rounded Corners 142">
            <a:extLst>
              <a:ext uri="{FF2B5EF4-FFF2-40B4-BE49-F238E27FC236}">
                <a16:creationId xmlns:a16="http://schemas.microsoft.com/office/drawing/2014/main" id="{B8151806-DEC2-4CE5-A46B-D1EE09368038}"/>
              </a:ext>
              <a:ext uri="{C183D7F6-B498-43B3-948B-1728B52AA6E4}">
                <adec:decorative xmlns:adec="http://schemas.microsoft.com/office/drawing/2017/decorative" val="1"/>
              </a:ext>
            </a:extLst>
          </p:cNvPr>
          <p:cNvSpPr>
            <a:spLocks/>
          </p:cNvSpPr>
          <p:nvPr/>
        </p:nvSpPr>
        <p:spPr bwMode="auto">
          <a:xfrm>
            <a:off x="5465195" y="2128584"/>
            <a:ext cx="1964339" cy="3368415"/>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26" name="Rectangle: Rounded Corners 142">
            <a:extLst>
              <a:ext uri="{FF2B5EF4-FFF2-40B4-BE49-F238E27FC236}">
                <a16:creationId xmlns:a16="http://schemas.microsoft.com/office/drawing/2014/main" id="{AFD9982A-5705-5F20-29B3-D1661CF4BEA6}"/>
              </a:ext>
              <a:ext uri="{C183D7F6-B498-43B3-948B-1728B52AA6E4}">
                <adec:decorative xmlns:adec="http://schemas.microsoft.com/office/drawing/2017/decorative" val="1"/>
              </a:ext>
            </a:extLst>
          </p:cNvPr>
          <p:cNvSpPr>
            <a:spLocks/>
          </p:cNvSpPr>
          <p:nvPr/>
        </p:nvSpPr>
        <p:spPr bwMode="auto">
          <a:xfrm>
            <a:off x="7542946" y="2128584"/>
            <a:ext cx="1964339" cy="3368415"/>
          </a:xfrm>
          <a:prstGeom prst="roundRect">
            <a:avLst>
              <a:gd name="adj" fmla="val 7141"/>
            </a:avLst>
          </a:prstGeom>
          <a:noFill/>
          <a:ln w="12700" cap="rnd">
            <a:solidFill>
              <a:srgbClr val="3A4953"/>
            </a:solidFill>
            <a:headEnd type="none" w="med" len="med"/>
            <a:tailEnd type="none" w="med" len="med"/>
          </a:ln>
          <a:effectLst/>
          <a:extLst>
            <a:ext uri="{909E8E84-426E-40DD-AFC4-6F175D3DCCD1}">
              <a14:hiddenFill xmlns:a14="http://schemas.microsoft.com/office/drawing/2010/main">
                <a:solidFill>
                  <a:srgbClr val="FFFFFF"/>
                </a:solidFill>
              </a14:hiddenFill>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27" name="Rectangle: Rounded Corners 142">
            <a:extLst>
              <a:ext uri="{FF2B5EF4-FFF2-40B4-BE49-F238E27FC236}">
                <a16:creationId xmlns:a16="http://schemas.microsoft.com/office/drawing/2014/main" id="{90DA90D2-9443-7A85-3252-F28B33418826}"/>
              </a:ext>
              <a:ext uri="{C183D7F6-B498-43B3-948B-1728B52AA6E4}">
                <adec:decorative xmlns:adec="http://schemas.microsoft.com/office/drawing/2017/decorative" val="1"/>
              </a:ext>
            </a:extLst>
          </p:cNvPr>
          <p:cNvSpPr>
            <a:spLocks/>
          </p:cNvSpPr>
          <p:nvPr/>
        </p:nvSpPr>
        <p:spPr bwMode="auto">
          <a:xfrm>
            <a:off x="9620695" y="2128584"/>
            <a:ext cx="1964339" cy="3368415"/>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4291CE63-82F7-B85F-A69F-4834F519EE07}"/>
              </a:ext>
            </a:extLst>
          </p:cNvPr>
          <p:cNvSpPr txBox="1"/>
          <p:nvPr/>
        </p:nvSpPr>
        <p:spPr>
          <a:xfrm>
            <a:off x="482237" y="3252993"/>
            <a:ext cx="843500" cy="461665"/>
          </a:xfrm>
          <a:prstGeom prst="rect">
            <a:avLst/>
          </a:prstGeom>
          <a:noFill/>
        </p:spPr>
        <p:txBody>
          <a:bodyPr wrap="none" rtlCol="0">
            <a:spAutoFit/>
          </a:bodyPr>
          <a:lstStyle/>
          <a:p>
            <a:pPr algn="ctr"/>
            <a:r>
              <a:rPr lang="en-US" sz="1200">
                <a:solidFill>
                  <a:schemeClr val="tx1">
                    <a:lumMod val="65000"/>
                    <a:lumOff val="35000"/>
                  </a:schemeClr>
                </a:solidFill>
              </a:rPr>
              <a:t>Container</a:t>
            </a:r>
          </a:p>
          <a:p>
            <a:pPr algn="ctr"/>
            <a:r>
              <a:rPr lang="en-US" sz="1200">
                <a:solidFill>
                  <a:schemeClr val="tx1">
                    <a:lumMod val="65000"/>
                    <a:lumOff val="35000"/>
                  </a:schemeClr>
                </a:solidFill>
              </a:rPr>
              <a:t>Image</a:t>
            </a:r>
          </a:p>
        </p:txBody>
      </p:sp>
      <p:sp>
        <p:nvSpPr>
          <p:cNvPr id="29" name="TextBox 28">
            <a:extLst>
              <a:ext uri="{FF2B5EF4-FFF2-40B4-BE49-F238E27FC236}">
                <a16:creationId xmlns:a16="http://schemas.microsoft.com/office/drawing/2014/main" id="{3B04F4E9-1BEF-7D7D-D2D3-3249F07AE612}"/>
              </a:ext>
            </a:extLst>
          </p:cNvPr>
          <p:cNvSpPr txBox="1"/>
          <p:nvPr/>
        </p:nvSpPr>
        <p:spPr>
          <a:xfrm>
            <a:off x="1831636" y="2948814"/>
            <a:ext cx="920452"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Acquire</a:t>
            </a:r>
          </a:p>
        </p:txBody>
      </p:sp>
      <p:sp>
        <p:nvSpPr>
          <p:cNvPr id="30" name="TextBox 29">
            <a:extLst>
              <a:ext uri="{FF2B5EF4-FFF2-40B4-BE49-F238E27FC236}">
                <a16:creationId xmlns:a16="http://schemas.microsoft.com/office/drawing/2014/main" id="{C6522E4F-FC70-6934-7A6F-7357092B6DB4}"/>
              </a:ext>
            </a:extLst>
          </p:cNvPr>
          <p:cNvSpPr txBox="1"/>
          <p:nvPr/>
        </p:nvSpPr>
        <p:spPr>
          <a:xfrm>
            <a:off x="1571862" y="3621338"/>
            <a:ext cx="1440000" cy="923330"/>
          </a:xfrm>
          <a:prstGeom prst="rect">
            <a:avLst/>
          </a:prstGeom>
          <a:noFill/>
        </p:spPr>
        <p:txBody>
          <a:bodyPr wrap="square" lIns="0" tIns="0" rIns="0" bIns="0" rtlCol="0">
            <a:spAutoFit/>
          </a:bodyPr>
          <a:lstStyle/>
          <a:p>
            <a:r>
              <a:rPr lang="en-US" sz="1200"/>
              <a:t>Acquire cloud native </a:t>
            </a:r>
          </a:p>
          <a:p>
            <a:r>
              <a:rPr lang="en-US" sz="1200"/>
              <a:t>artifacts from external sources </a:t>
            </a:r>
            <a:br>
              <a:rPr lang="pl-PL" sz="1200"/>
            </a:br>
            <a:r>
              <a:rPr lang="en-US" sz="1200"/>
              <a:t>and ensure min</a:t>
            </a:r>
          </a:p>
          <a:p>
            <a:r>
              <a:rPr lang="en-US" sz="1200"/>
              <a:t>quality bar.</a:t>
            </a:r>
          </a:p>
        </p:txBody>
      </p:sp>
      <p:sp>
        <p:nvSpPr>
          <p:cNvPr id="31" name="TextBox 30">
            <a:extLst>
              <a:ext uri="{FF2B5EF4-FFF2-40B4-BE49-F238E27FC236}">
                <a16:creationId xmlns:a16="http://schemas.microsoft.com/office/drawing/2014/main" id="{8F3196BF-D345-632F-CC03-63A7CDBFFD1F}"/>
              </a:ext>
            </a:extLst>
          </p:cNvPr>
          <p:cNvSpPr txBox="1"/>
          <p:nvPr/>
        </p:nvSpPr>
        <p:spPr>
          <a:xfrm>
            <a:off x="3908813" y="2948814"/>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Catalog</a:t>
            </a:r>
          </a:p>
        </p:txBody>
      </p:sp>
      <p:sp>
        <p:nvSpPr>
          <p:cNvPr id="32" name="TextBox 31">
            <a:extLst>
              <a:ext uri="{FF2B5EF4-FFF2-40B4-BE49-F238E27FC236}">
                <a16:creationId xmlns:a16="http://schemas.microsoft.com/office/drawing/2014/main" id="{9DB761ED-0414-8017-B10B-C4FFAC1AD36D}"/>
              </a:ext>
            </a:extLst>
          </p:cNvPr>
          <p:cNvSpPr txBox="1"/>
          <p:nvPr/>
        </p:nvSpPr>
        <p:spPr>
          <a:xfrm>
            <a:off x="3709942" y="3621338"/>
            <a:ext cx="1319342" cy="1292662"/>
          </a:xfrm>
          <a:prstGeom prst="rect">
            <a:avLst/>
          </a:prstGeom>
          <a:noFill/>
        </p:spPr>
        <p:txBody>
          <a:bodyPr wrap="square" lIns="0" tIns="0" rIns="0" bIns="0" rtlCol="0">
            <a:spAutoFit/>
          </a:bodyPr>
          <a:lstStyle/>
          <a:p>
            <a:r>
              <a:rPr lang="en-US" sz="1200"/>
              <a:t>Offer a curated catalog of</a:t>
            </a:r>
            <a:r>
              <a:rPr lang="pl-PL" sz="1200"/>
              <a:t> </a:t>
            </a:r>
            <a:r>
              <a:rPr lang="en-US" sz="1200"/>
              <a:t>cloud native artifacts </a:t>
            </a:r>
            <a:br>
              <a:rPr lang="pl-PL" sz="1200"/>
            </a:br>
            <a:r>
              <a:rPr lang="en-US" sz="1200"/>
              <a:t>for</a:t>
            </a:r>
            <a:r>
              <a:rPr lang="pl-PL" sz="1200"/>
              <a:t> </a:t>
            </a:r>
            <a:r>
              <a:rPr lang="en-US" sz="1200"/>
              <a:t>internal use; constantly update</a:t>
            </a:r>
            <a:r>
              <a:rPr lang="pl-PL" sz="1200"/>
              <a:t> </a:t>
            </a:r>
            <a:r>
              <a:rPr lang="en-US" sz="1200"/>
              <a:t>and refresh </a:t>
            </a:r>
            <a:br>
              <a:rPr lang="pl-PL" sz="1200"/>
            </a:br>
            <a:r>
              <a:rPr lang="en-US" sz="1200"/>
              <a:t>the catalog.</a:t>
            </a:r>
          </a:p>
        </p:txBody>
      </p:sp>
      <p:sp>
        <p:nvSpPr>
          <p:cNvPr id="33" name="TextBox 32">
            <a:extLst>
              <a:ext uri="{FF2B5EF4-FFF2-40B4-BE49-F238E27FC236}">
                <a16:creationId xmlns:a16="http://schemas.microsoft.com/office/drawing/2014/main" id="{C9B05540-9A1F-97F1-2D3E-B9A84F7DDC38}"/>
              </a:ext>
            </a:extLst>
          </p:cNvPr>
          <p:cNvSpPr txBox="1"/>
          <p:nvPr/>
        </p:nvSpPr>
        <p:spPr>
          <a:xfrm>
            <a:off x="5986564" y="2948814"/>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Build</a:t>
            </a:r>
          </a:p>
        </p:txBody>
      </p:sp>
      <p:sp>
        <p:nvSpPr>
          <p:cNvPr id="34" name="TextBox 33">
            <a:extLst>
              <a:ext uri="{FF2B5EF4-FFF2-40B4-BE49-F238E27FC236}">
                <a16:creationId xmlns:a16="http://schemas.microsoft.com/office/drawing/2014/main" id="{9B1326A5-4E9C-6D88-69D2-776C1056A343}"/>
              </a:ext>
            </a:extLst>
          </p:cNvPr>
          <p:cNvSpPr txBox="1"/>
          <p:nvPr/>
        </p:nvSpPr>
        <p:spPr>
          <a:xfrm>
            <a:off x="5784676" y="3621338"/>
            <a:ext cx="1496100" cy="1292662"/>
          </a:xfrm>
          <a:prstGeom prst="rect">
            <a:avLst/>
          </a:prstGeom>
          <a:noFill/>
        </p:spPr>
        <p:txBody>
          <a:bodyPr wrap="square" lIns="0" tIns="0" rIns="0" bIns="0" rtlCol="0">
            <a:spAutoFit/>
          </a:bodyPr>
          <a:lstStyle/>
          <a:p>
            <a:r>
              <a:rPr lang="en-US" sz="1200"/>
              <a:t>Build cloud native artifacts in a</a:t>
            </a:r>
            <a:r>
              <a:rPr lang="pl-PL" sz="1200"/>
              <a:t> </a:t>
            </a:r>
            <a:r>
              <a:rPr lang="en-US" sz="1200"/>
              <a:t>consistent and secure manner; include security controls </a:t>
            </a:r>
            <a:br>
              <a:rPr lang="en-US" sz="1200"/>
            </a:br>
            <a:r>
              <a:rPr lang="en-US" sz="1200"/>
              <a:t>and keep them always up to date.</a:t>
            </a:r>
          </a:p>
        </p:txBody>
      </p:sp>
      <p:sp>
        <p:nvSpPr>
          <p:cNvPr id="35" name="TextBox 34">
            <a:extLst>
              <a:ext uri="{FF2B5EF4-FFF2-40B4-BE49-F238E27FC236}">
                <a16:creationId xmlns:a16="http://schemas.microsoft.com/office/drawing/2014/main" id="{3946E892-B648-A601-50F1-3BE7A7D3D8F1}"/>
              </a:ext>
            </a:extLst>
          </p:cNvPr>
          <p:cNvSpPr txBox="1"/>
          <p:nvPr/>
        </p:nvSpPr>
        <p:spPr>
          <a:xfrm>
            <a:off x="8064315" y="2948814"/>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Deploy</a:t>
            </a:r>
          </a:p>
        </p:txBody>
      </p:sp>
      <p:sp>
        <p:nvSpPr>
          <p:cNvPr id="36" name="TextBox 35">
            <a:extLst>
              <a:ext uri="{FF2B5EF4-FFF2-40B4-BE49-F238E27FC236}">
                <a16:creationId xmlns:a16="http://schemas.microsoft.com/office/drawing/2014/main" id="{A9115236-038C-B515-2978-AD6A83B11FCA}"/>
              </a:ext>
            </a:extLst>
          </p:cNvPr>
          <p:cNvSpPr txBox="1"/>
          <p:nvPr/>
        </p:nvSpPr>
        <p:spPr>
          <a:xfrm>
            <a:off x="7805115" y="3621338"/>
            <a:ext cx="1440000" cy="1661993"/>
          </a:xfrm>
          <a:prstGeom prst="rect">
            <a:avLst/>
          </a:prstGeom>
          <a:noFill/>
        </p:spPr>
        <p:txBody>
          <a:bodyPr wrap="square" lIns="0" tIns="0" rIns="0" bIns="0" rtlCol="0">
            <a:spAutoFit/>
          </a:bodyPr>
          <a:lstStyle/>
          <a:p>
            <a:r>
              <a:rPr lang="en-US" sz="1200"/>
              <a:t>Deploy cloud native artifacts using</a:t>
            </a:r>
            <a:br>
              <a:rPr lang="en-US" sz="1200"/>
            </a:br>
            <a:r>
              <a:rPr lang="en-US" sz="1200"/>
              <a:t>company-wide policies for</a:t>
            </a:r>
          </a:p>
          <a:p>
            <a:r>
              <a:rPr lang="en-US" sz="1200"/>
              <a:t>compliance; prevent non-compliant</a:t>
            </a:r>
            <a:r>
              <a:rPr lang="pl-PL" sz="1200"/>
              <a:t> </a:t>
            </a:r>
            <a:r>
              <a:rPr lang="en-US" sz="1200"/>
              <a:t>artifacts reaching </a:t>
            </a:r>
            <a:br>
              <a:rPr lang="pl-PL" sz="1200"/>
            </a:br>
            <a:r>
              <a:rPr lang="en-US" sz="1200"/>
              <a:t>the runtime</a:t>
            </a:r>
            <a:r>
              <a:rPr lang="pl-PL" sz="1200"/>
              <a:t> </a:t>
            </a:r>
            <a:endParaRPr lang="en-US" sz="1200"/>
          </a:p>
          <a:p>
            <a:r>
              <a:rPr lang="en-US" sz="1200"/>
              <a:t>environment.</a:t>
            </a:r>
          </a:p>
        </p:txBody>
      </p:sp>
      <p:sp>
        <p:nvSpPr>
          <p:cNvPr id="37" name="TextBox 36">
            <a:extLst>
              <a:ext uri="{FF2B5EF4-FFF2-40B4-BE49-F238E27FC236}">
                <a16:creationId xmlns:a16="http://schemas.microsoft.com/office/drawing/2014/main" id="{29C877C9-7E40-F04C-A728-CB441E2011B7}"/>
              </a:ext>
            </a:extLst>
          </p:cNvPr>
          <p:cNvSpPr txBox="1"/>
          <p:nvPr/>
        </p:nvSpPr>
        <p:spPr>
          <a:xfrm>
            <a:off x="10142064" y="2948814"/>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solidFill>
                  <a:schemeClr val="tx1"/>
                </a:solidFill>
              </a:rPr>
              <a:t>Run</a:t>
            </a:r>
          </a:p>
        </p:txBody>
      </p:sp>
      <p:sp>
        <p:nvSpPr>
          <p:cNvPr id="39" name="TextBox 38">
            <a:extLst>
              <a:ext uri="{FF2B5EF4-FFF2-40B4-BE49-F238E27FC236}">
                <a16:creationId xmlns:a16="http://schemas.microsoft.com/office/drawing/2014/main" id="{06B1515F-EBB6-1090-C05F-0843AF71BEBF}"/>
              </a:ext>
            </a:extLst>
          </p:cNvPr>
          <p:cNvSpPr txBox="1"/>
          <p:nvPr/>
        </p:nvSpPr>
        <p:spPr>
          <a:xfrm>
            <a:off x="9882864" y="3621338"/>
            <a:ext cx="1440000" cy="1292662"/>
          </a:xfrm>
          <a:prstGeom prst="rect">
            <a:avLst/>
          </a:prstGeom>
          <a:noFill/>
        </p:spPr>
        <p:txBody>
          <a:bodyPr wrap="square" lIns="0" tIns="0" rIns="0" bIns="0" rtlCol="0">
            <a:spAutoFit/>
          </a:bodyPr>
          <a:lstStyle/>
          <a:p>
            <a:r>
              <a:rPr lang="en-US" sz="1200"/>
              <a:t>Constantly monitor </a:t>
            </a:r>
            <a:br>
              <a:rPr lang="pl-PL" sz="1200"/>
            </a:br>
            <a:r>
              <a:rPr lang="en-US" sz="1200"/>
              <a:t>the runtime environment; </a:t>
            </a:r>
            <a:br>
              <a:rPr lang="en-US" sz="1200"/>
            </a:br>
            <a:r>
              <a:rPr lang="en-US" sz="1200"/>
              <a:t>keep it clean from vulnerable and </a:t>
            </a:r>
            <a:br>
              <a:rPr lang="en-US" sz="1200"/>
            </a:br>
            <a:r>
              <a:rPr lang="en-US" sz="1200"/>
              <a:t>non-compliant artifacts.</a:t>
            </a:r>
          </a:p>
        </p:txBody>
      </p:sp>
      <p:sp>
        <p:nvSpPr>
          <p:cNvPr id="42" name="TextBox 3">
            <a:extLst>
              <a:ext uri="{FF2B5EF4-FFF2-40B4-BE49-F238E27FC236}">
                <a16:creationId xmlns:a16="http://schemas.microsoft.com/office/drawing/2014/main" id="{3F905D73-5464-3FB7-11CD-1C4E410367E1}"/>
              </a:ext>
            </a:extLst>
          </p:cNvPr>
          <p:cNvSpPr txBox="1"/>
          <p:nvPr/>
        </p:nvSpPr>
        <p:spPr>
          <a:xfrm>
            <a:off x="4948839" y="5662138"/>
            <a:ext cx="2648952"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400">
                <a:hlinkClick r:id="rId13">
                  <a:extLst>
                    <a:ext uri="{A12FA001-AC4F-418D-AE19-62706E023703}">
                      <ahyp:hlinkClr xmlns:ahyp="http://schemas.microsoft.com/office/drawing/2018/hyperlinkcolor" val="tx"/>
                    </a:ext>
                  </a:extLst>
                </a:hlinkClick>
              </a:rPr>
              <a:t>https://aka.ms/csscframework</a:t>
            </a:r>
            <a:endParaRPr lang="en-US" sz="1400"/>
          </a:p>
        </p:txBody>
      </p:sp>
    </p:spTree>
    <p:extLst>
      <p:ext uri="{BB962C8B-B14F-4D97-AF65-F5344CB8AC3E}">
        <p14:creationId xmlns:p14="http://schemas.microsoft.com/office/powerpoint/2010/main" val="369286124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7BD94-010B-1195-BABE-70901C526A2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E2252C-3702-C0D7-D902-95FA104D95FC}"/>
              </a:ext>
            </a:extLst>
          </p:cNvPr>
          <p:cNvSpPr>
            <a:spLocks noGrp="1"/>
          </p:cNvSpPr>
          <p:nvPr>
            <p:ph type="title"/>
            <p:custDataLst>
              <p:custData r:id="rId2"/>
            </p:custDataLst>
          </p:nvPr>
        </p:nvSpPr>
        <p:spPr/>
        <p:txBody>
          <a:bodyPr/>
          <a:lstStyle/>
          <a:p>
            <a:r>
              <a:rPr lang="en-GB"/>
              <a:t>Acquire Stage</a:t>
            </a:r>
            <a:endParaRPr lang="en-US"/>
          </a:p>
        </p:txBody>
      </p:sp>
      <p:sp>
        <p:nvSpPr>
          <p:cNvPr id="2" name="Text Placeholder 1">
            <a:extLst>
              <a:ext uri="{FF2B5EF4-FFF2-40B4-BE49-F238E27FC236}">
                <a16:creationId xmlns:a16="http://schemas.microsoft.com/office/drawing/2014/main" id="{5C104895-BDE3-DA1F-B49E-6C558852F5C8}"/>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7225F849-B446-F545-27CD-B8EAE8A08DE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22170FD6-BEFC-4BF3-C432-E163D87A7AE8}"/>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3819231188"/>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60C0C-4BC8-B933-89F0-8CE64858662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8B23DB4-04CD-7069-7C19-E000C3ACAD17}"/>
              </a:ext>
            </a:extLst>
          </p:cNvPr>
          <p:cNvSpPr>
            <a:spLocks noGrp="1"/>
          </p:cNvSpPr>
          <p:nvPr>
            <p:ph type="title"/>
          </p:nvPr>
        </p:nvSpPr>
        <p:spPr/>
        <p:txBody>
          <a:bodyPr/>
          <a:lstStyle/>
          <a:p>
            <a:r>
              <a:rPr lang="en-US"/>
              <a:t>Acquire Stage</a:t>
            </a:r>
          </a:p>
        </p:txBody>
      </p:sp>
      <p:sp>
        <p:nvSpPr>
          <p:cNvPr id="65" name="Slide Number Placeholder 4">
            <a:extLst>
              <a:ext uri="{FF2B5EF4-FFF2-40B4-BE49-F238E27FC236}">
                <a16:creationId xmlns:a16="http://schemas.microsoft.com/office/drawing/2014/main" id="{1320989B-4A4B-937B-9C0A-26343BAB8FD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8</a:t>
            </a:fld>
            <a:endParaRPr lang="en-US" noProof="0"/>
          </a:p>
        </p:txBody>
      </p:sp>
      <p:sp>
        <p:nvSpPr>
          <p:cNvPr id="87" name="Right Brace 86">
            <a:extLst>
              <a:ext uri="{FF2B5EF4-FFF2-40B4-BE49-F238E27FC236}">
                <a16:creationId xmlns:a16="http://schemas.microsoft.com/office/drawing/2014/main" id="{6DF5C1E6-5E84-14BF-9512-63781ED25D6A}"/>
              </a:ext>
              <a:ext uri="{C183D7F6-B498-43B3-948B-1728B52AA6E4}">
                <adec:decorative xmlns:adec="http://schemas.microsoft.com/office/drawing/2017/decorative" val="1"/>
              </a:ext>
            </a:extLst>
          </p:cNvPr>
          <p:cNvSpPr/>
          <p:nvPr/>
        </p:nvSpPr>
        <p:spPr>
          <a:xfrm>
            <a:off x="2113496" y="1829972"/>
            <a:ext cx="404278" cy="4703642"/>
          </a:xfrm>
          <a:prstGeom prst="rightBrace">
            <a:avLst>
              <a:gd name="adj1" fmla="val 45355"/>
              <a:gd name="adj2" fmla="val 50000"/>
            </a:avLst>
          </a:prstGeom>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4461D8BA-0B30-D873-416B-2DFB496D25AD}"/>
              </a:ext>
              <a:ext uri="{C183D7F6-B498-43B3-948B-1728B52AA6E4}">
                <adec:decorative xmlns:adec="http://schemas.microsoft.com/office/drawing/2017/decorative" val="1"/>
              </a:ext>
            </a:extLst>
          </p:cNvPr>
          <p:cNvCxnSpPr>
            <a:cxnSpLocks/>
          </p:cNvCxnSpPr>
          <p:nvPr/>
        </p:nvCxnSpPr>
        <p:spPr>
          <a:xfrm flipV="1">
            <a:off x="9770299" y="1931284"/>
            <a:ext cx="0" cy="4501019"/>
          </a:xfrm>
          <a:prstGeom prst="line">
            <a:avLst/>
          </a:prstGeom>
          <a:ln w="12700" cap="rnd">
            <a:solidFill>
              <a:srgbClr val="3A4953"/>
            </a:solidFill>
            <a:prstDash val="dash"/>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nvGrpSpPr>
          <p:cNvPr id="89" name="Group 88" descr="Project QUAY">
            <a:extLst>
              <a:ext uri="{FF2B5EF4-FFF2-40B4-BE49-F238E27FC236}">
                <a16:creationId xmlns:a16="http://schemas.microsoft.com/office/drawing/2014/main" id="{0D554A2B-A9AC-C5BC-C971-005C7F61A7E0}"/>
              </a:ext>
            </a:extLst>
          </p:cNvPr>
          <p:cNvGrpSpPr/>
          <p:nvPr/>
        </p:nvGrpSpPr>
        <p:grpSpPr>
          <a:xfrm>
            <a:off x="906861" y="1950720"/>
            <a:ext cx="1142374" cy="597872"/>
            <a:chOff x="906861" y="1613832"/>
            <a:chExt cx="1142374" cy="597872"/>
          </a:xfrm>
        </p:grpSpPr>
        <p:sp>
          <p:nvSpPr>
            <p:cNvPr id="90" name="TextBox 89">
              <a:extLst>
                <a:ext uri="{FF2B5EF4-FFF2-40B4-BE49-F238E27FC236}">
                  <a16:creationId xmlns:a16="http://schemas.microsoft.com/office/drawing/2014/main" id="{8920C0CF-6F0F-4B52-1515-D48B8318B842}"/>
                </a:ext>
              </a:extLst>
            </p:cNvPr>
            <p:cNvSpPr txBox="1"/>
            <p:nvPr/>
          </p:nvSpPr>
          <p:spPr>
            <a:xfrm>
              <a:off x="1038215" y="1996747"/>
              <a:ext cx="879665" cy="214957"/>
            </a:xfrm>
            <a:prstGeom prst="rect">
              <a:avLst/>
            </a:prstGeom>
            <a:noFill/>
          </p:spPr>
          <p:txBody>
            <a:bodyPr wrap="square" rtlCol="0">
              <a:spAutoFit/>
            </a:bodyPr>
            <a:lstStyle/>
            <a:p>
              <a:pPr algn="ctr"/>
              <a:r>
                <a:rPr lang="pl-PL" sz="900">
                  <a:solidFill>
                    <a:schemeClr val="tx1">
                      <a:lumMod val="65000"/>
                      <a:lumOff val="35000"/>
                    </a:schemeClr>
                  </a:solidFill>
                </a:rPr>
                <a:t>Project QUAY</a:t>
              </a:r>
              <a:endParaRPr lang="en-US" sz="900">
                <a:solidFill>
                  <a:schemeClr val="tx1">
                    <a:lumMod val="65000"/>
                    <a:lumOff val="35000"/>
                  </a:schemeClr>
                </a:solidFill>
              </a:endParaRPr>
            </a:p>
          </p:txBody>
        </p:sp>
        <p:pic>
          <p:nvPicPr>
            <p:cNvPr id="91" name="Picture 90" descr="A blue and black logo&#10;&#10;Description automatically generated">
              <a:extLst>
                <a:ext uri="{FF2B5EF4-FFF2-40B4-BE49-F238E27FC236}">
                  <a16:creationId xmlns:a16="http://schemas.microsoft.com/office/drawing/2014/main" id="{79AE1227-D27C-DE40-090F-5C38E3DE1B9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906861" y="1613832"/>
              <a:ext cx="1142374" cy="426200"/>
            </a:xfrm>
            <a:prstGeom prst="rect">
              <a:avLst/>
            </a:prstGeom>
            <a:solidFill>
              <a:schemeClr val="tx1">
                <a:lumMod val="95000"/>
                <a:lumOff val="5000"/>
              </a:schemeClr>
            </a:solidFill>
          </p:spPr>
        </p:pic>
      </p:grpSp>
      <p:grpSp>
        <p:nvGrpSpPr>
          <p:cNvPr id="92" name="Group 91" descr="Docker Hub">
            <a:extLst>
              <a:ext uri="{FF2B5EF4-FFF2-40B4-BE49-F238E27FC236}">
                <a16:creationId xmlns:a16="http://schemas.microsoft.com/office/drawing/2014/main" id="{A4F2EE45-180C-8964-A390-E45D360E4BBD}"/>
              </a:ext>
            </a:extLst>
          </p:cNvPr>
          <p:cNvGrpSpPr/>
          <p:nvPr/>
        </p:nvGrpSpPr>
        <p:grpSpPr>
          <a:xfrm>
            <a:off x="1038216" y="2644774"/>
            <a:ext cx="879664" cy="710887"/>
            <a:chOff x="2019910" y="2223108"/>
            <a:chExt cx="944629" cy="763387"/>
          </a:xfrm>
        </p:grpSpPr>
        <p:pic>
          <p:nvPicPr>
            <p:cNvPr id="93" name="Picture 92" descr="A blue whale with a black background&#10;&#10;Description automatically generated">
              <a:extLst>
                <a:ext uri="{FF2B5EF4-FFF2-40B4-BE49-F238E27FC236}">
                  <a16:creationId xmlns:a16="http://schemas.microsoft.com/office/drawing/2014/main" id="{3148424C-9D90-DDE3-521D-074B4A3914B6}"/>
                </a:ext>
              </a:extLst>
            </p:cNvPr>
            <p:cNvPicPr>
              <a:picLocks noChangeAspect="1"/>
            </p:cNvPicPr>
            <p:nvPr/>
          </p:nvPicPr>
          <p:blipFill>
            <a:blip r:embed="rId5"/>
            <a:stretch>
              <a:fillRect/>
            </a:stretch>
          </p:blipFill>
          <p:spPr>
            <a:xfrm>
              <a:off x="2143015" y="2223108"/>
              <a:ext cx="698420" cy="612250"/>
            </a:xfrm>
            <a:prstGeom prst="rect">
              <a:avLst/>
            </a:prstGeom>
          </p:spPr>
        </p:pic>
        <p:sp>
          <p:nvSpPr>
            <p:cNvPr id="94" name="TextBox 93">
              <a:extLst>
                <a:ext uri="{FF2B5EF4-FFF2-40B4-BE49-F238E27FC236}">
                  <a16:creationId xmlns:a16="http://schemas.microsoft.com/office/drawing/2014/main" id="{96AEB173-FE02-2E11-D688-34F0742B921F}"/>
                </a:ext>
              </a:extLst>
            </p:cNvPr>
            <p:cNvSpPr txBox="1"/>
            <p:nvPr/>
          </p:nvSpPr>
          <p:spPr>
            <a:xfrm>
              <a:off x="2019910" y="2738616"/>
              <a:ext cx="944629" cy="247879"/>
            </a:xfrm>
            <a:prstGeom prst="rect">
              <a:avLst/>
            </a:prstGeom>
            <a:noFill/>
          </p:spPr>
          <p:txBody>
            <a:bodyPr wrap="square" rtlCol="0">
              <a:spAutoFit/>
            </a:bodyPr>
            <a:lstStyle/>
            <a:p>
              <a:pPr algn="ctr"/>
              <a:r>
                <a:rPr lang="en-US" sz="900">
                  <a:solidFill>
                    <a:schemeClr val="tx1">
                      <a:lumMod val="65000"/>
                      <a:lumOff val="35000"/>
                    </a:schemeClr>
                  </a:solidFill>
                </a:rPr>
                <a:t>Docker</a:t>
              </a:r>
              <a:r>
                <a:rPr lang="pl-PL" sz="900">
                  <a:solidFill>
                    <a:schemeClr val="tx1">
                      <a:lumMod val="65000"/>
                      <a:lumOff val="35000"/>
                    </a:schemeClr>
                  </a:solidFill>
                </a:rPr>
                <a:t> </a:t>
              </a:r>
              <a:r>
                <a:rPr lang="en-US" sz="900">
                  <a:solidFill>
                    <a:schemeClr val="tx1">
                      <a:lumMod val="65000"/>
                      <a:lumOff val="35000"/>
                    </a:schemeClr>
                  </a:solidFill>
                </a:rPr>
                <a:t>Hub</a:t>
              </a:r>
            </a:p>
          </p:txBody>
        </p:sp>
      </p:grpSp>
      <p:grpSp>
        <p:nvGrpSpPr>
          <p:cNvPr id="95" name="Group 94" descr="GHCR">
            <a:extLst>
              <a:ext uri="{FF2B5EF4-FFF2-40B4-BE49-F238E27FC236}">
                <a16:creationId xmlns:a16="http://schemas.microsoft.com/office/drawing/2014/main" id="{5C040F71-ED54-2E87-A787-94C7480A1BB2}"/>
              </a:ext>
            </a:extLst>
          </p:cNvPr>
          <p:cNvGrpSpPr/>
          <p:nvPr/>
        </p:nvGrpSpPr>
        <p:grpSpPr>
          <a:xfrm>
            <a:off x="1238006" y="3451843"/>
            <a:ext cx="480085" cy="664278"/>
            <a:chOff x="978893" y="3686126"/>
            <a:chExt cx="515540" cy="713336"/>
          </a:xfrm>
        </p:grpSpPr>
        <p:pic>
          <p:nvPicPr>
            <p:cNvPr id="96" name="Picture 95" descr="A blue cat with a octopus tentacles in a circle&#10;&#10;Description automatically generated">
              <a:extLst>
                <a:ext uri="{FF2B5EF4-FFF2-40B4-BE49-F238E27FC236}">
                  <a16:creationId xmlns:a16="http://schemas.microsoft.com/office/drawing/2014/main" id="{24AA5EE9-400F-DFA9-33B8-AED99EC161D4}"/>
                </a:ext>
              </a:extLst>
            </p:cNvPr>
            <p:cNvPicPr>
              <a:picLocks noChangeAspect="1"/>
            </p:cNvPicPr>
            <p:nvPr/>
          </p:nvPicPr>
          <p:blipFill>
            <a:blip r:embed="rId6"/>
            <a:stretch>
              <a:fillRect/>
            </a:stretch>
          </p:blipFill>
          <p:spPr>
            <a:xfrm>
              <a:off x="978893" y="3686126"/>
              <a:ext cx="515540" cy="516303"/>
            </a:xfrm>
            <a:prstGeom prst="rect">
              <a:avLst/>
            </a:prstGeom>
          </p:spPr>
        </p:pic>
        <p:sp>
          <p:nvSpPr>
            <p:cNvPr id="97" name="TextBox 96">
              <a:extLst>
                <a:ext uri="{FF2B5EF4-FFF2-40B4-BE49-F238E27FC236}">
                  <a16:creationId xmlns:a16="http://schemas.microsoft.com/office/drawing/2014/main" id="{DFD6ADEF-C82E-AE3F-20EE-34F2998BD85F}"/>
                </a:ext>
              </a:extLst>
            </p:cNvPr>
            <p:cNvSpPr txBox="1"/>
            <p:nvPr/>
          </p:nvSpPr>
          <p:spPr>
            <a:xfrm>
              <a:off x="993648" y="4168630"/>
              <a:ext cx="486030" cy="230832"/>
            </a:xfrm>
            <a:prstGeom prst="rect">
              <a:avLst/>
            </a:prstGeom>
            <a:noFill/>
          </p:spPr>
          <p:txBody>
            <a:bodyPr wrap="none" rtlCol="0">
              <a:spAutoFit/>
            </a:bodyPr>
            <a:lstStyle/>
            <a:p>
              <a:pPr algn="ctr"/>
              <a:r>
                <a:rPr lang="en-US" sz="900">
                  <a:solidFill>
                    <a:schemeClr val="tx1">
                      <a:lumMod val="65000"/>
                      <a:lumOff val="35000"/>
                    </a:schemeClr>
                  </a:solidFill>
                </a:rPr>
                <a:t>GHCR</a:t>
              </a:r>
            </a:p>
          </p:txBody>
        </p:sp>
      </p:grpSp>
      <p:grpSp>
        <p:nvGrpSpPr>
          <p:cNvPr id="98" name="Group 97" descr="ECR Public">
            <a:extLst>
              <a:ext uri="{FF2B5EF4-FFF2-40B4-BE49-F238E27FC236}">
                <a16:creationId xmlns:a16="http://schemas.microsoft.com/office/drawing/2014/main" id="{AFC48573-ABF2-C0C3-4AB9-5983CFE52B66}"/>
              </a:ext>
            </a:extLst>
          </p:cNvPr>
          <p:cNvGrpSpPr/>
          <p:nvPr/>
        </p:nvGrpSpPr>
        <p:grpSpPr>
          <a:xfrm>
            <a:off x="1038216" y="4212303"/>
            <a:ext cx="879664" cy="681788"/>
            <a:chOff x="2019910" y="3686126"/>
            <a:chExt cx="944628" cy="732138"/>
          </a:xfrm>
        </p:grpSpPr>
        <p:pic>
          <p:nvPicPr>
            <p:cNvPr id="99" name="Picture 98" descr="A orange circle with a white logo&#10;&#10;Description automatically generated">
              <a:extLst>
                <a:ext uri="{FF2B5EF4-FFF2-40B4-BE49-F238E27FC236}">
                  <a16:creationId xmlns:a16="http://schemas.microsoft.com/office/drawing/2014/main" id="{1792158B-A6B6-5199-2A81-FA1072FB2AA5}"/>
                </a:ext>
              </a:extLst>
            </p:cNvPr>
            <p:cNvPicPr>
              <a:picLocks noChangeAspect="1"/>
            </p:cNvPicPr>
            <p:nvPr/>
          </p:nvPicPr>
          <p:blipFill rotWithShape="1">
            <a:blip r:embed="rId7"/>
            <a:srcRect l="28921" r="28921"/>
            <a:stretch/>
          </p:blipFill>
          <p:spPr>
            <a:xfrm flipV="1">
              <a:off x="2258289" y="3686126"/>
              <a:ext cx="467870" cy="462534"/>
            </a:xfrm>
            <a:prstGeom prst="rect">
              <a:avLst/>
            </a:prstGeom>
          </p:spPr>
        </p:pic>
        <p:sp>
          <p:nvSpPr>
            <p:cNvPr id="100" name="TextBox 99">
              <a:extLst>
                <a:ext uri="{FF2B5EF4-FFF2-40B4-BE49-F238E27FC236}">
                  <a16:creationId xmlns:a16="http://schemas.microsoft.com/office/drawing/2014/main" id="{0FDC3935-A0C0-282F-7BC8-33B37F43F83C}"/>
                </a:ext>
              </a:extLst>
            </p:cNvPr>
            <p:cNvSpPr txBox="1"/>
            <p:nvPr/>
          </p:nvSpPr>
          <p:spPr>
            <a:xfrm>
              <a:off x="2019910" y="4170385"/>
              <a:ext cx="944628" cy="247879"/>
            </a:xfrm>
            <a:prstGeom prst="rect">
              <a:avLst/>
            </a:prstGeom>
            <a:noFill/>
          </p:spPr>
          <p:txBody>
            <a:bodyPr wrap="square" rtlCol="0">
              <a:spAutoFit/>
            </a:bodyPr>
            <a:lstStyle/>
            <a:p>
              <a:pPr algn="ctr"/>
              <a:r>
                <a:rPr lang="en-US" sz="900">
                  <a:solidFill>
                    <a:schemeClr val="tx1">
                      <a:lumMod val="65000"/>
                      <a:lumOff val="35000"/>
                    </a:schemeClr>
                  </a:solidFill>
                </a:rPr>
                <a:t>ECR Public</a:t>
              </a:r>
            </a:p>
          </p:txBody>
        </p:sp>
      </p:grpSp>
      <p:grpSp>
        <p:nvGrpSpPr>
          <p:cNvPr id="101" name="Group 100" descr="GCR">
            <a:extLst>
              <a:ext uri="{FF2B5EF4-FFF2-40B4-BE49-F238E27FC236}">
                <a16:creationId xmlns:a16="http://schemas.microsoft.com/office/drawing/2014/main" id="{0A06A986-1DEB-D12E-6E58-A1606B815FF9}"/>
              </a:ext>
            </a:extLst>
          </p:cNvPr>
          <p:cNvGrpSpPr/>
          <p:nvPr/>
        </p:nvGrpSpPr>
        <p:grpSpPr>
          <a:xfrm>
            <a:off x="1233581" y="4990273"/>
            <a:ext cx="488934" cy="704614"/>
            <a:chOff x="974142" y="5117895"/>
            <a:chExt cx="525042" cy="756651"/>
          </a:xfrm>
        </p:grpSpPr>
        <p:pic>
          <p:nvPicPr>
            <p:cNvPr id="102" name="Picture 101" descr="A blue hexagon with white text&#10;&#10;Description automatically generated">
              <a:extLst>
                <a:ext uri="{FF2B5EF4-FFF2-40B4-BE49-F238E27FC236}">
                  <a16:creationId xmlns:a16="http://schemas.microsoft.com/office/drawing/2014/main" id="{76B429E2-707E-9D68-8394-75A50B9000DF}"/>
                </a:ext>
              </a:extLst>
            </p:cNvPr>
            <p:cNvPicPr>
              <a:picLocks noChangeAspect="1"/>
            </p:cNvPicPr>
            <p:nvPr/>
          </p:nvPicPr>
          <p:blipFill>
            <a:blip r:embed="rId8"/>
            <a:stretch>
              <a:fillRect/>
            </a:stretch>
          </p:blipFill>
          <p:spPr>
            <a:xfrm>
              <a:off x="974142" y="5117895"/>
              <a:ext cx="525042" cy="525819"/>
            </a:xfrm>
            <a:prstGeom prst="rect">
              <a:avLst/>
            </a:prstGeom>
          </p:spPr>
        </p:pic>
        <p:sp>
          <p:nvSpPr>
            <p:cNvPr id="103" name="TextBox 102">
              <a:extLst>
                <a:ext uri="{FF2B5EF4-FFF2-40B4-BE49-F238E27FC236}">
                  <a16:creationId xmlns:a16="http://schemas.microsoft.com/office/drawing/2014/main" id="{6ECA6649-3E1B-FE30-006A-12773017DA65}"/>
                </a:ext>
              </a:extLst>
            </p:cNvPr>
            <p:cNvSpPr txBox="1"/>
            <p:nvPr/>
          </p:nvSpPr>
          <p:spPr>
            <a:xfrm>
              <a:off x="1034524" y="5643714"/>
              <a:ext cx="404278" cy="230832"/>
            </a:xfrm>
            <a:prstGeom prst="rect">
              <a:avLst/>
            </a:prstGeom>
            <a:noFill/>
          </p:spPr>
          <p:txBody>
            <a:bodyPr wrap="none" rtlCol="0">
              <a:spAutoFit/>
            </a:bodyPr>
            <a:lstStyle/>
            <a:p>
              <a:pPr algn="ctr"/>
              <a:r>
                <a:rPr lang="en-US" sz="900">
                  <a:solidFill>
                    <a:schemeClr val="tx1">
                      <a:lumMod val="65000"/>
                      <a:lumOff val="35000"/>
                    </a:schemeClr>
                  </a:solidFill>
                </a:rPr>
                <a:t>GCR</a:t>
              </a:r>
            </a:p>
          </p:txBody>
        </p:sp>
      </p:grpSp>
      <p:grpSp>
        <p:nvGrpSpPr>
          <p:cNvPr id="104" name="Group 103" descr="NVIDIA">
            <a:extLst>
              <a:ext uri="{FF2B5EF4-FFF2-40B4-BE49-F238E27FC236}">
                <a16:creationId xmlns:a16="http://schemas.microsoft.com/office/drawing/2014/main" id="{ADF27B0F-FE79-B50E-A975-35E56B5D40E1}"/>
              </a:ext>
            </a:extLst>
          </p:cNvPr>
          <p:cNvGrpSpPr/>
          <p:nvPr/>
        </p:nvGrpSpPr>
        <p:grpSpPr>
          <a:xfrm>
            <a:off x="1194525" y="5791070"/>
            <a:ext cx="567047" cy="672309"/>
            <a:chOff x="2162383" y="5152586"/>
            <a:chExt cx="608924" cy="721960"/>
          </a:xfrm>
        </p:grpSpPr>
        <p:pic>
          <p:nvPicPr>
            <p:cNvPr id="105" name="Picture 104" descr="A green and black logo&#10;&#10;Description automatically generated">
              <a:extLst>
                <a:ext uri="{FF2B5EF4-FFF2-40B4-BE49-F238E27FC236}">
                  <a16:creationId xmlns:a16="http://schemas.microsoft.com/office/drawing/2014/main" id="{DA643078-E150-76C7-0251-AD1806041274}"/>
                </a:ext>
              </a:extLst>
            </p:cNvPr>
            <p:cNvPicPr>
              <a:picLocks noChangeAspect="1"/>
            </p:cNvPicPr>
            <p:nvPr/>
          </p:nvPicPr>
          <p:blipFill rotWithShape="1">
            <a:blip r:embed="rId9"/>
            <a:srcRect l="3309" t="13280" r="3309" b="13280"/>
            <a:stretch/>
          </p:blipFill>
          <p:spPr>
            <a:xfrm>
              <a:off x="2162383" y="5152586"/>
              <a:ext cx="579518" cy="456436"/>
            </a:xfrm>
            <a:prstGeom prst="rect">
              <a:avLst/>
            </a:prstGeom>
          </p:spPr>
        </p:pic>
        <p:sp>
          <p:nvSpPr>
            <p:cNvPr id="106" name="TextBox 105">
              <a:extLst>
                <a:ext uri="{FF2B5EF4-FFF2-40B4-BE49-F238E27FC236}">
                  <a16:creationId xmlns:a16="http://schemas.microsoft.com/office/drawing/2014/main" id="{3CF5C874-A9A6-0BC0-D5D2-A6A06F0B25F9}"/>
                </a:ext>
              </a:extLst>
            </p:cNvPr>
            <p:cNvSpPr txBox="1"/>
            <p:nvPr/>
          </p:nvSpPr>
          <p:spPr>
            <a:xfrm>
              <a:off x="2213142" y="5643714"/>
              <a:ext cx="558165" cy="230832"/>
            </a:xfrm>
            <a:prstGeom prst="rect">
              <a:avLst/>
            </a:prstGeom>
            <a:noFill/>
          </p:spPr>
          <p:txBody>
            <a:bodyPr wrap="none" rtlCol="0">
              <a:spAutoFit/>
            </a:bodyPr>
            <a:lstStyle/>
            <a:p>
              <a:pPr algn="ctr"/>
              <a:r>
                <a:rPr lang="en-US" sz="900">
                  <a:solidFill>
                    <a:schemeClr val="tx1">
                      <a:lumMod val="65000"/>
                      <a:lumOff val="35000"/>
                    </a:schemeClr>
                  </a:solidFill>
                </a:rPr>
                <a:t>NVIDIA</a:t>
              </a:r>
            </a:p>
          </p:txBody>
        </p:sp>
      </p:grpSp>
      <p:grpSp>
        <p:nvGrpSpPr>
          <p:cNvPr id="107" name="Group 106" descr="Quarantine&#10;ACR&#10;">
            <a:extLst>
              <a:ext uri="{FF2B5EF4-FFF2-40B4-BE49-F238E27FC236}">
                <a16:creationId xmlns:a16="http://schemas.microsoft.com/office/drawing/2014/main" id="{02062C68-9216-B2F2-3588-E1BA998C8CEF}"/>
              </a:ext>
            </a:extLst>
          </p:cNvPr>
          <p:cNvGrpSpPr/>
          <p:nvPr/>
        </p:nvGrpSpPr>
        <p:grpSpPr>
          <a:xfrm>
            <a:off x="4345695" y="1902187"/>
            <a:ext cx="2548818" cy="841926"/>
            <a:chOff x="4067970" y="1305303"/>
            <a:chExt cx="2962373" cy="978531"/>
          </a:xfrm>
        </p:grpSpPr>
        <p:sp>
          <p:nvSpPr>
            <p:cNvPr id="108" name="TextBox 107">
              <a:extLst>
                <a:ext uri="{FF2B5EF4-FFF2-40B4-BE49-F238E27FC236}">
                  <a16:creationId xmlns:a16="http://schemas.microsoft.com/office/drawing/2014/main" id="{368979B9-1146-9338-5D7E-2E48A0A8B74A}"/>
                </a:ext>
              </a:extLst>
            </p:cNvPr>
            <p:cNvSpPr txBox="1"/>
            <p:nvPr/>
          </p:nvSpPr>
          <p:spPr>
            <a:xfrm>
              <a:off x="4067970" y="1532634"/>
              <a:ext cx="1632082" cy="751200"/>
            </a:xfrm>
            <a:prstGeom prst="rect">
              <a:avLst/>
            </a:prstGeom>
            <a:noFill/>
          </p:spPr>
          <p:txBody>
            <a:bodyPr wrap="square" rtlCol="0">
              <a:spAutoFit/>
            </a:bodyPr>
            <a:lstStyle/>
            <a:p>
              <a:pPr algn="r"/>
              <a:r>
                <a:rPr lang="en-US">
                  <a:solidFill>
                    <a:schemeClr val="accent6"/>
                  </a:solidFill>
                  <a:cs typeface="Segoe UI Semibold" panose="020B0702040204020203" pitchFamily="34" charset="0"/>
                </a:rPr>
                <a:t>Quarantine</a:t>
              </a:r>
            </a:p>
            <a:p>
              <a:pPr algn="r"/>
              <a:r>
                <a:rPr lang="en-US">
                  <a:solidFill>
                    <a:schemeClr val="accent6"/>
                  </a:solidFill>
                  <a:cs typeface="Segoe UI Semibold" panose="020B0702040204020203" pitchFamily="34" charset="0"/>
                </a:rPr>
                <a:t>ACR</a:t>
              </a:r>
            </a:p>
          </p:txBody>
        </p:sp>
        <p:grpSp>
          <p:nvGrpSpPr>
            <p:cNvPr id="109" name="Group 108">
              <a:extLst>
                <a:ext uri="{FF2B5EF4-FFF2-40B4-BE49-F238E27FC236}">
                  <a16:creationId xmlns:a16="http://schemas.microsoft.com/office/drawing/2014/main" id="{5769536E-5460-AD01-FBE8-59193D4C8F15}"/>
                </a:ext>
              </a:extLst>
            </p:cNvPr>
            <p:cNvGrpSpPr/>
            <p:nvPr/>
          </p:nvGrpSpPr>
          <p:grpSpPr>
            <a:xfrm>
              <a:off x="5729043" y="1305303"/>
              <a:ext cx="1301300" cy="923537"/>
              <a:chOff x="5729043" y="791173"/>
              <a:chExt cx="1301300" cy="923537"/>
            </a:xfrm>
          </p:grpSpPr>
          <p:pic>
            <p:nvPicPr>
              <p:cNvPr id="110" name="Graphic 109">
                <a:extLst>
                  <a:ext uri="{FF2B5EF4-FFF2-40B4-BE49-F238E27FC236}">
                    <a16:creationId xmlns:a16="http://schemas.microsoft.com/office/drawing/2014/main" id="{C4F523B0-16BF-A36C-FDB9-0DDB3F6AB5D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29043" y="791173"/>
                <a:ext cx="923537" cy="923537"/>
              </a:xfrm>
              <a:prstGeom prst="rect">
                <a:avLst/>
              </a:prstGeom>
            </p:spPr>
          </p:pic>
          <p:pic>
            <p:nvPicPr>
              <p:cNvPr id="111" name="Picture 110" descr="A blue and grey logo&#10;&#10;Description automatically generated">
                <a:extLst>
                  <a:ext uri="{FF2B5EF4-FFF2-40B4-BE49-F238E27FC236}">
                    <a16:creationId xmlns:a16="http://schemas.microsoft.com/office/drawing/2014/main" id="{7557F301-F6B4-EC3F-BE5A-7C441D5F4B1B}"/>
                  </a:ext>
                </a:extLst>
              </p:cNvPr>
              <p:cNvPicPr>
                <a:picLocks noChangeAspect="1"/>
              </p:cNvPicPr>
              <p:nvPr/>
            </p:nvPicPr>
            <p:blipFill>
              <a:blip r:embed="rId12"/>
              <a:stretch>
                <a:fillRect/>
              </a:stretch>
            </p:blipFill>
            <p:spPr>
              <a:xfrm>
                <a:off x="6754865" y="978954"/>
                <a:ext cx="275478" cy="275478"/>
              </a:xfrm>
              <a:prstGeom prst="rect">
                <a:avLst/>
              </a:prstGeom>
            </p:spPr>
          </p:pic>
        </p:grpSp>
      </p:grpSp>
      <p:sp>
        <p:nvSpPr>
          <p:cNvPr id="112" name="TextBox 111">
            <a:extLst>
              <a:ext uri="{FF2B5EF4-FFF2-40B4-BE49-F238E27FC236}">
                <a16:creationId xmlns:a16="http://schemas.microsoft.com/office/drawing/2014/main" id="{294CE08E-4639-A687-9CBF-51D2DECFD8E5}"/>
              </a:ext>
            </a:extLst>
          </p:cNvPr>
          <p:cNvSpPr txBox="1"/>
          <p:nvPr/>
        </p:nvSpPr>
        <p:spPr>
          <a:xfrm>
            <a:off x="2737487" y="2760114"/>
            <a:ext cx="6902544" cy="2662267"/>
          </a:xfrm>
          <a:prstGeom prst="rect">
            <a:avLst/>
          </a:prstGeom>
          <a:noFill/>
        </p:spPr>
        <p:txBody>
          <a:bodyPr wrap="square">
            <a:spAutoFit/>
          </a:bodyPr>
          <a:lstStyle/>
          <a:p>
            <a:pPr defTabSz="914400" fontAlgn="base">
              <a:spcBef>
                <a:spcPct val="0"/>
              </a:spcBef>
              <a:spcAft>
                <a:spcPts val="1200"/>
              </a:spcAft>
              <a:buSzPct val="90000"/>
              <a:defRPr/>
            </a:pPr>
            <a:r>
              <a:rPr lang="en-US" sz="2800" b="1">
                <a:ln w="3175">
                  <a:noFill/>
                </a:ln>
                <a:latin typeface="Segoe UI (Body)"/>
                <a:cs typeface="Segoe UI" panose="020B0502040204020203" pitchFamily="34" charset="0"/>
              </a:rPr>
              <a:t>Establish a min quality bar for artifacts acquired from external sources.</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Curate content</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Verify sources</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Scan for vulnerabilities and malware</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Generate SBOMs</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Add provenance and lifecycle metadata</a:t>
            </a:r>
          </a:p>
        </p:txBody>
      </p:sp>
      <p:grpSp>
        <p:nvGrpSpPr>
          <p:cNvPr id="113" name="Group 112" descr="Defender&#10;Trivv&#10;Copa">
            <a:extLst>
              <a:ext uri="{FF2B5EF4-FFF2-40B4-BE49-F238E27FC236}">
                <a16:creationId xmlns:a16="http://schemas.microsoft.com/office/drawing/2014/main" id="{035BB70D-C19B-8661-D95A-50810905EFED}"/>
              </a:ext>
            </a:extLst>
          </p:cNvPr>
          <p:cNvGrpSpPr/>
          <p:nvPr/>
        </p:nvGrpSpPr>
        <p:grpSpPr>
          <a:xfrm>
            <a:off x="4733943" y="5669413"/>
            <a:ext cx="2739894" cy="817970"/>
            <a:chOff x="4776843" y="5458861"/>
            <a:chExt cx="3013885" cy="899766"/>
          </a:xfrm>
        </p:grpSpPr>
        <p:grpSp>
          <p:nvGrpSpPr>
            <p:cNvPr id="114" name="Group 113">
              <a:extLst>
                <a:ext uri="{FF2B5EF4-FFF2-40B4-BE49-F238E27FC236}">
                  <a16:creationId xmlns:a16="http://schemas.microsoft.com/office/drawing/2014/main" id="{A835AFE7-7167-FDAC-C109-49048CFF4C21}"/>
                </a:ext>
              </a:extLst>
            </p:cNvPr>
            <p:cNvGrpSpPr/>
            <p:nvPr/>
          </p:nvGrpSpPr>
          <p:grpSpPr>
            <a:xfrm>
              <a:off x="6861234" y="5469967"/>
              <a:ext cx="929494" cy="888660"/>
              <a:chOff x="6861234" y="5469967"/>
              <a:chExt cx="929494" cy="888660"/>
            </a:xfrm>
          </p:grpSpPr>
          <p:sp>
            <p:nvSpPr>
              <p:cNvPr id="121" name="TextBox 120">
                <a:extLst>
                  <a:ext uri="{FF2B5EF4-FFF2-40B4-BE49-F238E27FC236}">
                    <a16:creationId xmlns:a16="http://schemas.microsoft.com/office/drawing/2014/main" id="{705FDA53-F4AE-5305-C393-8D59827105D1}"/>
                  </a:ext>
                </a:extLst>
              </p:cNvPr>
              <p:cNvSpPr txBox="1"/>
              <p:nvPr/>
            </p:nvSpPr>
            <p:spPr>
              <a:xfrm>
                <a:off x="6953317" y="6104712"/>
                <a:ext cx="745327" cy="253915"/>
              </a:xfrm>
              <a:prstGeom prst="rect">
                <a:avLst/>
              </a:prstGeom>
              <a:solidFill>
                <a:schemeClr val="bg1"/>
              </a:solidFill>
            </p:spPr>
            <p:txBody>
              <a:bodyPr wrap="square" rtlCol="0">
                <a:spAutoFit/>
              </a:bodyPr>
              <a:lstStyle/>
              <a:p>
                <a:pPr algn="ctr"/>
                <a:r>
                  <a:rPr lang="pl-PL" sz="900">
                    <a:solidFill>
                      <a:schemeClr val="accent6"/>
                    </a:solidFill>
                    <a:cs typeface="Segoe UI Semibold" panose="020B0702040204020203" pitchFamily="34" charset="0"/>
                  </a:rPr>
                  <a:t>Copa</a:t>
                </a:r>
                <a:endParaRPr lang="en-US" sz="900">
                  <a:solidFill>
                    <a:schemeClr val="accent6"/>
                  </a:solidFill>
                  <a:cs typeface="Segoe UI Semibold" panose="020B0702040204020203" pitchFamily="34" charset="0"/>
                </a:endParaRPr>
              </a:p>
            </p:txBody>
          </p:sp>
          <p:pic>
            <p:nvPicPr>
              <p:cNvPr id="122" name="Picture 2">
                <a:extLst>
                  <a:ext uri="{FF2B5EF4-FFF2-40B4-BE49-F238E27FC236}">
                    <a16:creationId xmlns:a16="http://schemas.microsoft.com/office/drawing/2014/main" id="{EC7CA1FF-0FCE-A42C-2C14-378CC9BEA2B1}"/>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15350" b="15350"/>
              <a:stretch/>
            </p:blipFill>
            <p:spPr bwMode="auto">
              <a:xfrm>
                <a:off x="6861234" y="5469967"/>
                <a:ext cx="929494" cy="6582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5" name="Group 114">
              <a:extLst>
                <a:ext uri="{FF2B5EF4-FFF2-40B4-BE49-F238E27FC236}">
                  <a16:creationId xmlns:a16="http://schemas.microsoft.com/office/drawing/2014/main" id="{FF6EF541-51C1-6137-B18A-F46939E5D16C}"/>
                </a:ext>
              </a:extLst>
            </p:cNvPr>
            <p:cNvGrpSpPr/>
            <p:nvPr/>
          </p:nvGrpSpPr>
          <p:grpSpPr>
            <a:xfrm>
              <a:off x="4776843" y="5482626"/>
              <a:ext cx="718866" cy="876000"/>
              <a:chOff x="4776843" y="5482626"/>
              <a:chExt cx="718866" cy="876000"/>
            </a:xfrm>
          </p:grpSpPr>
          <p:pic>
            <p:nvPicPr>
              <p:cNvPr id="119" name="Graphic 118">
                <a:extLst>
                  <a:ext uri="{FF2B5EF4-FFF2-40B4-BE49-F238E27FC236}">
                    <a16:creationId xmlns:a16="http://schemas.microsoft.com/office/drawing/2014/main" id="{D38A3016-B763-B094-2C80-3CB9438958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26590" y="5482626"/>
                <a:ext cx="619372" cy="632946"/>
              </a:xfrm>
              <a:prstGeom prst="rect">
                <a:avLst/>
              </a:prstGeom>
            </p:spPr>
          </p:pic>
          <p:sp>
            <p:nvSpPr>
              <p:cNvPr id="120" name="TextBox 119">
                <a:extLst>
                  <a:ext uri="{FF2B5EF4-FFF2-40B4-BE49-F238E27FC236}">
                    <a16:creationId xmlns:a16="http://schemas.microsoft.com/office/drawing/2014/main" id="{C5376651-9E9C-C5B7-CC43-C56B3AE92958}"/>
                  </a:ext>
                </a:extLst>
              </p:cNvPr>
              <p:cNvSpPr txBox="1"/>
              <p:nvPr/>
            </p:nvSpPr>
            <p:spPr>
              <a:xfrm>
                <a:off x="4776843" y="6104711"/>
                <a:ext cx="718866" cy="253915"/>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Defender</a:t>
                </a:r>
              </a:p>
            </p:txBody>
          </p:sp>
        </p:grpSp>
        <p:grpSp>
          <p:nvGrpSpPr>
            <p:cNvPr id="116" name="Group 115">
              <a:extLst>
                <a:ext uri="{FF2B5EF4-FFF2-40B4-BE49-F238E27FC236}">
                  <a16:creationId xmlns:a16="http://schemas.microsoft.com/office/drawing/2014/main" id="{8BDEBF09-5F6E-1BE4-EDA1-9A8784B77C44}"/>
                </a:ext>
              </a:extLst>
            </p:cNvPr>
            <p:cNvGrpSpPr/>
            <p:nvPr/>
          </p:nvGrpSpPr>
          <p:grpSpPr>
            <a:xfrm>
              <a:off x="5847017" y="5458861"/>
              <a:ext cx="662908" cy="899765"/>
              <a:chOff x="5847017" y="5458861"/>
              <a:chExt cx="662908" cy="899765"/>
            </a:xfrm>
          </p:grpSpPr>
          <p:sp>
            <p:nvSpPr>
              <p:cNvPr id="117" name="TextBox 116">
                <a:extLst>
                  <a:ext uri="{FF2B5EF4-FFF2-40B4-BE49-F238E27FC236}">
                    <a16:creationId xmlns:a16="http://schemas.microsoft.com/office/drawing/2014/main" id="{02207430-AE98-91A0-144A-D4150BE49AFC}"/>
                  </a:ext>
                </a:extLst>
              </p:cNvPr>
              <p:cNvSpPr txBox="1"/>
              <p:nvPr/>
            </p:nvSpPr>
            <p:spPr>
              <a:xfrm>
                <a:off x="5927568" y="6104711"/>
                <a:ext cx="501808" cy="253915"/>
              </a:xfrm>
              <a:prstGeom prst="rect">
                <a:avLst/>
              </a:prstGeom>
              <a:solidFill>
                <a:schemeClr val="bg1"/>
              </a:solidFill>
            </p:spPr>
            <p:txBody>
              <a:bodyPr wrap="square" rtlCol="0">
                <a:spAutoFit/>
              </a:bodyPr>
              <a:lstStyle/>
              <a:p>
                <a:pPr algn="ctr"/>
                <a:r>
                  <a:rPr lang="pl-PL" sz="900">
                    <a:solidFill>
                      <a:schemeClr val="accent6"/>
                    </a:solidFill>
                    <a:cs typeface="Segoe UI Semibold" panose="020B0702040204020203" pitchFamily="34" charset="0"/>
                  </a:rPr>
                  <a:t>Trivy</a:t>
                </a:r>
                <a:endParaRPr lang="en-US" sz="900">
                  <a:solidFill>
                    <a:schemeClr val="accent6"/>
                  </a:solidFill>
                  <a:cs typeface="Segoe UI Semibold" panose="020B0702040204020203" pitchFamily="34" charset="0"/>
                </a:endParaRPr>
              </a:p>
            </p:txBody>
          </p:sp>
          <p:pic>
            <p:nvPicPr>
              <p:cNvPr id="118" name="Picture 117" descr="A logo with a hexagon and a circle&#10;&#10;Description automatically generated">
                <a:extLst>
                  <a:ext uri="{FF2B5EF4-FFF2-40B4-BE49-F238E27FC236}">
                    <a16:creationId xmlns:a16="http://schemas.microsoft.com/office/drawing/2014/main" id="{4D267AEF-301B-DA4E-4FB9-B89E77251FE5}"/>
                  </a:ext>
                </a:extLst>
              </p:cNvPr>
              <p:cNvPicPr>
                <a:picLocks noChangeAspect="1"/>
              </p:cNvPicPr>
              <p:nvPr/>
            </p:nvPicPr>
            <p:blipFill rotWithShape="1">
              <a:blip r:embed="rId16"/>
              <a:srcRect l="14883" r="14883" b="29451"/>
              <a:stretch/>
            </p:blipFill>
            <p:spPr>
              <a:xfrm>
                <a:off x="5847017" y="5458861"/>
                <a:ext cx="662908" cy="680474"/>
              </a:xfrm>
              <a:prstGeom prst="rect">
                <a:avLst/>
              </a:prstGeom>
            </p:spPr>
          </p:pic>
        </p:grpSp>
      </p:grpSp>
      <p:grpSp>
        <p:nvGrpSpPr>
          <p:cNvPr id="123" name="Group 122" descr="Min quality&#10;gate&#10;">
            <a:extLst>
              <a:ext uri="{FF2B5EF4-FFF2-40B4-BE49-F238E27FC236}">
                <a16:creationId xmlns:a16="http://schemas.microsoft.com/office/drawing/2014/main" id="{863C92A4-EA27-D642-4222-B9ACB0042755}"/>
              </a:ext>
            </a:extLst>
          </p:cNvPr>
          <p:cNvGrpSpPr/>
          <p:nvPr/>
        </p:nvGrpSpPr>
        <p:grpSpPr>
          <a:xfrm>
            <a:off x="9106796" y="3341491"/>
            <a:ext cx="1327006" cy="1680605"/>
            <a:chOff x="9056760" y="2985622"/>
            <a:chExt cx="1327006" cy="1680605"/>
          </a:xfrm>
        </p:grpSpPr>
        <p:sp>
          <p:nvSpPr>
            <p:cNvPr id="124" name="TextBox 123">
              <a:extLst>
                <a:ext uri="{FF2B5EF4-FFF2-40B4-BE49-F238E27FC236}">
                  <a16:creationId xmlns:a16="http://schemas.microsoft.com/office/drawing/2014/main" id="{D167DD8A-4F1A-CC56-087F-F4F8C032AB3F}"/>
                </a:ext>
              </a:extLst>
            </p:cNvPr>
            <p:cNvSpPr txBox="1"/>
            <p:nvPr/>
          </p:nvSpPr>
          <p:spPr>
            <a:xfrm>
              <a:off x="9056760" y="3251201"/>
              <a:ext cx="1327006" cy="1415026"/>
            </a:xfrm>
            <a:prstGeom prst="roundRect">
              <a:avLst/>
            </a:prstGeom>
            <a:solidFill>
              <a:srgbClr val="091F2C"/>
            </a:solidFill>
            <a:ln w="19050" cap="flat">
              <a:gradFill flip="none" rotWithShape="1">
                <a:gsLst>
                  <a:gs pos="80000">
                    <a:srgbClr val="399A91"/>
                  </a:gs>
                  <a:gs pos="0">
                    <a:srgbClr val="0078D4"/>
                  </a:gs>
                </a:gsLst>
                <a:path path="circle">
                  <a:fillToRect l="100000" t="100000"/>
                </a:path>
                <a:tileRect r="-100000" b="-100000"/>
              </a:grad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t>Min quality</a:t>
              </a:r>
            </a:p>
            <a:p>
              <a:r>
                <a:rPr lang="en-US"/>
                <a:t>gate</a:t>
              </a:r>
            </a:p>
          </p:txBody>
        </p:sp>
        <p:grpSp>
          <p:nvGrpSpPr>
            <p:cNvPr id="125" name="Group 124">
              <a:extLst>
                <a:ext uri="{FF2B5EF4-FFF2-40B4-BE49-F238E27FC236}">
                  <a16:creationId xmlns:a16="http://schemas.microsoft.com/office/drawing/2014/main" id="{DCD46463-91EE-45FF-8405-17CAABFA7860}"/>
                </a:ext>
              </a:extLst>
            </p:cNvPr>
            <p:cNvGrpSpPr/>
            <p:nvPr/>
          </p:nvGrpSpPr>
          <p:grpSpPr>
            <a:xfrm>
              <a:off x="9445943" y="2985622"/>
              <a:ext cx="548640" cy="548640"/>
              <a:chOff x="9778198" y="2503118"/>
              <a:chExt cx="548640" cy="548640"/>
            </a:xfrm>
          </p:grpSpPr>
          <p:sp>
            <p:nvSpPr>
              <p:cNvPr id="126" name="Oval 125">
                <a:extLst>
                  <a:ext uri="{FF2B5EF4-FFF2-40B4-BE49-F238E27FC236}">
                    <a16:creationId xmlns:a16="http://schemas.microsoft.com/office/drawing/2014/main" id="{37B524C6-C39F-AB66-92F8-EDA33ED21FEF}"/>
                  </a:ext>
                </a:extLst>
              </p:cNvPr>
              <p:cNvSpPr/>
              <p:nvPr/>
            </p:nvSpPr>
            <p:spPr bwMode="auto">
              <a:xfrm>
                <a:off x="9778198" y="2503118"/>
                <a:ext cx="548640" cy="548640"/>
              </a:xfrm>
              <a:prstGeom prst="ellipse">
                <a:avLst/>
              </a:prstGeom>
              <a:gradFill flip="none" rotWithShape="1">
                <a:gsLst>
                  <a:gs pos="100000">
                    <a:srgbClr val="399A91"/>
                  </a:gs>
                  <a:gs pos="15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800" b="1" err="1">
                  <a:ln w="3175">
                    <a:noFill/>
                  </a:ln>
                  <a:gradFill>
                    <a:gsLst>
                      <a:gs pos="53147">
                        <a:srgbClr val="FFFFFF"/>
                      </a:gs>
                      <a:gs pos="28000">
                        <a:srgbClr val="FFFFFF"/>
                      </a:gs>
                    </a:gsLst>
                    <a:path path="circle">
                      <a:fillToRect l="100000" b="100000"/>
                    </a:path>
                  </a:gradFill>
                  <a:latin typeface="+mj-lt"/>
                  <a:cs typeface="Segoe UI" pitchFamily="34" charset="0"/>
                </a:endParaRPr>
              </a:p>
            </p:txBody>
          </p:sp>
          <p:pic>
            <p:nvPicPr>
              <p:cNvPr id="127" name="Graphic 126" descr="Construction Barricade with solid fill">
                <a:extLst>
                  <a:ext uri="{FF2B5EF4-FFF2-40B4-BE49-F238E27FC236}">
                    <a16:creationId xmlns:a16="http://schemas.microsoft.com/office/drawing/2014/main" id="{1DAD7E39-65A5-5277-D476-CA92076DEF9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922250" y="2647170"/>
                <a:ext cx="260536" cy="260536"/>
              </a:xfrm>
              <a:prstGeom prst="rect">
                <a:avLst/>
              </a:prstGeom>
            </p:spPr>
          </p:pic>
        </p:grpSp>
      </p:grpSp>
      <p:sp>
        <p:nvSpPr>
          <p:cNvPr id="128" name="TextBox 127">
            <a:extLst>
              <a:ext uri="{FF2B5EF4-FFF2-40B4-BE49-F238E27FC236}">
                <a16:creationId xmlns:a16="http://schemas.microsoft.com/office/drawing/2014/main" id="{C29941B3-6087-194E-41D2-70CF6754D42E}"/>
              </a:ext>
            </a:extLst>
          </p:cNvPr>
          <p:cNvSpPr txBox="1"/>
          <p:nvPr/>
        </p:nvSpPr>
        <p:spPr>
          <a:xfrm>
            <a:off x="9770299" y="2121657"/>
            <a:ext cx="1842852" cy="369332"/>
          </a:xfrm>
          <a:prstGeom prst="rect">
            <a:avLst/>
          </a:prstGeom>
          <a:noFill/>
        </p:spPr>
        <p:txBody>
          <a:bodyPr wrap="square" rtlCol="0">
            <a:spAutoFit/>
          </a:bodyPr>
          <a:lstStyle/>
          <a:p>
            <a:pPr algn="ctr"/>
            <a:r>
              <a:rPr lang="en-US">
                <a:solidFill>
                  <a:schemeClr val="accent6"/>
                </a:solidFill>
                <a:cs typeface="Segoe UI Semibold" panose="020B0702040204020203" pitchFamily="34" charset="0"/>
              </a:rPr>
              <a:t>Catalog Stage</a:t>
            </a:r>
          </a:p>
        </p:txBody>
      </p:sp>
    </p:spTree>
    <p:extLst>
      <p:ext uri="{BB962C8B-B14F-4D97-AF65-F5344CB8AC3E}">
        <p14:creationId xmlns:p14="http://schemas.microsoft.com/office/powerpoint/2010/main" val="71261284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6F915-1059-E4A2-8EC9-DB191D4355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9E0327-1C13-9EB2-CBF1-7E8575872B11}"/>
              </a:ext>
            </a:extLst>
          </p:cNvPr>
          <p:cNvSpPr>
            <a:spLocks noGrp="1"/>
          </p:cNvSpPr>
          <p:nvPr>
            <p:ph type="title"/>
            <p:custDataLst>
              <p:custData r:id="rId2"/>
            </p:custDataLst>
          </p:nvPr>
        </p:nvSpPr>
        <p:spPr/>
        <p:txBody>
          <a:bodyPr/>
          <a:lstStyle/>
          <a:p>
            <a:r>
              <a:rPr lang="en-GB" err="1"/>
              <a:t>Catalog</a:t>
            </a:r>
            <a:r>
              <a:rPr lang="en-GB"/>
              <a:t> Stage</a:t>
            </a:r>
            <a:endParaRPr lang="en-US"/>
          </a:p>
        </p:txBody>
      </p:sp>
      <p:sp>
        <p:nvSpPr>
          <p:cNvPr id="2" name="Text Placeholder 1">
            <a:extLst>
              <a:ext uri="{FF2B5EF4-FFF2-40B4-BE49-F238E27FC236}">
                <a16:creationId xmlns:a16="http://schemas.microsoft.com/office/drawing/2014/main" id="{5FE97E9A-DCF1-A573-0C8D-5C145B5526C0}"/>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C449B18F-E2F3-89F9-CAE9-A92ADA8D64D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0394A421-B4AE-5412-E482-04F9DDEBB45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59435642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BAB02-064E-7434-9BF3-6F8C43DC5C9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CC94A-289D-B35F-C485-C6F2D2AC5AB7}"/>
              </a:ext>
            </a:extLst>
          </p:cNvPr>
          <p:cNvSpPr>
            <a:spLocks noGrp="1"/>
          </p:cNvSpPr>
          <p:nvPr>
            <p:ph type="title"/>
          </p:nvPr>
        </p:nvSpPr>
        <p:spPr/>
        <p:txBody>
          <a:bodyPr/>
          <a:lstStyle/>
          <a:p>
            <a:r>
              <a:rPr lang="en-US"/>
              <a:t>Catalog Stage</a:t>
            </a:r>
          </a:p>
        </p:txBody>
      </p:sp>
      <p:sp>
        <p:nvSpPr>
          <p:cNvPr id="65" name="Slide Number Placeholder 4">
            <a:extLst>
              <a:ext uri="{FF2B5EF4-FFF2-40B4-BE49-F238E27FC236}">
                <a16:creationId xmlns:a16="http://schemas.microsoft.com/office/drawing/2014/main" id="{851AB45D-130F-4B03-1F6C-57F3B02C22FA}"/>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10</a:t>
            </a:fld>
            <a:endParaRPr lang="en-US" noProof="0"/>
          </a:p>
        </p:txBody>
      </p:sp>
      <p:grpSp>
        <p:nvGrpSpPr>
          <p:cNvPr id="2" name="Group 1" descr="Min quality&#10;gate">
            <a:extLst>
              <a:ext uri="{FF2B5EF4-FFF2-40B4-BE49-F238E27FC236}">
                <a16:creationId xmlns:a16="http://schemas.microsoft.com/office/drawing/2014/main" id="{0702BC9A-06D2-D610-870D-51218DFA55FB}"/>
              </a:ext>
            </a:extLst>
          </p:cNvPr>
          <p:cNvGrpSpPr/>
          <p:nvPr/>
        </p:nvGrpSpPr>
        <p:grpSpPr>
          <a:xfrm>
            <a:off x="1150414" y="2038499"/>
            <a:ext cx="1327006" cy="4501019"/>
            <a:chOff x="8980753" y="1594396"/>
            <a:chExt cx="1327006" cy="4501019"/>
          </a:xfrm>
        </p:grpSpPr>
        <p:cxnSp>
          <p:nvCxnSpPr>
            <p:cNvPr id="3" name="Straight Connector 2">
              <a:extLst>
                <a:ext uri="{FF2B5EF4-FFF2-40B4-BE49-F238E27FC236}">
                  <a16:creationId xmlns:a16="http://schemas.microsoft.com/office/drawing/2014/main" id="{7AD4E296-03BB-2CAC-68C3-C91F8E68637B}"/>
                </a:ext>
              </a:extLst>
            </p:cNvPr>
            <p:cNvCxnSpPr>
              <a:cxnSpLocks/>
            </p:cNvCxnSpPr>
            <p:nvPr/>
          </p:nvCxnSpPr>
          <p:spPr>
            <a:xfrm flipV="1">
              <a:off x="9644256" y="1594396"/>
              <a:ext cx="0" cy="4501019"/>
            </a:xfrm>
            <a:prstGeom prst="line">
              <a:avLst/>
            </a:prstGeom>
            <a:ln w="12700" cap="rnd">
              <a:solidFill>
                <a:srgbClr val="3A4953"/>
              </a:solidFill>
              <a:prstDash val="dash"/>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E687AC30-F7BE-DE79-D624-129A399AA243}"/>
                </a:ext>
              </a:extLst>
            </p:cNvPr>
            <p:cNvGrpSpPr/>
            <p:nvPr/>
          </p:nvGrpSpPr>
          <p:grpSpPr>
            <a:xfrm>
              <a:off x="8980753" y="3004603"/>
              <a:ext cx="1327006" cy="1680605"/>
              <a:chOff x="9056760" y="2985622"/>
              <a:chExt cx="1327006" cy="1680605"/>
            </a:xfrm>
          </p:grpSpPr>
          <p:sp>
            <p:nvSpPr>
              <p:cNvPr id="5" name="TextBox 4">
                <a:extLst>
                  <a:ext uri="{FF2B5EF4-FFF2-40B4-BE49-F238E27FC236}">
                    <a16:creationId xmlns:a16="http://schemas.microsoft.com/office/drawing/2014/main" id="{E9D2209E-03F1-4CFE-F868-23C70F36E80D}"/>
                  </a:ext>
                </a:extLst>
              </p:cNvPr>
              <p:cNvSpPr txBox="1"/>
              <p:nvPr/>
            </p:nvSpPr>
            <p:spPr>
              <a:xfrm>
                <a:off x="9056760" y="3251201"/>
                <a:ext cx="1327006" cy="1415026"/>
              </a:xfrm>
              <a:prstGeom prst="roundRect">
                <a:avLst/>
              </a:prstGeom>
              <a:solidFill>
                <a:srgbClr val="091F2C"/>
              </a:solidFill>
              <a:ln w="19050" cap="flat">
                <a:gradFill flip="none" rotWithShape="1">
                  <a:gsLst>
                    <a:gs pos="80000">
                      <a:srgbClr val="399A91"/>
                    </a:gs>
                    <a:gs pos="0">
                      <a:srgbClr val="0078D4"/>
                    </a:gs>
                  </a:gsLst>
                  <a:path path="circle">
                    <a:fillToRect l="100000" t="100000"/>
                  </a:path>
                  <a:tileRect r="-100000" b="-100000"/>
                </a:grad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t>Min quality</a:t>
                </a:r>
              </a:p>
              <a:p>
                <a:r>
                  <a:rPr lang="en-US"/>
                  <a:t>gate</a:t>
                </a:r>
              </a:p>
            </p:txBody>
          </p:sp>
          <p:grpSp>
            <p:nvGrpSpPr>
              <p:cNvPr id="7" name="Group 6">
                <a:extLst>
                  <a:ext uri="{FF2B5EF4-FFF2-40B4-BE49-F238E27FC236}">
                    <a16:creationId xmlns:a16="http://schemas.microsoft.com/office/drawing/2014/main" id="{B112654E-3718-BEA7-B19C-6764C2F79C37}"/>
                  </a:ext>
                </a:extLst>
              </p:cNvPr>
              <p:cNvGrpSpPr/>
              <p:nvPr/>
            </p:nvGrpSpPr>
            <p:grpSpPr>
              <a:xfrm>
                <a:off x="9445943" y="2985622"/>
                <a:ext cx="548640" cy="548640"/>
                <a:chOff x="9778198" y="2503118"/>
                <a:chExt cx="548640" cy="548640"/>
              </a:xfrm>
            </p:grpSpPr>
            <p:sp>
              <p:nvSpPr>
                <p:cNvPr id="8" name="Oval 7">
                  <a:extLst>
                    <a:ext uri="{FF2B5EF4-FFF2-40B4-BE49-F238E27FC236}">
                      <a16:creationId xmlns:a16="http://schemas.microsoft.com/office/drawing/2014/main" id="{1865FB81-DA25-7291-BEED-96E6C30F1511}"/>
                    </a:ext>
                  </a:extLst>
                </p:cNvPr>
                <p:cNvSpPr/>
                <p:nvPr/>
              </p:nvSpPr>
              <p:spPr bwMode="auto">
                <a:xfrm>
                  <a:off x="9778198" y="2503118"/>
                  <a:ext cx="548640" cy="548640"/>
                </a:xfrm>
                <a:prstGeom prst="ellipse">
                  <a:avLst/>
                </a:prstGeom>
                <a:gradFill flip="none" rotWithShape="1">
                  <a:gsLst>
                    <a:gs pos="100000">
                      <a:srgbClr val="399A91"/>
                    </a:gs>
                    <a:gs pos="15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800" b="1" err="1">
                    <a:ln w="3175">
                      <a:noFill/>
                    </a:ln>
                    <a:gradFill>
                      <a:gsLst>
                        <a:gs pos="53147">
                          <a:srgbClr val="FFFFFF"/>
                        </a:gs>
                        <a:gs pos="28000">
                          <a:srgbClr val="FFFFFF"/>
                        </a:gs>
                      </a:gsLst>
                      <a:path path="circle">
                        <a:fillToRect l="100000" b="100000"/>
                      </a:path>
                    </a:gradFill>
                    <a:latin typeface="+mj-lt"/>
                    <a:cs typeface="Segoe UI" pitchFamily="34" charset="0"/>
                  </a:endParaRPr>
                </a:p>
              </p:txBody>
            </p:sp>
            <p:pic>
              <p:nvPicPr>
                <p:cNvPr id="9" name="Graphic 8" descr="Construction Barricade with solid fill">
                  <a:extLst>
                    <a:ext uri="{FF2B5EF4-FFF2-40B4-BE49-F238E27FC236}">
                      <a16:creationId xmlns:a16="http://schemas.microsoft.com/office/drawing/2014/main" id="{4D2AB08B-D1FE-D259-F842-EEA01738AD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2250" y="2647170"/>
                  <a:ext cx="260536" cy="260536"/>
                </a:xfrm>
                <a:prstGeom prst="rect">
                  <a:avLst/>
                </a:prstGeom>
              </p:spPr>
            </p:pic>
          </p:grpSp>
        </p:grpSp>
      </p:grpSp>
      <p:grpSp>
        <p:nvGrpSpPr>
          <p:cNvPr id="10" name="Group 9" descr="Catalog&#10;ACR&#10;">
            <a:extLst>
              <a:ext uri="{FF2B5EF4-FFF2-40B4-BE49-F238E27FC236}">
                <a16:creationId xmlns:a16="http://schemas.microsoft.com/office/drawing/2014/main" id="{4266F27A-4D27-A9C1-14A7-3AD45EEC905B}"/>
              </a:ext>
            </a:extLst>
          </p:cNvPr>
          <p:cNvGrpSpPr/>
          <p:nvPr/>
        </p:nvGrpSpPr>
        <p:grpSpPr>
          <a:xfrm>
            <a:off x="5132851" y="2009402"/>
            <a:ext cx="2355738" cy="794609"/>
            <a:chOff x="4292378" y="1305303"/>
            <a:chExt cx="2737965" cy="923537"/>
          </a:xfrm>
        </p:grpSpPr>
        <p:sp>
          <p:nvSpPr>
            <p:cNvPr id="11" name="TextBox 10">
              <a:extLst>
                <a:ext uri="{FF2B5EF4-FFF2-40B4-BE49-F238E27FC236}">
                  <a16:creationId xmlns:a16="http://schemas.microsoft.com/office/drawing/2014/main" id="{DA828B63-D13E-504C-C6F6-DE88CA11517F}"/>
                </a:ext>
              </a:extLst>
            </p:cNvPr>
            <p:cNvSpPr txBox="1"/>
            <p:nvPr/>
          </p:nvSpPr>
          <p:spPr>
            <a:xfrm>
              <a:off x="4292378" y="1532634"/>
              <a:ext cx="1407674" cy="608114"/>
            </a:xfrm>
            <a:prstGeom prst="rect">
              <a:avLst/>
            </a:prstGeom>
            <a:noFill/>
          </p:spPr>
          <p:txBody>
            <a:bodyPr wrap="square" rtlCol="0">
              <a:spAutoFit/>
            </a:bodyPr>
            <a:lstStyle/>
            <a:p>
              <a:pPr algn="r"/>
              <a:r>
                <a:rPr lang="en-US" sz="1400" b="1">
                  <a:solidFill>
                    <a:schemeClr val="tx1">
                      <a:lumMod val="65000"/>
                      <a:lumOff val="35000"/>
                    </a:schemeClr>
                  </a:solidFill>
                </a:rPr>
                <a:t>Catalog</a:t>
              </a:r>
            </a:p>
            <a:p>
              <a:pPr algn="r"/>
              <a:r>
                <a:rPr lang="en-US" sz="1400" b="1">
                  <a:solidFill>
                    <a:schemeClr val="tx1">
                      <a:lumMod val="65000"/>
                      <a:lumOff val="35000"/>
                    </a:schemeClr>
                  </a:solidFill>
                </a:rPr>
                <a:t>ACR</a:t>
              </a:r>
            </a:p>
          </p:txBody>
        </p:sp>
        <p:grpSp>
          <p:nvGrpSpPr>
            <p:cNvPr id="12" name="Group 11">
              <a:extLst>
                <a:ext uri="{FF2B5EF4-FFF2-40B4-BE49-F238E27FC236}">
                  <a16:creationId xmlns:a16="http://schemas.microsoft.com/office/drawing/2014/main" id="{0DBADC0C-D4AC-9095-075E-1F5D215017BC}"/>
                </a:ext>
              </a:extLst>
            </p:cNvPr>
            <p:cNvGrpSpPr/>
            <p:nvPr/>
          </p:nvGrpSpPr>
          <p:grpSpPr>
            <a:xfrm>
              <a:off x="5729043" y="1305303"/>
              <a:ext cx="1301300" cy="923537"/>
              <a:chOff x="5729043" y="791173"/>
              <a:chExt cx="1301300" cy="923537"/>
            </a:xfrm>
          </p:grpSpPr>
          <p:pic>
            <p:nvPicPr>
              <p:cNvPr id="13" name="Graphic 12">
                <a:extLst>
                  <a:ext uri="{FF2B5EF4-FFF2-40B4-BE49-F238E27FC236}">
                    <a16:creationId xmlns:a16="http://schemas.microsoft.com/office/drawing/2014/main" id="{758A83D5-8881-DDE2-A3A9-55900217C0E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29043" y="791173"/>
                <a:ext cx="923537" cy="923537"/>
              </a:xfrm>
              <a:prstGeom prst="rect">
                <a:avLst/>
              </a:prstGeom>
            </p:spPr>
          </p:pic>
          <p:pic>
            <p:nvPicPr>
              <p:cNvPr id="14" name="Picture 13" descr="A blue and grey logo&#10;&#10;Description automatically generated">
                <a:extLst>
                  <a:ext uri="{FF2B5EF4-FFF2-40B4-BE49-F238E27FC236}">
                    <a16:creationId xmlns:a16="http://schemas.microsoft.com/office/drawing/2014/main" id="{727186AF-0FEA-779A-F3CC-BC8E9DA235AA}"/>
                  </a:ext>
                </a:extLst>
              </p:cNvPr>
              <p:cNvPicPr>
                <a:picLocks noChangeAspect="1"/>
              </p:cNvPicPr>
              <p:nvPr/>
            </p:nvPicPr>
            <p:blipFill>
              <a:blip r:embed="rId7"/>
              <a:stretch>
                <a:fillRect/>
              </a:stretch>
            </p:blipFill>
            <p:spPr>
              <a:xfrm>
                <a:off x="6754865" y="978954"/>
                <a:ext cx="275478" cy="275478"/>
              </a:xfrm>
              <a:prstGeom prst="rect">
                <a:avLst/>
              </a:prstGeom>
            </p:spPr>
          </p:pic>
        </p:grpSp>
      </p:grpSp>
      <p:sp>
        <p:nvSpPr>
          <p:cNvPr id="15" name="TextBox 14">
            <a:extLst>
              <a:ext uri="{FF2B5EF4-FFF2-40B4-BE49-F238E27FC236}">
                <a16:creationId xmlns:a16="http://schemas.microsoft.com/office/drawing/2014/main" id="{BA3869BA-C1E2-6FFB-43CC-209C58829212}"/>
              </a:ext>
            </a:extLst>
          </p:cNvPr>
          <p:cNvSpPr txBox="1"/>
          <p:nvPr/>
        </p:nvSpPr>
        <p:spPr>
          <a:xfrm>
            <a:off x="2692884" y="2962085"/>
            <a:ext cx="7550213" cy="1738938"/>
          </a:xfrm>
          <a:prstGeom prst="rect">
            <a:avLst/>
          </a:prstGeom>
          <a:noFill/>
        </p:spPr>
        <p:txBody>
          <a:bodyPr wrap="square" lIns="182880" tIns="146304" rIns="182880" bIns="146304" rtlCol="0">
            <a:spAutoFit/>
          </a:bodyPr>
          <a:lstStyle/>
          <a:p>
            <a:pPr defTabSz="914400" fontAlgn="base">
              <a:lnSpc>
                <a:spcPct val="90000"/>
              </a:lnSpc>
              <a:spcBef>
                <a:spcPct val="0"/>
              </a:spcBef>
              <a:spcAft>
                <a:spcPts val="1200"/>
              </a:spcAft>
              <a:buSzPct val="90000"/>
              <a:defRPr/>
            </a:pPr>
            <a:r>
              <a:rPr lang="en-US" sz="2800" b="1">
                <a:ln w="3175">
                  <a:noFill/>
                </a:ln>
                <a:latin typeface="Segoe UI (Body)"/>
                <a:cs typeface="Segoe UI" panose="020B0502040204020203" pitchFamily="34" charset="0"/>
              </a:rPr>
              <a:t>Use a “golden registry” for internal needs.</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Offer only trusted and supported images</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Continuously scan for vulnerabilities and malware</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Keep artifact metadata up-to date</a:t>
            </a:r>
          </a:p>
        </p:txBody>
      </p:sp>
      <p:grpSp>
        <p:nvGrpSpPr>
          <p:cNvPr id="26" name="Group 25" descr="Pre-build&#10;gate&#10;">
            <a:extLst>
              <a:ext uri="{FF2B5EF4-FFF2-40B4-BE49-F238E27FC236}">
                <a16:creationId xmlns:a16="http://schemas.microsoft.com/office/drawing/2014/main" id="{AD39333B-522A-6170-3D95-93462E5FB10D}"/>
              </a:ext>
            </a:extLst>
          </p:cNvPr>
          <p:cNvGrpSpPr/>
          <p:nvPr/>
        </p:nvGrpSpPr>
        <p:grpSpPr>
          <a:xfrm>
            <a:off x="10128238" y="2038499"/>
            <a:ext cx="1327006" cy="4501019"/>
            <a:chOff x="8980753" y="1594396"/>
            <a:chExt cx="1327006" cy="4501019"/>
          </a:xfrm>
        </p:grpSpPr>
        <p:cxnSp>
          <p:nvCxnSpPr>
            <p:cNvPr id="27" name="Straight Connector 26">
              <a:extLst>
                <a:ext uri="{FF2B5EF4-FFF2-40B4-BE49-F238E27FC236}">
                  <a16:creationId xmlns:a16="http://schemas.microsoft.com/office/drawing/2014/main" id="{8E005BB5-BAC8-A176-AE66-2E13336C4953}"/>
                </a:ext>
              </a:extLst>
            </p:cNvPr>
            <p:cNvCxnSpPr>
              <a:cxnSpLocks/>
            </p:cNvCxnSpPr>
            <p:nvPr/>
          </p:nvCxnSpPr>
          <p:spPr>
            <a:xfrm flipV="1">
              <a:off x="9644256" y="1594396"/>
              <a:ext cx="0" cy="4501019"/>
            </a:xfrm>
            <a:prstGeom prst="line">
              <a:avLst/>
            </a:prstGeom>
            <a:ln w="12700" cap="rnd">
              <a:solidFill>
                <a:srgbClr val="3A4953"/>
              </a:solidFill>
              <a:prstDash val="dash"/>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4FECA6BE-E0D2-97D3-B49E-C5BA9E907353}"/>
                </a:ext>
              </a:extLst>
            </p:cNvPr>
            <p:cNvGrpSpPr/>
            <p:nvPr/>
          </p:nvGrpSpPr>
          <p:grpSpPr>
            <a:xfrm>
              <a:off x="8980753" y="3004603"/>
              <a:ext cx="1327006" cy="1680605"/>
              <a:chOff x="9056760" y="2985622"/>
              <a:chExt cx="1327006" cy="1680605"/>
            </a:xfrm>
          </p:grpSpPr>
          <p:sp>
            <p:nvSpPr>
              <p:cNvPr id="29" name="TextBox 28">
                <a:extLst>
                  <a:ext uri="{FF2B5EF4-FFF2-40B4-BE49-F238E27FC236}">
                    <a16:creationId xmlns:a16="http://schemas.microsoft.com/office/drawing/2014/main" id="{48A45628-1FFE-B5AF-A779-EB36F1827BDC}"/>
                  </a:ext>
                </a:extLst>
              </p:cNvPr>
              <p:cNvSpPr txBox="1"/>
              <p:nvPr/>
            </p:nvSpPr>
            <p:spPr>
              <a:xfrm>
                <a:off x="9056760" y="3251201"/>
                <a:ext cx="1327006" cy="1415026"/>
              </a:xfrm>
              <a:prstGeom prst="roundRect">
                <a:avLst/>
              </a:prstGeom>
              <a:solidFill>
                <a:srgbClr val="091F2C"/>
              </a:solidFill>
              <a:ln w="19050" cap="flat">
                <a:gradFill flip="none" rotWithShape="1">
                  <a:gsLst>
                    <a:gs pos="80000">
                      <a:srgbClr val="399A91"/>
                    </a:gs>
                    <a:gs pos="0">
                      <a:srgbClr val="0078D4"/>
                    </a:gs>
                  </a:gsLst>
                  <a:path path="circle">
                    <a:fillToRect l="100000" t="100000"/>
                  </a:path>
                  <a:tileRect r="-100000" b="-100000"/>
                </a:grad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t>Pre-build</a:t>
                </a:r>
              </a:p>
              <a:p>
                <a:r>
                  <a:rPr lang="en-US"/>
                  <a:t>gate</a:t>
                </a:r>
              </a:p>
            </p:txBody>
          </p:sp>
          <p:grpSp>
            <p:nvGrpSpPr>
              <p:cNvPr id="30" name="Group 29">
                <a:extLst>
                  <a:ext uri="{FF2B5EF4-FFF2-40B4-BE49-F238E27FC236}">
                    <a16:creationId xmlns:a16="http://schemas.microsoft.com/office/drawing/2014/main" id="{AE3DBB2C-1909-A858-97B7-7ABE578F11EC}"/>
                  </a:ext>
                </a:extLst>
              </p:cNvPr>
              <p:cNvGrpSpPr/>
              <p:nvPr/>
            </p:nvGrpSpPr>
            <p:grpSpPr>
              <a:xfrm>
                <a:off x="9445943" y="2985622"/>
                <a:ext cx="548640" cy="548640"/>
                <a:chOff x="9778198" y="2503118"/>
                <a:chExt cx="548640" cy="548640"/>
              </a:xfrm>
            </p:grpSpPr>
            <p:sp>
              <p:nvSpPr>
                <p:cNvPr id="31" name="Oval 30">
                  <a:extLst>
                    <a:ext uri="{FF2B5EF4-FFF2-40B4-BE49-F238E27FC236}">
                      <a16:creationId xmlns:a16="http://schemas.microsoft.com/office/drawing/2014/main" id="{9D22E667-653E-E73B-5CE5-BD5CC3285ECD}"/>
                    </a:ext>
                  </a:extLst>
                </p:cNvPr>
                <p:cNvSpPr/>
                <p:nvPr/>
              </p:nvSpPr>
              <p:spPr bwMode="auto">
                <a:xfrm>
                  <a:off x="9778198" y="2503118"/>
                  <a:ext cx="548640" cy="548640"/>
                </a:xfrm>
                <a:prstGeom prst="ellipse">
                  <a:avLst/>
                </a:prstGeom>
                <a:gradFill flip="none" rotWithShape="1">
                  <a:gsLst>
                    <a:gs pos="100000">
                      <a:srgbClr val="399A91"/>
                    </a:gs>
                    <a:gs pos="15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800" b="1" err="1">
                    <a:ln w="3175">
                      <a:noFill/>
                    </a:ln>
                    <a:gradFill>
                      <a:gsLst>
                        <a:gs pos="53147">
                          <a:srgbClr val="FFFFFF"/>
                        </a:gs>
                        <a:gs pos="28000">
                          <a:srgbClr val="FFFFFF"/>
                        </a:gs>
                      </a:gsLst>
                      <a:path path="circle">
                        <a:fillToRect l="100000" b="100000"/>
                      </a:path>
                    </a:gradFill>
                    <a:latin typeface="+mj-lt"/>
                    <a:cs typeface="Segoe UI" pitchFamily="34" charset="0"/>
                  </a:endParaRPr>
                </a:p>
              </p:txBody>
            </p:sp>
            <p:pic>
              <p:nvPicPr>
                <p:cNvPr id="32" name="Graphic 31" descr="Construction Barricade with solid fill">
                  <a:extLst>
                    <a:ext uri="{FF2B5EF4-FFF2-40B4-BE49-F238E27FC236}">
                      <a16:creationId xmlns:a16="http://schemas.microsoft.com/office/drawing/2014/main" id="{A8FF3F6E-09DF-4AF2-ECDB-2F75053143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2250" y="2647170"/>
                  <a:ext cx="260536" cy="260536"/>
                </a:xfrm>
                <a:prstGeom prst="rect">
                  <a:avLst/>
                </a:prstGeom>
              </p:spPr>
            </p:pic>
          </p:grpSp>
        </p:grpSp>
      </p:grpSp>
      <p:grpSp>
        <p:nvGrpSpPr>
          <p:cNvPr id="33" name="Group 32" descr="Defender&#10;Trivv&#10;Copa">
            <a:extLst>
              <a:ext uri="{FF2B5EF4-FFF2-40B4-BE49-F238E27FC236}">
                <a16:creationId xmlns:a16="http://schemas.microsoft.com/office/drawing/2014/main" id="{D7DC8972-23E5-375A-EEC8-F608DF339CAF}"/>
              </a:ext>
            </a:extLst>
          </p:cNvPr>
          <p:cNvGrpSpPr/>
          <p:nvPr/>
        </p:nvGrpSpPr>
        <p:grpSpPr>
          <a:xfrm>
            <a:off x="4733943" y="5669413"/>
            <a:ext cx="2739894" cy="817970"/>
            <a:chOff x="4776843" y="5458861"/>
            <a:chExt cx="3013885" cy="899766"/>
          </a:xfrm>
        </p:grpSpPr>
        <p:grpSp>
          <p:nvGrpSpPr>
            <p:cNvPr id="34" name="Group 33">
              <a:extLst>
                <a:ext uri="{FF2B5EF4-FFF2-40B4-BE49-F238E27FC236}">
                  <a16:creationId xmlns:a16="http://schemas.microsoft.com/office/drawing/2014/main" id="{705BC59B-0AF3-8E6D-8DBF-14FA98862D62}"/>
                </a:ext>
              </a:extLst>
            </p:cNvPr>
            <p:cNvGrpSpPr/>
            <p:nvPr/>
          </p:nvGrpSpPr>
          <p:grpSpPr>
            <a:xfrm>
              <a:off x="6861234" y="5469967"/>
              <a:ext cx="929494" cy="888660"/>
              <a:chOff x="6861234" y="5469967"/>
              <a:chExt cx="929494" cy="888660"/>
            </a:xfrm>
          </p:grpSpPr>
          <p:sp>
            <p:nvSpPr>
              <p:cNvPr id="41" name="TextBox 40">
                <a:extLst>
                  <a:ext uri="{FF2B5EF4-FFF2-40B4-BE49-F238E27FC236}">
                    <a16:creationId xmlns:a16="http://schemas.microsoft.com/office/drawing/2014/main" id="{E8BF5C27-6735-3135-89BD-DEAEF2CBA4FE}"/>
                  </a:ext>
                </a:extLst>
              </p:cNvPr>
              <p:cNvSpPr txBox="1"/>
              <p:nvPr/>
            </p:nvSpPr>
            <p:spPr>
              <a:xfrm>
                <a:off x="6953317" y="6104712"/>
                <a:ext cx="745327" cy="253915"/>
              </a:xfrm>
              <a:prstGeom prst="rect">
                <a:avLst/>
              </a:prstGeom>
              <a:solidFill>
                <a:schemeClr val="bg1"/>
              </a:solidFill>
            </p:spPr>
            <p:txBody>
              <a:bodyPr wrap="square" rtlCol="0">
                <a:spAutoFit/>
              </a:bodyPr>
              <a:lstStyle/>
              <a:p>
                <a:pPr algn="ctr"/>
                <a:r>
                  <a:rPr lang="pl-PL" sz="900">
                    <a:solidFill>
                      <a:schemeClr val="accent6"/>
                    </a:solidFill>
                    <a:cs typeface="Segoe UI Semibold" panose="020B0702040204020203" pitchFamily="34" charset="0"/>
                  </a:rPr>
                  <a:t>Copa</a:t>
                </a:r>
                <a:endParaRPr lang="en-US" sz="900">
                  <a:solidFill>
                    <a:schemeClr val="accent6"/>
                  </a:solidFill>
                  <a:cs typeface="Segoe UI Semibold" panose="020B0702040204020203" pitchFamily="34" charset="0"/>
                </a:endParaRPr>
              </a:p>
            </p:txBody>
          </p:sp>
          <p:pic>
            <p:nvPicPr>
              <p:cNvPr id="42" name="Picture 2">
                <a:extLst>
                  <a:ext uri="{FF2B5EF4-FFF2-40B4-BE49-F238E27FC236}">
                    <a16:creationId xmlns:a16="http://schemas.microsoft.com/office/drawing/2014/main" id="{62C5E8D2-59C9-7B1D-32A7-F02A3CC56C7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5350" b="15350"/>
              <a:stretch/>
            </p:blipFill>
            <p:spPr bwMode="auto">
              <a:xfrm>
                <a:off x="6861234" y="5469967"/>
                <a:ext cx="929494" cy="6582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5" name="Group 34">
              <a:extLst>
                <a:ext uri="{FF2B5EF4-FFF2-40B4-BE49-F238E27FC236}">
                  <a16:creationId xmlns:a16="http://schemas.microsoft.com/office/drawing/2014/main" id="{020C0577-8074-87F5-7086-FD883EAABF66}"/>
                </a:ext>
              </a:extLst>
            </p:cNvPr>
            <p:cNvGrpSpPr/>
            <p:nvPr/>
          </p:nvGrpSpPr>
          <p:grpSpPr>
            <a:xfrm>
              <a:off x="4776843" y="5482626"/>
              <a:ext cx="718866" cy="876000"/>
              <a:chOff x="4776843" y="5482626"/>
              <a:chExt cx="718866" cy="876000"/>
            </a:xfrm>
          </p:grpSpPr>
          <p:pic>
            <p:nvPicPr>
              <p:cNvPr id="39" name="Graphic 38">
                <a:extLst>
                  <a:ext uri="{FF2B5EF4-FFF2-40B4-BE49-F238E27FC236}">
                    <a16:creationId xmlns:a16="http://schemas.microsoft.com/office/drawing/2014/main" id="{8AED6CEF-B681-722A-A99D-0104E574846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26590" y="5482626"/>
                <a:ext cx="619372" cy="632946"/>
              </a:xfrm>
              <a:prstGeom prst="rect">
                <a:avLst/>
              </a:prstGeom>
            </p:spPr>
          </p:pic>
          <p:sp>
            <p:nvSpPr>
              <p:cNvPr id="40" name="TextBox 39">
                <a:extLst>
                  <a:ext uri="{FF2B5EF4-FFF2-40B4-BE49-F238E27FC236}">
                    <a16:creationId xmlns:a16="http://schemas.microsoft.com/office/drawing/2014/main" id="{3AC75BE5-D51F-D62E-BD33-C7CD7DCF5855}"/>
                  </a:ext>
                </a:extLst>
              </p:cNvPr>
              <p:cNvSpPr txBox="1"/>
              <p:nvPr/>
            </p:nvSpPr>
            <p:spPr>
              <a:xfrm>
                <a:off x="4776843" y="6104711"/>
                <a:ext cx="718866" cy="253915"/>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Defender</a:t>
                </a:r>
              </a:p>
            </p:txBody>
          </p:sp>
        </p:grpSp>
        <p:grpSp>
          <p:nvGrpSpPr>
            <p:cNvPr id="36" name="Group 35">
              <a:extLst>
                <a:ext uri="{FF2B5EF4-FFF2-40B4-BE49-F238E27FC236}">
                  <a16:creationId xmlns:a16="http://schemas.microsoft.com/office/drawing/2014/main" id="{DD2AE077-F9C5-02B1-511C-6BB36B655B63}"/>
                </a:ext>
              </a:extLst>
            </p:cNvPr>
            <p:cNvGrpSpPr/>
            <p:nvPr/>
          </p:nvGrpSpPr>
          <p:grpSpPr>
            <a:xfrm>
              <a:off x="5847017" y="5458861"/>
              <a:ext cx="662908" cy="899765"/>
              <a:chOff x="5847017" y="5458861"/>
              <a:chExt cx="662908" cy="899765"/>
            </a:xfrm>
          </p:grpSpPr>
          <p:sp>
            <p:nvSpPr>
              <p:cNvPr id="37" name="TextBox 36">
                <a:extLst>
                  <a:ext uri="{FF2B5EF4-FFF2-40B4-BE49-F238E27FC236}">
                    <a16:creationId xmlns:a16="http://schemas.microsoft.com/office/drawing/2014/main" id="{719C4828-1D44-D0E7-ADDA-53955848E7D9}"/>
                  </a:ext>
                </a:extLst>
              </p:cNvPr>
              <p:cNvSpPr txBox="1"/>
              <p:nvPr/>
            </p:nvSpPr>
            <p:spPr>
              <a:xfrm>
                <a:off x="5927568" y="6104711"/>
                <a:ext cx="501808" cy="253915"/>
              </a:xfrm>
              <a:prstGeom prst="rect">
                <a:avLst/>
              </a:prstGeom>
              <a:solidFill>
                <a:schemeClr val="bg1"/>
              </a:solidFill>
            </p:spPr>
            <p:txBody>
              <a:bodyPr wrap="square" rtlCol="0">
                <a:spAutoFit/>
              </a:bodyPr>
              <a:lstStyle/>
              <a:p>
                <a:pPr algn="ctr"/>
                <a:r>
                  <a:rPr lang="pl-PL" sz="900">
                    <a:solidFill>
                      <a:schemeClr val="accent6"/>
                    </a:solidFill>
                    <a:cs typeface="Segoe UI Semibold" panose="020B0702040204020203" pitchFamily="34" charset="0"/>
                  </a:rPr>
                  <a:t>Trivy</a:t>
                </a:r>
                <a:endParaRPr lang="en-US" sz="900">
                  <a:solidFill>
                    <a:schemeClr val="accent6"/>
                  </a:solidFill>
                  <a:cs typeface="Segoe UI Semibold" panose="020B0702040204020203" pitchFamily="34" charset="0"/>
                </a:endParaRPr>
              </a:p>
            </p:txBody>
          </p:sp>
          <p:pic>
            <p:nvPicPr>
              <p:cNvPr id="38" name="Picture 37" descr="A logo with a hexagon and a circle&#10;&#10;Description automatically generated">
                <a:extLst>
                  <a:ext uri="{FF2B5EF4-FFF2-40B4-BE49-F238E27FC236}">
                    <a16:creationId xmlns:a16="http://schemas.microsoft.com/office/drawing/2014/main" id="{433AA823-D0A0-3433-C805-0C92E5E76600}"/>
                  </a:ext>
                </a:extLst>
              </p:cNvPr>
              <p:cNvPicPr>
                <a:picLocks noChangeAspect="1"/>
              </p:cNvPicPr>
              <p:nvPr/>
            </p:nvPicPr>
            <p:blipFill rotWithShape="1">
              <a:blip r:embed="rId11"/>
              <a:srcRect l="14883" r="14883" b="29451"/>
              <a:stretch/>
            </p:blipFill>
            <p:spPr>
              <a:xfrm>
                <a:off x="5847017" y="5458861"/>
                <a:ext cx="662908" cy="680474"/>
              </a:xfrm>
              <a:prstGeom prst="rect">
                <a:avLst/>
              </a:prstGeom>
            </p:spPr>
          </p:pic>
        </p:grpSp>
      </p:grpSp>
    </p:spTree>
    <p:extLst>
      <p:ext uri="{BB962C8B-B14F-4D97-AF65-F5344CB8AC3E}">
        <p14:creationId xmlns:p14="http://schemas.microsoft.com/office/powerpoint/2010/main" val="392950421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BF140-196D-13B0-1824-0754C7FCF7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186A9B9-133E-3895-0E6C-3FEE1EDC2F36}"/>
              </a:ext>
            </a:extLst>
          </p:cNvPr>
          <p:cNvSpPr>
            <a:spLocks noGrp="1"/>
          </p:cNvSpPr>
          <p:nvPr>
            <p:ph type="title"/>
            <p:custDataLst>
              <p:custData r:id="rId2"/>
            </p:custDataLst>
          </p:nvPr>
        </p:nvSpPr>
        <p:spPr/>
        <p:txBody>
          <a:bodyPr/>
          <a:lstStyle/>
          <a:p>
            <a:r>
              <a:rPr lang="en-GB"/>
              <a:t>Build Stage</a:t>
            </a:r>
            <a:endParaRPr lang="en-US"/>
          </a:p>
        </p:txBody>
      </p:sp>
      <p:sp>
        <p:nvSpPr>
          <p:cNvPr id="2" name="Text Placeholder 1">
            <a:extLst>
              <a:ext uri="{FF2B5EF4-FFF2-40B4-BE49-F238E27FC236}">
                <a16:creationId xmlns:a16="http://schemas.microsoft.com/office/drawing/2014/main" id="{27691117-1634-58B4-15A9-CF34095A89E9}"/>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A5DA673C-86EF-2B68-FA2B-1DF966CC47F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0323FCAE-FDAA-527F-4552-356F9F92DFB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803912503"/>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9F012-47F9-CF07-CA9B-8F2BAF01E37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5FD4984-0A45-A33F-3251-2B7BBA9D5B42}"/>
              </a:ext>
            </a:extLst>
          </p:cNvPr>
          <p:cNvSpPr>
            <a:spLocks noGrp="1"/>
          </p:cNvSpPr>
          <p:nvPr>
            <p:ph type="title"/>
          </p:nvPr>
        </p:nvSpPr>
        <p:spPr/>
        <p:txBody>
          <a:bodyPr/>
          <a:lstStyle/>
          <a:p>
            <a:r>
              <a:rPr lang="en-US"/>
              <a:t>Build Stage</a:t>
            </a:r>
          </a:p>
        </p:txBody>
      </p:sp>
      <p:sp>
        <p:nvSpPr>
          <p:cNvPr id="65" name="Slide Number Placeholder 4">
            <a:extLst>
              <a:ext uri="{FF2B5EF4-FFF2-40B4-BE49-F238E27FC236}">
                <a16:creationId xmlns:a16="http://schemas.microsoft.com/office/drawing/2014/main" id="{5AF811D7-22AB-1EA5-EBAF-58416612285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12</a:t>
            </a:fld>
            <a:endParaRPr lang="en-US" noProof="0"/>
          </a:p>
        </p:txBody>
      </p:sp>
      <p:grpSp>
        <p:nvGrpSpPr>
          <p:cNvPr id="16" name="Group 15" descr="Pre-build&#10;gate&#10;">
            <a:extLst>
              <a:ext uri="{FF2B5EF4-FFF2-40B4-BE49-F238E27FC236}">
                <a16:creationId xmlns:a16="http://schemas.microsoft.com/office/drawing/2014/main" id="{1E5A8286-16C0-7690-6250-0EC9A4945673}"/>
              </a:ext>
            </a:extLst>
          </p:cNvPr>
          <p:cNvGrpSpPr/>
          <p:nvPr/>
        </p:nvGrpSpPr>
        <p:grpSpPr>
          <a:xfrm>
            <a:off x="893319" y="1938024"/>
            <a:ext cx="1327006" cy="4501019"/>
            <a:chOff x="8980753" y="1594396"/>
            <a:chExt cx="1327006" cy="4501019"/>
          </a:xfrm>
        </p:grpSpPr>
        <p:cxnSp>
          <p:nvCxnSpPr>
            <p:cNvPr id="17" name="Straight Connector 16">
              <a:extLst>
                <a:ext uri="{FF2B5EF4-FFF2-40B4-BE49-F238E27FC236}">
                  <a16:creationId xmlns:a16="http://schemas.microsoft.com/office/drawing/2014/main" id="{4CD1D6C2-F750-6389-23F6-FEE7BA50A060}"/>
                </a:ext>
              </a:extLst>
            </p:cNvPr>
            <p:cNvCxnSpPr>
              <a:cxnSpLocks/>
            </p:cNvCxnSpPr>
            <p:nvPr/>
          </p:nvCxnSpPr>
          <p:spPr>
            <a:xfrm flipV="1">
              <a:off x="9644256" y="1594396"/>
              <a:ext cx="0" cy="4501019"/>
            </a:xfrm>
            <a:prstGeom prst="line">
              <a:avLst/>
            </a:prstGeom>
            <a:ln w="12700" cap="rnd">
              <a:solidFill>
                <a:srgbClr val="3A4953"/>
              </a:solidFill>
              <a:prstDash val="dash"/>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968CBA18-6120-68A3-3DD0-361749BB9CC3}"/>
                </a:ext>
              </a:extLst>
            </p:cNvPr>
            <p:cNvGrpSpPr/>
            <p:nvPr/>
          </p:nvGrpSpPr>
          <p:grpSpPr>
            <a:xfrm>
              <a:off x="8980753" y="3004603"/>
              <a:ext cx="1327006" cy="1680605"/>
              <a:chOff x="9056760" y="2985622"/>
              <a:chExt cx="1327006" cy="1680605"/>
            </a:xfrm>
          </p:grpSpPr>
          <p:sp>
            <p:nvSpPr>
              <p:cNvPr id="19" name="TextBox 18">
                <a:extLst>
                  <a:ext uri="{FF2B5EF4-FFF2-40B4-BE49-F238E27FC236}">
                    <a16:creationId xmlns:a16="http://schemas.microsoft.com/office/drawing/2014/main" id="{A411A139-AEC4-A8A6-57A5-33A45A7C7028}"/>
                  </a:ext>
                </a:extLst>
              </p:cNvPr>
              <p:cNvSpPr txBox="1"/>
              <p:nvPr/>
            </p:nvSpPr>
            <p:spPr>
              <a:xfrm>
                <a:off x="9056760" y="3251201"/>
                <a:ext cx="1327006" cy="1415026"/>
              </a:xfrm>
              <a:prstGeom prst="roundRect">
                <a:avLst/>
              </a:prstGeom>
              <a:solidFill>
                <a:srgbClr val="091F2C"/>
              </a:solidFill>
              <a:ln w="19050" cap="flat">
                <a:gradFill flip="none" rotWithShape="1">
                  <a:gsLst>
                    <a:gs pos="80000">
                      <a:srgbClr val="399A91"/>
                    </a:gs>
                    <a:gs pos="0">
                      <a:srgbClr val="0078D4"/>
                    </a:gs>
                  </a:gsLst>
                  <a:path path="circle">
                    <a:fillToRect l="100000" t="100000"/>
                  </a:path>
                  <a:tileRect r="-100000" b="-100000"/>
                </a:grad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t>Pre-build</a:t>
                </a:r>
              </a:p>
              <a:p>
                <a:r>
                  <a:rPr lang="en-US"/>
                  <a:t>gate</a:t>
                </a:r>
              </a:p>
            </p:txBody>
          </p:sp>
          <p:grpSp>
            <p:nvGrpSpPr>
              <p:cNvPr id="20" name="Group 19">
                <a:extLst>
                  <a:ext uri="{FF2B5EF4-FFF2-40B4-BE49-F238E27FC236}">
                    <a16:creationId xmlns:a16="http://schemas.microsoft.com/office/drawing/2014/main" id="{5B46D1E8-C2D0-D10C-F061-226DF58EC770}"/>
                  </a:ext>
                </a:extLst>
              </p:cNvPr>
              <p:cNvGrpSpPr/>
              <p:nvPr/>
            </p:nvGrpSpPr>
            <p:grpSpPr>
              <a:xfrm>
                <a:off x="9445943" y="2985622"/>
                <a:ext cx="548640" cy="548640"/>
                <a:chOff x="9778198" y="2503118"/>
                <a:chExt cx="548640" cy="548640"/>
              </a:xfrm>
            </p:grpSpPr>
            <p:sp>
              <p:nvSpPr>
                <p:cNvPr id="21" name="Oval 20">
                  <a:extLst>
                    <a:ext uri="{FF2B5EF4-FFF2-40B4-BE49-F238E27FC236}">
                      <a16:creationId xmlns:a16="http://schemas.microsoft.com/office/drawing/2014/main" id="{2002DBF6-F7FF-B736-93EB-47EB1A0D31F8}"/>
                    </a:ext>
                  </a:extLst>
                </p:cNvPr>
                <p:cNvSpPr/>
                <p:nvPr/>
              </p:nvSpPr>
              <p:spPr bwMode="auto">
                <a:xfrm>
                  <a:off x="9778198" y="2503118"/>
                  <a:ext cx="548640" cy="548640"/>
                </a:xfrm>
                <a:prstGeom prst="ellipse">
                  <a:avLst/>
                </a:prstGeom>
                <a:gradFill flip="none" rotWithShape="1">
                  <a:gsLst>
                    <a:gs pos="100000">
                      <a:srgbClr val="399A91"/>
                    </a:gs>
                    <a:gs pos="15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800" b="1" err="1">
                    <a:ln w="3175">
                      <a:noFill/>
                    </a:ln>
                    <a:gradFill>
                      <a:gsLst>
                        <a:gs pos="53147">
                          <a:srgbClr val="FFFFFF"/>
                        </a:gs>
                        <a:gs pos="28000">
                          <a:srgbClr val="FFFFFF"/>
                        </a:gs>
                      </a:gsLst>
                      <a:path path="circle">
                        <a:fillToRect l="100000" b="100000"/>
                      </a:path>
                    </a:gradFill>
                    <a:latin typeface="+mj-lt"/>
                    <a:cs typeface="Segoe UI" pitchFamily="34" charset="0"/>
                  </a:endParaRPr>
                </a:p>
              </p:txBody>
            </p:sp>
            <p:pic>
              <p:nvPicPr>
                <p:cNvPr id="22" name="Graphic 21" descr="Construction Barricade with solid fill">
                  <a:extLst>
                    <a:ext uri="{FF2B5EF4-FFF2-40B4-BE49-F238E27FC236}">
                      <a16:creationId xmlns:a16="http://schemas.microsoft.com/office/drawing/2014/main" id="{836C39D4-D9E2-7237-03A4-9D151E157E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2250" y="2647170"/>
                  <a:ext cx="260536" cy="260536"/>
                </a:xfrm>
                <a:prstGeom prst="rect">
                  <a:avLst/>
                </a:prstGeom>
              </p:spPr>
            </p:pic>
          </p:grpSp>
        </p:grpSp>
      </p:grpSp>
      <p:grpSp>
        <p:nvGrpSpPr>
          <p:cNvPr id="23" name="Group 22" descr="GitHub and ADO">
            <a:extLst>
              <a:ext uri="{FF2B5EF4-FFF2-40B4-BE49-F238E27FC236}">
                <a16:creationId xmlns:a16="http://schemas.microsoft.com/office/drawing/2014/main" id="{DFBABDEA-3130-5B73-24C4-D13D20ED78D7}"/>
              </a:ext>
            </a:extLst>
          </p:cNvPr>
          <p:cNvGrpSpPr/>
          <p:nvPr/>
        </p:nvGrpSpPr>
        <p:grpSpPr>
          <a:xfrm>
            <a:off x="5144591" y="1881714"/>
            <a:ext cx="1902816" cy="825811"/>
            <a:chOff x="4798093" y="1310640"/>
            <a:chExt cx="1902816" cy="825811"/>
          </a:xfrm>
        </p:grpSpPr>
        <p:pic>
          <p:nvPicPr>
            <p:cNvPr id="24" name="Picture 23" descr="A blue cat with a octopus tentacles in a circle&#10;&#10;Description automatically generated">
              <a:extLst>
                <a:ext uri="{FF2B5EF4-FFF2-40B4-BE49-F238E27FC236}">
                  <a16:creationId xmlns:a16="http://schemas.microsoft.com/office/drawing/2014/main" id="{AB9BCF48-CD93-23C7-9B89-2FA57835939B}"/>
                </a:ext>
              </a:extLst>
            </p:cNvPr>
            <p:cNvPicPr>
              <a:picLocks noChangeAspect="1"/>
            </p:cNvPicPr>
            <p:nvPr/>
          </p:nvPicPr>
          <p:blipFill>
            <a:blip r:embed="rId5"/>
            <a:stretch>
              <a:fillRect/>
            </a:stretch>
          </p:blipFill>
          <p:spPr>
            <a:xfrm>
              <a:off x="4958117" y="1310772"/>
              <a:ext cx="528184" cy="528763"/>
            </a:xfrm>
            <a:prstGeom prst="rect">
              <a:avLst/>
            </a:prstGeom>
          </p:spPr>
        </p:pic>
        <p:sp>
          <p:nvSpPr>
            <p:cNvPr id="25" name="TextBox 24">
              <a:extLst>
                <a:ext uri="{FF2B5EF4-FFF2-40B4-BE49-F238E27FC236}">
                  <a16:creationId xmlns:a16="http://schemas.microsoft.com/office/drawing/2014/main" id="{3B1F39AD-F56E-C79E-BA76-18A5AD4FCA45}"/>
                </a:ext>
              </a:extLst>
            </p:cNvPr>
            <p:cNvSpPr txBox="1"/>
            <p:nvPr/>
          </p:nvSpPr>
          <p:spPr>
            <a:xfrm>
              <a:off x="4798093" y="1828674"/>
              <a:ext cx="848234" cy="307777"/>
            </a:xfrm>
            <a:prstGeom prst="rect">
              <a:avLst/>
            </a:prstGeom>
            <a:noFill/>
          </p:spPr>
          <p:txBody>
            <a:bodyPr wrap="square" rtlCol="0">
              <a:spAutoFit/>
            </a:bodyPr>
            <a:lstStyle>
              <a:defPPr>
                <a:defRPr lang="en-US"/>
              </a:defPPr>
              <a:lvl1pPr algn="r">
                <a:defRPr sz="1400" b="1">
                  <a:solidFill>
                    <a:schemeClr val="tx1">
                      <a:lumMod val="65000"/>
                      <a:lumOff val="35000"/>
                    </a:schemeClr>
                  </a:solidFill>
                </a:defRPr>
              </a:lvl1pPr>
            </a:lstStyle>
            <a:p>
              <a:pPr algn="ctr"/>
              <a:r>
                <a:rPr lang="en-US" err="1">
                  <a:latin typeface="Segoe UI (Body)"/>
                </a:rPr>
                <a:t>Github</a:t>
              </a:r>
              <a:endParaRPr lang="en-US">
                <a:latin typeface="Segoe UI (Body)"/>
              </a:endParaRPr>
            </a:p>
          </p:txBody>
        </p:sp>
        <p:pic>
          <p:nvPicPr>
            <p:cNvPr id="43" name="Graphic 42">
              <a:extLst>
                <a:ext uri="{FF2B5EF4-FFF2-40B4-BE49-F238E27FC236}">
                  <a16:creationId xmlns:a16="http://schemas.microsoft.com/office/drawing/2014/main" id="{E1001D02-D19D-3F41-FABE-9AB576ECBB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67543" y="1310640"/>
              <a:ext cx="528316" cy="528894"/>
            </a:xfrm>
            <a:prstGeom prst="rect">
              <a:avLst/>
            </a:prstGeom>
          </p:spPr>
        </p:pic>
        <p:sp>
          <p:nvSpPr>
            <p:cNvPr id="44" name="TextBox 43">
              <a:extLst>
                <a:ext uri="{FF2B5EF4-FFF2-40B4-BE49-F238E27FC236}">
                  <a16:creationId xmlns:a16="http://schemas.microsoft.com/office/drawing/2014/main" id="{CB693796-CE98-15C8-7A1C-1483E11D76AB}"/>
                </a:ext>
              </a:extLst>
            </p:cNvPr>
            <p:cNvSpPr txBox="1"/>
            <p:nvPr/>
          </p:nvSpPr>
          <p:spPr>
            <a:xfrm>
              <a:off x="5762495" y="1828674"/>
              <a:ext cx="938414" cy="307777"/>
            </a:xfrm>
            <a:prstGeom prst="rect">
              <a:avLst/>
            </a:prstGeom>
            <a:noFill/>
          </p:spPr>
          <p:txBody>
            <a:bodyPr wrap="square" rtlCol="0">
              <a:spAutoFit/>
            </a:bodyPr>
            <a:lstStyle>
              <a:defPPr>
                <a:defRPr lang="en-US"/>
              </a:defPPr>
              <a:lvl1pPr algn="r">
                <a:defRPr sz="1400" b="1">
                  <a:solidFill>
                    <a:schemeClr val="tx1">
                      <a:lumMod val="65000"/>
                      <a:lumOff val="35000"/>
                    </a:schemeClr>
                  </a:solidFill>
                </a:defRPr>
              </a:lvl1pPr>
            </a:lstStyle>
            <a:p>
              <a:pPr algn="ctr"/>
              <a:r>
                <a:rPr lang="en-US">
                  <a:latin typeface="Segoe UI (Body)"/>
                </a:rPr>
                <a:t>ADO</a:t>
              </a:r>
            </a:p>
          </p:txBody>
        </p:sp>
      </p:grpSp>
      <p:sp>
        <p:nvSpPr>
          <p:cNvPr id="45" name="TextBox 44">
            <a:extLst>
              <a:ext uri="{FF2B5EF4-FFF2-40B4-BE49-F238E27FC236}">
                <a16:creationId xmlns:a16="http://schemas.microsoft.com/office/drawing/2014/main" id="{D744A8E4-AB35-DD1C-D61F-F3439DA88B9D}"/>
              </a:ext>
            </a:extLst>
          </p:cNvPr>
          <p:cNvSpPr txBox="1"/>
          <p:nvPr/>
        </p:nvSpPr>
        <p:spPr>
          <a:xfrm>
            <a:off x="3306065" y="2653541"/>
            <a:ext cx="6575427" cy="2779222"/>
          </a:xfrm>
          <a:prstGeom prst="rect">
            <a:avLst/>
          </a:prstGeom>
          <a:noFill/>
        </p:spPr>
        <p:txBody>
          <a:bodyPr wrap="square" lIns="182880" tIns="146304" rIns="182880" bIns="146304" rtlCol="0">
            <a:spAutoFit/>
          </a:bodyPr>
          <a:lstStyle/>
          <a:p>
            <a:pPr defTabSz="914400" fontAlgn="base">
              <a:lnSpc>
                <a:spcPct val="90000"/>
              </a:lnSpc>
              <a:spcBef>
                <a:spcPct val="0"/>
              </a:spcBef>
              <a:spcAft>
                <a:spcPts val="1200"/>
              </a:spcAft>
              <a:buSzPct val="90000"/>
              <a:defRPr/>
            </a:pPr>
            <a:r>
              <a:rPr lang="en-US" sz="2800" b="1">
                <a:ln w="3175">
                  <a:noFill/>
                </a:ln>
                <a:latin typeface="Segoe UI (Body)"/>
                <a:cs typeface="Segoe UI" panose="020B0502040204020203" pitchFamily="34" charset="0"/>
              </a:rPr>
              <a:t>Build app images in a consistent </a:t>
            </a:r>
            <a:br>
              <a:rPr lang="pl-PL" sz="2800" b="1">
                <a:ln w="3175">
                  <a:noFill/>
                </a:ln>
                <a:latin typeface="Segoe UI (Body)"/>
                <a:cs typeface="Segoe UI" panose="020B0502040204020203" pitchFamily="34" charset="0"/>
              </a:rPr>
            </a:br>
            <a:r>
              <a:rPr lang="en-US" sz="2800" b="1">
                <a:ln w="3175">
                  <a:noFill/>
                </a:ln>
                <a:latin typeface="Segoe UI (Body)"/>
                <a:cs typeface="Segoe UI" panose="020B0502040204020203" pitchFamily="34" charset="0"/>
              </a:rPr>
              <a:t>and secure way.</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Use trusted images only</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Verify lifecycle and provenance metadata</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Scan after build</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Fix known vulnerabilities during/post build</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Sign images and artifacts</a:t>
            </a:r>
          </a:p>
        </p:txBody>
      </p:sp>
      <p:grpSp>
        <p:nvGrpSpPr>
          <p:cNvPr id="46" name="Group 45" descr="GitHub">
            <a:extLst>
              <a:ext uri="{FF2B5EF4-FFF2-40B4-BE49-F238E27FC236}">
                <a16:creationId xmlns:a16="http://schemas.microsoft.com/office/drawing/2014/main" id="{F39CA075-F7A8-D1F8-27B2-12FE24086E41}"/>
              </a:ext>
            </a:extLst>
          </p:cNvPr>
          <p:cNvGrpSpPr/>
          <p:nvPr/>
        </p:nvGrpSpPr>
        <p:grpSpPr>
          <a:xfrm>
            <a:off x="3410813" y="5631042"/>
            <a:ext cx="846000" cy="753351"/>
            <a:chOff x="3461079" y="5355121"/>
            <a:chExt cx="846000" cy="753351"/>
          </a:xfrm>
        </p:grpSpPr>
        <p:pic>
          <p:nvPicPr>
            <p:cNvPr id="47" name="Picture 46" descr="A blue cat with a octopus tentacles in a circle&#10;&#10;Description automatically generated">
              <a:extLst>
                <a:ext uri="{FF2B5EF4-FFF2-40B4-BE49-F238E27FC236}">
                  <a16:creationId xmlns:a16="http://schemas.microsoft.com/office/drawing/2014/main" id="{278F509A-7161-705D-E91D-A6933A8D06B8}"/>
                </a:ext>
              </a:extLst>
            </p:cNvPr>
            <p:cNvPicPr>
              <a:picLocks noChangeAspect="1"/>
            </p:cNvPicPr>
            <p:nvPr/>
          </p:nvPicPr>
          <p:blipFill>
            <a:blip r:embed="rId5"/>
            <a:stretch>
              <a:fillRect/>
            </a:stretch>
          </p:blipFill>
          <p:spPr>
            <a:xfrm>
              <a:off x="3619987" y="5355121"/>
              <a:ext cx="528184" cy="531644"/>
            </a:xfrm>
            <a:prstGeom prst="rect">
              <a:avLst/>
            </a:prstGeom>
          </p:spPr>
        </p:pic>
        <p:sp>
          <p:nvSpPr>
            <p:cNvPr id="48" name="TextBox 47">
              <a:extLst>
                <a:ext uri="{FF2B5EF4-FFF2-40B4-BE49-F238E27FC236}">
                  <a16:creationId xmlns:a16="http://schemas.microsoft.com/office/drawing/2014/main" id="{D6D54568-0C7F-8DF3-750D-7666B2B5DF4A}"/>
                </a:ext>
              </a:extLst>
            </p:cNvPr>
            <p:cNvSpPr txBox="1"/>
            <p:nvPr/>
          </p:nvSpPr>
          <p:spPr>
            <a:xfrm>
              <a:off x="3461079" y="5877640"/>
              <a:ext cx="846000" cy="230832"/>
            </a:xfrm>
            <a:prstGeom prst="rect">
              <a:avLst/>
            </a:prstGeom>
            <a:noFill/>
          </p:spPr>
          <p:txBody>
            <a:bodyPr wrap="square" rtlCol="0">
              <a:spAutoFit/>
            </a:bodyPr>
            <a:lstStyle>
              <a:defPPr>
                <a:defRPr lang="en-US"/>
              </a:defPPr>
              <a:lvl1pPr algn="ctr">
                <a:defRPr sz="900">
                  <a:solidFill>
                    <a:schemeClr val="tx1">
                      <a:lumMod val="65000"/>
                      <a:lumOff val="35000"/>
                    </a:schemeClr>
                  </a:solidFill>
                </a:defRPr>
              </a:lvl1pPr>
            </a:lstStyle>
            <a:p>
              <a:r>
                <a:rPr lang="en-US" err="1">
                  <a:solidFill>
                    <a:schemeClr val="accent6"/>
                  </a:solidFill>
                  <a:cs typeface="Segoe UI Semibold" panose="020B0702040204020203" pitchFamily="34" charset="0"/>
                </a:rPr>
                <a:t>Github</a:t>
              </a:r>
              <a:endParaRPr lang="en-US">
                <a:solidFill>
                  <a:schemeClr val="accent6"/>
                </a:solidFill>
                <a:cs typeface="Segoe UI Semibold" panose="020B0702040204020203" pitchFamily="34" charset="0"/>
              </a:endParaRPr>
            </a:p>
          </p:txBody>
        </p:sp>
      </p:grpSp>
      <p:grpSp>
        <p:nvGrpSpPr>
          <p:cNvPr id="49" name="Group 48" descr="Azure DevOps&#10;">
            <a:extLst>
              <a:ext uri="{FF2B5EF4-FFF2-40B4-BE49-F238E27FC236}">
                <a16:creationId xmlns:a16="http://schemas.microsoft.com/office/drawing/2014/main" id="{CF1B63E9-B448-6EFC-1C51-2FCD7A3009AF}"/>
              </a:ext>
            </a:extLst>
          </p:cNvPr>
          <p:cNvGrpSpPr/>
          <p:nvPr/>
        </p:nvGrpSpPr>
        <p:grpSpPr>
          <a:xfrm>
            <a:off x="4374512" y="5609687"/>
            <a:ext cx="930600" cy="791331"/>
            <a:chOff x="4464424" y="5333766"/>
            <a:chExt cx="930600" cy="791331"/>
          </a:xfrm>
        </p:grpSpPr>
        <p:pic>
          <p:nvPicPr>
            <p:cNvPr id="50" name="Graphic 49">
              <a:extLst>
                <a:ext uri="{FF2B5EF4-FFF2-40B4-BE49-F238E27FC236}">
                  <a16:creationId xmlns:a16="http://schemas.microsoft.com/office/drawing/2014/main" id="{8B2A4D50-31C9-CD16-A666-807EA6806D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54958" y="5333766"/>
              <a:ext cx="549532" cy="553132"/>
            </a:xfrm>
            <a:prstGeom prst="rect">
              <a:avLst/>
            </a:prstGeom>
          </p:spPr>
        </p:pic>
        <p:sp>
          <p:nvSpPr>
            <p:cNvPr id="51" name="TextBox 50">
              <a:extLst>
                <a:ext uri="{FF2B5EF4-FFF2-40B4-BE49-F238E27FC236}">
                  <a16:creationId xmlns:a16="http://schemas.microsoft.com/office/drawing/2014/main" id="{EFF2274B-D41D-8F70-A444-43CA9B821035}"/>
                </a:ext>
              </a:extLst>
            </p:cNvPr>
            <p:cNvSpPr txBox="1"/>
            <p:nvPr/>
          </p:nvSpPr>
          <p:spPr>
            <a:xfrm>
              <a:off x="4464424" y="5894265"/>
              <a:ext cx="930600" cy="230832"/>
            </a:xfrm>
            <a:prstGeom prst="rect">
              <a:avLst/>
            </a:prstGeom>
            <a:noFill/>
          </p:spPr>
          <p:txBody>
            <a:bodyPr wrap="square" rtlCol="0">
              <a:spAutoFit/>
            </a:bodyPr>
            <a:lstStyle>
              <a:defPPr>
                <a:defRPr lang="en-US"/>
              </a:defPPr>
              <a:lvl1pPr algn="ctr">
                <a:defRPr sz="900">
                  <a:solidFill>
                    <a:schemeClr val="tx1">
                      <a:lumMod val="65000"/>
                      <a:lumOff val="35000"/>
                    </a:schemeClr>
                  </a:solidFill>
                </a:defRPr>
              </a:lvl1pPr>
            </a:lstStyle>
            <a:p>
              <a:r>
                <a:rPr lang="en-US">
                  <a:solidFill>
                    <a:schemeClr val="accent6"/>
                  </a:solidFill>
                  <a:cs typeface="Segoe UI Semibold" panose="020B0702040204020203" pitchFamily="34" charset="0"/>
                </a:rPr>
                <a:t>Azure DevOps</a:t>
              </a:r>
            </a:p>
          </p:txBody>
        </p:sp>
      </p:grpSp>
      <p:grpSp>
        <p:nvGrpSpPr>
          <p:cNvPr id="52" name="Group 51" descr="Defender">
            <a:extLst>
              <a:ext uri="{FF2B5EF4-FFF2-40B4-BE49-F238E27FC236}">
                <a16:creationId xmlns:a16="http://schemas.microsoft.com/office/drawing/2014/main" id="{5477681F-5268-6B6E-F9CB-52F926260C80}"/>
              </a:ext>
            </a:extLst>
          </p:cNvPr>
          <p:cNvGrpSpPr/>
          <p:nvPr/>
        </p:nvGrpSpPr>
        <p:grpSpPr>
          <a:xfrm>
            <a:off x="5456061" y="5631042"/>
            <a:ext cx="846000" cy="753351"/>
            <a:chOff x="5552369" y="5355121"/>
            <a:chExt cx="846000" cy="753351"/>
          </a:xfrm>
        </p:grpSpPr>
        <p:pic>
          <p:nvPicPr>
            <p:cNvPr id="53" name="Graphic 52">
              <a:extLst>
                <a:ext uri="{FF2B5EF4-FFF2-40B4-BE49-F238E27FC236}">
                  <a16:creationId xmlns:a16="http://schemas.microsoft.com/office/drawing/2014/main" id="{08B3FC4C-DAD0-0206-89F9-A93866279D4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93836" y="5355121"/>
              <a:ext cx="563066" cy="531776"/>
            </a:xfrm>
            <a:prstGeom prst="rect">
              <a:avLst/>
            </a:prstGeom>
          </p:spPr>
        </p:pic>
        <p:sp>
          <p:nvSpPr>
            <p:cNvPr id="54" name="TextBox 53">
              <a:extLst>
                <a:ext uri="{FF2B5EF4-FFF2-40B4-BE49-F238E27FC236}">
                  <a16:creationId xmlns:a16="http://schemas.microsoft.com/office/drawing/2014/main" id="{87386D77-912C-22E0-3290-25650F0F8156}"/>
                </a:ext>
              </a:extLst>
            </p:cNvPr>
            <p:cNvSpPr txBox="1"/>
            <p:nvPr/>
          </p:nvSpPr>
          <p:spPr>
            <a:xfrm>
              <a:off x="5552369" y="5877640"/>
              <a:ext cx="846000" cy="230832"/>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Defender</a:t>
              </a:r>
            </a:p>
          </p:txBody>
        </p:sp>
      </p:grpSp>
      <p:grpSp>
        <p:nvGrpSpPr>
          <p:cNvPr id="55" name="Group 54" descr="Dependabot&#10;">
            <a:extLst>
              <a:ext uri="{FF2B5EF4-FFF2-40B4-BE49-F238E27FC236}">
                <a16:creationId xmlns:a16="http://schemas.microsoft.com/office/drawing/2014/main" id="{DD40D4CE-D019-0679-1AD8-755F82A99D11}"/>
              </a:ext>
            </a:extLst>
          </p:cNvPr>
          <p:cNvGrpSpPr/>
          <p:nvPr/>
        </p:nvGrpSpPr>
        <p:grpSpPr>
          <a:xfrm>
            <a:off x="6478685" y="5574408"/>
            <a:ext cx="846000" cy="809985"/>
            <a:chOff x="6598014" y="5298487"/>
            <a:chExt cx="846000" cy="809985"/>
          </a:xfrm>
        </p:grpSpPr>
        <p:pic>
          <p:nvPicPr>
            <p:cNvPr id="56" name="Graphic 55">
              <a:extLst>
                <a:ext uri="{FF2B5EF4-FFF2-40B4-BE49-F238E27FC236}">
                  <a16:creationId xmlns:a16="http://schemas.microsoft.com/office/drawing/2014/main" id="{6D0F4AD0-D1BD-1DF8-86A9-093A6FD8CF6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1198" y="5298487"/>
              <a:ext cx="619632" cy="623690"/>
            </a:xfrm>
            <a:prstGeom prst="rect">
              <a:avLst/>
            </a:prstGeom>
          </p:spPr>
        </p:pic>
        <p:sp>
          <p:nvSpPr>
            <p:cNvPr id="57" name="TextBox 56">
              <a:extLst>
                <a:ext uri="{FF2B5EF4-FFF2-40B4-BE49-F238E27FC236}">
                  <a16:creationId xmlns:a16="http://schemas.microsoft.com/office/drawing/2014/main" id="{4246B423-FBAF-0ADD-9448-95858E7C5C36}"/>
                </a:ext>
              </a:extLst>
            </p:cNvPr>
            <p:cNvSpPr txBox="1"/>
            <p:nvPr/>
          </p:nvSpPr>
          <p:spPr>
            <a:xfrm>
              <a:off x="6598014" y="5877640"/>
              <a:ext cx="846000" cy="230832"/>
            </a:xfrm>
            <a:prstGeom prst="rect">
              <a:avLst/>
            </a:prstGeom>
            <a:noFill/>
          </p:spPr>
          <p:txBody>
            <a:bodyPr wrap="square" rtlCol="0">
              <a:spAutoFit/>
            </a:bodyPr>
            <a:lstStyle>
              <a:defPPr>
                <a:defRPr lang="en-US"/>
              </a:defPPr>
              <a:lvl1pPr algn="ctr">
                <a:defRPr sz="900">
                  <a:solidFill>
                    <a:schemeClr val="tx1">
                      <a:lumMod val="65000"/>
                      <a:lumOff val="35000"/>
                    </a:schemeClr>
                  </a:solidFill>
                </a:defRPr>
              </a:lvl1pPr>
            </a:lstStyle>
            <a:p>
              <a:r>
                <a:rPr lang="en-US" err="1">
                  <a:solidFill>
                    <a:schemeClr val="accent6"/>
                  </a:solidFill>
                  <a:cs typeface="Segoe UI Semibold" panose="020B0702040204020203" pitchFamily="34" charset="0"/>
                </a:rPr>
                <a:t>Dependabot</a:t>
              </a:r>
              <a:endParaRPr lang="en-US">
                <a:solidFill>
                  <a:schemeClr val="accent6"/>
                </a:solidFill>
                <a:cs typeface="Segoe UI Semibold" panose="020B0702040204020203" pitchFamily="34" charset="0"/>
              </a:endParaRPr>
            </a:p>
          </p:txBody>
        </p:sp>
      </p:grpSp>
      <p:grpSp>
        <p:nvGrpSpPr>
          <p:cNvPr id="58" name="Group 57" descr="Copa&#10;">
            <a:extLst>
              <a:ext uri="{FF2B5EF4-FFF2-40B4-BE49-F238E27FC236}">
                <a16:creationId xmlns:a16="http://schemas.microsoft.com/office/drawing/2014/main" id="{95D3DA8B-6A31-6244-4C82-007F5FB590B0}"/>
              </a:ext>
            </a:extLst>
          </p:cNvPr>
          <p:cNvGrpSpPr/>
          <p:nvPr/>
        </p:nvGrpSpPr>
        <p:grpSpPr>
          <a:xfrm>
            <a:off x="7545190" y="5635795"/>
            <a:ext cx="877625" cy="748598"/>
            <a:chOff x="7595456" y="5359874"/>
            <a:chExt cx="877625" cy="748598"/>
          </a:xfrm>
        </p:grpSpPr>
        <p:sp>
          <p:nvSpPr>
            <p:cNvPr id="59" name="TextBox 58">
              <a:extLst>
                <a:ext uri="{FF2B5EF4-FFF2-40B4-BE49-F238E27FC236}">
                  <a16:creationId xmlns:a16="http://schemas.microsoft.com/office/drawing/2014/main" id="{0D73B69F-4702-A357-1ACC-5FEA5F2C395A}"/>
                </a:ext>
              </a:extLst>
            </p:cNvPr>
            <p:cNvSpPr txBox="1"/>
            <p:nvPr/>
          </p:nvSpPr>
          <p:spPr>
            <a:xfrm>
              <a:off x="7611268" y="5877640"/>
              <a:ext cx="846000" cy="230832"/>
            </a:xfrm>
            <a:prstGeom prst="rect">
              <a:avLst/>
            </a:prstGeom>
            <a:solidFill>
              <a:schemeClr val="bg1"/>
            </a:solidFill>
          </p:spPr>
          <p:txBody>
            <a:bodyPr wrap="square" rtlCol="0">
              <a:spAutoFit/>
            </a:bodyPr>
            <a:lstStyle/>
            <a:p>
              <a:pPr algn="ctr"/>
              <a:r>
                <a:rPr lang="pl-PL" sz="900">
                  <a:solidFill>
                    <a:schemeClr val="accent6"/>
                  </a:solidFill>
                  <a:cs typeface="Segoe UI Semibold" panose="020B0702040204020203" pitchFamily="34" charset="0"/>
                </a:rPr>
                <a:t>Copa</a:t>
              </a:r>
              <a:endParaRPr lang="en-US" sz="900">
                <a:solidFill>
                  <a:schemeClr val="accent6"/>
                </a:solidFill>
                <a:cs typeface="Segoe UI Semibold" panose="020B0702040204020203" pitchFamily="34" charset="0"/>
              </a:endParaRPr>
            </a:p>
          </p:txBody>
        </p:sp>
        <p:pic>
          <p:nvPicPr>
            <p:cNvPr id="60" name="Picture 2">
              <a:extLst>
                <a:ext uri="{FF2B5EF4-FFF2-40B4-BE49-F238E27FC236}">
                  <a16:creationId xmlns:a16="http://schemas.microsoft.com/office/drawing/2014/main" id="{3220F532-D7DD-67F9-F6AA-D4EAA5931DA2}"/>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15350" b="15350"/>
            <a:stretch/>
          </p:blipFill>
          <p:spPr bwMode="auto">
            <a:xfrm>
              <a:off x="7595456" y="5359874"/>
              <a:ext cx="877625" cy="5221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1" name="Group 60" descr="Post-build&#10;gate&#10;">
            <a:extLst>
              <a:ext uri="{FF2B5EF4-FFF2-40B4-BE49-F238E27FC236}">
                <a16:creationId xmlns:a16="http://schemas.microsoft.com/office/drawing/2014/main" id="{D90B410D-5F95-BE61-AE55-E978EB314019}"/>
              </a:ext>
            </a:extLst>
          </p:cNvPr>
          <p:cNvGrpSpPr/>
          <p:nvPr/>
        </p:nvGrpSpPr>
        <p:grpSpPr>
          <a:xfrm>
            <a:off x="9881492" y="1938024"/>
            <a:ext cx="1327006" cy="4501019"/>
            <a:chOff x="8980753" y="1594396"/>
            <a:chExt cx="1327006" cy="4501019"/>
          </a:xfrm>
        </p:grpSpPr>
        <p:cxnSp>
          <p:nvCxnSpPr>
            <p:cNvPr id="62" name="Straight Connector 61">
              <a:extLst>
                <a:ext uri="{FF2B5EF4-FFF2-40B4-BE49-F238E27FC236}">
                  <a16:creationId xmlns:a16="http://schemas.microsoft.com/office/drawing/2014/main" id="{71B0F0A3-FA73-5B18-3C56-59ADC955AC3B}"/>
                </a:ext>
              </a:extLst>
            </p:cNvPr>
            <p:cNvCxnSpPr>
              <a:cxnSpLocks/>
            </p:cNvCxnSpPr>
            <p:nvPr/>
          </p:nvCxnSpPr>
          <p:spPr>
            <a:xfrm flipV="1">
              <a:off x="9644256" y="1594396"/>
              <a:ext cx="0" cy="4501019"/>
            </a:xfrm>
            <a:prstGeom prst="line">
              <a:avLst/>
            </a:prstGeom>
            <a:ln w="12700" cap="rnd">
              <a:solidFill>
                <a:srgbClr val="3A4953"/>
              </a:solidFill>
              <a:prstDash val="dash"/>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35D5FD4F-9F2A-28AC-6BC9-8884D2859A54}"/>
                </a:ext>
              </a:extLst>
            </p:cNvPr>
            <p:cNvGrpSpPr/>
            <p:nvPr/>
          </p:nvGrpSpPr>
          <p:grpSpPr>
            <a:xfrm>
              <a:off x="8980753" y="3004603"/>
              <a:ext cx="1327006" cy="1680605"/>
              <a:chOff x="9056760" y="2985622"/>
              <a:chExt cx="1327006" cy="1680605"/>
            </a:xfrm>
          </p:grpSpPr>
          <p:sp>
            <p:nvSpPr>
              <p:cNvPr id="64" name="TextBox 63">
                <a:extLst>
                  <a:ext uri="{FF2B5EF4-FFF2-40B4-BE49-F238E27FC236}">
                    <a16:creationId xmlns:a16="http://schemas.microsoft.com/office/drawing/2014/main" id="{131A3DBD-F914-C49B-7143-769C07ADE2D7}"/>
                  </a:ext>
                </a:extLst>
              </p:cNvPr>
              <p:cNvSpPr txBox="1"/>
              <p:nvPr/>
            </p:nvSpPr>
            <p:spPr>
              <a:xfrm>
                <a:off x="9056760" y="3251201"/>
                <a:ext cx="1327006" cy="1415026"/>
              </a:xfrm>
              <a:prstGeom prst="roundRect">
                <a:avLst/>
              </a:prstGeom>
              <a:solidFill>
                <a:srgbClr val="091F2C"/>
              </a:solidFill>
              <a:ln w="19050" cap="flat">
                <a:gradFill flip="none" rotWithShape="1">
                  <a:gsLst>
                    <a:gs pos="80000">
                      <a:srgbClr val="399A91"/>
                    </a:gs>
                    <a:gs pos="0">
                      <a:srgbClr val="0078D4"/>
                    </a:gs>
                  </a:gsLst>
                  <a:path path="circle">
                    <a:fillToRect l="100000" t="100000"/>
                  </a:path>
                  <a:tileRect r="-100000" b="-100000"/>
                </a:grad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t>Post-build</a:t>
                </a:r>
              </a:p>
              <a:p>
                <a:r>
                  <a:rPr lang="en-US"/>
                  <a:t>gate</a:t>
                </a:r>
              </a:p>
            </p:txBody>
          </p:sp>
          <p:grpSp>
            <p:nvGrpSpPr>
              <p:cNvPr id="66" name="Group 65">
                <a:extLst>
                  <a:ext uri="{FF2B5EF4-FFF2-40B4-BE49-F238E27FC236}">
                    <a16:creationId xmlns:a16="http://schemas.microsoft.com/office/drawing/2014/main" id="{3B3D728C-7755-809C-C1B0-AEC99DDA863E}"/>
                  </a:ext>
                </a:extLst>
              </p:cNvPr>
              <p:cNvGrpSpPr/>
              <p:nvPr/>
            </p:nvGrpSpPr>
            <p:grpSpPr>
              <a:xfrm>
                <a:off x="9445943" y="2985622"/>
                <a:ext cx="548640" cy="548640"/>
                <a:chOff x="9778198" y="2503118"/>
                <a:chExt cx="548640" cy="548640"/>
              </a:xfrm>
            </p:grpSpPr>
            <p:sp>
              <p:nvSpPr>
                <p:cNvPr id="67" name="Oval 66">
                  <a:extLst>
                    <a:ext uri="{FF2B5EF4-FFF2-40B4-BE49-F238E27FC236}">
                      <a16:creationId xmlns:a16="http://schemas.microsoft.com/office/drawing/2014/main" id="{113C53DC-C35B-1823-7CDC-D255C3B4973D}"/>
                    </a:ext>
                  </a:extLst>
                </p:cNvPr>
                <p:cNvSpPr/>
                <p:nvPr/>
              </p:nvSpPr>
              <p:spPr bwMode="auto">
                <a:xfrm>
                  <a:off x="9778198" y="2503118"/>
                  <a:ext cx="548640" cy="548640"/>
                </a:xfrm>
                <a:prstGeom prst="ellipse">
                  <a:avLst/>
                </a:prstGeom>
                <a:gradFill flip="none" rotWithShape="1">
                  <a:gsLst>
                    <a:gs pos="100000">
                      <a:srgbClr val="399A91"/>
                    </a:gs>
                    <a:gs pos="15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800" b="1" err="1">
                    <a:ln w="3175">
                      <a:noFill/>
                    </a:ln>
                    <a:gradFill>
                      <a:gsLst>
                        <a:gs pos="53147">
                          <a:srgbClr val="FFFFFF"/>
                        </a:gs>
                        <a:gs pos="28000">
                          <a:srgbClr val="FFFFFF"/>
                        </a:gs>
                      </a:gsLst>
                      <a:path path="circle">
                        <a:fillToRect l="100000" b="100000"/>
                      </a:path>
                    </a:gradFill>
                    <a:latin typeface="+mj-lt"/>
                    <a:cs typeface="Segoe UI" pitchFamily="34" charset="0"/>
                  </a:endParaRPr>
                </a:p>
              </p:txBody>
            </p:sp>
            <p:pic>
              <p:nvPicPr>
                <p:cNvPr id="68" name="Graphic 67" descr="Construction Barricade with solid fill">
                  <a:extLst>
                    <a:ext uri="{FF2B5EF4-FFF2-40B4-BE49-F238E27FC236}">
                      <a16:creationId xmlns:a16="http://schemas.microsoft.com/office/drawing/2014/main" id="{379F752F-A0B3-6719-BD8E-0DAC54D621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2250" y="2647170"/>
                  <a:ext cx="260536" cy="260536"/>
                </a:xfrm>
                <a:prstGeom prst="rect">
                  <a:avLst/>
                </a:prstGeom>
              </p:spPr>
            </p:pic>
          </p:grpSp>
        </p:grpSp>
      </p:grpSp>
    </p:spTree>
    <p:extLst>
      <p:ext uri="{BB962C8B-B14F-4D97-AF65-F5344CB8AC3E}">
        <p14:creationId xmlns:p14="http://schemas.microsoft.com/office/powerpoint/2010/main" val="166727332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FEA3F-1A06-2448-F90A-BD57FC8EEC1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7CE488-9BBF-BF0B-B6A3-3668AFD6E3B9}"/>
              </a:ext>
            </a:extLst>
          </p:cNvPr>
          <p:cNvSpPr>
            <a:spLocks noGrp="1"/>
          </p:cNvSpPr>
          <p:nvPr>
            <p:ph type="title"/>
            <p:custDataLst>
              <p:custData r:id="rId2"/>
            </p:custDataLst>
          </p:nvPr>
        </p:nvSpPr>
        <p:spPr/>
        <p:txBody>
          <a:bodyPr/>
          <a:lstStyle/>
          <a:p>
            <a:r>
              <a:rPr lang="en-GB"/>
              <a:t>Deploy Stage</a:t>
            </a:r>
            <a:endParaRPr lang="en-US"/>
          </a:p>
        </p:txBody>
      </p:sp>
      <p:sp>
        <p:nvSpPr>
          <p:cNvPr id="2" name="Text Placeholder 1">
            <a:extLst>
              <a:ext uri="{FF2B5EF4-FFF2-40B4-BE49-F238E27FC236}">
                <a16:creationId xmlns:a16="http://schemas.microsoft.com/office/drawing/2014/main" id="{26EFD3EF-0BE2-EA8D-4796-6583134C19A3}"/>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600544B6-34D3-B552-C08C-4719A23FB1AB}"/>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F8A43824-622C-A376-30BC-9C2C34E1F386}"/>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393915954"/>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7D631-91AB-86D4-5D92-52618BE352B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B3BEA45-0E01-2EB2-D16A-099D87EC244E}"/>
              </a:ext>
            </a:extLst>
          </p:cNvPr>
          <p:cNvSpPr>
            <a:spLocks noGrp="1"/>
          </p:cNvSpPr>
          <p:nvPr>
            <p:ph type="title"/>
          </p:nvPr>
        </p:nvSpPr>
        <p:spPr/>
        <p:txBody>
          <a:bodyPr/>
          <a:lstStyle/>
          <a:p>
            <a:r>
              <a:rPr lang="en-US"/>
              <a:t>Deploy Stage</a:t>
            </a:r>
          </a:p>
        </p:txBody>
      </p:sp>
      <p:sp>
        <p:nvSpPr>
          <p:cNvPr id="65" name="Slide Number Placeholder 4">
            <a:extLst>
              <a:ext uri="{FF2B5EF4-FFF2-40B4-BE49-F238E27FC236}">
                <a16:creationId xmlns:a16="http://schemas.microsoft.com/office/drawing/2014/main" id="{18099079-B77C-4F23-72FA-48E0EF454D8B}"/>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14</a:t>
            </a:fld>
            <a:endParaRPr lang="en-US" noProof="0"/>
          </a:p>
        </p:txBody>
      </p:sp>
      <p:grpSp>
        <p:nvGrpSpPr>
          <p:cNvPr id="74" name="Group 73" descr="Post-build&#10;gate&#10;">
            <a:extLst>
              <a:ext uri="{FF2B5EF4-FFF2-40B4-BE49-F238E27FC236}">
                <a16:creationId xmlns:a16="http://schemas.microsoft.com/office/drawing/2014/main" id="{33E13270-7FE6-595A-AB61-12DE36D124A0}"/>
              </a:ext>
            </a:extLst>
          </p:cNvPr>
          <p:cNvGrpSpPr/>
          <p:nvPr/>
        </p:nvGrpSpPr>
        <p:grpSpPr>
          <a:xfrm>
            <a:off x="787033" y="2038499"/>
            <a:ext cx="1539580" cy="4501019"/>
            <a:chOff x="8874466" y="1594396"/>
            <a:chExt cx="1539580" cy="4501019"/>
          </a:xfrm>
        </p:grpSpPr>
        <p:cxnSp>
          <p:nvCxnSpPr>
            <p:cNvPr id="75" name="Straight Connector 74">
              <a:extLst>
                <a:ext uri="{FF2B5EF4-FFF2-40B4-BE49-F238E27FC236}">
                  <a16:creationId xmlns:a16="http://schemas.microsoft.com/office/drawing/2014/main" id="{D37E1D66-665D-729B-6156-E62D699DE56C}"/>
                </a:ext>
              </a:extLst>
            </p:cNvPr>
            <p:cNvCxnSpPr>
              <a:cxnSpLocks/>
            </p:cNvCxnSpPr>
            <p:nvPr/>
          </p:nvCxnSpPr>
          <p:spPr>
            <a:xfrm flipV="1">
              <a:off x="9644256" y="1594396"/>
              <a:ext cx="0" cy="4501019"/>
            </a:xfrm>
            <a:prstGeom prst="line">
              <a:avLst/>
            </a:prstGeom>
            <a:ln w="12700" cap="rnd">
              <a:solidFill>
                <a:srgbClr val="3A4953"/>
              </a:solidFill>
              <a:prstDash val="dash"/>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9D5C501A-7383-AC8C-3D63-8249AE788413}"/>
                </a:ext>
              </a:extLst>
            </p:cNvPr>
            <p:cNvGrpSpPr/>
            <p:nvPr/>
          </p:nvGrpSpPr>
          <p:grpSpPr>
            <a:xfrm>
              <a:off x="8874466" y="3004603"/>
              <a:ext cx="1539580" cy="1680605"/>
              <a:chOff x="8950473" y="2985622"/>
              <a:chExt cx="1539580" cy="1680605"/>
            </a:xfrm>
          </p:grpSpPr>
          <p:sp>
            <p:nvSpPr>
              <p:cNvPr id="77" name="TextBox 76">
                <a:extLst>
                  <a:ext uri="{FF2B5EF4-FFF2-40B4-BE49-F238E27FC236}">
                    <a16:creationId xmlns:a16="http://schemas.microsoft.com/office/drawing/2014/main" id="{AE2671EB-42BD-37FD-6CC6-20206B25CA66}"/>
                  </a:ext>
                </a:extLst>
              </p:cNvPr>
              <p:cNvSpPr txBox="1"/>
              <p:nvPr/>
            </p:nvSpPr>
            <p:spPr>
              <a:xfrm>
                <a:off x="8950473" y="3251201"/>
                <a:ext cx="1539580" cy="1415026"/>
              </a:xfrm>
              <a:prstGeom prst="roundRect">
                <a:avLst/>
              </a:prstGeom>
              <a:solidFill>
                <a:srgbClr val="091F2C"/>
              </a:solidFill>
              <a:ln w="19050" cap="flat">
                <a:gradFill flip="none" rotWithShape="1">
                  <a:gsLst>
                    <a:gs pos="80000">
                      <a:srgbClr val="399A91"/>
                    </a:gs>
                    <a:gs pos="0">
                      <a:srgbClr val="0078D4"/>
                    </a:gs>
                  </a:gsLst>
                  <a:path path="circle">
                    <a:fillToRect l="100000" t="100000"/>
                  </a:path>
                  <a:tileRect r="-100000" b="-100000"/>
                </a:grad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t>Post-build</a:t>
                </a:r>
              </a:p>
              <a:p>
                <a:r>
                  <a:rPr lang="en-US"/>
                  <a:t>gate</a:t>
                </a:r>
              </a:p>
            </p:txBody>
          </p:sp>
          <p:grpSp>
            <p:nvGrpSpPr>
              <p:cNvPr id="78" name="Group 77">
                <a:extLst>
                  <a:ext uri="{FF2B5EF4-FFF2-40B4-BE49-F238E27FC236}">
                    <a16:creationId xmlns:a16="http://schemas.microsoft.com/office/drawing/2014/main" id="{3210D041-5B7D-7B29-B78A-0CA797933FDA}"/>
                  </a:ext>
                </a:extLst>
              </p:cNvPr>
              <p:cNvGrpSpPr/>
              <p:nvPr/>
            </p:nvGrpSpPr>
            <p:grpSpPr>
              <a:xfrm>
                <a:off x="9445943" y="2985622"/>
                <a:ext cx="548640" cy="548640"/>
                <a:chOff x="9778198" y="2503118"/>
                <a:chExt cx="548640" cy="548640"/>
              </a:xfrm>
            </p:grpSpPr>
            <p:sp>
              <p:nvSpPr>
                <p:cNvPr id="79" name="Oval 78">
                  <a:extLst>
                    <a:ext uri="{FF2B5EF4-FFF2-40B4-BE49-F238E27FC236}">
                      <a16:creationId xmlns:a16="http://schemas.microsoft.com/office/drawing/2014/main" id="{88A43BF8-AAFA-F469-CD55-BAF8CAE048BE}"/>
                    </a:ext>
                  </a:extLst>
                </p:cNvPr>
                <p:cNvSpPr/>
                <p:nvPr/>
              </p:nvSpPr>
              <p:spPr bwMode="auto">
                <a:xfrm>
                  <a:off x="9778198" y="2503118"/>
                  <a:ext cx="548640" cy="548640"/>
                </a:xfrm>
                <a:prstGeom prst="ellipse">
                  <a:avLst/>
                </a:prstGeom>
                <a:gradFill flip="none" rotWithShape="1">
                  <a:gsLst>
                    <a:gs pos="100000">
                      <a:srgbClr val="399A91"/>
                    </a:gs>
                    <a:gs pos="15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800" b="1" err="1">
                    <a:ln w="3175">
                      <a:noFill/>
                    </a:ln>
                    <a:gradFill>
                      <a:gsLst>
                        <a:gs pos="53147">
                          <a:srgbClr val="FFFFFF"/>
                        </a:gs>
                        <a:gs pos="28000">
                          <a:srgbClr val="FFFFFF"/>
                        </a:gs>
                      </a:gsLst>
                      <a:path path="circle">
                        <a:fillToRect l="100000" b="100000"/>
                      </a:path>
                    </a:gradFill>
                    <a:latin typeface="+mj-lt"/>
                    <a:cs typeface="Segoe UI" pitchFamily="34" charset="0"/>
                  </a:endParaRPr>
                </a:p>
              </p:txBody>
            </p:sp>
            <p:pic>
              <p:nvPicPr>
                <p:cNvPr id="80" name="Graphic 79" descr="Construction Barricade with solid fill">
                  <a:extLst>
                    <a:ext uri="{FF2B5EF4-FFF2-40B4-BE49-F238E27FC236}">
                      <a16:creationId xmlns:a16="http://schemas.microsoft.com/office/drawing/2014/main" id="{F38DB5BB-28D1-2032-AB65-DA7DB3D628A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2250" y="2647170"/>
                  <a:ext cx="260536" cy="260536"/>
                </a:xfrm>
                <a:prstGeom prst="rect">
                  <a:avLst/>
                </a:prstGeom>
              </p:spPr>
            </p:pic>
          </p:grpSp>
        </p:grpSp>
      </p:grpSp>
      <p:grpSp>
        <p:nvGrpSpPr>
          <p:cNvPr id="81" name="Group 80" descr="Deploy ACR to connected registry">
            <a:extLst>
              <a:ext uri="{FF2B5EF4-FFF2-40B4-BE49-F238E27FC236}">
                <a16:creationId xmlns:a16="http://schemas.microsoft.com/office/drawing/2014/main" id="{3AC3FB89-4816-3E8F-81AE-D4C3AEACF9CE}"/>
              </a:ext>
            </a:extLst>
          </p:cNvPr>
          <p:cNvGrpSpPr/>
          <p:nvPr/>
        </p:nvGrpSpPr>
        <p:grpSpPr>
          <a:xfrm>
            <a:off x="4812901" y="2077386"/>
            <a:ext cx="2566201" cy="1351562"/>
            <a:chOff x="5178838" y="2505069"/>
            <a:chExt cx="2263049" cy="1207794"/>
          </a:xfrm>
        </p:grpSpPr>
        <p:pic>
          <p:nvPicPr>
            <p:cNvPr id="82" name="Graphic 81">
              <a:extLst>
                <a:ext uri="{FF2B5EF4-FFF2-40B4-BE49-F238E27FC236}">
                  <a16:creationId xmlns:a16="http://schemas.microsoft.com/office/drawing/2014/main" id="{DA5F635B-25C8-5502-27DE-EB18C9C217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47286" y="2566609"/>
              <a:ext cx="472141" cy="472141"/>
            </a:xfrm>
            <a:prstGeom prst="rect">
              <a:avLst/>
            </a:prstGeom>
          </p:spPr>
        </p:pic>
        <p:sp>
          <p:nvSpPr>
            <p:cNvPr id="83" name="TextBox 82">
              <a:extLst>
                <a:ext uri="{FF2B5EF4-FFF2-40B4-BE49-F238E27FC236}">
                  <a16:creationId xmlns:a16="http://schemas.microsoft.com/office/drawing/2014/main" id="{32130794-F3C1-BF8A-543A-0366BEA8C82C}"/>
                </a:ext>
              </a:extLst>
            </p:cNvPr>
            <p:cNvSpPr txBox="1"/>
            <p:nvPr/>
          </p:nvSpPr>
          <p:spPr>
            <a:xfrm>
              <a:off x="5178838" y="3011772"/>
              <a:ext cx="604654" cy="385053"/>
            </a:xfrm>
            <a:prstGeom prst="rect">
              <a:avLst/>
            </a:prstGeom>
            <a:noFill/>
          </p:spPr>
          <p:txBody>
            <a:bodyPr wrap="square" rtlCol="0">
              <a:spAutoFit/>
            </a:bodyPr>
            <a:lstStyle>
              <a:defPPr>
                <a:defRPr lang="en-US"/>
              </a:defPPr>
              <a:lvl1pPr algn="ctr">
                <a:defRPr sz="1400" b="1">
                  <a:solidFill>
                    <a:schemeClr val="tx1">
                      <a:lumMod val="65000"/>
                      <a:lumOff val="35000"/>
                    </a:schemeClr>
                  </a:solidFill>
                </a:defRPr>
              </a:lvl1pPr>
            </a:lstStyle>
            <a:p>
              <a:r>
                <a:rPr lang="en-US" sz="1100"/>
                <a:t>Deploy</a:t>
              </a:r>
            </a:p>
            <a:p>
              <a:r>
                <a:rPr lang="en-US" sz="1100"/>
                <a:t>ACR</a:t>
              </a:r>
            </a:p>
          </p:txBody>
        </p:sp>
        <p:pic>
          <p:nvPicPr>
            <p:cNvPr id="84" name="Picture 83" descr="A blue and grey logo&#10;&#10;Description automatically generated">
              <a:extLst>
                <a:ext uri="{FF2B5EF4-FFF2-40B4-BE49-F238E27FC236}">
                  <a16:creationId xmlns:a16="http://schemas.microsoft.com/office/drawing/2014/main" id="{3AFB491D-FF65-AC9D-5593-2C7021AE67B6}"/>
                </a:ext>
              </a:extLst>
            </p:cNvPr>
            <p:cNvPicPr>
              <a:picLocks noChangeAspect="1"/>
            </p:cNvPicPr>
            <p:nvPr/>
          </p:nvPicPr>
          <p:blipFill>
            <a:blip r:embed="rId7"/>
            <a:stretch>
              <a:fillRect/>
            </a:stretch>
          </p:blipFill>
          <p:spPr>
            <a:xfrm>
              <a:off x="5859090" y="2505069"/>
              <a:ext cx="275478" cy="275478"/>
            </a:xfrm>
            <a:prstGeom prst="rect">
              <a:avLst/>
            </a:prstGeom>
          </p:spPr>
        </p:pic>
        <p:pic>
          <p:nvPicPr>
            <p:cNvPr id="85" name="Graphic 84">
              <a:extLst>
                <a:ext uri="{FF2B5EF4-FFF2-40B4-BE49-F238E27FC236}">
                  <a16:creationId xmlns:a16="http://schemas.microsoft.com/office/drawing/2014/main" id="{8F2ABE22-58FD-5612-D79C-DFD49D9120B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46513" y="2882705"/>
              <a:ext cx="472140" cy="472140"/>
            </a:xfrm>
            <a:prstGeom prst="rect">
              <a:avLst/>
            </a:prstGeom>
          </p:spPr>
        </p:pic>
        <p:sp>
          <p:nvSpPr>
            <p:cNvPr id="86" name="TextBox 85">
              <a:extLst>
                <a:ext uri="{FF2B5EF4-FFF2-40B4-BE49-F238E27FC236}">
                  <a16:creationId xmlns:a16="http://schemas.microsoft.com/office/drawing/2014/main" id="{6FFD03E6-2374-E068-C82C-C7B5FC248B89}"/>
                </a:ext>
              </a:extLst>
            </p:cNvPr>
            <p:cNvSpPr txBox="1"/>
            <p:nvPr/>
          </p:nvSpPr>
          <p:spPr>
            <a:xfrm>
              <a:off x="6529587" y="3327810"/>
              <a:ext cx="912300" cy="385053"/>
            </a:xfrm>
            <a:prstGeom prst="rect">
              <a:avLst/>
            </a:prstGeom>
            <a:noFill/>
          </p:spPr>
          <p:txBody>
            <a:bodyPr wrap="square" rtlCol="0">
              <a:spAutoFit/>
            </a:bodyPr>
            <a:lstStyle>
              <a:defPPr>
                <a:defRPr lang="en-US"/>
              </a:defPPr>
              <a:lvl1pPr algn="ctr">
                <a:defRPr sz="1400" b="1">
                  <a:solidFill>
                    <a:schemeClr val="tx1">
                      <a:lumMod val="65000"/>
                      <a:lumOff val="35000"/>
                    </a:schemeClr>
                  </a:solidFill>
                </a:defRPr>
              </a:lvl1pPr>
            </a:lstStyle>
            <a:p>
              <a:r>
                <a:rPr lang="en-US" sz="1100"/>
                <a:t>Connected</a:t>
              </a:r>
            </a:p>
            <a:p>
              <a:r>
                <a:rPr lang="en-US" sz="1100"/>
                <a:t>Registry</a:t>
              </a:r>
            </a:p>
          </p:txBody>
        </p:sp>
        <p:cxnSp>
          <p:nvCxnSpPr>
            <p:cNvPr id="87" name="Curved Connector 91">
              <a:extLst>
                <a:ext uri="{FF2B5EF4-FFF2-40B4-BE49-F238E27FC236}">
                  <a16:creationId xmlns:a16="http://schemas.microsoft.com/office/drawing/2014/main" id="{403C6156-40C8-222F-760B-E6472837A2DF}"/>
                </a:ext>
              </a:extLst>
            </p:cNvPr>
            <p:cNvCxnSpPr>
              <a:cxnSpLocks/>
              <a:stCxn id="82" idx="3"/>
              <a:endCxn id="85" idx="1"/>
            </p:cNvCxnSpPr>
            <p:nvPr/>
          </p:nvCxnSpPr>
          <p:spPr>
            <a:xfrm>
              <a:off x="5719427" y="2802680"/>
              <a:ext cx="1027086" cy="316095"/>
            </a:xfrm>
            <a:prstGeom prst="curvedConnector3">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88" name="TextBox 87">
            <a:extLst>
              <a:ext uri="{FF2B5EF4-FFF2-40B4-BE49-F238E27FC236}">
                <a16:creationId xmlns:a16="http://schemas.microsoft.com/office/drawing/2014/main" id="{6B06EEB1-6B3E-AC5A-AD89-0B6528DB2B98}"/>
              </a:ext>
            </a:extLst>
          </p:cNvPr>
          <p:cNvSpPr txBox="1"/>
          <p:nvPr/>
        </p:nvSpPr>
        <p:spPr>
          <a:xfrm>
            <a:off x="3065079" y="3366505"/>
            <a:ext cx="6989549" cy="2126736"/>
          </a:xfrm>
          <a:prstGeom prst="rect">
            <a:avLst/>
          </a:prstGeom>
          <a:noFill/>
        </p:spPr>
        <p:txBody>
          <a:bodyPr wrap="square" lIns="182880" tIns="146304" rIns="182880" bIns="146304" rtlCol="0">
            <a:spAutoFit/>
          </a:bodyPr>
          <a:lstStyle/>
          <a:p>
            <a:pPr defTabSz="914400" fontAlgn="base">
              <a:lnSpc>
                <a:spcPct val="90000"/>
              </a:lnSpc>
              <a:spcBef>
                <a:spcPct val="0"/>
              </a:spcBef>
              <a:spcAft>
                <a:spcPts val="1200"/>
              </a:spcAft>
              <a:buSzPct val="90000"/>
              <a:defRPr/>
            </a:pPr>
            <a:r>
              <a:rPr lang="en-US" sz="2800" b="1">
                <a:ln w="3175">
                  <a:noFill/>
                </a:ln>
                <a:latin typeface="Segoe UI (Body)"/>
                <a:cs typeface="Segoe UI" panose="020B0502040204020203" pitchFamily="34" charset="0"/>
              </a:rPr>
              <a:t>Prevent non-compliant artifacts reaching the runtime environment.</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Continuously scan for vulnerabilities and malware</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Keep artifact metadata up-to date</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Enforce deployment policies</a:t>
            </a:r>
          </a:p>
        </p:txBody>
      </p:sp>
      <p:grpSp>
        <p:nvGrpSpPr>
          <p:cNvPr id="102" name="Group 101" descr="Deployment&#10;gate&#10;">
            <a:extLst>
              <a:ext uri="{FF2B5EF4-FFF2-40B4-BE49-F238E27FC236}">
                <a16:creationId xmlns:a16="http://schemas.microsoft.com/office/drawing/2014/main" id="{87BCDF6C-D4E1-592A-95C8-4108443EEA0D}"/>
              </a:ext>
            </a:extLst>
          </p:cNvPr>
          <p:cNvGrpSpPr/>
          <p:nvPr/>
        </p:nvGrpSpPr>
        <p:grpSpPr>
          <a:xfrm>
            <a:off x="9812100" y="2038499"/>
            <a:ext cx="1476000" cy="4501019"/>
            <a:chOff x="8906255" y="1594396"/>
            <a:chExt cx="1476000" cy="4501019"/>
          </a:xfrm>
        </p:grpSpPr>
        <p:cxnSp>
          <p:nvCxnSpPr>
            <p:cNvPr id="103" name="Straight Connector 102">
              <a:extLst>
                <a:ext uri="{FF2B5EF4-FFF2-40B4-BE49-F238E27FC236}">
                  <a16:creationId xmlns:a16="http://schemas.microsoft.com/office/drawing/2014/main" id="{592EDDE1-4054-69A8-C162-988FA7833EC0}"/>
                </a:ext>
              </a:extLst>
            </p:cNvPr>
            <p:cNvCxnSpPr>
              <a:cxnSpLocks/>
            </p:cNvCxnSpPr>
            <p:nvPr/>
          </p:nvCxnSpPr>
          <p:spPr>
            <a:xfrm flipV="1">
              <a:off x="9644256" y="1594396"/>
              <a:ext cx="0" cy="4501019"/>
            </a:xfrm>
            <a:prstGeom prst="line">
              <a:avLst/>
            </a:prstGeom>
            <a:ln w="12700" cap="rnd">
              <a:solidFill>
                <a:srgbClr val="3A4953"/>
              </a:solidFill>
              <a:prstDash val="dash"/>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32772D35-22B3-3B10-B9B5-03C8BB6DA789}"/>
                </a:ext>
              </a:extLst>
            </p:cNvPr>
            <p:cNvGrpSpPr/>
            <p:nvPr/>
          </p:nvGrpSpPr>
          <p:grpSpPr>
            <a:xfrm>
              <a:off x="8906255" y="3004603"/>
              <a:ext cx="1476000" cy="1680605"/>
              <a:chOff x="8982262" y="2985622"/>
              <a:chExt cx="1476000" cy="1680605"/>
            </a:xfrm>
          </p:grpSpPr>
          <p:sp>
            <p:nvSpPr>
              <p:cNvPr id="105" name="TextBox 104">
                <a:extLst>
                  <a:ext uri="{FF2B5EF4-FFF2-40B4-BE49-F238E27FC236}">
                    <a16:creationId xmlns:a16="http://schemas.microsoft.com/office/drawing/2014/main" id="{DB2868CD-5E88-5198-EF34-09F6C3F67FF8}"/>
                  </a:ext>
                </a:extLst>
              </p:cNvPr>
              <p:cNvSpPr txBox="1"/>
              <p:nvPr/>
            </p:nvSpPr>
            <p:spPr>
              <a:xfrm>
                <a:off x="8982262" y="3251201"/>
                <a:ext cx="1476000" cy="1415026"/>
              </a:xfrm>
              <a:prstGeom prst="roundRect">
                <a:avLst/>
              </a:prstGeom>
              <a:solidFill>
                <a:srgbClr val="091F2C"/>
              </a:solidFill>
              <a:ln w="19050" cap="flat">
                <a:gradFill flip="none" rotWithShape="1">
                  <a:gsLst>
                    <a:gs pos="80000">
                      <a:srgbClr val="399A91"/>
                    </a:gs>
                    <a:gs pos="0">
                      <a:srgbClr val="0078D4"/>
                    </a:gs>
                  </a:gsLst>
                  <a:path path="circle">
                    <a:fillToRect l="100000" t="100000"/>
                  </a:path>
                  <a:tileRect r="-100000" b="-100000"/>
                </a:grad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t>Deployment</a:t>
                </a:r>
              </a:p>
              <a:p>
                <a:r>
                  <a:rPr lang="en-US"/>
                  <a:t>gate</a:t>
                </a:r>
              </a:p>
            </p:txBody>
          </p:sp>
          <p:grpSp>
            <p:nvGrpSpPr>
              <p:cNvPr id="106" name="Group 105">
                <a:extLst>
                  <a:ext uri="{FF2B5EF4-FFF2-40B4-BE49-F238E27FC236}">
                    <a16:creationId xmlns:a16="http://schemas.microsoft.com/office/drawing/2014/main" id="{5040B51A-3B41-3EC1-EA0C-36A82AE4AEC6}"/>
                  </a:ext>
                </a:extLst>
              </p:cNvPr>
              <p:cNvGrpSpPr/>
              <p:nvPr/>
            </p:nvGrpSpPr>
            <p:grpSpPr>
              <a:xfrm>
                <a:off x="9445943" y="2985622"/>
                <a:ext cx="548640" cy="548640"/>
                <a:chOff x="9778198" y="2503118"/>
                <a:chExt cx="548640" cy="548640"/>
              </a:xfrm>
            </p:grpSpPr>
            <p:sp>
              <p:nvSpPr>
                <p:cNvPr id="107" name="Oval 106">
                  <a:extLst>
                    <a:ext uri="{FF2B5EF4-FFF2-40B4-BE49-F238E27FC236}">
                      <a16:creationId xmlns:a16="http://schemas.microsoft.com/office/drawing/2014/main" id="{79215651-5A30-4C59-8A12-AEEC06AA6D49}"/>
                    </a:ext>
                  </a:extLst>
                </p:cNvPr>
                <p:cNvSpPr/>
                <p:nvPr/>
              </p:nvSpPr>
              <p:spPr bwMode="auto">
                <a:xfrm>
                  <a:off x="9778198" y="2503118"/>
                  <a:ext cx="548640" cy="548640"/>
                </a:xfrm>
                <a:prstGeom prst="ellipse">
                  <a:avLst/>
                </a:prstGeom>
                <a:gradFill flip="none" rotWithShape="1">
                  <a:gsLst>
                    <a:gs pos="100000">
                      <a:srgbClr val="399A91"/>
                    </a:gs>
                    <a:gs pos="15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800" b="1" err="1">
                    <a:ln w="3175">
                      <a:noFill/>
                    </a:ln>
                    <a:gradFill>
                      <a:gsLst>
                        <a:gs pos="53147">
                          <a:srgbClr val="FFFFFF"/>
                        </a:gs>
                        <a:gs pos="28000">
                          <a:srgbClr val="FFFFFF"/>
                        </a:gs>
                      </a:gsLst>
                      <a:path path="circle">
                        <a:fillToRect l="100000" b="100000"/>
                      </a:path>
                    </a:gradFill>
                    <a:latin typeface="+mj-lt"/>
                    <a:cs typeface="Segoe UI" pitchFamily="34" charset="0"/>
                  </a:endParaRPr>
                </a:p>
              </p:txBody>
            </p:sp>
            <p:pic>
              <p:nvPicPr>
                <p:cNvPr id="108" name="Graphic 107" descr="Construction Barricade with solid fill">
                  <a:extLst>
                    <a:ext uri="{FF2B5EF4-FFF2-40B4-BE49-F238E27FC236}">
                      <a16:creationId xmlns:a16="http://schemas.microsoft.com/office/drawing/2014/main" id="{13767EEC-74AB-055B-98E3-164297F53D4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2250" y="2647170"/>
                  <a:ext cx="260536" cy="260536"/>
                </a:xfrm>
                <a:prstGeom prst="rect">
                  <a:avLst/>
                </a:prstGeom>
              </p:spPr>
            </p:pic>
          </p:grpSp>
        </p:grpSp>
      </p:grpSp>
      <p:grpSp>
        <p:nvGrpSpPr>
          <p:cNvPr id="117" name="Group 116">
            <a:extLst>
              <a:ext uri="{FF2B5EF4-FFF2-40B4-BE49-F238E27FC236}">
                <a16:creationId xmlns:a16="http://schemas.microsoft.com/office/drawing/2014/main" id="{B67D0CC1-FD68-E52C-2667-C6B6F5DF8C53}"/>
              </a:ext>
            </a:extLst>
          </p:cNvPr>
          <p:cNvGrpSpPr/>
          <p:nvPr/>
        </p:nvGrpSpPr>
        <p:grpSpPr>
          <a:xfrm>
            <a:off x="3354584" y="5608555"/>
            <a:ext cx="5980013" cy="930963"/>
            <a:chOff x="4072280" y="5608555"/>
            <a:chExt cx="5980013" cy="930963"/>
          </a:xfrm>
        </p:grpSpPr>
        <p:grpSp>
          <p:nvGrpSpPr>
            <p:cNvPr id="89" name="Group 88" descr="Helm&#10;Defender&#10;Trivy&#10;Copa">
              <a:extLst>
                <a:ext uri="{FF2B5EF4-FFF2-40B4-BE49-F238E27FC236}">
                  <a16:creationId xmlns:a16="http://schemas.microsoft.com/office/drawing/2014/main" id="{EFE46716-F39A-9B9C-9F44-2A4544D01476}"/>
                </a:ext>
              </a:extLst>
            </p:cNvPr>
            <p:cNvGrpSpPr/>
            <p:nvPr/>
          </p:nvGrpSpPr>
          <p:grpSpPr>
            <a:xfrm>
              <a:off x="4072280" y="5648134"/>
              <a:ext cx="4005192" cy="880922"/>
              <a:chOff x="4047372" y="5204031"/>
              <a:chExt cx="4005192" cy="880922"/>
            </a:xfrm>
          </p:grpSpPr>
          <p:grpSp>
            <p:nvGrpSpPr>
              <p:cNvPr id="90" name="Group 89">
                <a:extLst>
                  <a:ext uri="{FF2B5EF4-FFF2-40B4-BE49-F238E27FC236}">
                    <a16:creationId xmlns:a16="http://schemas.microsoft.com/office/drawing/2014/main" id="{7368297D-4B75-E6F6-E2C3-B897ECC02DBE}"/>
                  </a:ext>
                </a:extLst>
              </p:cNvPr>
              <p:cNvGrpSpPr/>
              <p:nvPr/>
            </p:nvGrpSpPr>
            <p:grpSpPr>
              <a:xfrm>
                <a:off x="7207569" y="5277678"/>
                <a:ext cx="844995" cy="807249"/>
                <a:chOff x="6903484" y="5499888"/>
                <a:chExt cx="844995" cy="887977"/>
              </a:xfrm>
            </p:grpSpPr>
            <p:sp>
              <p:nvSpPr>
                <p:cNvPr id="100" name="TextBox 99">
                  <a:extLst>
                    <a:ext uri="{FF2B5EF4-FFF2-40B4-BE49-F238E27FC236}">
                      <a16:creationId xmlns:a16="http://schemas.microsoft.com/office/drawing/2014/main" id="{2FCE679E-D273-EB32-C10D-C7727055922F}"/>
                    </a:ext>
                  </a:extLst>
                </p:cNvPr>
                <p:cNvSpPr txBox="1"/>
                <p:nvPr/>
              </p:nvSpPr>
              <p:spPr>
                <a:xfrm>
                  <a:off x="6953317" y="6133949"/>
                  <a:ext cx="745327" cy="253916"/>
                </a:xfrm>
                <a:prstGeom prst="rect">
                  <a:avLst/>
                </a:prstGeom>
                <a:solidFill>
                  <a:schemeClr val="bg1"/>
                </a:solidFill>
              </p:spPr>
              <p:txBody>
                <a:bodyPr wrap="square" rtlCol="0" anchor="ctr">
                  <a:spAutoFit/>
                </a:bodyPr>
                <a:lstStyle/>
                <a:p>
                  <a:pPr algn="ctr"/>
                  <a:r>
                    <a:rPr lang="pl-PL" sz="900">
                      <a:solidFill>
                        <a:schemeClr val="accent6"/>
                      </a:solidFill>
                      <a:cs typeface="Segoe UI Semibold" panose="020B0702040204020203" pitchFamily="34" charset="0"/>
                    </a:rPr>
                    <a:t>Copa</a:t>
                  </a:r>
                  <a:endParaRPr lang="en-US" sz="900">
                    <a:solidFill>
                      <a:schemeClr val="accent6"/>
                    </a:solidFill>
                    <a:cs typeface="Segoe UI Semibold" panose="020B0702040204020203" pitchFamily="34" charset="0"/>
                  </a:endParaRPr>
                </a:p>
              </p:txBody>
            </p:sp>
            <p:pic>
              <p:nvPicPr>
                <p:cNvPr id="101" name="Picture 2">
                  <a:extLst>
                    <a:ext uri="{FF2B5EF4-FFF2-40B4-BE49-F238E27FC236}">
                      <a16:creationId xmlns:a16="http://schemas.microsoft.com/office/drawing/2014/main" id="{9B1765C2-9728-772A-23B1-9C8D44A5FDF4}"/>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15350" b="15350"/>
                <a:stretch/>
              </p:blipFill>
              <p:spPr bwMode="auto">
                <a:xfrm>
                  <a:off x="6903484" y="5499888"/>
                  <a:ext cx="844995" cy="5984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1" name="Group 90">
                <a:extLst>
                  <a:ext uri="{FF2B5EF4-FFF2-40B4-BE49-F238E27FC236}">
                    <a16:creationId xmlns:a16="http://schemas.microsoft.com/office/drawing/2014/main" id="{B694126E-7BDF-50EF-158A-480AA0A9656B}"/>
                  </a:ext>
                </a:extLst>
              </p:cNvPr>
              <p:cNvGrpSpPr/>
              <p:nvPr/>
            </p:nvGrpSpPr>
            <p:grpSpPr>
              <a:xfrm>
                <a:off x="5118284" y="5261998"/>
                <a:ext cx="718866" cy="822943"/>
                <a:chOff x="4776843" y="5482626"/>
                <a:chExt cx="718866" cy="905238"/>
              </a:xfrm>
            </p:grpSpPr>
            <p:pic>
              <p:nvPicPr>
                <p:cNvPr id="98" name="Graphic 97">
                  <a:extLst>
                    <a:ext uri="{FF2B5EF4-FFF2-40B4-BE49-F238E27FC236}">
                      <a16:creationId xmlns:a16="http://schemas.microsoft.com/office/drawing/2014/main" id="{C1705ABE-8E0E-A99E-19B3-E5DF6CC446D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826590" y="5482626"/>
                  <a:ext cx="619372" cy="632946"/>
                </a:xfrm>
                <a:prstGeom prst="rect">
                  <a:avLst/>
                </a:prstGeom>
              </p:spPr>
            </p:pic>
            <p:sp>
              <p:nvSpPr>
                <p:cNvPr id="99" name="TextBox 98">
                  <a:extLst>
                    <a:ext uri="{FF2B5EF4-FFF2-40B4-BE49-F238E27FC236}">
                      <a16:creationId xmlns:a16="http://schemas.microsoft.com/office/drawing/2014/main" id="{37F2063A-2E84-F870-34C7-A9164FDA4A83}"/>
                    </a:ext>
                  </a:extLst>
                </p:cNvPr>
                <p:cNvSpPr txBox="1"/>
                <p:nvPr/>
              </p:nvSpPr>
              <p:spPr>
                <a:xfrm>
                  <a:off x="4776843" y="6133949"/>
                  <a:ext cx="718866" cy="253915"/>
                </a:xfrm>
                <a:prstGeom prst="rect">
                  <a:avLst/>
                </a:prstGeom>
                <a:noFill/>
              </p:spPr>
              <p:txBody>
                <a:bodyPr wrap="square" rtlCol="0" anchor="ctr">
                  <a:spAutoFit/>
                </a:bodyPr>
                <a:lstStyle/>
                <a:p>
                  <a:pPr algn="ctr"/>
                  <a:r>
                    <a:rPr lang="en-US" sz="900">
                      <a:solidFill>
                        <a:schemeClr val="accent6"/>
                      </a:solidFill>
                      <a:cs typeface="Segoe UI Semibold" panose="020B0702040204020203" pitchFamily="34" charset="0"/>
                    </a:rPr>
                    <a:t>Defender</a:t>
                  </a:r>
                </a:p>
              </p:txBody>
            </p:sp>
          </p:grpSp>
          <p:grpSp>
            <p:nvGrpSpPr>
              <p:cNvPr id="92" name="Group 91">
                <a:extLst>
                  <a:ext uri="{FF2B5EF4-FFF2-40B4-BE49-F238E27FC236}">
                    <a16:creationId xmlns:a16="http://schemas.microsoft.com/office/drawing/2014/main" id="{08D28C38-A0A3-645E-E1E6-77F75B3DB75C}"/>
                  </a:ext>
                </a:extLst>
              </p:cNvPr>
              <p:cNvGrpSpPr/>
              <p:nvPr/>
            </p:nvGrpSpPr>
            <p:grpSpPr>
              <a:xfrm>
                <a:off x="6169780" y="5240399"/>
                <a:ext cx="662908" cy="844549"/>
                <a:chOff x="5847017" y="5458861"/>
                <a:chExt cx="662908" cy="929003"/>
              </a:xfrm>
            </p:grpSpPr>
            <p:sp>
              <p:nvSpPr>
                <p:cNvPr id="96" name="TextBox 95">
                  <a:extLst>
                    <a:ext uri="{FF2B5EF4-FFF2-40B4-BE49-F238E27FC236}">
                      <a16:creationId xmlns:a16="http://schemas.microsoft.com/office/drawing/2014/main" id="{15494336-8833-FC3E-8A4F-2E4795D1956F}"/>
                    </a:ext>
                  </a:extLst>
                </p:cNvPr>
                <p:cNvSpPr txBox="1"/>
                <p:nvPr/>
              </p:nvSpPr>
              <p:spPr>
                <a:xfrm>
                  <a:off x="5927568" y="6133949"/>
                  <a:ext cx="501808" cy="253915"/>
                </a:xfrm>
                <a:prstGeom prst="rect">
                  <a:avLst/>
                </a:prstGeom>
                <a:solidFill>
                  <a:schemeClr val="bg1"/>
                </a:solidFill>
              </p:spPr>
              <p:txBody>
                <a:bodyPr wrap="square" rtlCol="0" anchor="ctr">
                  <a:spAutoFit/>
                </a:bodyPr>
                <a:lstStyle/>
                <a:p>
                  <a:pPr algn="ctr"/>
                  <a:r>
                    <a:rPr lang="pl-PL" sz="900">
                      <a:solidFill>
                        <a:schemeClr val="accent6"/>
                      </a:solidFill>
                      <a:cs typeface="Segoe UI Semibold" panose="020B0702040204020203" pitchFamily="34" charset="0"/>
                    </a:rPr>
                    <a:t>Trivy</a:t>
                  </a:r>
                  <a:endParaRPr lang="en-US" sz="900">
                    <a:solidFill>
                      <a:schemeClr val="accent6"/>
                    </a:solidFill>
                    <a:cs typeface="Segoe UI Semibold" panose="020B0702040204020203" pitchFamily="34" charset="0"/>
                  </a:endParaRPr>
                </a:p>
              </p:txBody>
            </p:sp>
            <p:pic>
              <p:nvPicPr>
                <p:cNvPr id="97" name="Picture 96" descr="A logo with a hexagon and a circle&#10;&#10;Description automatically generated">
                  <a:extLst>
                    <a:ext uri="{FF2B5EF4-FFF2-40B4-BE49-F238E27FC236}">
                      <a16:creationId xmlns:a16="http://schemas.microsoft.com/office/drawing/2014/main" id="{E7FD0234-DC5E-96F0-1D49-08E4B7BA5FCA}"/>
                    </a:ext>
                  </a:extLst>
                </p:cNvPr>
                <p:cNvPicPr>
                  <a:picLocks noChangeAspect="1"/>
                </p:cNvPicPr>
                <p:nvPr/>
              </p:nvPicPr>
              <p:blipFill rotWithShape="1">
                <a:blip r:embed="rId13"/>
                <a:srcRect l="14883" r="14883" b="29451"/>
                <a:stretch/>
              </p:blipFill>
              <p:spPr>
                <a:xfrm>
                  <a:off x="5847017" y="5458861"/>
                  <a:ext cx="662908" cy="680474"/>
                </a:xfrm>
                <a:prstGeom prst="rect">
                  <a:avLst/>
                </a:prstGeom>
              </p:spPr>
            </p:pic>
          </p:grpSp>
          <p:grpSp>
            <p:nvGrpSpPr>
              <p:cNvPr id="93" name="Group 92">
                <a:extLst>
                  <a:ext uri="{FF2B5EF4-FFF2-40B4-BE49-F238E27FC236}">
                    <a16:creationId xmlns:a16="http://schemas.microsoft.com/office/drawing/2014/main" id="{39AFEFF3-3816-EF6A-51E1-25ADD4ABB5CA}"/>
                  </a:ext>
                </a:extLst>
              </p:cNvPr>
              <p:cNvGrpSpPr/>
              <p:nvPr/>
            </p:nvGrpSpPr>
            <p:grpSpPr>
              <a:xfrm>
                <a:off x="4047372" y="5204031"/>
                <a:ext cx="738282" cy="880922"/>
                <a:chOff x="3371866" y="5418851"/>
                <a:chExt cx="738282" cy="969013"/>
              </a:xfrm>
            </p:grpSpPr>
            <p:pic>
              <p:nvPicPr>
                <p:cNvPr id="94" name="Picture 93" descr="A blue logo with a black background&#10;&#10;Description automatically generated">
                  <a:extLst>
                    <a:ext uri="{FF2B5EF4-FFF2-40B4-BE49-F238E27FC236}">
                      <a16:creationId xmlns:a16="http://schemas.microsoft.com/office/drawing/2014/main" id="{55C6B31E-CB4A-90FC-C6E9-99687A9FBDA2}"/>
                    </a:ext>
                  </a:extLst>
                </p:cNvPr>
                <p:cNvPicPr>
                  <a:picLocks noChangeAspect="1"/>
                </p:cNvPicPr>
                <p:nvPr/>
              </p:nvPicPr>
              <p:blipFill>
                <a:blip r:embed="rId14"/>
                <a:stretch>
                  <a:fillRect/>
                </a:stretch>
              </p:blipFill>
              <p:spPr>
                <a:xfrm>
                  <a:off x="3371866" y="5418851"/>
                  <a:ext cx="738282" cy="751581"/>
                </a:xfrm>
                <a:prstGeom prst="rect">
                  <a:avLst/>
                </a:prstGeom>
              </p:spPr>
            </p:pic>
            <p:sp>
              <p:nvSpPr>
                <p:cNvPr id="95" name="TextBox 94">
                  <a:extLst>
                    <a:ext uri="{FF2B5EF4-FFF2-40B4-BE49-F238E27FC236}">
                      <a16:creationId xmlns:a16="http://schemas.microsoft.com/office/drawing/2014/main" id="{1232CBE9-A1B1-F87A-32A8-71517D1A9FB2}"/>
                    </a:ext>
                  </a:extLst>
                </p:cNvPr>
                <p:cNvSpPr txBox="1"/>
                <p:nvPr/>
              </p:nvSpPr>
              <p:spPr>
                <a:xfrm>
                  <a:off x="3437442" y="6133949"/>
                  <a:ext cx="628146" cy="253915"/>
                </a:xfrm>
                <a:prstGeom prst="rect">
                  <a:avLst/>
                </a:prstGeom>
                <a:noFill/>
              </p:spPr>
              <p:txBody>
                <a:bodyPr wrap="square" rtlCol="0" anchor="ctr">
                  <a:spAutoFit/>
                </a:bodyPr>
                <a:lstStyle/>
                <a:p>
                  <a:pPr algn="ctr"/>
                  <a:r>
                    <a:rPr lang="pl-PL" sz="900">
                      <a:solidFill>
                        <a:schemeClr val="accent6"/>
                      </a:solidFill>
                      <a:cs typeface="Segoe UI Semibold" panose="020B0702040204020203" pitchFamily="34" charset="0"/>
                    </a:rPr>
                    <a:t>Helm</a:t>
                  </a:r>
                  <a:endParaRPr lang="en-US" sz="900">
                    <a:solidFill>
                      <a:schemeClr val="accent6"/>
                    </a:solidFill>
                    <a:cs typeface="Segoe UI Semibold" panose="020B0702040204020203" pitchFamily="34" charset="0"/>
                  </a:endParaRPr>
                </a:p>
              </p:txBody>
            </p:sp>
          </p:grpSp>
        </p:grpSp>
        <p:sp>
          <p:nvSpPr>
            <p:cNvPr id="113" name="TextBox 112">
              <a:extLst>
                <a:ext uri="{FF2B5EF4-FFF2-40B4-BE49-F238E27FC236}">
                  <a16:creationId xmlns:a16="http://schemas.microsoft.com/office/drawing/2014/main" id="{B87007E4-4551-BB58-FE20-B55B72BD1C2C}"/>
                </a:ext>
              </a:extLst>
            </p:cNvPr>
            <p:cNvSpPr txBox="1"/>
            <p:nvPr/>
          </p:nvSpPr>
          <p:spPr>
            <a:xfrm>
              <a:off x="8345749" y="6298212"/>
              <a:ext cx="745327" cy="230832"/>
            </a:xfrm>
            <a:prstGeom prst="rect">
              <a:avLst/>
            </a:prstGeom>
            <a:solidFill>
              <a:schemeClr val="bg1"/>
            </a:solidFill>
          </p:spPr>
          <p:txBody>
            <a:bodyPr wrap="square" rtlCol="0" anchor="ctr">
              <a:spAutoFit/>
            </a:bodyPr>
            <a:lstStyle/>
            <a:p>
              <a:pPr algn="ctr"/>
              <a:r>
                <a:rPr lang="en-CA" sz="900" err="1">
                  <a:solidFill>
                    <a:schemeClr val="accent6"/>
                  </a:solidFill>
                  <a:cs typeface="Segoe UI Semibold" panose="020B0702040204020203" pitchFamily="34" charset="0"/>
                </a:rPr>
                <a:t>Kyverno</a:t>
              </a:r>
              <a:endParaRPr lang="en-US" sz="900">
                <a:solidFill>
                  <a:schemeClr val="accent6"/>
                </a:solidFill>
                <a:cs typeface="Segoe UI Semibold" panose="020B0702040204020203" pitchFamily="34" charset="0"/>
              </a:endParaRPr>
            </a:p>
          </p:txBody>
        </p:sp>
        <p:pic>
          <p:nvPicPr>
            <p:cNvPr id="2050" name="Picture 2">
              <a:extLst>
                <a:ext uri="{FF2B5EF4-FFF2-40B4-BE49-F238E27FC236}">
                  <a16:creationId xmlns:a16="http://schemas.microsoft.com/office/drawing/2014/main" id="{77B61C38-D463-2F25-B9BF-861AF067213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45749" y="5608555"/>
              <a:ext cx="762404" cy="762404"/>
            </a:xfrm>
            <a:prstGeom prst="rect">
              <a:avLst/>
            </a:prstGeom>
            <a:noFill/>
            <a:extLst>
              <a:ext uri="{909E8E84-426E-40DD-AFC4-6F175D3DCCD1}">
                <a14:hiddenFill xmlns:a14="http://schemas.microsoft.com/office/drawing/2010/main">
                  <a:solidFill>
                    <a:srgbClr val="FFFFFF"/>
                  </a:solidFill>
                </a14:hiddenFill>
              </a:ext>
            </a:extLst>
          </p:spPr>
        </p:pic>
        <p:grpSp>
          <p:nvGrpSpPr>
            <p:cNvPr id="114" name="Group 113" descr="Gatekeeper">
              <a:extLst>
                <a:ext uri="{FF2B5EF4-FFF2-40B4-BE49-F238E27FC236}">
                  <a16:creationId xmlns:a16="http://schemas.microsoft.com/office/drawing/2014/main" id="{D887493B-39DF-1AC8-9F1A-743379DC7D8C}"/>
                </a:ext>
              </a:extLst>
            </p:cNvPr>
            <p:cNvGrpSpPr/>
            <p:nvPr/>
          </p:nvGrpSpPr>
          <p:grpSpPr>
            <a:xfrm>
              <a:off x="9248533" y="5686601"/>
              <a:ext cx="803760" cy="852917"/>
              <a:chOff x="4536643" y="5482626"/>
              <a:chExt cx="803760" cy="852917"/>
            </a:xfrm>
          </p:grpSpPr>
          <p:pic>
            <p:nvPicPr>
              <p:cNvPr id="115" name="Picture 114" descr="A helmet with horns on it&#10;&#10;Description automatically generated">
                <a:extLst>
                  <a:ext uri="{FF2B5EF4-FFF2-40B4-BE49-F238E27FC236}">
                    <a16:creationId xmlns:a16="http://schemas.microsoft.com/office/drawing/2014/main" id="{BAA3393B-1088-FBEE-93AF-1560E69D632C}"/>
                  </a:ext>
                </a:extLst>
              </p:cNvPr>
              <p:cNvPicPr>
                <a:picLocks noChangeAspect="1"/>
              </p:cNvPicPr>
              <p:nvPr/>
            </p:nvPicPr>
            <p:blipFill>
              <a:blip r:embed="rId16"/>
              <a:stretch>
                <a:fillRect/>
              </a:stretch>
            </p:blipFill>
            <p:spPr>
              <a:xfrm>
                <a:off x="4649253" y="5482626"/>
                <a:ext cx="578541" cy="632946"/>
              </a:xfrm>
              <a:prstGeom prst="rect">
                <a:avLst/>
              </a:prstGeom>
            </p:spPr>
          </p:pic>
          <p:sp>
            <p:nvSpPr>
              <p:cNvPr id="116" name="TextBox 115">
                <a:extLst>
                  <a:ext uri="{FF2B5EF4-FFF2-40B4-BE49-F238E27FC236}">
                    <a16:creationId xmlns:a16="http://schemas.microsoft.com/office/drawing/2014/main" id="{DE2D7B26-B008-3F0F-160C-084A81C7637D}"/>
                  </a:ext>
                </a:extLst>
              </p:cNvPr>
              <p:cNvSpPr txBox="1"/>
              <p:nvPr/>
            </p:nvSpPr>
            <p:spPr>
              <a:xfrm>
                <a:off x="4536643" y="6104711"/>
                <a:ext cx="803760" cy="230832"/>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Gatekeeper</a:t>
                </a:r>
              </a:p>
            </p:txBody>
          </p:sp>
        </p:grpSp>
      </p:grpSp>
    </p:spTree>
    <p:extLst>
      <p:ext uri="{BB962C8B-B14F-4D97-AF65-F5344CB8AC3E}">
        <p14:creationId xmlns:p14="http://schemas.microsoft.com/office/powerpoint/2010/main" val="507852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4EF2C-B69F-6CE3-F62A-BCAB85761E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B01841-8609-B558-F176-9C1BEC12CB04}"/>
              </a:ext>
            </a:extLst>
          </p:cNvPr>
          <p:cNvSpPr>
            <a:spLocks noGrp="1"/>
          </p:cNvSpPr>
          <p:nvPr>
            <p:ph type="title"/>
            <p:custDataLst>
              <p:custData r:id="rId2"/>
            </p:custDataLst>
          </p:nvPr>
        </p:nvSpPr>
        <p:spPr/>
        <p:txBody>
          <a:bodyPr/>
          <a:lstStyle/>
          <a:p>
            <a:r>
              <a:rPr lang="en-GB"/>
              <a:t>Run Stage</a:t>
            </a:r>
            <a:endParaRPr lang="en-US"/>
          </a:p>
        </p:txBody>
      </p:sp>
      <p:sp>
        <p:nvSpPr>
          <p:cNvPr id="2" name="Text Placeholder 1">
            <a:extLst>
              <a:ext uri="{FF2B5EF4-FFF2-40B4-BE49-F238E27FC236}">
                <a16:creationId xmlns:a16="http://schemas.microsoft.com/office/drawing/2014/main" id="{3E7A5E53-0F80-0E70-1121-8A7C776BE3C4}"/>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12EBF96-0280-1AAE-F731-CF303C156B63}"/>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EC0EDD23-72E9-CABA-40C5-1FA3328F22B5}"/>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337634355"/>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9CC83-8FA3-14C8-29A0-AF7BB1B3E69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EDD4C24-2892-89DB-8791-29C98EDED22A}"/>
              </a:ext>
            </a:extLst>
          </p:cNvPr>
          <p:cNvSpPr>
            <a:spLocks noGrp="1"/>
          </p:cNvSpPr>
          <p:nvPr>
            <p:ph type="title"/>
          </p:nvPr>
        </p:nvSpPr>
        <p:spPr/>
        <p:txBody>
          <a:bodyPr/>
          <a:lstStyle/>
          <a:p>
            <a:r>
              <a:rPr lang="en-US"/>
              <a:t>Run Stage</a:t>
            </a:r>
          </a:p>
        </p:txBody>
      </p:sp>
      <p:sp>
        <p:nvSpPr>
          <p:cNvPr id="65" name="Slide Number Placeholder 4">
            <a:extLst>
              <a:ext uri="{FF2B5EF4-FFF2-40B4-BE49-F238E27FC236}">
                <a16:creationId xmlns:a16="http://schemas.microsoft.com/office/drawing/2014/main" id="{C4D0F231-854D-8E37-08F5-9BCC1D5372CB}"/>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16</a:t>
            </a:fld>
            <a:endParaRPr lang="en-US" noProof="0"/>
          </a:p>
        </p:txBody>
      </p:sp>
      <p:grpSp>
        <p:nvGrpSpPr>
          <p:cNvPr id="2" name="Group 1" descr="Deployment&#10;gate&#10;">
            <a:extLst>
              <a:ext uri="{FF2B5EF4-FFF2-40B4-BE49-F238E27FC236}">
                <a16:creationId xmlns:a16="http://schemas.microsoft.com/office/drawing/2014/main" id="{5A225B82-B36B-5E83-A7CB-548462C4A219}"/>
              </a:ext>
            </a:extLst>
          </p:cNvPr>
          <p:cNvGrpSpPr/>
          <p:nvPr/>
        </p:nvGrpSpPr>
        <p:grpSpPr>
          <a:xfrm>
            <a:off x="1744885" y="2038499"/>
            <a:ext cx="1459420" cy="4501019"/>
            <a:chOff x="8914546" y="1594396"/>
            <a:chExt cx="1459420" cy="4501019"/>
          </a:xfrm>
        </p:grpSpPr>
        <p:cxnSp>
          <p:nvCxnSpPr>
            <p:cNvPr id="3" name="Straight Connector 2">
              <a:extLst>
                <a:ext uri="{FF2B5EF4-FFF2-40B4-BE49-F238E27FC236}">
                  <a16:creationId xmlns:a16="http://schemas.microsoft.com/office/drawing/2014/main" id="{5541549D-0907-BB88-538B-D6D089A3F14E}"/>
                </a:ext>
              </a:extLst>
            </p:cNvPr>
            <p:cNvCxnSpPr>
              <a:cxnSpLocks/>
            </p:cNvCxnSpPr>
            <p:nvPr/>
          </p:nvCxnSpPr>
          <p:spPr>
            <a:xfrm flipV="1">
              <a:off x="9644256" y="1594396"/>
              <a:ext cx="0" cy="4501019"/>
            </a:xfrm>
            <a:prstGeom prst="line">
              <a:avLst/>
            </a:prstGeom>
            <a:ln w="12700" cap="rnd">
              <a:solidFill>
                <a:srgbClr val="3A4953"/>
              </a:solidFill>
              <a:prstDash val="dash"/>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CAD6175-5012-8430-015C-553EE44C4C11}"/>
                </a:ext>
              </a:extLst>
            </p:cNvPr>
            <p:cNvGrpSpPr/>
            <p:nvPr/>
          </p:nvGrpSpPr>
          <p:grpSpPr>
            <a:xfrm>
              <a:off x="8914546" y="3004603"/>
              <a:ext cx="1459420" cy="1680605"/>
              <a:chOff x="8990553" y="2985622"/>
              <a:chExt cx="1459420" cy="1680605"/>
            </a:xfrm>
          </p:grpSpPr>
          <p:sp>
            <p:nvSpPr>
              <p:cNvPr id="5" name="TextBox 4">
                <a:extLst>
                  <a:ext uri="{FF2B5EF4-FFF2-40B4-BE49-F238E27FC236}">
                    <a16:creationId xmlns:a16="http://schemas.microsoft.com/office/drawing/2014/main" id="{1CDCA80E-FE77-79E8-0038-1F6EBF82A764}"/>
                  </a:ext>
                </a:extLst>
              </p:cNvPr>
              <p:cNvSpPr txBox="1"/>
              <p:nvPr/>
            </p:nvSpPr>
            <p:spPr>
              <a:xfrm>
                <a:off x="8990553" y="3251201"/>
                <a:ext cx="1459420" cy="1415026"/>
              </a:xfrm>
              <a:prstGeom prst="roundRect">
                <a:avLst/>
              </a:prstGeom>
              <a:solidFill>
                <a:srgbClr val="091F2C"/>
              </a:solidFill>
              <a:ln w="19050" cap="flat">
                <a:gradFill flip="none" rotWithShape="1">
                  <a:gsLst>
                    <a:gs pos="80000">
                      <a:srgbClr val="399A91"/>
                    </a:gs>
                    <a:gs pos="0">
                      <a:srgbClr val="0078D4"/>
                    </a:gs>
                  </a:gsLst>
                  <a:path path="circle">
                    <a:fillToRect l="100000" t="100000"/>
                  </a:path>
                  <a:tileRect r="-100000" b="-100000"/>
                </a:grad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no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t>Deployment</a:t>
                </a:r>
              </a:p>
              <a:p>
                <a:r>
                  <a:rPr lang="en-US"/>
                  <a:t>gate</a:t>
                </a:r>
              </a:p>
            </p:txBody>
          </p:sp>
          <p:grpSp>
            <p:nvGrpSpPr>
              <p:cNvPr id="7" name="Group 6">
                <a:extLst>
                  <a:ext uri="{FF2B5EF4-FFF2-40B4-BE49-F238E27FC236}">
                    <a16:creationId xmlns:a16="http://schemas.microsoft.com/office/drawing/2014/main" id="{281E592F-3C73-BFEB-F001-F79C1218DCFD}"/>
                  </a:ext>
                </a:extLst>
              </p:cNvPr>
              <p:cNvGrpSpPr/>
              <p:nvPr/>
            </p:nvGrpSpPr>
            <p:grpSpPr>
              <a:xfrm>
                <a:off x="9445943" y="2985622"/>
                <a:ext cx="548640" cy="548640"/>
                <a:chOff x="9778198" y="2503118"/>
                <a:chExt cx="548640" cy="548640"/>
              </a:xfrm>
            </p:grpSpPr>
            <p:sp>
              <p:nvSpPr>
                <p:cNvPr id="8" name="Oval 7">
                  <a:extLst>
                    <a:ext uri="{FF2B5EF4-FFF2-40B4-BE49-F238E27FC236}">
                      <a16:creationId xmlns:a16="http://schemas.microsoft.com/office/drawing/2014/main" id="{43FF4084-9934-6AC6-F2BE-268DCA58F6BE}"/>
                    </a:ext>
                  </a:extLst>
                </p:cNvPr>
                <p:cNvSpPr/>
                <p:nvPr/>
              </p:nvSpPr>
              <p:spPr bwMode="auto">
                <a:xfrm>
                  <a:off x="9778198" y="2503118"/>
                  <a:ext cx="548640" cy="548640"/>
                </a:xfrm>
                <a:prstGeom prst="ellipse">
                  <a:avLst/>
                </a:prstGeom>
                <a:gradFill flip="none" rotWithShape="1">
                  <a:gsLst>
                    <a:gs pos="100000">
                      <a:srgbClr val="399A91"/>
                    </a:gs>
                    <a:gs pos="15000">
                      <a:srgbClr val="0078D4"/>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137160" tIns="18288" rIns="137160" bIns="54864"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800" b="1" err="1">
                    <a:ln w="3175">
                      <a:noFill/>
                    </a:ln>
                    <a:gradFill>
                      <a:gsLst>
                        <a:gs pos="53147">
                          <a:srgbClr val="FFFFFF"/>
                        </a:gs>
                        <a:gs pos="28000">
                          <a:srgbClr val="FFFFFF"/>
                        </a:gs>
                      </a:gsLst>
                      <a:path path="circle">
                        <a:fillToRect l="100000" b="100000"/>
                      </a:path>
                    </a:gradFill>
                    <a:latin typeface="+mj-lt"/>
                    <a:cs typeface="Segoe UI" pitchFamily="34" charset="0"/>
                  </a:endParaRPr>
                </a:p>
              </p:txBody>
            </p:sp>
            <p:pic>
              <p:nvPicPr>
                <p:cNvPr id="9" name="Graphic 8" descr="Construction Barricade with solid fill">
                  <a:extLst>
                    <a:ext uri="{FF2B5EF4-FFF2-40B4-BE49-F238E27FC236}">
                      <a16:creationId xmlns:a16="http://schemas.microsoft.com/office/drawing/2014/main" id="{91C7CD55-EE67-8880-8B87-DF7B3073543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22250" y="2647170"/>
                  <a:ext cx="260536" cy="260536"/>
                </a:xfrm>
                <a:prstGeom prst="rect">
                  <a:avLst/>
                </a:prstGeom>
              </p:spPr>
            </p:pic>
          </p:grpSp>
        </p:grpSp>
      </p:grpSp>
      <p:grpSp>
        <p:nvGrpSpPr>
          <p:cNvPr id="10" name="Group 9" descr="AKS&#10;Arc">
            <a:extLst>
              <a:ext uri="{FF2B5EF4-FFF2-40B4-BE49-F238E27FC236}">
                <a16:creationId xmlns:a16="http://schemas.microsoft.com/office/drawing/2014/main" id="{AA532B03-6785-9711-18B5-06BBE4E52AF4}"/>
              </a:ext>
            </a:extLst>
          </p:cNvPr>
          <p:cNvGrpSpPr/>
          <p:nvPr/>
        </p:nvGrpSpPr>
        <p:grpSpPr>
          <a:xfrm>
            <a:off x="5924142" y="2065486"/>
            <a:ext cx="2174482" cy="992062"/>
            <a:chOff x="10428942" y="2336882"/>
            <a:chExt cx="1124577" cy="576740"/>
          </a:xfrm>
        </p:grpSpPr>
        <p:pic>
          <p:nvPicPr>
            <p:cNvPr id="11" name="Graphic 10">
              <a:extLst>
                <a:ext uri="{FF2B5EF4-FFF2-40B4-BE49-F238E27FC236}">
                  <a16:creationId xmlns:a16="http://schemas.microsoft.com/office/drawing/2014/main" id="{34DC07BC-AAE6-CEA7-1C93-8D421E2C47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66013" y="2349957"/>
              <a:ext cx="375034" cy="375034"/>
            </a:xfrm>
            <a:prstGeom prst="rect">
              <a:avLst/>
            </a:prstGeom>
          </p:spPr>
        </p:pic>
        <p:sp>
          <p:nvSpPr>
            <p:cNvPr id="12" name="TextBox 11">
              <a:extLst>
                <a:ext uri="{FF2B5EF4-FFF2-40B4-BE49-F238E27FC236}">
                  <a16:creationId xmlns:a16="http://schemas.microsoft.com/office/drawing/2014/main" id="{B39CD7E1-9E39-6675-7A44-89B564F5DB9C}"/>
                </a:ext>
              </a:extLst>
            </p:cNvPr>
            <p:cNvSpPr txBox="1"/>
            <p:nvPr/>
          </p:nvSpPr>
          <p:spPr>
            <a:xfrm>
              <a:off x="10428942" y="2758490"/>
              <a:ext cx="421910" cy="155132"/>
            </a:xfrm>
            <a:prstGeom prst="rect">
              <a:avLst/>
            </a:prstGeom>
            <a:noFill/>
          </p:spPr>
          <p:txBody>
            <a:bodyPr wrap="square" rtlCol="0">
              <a:spAutoFit/>
            </a:bodyPr>
            <a:lstStyle>
              <a:defPPr>
                <a:defRPr lang="en-US"/>
              </a:defPPr>
              <a:lvl1pPr algn="ctr">
                <a:defRPr sz="1400" b="1">
                  <a:solidFill>
                    <a:schemeClr val="tx1">
                      <a:lumMod val="65000"/>
                      <a:lumOff val="35000"/>
                    </a:schemeClr>
                  </a:solidFill>
                </a:defRPr>
              </a:lvl1pPr>
            </a:lstStyle>
            <a:p>
              <a:r>
                <a:rPr lang="en-US"/>
                <a:t>AKS</a:t>
              </a:r>
            </a:p>
          </p:txBody>
        </p:sp>
        <p:pic>
          <p:nvPicPr>
            <p:cNvPr id="13" name="Graphic 12">
              <a:extLst>
                <a:ext uri="{FF2B5EF4-FFF2-40B4-BE49-F238E27FC236}">
                  <a16:creationId xmlns:a16="http://schemas.microsoft.com/office/drawing/2014/main" id="{95A4BFB8-CD7F-99A9-DB0F-9B27BC9BF91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174576" y="2336882"/>
              <a:ext cx="378943" cy="378943"/>
            </a:xfrm>
            <a:prstGeom prst="rect">
              <a:avLst/>
            </a:prstGeom>
          </p:spPr>
        </p:pic>
        <p:sp>
          <p:nvSpPr>
            <p:cNvPr id="14" name="TextBox 13">
              <a:extLst>
                <a:ext uri="{FF2B5EF4-FFF2-40B4-BE49-F238E27FC236}">
                  <a16:creationId xmlns:a16="http://schemas.microsoft.com/office/drawing/2014/main" id="{6809123C-20F5-8659-5317-9C30389FF8CF}"/>
                </a:ext>
              </a:extLst>
            </p:cNvPr>
            <p:cNvSpPr txBox="1"/>
            <p:nvPr/>
          </p:nvSpPr>
          <p:spPr>
            <a:xfrm>
              <a:off x="11163491" y="2758490"/>
              <a:ext cx="380233" cy="155132"/>
            </a:xfrm>
            <a:prstGeom prst="rect">
              <a:avLst/>
            </a:prstGeom>
            <a:noFill/>
          </p:spPr>
          <p:txBody>
            <a:bodyPr wrap="square" rtlCol="0">
              <a:spAutoFit/>
            </a:bodyPr>
            <a:lstStyle>
              <a:defPPr>
                <a:defRPr lang="en-US"/>
              </a:defPPr>
              <a:lvl1pPr algn="ctr">
                <a:defRPr sz="1400" b="1">
                  <a:solidFill>
                    <a:schemeClr val="tx1">
                      <a:lumMod val="65000"/>
                      <a:lumOff val="35000"/>
                    </a:schemeClr>
                  </a:solidFill>
                </a:defRPr>
              </a:lvl1pPr>
            </a:lstStyle>
            <a:p>
              <a:r>
                <a:rPr lang="en-US"/>
                <a:t>Arc</a:t>
              </a:r>
            </a:p>
          </p:txBody>
        </p:sp>
      </p:grpSp>
      <p:sp>
        <p:nvSpPr>
          <p:cNvPr id="15" name="TextBox 14">
            <a:extLst>
              <a:ext uri="{FF2B5EF4-FFF2-40B4-BE49-F238E27FC236}">
                <a16:creationId xmlns:a16="http://schemas.microsoft.com/office/drawing/2014/main" id="{4269E909-B83A-9DBE-46AB-39546DA27307}"/>
              </a:ext>
            </a:extLst>
          </p:cNvPr>
          <p:cNvSpPr txBox="1"/>
          <p:nvPr/>
        </p:nvSpPr>
        <p:spPr>
          <a:xfrm>
            <a:off x="4097502" y="3049555"/>
            <a:ext cx="7086312" cy="2126736"/>
          </a:xfrm>
          <a:prstGeom prst="rect">
            <a:avLst/>
          </a:prstGeom>
          <a:noFill/>
        </p:spPr>
        <p:txBody>
          <a:bodyPr wrap="square" lIns="182880" tIns="146304" rIns="182880" bIns="146304" rtlCol="0">
            <a:spAutoFit/>
          </a:bodyPr>
          <a:lstStyle/>
          <a:p>
            <a:pPr defTabSz="914400" fontAlgn="base">
              <a:lnSpc>
                <a:spcPct val="90000"/>
              </a:lnSpc>
              <a:spcBef>
                <a:spcPct val="0"/>
              </a:spcBef>
              <a:spcAft>
                <a:spcPts val="1200"/>
              </a:spcAft>
              <a:buSzPct val="90000"/>
              <a:defRPr/>
            </a:pPr>
            <a:r>
              <a:rPr lang="en-US" sz="2800" b="1">
                <a:ln w="3175">
                  <a:noFill/>
                </a:ln>
                <a:latin typeface="Segoe UI (Body)"/>
                <a:cs typeface="Segoe UI" panose="020B0502040204020203" pitchFamily="34" charset="0"/>
              </a:rPr>
              <a:t>Monitor and keep runtime environments clean and secure.</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Monitor for abnormal activity</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Continuously scan for vulnerabilities and malware</a:t>
            </a:r>
          </a:p>
          <a:p>
            <a:pPr marL="171450" indent="-171450">
              <a:lnSpc>
                <a:spcPct val="90000"/>
              </a:lnSpc>
              <a:spcAft>
                <a:spcPts val="600"/>
              </a:spcAft>
              <a:buFont typeface="Arial" panose="020B0604020202020204" pitchFamily="34" charset="0"/>
              <a:buChar char="•"/>
            </a:pPr>
            <a:r>
              <a:rPr lang="en-US">
                <a:solidFill>
                  <a:schemeClr val="accent6"/>
                </a:solidFill>
                <a:cs typeface="Segoe UI Semibold" panose="020B0702040204020203" pitchFamily="34" charset="0"/>
              </a:rPr>
              <a:t>Keep runtime nodes clean</a:t>
            </a:r>
          </a:p>
        </p:txBody>
      </p:sp>
      <p:grpSp>
        <p:nvGrpSpPr>
          <p:cNvPr id="16" name="Group 15" descr="Defender">
            <a:extLst>
              <a:ext uri="{FF2B5EF4-FFF2-40B4-BE49-F238E27FC236}">
                <a16:creationId xmlns:a16="http://schemas.microsoft.com/office/drawing/2014/main" id="{9F0EEB2E-CAAB-DE89-4490-7980C48DA24D}"/>
              </a:ext>
            </a:extLst>
          </p:cNvPr>
          <p:cNvGrpSpPr/>
          <p:nvPr/>
        </p:nvGrpSpPr>
        <p:grpSpPr>
          <a:xfrm>
            <a:off x="4375182" y="5660029"/>
            <a:ext cx="718866" cy="852917"/>
            <a:chOff x="3507675" y="5482626"/>
            <a:chExt cx="718866" cy="852917"/>
          </a:xfrm>
        </p:grpSpPr>
        <p:pic>
          <p:nvPicPr>
            <p:cNvPr id="17" name="Graphic 16">
              <a:extLst>
                <a:ext uri="{FF2B5EF4-FFF2-40B4-BE49-F238E27FC236}">
                  <a16:creationId xmlns:a16="http://schemas.microsoft.com/office/drawing/2014/main" id="{F701A8E3-C6C7-F0D8-86FA-66D90144A05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557422" y="5482626"/>
              <a:ext cx="619372" cy="632946"/>
            </a:xfrm>
            <a:prstGeom prst="rect">
              <a:avLst/>
            </a:prstGeom>
          </p:spPr>
        </p:pic>
        <p:sp>
          <p:nvSpPr>
            <p:cNvPr id="18" name="TextBox 17">
              <a:extLst>
                <a:ext uri="{FF2B5EF4-FFF2-40B4-BE49-F238E27FC236}">
                  <a16:creationId xmlns:a16="http://schemas.microsoft.com/office/drawing/2014/main" id="{C56D858C-82A4-29C7-C526-CD100A041E5F}"/>
                </a:ext>
              </a:extLst>
            </p:cNvPr>
            <p:cNvSpPr txBox="1"/>
            <p:nvPr/>
          </p:nvSpPr>
          <p:spPr>
            <a:xfrm>
              <a:off x="3507675" y="6104711"/>
              <a:ext cx="718866" cy="230832"/>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Defender</a:t>
              </a:r>
            </a:p>
          </p:txBody>
        </p:sp>
      </p:grpSp>
      <p:grpSp>
        <p:nvGrpSpPr>
          <p:cNvPr id="19" name="Group 18" descr="Gatekeeper">
            <a:extLst>
              <a:ext uri="{FF2B5EF4-FFF2-40B4-BE49-F238E27FC236}">
                <a16:creationId xmlns:a16="http://schemas.microsoft.com/office/drawing/2014/main" id="{E0BB914B-482A-3B48-8921-8C41C2612CC8}"/>
              </a:ext>
            </a:extLst>
          </p:cNvPr>
          <p:cNvGrpSpPr/>
          <p:nvPr/>
        </p:nvGrpSpPr>
        <p:grpSpPr>
          <a:xfrm>
            <a:off x="5438831" y="5654412"/>
            <a:ext cx="803760" cy="852917"/>
            <a:chOff x="4536643" y="5482626"/>
            <a:chExt cx="803760" cy="852917"/>
          </a:xfrm>
        </p:grpSpPr>
        <p:pic>
          <p:nvPicPr>
            <p:cNvPr id="20" name="Picture 19" descr="A helmet with horns on it&#10;&#10;Description automatically generated">
              <a:extLst>
                <a:ext uri="{FF2B5EF4-FFF2-40B4-BE49-F238E27FC236}">
                  <a16:creationId xmlns:a16="http://schemas.microsoft.com/office/drawing/2014/main" id="{4FEDE436-5207-B802-2B8F-1CA205F56213}"/>
                </a:ext>
              </a:extLst>
            </p:cNvPr>
            <p:cNvPicPr>
              <a:picLocks noChangeAspect="1"/>
            </p:cNvPicPr>
            <p:nvPr/>
          </p:nvPicPr>
          <p:blipFill>
            <a:blip r:embed="rId11"/>
            <a:stretch>
              <a:fillRect/>
            </a:stretch>
          </p:blipFill>
          <p:spPr>
            <a:xfrm>
              <a:off x="4649253" y="5482626"/>
              <a:ext cx="578541" cy="632946"/>
            </a:xfrm>
            <a:prstGeom prst="rect">
              <a:avLst/>
            </a:prstGeom>
          </p:spPr>
        </p:pic>
        <p:sp>
          <p:nvSpPr>
            <p:cNvPr id="21" name="TextBox 20">
              <a:extLst>
                <a:ext uri="{FF2B5EF4-FFF2-40B4-BE49-F238E27FC236}">
                  <a16:creationId xmlns:a16="http://schemas.microsoft.com/office/drawing/2014/main" id="{9A3A71C4-A20B-74B9-5B81-C83B9BBCF019}"/>
                </a:ext>
              </a:extLst>
            </p:cNvPr>
            <p:cNvSpPr txBox="1"/>
            <p:nvPr/>
          </p:nvSpPr>
          <p:spPr>
            <a:xfrm>
              <a:off x="4536643" y="6104711"/>
              <a:ext cx="803760" cy="230832"/>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Gatekeeper</a:t>
              </a:r>
            </a:p>
          </p:txBody>
        </p:sp>
      </p:grpSp>
      <p:grpSp>
        <p:nvGrpSpPr>
          <p:cNvPr id="22" name="Group 21" descr="Ratify">
            <a:extLst>
              <a:ext uri="{FF2B5EF4-FFF2-40B4-BE49-F238E27FC236}">
                <a16:creationId xmlns:a16="http://schemas.microsoft.com/office/drawing/2014/main" id="{94F953BA-19D4-11D2-AA76-F1506E25D691}"/>
              </a:ext>
            </a:extLst>
          </p:cNvPr>
          <p:cNvGrpSpPr/>
          <p:nvPr/>
        </p:nvGrpSpPr>
        <p:grpSpPr>
          <a:xfrm>
            <a:off x="6587374" y="5655121"/>
            <a:ext cx="802800" cy="851499"/>
            <a:chOff x="5520518" y="5484044"/>
            <a:chExt cx="802800" cy="851499"/>
          </a:xfrm>
        </p:grpSpPr>
        <p:pic>
          <p:nvPicPr>
            <p:cNvPr id="23" name="Graphic 22">
              <a:extLst>
                <a:ext uri="{FF2B5EF4-FFF2-40B4-BE49-F238E27FC236}">
                  <a16:creationId xmlns:a16="http://schemas.microsoft.com/office/drawing/2014/main" id="{547689BD-3D2F-CC5B-E5DF-E221E351081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608409" y="5484044"/>
              <a:ext cx="627018" cy="631528"/>
            </a:xfrm>
            <a:prstGeom prst="rect">
              <a:avLst/>
            </a:prstGeom>
          </p:spPr>
        </p:pic>
        <p:sp>
          <p:nvSpPr>
            <p:cNvPr id="24" name="TextBox 23">
              <a:extLst>
                <a:ext uri="{FF2B5EF4-FFF2-40B4-BE49-F238E27FC236}">
                  <a16:creationId xmlns:a16="http://schemas.microsoft.com/office/drawing/2014/main" id="{05E41D05-5F45-1189-B5B7-70276B696AB2}"/>
                </a:ext>
              </a:extLst>
            </p:cNvPr>
            <p:cNvSpPr txBox="1"/>
            <p:nvPr/>
          </p:nvSpPr>
          <p:spPr>
            <a:xfrm>
              <a:off x="5520518" y="6104711"/>
              <a:ext cx="802800" cy="230832"/>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Ratify</a:t>
              </a:r>
            </a:p>
          </p:txBody>
        </p:sp>
      </p:grpSp>
      <p:grpSp>
        <p:nvGrpSpPr>
          <p:cNvPr id="25" name="Group 24" descr="Azure policy">
            <a:extLst>
              <a:ext uri="{FF2B5EF4-FFF2-40B4-BE49-F238E27FC236}">
                <a16:creationId xmlns:a16="http://schemas.microsoft.com/office/drawing/2014/main" id="{14B12580-574C-FD5F-5370-FD5E85793A3D}"/>
              </a:ext>
            </a:extLst>
          </p:cNvPr>
          <p:cNvGrpSpPr/>
          <p:nvPr/>
        </p:nvGrpSpPr>
        <p:grpSpPr>
          <a:xfrm>
            <a:off x="7734957" y="5654413"/>
            <a:ext cx="803760" cy="852915"/>
            <a:chOff x="6663404" y="5482628"/>
            <a:chExt cx="803760" cy="852915"/>
          </a:xfrm>
        </p:grpSpPr>
        <p:pic>
          <p:nvPicPr>
            <p:cNvPr id="26" name="Graphic 25">
              <a:extLst>
                <a:ext uri="{FF2B5EF4-FFF2-40B4-BE49-F238E27FC236}">
                  <a16:creationId xmlns:a16="http://schemas.microsoft.com/office/drawing/2014/main" id="{B2BBB492-7316-9C3C-2437-F3E220E279F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776014" y="5482628"/>
              <a:ext cx="578541" cy="632944"/>
            </a:xfrm>
            <a:prstGeom prst="rect">
              <a:avLst/>
            </a:prstGeom>
          </p:spPr>
        </p:pic>
        <p:sp>
          <p:nvSpPr>
            <p:cNvPr id="27" name="TextBox 26">
              <a:extLst>
                <a:ext uri="{FF2B5EF4-FFF2-40B4-BE49-F238E27FC236}">
                  <a16:creationId xmlns:a16="http://schemas.microsoft.com/office/drawing/2014/main" id="{499063BD-5007-B926-24F9-EBC04241665D}"/>
                </a:ext>
              </a:extLst>
            </p:cNvPr>
            <p:cNvSpPr txBox="1"/>
            <p:nvPr/>
          </p:nvSpPr>
          <p:spPr>
            <a:xfrm>
              <a:off x="6663404" y="6104711"/>
              <a:ext cx="803760" cy="230832"/>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Azure</a:t>
              </a:r>
              <a:r>
                <a:rPr lang="en-US" sz="900">
                  <a:solidFill>
                    <a:schemeClr val="tx1">
                      <a:lumMod val="65000"/>
                      <a:lumOff val="35000"/>
                    </a:schemeClr>
                  </a:solidFill>
                </a:rPr>
                <a:t> </a:t>
              </a:r>
              <a:r>
                <a:rPr lang="en-US" sz="900">
                  <a:solidFill>
                    <a:schemeClr val="accent6"/>
                  </a:solidFill>
                  <a:cs typeface="Segoe UI Semibold" panose="020B0702040204020203" pitchFamily="34" charset="0"/>
                </a:rPr>
                <a:t>Policy</a:t>
              </a:r>
            </a:p>
          </p:txBody>
        </p:sp>
      </p:grpSp>
      <p:grpSp>
        <p:nvGrpSpPr>
          <p:cNvPr id="28" name="Group 27" descr="Kubernetes">
            <a:extLst>
              <a:ext uri="{FF2B5EF4-FFF2-40B4-BE49-F238E27FC236}">
                <a16:creationId xmlns:a16="http://schemas.microsoft.com/office/drawing/2014/main" id="{13C40552-338C-4E9E-7DA1-9F3EA773E0B9}"/>
              </a:ext>
            </a:extLst>
          </p:cNvPr>
          <p:cNvGrpSpPr/>
          <p:nvPr/>
        </p:nvGrpSpPr>
        <p:grpSpPr>
          <a:xfrm>
            <a:off x="8883499" y="5648794"/>
            <a:ext cx="802800" cy="864152"/>
            <a:chOff x="8015992" y="5471391"/>
            <a:chExt cx="802800" cy="864152"/>
          </a:xfrm>
        </p:grpSpPr>
        <p:pic>
          <p:nvPicPr>
            <p:cNvPr id="29" name="Picture 28" descr="A blue hexagon with a white wheel&#10;&#10;Description automatically generated">
              <a:extLst>
                <a:ext uri="{FF2B5EF4-FFF2-40B4-BE49-F238E27FC236}">
                  <a16:creationId xmlns:a16="http://schemas.microsoft.com/office/drawing/2014/main" id="{58954C64-ABEB-DD35-3D75-91B6EBA33168}"/>
                </a:ext>
              </a:extLst>
            </p:cNvPr>
            <p:cNvPicPr>
              <a:picLocks noChangeAspect="1"/>
            </p:cNvPicPr>
            <p:nvPr/>
          </p:nvPicPr>
          <p:blipFill rotWithShape="1">
            <a:blip r:embed="rId16"/>
            <a:srcRect l="21110" r="21110"/>
            <a:stretch/>
          </p:blipFill>
          <p:spPr>
            <a:xfrm>
              <a:off x="8114975" y="5471391"/>
              <a:ext cx="604834" cy="644181"/>
            </a:xfrm>
            <a:prstGeom prst="rect">
              <a:avLst/>
            </a:prstGeom>
          </p:spPr>
        </p:pic>
        <p:sp>
          <p:nvSpPr>
            <p:cNvPr id="30" name="TextBox 29">
              <a:extLst>
                <a:ext uri="{FF2B5EF4-FFF2-40B4-BE49-F238E27FC236}">
                  <a16:creationId xmlns:a16="http://schemas.microsoft.com/office/drawing/2014/main" id="{96FA5F05-57F9-A0E6-50F0-B2B762CCEAAC}"/>
                </a:ext>
              </a:extLst>
            </p:cNvPr>
            <p:cNvSpPr txBox="1"/>
            <p:nvPr/>
          </p:nvSpPr>
          <p:spPr>
            <a:xfrm>
              <a:off x="8015992" y="6104711"/>
              <a:ext cx="802800" cy="230832"/>
            </a:xfrm>
            <a:prstGeom prst="rect">
              <a:avLst/>
            </a:prstGeom>
            <a:noFill/>
          </p:spPr>
          <p:txBody>
            <a:bodyPr wrap="square" rtlCol="0">
              <a:spAutoFit/>
            </a:bodyPr>
            <a:lstStyle/>
            <a:p>
              <a:pPr algn="ctr"/>
              <a:r>
                <a:rPr lang="en-US" sz="900">
                  <a:solidFill>
                    <a:schemeClr val="accent6"/>
                  </a:solidFill>
                  <a:cs typeface="Segoe UI Semibold" panose="020B0702040204020203" pitchFamily="34" charset="0"/>
                </a:rPr>
                <a:t>Kubernetes</a:t>
              </a:r>
            </a:p>
          </p:txBody>
        </p:sp>
      </p:grpSp>
      <p:sp>
        <p:nvSpPr>
          <p:cNvPr id="31" name="TextBox 30">
            <a:extLst>
              <a:ext uri="{FF2B5EF4-FFF2-40B4-BE49-F238E27FC236}">
                <a16:creationId xmlns:a16="http://schemas.microsoft.com/office/drawing/2014/main" id="{301F8961-8628-74D6-3163-A5943E9CFD97}"/>
              </a:ext>
            </a:extLst>
          </p:cNvPr>
          <p:cNvSpPr txBox="1"/>
          <p:nvPr/>
        </p:nvSpPr>
        <p:spPr>
          <a:xfrm>
            <a:off x="9799570" y="6275788"/>
            <a:ext cx="745327" cy="230832"/>
          </a:xfrm>
          <a:prstGeom prst="rect">
            <a:avLst/>
          </a:prstGeom>
          <a:solidFill>
            <a:schemeClr val="bg1"/>
          </a:solidFill>
        </p:spPr>
        <p:txBody>
          <a:bodyPr wrap="square" rtlCol="0" anchor="ctr">
            <a:spAutoFit/>
          </a:bodyPr>
          <a:lstStyle/>
          <a:p>
            <a:pPr algn="ctr"/>
            <a:r>
              <a:rPr lang="en-CA" sz="900" err="1">
                <a:solidFill>
                  <a:schemeClr val="accent6"/>
                </a:solidFill>
                <a:cs typeface="Segoe UI Semibold" panose="020B0702040204020203" pitchFamily="34" charset="0"/>
              </a:rPr>
              <a:t>Kyverno</a:t>
            </a:r>
            <a:endParaRPr lang="en-US" sz="900">
              <a:solidFill>
                <a:schemeClr val="accent6"/>
              </a:solidFill>
              <a:cs typeface="Segoe UI Semibold" panose="020B0702040204020203" pitchFamily="34" charset="0"/>
            </a:endParaRPr>
          </a:p>
        </p:txBody>
      </p:sp>
      <p:pic>
        <p:nvPicPr>
          <p:cNvPr id="32" name="Picture 2">
            <a:extLst>
              <a:ext uri="{FF2B5EF4-FFF2-40B4-BE49-F238E27FC236}">
                <a16:creationId xmlns:a16="http://schemas.microsoft.com/office/drawing/2014/main" id="{5E62E464-4EB4-9E2C-6353-58BFBE501DE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799570" y="5586131"/>
            <a:ext cx="762404" cy="76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60534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09D38-219F-532E-BD60-33ACA9EA001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2A9D3F6-57CF-05B8-FD45-6835E8085B86}"/>
              </a:ext>
            </a:extLst>
          </p:cNvPr>
          <p:cNvSpPr>
            <a:spLocks noGrp="1"/>
          </p:cNvSpPr>
          <p:nvPr>
            <p:ph type="title"/>
          </p:nvPr>
        </p:nvSpPr>
        <p:spPr/>
        <p:txBody>
          <a:bodyPr/>
          <a:lstStyle/>
          <a:p>
            <a:r>
              <a:rPr lang="en-US"/>
              <a:t>Authenticity &amp; Integrity</a:t>
            </a:r>
          </a:p>
        </p:txBody>
      </p:sp>
      <p:grpSp>
        <p:nvGrpSpPr>
          <p:cNvPr id="33" name="Group 32">
            <a:extLst>
              <a:ext uri="{FF2B5EF4-FFF2-40B4-BE49-F238E27FC236}">
                <a16:creationId xmlns:a16="http://schemas.microsoft.com/office/drawing/2014/main" id="{EA69F516-ADD4-4A58-6CAD-59682A5972F3}"/>
              </a:ext>
              <a:ext uri="{C183D7F6-B498-43B3-948B-1728B52AA6E4}">
                <adec:decorative xmlns:adec="http://schemas.microsoft.com/office/drawing/2017/decorative" val="1"/>
              </a:ext>
            </a:extLst>
          </p:cNvPr>
          <p:cNvGrpSpPr/>
          <p:nvPr/>
        </p:nvGrpSpPr>
        <p:grpSpPr>
          <a:xfrm>
            <a:off x="1749761" y="5402202"/>
            <a:ext cx="1102137" cy="456854"/>
            <a:chOff x="1583010" y="4663648"/>
            <a:chExt cx="1102137" cy="456854"/>
          </a:xfrm>
        </p:grpSpPr>
        <p:pic>
          <p:nvPicPr>
            <p:cNvPr id="34" name="Graphic 33">
              <a:extLst>
                <a:ext uri="{FF2B5EF4-FFF2-40B4-BE49-F238E27FC236}">
                  <a16:creationId xmlns:a16="http://schemas.microsoft.com/office/drawing/2014/main" id="{ED48A32E-FD0D-EB6C-181D-52FF864E36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55194" y="4677099"/>
              <a:ext cx="429953" cy="429953"/>
            </a:xfrm>
            <a:prstGeom prst="rect">
              <a:avLst/>
            </a:prstGeom>
          </p:spPr>
        </p:pic>
        <p:grpSp>
          <p:nvGrpSpPr>
            <p:cNvPr id="35" name="Group 34">
              <a:extLst>
                <a:ext uri="{FF2B5EF4-FFF2-40B4-BE49-F238E27FC236}">
                  <a16:creationId xmlns:a16="http://schemas.microsoft.com/office/drawing/2014/main" id="{BC96BDF9-B078-6B4C-7702-4499689B259C}"/>
                </a:ext>
              </a:extLst>
            </p:cNvPr>
            <p:cNvGrpSpPr/>
            <p:nvPr/>
          </p:nvGrpSpPr>
          <p:grpSpPr>
            <a:xfrm>
              <a:off x="1583010" y="4663648"/>
              <a:ext cx="509570" cy="456854"/>
              <a:chOff x="1564576" y="5023335"/>
              <a:chExt cx="509570" cy="456854"/>
            </a:xfrm>
          </p:grpSpPr>
          <p:pic>
            <p:nvPicPr>
              <p:cNvPr id="36" name="Graphic 35">
                <a:extLst>
                  <a:ext uri="{FF2B5EF4-FFF2-40B4-BE49-F238E27FC236}">
                    <a16:creationId xmlns:a16="http://schemas.microsoft.com/office/drawing/2014/main" id="{BC748D77-03E9-68FF-24AE-276AD05C9D4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5746" y="5023335"/>
                <a:ext cx="428400" cy="428400"/>
              </a:xfrm>
              <a:prstGeom prst="rect">
                <a:avLst/>
              </a:prstGeom>
            </p:spPr>
          </p:pic>
          <p:grpSp>
            <p:nvGrpSpPr>
              <p:cNvPr id="37" name="Group 36">
                <a:extLst>
                  <a:ext uri="{FF2B5EF4-FFF2-40B4-BE49-F238E27FC236}">
                    <a16:creationId xmlns:a16="http://schemas.microsoft.com/office/drawing/2014/main" id="{5CFBA047-DBEF-6402-6B8E-C40ADF78FB60}"/>
                  </a:ext>
                </a:extLst>
              </p:cNvPr>
              <p:cNvGrpSpPr/>
              <p:nvPr/>
            </p:nvGrpSpPr>
            <p:grpSpPr>
              <a:xfrm>
                <a:off x="1564576" y="5236349"/>
                <a:ext cx="243840" cy="243840"/>
                <a:chOff x="6976200" y="314960"/>
                <a:chExt cx="487680" cy="487680"/>
              </a:xfrm>
            </p:grpSpPr>
            <p:sp>
              <p:nvSpPr>
                <p:cNvPr id="38" name="Oval 37">
                  <a:extLst>
                    <a:ext uri="{FF2B5EF4-FFF2-40B4-BE49-F238E27FC236}">
                      <a16:creationId xmlns:a16="http://schemas.microsoft.com/office/drawing/2014/main" id="{0009A6A7-3E83-39CB-EF7E-7AAF58D09177}"/>
                    </a:ext>
                  </a:extLst>
                </p:cNvPr>
                <p:cNvSpPr/>
                <p:nvPr/>
              </p:nvSpPr>
              <p:spPr bwMode="auto">
                <a:xfrm>
                  <a:off x="6976200" y="314960"/>
                  <a:ext cx="487680" cy="48768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39" name="Graphic 38">
                  <a:extLst>
                    <a:ext uri="{FF2B5EF4-FFF2-40B4-BE49-F238E27FC236}">
                      <a16:creationId xmlns:a16="http://schemas.microsoft.com/office/drawing/2014/main" id="{ACE5E0D2-9680-987B-EF4D-8EF96C72AC1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1664" y="340424"/>
                  <a:ext cx="436756" cy="436756"/>
                </a:xfrm>
                <a:prstGeom prst="rect">
                  <a:avLst/>
                </a:prstGeom>
              </p:spPr>
            </p:pic>
          </p:grpSp>
        </p:grpSp>
      </p:grpSp>
      <p:sp>
        <p:nvSpPr>
          <p:cNvPr id="40" name="Rectangle: Rounded Corners 142">
            <a:extLst>
              <a:ext uri="{FF2B5EF4-FFF2-40B4-BE49-F238E27FC236}">
                <a16:creationId xmlns:a16="http://schemas.microsoft.com/office/drawing/2014/main" id="{059547A3-410C-DDF4-E478-74246016BD9C}"/>
              </a:ext>
              <a:ext uri="{C183D7F6-B498-43B3-948B-1728B52AA6E4}">
                <adec:decorative xmlns:adec="http://schemas.microsoft.com/office/drawing/2017/decorative" val="1"/>
              </a:ext>
            </a:extLst>
          </p:cNvPr>
          <p:cNvSpPr>
            <a:spLocks/>
          </p:cNvSpPr>
          <p:nvPr/>
        </p:nvSpPr>
        <p:spPr bwMode="auto">
          <a:xfrm>
            <a:off x="1318660"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41" name="Rectangle: Rounded Corners 142">
            <a:extLst>
              <a:ext uri="{FF2B5EF4-FFF2-40B4-BE49-F238E27FC236}">
                <a16:creationId xmlns:a16="http://schemas.microsoft.com/office/drawing/2014/main" id="{8F974DBD-921B-585A-2DEC-0CDD1BCE8C3C}"/>
              </a:ext>
              <a:ext uri="{C183D7F6-B498-43B3-948B-1728B52AA6E4}">
                <adec:decorative xmlns:adec="http://schemas.microsoft.com/office/drawing/2017/decorative" val="1"/>
              </a:ext>
            </a:extLst>
          </p:cNvPr>
          <p:cNvSpPr>
            <a:spLocks/>
          </p:cNvSpPr>
          <p:nvPr/>
        </p:nvSpPr>
        <p:spPr bwMode="auto">
          <a:xfrm>
            <a:off x="3396411"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42" name="Rectangle: Rounded Corners 142">
            <a:extLst>
              <a:ext uri="{FF2B5EF4-FFF2-40B4-BE49-F238E27FC236}">
                <a16:creationId xmlns:a16="http://schemas.microsoft.com/office/drawing/2014/main" id="{BEFD98B9-B35C-C8FF-FCBD-BD5248A3D398}"/>
              </a:ext>
              <a:ext uri="{C183D7F6-B498-43B3-948B-1728B52AA6E4}">
                <adec:decorative xmlns:adec="http://schemas.microsoft.com/office/drawing/2017/decorative" val="1"/>
              </a:ext>
            </a:extLst>
          </p:cNvPr>
          <p:cNvSpPr>
            <a:spLocks/>
          </p:cNvSpPr>
          <p:nvPr/>
        </p:nvSpPr>
        <p:spPr bwMode="auto">
          <a:xfrm>
            <a:off x="5474162"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43" name="Rectangle: Rounded Corners 142">
            <a:extLst>
              <a:ext uri="{FF2B5EF4-FFF2-40B4-BE49-F238E27FC236}">
                <a16:creationId xmlns:a16="http://schemas.microsoft.com/office/drawing/2014/main" id="{BB583754-68CC-24DB-D458-444C59AD2F15}"/>
              </a:ext>
              <a:ext uri="{C183D7F6-B498-43B3-948B-1728B52AA6E4}">
                <adec:decorative xmlns:adec="http://schemas.microsoft.com/office/drawing/2017/decorative" val="1"/>
              </a:ext>
            </a:extLst>
          </p:cNvPr>
          <p:cNvSpPr>
            <a:spLocks/>
          </p:cNvSpPr>
          <p:nvPr/>
        </p:nvSpPr>
        <p:spPr bwMode="auto">
          <a:xfrm>
            <a:off x="7551913"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pic>
        <p:nvPicPr>
          <p:cNvPr id="44" name="Graphic 43">
            <a:extLst>
              <a:ext uri="{FF2B5EF4-FFF2-40B4-BE49-F238E27FC236}">
                <a16:creationId xmlns:a16="http://schemas.microsoft.com/office/drawing/2014/main" id="{D90F8F35-9582-23A3-8069-2CD3B19279B2}"/>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6205" y="3222005"/>
            <a:ext cx="353498" cy="353496"/>
          </a:xfrm>
          <a:prstGeom prst="rect">
            <a:avLst/>
          </a:prstGeom>
        </p:spPr>
      </p:pic>
      <p:sp>
        <p:nvSpPr>
          <p:cNvPr id="45" name="Rectangle: Rounded Corners 142">
            <a:extLst>
              <a:ext uri="{FF2B5EF4-FFF2-40B4-BE49-F238E27FC236}">
                <a16:creationId xmlns:a16="http://schemas.microsoft.com/office/drawing/2014/main" id="{D5AC987F-633F-F717-493F-493037F9F602}"/>
              </a:ext>
              <a:ext uri="{C183D7F6-B498-43B3-948B-1728B52AA6E4}">
                <adec:decorative xmlns:adec="http://schemas.microsoft.com/office/drawing/2017/decorative" val="1"/>
              </a:ext>
            </a:extLst>
          </p:cNvPr>
          <p:cNvSpPr>
            <a:spLocks/>
          </p:cNvSpPr>
          <p:nvPr/>
        </p:nvSpPr>
        <p:spPr bwMode="auto">
          <a:xfrm>
            <a:off x="9629662"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grpSp>
        <p:nvGrpSpPr>
          <p:cNvPr id="46" name="Group 45">
            <a:extLst>
              <a:ext uri="{FF2B5EF4-FFF2-40B4-BE49-F238E27FC236}">
                <a16:creationId xmlns:a16="http://schemas.microsoft.com/office/drawing/2014/main" id="{BA9E2A27-21B2-7619-96C6-34C476AB3F12}"/>
              </a:ext>
              <a:ext uri="{C183D7F6-B498-43B3-948B-1728B52AA6E4}">
                <adec:decorative xmlns:adec="http://schemas.microsoft.com/office/drawing/2017/decorative" val="1"/>
              </a:ext>
            </a:extLst>
          </p:cNvPr>
          <p:cNvGrpSpPr/>
          <p:nvPr/>
        </p:nvGrpSpPr>
        <p:grpSpPr>
          <a:xfrm>
            <a:off x="10322756" y="5402979"/>
            <a:ext cx="509570" cy="456854"/>
            <a:chOff x="1564576" y="5023335"/>
            <a:chExt cx="509570" cy="456854"/>
          </a:xfrm>
        </p:grpSpPr>
        <p:pic>
          <p:nvPicPr>
            <p:cNvPr id="47" name="Graphic 46">
              <a:extLst>
                <a:ext uri="{FF2B5EF4-FFF2-40B4-BE49-F238E27FC236}">
                  <a16:creationId xmlns:a16="http://schemas.microsoft.com/office/drawing/2014/main" id="{D640D0A6-D66E-F3CB-D564-2DE98BB6BC1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5746" y="5023335"/>
              <a:ext cx="428400" cy="428400"/>
            </a:xfrm>
            <a:prstGeom prst="rect">
              <a:avLst/>
            </a:prstGeom>
          </p:spPr>
        </p:pic>
        <p:grpSp>
          <p:nvGrpSpPr>
            <p:cNvPr id="48" name="Group 47">
              <a:extLst>
                <a:ext uri="{FF2B5EF4-FFF2-40B4-BE49-F238E27FC236}">
                  <a16:creationId xmlns:a16="http://schemas.microsoft.com/office/drawing/2014/main" id="{202B6251-B429-BABA-E81B-C49F6855B540}"/>
                </a:ext>
              </a:extLst>
            </p:cNvPr>
            <p:cNvGrpSpPr/>
            <p:nvPr/>
          </p:nvGrpSpPr>
          <p:grpSpPr>
            <a:xfrm>
              <a:off x="1564576" y="5236349"/>
              <a:ext cx="243840" cy="243840"/>
              <a:chOff x="6976200" y="314960"/>
              <a:chExt cx="487680" cy="487680"/>
            </a:xfrm>
          </p:grpSpPr>
          <p:sp>
            <p:nvSpPr>
              <p:cNvPr id="49" name="Oval 48">
                <a:extLst>
                  <a:ext uri="{FF2B5EF4-FFF2-40B4-BE49-F238E27FC236}">
                    <a16:creationId xmlns:a16="http://schemas.microsoft.com/office/drawing/2014/main" id="{68DDF187-6342-A62F-4E03-A97DE3CC54AB}"/>
                  </a:ext>
                </a:extLst>
              </p:cNvPr>
              <p:cNvSpPr/>
              <p:nvPr/>
            </p:nvSpPr>
            <p:spPr bwMode="auto">
              <a:xfrm>
                <a:off x="6976200" y="314960"/>
                <a:ext cx="487680" cy="48768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50" name="Graphic 49">
                <a:extLst>
                  <a:ext uri="{FF2B5EF4-FFF2-40B4-BE49-F238E27FC236}">
                    <a16:creationId xmlns:a16="http://schemas.microsoft.com/office/drawing/2014/main" id="{4C50B4E7-0DF7-6E28-E50F-98B7C61C7A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1664" y="340424"/>
                <a:ext cx="436756" cy="436756"/>
              </a:xfrm>
              <a:prstGeom prst="rect">
                <a:avLst/>
              </a:prstGeom>
            </p:spPr>
          </p:pic>
        </p:grpSp>
      </p:grpSp>
      <p:grpSp>
        <p:nvGrpSpPr>
          <p:cNvPr id="51" name="Group 50">
            <a:extLst>
              <a:ext uri="{FF2B5EF4-FFF2-40B4-BE49-F238E27FC236}">
                <a16:creationId xmlns:a16="http://schemas.microsoft.com/office/drawing/2014/main" id="{4E7B2955-7D84-76AB-C3D6-510E2878EFC6}"/>
              </a:ext>
              <a:ext uri="{C183D7F6-B498-43B3-948B-1728B52AA6E4}">
                <adec:decorative xmlns:adec="http://schemas.microsoft.com/office/drawing/2017/decorative" val="1"/>
              </a:ext>
            </a:extLst>
          </p:cNvPr>
          <p:cNvGrpSpPr/>
          <p:nvPr/>
        </p:nvGrpSpPr>
        <p:grpSpPr>
          <a:xfrm>
            <a:off x="3827512" y="5402202"/>
            <a:ext cx="1102137" cy="456854"/>
            <a:chOff x="1583010" y="4663648"/>
            <a:chExt cx="1102137" cy="456854"/>
          </a:xfrm>
        </p:grpSpPr>
        <p:pic>
          <p:nvPicPr>
            <p:cNvPr id="52" name="Graphic 51">
              <a:extLst>
                <a:ext uri="{FF2B5EF4-FFF2-40B4-BE49-F238E27FC236}">
                  <a16:creationId xmlns:a16="http://schemas.microsoft.com/office/drawing/2014/main" id="{FFC70F8F-F5D7-A698-6703-9C4EEE7DA2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55194" y="4677099"/>
              <a:ext cx="429953" cy="429953"/>
            </a:xfrm>
            <a:prstGeom prst="rect">
              <a:avLst/>
            </a:prstGeom>
          </p:spPr>
        </p:pic>
        <p:grpSp>
          <p:nvGrpSpPr>
            <p:cNvPr id="53" name="Group 52">
              <a:extLst>
                <a:ext uri="{FF2B5EF4-FFF2-40B4-BE49-F238E27FC236}">
                  <a16:creationId xmlns:a16="http://schemas.microsoft.com/office/drawing/2014/main" id="{26011D40-5536-16AB-CC62-281021F179E3}"/>
                </a:ext>
              </a:extLst>
            </p:cNvPr>
            <p:cNvGrpSpPr/>
            <p:nvPr/>
          </p:nvGrpSpPr>
          <p:grpSpPr>
            <a:xfrm>
              <a:off x="1583010" y="4663648"/>
              <a:ext cx="509570" cy="456854"/>
              <a:chOff x="1564576" y="5023335"/>
              <a:chExt cx="509570" cy="456854"/>
            </a:xfrm>
          </p:grpSpPr>
          <p:pic>
            <p:nvPicPr>
              <p:cNvPr id="54" name="Graphic 53">
                <a:extLst>
                  <a:ext uri="{FF2B5EF4-FFF2-40B4-BE49-F238E27FC236}">
                    <a16:creationId xmlns:a16="http://schemas.microsoft.com/office/drawing/2014/main" id="{FED877B3-31F6-A130-DD9A-9B75D472E1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5746" y="5023335"/>
                <a:ext cx="428400" cy="428400"/>
              </a:xfrm>
              <a:prstGeom prst="rect">
                <a:avLst/>
              </a:prstGeom>
            </p:spPr>
          </p:pic>
          <p:grpSp>
            <p:nvGrpSpPr>
              <p:cNvPr id="55" name="Group 54">
                <a:extLst>
                  <a:ext uri="{FF2B5EF4-FFF2-40B4-BE49-F238E27FC236}">
                    <a16:creationId xmlns:a16="http://schemas.microsoft.com/office/drawing/2014/main" id="{1D750AD2-BA85-960B-135E-A58142FC9512}"/>
                  </a:ext>
                </a:extLst>
              </p:cNvPr>
              <p:cNvGrpSpPr/>
              <p:nvPr/>
            </p:nvGrpSpPr>
            <p:grpSpPr>
              <a:xfrm>
                <a:off x="1564576" y="5236349"/>
                <a:ext cx="243840" cy="243840"/>
                <a:chOff x="6976200" y="314960"/>
                <a:chExt cx="487680" cy="487680"/>
              </a:xfrm>
            </p:grpSpPr>
            <p:sp>
              <p:nvSpPr>
                <p:cNvPr id="56" name="Oval 55">
                  <a:extLst>
                    <a:ext uri="{FF2B5EF4-FFF2-40B4-BE49-F238E27FC236}">
                      <a16:creationId xmlns:a16="http://schemas.microsoft.com/office/drawing/2014/main" id="{90E2A6FC-1F90-968A-7AAA-7511936F26FD}"/>
                    </a:ext>
                  </a:extLst>
                </p:cNvPr>
                <p:cNvSpPr/>
                <p:nvPr/>
              </p:nvSpPr>
              <p:spPr bwMode="auto">
                <a:xfrm>
                  <a:off x="6976200" y="314960"/>
                  <a:ext cx="487680" cy="48768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57" name="Graphic 56">
                  <a:extLst>
                    <a:ext uri="{FF2B5EF4-FFF2-40B4-BE49-F238E27FC236}">
                      <a16:creationId xmlns:a16="http://schemas.microsoft.com/office/drawing/2014/main" id="{42B6AC79-1D97-601C-35C0-70C47C7531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1664" y="340424"/>
                  <a:ext cx="436756" cy="436756"/>
                </a:xfrm>
                <a:prstGeom prst="rect">
                  <a:avLst/>
                </a:prstGeom>
              </p:spPr>
            </p:pic>
          </p:grpSp>
        </p:grpSp>
      </p:grpSp>
      <p:grpSp>
        <p:nvGrpSpPr>
          <p:cNvPr id="58" name="Group 57">
            <a:extLst>
              <a:ext uri="{FF2B5EF4-FFF2-40B4-BE49-F238E27FC236}">
                <a16:creationId xmlns:a16="http://schemas.microsoft.com/office/drawing/2014/main" id="{68230A46-E0FD-77F7-5183-F7B8741A7D8F}"/>
              </a:ext>
              <a:ext uri="{C183D7F6-B498-43B3-948B-1728B52AA6E4}">
                <adec:decorative xmlns:adec="http://schemas.microsoft.com/office/drawing/2017/decorative" val="1"/>
              </a:ext>
            </a:extLst>
          </p:cNvPr>
          <p:cNvGrpSpPr/>
          <p:nvPr/>
        </p:nvGrpSpPr>
        <p:grpSpPr>
          <a:xfrm>
            <a:off x="5905263" y="5402202"/>
            <a:ext cx="1102137" cy="456854"/>
            <a:chOff x="1583010" y="4663648"/>
            <a:chExt cx="1102137" cy="456854"/>
          </a:xfrm>
        </p:grpSpPr>
        <p:pic>
          <p:nvPicPr>
            <p:cNvPr id="59" name="Graphic 58">
              <a:extLst>
                <a:ext uri="{FF2B5EF4-FFF2-40B4-BE49-F238E27FC236}">
                  <a16:creationId xmlns:a16="http://schemas.microsoft.com/office/drawing/2014/main" id="{E5409C80-9B6C-C1B3-C7D1-A0AD133D10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55194" y="4677099"/>
              <a:ext cx="429953" cy="429953"/>
            </a:xfrm>
            <a:prstGeom prst="rect">
              <a:avLst/>
            </a:prstGeom>
          </p:spPr>
        </p:pic>
        <p:grpSp>
          <p:nvGrpSpPr>
            <p:cNvPr id="60" name="Group 59">
              <a:extLst>
                <a:ext uri="{FF2B5EF4-FFF2-40B4-BE49-F238E27FC236}">
                  <a16:creationId xmlns:a16="http://schemas.microsoft.com/office/drawing/2014/main" id="{8ECCDD8E-A814-FBEE-E410-231ABC6FB939}"/>
                </a:ext>
              </a:extLst>
            </p:cNvPr>
            <p:cNvGrpSpPr/>
            <p:nvPr/>
          </p:nvGrpSpPr>
          <p:grpSpPr>
            <a:xfrm>
              <a:off x="1583010" y="4663648"/>
              <a:ext cx="509570" cy="456854"/>
              <a:chOff x="1564576" y="5023335"/>
              <a:chExt cx="509570" cy="456854"/>
            </a:xfrm>
          </p:grpSpPr>
          <p:pic>
            <p:nvPicPr>
              <p:cNvPr id="61" name="Graphic 60">
                <a:extLst>
                  <a:ext uri="{FF2B5EF4-FFF2-40B4-BE49-F238E27FC236}">
                    <a16:creationId xmlns:a16="http://schemas.microsoft.com/office/drawing/2014/main" id="{A24CCE2E-B996-C02F-9C31-DB1E9E03D1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5746" y="5023335"/>
                <a:ext cx="428400" cy="428400"/>
              </a:xfrm>
              <a:prstGeom prst="rect">
                <a:avLst/>
              </a:prstGeom>
            </p:spPr>
          </p:pic>
          <p:grpSp>
            <p:nvGrpSpPr>
              <p:cNvPr id="62" name="Group 61">
                <a:extLst>
                  <a:ext uri="{FF2B5EF4-FFF2-40B4-BE49-F238E27FC236}">
                    <a16:creationId xmlns:a16="http://schemas.microsoft.com/office/drawing/2014/main" id="{F79098DF-6217-4695-7EF2-D859F04BB290}"/>
                  </a:ext>
                </a:extLst>
              </p:cNvPr>
              <p:cNvGrpSpPr/>
              <p:nvPr/>
            </p:nvGrpSpPr>
            <p:grpSpPr>
              <a:xfrm>
                <a:off x="1564576" y="5236349"/>
                <a:ext cx="243840" cy="243840"/>
                <a:chOff x="6976200" y="314960"/>
                <a:chExt cx="487680" cy="487680"/>
              </a:xfrm>
            </p:grpSpPr>
            <p:sp>
              <p:nvSpPr>
                <p:cNvPr id="63" name="Oval 62">
                  <a:extLst>
                    <a:ext uri="{FF2B5EF4-FFF2-40B4-BE49-F238E27FC236}">
                      <a16:creationId xmlns:a16="http://schemas.microsoft.com/office/drawing/2014/main" id="{A61E48F9-36DE-B5C5-0550-D7BFBCFEA751}"/>
                    </a:ext>
                  </a:extLst>
                </p:cNvPr>
                <p:cNvSpPr/>
                <p:nvPr/>
              </p:nvSpPr>
              <p:spPr bwMode="auto">
                <a:xfrm>
                  <a:off x="6976200" y="314960"/>
                  <a:ext cx="487680" cy="48768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64" name="Graphic 63">
                  <a:extLst>
                    <a:ext uri="{FF2B5EF4-FFF2-40B4-BE49-F238E27FC236}">
                      <a16:creationId xmlns:a16="http://schemas.microsoft.com/office/drawing/2014/main" id="{395AFBAE-22F3-6C47-881C-DF58DAC129C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1664" y="340424"/>
                  <a:ext cx="436756" cy="436756"/>
                </a:xfrm>
                <a:prstGeom prst="rect">
                  <a:avLst/>
                </a:prstGeom>
              </p:spPr>
            </p:pic>
          </p:grpSp>
        </p:grpSp>
      </p:grpSp>
      <p:grpSp>
        <p:nvGrpSpPr>
          <p:cNvPr id="66" name="Group 65">
            <a:extLst>
              <a:ext uri="{FF2B5EF4-FFF2-40B4-BE49-F238E27FC236}">
                <a16:creationId xmlns:a16="http://schemas.microsoft.com/office/drawing/2014/main" id="{13005A64-C6FF-6DCE-57F2-68009E092BA3}"/>
              </a:ext>
              <a:ext uri="{C183D7F6-B498-43B3-948B-1728B52AA6E4}">
                <adec:decorative xmlns:adec="http://schemas.microsoft.com/office/drawing/2017/decorative" val="1"/>
              </a:ext>
            </a:extLst>
          </p:cNvPr>
          <p:cNvGrpSpPr/>
          <p:nvPr/>
        </p:nvGrpSpPr>
        <p:grpSpPr>
          <a:xfrm>
            <a:off x="7983014" y="5402202"/>
            <a:ext cx="1102137" cy="456854"/>
            <a:chOff x="1583010" y="4663648"/>
            <a:chExt cx="1102137" cy="456854"/>
          </a:xfrm>
        </p:grpSpPr>
        <p:pic>
          <p:nvPicPr>
            <p:cNvPr id="67" name="Graphic 66">
              <a:extLst>
                <a:ext uri="{FF2B5EF4-FFF2-40B4-BE49-F238E27FC236}">
                  <a16:creationId xmlns:a16="http://schemas.microsoft.com/office/drawing/2014/main" id="{C923D38B-925B-675A-94F3-AD44AA0DEC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55194" y="4677099"/>
              <a:ext cx="429953" cy="429953"/>
            </a:xfrm>
            <a:prstGeom prst="rect">
              <a:avLst/>
            </a:prstGeom>
          </p:spPr>
        </p:pic>
        <p:grpSp>
          <p:nvGrpSpPr>
            <p:cNvPr id="68" name="Group 67">
              <a:extLst>
                <a:ext uri="{FF2B5EF4-FFF2-40B4-BE49-F238E27FC236}">
                  <a16:creationId xmlns:a16="http://schemas.microsoft.com/office/drawing/2014/main" id="{6989EB88-B029-E5F0-A330-120E0F5D5C0F}"/>
                </a:ext>
              </a:extLst>
            </p:cNvPr>
            <p:cNvGrpSpPr/>
            <p:nvPr/>
          </p:nvGrpSpPr>
          <p:grpSpPr>
            <a:xfrm>
              <a:off x="1583010" y="4663648"/>
              <a:ext cx="509570" cy="456854"/>
              <a:chOff x="1564576" y="5023335"/>
              <a:chExt cx="509570" cy="456854"/>
            </a:xfrm>
          </p:grpSpPr>
          <p:pic>
            <p:nvPicPr>
              <p:cNvPr id="69" name="Graphic 68">
                <a:extLst>
                  <a:ext uri="{FF2B5EF4-FFF2-40B4-BE49-F238E27FC236}">
                    <a16:creationId xmlns:a16="http://schemas.microsoft.com/office/drawing/2014/main" id="{B6A09927-073C-1983-011F-FB7E6D7B13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5746" y="5023335"/>
                <a:ext cx="428400" cy="428400"/>
              </a:xfrm>
              <a:prstGeom prst="rect">
                <a:avLst/>
              </a:prstGeom>
            </p:spPr>
          </p:pic>
          <p:grpSp>
            <p:nvGrpSpPr>
              <p:cNvPr id="70" name="Group 69">
                <a:extLst>
                  <a:ext uri="{FF2B5EF4-FFF2-40B4-BE49-F238E27FC236}">
                    <a16:creationId xmlns:a16="http://schemas.microsoft.com/office/drawing/2014/main" id="{64CCE991-D4C4-DC1C-B2F5-09BFFA2B0173}"/>
                  </a:ext>
                </a:extLst>
              </p:cNvPr>
              <p:cNvGrpSpPr/>
              <p:nvPr/>
            </p:nvGrpSpPr>
            <p:grpSpPr>
              <a:xfrm>
                <a:off x="1564576" y="5236349"/>
                <a:ext cx="243840" cy="243840"/>
                <a:chOff x="6976200" y="314960"/>
                <a:chExt cx="487680" cy="487680"/>
              </a:xfrm>
            </p:grpSpPr>
            <p:sp>
              <p:nvSpPr>
                <p:cNvPr id="71" name="Oval 70">
                  <a:extLst>
                    <a:ext uri="{FF2B5EF4-FFF2-40B4-BE49-F238E27FC236}">
                      <a16:creationId xmlns:a16="http://schemas.microsoft.com/office/drawing/2014/main" id="{C0A7D52D-CEB6-E479-164E-CE7A1EE76C73}"/>
                    </a:ext>
                  </a:extLst>
                </p:cNvPr>
                <p:cNvSpPr/>
                <p:nvPr/>
              </p:nvSpPr>
              <p:spPr bwMode="auto">
                <a:xfrm>
                  <a:off x="6976200" y="314960"/>
                  <a:ext cx="487680" cy="48768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72" name="Graphic 71">
                  <a:extLst>
                    <a:ext uri="{FF2B5EF4-FFF2-40B4-BE49-F238E27FC236}">
                      <a16:creationId xmlns:a16="http://schemas.microsoft.com/office/drawing/2014/main" id="{5F6C2620-4ED7-3C14-D962-0FAECE1278A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01664" y="340424"/>
                  <a:ext cx="436756" cy="436756"/>
                </a:xfrm>
                <a:prstGeom prst="rect">
                  <a:avLst/>
                </a:prstGeom>
              </p:spPr>
            </p:pic>
          </p:grpSp>
        </p:grpSp>
      </p:grpSp>
      <p:cxnSp>
        <p:nvCxnSpPr>
          <p:cNvPr id="73" name="Straight Arrow Connector 72">
            <a:extLst>
              <a:ext uri="{FF2B5EF4-FFF2-40B4-BE49-F238E27FC236}">
                <a16:creationId xmlns:a16="http://schemas.microsoft.com/office/drawing/2014/main" id="{F116539B-6C24-400D-3C1F-9620E67AE0BD}"/>
              </a:ext>
              <a:ext uri="{C183D7F6-B498-43B3-948B-1728B52AA6E4}">
                <adec:decorative xmlns:adec="http://schemas.microsoft.com/office/drawing/2017/decorative" val="1"/>
              </a:ext>
            </a:extLst>
          </p:cNvPr>
          <p:cNvCxnSpPr>
            <a:cxnSpLocks/>
          </p:cNvCxnSpPr>
          <p:nvPr/>
        </p:nvCxnSpPr>
        <p:spPr>
          <a:xfrm>
            <a:off x="8565405" y="3642732"/>
            <a:ext cx="2078832" cy="0"/>
          </a:xfrm>
          <a:prstGeom prst="straightConnector1">
            <a:avLst/>
          </a:prstGeom>
          <a:noFill/>
          <a:ln w="19050" cap="flat">
            <a:gradFill flip="none" rotWithShape="1">
              <a:gsLst>
                <a:gs pos="75000">
                  <a:srgbClr val="0078D4"/>
                </a:gs>
                <a:gs pos="0">
                  <a:srgbClr val="C03BC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74" name="Straight Arrow Connector 73">
            <a:extLst>
              <a:ext uri="{FF2B5EF4-FFF2-40B4-BE49-F238E27FC236}">
                <a16:creationId xmlns:a16="http://schemas.microsoft.com/office/drawing/2014/main" id="{FCBDDE00-FD9A-AD88-1A4E-C899436F011B}"/>
              </a:ext>
              <a:ext uri="{C183D7F6-B498-43B3-948B-1728B52AA6E4}">
                <adec:decorative xmlns:adec="http://schemas.microsoft.com/office/drawing/2017/decorative" val="1"/>
              </a:ext>
            </a:extLst>
          </p:cNvPr>
          <p:cNvCxnSpPr>
            <a:cxnSpLocks/>
          </p:cNvCxnSpPr>
          <p:nvPr/>
        </p:nvCxnSpPr>
        <p:spPr>
          <a:xfrm>
            <a:off x="4402980" y="3642732"/>
            <a:ext cx="2055019" cy="0"/>
          </a:xfrm>
          <a:prstGeom prst="straightConnector1">
            <a:avLst/>
          </a:prstGeom>
          <a:noFill/>
          <a:ln w="19050" cap="flat">
            <a:gradFill flip="none" rotWithShape="1">
              <a:gsLst>
                <a:gs pos="80000">
                  <a:srgbClr val="C03BC4"/>
                </a:gs>
                <a:gs pos="0">
                  <a:srgbClr val="FF5C39"/>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75" name="Straight Arrow Connector 74">
            <a:extLst>
              <a:ext uri="{FF2B5EF4-FFF2-40B4-BE49-F238E27FC236}">
                <a16:creationId xmlns:a16="http://schemas.microsoft.com/office/drawing/2014/main" id="{4A8D2C51-5E6E-D1AA-7FA0-CF278C056B5D}"/>
              </a:ext>
              <a:ext uri="{C183D7F6-B498-43B3-948B-1728B52AA6E4}">
                <adec:decorative xmlns:adec="http://schemas.microsoft.com/office/drawing/2017/decorative" val="1"/>
              </a:ext>
            </a:extLst>
          </p:cNvPr>
          <p:cNvCxnSpPr>
            <a:cxnSpLocks/>
          </p:cNvCxnSpPr>
          <p:nvPr/>
        </p:nvCxnSpPr>
        <p:spPr>
          <a:xfrm>
            <a:off x="2324149" y="3642732"/>
            <a:ext cx="2040731" cy="0"/>
          </a:xfrm>
          <a:prstGeom prst="straightConnector1">
            <a:avLst/>
          </a:prstGeom>
          <a:noFill/>
          <a:ln w="19050" cap="flat">
            <a:gradFill flip="none" rotWithShape="1">
              <a:gsLst>
                <a:gs pos="75000">
                  <a:srgbClr val="0078D4"/>
                </a:gs>
                <a:gs pos="0">
                  <a:srgbClr val="C03BC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76" name="Straight Arrow Connector 75">
            <a:extLst>
              <a:ext uri="{FF2B5EF4-FFF2-40B4-BE49-F238E27FC236}">
                <a16:creationId xmlns:a16="http://schemas.microsoft.com/office/drawing/2014/main" id="{6BDA9CBA-E7A8-0322-2537-5EE154547D1B}"/>
              </a:ext>
              <a:ext uri="{C183D7F6-B498-43B3-948B-1728B52AA6E4}">
                <adec:decorative xmlns:adec="http://schemas.microsoft.com/office/drawing/2017/decorative" val="1"/>
              </a:ext>
            </a:extLst>
          </p:cNvPr>
          <p:cNvCxnSpPr>
            <a:cxnSpLocks/>
          </p:cNvCxnSpPr>
          <p:nvPr/>
        </p:nvCxnSpPr>
        <p:spPr>
          <a:xfrm>
            <a:off x="1333549" y="3642732"/>
            <a:ext cx="959644" cy="0"/>
          </a:xfrm>
          <a:prstGeom prst="straightConnector1">
            <a:avLst/>
          </a:prstGeom>
          <a:noFill/>
          <a:ln w="19050" cap="flat">
            <a:gradFill flip="none" rotWithShape="1">
              <a:gsLst>
                <a:gs pos="80000">
                  <a:srgbClr val="399A91"/>
                </a:gs>
                <a:gs pos="0">
                  <a:srgbClr val="0078D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sp>
        <p:nvSpPr>
          <p:cNvPr id="77" name="Oval 76">
            <a:extLst>
              <a:ext uri="{FF2B5EF4-FFF2-40B4-BE49-F238E27FC236}">
                <a16:creationId xmlns:a16="http://schemas.microsoft.com/office/drawing/2014/main" id="{901BDAA6-12D8-A334-8BEE-B8957A42323C}"/>
              </a:ext>
              <a:ext uri="{C183D7F6-B498-43B3-948B-1728B52AA6E4}">
                <adec:decorative xmlns:adec="http://schemas.microsoft.com/office/drawing/2017/decorative" val="1"/>
              </a:ext>
            </a:extLst>
          </p:cNvPr>
          <p:cNvSpPr/>
          <p:nvPr/>
        </p:nvSpPr>
        <p:spPr bwMode="auto">
          <a:xfrm>
            <a:off x="10347231" y="2607750"/>
            <a:ext cx="529200" cy="529200"/>
          </a:xfrm>
          <a:prstGeom prst="ellipse">
            <a:avLst/>
          </a:prstGeom>
          <a:gradFill flip="none" rotWithShape="1">
            <a:gsLst>
              <a:gs pos="80000">
                <a:srgbClr val="0078D4"/>
              </a:gs>
              <a:gs pos="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b="1" err="1">
              <a:solidFill>
                <a:srgbClr val="FFFFFF"/>
              </a:solidFill>
              <a:latin typeface="Segoe UI"/>
              <a:cs typeface="Segoe UI" pitchFamily="34" charset="0"/>
            </a:endParaRPr>
          </a:p>
        </p:txBody>
      </p:sp>
      <p:sp>
        <p:nvSpPr>
          <p:cNvPr id="78" name="Oval 77">
            <a:extLst>
              <a:ext uri="{FF2B5EF4-FFF2-40B4-BE49-F238E27FC236}">
                <a16:creationId xmlns:a16="http://schemas.microsoft.com/office/drawing/2014/main" id="{29626711-FA45-BB27-2CB6-59E0AA1749EB}"/>
              </a:ext>
              <a:ext uri="{C183D7F6-B498-43B3-948B-1728B52AA6E4}">
                <adec:decorative xmlns:adec="http://schemas.microsoft.com/office/drawing/2017/decorative" val="1"/>
              </a:ext>
            </a:extLst>
          </p:cNvPr>
          <p:cNvSpPr/>
          <p:nvPr/>
        </p:nvSpPr>
        <p:spPr bwMode="auto">
          <a:xfrm>
            <a:off x="4113980" y="2607750"/>
            <a:ext cx="529200" cy="529200"/>
          </a:xfrm>
          <a:prstGeom prst="ellipse">
            <a:avLst/>
          </a:prstGeom>
          <a:gradFill flip="none" rotWithShape="1">
            <a:gsLst>
              <a:gs pos="80000">
                <a:srgbClr val="0078D4"/>
              </a:gs>
              <a:gs pos="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79" name="Oval 78">
            <a:extLst>
              <a:ext uri="{FF2B5EF4-FFF2-40B4-BE49-F238E27FC236}">
                <a16:creationId xmlns:a16="http://schemas.microsoft.com/office/drawing/2014/main" id="{A1142380-CF90-91B8-8F02-AF3C0B10D1B4}"/>
              </a:ext>
              <a:ext uri="{C183D7F6-B498-43B3-948B-1728B52AA6E4}">
                <adec:decorative xmlns:adec="http://schemas.microsoft.com/office/drawing/2017/decorative" val="1"/>
              </a:ext>
            </a:extLst>
          </p:cNvPr>
          <p:cNvSpPr/>
          <p:nvPr/>
        </p:nvSpPr>
        <p:spPr bwMode="auto">
          <a:xfrm>
            <a:off x="6191731" y="2607750"/>
            <a:ext cx="529200" cy="529200"/>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80" name="Oval 79">
            <a:extLst>
              <a:ext uri="{FF2B5EF4-FFF2-40B4-BE49-F238E27FC236}">
                <a16:creationId xmlns:a16="http://schemas.microsoft.com/office/drawing/2014/main" id="{A00A847B-C06D-E374-105D-553381B36171}"/>
              </a:ext>
              <a:ext uri="{C183D7F6-B498-43B3-948B-1728B52AA6E4}">
                <adec:decorative xmlns:adec="http://schemas.microsoft.com/office/drawing/2017/decorative" val="1"/>
              </a:ext>
            </a:extLst>
          </p:cNvPr>
          <p:cNvSpPr/>
          <p:nvPr/>
        </p:nvSpPr>
        <p:spPr bwMode="auto">
          <a:xfrm>
            <a:off x="8269482" y="2607750"/>
            <a:ext cx="529200" cy="529200"/>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err="1">
              <a:solidFill>
                <a:srgbClr val="FFFFFF"/>
              </a:solidFill>
              <a:latin typeface="Segoe UI"/>
            </a:endParaRPr>
          </a:p>
        </p:txBody>
      </p:sp>
      <p:sp>
        <p:nvSpPr>
          <p:cNvPr id="81" name="Oval 80">
            <a:extLst>
              <a:ext uri="{FF2B5EF4-FFF2-40B4-BE49-F238E27FC236}">
                <a16:creationId xmlns:a16="http://schemas.microsoft.com/office/drawing/2014/main" id="{566D15B4-BCB3-00EC-1A73-E170DEF5CD77}"/>
              </a:ext>
              <a:ext uri="{C183D7F6-B498-43B3-948B-1728B52AA6E4}">
                <adec:decorative xmlns:adec="http://schemas.microsoft.com/office/drawing/2017/decorative" val="1"/>
              </a:ext>
            </a:extLst>
          </p:cNvPr>
          <p:cNvSpPr/>
          <p:nvPr/>
        </p:nvSpPr>
        <p:spPr bwMode="auto">
          <a:xfrm>
            <a:off x="2035618" y="2607140"/>
            <a:ext cx="530422" cy="530420"/>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err="1">
              <a:ln>
                <a:noFill/>
              </a:ln>
              <a:solidFill>
                <a:srgbClr val="FFFFFF"/>
              </a:solidFill>
              <a:effectLst/>
              <a:uLnTx/>
              <a:uFillTx/>
              <a:latin typeface="Segoe UI"/>
              <a:ea typeface="+mn-ea"/>
              <a:cs typeface="+mn-cs"/>
            </a:endParaRPr>
          </a:p>
        </p:txBody>
      </p:sp>
      <p:pic>
        <p:nvPicPr>
          <p:cNvPr id="82" name="Graphic 81">
            <a:extLst>
              <a:ext uri="{FF2B5EF4-FFF2-40B4-BE49-F238E27FC236}">
                <a16:creationId xmlns:a16="http://schemas.microsoft.com/office/drawing/2014/main" id="{5CE8E573-1D44-AE82-DA08-23B3DE52CC3F}"/>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126780" y="2698301"/>
            <a:ext cx="348099" cy="348099"/>
          </a:xfrm>
          <a:prstGeom prst="rect">
            <a:avLst/>
          </a:prstGeom>
        </p:spPr>
      </p:pic>
      <p:sp>
        <p:nvSpPr>
          <p:cNvPr id="83" name="Graphic 57">
            <a:extLst>
              <a:ext uri="{FF2B5EF4-FFF2-40B4-BE49-F238E27FC236}">
                <a16:creationId xmlns:a16="http://schemas.microsoft.com/office/drawing/2014/main" id="{7A811B2D-D6F7-4140-970D-6915B19E55F7}"/>
              </a:ext>
              <a:ext uri="{C183D7F6-B498-43B3-948B-1728B52AA6E4}">
                <adec:decorative xmlns:adec="http://schemas.microsoft.com/office/drawing/2017/decorative" val="1"/>
              </a:ext>
            </a:extLst>
          </p:cNvPr>
          <p:cNvSpPr/>
          <p:nvPr/>
        </p:nvSpPr>
        <p:spPr>
          <a:xfrm>
            <a:off x="4249566" y="2725786"/>
            <a:ext cx="275578" cy="275578"/>
          </a:xfrm>
          <a:custGeom>
            <a:avLst/>
            <a:gdLst>
              <a:gd name="connsiteX0" fmla="*/ 131625 w 333450"/>
              <a:gd name="connsiteY0" fmla="*/ 17550 h 333450"/>
              <a:gd name="connsiteX1" fmla="*/ 175500 w 333450"/>
              <a:gd name="connsiteY1" fmla="*/ 61425 h 333450"/>
              <a:gd name="connsiteX2" fmla="*/ 175500 w 333450"/>
              <a:gd name="connsiteY2" fmla="*/ 157950 h 333450"/>
              <a:gd name="connsiteX3" fmla="*/ 272025 w 333450"/>
              <a:gd name="connsiteY3" fmla="*/ 157950 h 333450"/>
              <a:gd name="connsiteX4" fmla="*/ 315900 w 333450"/>
              <a:gd name="connsiteY4" fmla="*/ 201825 h 333450"/>
              <a:gd name="connsiteX5" fmla="*/ 315900 w 333450"/>
              <a:gd name="connsiteY5" fmla="*/ 289575 h 333450"/>
              <a:gd name="connsiteX6" fmla="*/ 272025 w 333450"/>
              <a:gd name="connsiteY6" fmla="*/ 333450 h 333450"/>
              <a:gd name="connsiteX7" fmla="*/ 43875 w 333450"/>
              <a:gd name="connsiteY7" fmla="*/ 333450 h 333450"/>
              <a:gd name="connsiteX8" fmla="*/ 0 w 333450"/>
              <a:gd name="connsiteY8" fmla="*/ 289575 h 333450"/>
              <a:gd name="connsiteX9" fmla="*/ 0 w 333450"/>
              <a:gd name="connsiteY9" fmla="*/ 61425 h 333450"/>
              <a:gd name="connsiteX10" fmla="*/ 43875 w 333450"/>
              <a:gd name="connsiteY10" fmla="*/ 17550 h 333450"/>
              <a:gd name="connsiteX11" fmla="*/ 131625 w 333450"/>
              <a:gd name="connsiteY11" fmla="*/ 17550 h 333450"/>
              <a:gd name="connsiteX12" fmla="*/ 140400 w 333450"/>
              <a:gd name="connsiteY12" fmla="*/ 193050 h 333450"/>
              <a:gd name="connsiteX13" fmla="*/ 35100 w 333450"/>
              <a:gd name="connsiteY13" fmla="*/ 193050 h 333450"/>
              <a:gd name="connsiteX14" fmla="*/ 35100 w 333450"/>
              <a:gd name="connsiteY14" fmla="*/ 289575 h 333450"/>
              <a:gd name="connsiteX15" fmla="*/ 43875 w 333450"/>
              <a:gd name="connsiteY15" fmla="*/ 298350 h 333450"/>
              <a:gd name="connsiteX16" fmla="*/ 140400 w 333450"/>
              <a:gd name="connsiteY16" fmla="*/ 298350 h 333450"/>
              <a:gd name="connsiteX17" fmla="*/ 140400 w 333450"/>
              <a:gd name="connsiteY17" fmla="*/ 193050 h 333450"/>
              <a:gd name="connsiteX18" fmla="*/ 272025 w 333450"/>
              <a:gd name="connsiteY18" fmla="*/ 193050 h 333450"/>
              <a:gd name="connsiteX19" fmla="*/ 175500 w 333450"/>
              <a:gd name="connsiteY19" fmla="*/ 193050 h 333450"/>
              <a:gd name="connsiteX20" fmla="*/ 175500 w 333450"/>
              <a:gd name="connsiteY20" fmla="*/ 298350 h 333450"/>
              <a:gd name="connsiteX21" fmla="*/ 272025 w 333450"/>
              <a:gd name="connsiteY21" fmla="*/ 298350 h 333450"/>
              <a:gd name="connsiteX22" fmla="*/ 280800 w 333450"/>
              <a:gd name="connsiteY22" fmla="*/ 289575 h 333450"/>
              <a:gd name="connsiteX23" fmla="*/ 280800 w 333450"/>
              <a:gd name="connsiteY23" fmla="*/ 201825 h 333450"/>
              <a:gd name="connsiteX24" fmla="*/ 272025 w 333450"/>
              <a:gd name="connsiteY24" fmla="*/ 193050 h 333450"/>
              <a:gd name="connsiteX25" fmla="*/ 131625 w 333450"/>
              <a:gd name="connsiteY25" fmla="*/ 52650 h 333450"/>
              <a:gd name="connsiteX26" fmla="*/ 43875 w 333450"/>
              <a:gd name="connsiteY26" fmla="*/ 52650 h 333450"/>
              <a:gd name="connsiteX27" fmla="*/ 35100 w 333450"/>
              <a:gd name="connsiteY27" fmla="*/ 61425 h 333450"/>
              <a:gd name="connsiteX28" fmla="*/ 35100 w 333450"/>
              <a:gd name="connsiteY28" fmla="*/ 157950 h 333450"/>
              <a:gd name="connsiteX29" fmla="*/ 140400 w 333450"/>
              <a:gd name="connsiteY29" fmla="*/ 157950 h 333450"/>
              <a:gd name="connsiteX30" fmla="*/ 140400 w 333450"/>
              <a:gd name="connsiteY30" fmla="*/ 61425 h 333450"/>
              <a:gd name="connsiteX31" fmla="*/ 131625 w 333450"/>
              <a:gd name="connsiteY31" fmla="*/ 52650 h 333450"/>
              <a:gd name="connsiteX32" fmla="*/ 261197 w 333450"/>
              <a:gd name="connsiteY32" fmla="*/ 123 h 333450"/>
              <a:gd name="connsiteX33" fmla="*/ 263250 w 333450"/>
              <a:gd name="connsiteY33" fmla="*/ 0 h 333450"/>
              <a:gd name="connsiteX34" fmla="*/ 280677 w 333450"/>
              <a:gd name="connsiteY34" fmla="*/ 15497 h 333450"/>
              <a:gd name="connsiteX35" fmla="*/ 280800 w 333450"/>
              <a:gd name="connsiteY35" fmla="*/ 17550 h 333450"/>
              <a:gd name="connsiteX36" fmla="*/ 280800 w 333450"/>
              <a:gd name="connsiteY36" fmla="*/ 52650 h 333450"/>
              <a:gd name="connsiteX37" fmla="*/ 315900 w 333450"/>
              <a:gd name="connsiteY37" fmla="*/ 52650 h 333450"/>
              <a:gd name="connsiteX38" fmla="*/ 333327 w 333450"/>
              <a:gd name="connsiteY38" fmla="*/ 68147 h 333450"/>
              <a:gd name="connsiteX39" fmla="*/ 333450 w 333450"/>
              <a:gd name="connsiteY39" fmla="*/ 70200 h 333450"/>
              <a:gd name="connsiteX40" fmla="*/ 317953 w 333450"/>
              <a:gd name="connsiteY40" fmla="*/ 87627 h 333450"/>
              <a:gd name="connsiteX41" fmla="*/ 315900 w 333450"/>
              <a:gd name="connsiteY41" fmla="*/ 87750 h 333450"/>
              <a:gd name="connsiteX42" fmla="*/ 280800 w 333450"/>
              <a:gd name="connsiteY42" fmla="*/ 87750 h 333450"/>
              <a:gd name="connsiteX43" fmla="*/ 280800 w 333450"/>
              <a:gd name="connsiteY43" fmla="*/ 122850 h 333450"/>
              <a:gd name="connsiteX44" fmla="*/ 265303 w 333450"/>
              <a:gd name="connsiteY44" fmla="*/ 140277 h 333450"/>
              <a:gd name="connsiteX45" fmla="*/ 263250 w 333450"/>
              <a:gd name="connsiteY45" fmla="*/ 140400 h 333450"/>
              <a:gd name="connsiteX46" fmla="*/ 245823 w 333450"/>
              <a:gd name="connsiteY46" fmla="*/ 124903 h 333450"/>
              <a:gd name="connsiteX47" fmla="*/ 245700 w 333450"/>
              <a:gd name="connsiteY47" fmla="*/ 122850 h 333450"/>
              <a:gd name="connsiteX48" fmla="*/ 245700 w 333450"/>
              <a:gd name="connsiteY48" fmla="*/ 87750 h 333450"/>
              <a:gd name="connsiteX49" fmla="*/ 210600 w 333450"/>
              <a:gd name="connsiteY49" fmla="*/ 87750 h 333450"/>
              <a:gd name="connsiteX50" fmla="*/ 193173 w 333450"/>
              <a:gd name="connsiteY50" fmla="*/ 72253 h 333450"/>
              <a:gd name="connsiteX51" fmla="*/ 193050 w 333450"/>
              <a:gd name="connsiteY51" fmla="*/ 70200 h 333450"/>
              <a:gd name="connsiteX52" fmla="*/ 208547 w 333450"/>
              <a:gd name="connsiteY52" fmla="*/ 52773 h 333450"/>
              <a:gd name="connsiteX53" fmla="*/ 210600 w 333450"/>
              <a:gd name="connsiteY53" fmla="*/ 52650 h 333450"/>
              <a:gd name="connsiteX54" fmla="*/ 245700 w 333450"/>
              <a:gd name="connsiteY54" fmla="*/ 52650 h 333450"/>
              <a:gd name="connsiteX55" fmla="*/ 245700 w 333450"/>
              <a:gd name="connsiteY55" fmla="*/ 17550 h 333450"/>
              <a:gd name="connsiteX56" fmla="*/ 261197 w 333450"/>
              <a:gd name="connsiteY56" fmla="*/ 123 h 333450"/>
              <a:gd name="connsiteX57" fmla="*/ 263250 w 333450"/>
              <a:gd name="connsiteY57" fmla="*/ 0 h 333450"/>
              <a:gd name="connsiteX58" fmla="*/ 261197 w 333450"/>
              <a:gd name="connsiteY58" fmla="*/ 123 h 3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33450" h="333450">
                <a:moveTo>
                  <a:pt x="131625" y="17550"/>
                </a:moveTo>
                <a:cubicBezTo>
                  <a:pt x="155856" y="17550"/>
                  <a:pt x="175500" y="37194"/>
                  <a:pt x="175500" y="61425"/>
                </a:cubicBezTo>
                <a:lnTo>
                  <a:pt x="175500" y="157950"/>
                </a:lnTo>
                <a:lnTo>
                  <a:pt x="272025" y="157950"/>
                </a:lnTo>
                <a:cubicBezTo>
                  <a:pt x="296256" y="157950"/>
                  <a:pt x="315900" y="177594"/>
                  <a:pt x="315900" y="201825"/>
                </a:cubicBezTo>
                <a:lnTo>
                  <a:pt x="315900" y="289575"/>
                </a:lnTo>
                <a:cubicBezTo>
                  <a:pt x="315900" y="313806"/>
                  <a:pt x="296256" y="333450"/>
                  <a:pt x="272025" y="333450"/>
                </a:cubicBezTo>
                <a:lnTo>
                  <a:pt x="43875" y="333450"/>
                </a:lnTo>
                <a:cubicBezTo>
                  <a:pt x="19644" y="333450"/>
                  <a:pt x="0" y="313806"/>
                  <a:pt x="0" y="289575"/>
                </a:cubicBezTo>
                <a:lnTo>
                  <a:pt x="0" y="61425"/>
                </a:lnTo>
                <a:cubicBezTo>
                  <a:pt x="0" y="37194"/>
                  <a:pt x="19644" y="17550"/>
                  <a:pt x="43875" y="17550"/>
                </a:cubicBezTo>
                <a:lnTo>
                  <a:pt x="131625" y="17550"/>
                </a:lnTo>
                <a:close/>
                <a:moveTo>
                  <a:pt x="140400" y="193050"/>
                </a:moveTo>
                <a:lnTo>
                  <a:pt x="35100" y="193050"/>
                </a:lnTo>
                <a:lnTo>
                  <a:pt x="35100" y="289575"/>
                </a:lnTo>
                <a:cubicBezTo>
                  <a:pt x="35100" y="294421"/>
                  <a:pt x="39029" y="298350"/>
                  <a:pt x="43875" y="298350"/>
                </a:cubicBezTo>
                <a:lnTo>
                  <a:pt x="140400" y="298350"/>
                </a:lnTo>
                <a:lnTo>
                  <a:pt x="140400" y="193050"/>
                </a:lnTo>
                <a:close/>
                <a:moveTo>
                  <a:pt x="272025" y="193050"/>
                </a:moveTo>
                <a:lnTo>
                  <a:pt x="175500" y="193050"/>
                </a:lnTo>
                <a:lnTo>
                  <a:pt x="175500" y="298350"/>
                </a:lnTo>
                <a:lnTo>
                  <a:pt x="272025" y="298350"/>
                </a:lnTo>
                <a:cubicBezTo>
                  <a:pt x="276871" y="298350"/>
                  <a:pt x="280800" y="294421"/>
                  <a:pt x="280800" y="289575"/>
                </a:cubicBezTo>
                <a:lnTo>
                  <a:pt x="280800" y="201825"/>
                </a:lnTo>
                <a:cubicBezTo>
                  <a:pt x="280800" y="196979"/>
                  <a:pt x="276871" y="193050"/>
                  <a:pt x="272025" y="193050"/>
                </a:cubicBezTo>
                <a:close/>
                <a:moveTo>
                  <a:pt x="131625" y="52650"/>
                </a:moveTo>
                <a:lnTo>
                  <a:pt x="43875" y="52650"/>
                </a:lnTo>
                <a:cubicBezTo>
                  <a:pt x="39029" y="52650"/>
                  <a:pt x="35100" y="56579"/>
                  <a:pt x="35100" y="61425"/>
                </a:cubicBezTo>
                <a:lnTo>
                  <a:pt x="35100" y="157950"/>
                </a:lnTo>
                <a:lnTo>
                  <a:pt x="140400" y="157950"/>
                </a:lnTo>
                <a:lnTo>
                  <a:pt x="140400" y="61425"/>
                </a:lnTo>
                <a:cubicBezTo>
                  <a:pt x="140400" y="56579"/>
                  <a:pt x="136471" y="52650"/>
                  <a:pt x="131625" y="52650"/>
                </a:cubicBezTo>
                <a:close/>
                <a:moveTo>
                  <a:pt x="261197" y="123"/>
                </a:moveTo>
                <a:lnTo>
                  <a:pt x="263250" y="0"/>
                </a:lnTo>
                <a:cubicBezTo>
                  <a:pt x="272148" y="1"/>
                  <a:pt x="279636" y="6660"/>
                  <a:pt x="280677" y="15497"/>
                </a:cubicBezTo>
                <a:lnTo>
                  <a:pt x="280800" y="17550"/>
                </a:lnTo>
                <a:lnTo>
                  <a:pt x="280800" y="52650"/>
                </a:lnTo>
                <a:lnTo>
                  <a:pt x="315900" y="52650"/>
                </a:lnTo>
                <a:cubicBezTo>
                  <a:pt x="324798" y="52651"/>
                  <a:pt x="332286" y="59310"/>
                  <a:pt x="333327" y="68147"/>
                </a:cubicBezTo>
                <a:lnTo>
                  <a:pt x="333450" y="70200"/>
                </a:lnTo>
                <a:cubicBezTo>
                  <a:pt x="333448" y="79097"/>
                  <a:pt x="326790" y="86586"/>
                  <a:pt x="317953" y="87627"/>
                </a:cubicBezTo>
                <a:lnTo>
                  <a:pt x="315900" y="87750"/>
                </a:lnTo>
                <a:lnTo>
                  <a:pt x="280800" y="87750"/>
                </a:lnTo>
                <a:lnTo>
                  <a:pt x="280800" y="122850"/>
                </a:lnTo>
                <a:cubicBezTo>
                  <a:pt x="280798" y="131748"/>
                  <a:pt x="274140" y="139236"/>
                  <a:pt x="265303" y="140277"/>
                </a:cubicBezTo>
                <a:lnTo>
                  <a:pt x="263250" y="140400"/>
                </a:lnTo>
                <a:cubicBezTo>
                  <a:pt x="254352" y="140399"/>
                  <a:pt x="246864" y="133740"/>
                  <a:pt x="245823" y="124903"/>
                </a:cubicBezTo>
                <a:lnTo>
                  <a:pt x="245700" y="122850"/>
                </a:lnTo>
                <a:lnTo>
                  <a:pt x="245700" y="87750"/>
                </a:lnTo>
                <a:lnTo>
                  <a:pt x="210600" y="87750"/>
                </a:lnTo>
                <a:cubicBezTo>
                  <a:pt x="201702" y="87749"/>
                  <a:pt x="194214" y="81090"/>
                  <a:pt x="193173" y="72253"/>
                </a:cubicBezTo>
                <a:lnTo>
                  <a:pt x="193050" y="70200"/>
                </a:lnTo>
                <a:cubicBezTo>
                  <a:pt x="193052" y="61303"/>
                  <a:pt x="199710" y="53814"/>
                  <a:pt x="208547" y="52773"/>
                </a:cubicBezTo>
                <a:lnTo>
                  <a:pt x="210600" y="52650"/>
                </a:lnTo>
                <a:lnTo>
                  <a:pt x="245700" y="52650"/>
                </a:lnTo>
                <a:lnTo>
                  <a:pt x="245700" y="17550"/>
                </a:lnTo>
                <a:cubicBezTo>
                  <a:pt x="245702" y="8653"/>
                  <a:pt x="252360" y="1164"/>
                  <a:pt x="261197" y="123"/>
                </a:cubicBezTo>
                <a:lnTo>
                  <a:pt x="263250" y="0"/>
                </a:lnTo>
                <a:lnTo>
                  <a:pt x="261197" y="123"/>
                </a:lnTo>
                <a:close/>
              </a:path>
            </a:pathLst>
          </a:custGeom>
          <a:solidFill>
            <a:schemeClr val="tx1"/>
          </a:solidFill>
          <a:ln w="7761" cap="flat">
            <a:noFill/>
            <a:prstDash val="solid"/>
            <a:miter/>
          </a:ln>
        </p:spPr>
        <p:txBody>
          <a:bodyPr rtlCol="0" anchor="ctr"/>
          <a:lstStyle/>
          <a:p>
            <a:endParaRPr lang="en-US"/>
          </a:p>
        </p:txBody>
      </p:sp>
      <p:pic>
        <p:nvPicPr>
          <p:cNvPr id="84" name="Graphic 83">
            <a:extLst>
              <a:ext uri="{FF2B5EF4-FFF2-40B4-BE49-F238E27FC236}">
                <a16:creationId xmlns:a16="http://schemas.microsoft.com/office/drawing/2014/main" id="{313707FB-489B-4E67-9480-7481736D22CE}"/>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82282" y="2698301"/>
            <a:ext cx="348099" cy="348099"/>
          </a:xfrm>
          <a:prstGeom prst="rect">
            <a:avLst/>
          </a:prstGeom>
        </p:spPr>
      </p:pic>
      <p:pic>
        <p:nvPicPr>
          <p:cNvPr id="85" name="Graphic 84">
            <a:extLst>
              <a:ext uri="{FF2B5EF4-FFF2-40B4-BE49-F238E27FC236}">
                <a16:creationId xmlns:a16="http://schemas.microsoft.com/office/drawing/2014/main" id="{7A1E8695-7A7A-B07A-C7EC-EB7BECEF780F}"/>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453604" y="2714123"/>
            <a:ext cx="316454" cy="316454"/>
          </a:xfrm>
          <a:prstGeom prst="rect">
            <a:avLst/>
          </a:prstGeom>
        </p:spPr>
      </p:pic>
      <p:pic>
        <p:nvPicPr>
          <p:cNvPr id="86" name="Graphic 85">
            <a:extLst>
              <a:ext uri="{FF2B5EF4-FFF2-40B4-BE49-F238E27FC236}">
                <a16:creationId xmlns:a16="http://schemas.microsoft.com/office/drawing/2014/main" id="{B3A68A1F-5A1A-E01A-1122-666D6798182D}"/>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360033" y="2698301"/>
            <a:ext cx="348099" cy="348099"/>
          </a:xfrm>
          <a:prstGeom prst="rect">
            <a:avLst/>
          </a:prstGeom>
        </p:spPr>
      </p:pic>
      <p:cxnSp>
        <p:nvCxnSpPr>
          <p:cNvPr id="87" name="Straight Arrow Connector 86">
            <a:extLst>
              <a:ext uri="{FF2B5EF4-FFF2-40B4-BE49-F238E27FC236}">
                <a16:creationId xmlns:a16="http://schemas.microsoft.com/office/drawing/2014/main" id="{6211C20D-FC1E-8B24-F7D0-DF20E8E48029}"/>
              </a:ext>
              <a:ext uri="{C183D7F6-B498-43B3-948B-1728B52AA6E4}">
                <adec:decorative xmlns:adec="http://schemas.microsoft.com/office/drawing/2017/decorative" val="1"/>
              </a:ext>
            </a:extLst>
          </p:cNvPr>
          <p:cNvCxnSpPr>
            <a:cxnSpLocks/>
          </p:cNvCxnSpPr>
          <p:nvPr/>
        </p:nvCxnSpPr>
        <p:spPr>
          <a:xfrm>
            <a:off x="6498480" y="3642732"/>
            <a:ext cx="2031207" cy="0"/>
          </a:xfrm>
          <a:prstGeom prst="straightConnector1">
            <a:avLst/>
          </a:prstGeom>
          <a:noFill/>
          <a:ln w="19050" cap="flat">
            <a:gradFill flip="none" rotWithShape="1">
              <a:gsLst>
                <a:gs pos="100000">
                  <a:srgbClr val="F4364C"/>
                </a:gs>
                <a:gs pos="41000">
                  <a:srgbClr val="399A91"/>
                </a:gs>
                <a:gs pos="0">
                  <a:srgbClr val="0078D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sp>
        <p:nvSpPr>
          <p:cNvPr id="88" name="TextBox 87">
            <a:extLst>
              <a:ext uri="{FF2B5EF4-FFF2-40B4-BE49-F238E27FC236}">
                <a16:creationId xmlns:a16="http://schemas.microsoft.com/office/drawing/2014/main" id="{E185E688-81A6-EA8D-4DDE-C5A43BFD4E08}"/>
              </a:ext>
            </a:extLst>
          </p:cNvPr>
          <p:cNvSpPr txBox="1"/>
          <p:nvPr/>
        </p:nvSpPr>
        <p:spPr>
          <a:xfrm>
            <a:off x="491204" y="3573809"/>
            <a:ext cx="843500" cy="461665"/>
          </a:xfrm>
          <a:prstGeom prst="rect">
            <a:avLst/>
          </a:prstGeom>
          <a:noFill/>
        </p:spPr>
        <p:txBody>
          <a:bodyPr wrap="none" rtlCol="0">
            <a:spAutoFit/>
          </a:bodyPr>
          <a:lstStyle/>
          <a:p>
            <a:pPr algn="ctr"/>
            <a:r>
              <a:rPr lang="en-US" sz="1200"/>
              <a:t>Container</a:t>
            </a:r>
          </a:p>
          <a:p>
            <a:pPr algn="ctr"/>
            <a:r>
              <a:rPr lang="en-US" sz="1200"/>
              <a:t>Image</a:t>
            </a:r>
          </a:p>
        </p:txBody>
      </p:sp>
      <p:sp>
        <p:nvSpPr>
          <p:cNvPr id="89" name="TextBox 88">
            <a:extLst>
              <a:ext uri="{FF2B5EF4-FFF2-40B4-BE49-F238E27FC236}">
                <a16:creationId xmlns:a16="http://schemas.microsoft.com/office/drawing/2014/main" id="{B5CDC513-9403-5122-353D-F3DD7ACEF498}"/>
              </a:ext>
            </a:extLst>
          </p:cNvPr>
          <p:cNvSpPr txBox="1"/>
          <p:nvPr/>
        </p:nvSpPr>
        <p:spPr>
          <a:xfrm>
            <a:off x="1840603" y="3181016"/>
            <a:ext cx="920452"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Acquire</a:t>
            </a:r>
          </a:p>
        </p:txBody>
      </p:sp>
      <p:sp>
        <p:nvSpPr>
          <p:cNvPr id="90" name="TextBox 89">
            <a:extLst>
              <a:ext uri="{FF2B5EF4-FFF2-40B4-BE49-F238E27FC236}">
                <a16:creationId xmlns:a16="http://schemas.microsoft.com/office/drawing/2014/main" id="{9335EE41-C013-85E5-01A4-4B76EDE12200}"/>
              </a:ext>
            </a:extLst>
          </p:cNvPr>
          <p:cNvSpPr txBox="1"/>
          <p:nvPr/>
        </p:nvSpPr>
        <p:spPr>
          <a:xfrm>
            <a:off x="1597650" y="3942154"/>
            <a:ext cx="1440000" cy="738664"/>
          </a:xfrm>
          <a:prstGeom prst="rect">
            <a:avLst/>
          </a:prstGeom>
          <a:noFill/>
        </p:spPr>
        <p:txBody>
          <a:bodyPr wrap="square" lIns="0" tIns="0" rIns="0" bIns="0" rtlCol="0">
            <a:spAutoFit/>
          </a:bodyPr>
          <a:lstStyle/>
          <a:p>
            <a:r>
              <a:rPr lang="en-GB" sz="1200"/>
              <a:t>Verify external signatures and sign acquired artifacts with an internal key.</a:t>
            </a:r>
          </a:p>
        </p:txBody>
      </p:sp>
      <p:sp>
        <p:nvSpPr>
          <p:cNvPr id="91" name="TextBox 90">
            <a:extLst>
              <a:ext uri="{FF2B5EF4-FFF2-40B4-BE49-F238E27FC236}">
                <a16:creationId xmlns:a16="http://schemas.microsoft.com/office/drawing/2014/main" id="{D0951F11-C789-9CF5-8567-5E92CE294448}"/>
              </a:ext>
            </a:extLst>
          </p:cNvPr>
          <p:cNvSpPr txBox="1"/>
          <p:nvPr/>
        </p:nvSpPr>
        <p:spPr>
          <a:xfrm>
            <a:off x="3917780" y="3181016"/>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Catalog</a:t>
            </a:r>
          </a:p>
        </p:txBody>
      </p:sp>
      <p:sp>
        <p:nvSpPr>
          <p:cNvPr id="92" name="TextBox 91">
            <a:extLst>
              <a:ext uri="{FF2B5EF4-FFF2-40B4-BE49-F238E27FC236}">
                <a16:creationId xmlns:a16="http://schemas.microsoft.com/office/drawing/2014/main" id="{23140F4C-BA66-288E-7D9F-F4FCB428D35B}"/>
              </a:ext>
            </a:extLst>
          </p:cNvPr>
          <p:cNvSpPr txBox="1"/>
          <p:nvPr/>
        </p:nvSpPr>
        <p:spPr>
          <a:xfrm>
            <a:off x="3732992" y="3942154"/>
            <a:ext cx="1319342" cy="923330"/>
          </a:xfrm>
          <a:prstGeom prst="rect">
            <a:avLst/>
          </a:prstGeom>
          <a:noFill/>
        </p:spPr>
        <p:txBody>
          <a:bodyPr wrap="square" lIns="0" tIns="0" rIns="0" bIns="0" rtlCol="0">
            <a:spAutoFit/>
          </a:bodyPr>
          <a:lstStyle/>
          <a:p>
            <a:r>
              <a:rPr lang="en-GB" sz="1200"/>
              <a:t>Verify the internal signature before publishing; sign updated metadata with internal keys.</a:t>
            </a:r>
          </a:p>
        </p:txBody>
      </p:sp>
      <p:sp>
        <p:nvSpPr>
          <p:cNvPr id="93" name="TextBox 92">
            <a:extLst>
              <a:ext uri="{FF2B5EF4-FFF2-40B4-BE49-F238E27FC236}">
                <a16:creationId xmlns:a16="http://schemas.microsoft.com/office/drawing/2014/main" id="{3273BEF8-1FE5-0CFA-6903-389C307B6404}"/>
              </a:ext>
            </a:extLst>
          </p:cNvPr>
          <p:cNvSpPr txBox="1"/>
          <p:nvPr/>
        </p:nvSpPr>
        <p:spPr>
          <a:xfrm>
            <a:off x="5995531" y="3181016"/>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Build</a:t>
            </a:r>
          </a:p>
        </p:txBody>
      </p:sp>
      <p:sp>
        <p:nvSpPr>
          <p:cNvPr id="94" name="TextBox 93">
            <a:extLst>
              <a:ext uri="{FF2B5EF4-FFF2-40B4-BE49-F238E27FC236}">
                <a16:creationId xmlns:a16="http://schemas.microsoft.com/office/drawing/2014/main" id="{85F1045A-404F-DC8E-E9BB-0717E16868A6}"/>
              </a:ext>
            </a:extLst>
          </p:cNvPr>
          <p:cNvSpPr txBox="1"/>
          <p:nvPr/>
        </p:nvSpPr>
        <p:spPr>
          <a:xfrm>
            <a:off x="5806203" y="3942154"/>
            <a:ext cx="1325377" cy="1107996"/>
          </a:xfrm>
          <a:prstGeom prst="rect">
            <a:avLst/>
          </a:prstGeom>
          <a:noFill/>
        </p:spPr>
        <p:txBody>
          <a:bodyPr wrap="square" lIns="0" tIns="0" rIns="0" bIns="0" rtlCol="0">
            <a:spAutoFit/>
          </a:bodyPr>
          <a:lstStyle/>
          <a:p>
            <a:r>
              <a:rPr lang="en-GB" sz="1200"/>
              <a:t>Verify the internal signature before build; sign new artifacts and metadata with internal keys.</a:t>
            </a:r>
          </a:p>
        </p:txBody>
      </p:sp>
      <p:sp>
        <p:nvSpPr>
          <p:cNvPr id="95" name="TextBox 94">
            <a:extLst>
              <a:ext uri="{FF2B5EF4-FFF2-40B4-BE49-F238E27FC236}">
                <a16:creationId xmlns:a16="http://schemas.microsoft.com/office/drawing/2014/main" id="{91C8184F-7948-0C1A-ADF8-95263598A64B}"/>
              </a:ext>
            </a:extLst>
          </p:cNvPr>
          <p:cNvSpPr txBox="1"/>
          <p:nvPr/>
        </p:nvSpPr>
        <p:spPr>
          <a:xfrm>
            <a:off x="8073282" y="3181016"/>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Deploy</a:t>
            </a:r>
          </a:p>
        </p:txBody>
      </p:sp>
      <p:sp>
        <p:nvSpPr>
          <p:cNvPr id="96" name="TextBox 95">
            <a:extLst>
              <a:ext uri="{FF2B5EF4-FFF2-40B4-BE49-F238E27FC236}">
                <a16:creationId xmlns:a16="http://schemas.microsoft.com/office/drawing/2014/main" id="{C48E7070-033C-671B-00A9-D7A1DC571F52}"/>
              </a:ext>
            </a:extLst>
          </p:cNvPr>
          <p:cNvSpPr txBox="1"/>
          <p:nvPr/>
        </p:nvSpPr>
        <p:spPr>
          <a:xfrm>
            <a:off x="7834915" y="3942154"/>
            <a:ext cx="1440000" cy="923330"/>
          </a:xfrm>
          <a:prstGeom prst="rect">
            <a:avLst/>
          </a:prstGeom>
          <a:noFill/>
        </p:spPr>
        <p:txBody>
          <a:bodyPr wrap="square" lIns="0" tIns="0" rIns="0" bIns="0" rtlCol="0">
            <a:spAutoFit/>
          </a:bodyPr>
          <a:lstStyle/>
          <a:p>
            <a:r>
              <a:rPr lang="en-GB" sz="1200"/>
              <a:t>Verify the internal signature before deployment; sign updated metadata with internal keys.</a:t>
            </a:r>
          </a:p>
        </p:txBody>
      </p:sp>
      <p:sp>
        <p:nvSpPr>
          <p:cNvPr id="97" name="TextBox 96">
            <a:extLst>
              <a:ext uri="{FF2B5EF4-FFF2-40B4-BE49-F238E27FC236}">
                <a16:creationId xmlns:a16="http://schemas.microsoft.com/office/drawing/2014/main" id="{BA5765D1-1817-2572-CB4D-14C77A433B66}"/>
              </a:ext>
            </a:extLst>
          </p:cNvPr>
          <p:cNvSpPr txBox="1"/>
          <p:nvPr/>
        </p:nvSpPr>
        <p:spPr>
          <a:xfrm>
            <a:off x="10151031" y="3181016"/>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solidFill>
                  <a:schemeClr val="tx1"/>
                </a:solidFill>
              </a:rPr>
              <a:t>Run</a:t>
            </a:r>
          </a:p>
        </p:txBody>
      </p:sp>
      <p:sp>
        <p:nvSpPr>
          <p:cNvPr id="98" name="TextBox 97">
            <a:extLst>
              <a:ext uri="{FF2B5EF4-FFF2-40B4-BE49-F238E27FC236}">
                <a16:creationId xmlns:a16="http://schemas.microsoft.com/office/drawing/2014/main" id="{9306D4C8-1E38-B59A-14D0-EBA77E593E97}"/>
              </a:ext>
            </a:extLst>
          </p:cNvPr>
          <p:cNvSpPr txBox="1"/>
          <p:nvPr/>
        </p:nvSpPr>
        <p:spPr>
          <a:xfrm>
            <a:off x="9948479" y="3942154"/>
            <a:ext cx="1348109" cy="738664"/>
          </a:xfrm>
          <a:prstGeom prst="rect">
            <a:avLst/>
          </a:prstGeom>
          <a:noFill/>
        </p:spPr>
        <p:txBody>
          <a:bodyPr wrap="square" lIns="0" tIns="0" rIns="0" bIns="0" rtlCol="0">
            <a:spAutoFit/>
          </a:bodyPr>
          <a:lstStyle/>
          <a:p>
            <a:r>
              <a:rPr lang="en-GB" sz="1200"/>
              <a:t>Evict artifacts that have compromised authenticity and integrity.</a:t>
            </a:r>
          </a:p>
        </p:txBody>
      </p:sp>
    </p:spTree>
    <p:extLst>
      <p:ext uri="{BB962C8B-B14F-4D97-AF65-F5344CB8AC3E}">
        <p14:creationId xmlns:p14="http://schemas.microsoft.com/office/powerpoint/2010/main" val="117736808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2ED74-5EEB-7C59-BBF1-47654AB1A5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3CF692C-3D85-67AD-140D-0AC9BFD1693D}"/>
              </a:ext>
            </a:extLst>
          </p:cNvPr>
          <p:cNvSpPr>
            <a:spLocks noGrp="1"/>
          </p:cNvSpPr>
          <p:nvPr>
            <p:ph type="title"/>
          </p:nvPr>
        </p:nvSpPr>
        <p:spPr/>
        <p:txBody>
          <a:bodyPr/>
          <a:lstStyle/>
          <a:p>
            <a:r>
              <a:rPr lang="en-US"/>
              <a:t>Observability</a:t>
            </a:r>
          </a:p>
        </p:txBody>
      </p:sp>
      <p:sp>
        <p:nvSpPr>
          <p:cNvPr id="2" name="Rectangle: Rounded Corners 142">
            <a:extLst>
              <a:ext uri="{FF2B5EF4-FFF2-40B4-BE49-F238E27FC236}">
                <a16:creationId xmlns:a16="http://schemas.microsoft.com/office/drawing/2014/main" id="{083AE31C-AFAE-57AF-B7FA-127ECBA0AFFE}"/>
              </a:ext>
              <a:ext uri="{C183D7F6-B498-43B3-948B-1728B52AA6E4}">
                <adec:decorative xmlns:adec="http://schemas.microsoft.com/office/drawing/2017/decorative" val="1"/>
              </a:ext>
            </a:extLst>
          </p:cNvPr>
          <p:cNvSpPr>
            <a:spLocks/>
          </p:cNvSpPr>
          <p:nvPr/>
        </p:nvSpPr>
        <p:spPr bwMode="auto">
          <a:xfrm>
            <a:off x="1318660"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3" name="Rectangle: Rounded Corners 142">
            <a:extLst>
              <a:ext uri="{FF2B5EF4-FFF2-40B4-BE49-F238E27FC236}">
                <a16:creationId xmlns:a16="http://schemas.microsoft.com/office/drawing/2014/main" id="{85574583-90B9-9B09-BF54-F3FA5129A54D}"/>
              </a:ext>
              <a:ext uri="{C183D7F6-B498-43B3-948B-1728B52AA6E4}">
                <adec:decorative xmlns:adec="http://schemas.microsoft.com/office/drawing/2017/decorative" val="1"/>
              </a:ext>
            </a:extLst>
          </p:cNvPr>
          <p:cNvSpPr>
            <a:spLocks/>
          </p:cNvSpPr>
          <p:nvPr/>
        </p:nvSpPr>
        <p:spPr bwMode="auto">
          <a:xfrm>
            <a:off x="3396411"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4" name="Rectangle: Rounded Corners 142">
            <a:extLst>
              <a:ext uri="{FF2B5EF4-FFF2-40B4-BE49-F238E27FC236}">
                <a16:creationId xmlns:a16="http://schemas.microsoft.com/office/drawing/2014/main" id="{22DA6A0F-D47A-2D48-D282-45C4E5E7C148}"/>
              </a:ext>
              <a:ext uri="{C183D7F6-B498-43B3-948B-1728B52AA6E4}">
                <adec:decorative xmlns:adec="http://schemas.microsoft.com/office/drawing/2017/decorative" val="1"/>
              </a:ext>
            </a:extLst>
          </p:cNvPr>
          <p:cNvSpPr>
            <a:spLocks/>
          </p:cNvSpPr>
          <p:nvPr/>
        </p:nvSpPr>
        <p:spPr bwMode="auto">
          <a:xfrm>
            <a:off x="5474162"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5" name="Rectangle: Rounded Corners 142">
            <a:extLst>
              <a:ext uri="{FF2B5EF4-FFF2-40B4-BE49-F238E27FC236}">
                <a16:creationId xmlns:a16="http://schemas.microsoft.com/office/drawing/2014/main" id="{B1848E0D-0238-A395-B2C9-6427CD43FEBC}"/>
              </a:ext>
              <a:ext uri="{C183D7F6-B498-43B3-948B-1728B52AA6E4}">
                <adec:decorative xmlns:adec="http://schemas.microsoft.com/office/drawing/2017/decorative" val="1"/>
              </a:ext>
            </a:extLst>
          </p:cNvPr>
          <p:cNvSpPr>
            <a:spLocks/>
          </p:cNvSpPr>
          <p:nvPr/>
        </p:nvSpPr>
        <p:spPr bwMode="auto">
          <a:xfrm>
            <a:off x="7551913"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sp>
        <p:nvSpPr>
          <p:cNvPr id="7" name="Rectangle: Rounded Corners 142">
            <a:extLst>
              <a:ext uri="{FF2B5EF4-FFF2-40B4-BE49-F238E27FC236}">
                <a16:creationId xmlns:a16="http://schemas.microsoft.com/office/drawing/2014/main" id="{598DECF0-B7AB-2728-EB3D-88D24B868FA1}"/>
              </a:ext>
              <a:ext uri="{C183D7F6-B498-43B3-948B-1728B52AA6E4}">
                <adec:decorative xmlns:adec="http://schemas.microsoft.com/office/drawing/2017/decorative" val="1"/>
              </a:ext>
            </a:extLst>
          </p:cNvPr>
          <p:cNvSpPr>
            <a:spLocks/>
          </p:cNvSpPr>
          <p:nvPr/>
        </p:nvSpPr>
        <p:spPr bwMode="auto">
          <a:xfrm>
            <a:off x="9629662" y="2175850"/>
            <a:ext cx="1964339" cy="3983407"/>
          </a:xfrm>
          <a:prstGeom prst="roundRect">
            <a:avLst>
              <a:gd name="adj" fmla="val 7141"/>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latin typeface="Segoe UI" panose="020B0502040204020203" pitchFamily="34" charset="0"/>
              <a:cs typeface="Segoe UI" panose="020B0502040204020203" pitchFamily="34" charset="0"/>
            </a:endParaRPr>
          </a:p>
        </p:txBody>
      </p:sp>
      <p:grpSp>
        <p:nvGrpSpPr>
          <p:cNvPr id="8" name="Group 7">
            <a:extLst>
              <a:ext uri="{FF2B5EF4-FFF2-40B4-BE49-F238E27FC236}">
                <a16:creationId xmlns:a16="http://schemas.microsoft.com/office/drawing/2014/main" id="{A15D82DA-F77C-90A5-D83A-230F16C06E80}"/>
              </a:ext>
              <a:ext uri="{C183D7F6-B498-43B3-948B-1728B52AA6E4}">
                <adec:decorative xmlns:adec="http://schemas.microsoft.com/office/drawing/2017/decorative" val="1"/>
              </a:ext>
            </a:extLst>
          </p:cNvPr>
          <p:cNvGrpSpPr/>
          <p:nvPr/>
        </p:nvGrpSpPr>
        <p:grpSpPr>
          <a:xfrm>
            <a:off x="2085747" y="5368234"/>
            <a:ext cx="430164" cy="472952"/>
            <a:chOff x="719606" y="5265851"/>
            <a:chExt cx="791175" cy="869869"/>
          </a:xfrm>
        </p:grpSpPr>
        <p:pic>
          <p:nvPicPr>
            <p:cNvPr id="9" name="Graphic 8">
              <a:extLst>
                <a:ext uri="{FF2B5EF4-FFF2-40B4-BE49-F238E27FC236}">
                  <a16:creationId xmlns:a16="http://schemas.microsoft.com/office/drawing/2014/main" id="{C1E9EB00-F3EC-8545-D0A4-4144B01134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8138" y="5265851"/>
              <a:ext cx="412643" cy="412643"/>
            </a:xfrm>
            <a:prstGeom prst="rect">
              <a:avLst/>
            </a:prstGeom>
          </p:spPr>
        </p:pic>
        <p:pic>
          <p:nvPicPr>
            <p:cNvPr id="10" name="Graphic 9">
              <a:extLst>
                <a:ext uri="{FF2B5EF4-FFF2-40B4-BE49-F238E27FC236}">
                  <a16:creationId xmlns:a16="http://schemas.microsoft.com/office/drawing/2014/main" id="{855F312F-6308-EB5A-C3D2-010C7E49BB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606" y="5450030"/>
              <a:ext cx="685690" cy="685690"/>
            </a:xfrm>
            <a:prstGeom prst="rect">
              <a:avLst/>
            </a:prstGeom>
          </p:spPr>
        </p:pic>
      </p:grpSp>
      <p:grpSp>
        <p:nvGrpSpPr>
          <p:cNvPr id="11" name="Group 10">
            <a:extLst>
              <a:ext uri="{FF2B5EF4-FFF2-40B4-BE49-F238E27FC236}">
                <a16:creationId xmlns:a16="http://schemas.microsoft.com/office/drawing/2014/main" id="{7BF6BEEA-15E1-7BA7-08A9-C9C3C3233494}"/>
              </a:ext>
              <a:ext uri="{C183D7F6-B498-43B3-948B-1728B52AA6E4}">
                <adec:decorative xmlns:adec="http://schemas.microsoft.com/office/drawing/2017/decorative" val="1"/>
              </a:ext>
            </a:extLst>
          </p:cNvPr>
          <p:cNvGrpSpPr/>
          <p:nvPr/>
        </p:nvGrpSpPr>
        <p:grpSpPr>
          <a:xfrm>
            <a:off x="4163498" y="5368234"/>
            <a:ext cx="430164" cy="472952"/>
            <a:chOff x="719606" y="5265851"/>
            <a:chExt cx="791175" cy="869869"/>
          </a:xfrm>
        </p:grpSpPr>
        <p:pic>
          <p:nvPicPr>
            <p:cNvPr id="12" name="Graphic 11">
              <a:extLst>
                <a:ext uri="{FF2B5EF4-FFF2-40B4-BE49-F238E27FC236}">
                  <a16:creationId xmlns:a16="http://schemas.microsoft.com/office/drawing/2014/main" id="{B54485AC-3F71-703E-4A4E-9EF95734FA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8138" y="5265851"/>
              <a:ext cx="412643" cy="412643"/>
            </a:xfrm>
            <a:prstGeom prst="rect">
              <a:avLst/>
            </a:prstGeom>
          </p:spPr>
        </p:pic>
        <p:pic>
          <p:nvPicPr>
            <p:cNvPr id="13" name="Graphic 12">
              <a:extLst>
                <a:ext uri="{FF2B5EF4-FFF2-40B4-BE49-F238E27FC236}">
                  <a16:creationId xmlns:a16="http://schemas.microsoft.com/office/drawing/2014/main" id="{2B08E68C-D515-9361-65A8-23742AD8F7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606" y="5450030"/>
              <a:ext cx="685690" cy="685690"/>
            </a:xfrm>
            <a:prstGeom prst="rect">
              <a:avLst/>
            </a:prstGeom>
          </p:spPr>
        </p:pic>
      </p:grpSp>
      <p:grpSp>
        <p:nvGrpSpPr>
          <p:cNvPr id="14" name="Group 13">
            <a:extLst>
              <a:ext uri="{FF2B5EF4-FFF2-40B4-BE49-F238E27FC236}">
                <a16:creationId xmlns:a16="http://schemas.microsoft.com/office/drawing/2014/main" id="{9B2915D3-2EE2-A06F-C193-AC955B44F920}"/>
              </a:ext>
              <a:ext uri="{C183D7F6-B498-43B3-948B-1728B52AA6E4}">
                <adec:decorative xmlns:adec="http://schemas.microsoft.com/office/drawing/2017/decorative" val="1"/>
              </a:ext>
            </a:extLst>
          </p:cNvPr>
          <p:cNvGrpSpPr/>
          <p:nvPr/>
        </p:nvGrpSpPr>
        <p:grpSpPr>
          <a:xfrm>
            <a:off x="6241249" y="5368234"/>
            <a:ext cx="430164" cy="472952"/>
            <a:chOff x="719606" y="5265851"/>
            <a:chExt cx="791175" cy="869869"/>
          </a:xfrm>
        </p:grpSpPr>
        <p:pic>
          <p:nvPicPr>
            <p:cNvPr id="15" name="Graphic 14">
              <a:extLst>
                <a:ext uri="{FF2B5EF4-FFF2-40B4-BE49-F238E27FC236}">
                  <a16:creationId xmlns:a16="http://schemas.microsoft.com/office/drawing/2014/main" id="{950133F5-33EC-20A4-7C51-D1421E53FD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8138" y="5265851"/>
              <a:ext cx="412643" cy="412643"/>
            </a:xfrm>
            <a:prstGeom prst="rect">
              <a:avLst/>
            </a:prstGeom>
          </p:spPr>
        </p:pic>
        <p:pic>
          <p:nvPicPr>
            <p:cNvPr id="16" name="Graphic 15">
              <a:extLst>
                <a:ext uri="{FF2B5EF4-FFF2-40B4-BE49-F238E27FC236}">
                  <a16:creationId xmlns:a16="http://schemas.microsoft.com/office/drawing/2014/main" id="{5CF5BFBD-FD9D-066E-AD1C-B1ECD89C05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606" y="5450030"/>
              <a:ext cx="685690" cy="685690"/>
            </a:xfrm>
            <a:prstGeom prst="rect">
              <a:avLst/>
            </a:prstGeom>
          </p:spPr>
        </p:pic>
      </p:grpSp>
      <p:grpSp>
        <p:nvGrpSpPr>
          <p:cNvPr id="17" name="Group 16">
            <a:extLst>
              <a:ext uri="{FF2B5EF4-FFF2-40B4-BE49-F238E27FC236}">
                <a16:creationId xmlns:a16="http://schemas.microsoft.com/office/drawing/2014/main" id="{25521828-B7F8-E73B-3091-3D0AB75C3F1F}"/>
              </a:ext>
              <a:ext uri="{C183D7F6-B498-43B3-948B-1728B52AA6E4}">
                <adec:decorative xmlns:adec="http://schemas.microsoft.com/office/drawing/2017/decorative" val="1"/>
              </a:ext>
            </a:extLst>
          </p:cNvPr>
          <p:cNvGrpSpPr/>
          <p:nvPr/>
        </p:nvGrpSpPr>
        <p:grpSpPr>
          <a:xfrm>
            <a:off x="8339833" y="5368234"/>
            <a:ext cx="430164" cy="472952"/>
            <a:chOff x="719606" y="5265851"/>
            <a:chExt cx="791175" cy="869869"/>
          </a:xfrm>
        </p:grpSpPr>
        <p:pic>
          <p:nvPicPr>
            <p:cNvPr id="18" name="Graphic 17">
              <a:extLst>
                <a:ext uri="{FF2B5EF4-FFF2-40B4-BE49-F238E27FC236}">
                  <a16:creationId xmlns:a16="http://schemas.microsoft.com/office/drawing/2014/main" id="{7D65C082-BD14-2D8F-1A2C-4CC11BB808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8138" y="5265851"/>
              <a:ext cx="412643" cy="412643"/>
            </a:xfrm>
            <a:prstGeom prst="rect">
              <a:avLst/>
            </a:prstGeom>
          </p:spPr>
        </p:pic>
        <p:pic>
          <p:nvPicPr>
            <p:cNvPr id="19" name="Graphic 18">
              <a:extLst>
                <a:ext uri="{FF2B5EF4-FFF2-40B4-BE49-F238E27FC236}">
                  <a16:creationId xmlns:a16="http://schemas.microsoft.com/office/drawing/2014/main" id="{101E635C-A3F6-F683-B86C-390C511429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606" y="5450030"/>
              <a:ext cx="685690" cy="685690"/>
            </a:xfrm>
            <a:prstGeom prst="rect">
              <a:avLst/>
            </a:prstGeom>
          </p:spPr>
        </p:pic>
      </p:grpSp>
      <p:grpSp>
        <p:nvGrpSpPr>
          <p:cNvPr id="20" name="Group 19">
            <a:extLst>
              <a:ext uri="{FF2B5EF4-FFF2-40B4-BE49-F238E27FC236}">
                <a16:creationId xmlns:a16="http://schemas.microsoft.com/office/drawing/2014/main" id="{8801A3D2-7ECF-38B2-1A3C-242CB738E928}"/>
              </a:ext>
              <a:ext uri="{C183D7F6-B498-43B3-948B-1728B52AA6E4}">
                <adec:decorative xmlns:adec="http://schemas.microsoft.com/office/drawing/2017/decorative" val="1"/>
              </a:ext>
            </a:extLst>
          </p:cNvPr>
          <p:cNvGrpSpPr/>
          <p:nvPr/>
        </p:nvGrpSpPr>
        <p:grpSpPr>
          <a:xfrm>
            <a:off x="10407451" y="5368234"/>
            <a:ext cx="430164" cy="472952"/>
            <a:chOff x="719606" y="5265851"/>
            <a:chExt cx="791175" cy="869869"/>
          </a:xfrm>
        </p:grpSpPr>
        <p:pic>
          <p:nvPicPr>
            <p:cNvPr id="21" name="Graphic 20">
              <a:extLst>
                <a:ext uri="{FF2B5EF4-FFF2-40B4-BE49-F238E27FC236}">
                  <a16:creationId xmlns:a16="http://schemas.microsoft.com/office/drawing/2014/main" id="{80F4BA6A-D644-4227-657C-42C40BB9AC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8138" y="5265851"/>
              <a:ext cx="412643" cy="412643"/>
            </a:xfrm>
            <a:prstGeom prst="rect">
              <a:avLst/>
            </a:prstGeom>
          </p:spPr>
        </p:pic>
        <p:pic>
          <p:nvPicPr>
            <p:cNvPr id="22" name="Graphic 21">
              <a:extLst>
                <a:ext uri="{FF2B5EF4-FFF2-40B4-BE49-F238E27FC236}">
                  <a16:creationId xmlns:a16="http://schemas.microsoft.com/office/drawing/2014/main" id="{4599A02A-F91B-10BD-71CD-A0159EA247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606" y="5450030"/>
              <a:ext cx="685690" cy="685690"/>
            </a:xfrm>
            <a:prstGeom prst="rect">
              <a:avLst/>
            </a:prstGeom>
          </p:spPr>
        </p:pic>
      </p:grpSp>
      <p:pic>
        <p:nvPicPr>
          <p:cNvPr id="23" name="Graphic 22">
            <a:extLst>
              <a:ext uri="{FF2B5EF4-FFF2-40B4-BE49-F238E27FC236}">
                <a16:creationId xmlns:a16="http://schemas.microsoft.com/office/drawing/2014/main" id="{E963075E-0E36-E3A6-899D-21A555ACB68E}"/>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6205" y="3222005"/>
            <a:ext cx="353498" cy="353496"/>
          </a:xfrm>
          <a:prstGeom prst="rect">
            <a:avLst/>
          </a:prstGeom>
        </p:spPr>
      </p:pic>
      <p:cxnSp>
        <p:nvCxnSpPr>
          <p:cNvPr id="24" name="Straight Arrow Connector 23">
            <a:extLst>
              <a:ext uri="{FF2B5EF4-FFF2-40B4-BE49-F238E27FC236}">
                <a16:creationId xmlns:a16="http://schemas.microsoft.com/office/drawing/2014/main" id="{73C4A052-C919-8EA2-1383-6274A47B3EB0}"/>
              </a:ext>
              <a:ext uri="{C183D7F6-B498-43B3-948B-1728B52AA6E4}">
                <adec:decorative xmlns:adec="http://schemas.microsoft.com/office/drawing/2017/decorative" val="1"/>
              </a:ext>
            </a:extLst>
          </p:cNvPr>
          <p:cNvCxnSpPr>
            <a:cxnSpLocks/>
          </p:cNvCxnSpPr>
          <p:nvPr/>
        </p:nvCxnSpPr>
        <p:spPr>
          <a:xfrm>
            <a:off x="8565405" y="3642732"/>
            <a:ext cx="2078832" cy="0"/>
          </a:xfrm>
          <a:prstGeom prst="straightConnector1">
            <a:avLst/>
          </a:prstGeom>
          <a:noFill/>
          <a:ln w="19050" cap="flat">
            <a:gradFill flip="none" rotWithShape="1">
              <a:gsLst>
                <a:gs pos="75000">
                  <a:srgbClr val="0078D4"/>
                </a:gs>
                <a:gs pos="0">
                  <a:srgbClr val="C03BC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25" name="Straight Arrow Connector 24">
            <a:extLst>
              <a:ext uri="{FF2B5EF4-FFF2-40B4-BE49-F238E27FC236}">
                <a16:creationId xmlns:a16="http://schemas.microsoft.com/office/drawing/2014/main" id="{BC55038A-0D4D-B4DC-648B-572ED8905927}"/>
              </a:ext>
              <a:ext uri="{C183D7F6-B498-43B3-948B-1728B52AA6E4}">
                <adec:decorative xmlns:adec="http://schemas.microsoft.com/office/drawing/2017/decorative" val="1"/>
              </a:ext>
            </a:extLst>
          </p:cNvPr>
          <p:cNvCxnSpPr>
            <a:cxnSpLocks/>
          </p:cNvCxnSpPr>
          <p:nvPr/>
        </p:nvCxnSpPr>
        <p:spPr>
          <a:xfrm>
            <a:off x="4402980" y="3642732"/>
            <a:ext cx="2055019" cy="0"/>
          </a:xfrm>
          <a:prstGeom prst="straightConnector1">
            <a:avLst/>
          </a:prstGeom>
          <a:noFill/>
          <a:ln w="19050" cap="flat">
            <a:gradFill flip="none" rotWithShape="1">
              <a:gsLst>
                <a:gs pos="80000">
                  <a:srgbClr val="C03BC4"/>
                </a:gs>
                <a:gs pos="0">
                  <a:srgbClr val="FF5C39"/>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26" name="Straight Arrow Connector 25">
            <a:extLst>
              <a:ext uri="{FF2B5EF4-FFF2-40B4-BE49-F238E27FC236}">
                <a16:creationId xmlns:a16="http://schemas.microsoft.com/office/drawing/2014/main" id="{E7E8384D-B996-86C0-44AA-9C3F822EB6CA}"/>
              </a:ext>
              <a:ext uri="{C183D7F6-B498-43B3-948B-1728B52AA6E4}">
                <adec:decorative xmlns:adec="http://schemas.microsoft.com/office/drawing/2017/decorative" val="1"/>
              </a:ext>
            </a:extLst>
          </p:cNvPr>
          <p:cNvCxnSpPr>
            <a:cxnSpLocks/>
          </p:cNvCxnSpPr>
          <p:nvPr/>
        </p:nvCxnSpPr>
        <p:spPr>
          <a:xfrm>
            <a:off x="2324149" y="3642732"/>
            <a:ext cx="2040731" cy="0"/>
          </a:xfrm>
          <a:prstGeom prst="straightConnector1">
            <a:avLst/>
          </a:prstGeom>
          <a:noFill/>
          <a:ln w="19050" cap="flat">
            <a:gradFill flip="none" rotWithShape="1">
              <a:gsLst>
                <a:gs pos="75000">
                  <a:srgbClr val="0078D4"/>
                </a:gs>
                <a:gs pos="0">
                  <a:srgbClr val="C03BC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cxnSp>
        <p:nvCxnSpPr>
          <p:cNvPr id="27" name="Straight Arrow Connector 26">
            <a:extLst>
              <a:ext uri="{FF2B5EF4-FFF2-40B4-BE49-F238E27FC236}">
                <a16:creationId xmlns:a16="http://schemas.microsoft.com/office/drawing/2014/main" id="{E28641CF-97A1-F220-A41C-46B66E8633C7}"/>
              </a:ext>
              <a:ext uri="{C183D7F6-B498-43B3-948B-1728B52AA6E4}">
                <adec:decorative xmlns:adec="http://schemas.microsoft.com/office/drawing/2017/decorative" val="1"/>
              </a:ext>
            </a:extLst>
          </p:cNvPr>
          <p:cNvCxnSpPr>
            <a:cxnSpLocks/>
          </p:cNvCxnSpPr>
          <p:nvPr/>
        </p:nvCxnSpPr>
        <p:spPr>
          <a:xfrm>
            <a:off x="1333549" y="3642732"/>
            <a:ext cx="959644" cy="0"/>
          </a:xfrm>
          <a:prstGeom prst="straightConnector1">
            <a:avLst/>
          </a:prstGeom>
          <a:noFill/>
          <a:ln w="19050" cap="flat">
            <a:gradFill flip="none" rotWithShape="1">
              <a:gsLst>
                <a:gs pos="80000">
                  <a:srgbClr val="399A91"/>
                </a:gs>
                <a:gs pos="0">
                  <a:srgbClr val="0078D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sp>
        <p:nvSpPr>
          <p:cNvPr id="28" name="Oval 27">
            <a:extLst>
              <a:ext uri="{FF2B5EF4-FFF2-40B4-BE49-F238E27FC236}">
                <a16:creationId xmlns:a16="http://schemas.microsoft.com/office/drawing/2014/main" id="{137778C3-19D5-BA07-A668-EF17448F957C}"/>
              </a:ext>
              <a:ext uri="{C183D7F6-B498-43B3-948B-1728B52AA6E4}">
                <adec:decorative xmlns:adec="http://schemas.microsoft.com/office/drawing/2017/decorative" val="1"/>
              </a:ext>
            </a:extLst>
          </p:cNvPr>
          <p:cNvSpPr/>
          <p:nvPr/>
        </p:nvSpPr>
        <p:spPr bwMode="auto">
          <a:xfrm>
            <a:off x="10347231" y="2607750"/>
            <a:ext cx="529200" cy="529200"/>
          </a:xfrm>
          <a:prstGeom prst="ellipse">
            <a:avLst/>
          </a:prstGeom>
          <a:gradFill flip="none" rotWithShape="1">
            <a:gsLst>
              <a:gs pos="80000">
                <a:srgbClr val="0078D4"/>
              </a:gs>
              <a:gs pos="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b="1" err="1">
              <a:solidFill>
                <a:srgbClr val="FFFFFF"/>
              </a:solidFill>
              <a:latin typeface="Segoe UI"/>
              <a:cs typeface="Segoe UI" pitchFamily="34" charset="0"/>
            </a:endParaRPr>
          </a:p>
        </p:txBody>
      </p:sp>
      <p:sp>
        <p:nvSpPr>
          <p:cNvPr id="29" name="Oval 28">
            <a:extLst>
              <a:ext uri="{FF2B5EF4-FFF2-40B4-BE49-F238E27FC236}">
                <a16:creationId xmlns:a16="http://schemas.microsoft.com/office/drawing/2014/main" id="{0014B3F8-2AA0-7B84-74FF-1FC4AE6B23C1}"/>
              </a:ext>
              <a:ext uri="{C183D7F6-B498-43B3-948B-1728B52AA6E4}">
                <adec:decorative xmlns:adec="http://schemas.microsoft.com/office/drawing/2017/decorative" val="1"/>
              </a:ext>
            </a:extLst>
          </p:cNvPr>
          <p:cNvSpPr/>
          <p:nvPr/>
        </p:nvSpPr>
        <p:spPr bwMode="auto">
          <a:xfrm>
            <a:off x="4113980" y="2607750"/>
            <a:ext cx="529200" cy="529200"/>
          </a:xfrm>
          <a:prstGeom prst="ellipse">
            <a:avLst/>
          </a:prstGeom>
          <a:gradFill flip="none" rotWithShape="1">
            <a:gsLst>
              <a:gs pos="80000">
                <a:srgbClr val="0078D4"/>
              </a:gs>
              <a:gs pos="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0" name="Oval 29">
            <a:extLst>
              <a:ext uri="{FF2B5EF4-FFF2-40B4-BE49-F238E27FC236}">
                <a16:creationId xmlns:a16="http://schemas.microsoft.com/office/drawing/2014/main" id="{CFBE4441-3163-B5D3-DBFA-D44E8DBA43CB}"/>
              </a:ext>
              <a:ext uri="{C183D7F6-B498-43B3-948B-1728B52AA6E4}">
                <adec:decorative xmlns:adec="http://schemas.microsoft.com/office/drawing/2017/decorative" val="1"/>
              </a:ext>
            </a:extLst>
          </p:cNvPr>
          <p:cNvSpPr/>
          <p:nvPr/>
        </p:nvSpPr>
        <p:spPr bwMode="auto">
          <a:xfrm>
            <a:off x="6191731" y="2607750"/>
            <a:ext cx="529200" cy="529200"/>
          </a:xfrm>
          <a:prstGeom prst="ellipse">
            <a:avLst/>
          </a:prstGeom>
          <a:gradFill flip="none" rotWithShape="1">
            <a:gsLst>
              <a:gs pos="0">
                <a:srgbClr val="FF5C39"/>
              </a:gs>
              <a:gs pos="80000">
                <a:srgbClr val="C03BC4"/>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1" name="Oval 30">
            <a:extLst>
              <a:ext uri="{FF2B5EF4-FFF2-40B4-BE49-F238E27FC236}">
                <a16:creationId xmlns:a16="http://schemas.microsoft.com/office/drawing/2014/main" id="{E3D902EA-AA21-2448-9AFB-373C326C1D34}"/>
              </a:ext>
              <a:ext uri="{C183D7F6-B498-43B3-948B-1728B52AA6E4}">
                <adec:decorative xmlns:adec="http://schemas.microsoft.com/office/drawing/2017/decorative" val="1"/>
              </a:ext>
            </a:extLst>
          </p:cNvPr>
          <p:cNvSpPr/>
          <p:nvPr/>
        </p:nvSpPr>
        <p:spPr bwMode="auto">
          <a:xfrm>
            <a:off x="8269482" y="2607750"/>
            <a:ext cx="529200" cy="529200"/>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sz="700" err="1">
              <a:solidFill>
                <a:srgbClr val="FFFFFF"/>
              </a:solidFill>
              <a:latin typeface="Segoe UI"/>
            </a:endParaRPr>
          </a:p>
        </p:txBody>
      </p:sp>
      <p:sp>
        <p:nvSpPr>
          <p:cNvPr id="32" name="Oval 31">
            <a:extLst>
              <a:ext uri="{FF2B5EF4-FFF2-40B4-BE49-F238E27FC236}">
                <a16:creationId xmlns:a16="http://schemas.microsoft.com/office/drawing/2014/main" id="{6E659930-9279-A160-075F-4A1E0E23BAD8}"/>
              </a:ext>
              <a:ext uri="{C183D7F6-B498-43B3-948B-1728B52AA6E4}">
                <adec:decorative xmlns:adec="http://schemas.microsoft.com/office/drawing/2017/decorative" val="1"/>
              </a:ext>
            </a:extLst>
          </p:cNvPr>
          <p:cNvSpPr/>
          <p:nvPr/>
        </p:nvSpPr>
        <p:spPr bwMode="auto">
          <a:xfrm>
            <a:off x="2035618" y="2607140"/>
            <a:ext cx="530422" cy="530420"/>
          </a:xfrm>
          <a:prstGeom prst="ellipse">
            <a:avLst/>
          </a:prstGeom>
          <a:gradFill flip="none" rotWithShape="1">
            <a:gsLst>
              <a:gs pos="0">
                <a:srgbClr val="0078D4"/>
              </a:gs>
              <a:gs pos="80000">
                <a:srgbClr val="399A91"/>
              </a:gs>
            </a:gsLst>
            <a:path path="circle">
              <a:fillToRect l="100000" t="100000"/>
            </a:path>
            <a:tileRect r="-100000" b="-100000"/>
          </a:gradFill>
          <a:ln w="63897"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err="1">
              <a:ln>
                <a:noFill/>
              </a:ln>
              <a:solidFill>
                <a:srgbClr val="FFFFFF"/>
              </a:solidFill>
              <a:effectLst/>
              <a:uLnTx/>
              <a:uFillTx/>
              <a:latin typeface="Segoe UI"/>
              <a:ea typeface="+mn-ea"/>
              <a:cs typeface="+mn-cs"/>
            </a:endParaRPr>
          </a:p>
        </p:txBody>
      </p:sp>
      <p:pic>
        <p:nvPicPr>
          <p:cNvPr id="65" name="Graphic 64">
            <a:extLst>
              <a:ext uri="{FF2B5EF4-FFF2-40B4-BE49-F238E27FC236}">
                <a16:creationId xmlns:a16="http://schemas.microsoft.com/office/drawing/2014/main" id="{D728BADC-3648-052A-D068-78A870309B9F}"/>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26780" y="2698301"/>
            <a:ext cx="348099" cy="348099"/>
          </a:xfrm>
          <a:prstGeom prst="rect">
            <a:avLst/>
          </a:prstGeom>
        </p:spPr>
      </p:pic>
      <p:sp>
        <p:nvSpPr>
          <p:cNvPr id="99" name="Graphic 57">
            <a:extLst>
              <a:ext uri="{FF2B5EF4-FFF2-40B4-BE49-F238E27FC236}">
                <a16:creationId xmlns:a16="http://schemas.microsoft.com/office/drawing/2014/main" id="{0DC3FD86-F825-3ED2-9FD3-D5A4EADEC3B9}"/>
              </a:ext>
              <a:ext uri="{C183D7F6-B498-43B3-948B-1728B52AA6E4}">
                <adec:decorative xmlns:adec="http://schemas.microsoft.com/office/drawing/2017/decorative" val="1"/>
              </a:ext>
            </a:extLst>
          </p:cNvPr>
          <p:cNvSpPr/>
          <p:nvPr/>
        </p:nvSpPr>
        <p:spPr>
          <a:xfrm>
            <a:off x="4249566" y="2725786"/>
            <a:ext cx="275578" cy="275578"/>
          </a:xfrm>
          <a:custGeom>
            <a:avLst/>
            <a:gdLst>
              <a:gd name="connsiteX0" fmla="*/ 131625 w 333450"/>
              <a:gd name="connsiteY0" fmla="*/ 17550 h 333450"/>
              <a:gd name="connsiteX1" fmla="*/ 175500 w 333450"/>
              <a:gd name="connsiteY1" fmla="*/ 61425 h 333450"/>
              <a:gd name="connsiteX2" fmla="*/ 175500 w 333450"/>
              <a:gd name="connsiteY2" fmla="*/ 157950 h 333450"/>
              <a:gd name="connsiteX3" fmla="*/ 272025 w 333450"/>
              <a:gd name="connsiteY3" fmla="*/ 157950 h 333450"/>
              <a:gd name="connsiteX4" fmla="*/ 315900 w 333450"/>
              <a:gd name="connsiteY4" fmla="*/ 201825 h 333450"/>
              <a:gd name="connsiteX5" fmla="*/ 315900 w 333450"/>
              <a:gd name="connsiteY5" fmla="*/ 289575 h 333450"/>
              <a:gd name="connsiteX6" fmla="*/ 272025 w 333450"/>
              <a:gd name="connsiteY6" fmla="*/ 333450 h 333450"/>
              <a:gd name="connsiteX7" fmla="*/ 43875 w 333450"/>
              <a:gd name="connsiteY7" fmla="*/ 333450 h 333450"/>
              <a:gd name="connsiteX8" fmla="*/ 0 w 333450"/>
              <a:gd name="connsiteY8" fmla="*/ 289575 h 333450"/>
              <a:gd name="connsiteX9" fmla="*/ 0 w 333450"/>
              <a:gd name="connsiteY9" fmla="*/ 61425 h 333450"/>
              <a:gd name="connsiteX10" fmla="*/ 43875 w 333450"/>
              <a:gd name="connsiteY10" fmla="*/ 17550 h 333450"/>
              <a:gd name="connsiteX11" fmla="*/ 131625 w 333450"/>
              <a:gd name="connsiteY11" fmla="*/ 17550 h 333450"/>
              <a:gd name="connsiteX12" fmla="*/ 140400 w 333450"/>
              <a:gd name="connsiteY12" fmla="*/ 193050 h 333450"/>
              <a:gd name="connsiteX13" fmla="*/ 35100 w 333450"/>
              <a:gd name="connsiteY13" fmla="*/ 193050 h 333450"/>
              <a:gd name="connsiteX14" fmla="*/ 35100 w 333450"/>
              <a:gd name="connsiteY14" fmla="*/ 289575 h 333450"/>
              <a:gd name="connsiteX15" fmla="*/ 43875 w 333450"/>
              <a:gd name="connsiteY15" fmla="*/ 298350 h 333450"/>
              <a:gd name="connsiteX16" fmla="*/ 140400 w 333450"/>
              <a:gd name="connsiteY16" fmla="*/ 298350 h 333450"/>
              <a:gd name="connsiteX17" fmla="*/ 140400 w 333450"/>
              <a:gd name="connsiteY17" fmla="*/ 193050 h 333450"/>
              <a:gd name="connsiteX18" fmla="*/ 272025 w 333450"/>
              <a:gd name="connsiteY18" fmla="*/ 193050 h 333450"/>
              <a:gd name="connsiteX19" fmla="*/ 175500 w 333450"/>
              <a:gd name="connsiteY19" fmla="*/ 193050 h 333450"/>
              <a:gd name="connsiteX20" fmla="*/ 175500 w 333450"/>
              <a:gd name="connsiteY20" fmla="*/ 298350 h 333450"/>
              <a:gd name="connsiteX21" fmla="*/ 272025 w 333450"/>
              <a:gd name="connsiteY21" fmla="*/ 298350 h 333450"/>
              <a:gd name="connsiteX22" fmla="*/ 280800 w 333450"/>
              <a:gd name="connsiteY22" fmla="*/ 289575 h 333450"/>
              <a:gd name="connsiteX23" fmla="*/ 280800 w 333450"/>
              <a:gd name="connsiteY23" fmla="*/ 201825 h 333450"/>
              <a:gd name="connsiteX24" fmla="*/ 272025 w 333450"/>
              <a:gd name="connsiteY24" fmla="*/ 193050 h 333450"/>
              <a:gd name="connsiteX25" fmla="*/ 131625 w 333450"/>
              <a:gd name="connsiteY25" fmla="*/ 52650 h 333450"/>
              <a:gd name="connsiteX26" fmla="*/ 43875 w 333450"/>
              <a:gd name="connsiteY26" fmla="*/ 52650 h 333450"/>
              <a:gd name="connsiteX27" fmla="*/ 35100 w 333450"/>
              <a:gd name="connsiteY27" fmla="*/ 61425 h 333450"/>
              <a:gd name="connsiteX28" fmla="*/ 35100 w 333450"/>
              <a:gd name="connsiteY28" fmla="*/ 157950 h 333450"/>
              <a:gd name="connsiteX29" fmla="*/ 140400 w 333450"/>
              <a:gd name="connsiteY29" fmla="*/ 157950 h 333450"/>
              <a:gd name="connsiteX30" fmla="*/ 140400 w 333450"/>
              <a:gd name="connsiteY30" fmla="*/ 61425 h 333450"/>
              <a:gd name="connsiteX31" fmla="*/ 131625 w 333450"/>
              <a:gd name="connsiteY31" fmla="*/ 52650 h 333450"/>
              <a:gd name="connsiteX32" fmla="*/ 261197 w 333450"/>
              <a:gd name="connsiteY32" fmla="*/ 123 h 333450"/>
              <a:gd name="connsiteX33" fmla="*/ 263250 w 333450"/>
              <a:gd name="connsiteY33" fmla="*/ 0 h 333450"/>
              <a:gd name="connsiteX34" fmla="*/ 280677 w 333450"/>
              <a:gd name="connsiteY34" fmla="*/ 15497 h 333450"/>
              <a:gd name="connsiteX35" fmla="*/ 280800 w 333450"/>
              <a:gd name="connsiteY35" fmla="*/ 17550 h 333450"/>
              <a:gd name="connsiteX36" fmla="*/ 280800 w 333450"/>
              <a:gd name="connsiteY36" fmla="*/ 52650 h 333450"/>
              <a:gd name="connsiteX37" fmla="*/ 315900 w 333450"/>
              <a:gd name="connsiteY37" fmla="*/ 52650 h 333450"/>
              <a:gd name="connsiteX38" fmla="*/ 333327 w 333450"/>
              <a:gd name="connsiteY38" fmla="*/ 68147 h 333450"/>
              <a:gd name="connsiteX39" fmla="*/ 333450 w 333450"/>
              <a:gd name="connsiteY39" fmla="*/ 70200 h 333450"/>
              <a:gd name="connsiteX40" fmla="*/ 317953 w 333450"/>
              <a:gd name="connsiteY40" fmla="*/ 87627 h 333450"/>
              <a:gd name="connsiteX41" fmla="*/ 315900 w 333450"/>
              <a:gd name="connsiteY41" fmla="*/ 87750 h 333450"/>
              <a:gd name="connsiteX42" fmla="*/ 280800 w 333450"/>
              <a:gd name="connsiteY42" fmla="*/ 87750 h 333450"/>
              <a:gd name="connsiteX43" fmla="*/ 280800 w 333450"/>
              <a:gd name="connsiteY43" fmla="*/ 122850 h 333450"/>
              <a:gd name="connsiteX44" fmla="*/ 265303 w 333450"/>
              <a:gd name="connsiteY44" fmla="*/ 140277 h 333450"/>
              <a:gd name="connsiteX45" fmla="*/ 263250 w 333450"/>
              <a:gd name="connsiteY45" fmla="*/ 140400 h 333450"/>
              <a:gd name="connsiteX46" fmla="*/ 245823 w 333450"/>
              <a:gd name="connsiteY46" fmla="*/ 124903 h 333450"/>
              <a:gd name="connsiteX47" fmla="*/ 245700 w 333450"/>
              <a:gd name="connsiteY47" fmla="*/ 122850 h 333450"/>
              <a:gd name="connsiteX48" fmla="*/ 245700 w 333450"/>
              <a:gd name="connsiteY48" fmla="*/ 87750 h 333450"/>
              <a:gd name="connsiteX49" fmla="*/ 210600 w 333450"/>
              <a:gd name="connsiteY49" fmla="*/ 87750 h 333450"/>
              <a:gd name="connsiteX50" fmla="*/ 193173 w 333450"/>
              <a:gd name="connsiteY50" fmla="*/ 72253 h 333450"/>
              <a:gd name="connsiteX51" fmla="*/ 193050 w 333450"/>
              <a:gd name="connsiteY51" fmla="*/ 70200 h 333450"/>
              <a:gd name="connsiteX52" fmla="*/ 208547 w 333450"/>
              <a:gd name="connsiteY52" fmla="*/ 52773 h 333450"/>
              <a:gd name="connsiteX53" fmla="*/ 210600 w 333450"/>
              <a:gd name="connsiteY53" fmla="*/ 52650 h 333450"/>
              <a:gd name="connsiteX54" fmla="*/ 245700 w 333450"/>
              <a:gd name="connsiteY54" fmla="*/ 52650 h 333450"/>
              <a:gd name="connsiteX55" fmla="*/ 245700 w 333450"/>
              <a:gd name="connsiteY55" fmla="*/ 17550 h 333450"/>
              <a:gd name="connsiteX56" fmla="*/ 261197 w 333450"/>
              <a:gd name="connsiteY56" fmla="*/ 123 h 333450"/>
              <a:gd name="connsiteX57" fmla="*/ 263250 w 333450"/>
              <a:gd name="connsiteY57" fmla="*/ 0 h 333450"/>
              <a:gd name="connsiteX58" fmla="*/ 261197 w 333450"/>
              <a:gd name="connsiteY58" fmla="*/ 123 h 3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33450" h="333450">
                <a:moveTo>
                  <a:pt x="131625" y="17550"/>
                </a:moveTo>
                <a:cubicBezTo>
                  <a:pt x="155856" y="17550"/>
                  <a:pt x="175500" y="37194"/>
                  <a:pt x="175500" y="61425"/>
                </a:cubicBezTo>
                <a:lnTo>
                  <a:pt x="175500" y="157950"/>
                </a:lnTo>
                <a:lnTo>
                  <a:pt x="272025" y="157950"/>
                </a:lnTo>
                <a:cubicBezTo>
                  <a:pt x="296256" y="157950"/>
                  <a:pt x="315900" y="177594"/>
                  <a:pt x="315900" y="201825"/>
                </a:cubicBezTo>
                <a:lnTo>
                  <a:pt x="315900" y="289575"/>
                </a:lnTo>
                <a:cubicBezTo>
                  <a:pt x="315900" y="313806"/>
                  <a:pt x="296256" y="333450"/>
                  <a:pt x="272025" y="333450"/>
                </a:cubicBezTo>
                <a:lnTo>
                  <a:pt x="43875" y="333450"/>
                </a:lnTo>
                <a:cubicBezTo>
                  <a:pt x="19644" y="333450"/>
                  <a:pt x="0" y="313806"/>
                  <a:pt x="0" y="289575"/>
                </a:cubicBezTo>
                <a:lnTo>
                  <a:pt x="0" y="61425"/>
                </a:lnTo>
                <a:cubicBezTo>
                  <a:pt x="0" y="37194"/>
                  <a:pt x="19644" y="17550"/>
                  <a:pt x="43875" y="17550"/>
                </a:cubicBezTo>
                <a:lnTo>
                  <a:pt x="131625" y="17550"/>
                </a:lnTo>
                <a:close/>
                <a:moveTo>
                  <a:pt x="140400" y="193050"/>
                </a:moveTo>
                <a:lnTo>
                  <a:pt x="35100" y="193050"/>
                </a:lnTo>
                <a:lnTo>
                  <a:pt x="35100" y="289575"/>
                </a:lnTo>
                <a:cubicBezTo>
                  <a:pt x="35100" y="294421"/>
                  <a:pt x="39029" y="298350"/>
                  <a:pt x="43875" y="298350"/>
                </a:cubicBezTo>
                <a:lnTo>
                  <a:pt x="140400" y="298350"/>
                </a:lnTo>
                <a:lnTo>
                  <a:pt x="140400" y="193050"/>
                </a:lnTo>
                <a:close/>
                <a:moveTo>
                  <a:pt x="272025" y="193050"/>
                </a:moveTo>
                <a:lnTo>
                  <a:pt x="175500" y="193050"/>
                </a:lnTo>
                <a:lnTo>
                  <a:pt x="175500" y="298350"/>
                </a:lnTo>
                <a:lnTo>
                  <a:pt x="272025" y="298350"/>
                </a:lnTo>
                <a:cubicBezTo>
                  <a:pt x="276871" y="298350"/>
                  <a:pt x="280800" y="294421"/>
                  <a:pt x="280800" y="289575"/>
                </a:cubicBezTo>
                <a:lnTo>
                  <a:pt x="280800" y="201825"/>
                </a:lnTo>
                <a:cubicBezTo>
                  <a:pt x="280800" y="196979"/>
                  <a:pt x="276871" y="193050"/>
                  <a:pt x="272025" y="193050"/>
                </a:cubicBezTo>
                <a:close/>
                <a:moveTo>
                  <a:pt x="131625" y="52650"/>
                </a:moveTo>
                <a:lnTo>
                  <a:pt x="43875" y="52650"/>
                </a:lnTo>
                <a:cubicBezTo>
                  <a:pt x="39029" y="52650"/>
                  <a:pt x="35100" y="56579"/>
                  <a:pt x="35100" y="61425"/>
                </a:cubicBezTo>
                <a:lnTo>
                  <a:pt x="35100" y="157950"/>
                </a:lnTo>
                <a:lnTo>
                  <a:pt x="140400" y="157950"/>
                </a:lnTo>
                <a:lnTo>
                  <a:pt x="140400" y="61425"/>
                </a:lnTo>
                <a:cubicBezTo>
                  <a:pt x="140400" y="56579"/>
                  <a:pt x="136471" y="52650"/>
                  <a:pt x="131625" y="52650"/>
                </a:cubicBezTo>
                <a:close/>
                <a:moveTo>
                  <a:pt x="261197" y="123"/>
                </a:moveTo>
                <a:lnTo>
                  <a:pt x="263250" y="0"/>
                </a:lnTo>
                <a:cubicBezTo>
                  <a:pt x="272148" y="1"/>
                  <a:pt x="279636" y="6660"/>
                  <a:pt x="280677" y="15497"/>
                </a:cubicBezTo>
                <a:lnTo>
                  <a:pt x="280800" y="17550"/>
                </a:lnTo>
                <a:lnTo>
                  <a:pt x="280800" y="52650"/>
                </a:lnTo>
                <a:lnTo>
                  <a:pt x="315900" y="52650"/>
                </a:lnTo>
                <a:cubicBezTo>
                  <a:pt x="324798" y="52651"/>
                  <a:pt x="332286" y="59310"/>
                  <a:pt x="333327" y="68147"/>
                </a:cubicBezTo>
                <a:lnTo>
                  <a:pt x="333450" y="70200"/>
                </a:lnTo>
                <a:cubicBezTo>
                  <a:pt x="333448" y="79097"/>
                  <a:pt x="326790" y="86586"/>
                  <a:pt x="317953" y="87627"/>
                </a:cubicBezTo>
                <a:lnTo>
                  <a:pt x="315900" y="87750"/>
                </a:lnTo>
                <a:lnTo>
                  <a:pt x="280800" y="87750"/>
                </a:lnTo>
                <a:lnTo>
                  <a:pt x="280800" y="122850"/>
                </a:lnTo>
                <a:cubicBezTo>
                  <a:pt x="280798" y="131748"/>
                  <a:pt x="274140" y="139236"/>
                  <a:pt x="265303" y="140277"/>
                </a:cubicBezTo>
                <a:lnTo>
                  <a:pt x="263250" y="140400"/>
                </a:lnTo>
                <a:cubicBezTo>
                  <a:pt x="254352" y="140399"/>
                  <a:pt x="246864" y="133740"/>
                  <a:pt x="245823" y="124903"/>
                </a:cubicBezTo>
                <a:lnTo>
                  <a:pt x="245700" y="122850"/>
                </a:lnTo>
                <a:lnTo>
                  <a:pt x="245700" y="87750"/>
                </a:lnTo>
                <a:lnTo>
                  <a:pt x="210600" y="87750"/>
                </a:lnTo>
                <a:cubicBezTo>
                  <a:pt x="201702" y="87749"/>
                  <a:pt x="194214" y="81090"/>
                  <a:pt x="193173" y="72253"/>
                </a:cubicBezTo>
                <a:lnTo>
                  <a:pt x="193050" y="70200"/>
                </a:lnTo>
                <a:cubicBezTo>
                  <a:pt x="193052" y="61303"/>
                  <a:pt x="199710" y="53814"/>
                  <a:pt x="208547" y="52773"/>
                </a:cubicBezTo>
                <a:lnTo>
                  <a:pt x="210600" y="52650"/>
                </a:lnTo>
                <a:lnTo>
                  <a:pt x="245700" y="52650"/>
                </a:lnTo>
                <a:lnTo>
                  <a:pt x="245700" y="17550"/>
                </a:lnTo>
                <a:cubicBezTo>
                  <a:pt x="245702" y="8653"/>
                  <a:pt x="252360" y="1164"/>
                  <a:pt x="261197" y="123"/>
                </a:cubicBezTo>
                <a:lnTo>
                  <a:pt x="263250" y="0"/>
                </a:lnTo>
                <a:lnTo>
                  <a:pt x="261197" y="123"/>
                </a:lnTo>
                <a:close/>
              </a:path>
            </a:pathLst>
          </a:custGeom>
          <a:solidFill>
            <a:schemeClr val="tx1"/>
          </a:solidFill>
          <a:ln w="7761" cap="flat">
            <a:noFill/>
            <a:prstDash val="solid"/>
            <a:miter/>
          </a:ln>
        </p:spPr>
        <p:txBody>
          <a:bodyPr rtlCol="0" anchor="ctr"/>
          <a:lstStyle/>
          <a:p>
            <a:endParaRPr lang="en-US"/>
          </a:p>
        </p:txBody>
      </p:sp>
      <p:pic>
        <p:nvPicPr>
          <p:cNvPr id="100" name="Graphic 99">
            <a:extLst>
              <a:ext uri="{FF2B5EF4-FFF2-40B4-BE49-F238E27FC236}">
                <a16:creationId xmlns:a16="http://schemas.microsoft.com/office/drawing/2014/main" id="{3E4030E8-EE0F-D12D-0BA0-FA15546E4AB0}"/>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82282" y="2698301"/>
            <a:ext cx="348099" cy="348099"/>
          </a:xfrm>
          <a:prstGeom prst="rect">
            <a:avLst/>
          </a:prstGeom>
        </p:spPr>
      </p:pic>
      <p:pic>
        <p:nvPicPr>
          <p:cNvPr id="101" name="Graphic 100">
            <a:extLst>
              <a:ext uri="{FF2B5EF4-FFF2-40B4-BE49-F238E27FC236}">
                <a16:creationId xmlns:a16="http://schemas.microsoft.com/office/drawing/2014/main" id="{62E3997D-BD50-1FFD-3E8E-784833FD49F8}"/>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53604" y="2714123"/>
            <a:ext cx="316454" cy="316454"/>
          </a:xfrm>
          <a:prstGeom prst="rect">
            <a:avLst/>
          </a:prstGeom>
        </p:spPr>
      </p:pic>
      <p:pic>
        <p:nvPicPr>
          <p:cNvPr id="102" name="Graphic 101">
            <a:extLst>
              <a:ext uri="{FF2B5EF4-FFF2-40B4-BE49-F238E27FC236}">
                <a16:creationId xmlns:a16="http://schemas.microsoft.com/office/drawing/2014/main" id="{4166E6B7-B76F-46D4-C018-AE09A5C301D6}"/>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360033" y="2698301"/>
            <a:ext cx="348099" cy="348099"/>
          </a:xfrm>
          <a:prstGeom prst="rect">
            <a:avLst/>
          </a:prstGeom>
        </p:spPr>
      </p:pic>
      <p:cxnSp>
        <p:nvCxnSpPr>
          <p:cNvPr id="103" name="Straight Arrow Connector 102">
            <a:extLst>
              <a:ext uri="{FF2B5EF4-FFF2-40B4-BE49-F238E27FC236}">
                <a16:creationId xmlns:a16="http://schemas.microsoft.com/office/drawing/2014/main" id="{A459C467-4791-A382-345E-F5A41D48CB39}"/>
              </a:ext>
              <a:ext uri="{C183D7F6-B498-43B3-948B-1728B52AA6E4}">
                <adec:decorative xmlns:adec="http://schemas.microsoft.com/office/drawing/2017/decorative" val="1"/>
              </a:ext>
            </a:extLst>
          </p:cNvPr>
          <p:cNvCxnSpPr>
            <a:cxnSpLocks/>
          </p:cNvCxnSpPr>
          <p:nvPr/>
        </p:nvCxnSpPr>
        <p:spPr>
          <a:xfrm>
            <a:off x="6498480" y="3642732"/>
            <a:ext cx="2031207" cy="0"/>
          </a:xfrm>
          <a:prstGeom prst="straightConnector1">
            <a:avLst/>
          </a:prstGeom>
          <a:noFill/>
          <a:ln w="19050" cap="flat">
            <a:gradFill flip="none" rotWithShape="1">
              <a:gsLst>
                <a:gs pos="100000">
                  <a:srgbClr val="F4364C"/>
                </a:gs>
                <a:gs pos="41000">
                  <a:srgbClr val="399A91"/>
                </a:gs>
                <a:gs pos="0">
                  <a:srgbClr val="0078D4"/>
                </a:gs>
              </a:gsLst>
              <a:path path="circle">
                <a:fillToRect l="100000" t="100000"/>
              </a:path>
              <a:tileRect r="-100000" b="-100000"/>
            </a:gradFill>
            <a:prstDash val="solid"/>
            <a:miter/>
            <a:tailEnd type="diamond" w="lg" len="lg"/>
          </a:ln>
          <a:effectLst>
            <a:outerShdw blurRad="63500" dist="63500" dir="2700000" algn="tl" rotWithShape="0">
              <a:prstClr val="black">
                <a:alpha val="50000"/>
              </a:prstClr>
            </a:outerShdw>
          </a:effectLst>
          <a:extLst>
            <a:ext uri="{909E8E84-426E-40DD-AFC4-6F175D3DCCD1}">
              <a14:hiddenFill xmlns:a14="http://schemas.microsoft.com/office/drawing/2010/main">
                <a:solidFill>
                  <a:srgbClr val="FFFFFF"/>
                </a:solidFill>
              </a14:hiddenFill>
            </a:ext>
          </a:extLst>
        </p:spPr>
      </p:cxnSp>
      <p:sp>
        <p:nvSpPr>
          <p:cNvPr id="104" name="TextBox 103">
            <a:extLst>
              <a:ext uri="{FF2B5EF4-FFF2-40B4-BE49-F238E27FC236}">
                <a16:creationId xmlns:a16="http://schemas.microsoft.com/office/drawing/2014/main" id="{722DDEB4-9938-4A1A-77FA-4A69E1FA6C50}"/>
              </a:ext>
            </a:extLst>
          </p:cNvPr>
          <p:cNvSpPr txBox="1"/>
          <p:nvPr/>
        </p:nvSpPr>
        <p:spPr>
          <a:xfrm>
            <a:off x="491204" y="3573809"/>
            <a:ext cx="843500" cy="461665"/>
          </a:xfrm>
          <a:prstGeom prst="rect">
            <a:avLst/>
          </a:prstGeom>
          <a:noFill/>
        </p:spPr>
        <p:txBody>
          <a:bodyPr wrap="none" rtlCol="0">
            <a:spAutoFit/>
          </a:bodyPr>
          <a:lstStyle/>
          <a:p>
            <a:pPr algn="ctr"/>
            <a:r>
              <a:rPr lang="en-US" sz="1200"/>
              <a:t>Container</a:t>
            </a:r>
          </a:p>
          <a:p>
            <a:pPr algn="ctr"/>
            <a:r>
              <a:rPr lang="en-US" sz="1200"/>
              <a:t>Image</a:t>
            </a:r>
          </a:p>
        </p:txBody>
      </p:sp>
      <p:sp>
        <p:nvSpPr>
          <p:cNvPr id="105" name="TextBox 104">
            <a:extLst>
              <a:ext uri="{FF2B5EF4-FFF2-40B4-BE49-F238E27FC236}">
                <a16:creationId xmlns:a16="http://schemas.microsoft.com/office/drawing/2014/main" id="{5E2DD5F7-5614-4C5B-4348-FF880E63D0E6}"/>
              </a:ext>
            </a:extLst>
          </p:cNvPr>
          <p:cNvSpPr txBox="1"/>
          <p:nvPr/>
        </p:nvSpPr>
        <p:spPr>
          <a:xfrm>
            <a:off x="1840603" y="3181016"/>
            <a:ext cx="920452"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Acquire</a:t>
            </a:r>
          </a:p>
        </p:txBody>
      </p:sp>
      <p:sp>
        <p:nvSpPr>
          <p:cNvPr id="106" name="TextBox 105">
            <a:extLst>
              <a:ext uri="{FF2B5EF4-FFF2-40B4-BE49-F238E27FC236}">
                <a16:creationId xmlns:a16="http://schemas.microsoft.com/office/drawing/2014/main" id="{F3F888AD-4A32-34AB-EEFA-80BE14739472}"/>
              </a:ext>
            </a:extLst>
          </p:cNvPr>
          <p:cNvSpPr txBox="1"/>
          <p:nvPr/>
        </p:nvSpPr>
        <p:spPr>
          <a:xfrm>
            <a:off x="1597650" y="3942154"/>
            <a:ext cx="1440000" cy="1107996"/>
          </a:xfrm>
          <a:prstGeom prst="rect">
            <a:avLst/>
          </a:prstGeom>
          <a:noFill/>
        </p:spPr>
        <p:txBody>
          <a:bodyPr wrap="square" lIns="0" tIns="0" rIns="0" bIns="0" rtlCol="0">
            <a:spAutoFit/>
          </a:bodyPr>
          <a:lstStyle/>
          <a:p>
            <a:pPr algn="l"/>
            <a:r>
              <a:rPr lang="en-US" sz="1200"/>
              <a:t>Create attestations for source location, license check, vulnerability and malware scan. Add SBOM if missing.</a:t>
            </a:r>
          </a:p>
        </p:txBody>
      </p:sp>
      <p:sp>
        <p:nvSpPr>
          <p:cNvPr id="107" name="TextBox 106">
            <a:extLst>
              <a:ext uri="{FF2B5EF4-FFF2-40B4-BE49-F238E27FC236}">
                <a16:creationId xmlns:a16="http://schemas.microsoft.com/office/drawing/2014/main" id="{EFF6A951-E860-C527-C758-73CF18314363}"/>
              </a:ext>
            </a:extLst>
          </p:cNvPr>
          <p:cNvSpPr txBox="1"/>
          <p:nvPr/>
        </p:nvSpPr>
        <p:spPr>
          <a:xfrm>
            <a:off x="3917780" y="3181016"/>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Catalog</a:t>
            </a:r>
          </a:p>
        </p:txBody>
      </p:sp>
      <p:sp>
        <p:nvSpPr>
          <p:cNvPr id="108" name="TextBox 107">
            <a:extLst>
              <a:ext uri="{FF2B5EF4-FFF2-40B4-BE49-F238E27FC236}">
                <a16:creationId xmlns:a16="http://schemas.microsoft.com/office/drawing/2014/main" id="{D2C21C9E-C7DE-B585-4B0F-22D5E6155BCF}"/>
              </a:ext>
            </a:extLst>
          </p:cNvPr>
          <p:cNvSpPr txBox="1"/>
          <p:nvPr/>
        </p:nvSpPr>
        <p:spPr>
          <a:xfrm>
            <a:off x="3732992" y="3942154"/>
            <a:ext cx="1319342" cy="923330"/>
          </a:xfrm>
          <a:prstGeom prst="rect">
            <a:avLst/>
          </a:prstGeom>
          <a:noFill/>
        </p:spPr>
        <p:txBody>
          <a:bodyPr wrap="square" lIns="0" tIns="0" rIns="0" bIns="0" rtlCol="0">
            <a:spAutoFit/>
          </a:bodyPr>
          <a:lstStyle/>
          <a:p>
            <a:r>
              <a:rPr lang="en-GB" sz="1200"/>
              <a:t>Create attestations for vulnerability and malware scans. Attest for end-of-life and updates.</a:t>
            </a:r>
          </a:p>
        </p:txBody>
      </p:sp>
      <p:sp>
        <p:nvSpPr>
          <p:cNvPr id="109" name="TextBox 108">
            <a:extLst>
              <a:ext uri="{FF2B5EF4-FFF2-40B4-BE49-F238E27FC236}">
                <a16:creationId xmlns:a16="http://schemas.microsoft.com/office/drawing/2014/main" id="{345AEE22-71E0-0141-01D8-14AF9CE631EB}"/>
              </a:ext>
            </a:extLst>
          </p:cNvPr>
          <p:cNvSpPr txBox="1"/>
          <p:nvPr/>
        </p:nvSpPr>
        <p:spPr>
          <a:xfrm>
            <a:off x="5995531" y="3181016"/>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Build</a:t>
            </a:r>
          </a:p>
        </p:txBody>
      </p:sp>
      <p:sp>
        <p:nvSpPr>
          <p:cNvPr id="110" name="TextBox 109">
            <a:extLst>
              <a:ext uri="{FF2B5EF4-FFF2-40B4-BE49-F238E27FC236}">
                <a16:creationId xmlns:a16="http://schemas.microsoft.com/office/drawing/2014/main" id="{E699020E-FE0B-B19A-AE93-2A07CBFB103C}"/>
              </a:ext>
            </a:extLst>
          </p:cNvPr>
          <p:cNvSpPr txBox="1"/>
          <p:nvPr/>
        </p:nvSpPr>
        <p:spPr>
          <a:xfrm>
            <a:off x="5806203" y="3942154"/>
            <a:ext cx="1325377" cy="738664"/>
          </a:xfrm>
          <a:prstGeom prst="rect">
            <a:avLst/>
          </a:prstGeom>
          <a:noFill/>
        </p:spPr>
        <p:txBody>
          <a:bodyPr wrap="square" lIns="0" tIns="0" rIns="0" bIns="0" rtlCol="0">
            <a:spAutoFit/>
          </a:bodyPr>
          <a:lstStyle/>
          <a:p>
            <a:pPr algn="l"/>
            <a:r>
              <a:rPr lang="en-US" sz="1200"/>
              <a:t>Create provenance and SBOMs. Attest for vulnerability and malware scans. </a:t>
            </a:r>
          </a:p>
        </p:txBody>
      </p:sp>
      <p:sp>
        <p:nvSpPr>
          <p:cNvPr id="111" name="TextBox 110">
            <a:extLst>
              <a:ext uri="{FF2B5EF4-FFF2-40B4-BE49-F238E27FC236}">
                <a16:creationId xmlns:a16="http://schemas.microsoft.com/office/drawing/2014/main" id="{369EFCA7-029B-A1C5-C664-D598A18FEEEC}"/>
              </a:ext>
            </a:extLst>
          </p:cNvPr>
          <p:cNvSpPr txBox="1"/>
          <p:nvPr/>
        </p:nvSpPr>
        <p:spPr>
          <a:xfrm>
            <a:off x="8073282" y="3181016"/>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2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600">
                <a:solidFill>
                  <a:schemeClr val="tx1"/>
                </a:solidFill>
              </a:rPr>
              <a:t>Deploy</a:t>
            </a:r>
          </a:p>
        </p:txBody>
      </p:sp>
      <p:sp>
        <p:nvSpPr>
          <p:cNvPr id="112" name="TextBox 111">
            <a:extLst>
              <a:ext uri="{FF2B5EF4-FFF2-40B4-BE49-F238E27FC236}">
                <a16:creationId xmlns:a16="http://schemas.microsoft.com/office/drawing/2014/main" id="{812351A2-02E2-2DCF-11A5-3D64F6D8AB28}"/>
              </a:ext>
            </a:extLst>
          </p:cNvPr>
          <p:cNvSpPr txBox="1"/>
          <p:nvPr/>
        </p:nvSpPr>
        <p:spPr>
          <a:xfrm>
            <a:off x="7834915" y="3942154"/>
            <a:ext cx="1440000" cy="553998"/>
          </a:xfrm>
          <a:prstGeom prst="rect">
            <a:avLst/>
          </a:prstGeom>
          <a:noFill/>
        </p:spPr>
        <p:txBody>
          <a:bodyPr wrap="square" lIns="0" tIns="0" rIns="0" bIns="0" rtlCol="0">
            <a:spAutoFit/>
          </a:bodyPr>
          <a:lstStyle/>
          <a:p>
            <a:pPr algn="l"/>
            <a:r>
              <a:rPr lang="en-US" sz="1200"/>
              <a:t>Attest for deployment and policy validations.</a:t>
            </a:r>
          </a:p>
        </p:txBody>
      </p:sp>
      <p:sp>
        <p:nvSpPr>
          <p:cNvPr id="113" name="TextBox 112">
            <a:extLst>
              <a:ext uri="{FF2B5EF4-FFF2-40B4-BE49-F238E27FC236}">
                <a16:creationId xmlns:a16="http://schemas.microsoft.com/office/drawing/2014/main" id="{7C872AC2-6FA3-3272-589A-6114256A485C}"/>
              </a:ext>
            </a:extLst>
          </p:cNvPr>
          <p:cNvSpPr txBox="1"/>
          <p:nvPr/>
        </p:nvSpPr>
        <p:spPr>
          <a:xfrm>
            <a:off x="10151031" y="3181016"/>
            <a:ext cx="921600" cy="353496"/>
          </a:xfrm>
          <a:prstGeom prst="roundRect">
            <a:avLst/>
          </a:prstGeom>
          <a:noFill/>
          <a:ln w="19050" cap="flat">
            <a:noFill/>
            <a:prstDash val="solid"/>
            <a:miter/>
          </a:ln>
          <a:effectLst>
            <a:outerShdw blurRad="63500" dist="63500" dir="2700000" algn="tl" rotWithShape="0">
              <a:prstClr val="black">
                <a:alpha val="50000"/>
              </a:prstClr>
            </a:outerShdw>
          </a:effectLst>
        </p:spPr>
        <p:txBody>
          <a:bodyPr rot="0" spcFirstLastPara="0" vertOverflow="overflow" horzOverflow="overflow" vert="horz" wrap="square" lIns="91440" tIns="36000" rIns="91440" bIns="36576" numCol="1" spcCol="0" rtlCol="0" fromWordArt="0" anchor="ctr" anchorCtr="0" forceAA="0" compatLnSpc="1">
            <a:prstTxWarp prst="textNoShape">
              <a:avLst/>
            </a:prstTxWarp>
            <a:spAutoFit/>
          </a:bodyPr>
          <a:lstStyle>
            <a:defPPr>
              <a:defRPr lang="en-US"/>
            </a:defPPr>
            <a:lvl1pPr marR="0" lvl="0" indent="0" algn="ctr" defTabSz="914400" fontAlgn="base">
              <a:lnSpc>
                <a:spcPct val="100000"/>
              </a:lnSpc>
              <a:spcBef>
                <a:spcPct val="0"/>
              </a:spcBef>
              <a:spcAft>
                <a:spcPct val="0"/>
              </a:spcAft>
              <a:buClrTx/>
              <a:buSzTx/>
              <a:buFontTx/>
              <a:buNone/>
              <a:tabLst/>
              <a:defRPr kumimoji="0" sz="1600" u="none" strike="noStrike" cap="none" spc="0" normalizeH="0" baseline="0">
                <a:ln w="3175">
                  <a:noFill/>
                </a:ln>
                <a:gradFill>
                  <a:gsLst>
                    <a:gs pos="74825">
                      <a:srgbClr val="FFFFFF"/>
                    </a:gs>
                    <a:gs pos="53147">
                      <a:srgbClr val="FFFFFF"/>
                    </a:gs>
                  </a:gsLst>
                  <a:path path="circle">
                    <a:fillToRect l="100000" b="100000"/>
                  </a:path>
                </a:gradFill>
                <a:effectLst/>
                <a:uLnTx/>
                <a:uFillTx/>
                <a:latin typeface="Segoe UI" panose="020B0502040204020203" pitchFamily="34" charset="0"/>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a:solidFill>
                  <a:schemeClr val="tx1"/>
                </a:solidFill>
              </a:rPr>
              <a:t>Run</a:t>
            </a:r>
          </a:p>
        </p:txBody>
      </p:sp>
      <p:sp>
        <p:nvSpPr>
          <p:cNvPr id="114" name="TextBox 113">
            <a:extLst>
              <a:ext uri="{FF2B5EF4-FFF2-40B4-BE49-F238E27FC236}">
                <a16:creationId xmlns:a16="http://schemas.microsoft.com/office/drawing/2014/main" id="{65F1D644-53DD-52CC-F7BA-03D8A8891783}"/>
              </a:ext>
            </a:extLst>
          </p:cNvPr>
          <p:cNvSpPr txBox="1"/>
          <p:nvPr/>
        </p:nvSpPr>
        <p:spPr>
          <a:xfrm>
            <a:off x="9948479" y="3942154"/>
            <a:ext cx="1348109" cy="553998"/>
          </a:xfrm>
          <a:prstGeom prst="rect">
            <a:avLst/>
          </a:prstGeom>
          <a:noFill/>
        </p:spPr>
        <p:txBody>
          <a:bodyPr wrap="square" lIns="0" tIns="0" rIns="0" bIns="0" rtlCol="0">
            <a:spAutoFit/>
          </a:bodyPr>
          <a:lstStyle/>
          <a:p>
            <a:pPr algn="l"/>
            <a:r>
              <a:rPr lang="en-US" sz="1200"/>
              <a:t>Create scan attestations and eviction attestation.</a:t>
            </a:r>
          </a:p>
        </p:txBody>
      </p:sp>
    </p:spTree>
    <p:extLst>
      <p:ext uri="{BB962C8B-B14F-4D97-AF65-F5344CB8AC3E}">
        <p14:creationId xmlns:p14="http://schemas.microsoft.com/office/powerpoint/2010/main" val="34733529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C1A1-EE84-C8BE-193B-BC31CC34E027}"/>
              </a:ext>
            </a:extLst>
          </p:cNvPr>
          <p:cNvSpPr>
            <a:spLocks noGrp="1"/>
          </p:cNvSpPr>
          <p:nvPr>
            <p:ph type="title"/>
          </p:nvPr>
        </p:nvSpPr>
        <p:spPr>
          <a:xfrm>
            <a:off x="584200" y="3318975"/>
            <a:ext cx="9169400" cy="2031325"/>
          </a:xfrm>
        </p:spPr>
        <p:txBody>
          <a:bodyPr/>
          <a:lstStyle/>
          <a:p>
            <a:r>
              <a:rPr lang="en-US">
                <a:latin typeface="Segoe UI Semibold"/>
                <a:cs typeface="Segoe UI Semibold"/>
              </a:rPr>
              <a:t>Security Options for AKS</a:t>
            </a:r>
            <a:endParaRPr lang="en-US"/>
          </a:p>
        </p:txBody>
      </p:sp>
      <p:sp>
        <p:nvSpPr>
          <p:cNvPr id="3" name="Text Placeholder 2">
            <a:extLst>
              <a:ext uri="{FF2B5EF4-FFF2-40B4-BE49-F238E27FC236}">
                <a16:creationId xmlns:a16="http://schemas.microsoft.com/office/drawing/2014/main" id="{D8DE3AA9-2A7C-D15B-1AFA-6F8152D45376}"/>
              </a:ext>
            </a:extLst>
          </p:cNvPr>
          <p:cNvSpPr>
            <a:spLocks noGrp="1"/>
          </p:cNvSpPr>
          <p:nvPr>
            <p:ph type="body" sz="quarter" idx="12"/>
          </p:nvPr>
        </p:nvSpPr>
        <p:spPr/>
        <p:txBody>
          <a:bodyPr/>
          <a:lstStyle/>
          <a:p>
            <a:endParaRPr lang="en-US"/>
          </a:p>
        </p:txBody>
      </p:sp>
      <p:sp>
        <p:nvSpPr>
          <p:cNvPr id="4" name="Footer Placeholder 3">
            <a:extLst>
              <a:ext uri="{FF2B5EF4-FFF2-40B4-BE49-F238E27FC236}">
                <a16:creationId xmlns:a16="http://schemas.microsoft.com/office/drawing/2014/main" id="{A429CD93-6392-948B-E224-7743D3E492F5}"/>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5" name="Slide Number Placeholder 4">
            <a:extLst>
              <a:ext uri="{FF2B5EF4-FFF2-40B4-BE49-F238E27FC236}">
                <a16:creationId xmlns:a16="http://schemas.microsoft.com/office/drawing/2014/main" id="{01A2FCAC-CE41-8BC8-06C7-4D4378B23805}"/>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20022412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70CE2-5C76-FF28-FB73-61DFE40DC3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4081550-DB98-6BF0-1D9C-CCB2384B8E0E}"/>
              </a:ext>
            </a:extLst>
          </p:cNvPr>
          <p:cNvSpPr>
            <a:spLocks noGrp="1"/>
          </p:cNvSpPr>
          <p:nvPr>
            <p:ph type="title"/>
          </p:nvPr>
        </p:nvSpPr>
        <p:spPr>
          <a:xfrm>
            <a:off x="575481" y="599436"/>
            <a:ext cx="11018520" cy="1107996"/>
          </a:xfrm>
        </p:spPr>
        <p:txBody>
          <a:bodyPr/>
          <a:lstStyle/>
          <a:p>
            <a:r>
              <a:rPr lang="en-US">
                <a:cs typeface="Segoe UI Semibold"/>
              </a:rPr>
              <a:t>Defender for Containers</a:t>
            </a:r>
            <a:endParaRPr lang="en-US">
              <a:solidFill>
                <a:srgbClr val="000000"/>
              </a:solidFill>
              <a:cs typeface="Segoe UI Semibold"/>
            </a:endParaRPr>
          </a:p>
          <a:p>
            <a:endParaRPr lang="en-US" dirty="0"/>
          </a:p>
        </p:txBody>
      </p:sp>
      <p:sp>
        <p:nvSpPr>
          <p:cNvPr id="34" name="TextBox 33">
            <a:extLst>
              <a:ext uri="{FF2B5EF4-FFF2-40B4-BE49-F238E27FC236}">
                <a16:creationId xmlns:a16="http://schemas.microsoft.com/office/drawing/2014/main" id="{8B59F9BD-417E-AAAE-6A01-48BCFB50F69D}"/>
              </a:ext>
            </a:extLst>
          </p:cNvPr>
          <p:cNvSpPr txBox="1"/>
          <p:nvPr/>
        </p:nvSpPr>
        <p:spPr>
          <a:xfrm>
            <a:off x="315950" y="2211658"/>
            <a:ext cx="6439829" cy="30777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buFont typeface="Arial"/>
              <a:buChar char="•"/>
            </a:pPr>
            <a:r>
              <a:rPr lang="en-US" sz="2000" dirty="0">
                <a:cs typeface="Segoe UI"/>
              </a:rPr>
              <a:t>Protects four core domains of Container Security</a:t>
            </a:r>
            <a:endParaRPr lang="en-US" sz="2000" dirty="0" err="1">
              <a:cs typeface="Segoe UI"/>
            </a:endParaRPr>
          </a:p>
          <a:p>
            <a:pPr marL="800100" lvl="1" indent="-342900">
              <a:buFont typeface="Courier New"/>
              <a:buChar char="o"/>
            </a:pPr>
            <a:r>
              <a:rPr lang="en-US" sz="2000" dirty="0">
                <a:cs typeface="Segoe UI"/>
              </a:rPr>
              <a:t>Security Posture Management</a:t>
            </a:r>
          </a:p>
          <a:p>
            <a:pPr marL="800100" lvl="1" indent="-342900">
              <a:buFont typeface="Courier New"/>
              <a:buChar char="o"/>
            </a:pPr>
            <a:r>
              <a:rPr lang="en-US" sz="2000" dirty="0">
                <a:cs typeface="Segoe UI"/>
              </a:rPr>
              <a:t>Vulnerability Assessment</a:t>
            </a:r>
          </a:p>
          <a:p>
            <a:pPr marL="800100" lvl="1" indent="-342900">
              <a:buFont typeface="Courier New"/>
              <a:buChar char="o"/>
            </a:pPr>
            <a:r>
              <a:rPr lang="en-US" sz="2000" dirty="0">
                <a:cs typeface="Segoe UI"/>
              </a:rPr>
              <a:t>Run-time threat Protection</a:t>
            </a:r>
          </a:p>
          <a:p>
            <a:pPr marL="800100" lvl="1" indent="-342900">
              <a:buFont typeface="Courier New"/>
              <a:buChar char="o"/>
            </a:pPr>
            <a:r>
              <a:rPr lang="en-US" sz="2000" dirty="0">
                <a:cs typeface="Segoe UI"/>
              </a:rPr>
              <a:t>Deployment and Monitoring</a:t>
            </a:r>
          </a:p>
          <a:p>
            <a:pPr marL="342900" indent="-342900">
              <a:buFont typeface="Arial"/>
              <a:buChar char="•"/>
            </a:pPr>
            <a:r>
              <a:rPr lang="en-US" sz="2000" dirty="0">
                <a:cs typeface="Segoe UI"/>
              </a:rPr>
              <a:t>Agentless deployment</a:t>
            </a:r>
          </a:p>
          <a:p>
            <a:pPr marL="342900" indent="-342900">
              <a:buFont typeface="Arial"/>
              <a:buChar char="•"/>
            </a:pPr>
            <a:r>
              <a:rPr lang="en-US" sz="2000" dirty="0">
                <a:cs typeface="Segoe UI"/>
              </a:rPr>
              <a:t>Works on any Kubernetes cluster</a:t>
            </a:r>
          </a:p>
          <a:p>
            <a:pPr marL="342900" indent="-342900">
              <a:buFont typeface="Arial"/>
              <a:buChar char="•"/>
            </a:pPr>
            <a:r>
              <a:rPr lang="en-US" sz="2000" dirty="0">
                <a:cs typeface="Segoe UI"/>
              </a:rPr>
              <a:t>Use the AKS Security Dashboard (Preview) to gain a comprehensive overview and automated remediation of security issues</a:t>
            </a:r>
          </a:p>
        </p:txBody>
      </p:sp>
      <p:pic>
        <p:nvPicPr>
          <p:cNvPr id="36" name="Picture 35" descr="Diagram of high-level architecture of the interaction between Microsoft Defender for Containers, Azure Kubernetes Service, and Azure Policy.">
            <a:extLst>
              <a:ext uri="{FF2B5EF4-FFF2-40B4-BE49-F238E27FC236}">
                <a16:creationId xmlns:a16="http://schemas.microsoft.com/office/drawing/2014/main" id="{2CB23496-C424-1ED3-BC83-797A406A0B0E}"/>
              </a:ext>
            </a:extLst>
          </p:cNvPr>
          <p:cNvPicPr>
            <a:picLocks noChangeAspect="1"/>
          </p:cNvPicPr>
          <p:nvPr/>
        </p:nvPicPr>
        <p:blipFill>
          <a:blip r:embed="rId3"/>
          <a:stretch>
            <a:fillRect/>
          </a:stretch>
        </p:blipFill>
        <p:spPr>
          <a:xfrm>
            <a:off x="7091464" y="2211447"/>
            <a:ext cx="4421221" cy="3886148"/>
          </a:xfrm>
          <a:prstGeom prst="rect">
            <a:avLst/>
          </a:prstGeom>
        </p:spPr>
      </p:pic>
    </p:spTree>
    <p:extLst>
      <p:ext uri="{BB962C8B-B14F-4D97-AF65-F5344CB8AC3E}">
        <p14:creationId xmlns:p14="http://schemas.microsoft.com/office/powerpoint/2010/main" val="273172019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2DF2F-A6F0-CA56-D00F-57D3636CD8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322C252-698B-2AD7-A07A-5A94D1AE5C7D}"/>
              </a:ext>
            </a:extLst>
          </p:cNvPr>
          <p:cNvSpPr>
            <a:spLocks noGrp="1"/>
          </p:cNvSpPr>
          <p:nvPr>
            <p:ph type="title"/>
          </p:nvPr>
        </p:nvSpPr>
        <p:spPr>
          <a:xfrm>
            <a:off x="575481" y="599436"/>
            <a:ext cx="11018520" cy="743209"/>
          </a:xfrm>
        </p:spPr>
        <p:txBody>
          <a:bodyPr/>
          <a:lstStyle/>
          <a:p>
            <a:r>
              <a:rPr lang="en-US">
                <a:cs typeface="Segoe UI Semibold"/>
              </a:rPr>
              <a:t>Workload Identity</a:t>
            </a:r>
            <a:endParaRPr lang="en-US">
              <a:solidFill>
                <a:srgbClr val="000000"/>
              </a:solidFill>
              <a:cs typeface="Segoe UI Semibold"/>
            </a:endParaRPr>
          </a:p>
          <a:p>
            <a:endParaRPr lang="en-US" dirty="0">
              <a:solidFill>
                <a:srgbClr val="FFFFFF"/>
              </a:solidFill>
            </a:endParaRPr>
          </a:p>
        </p:txBody>
      </p:sp>
      <p:sp>
        <p:nvSpPr>
          <p:cNvPr id="2" name="TextBox 1">
            <a:extLst>
              <a:ext uri="{FF2B5EF4-FFF2-40B4-BE49-F238E27FC236}">
                <a16:creationId xmlns:a16="http://schemas.microsoft.com/office/drawing/2014/main" id="{7DCF6555-0FF7-C791-2C35-1CD2B500B4DA}"/>
              </a:ext>
            </a:extLst>
          </p:cNvPr>
          <p:cNvSpPr txBox="1"/>
          <p:nvPr/>
        </p:nvSpPr>
        <p:spPr>
          <a:xfrm>
            <a:off x="697832" y="2358188"/>
            <a:ext cx="5041231" cy="3385542"/>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Enables pods to use Kubernetes identity and securely access Azure resources that they are authorized.</a:t>
            </a:r>
          </a:p>
          <a:p>
            <a:pPr marL="342900" indent="-342900" algn="l">
              <a:buFont typeface="Arial" panose="020B0604020202020204" pitchFamily="34" charset="0"/>
              <a:buChar char="•"/>
            </a:pPr>
            <a:r>
              <a:rPr lang="en-US" sz="2000" dirty="0"/>
              <a:t>Limitations</a:t>
            </a:r>
          </a:p>
          <a:p>
            <a:pPr marL="800100" lvl="1" indent="-342900">
              <a:buFont typeface="Arial" panose="020B0604020202020204" pitchFamily="34" charset="0"/>
              <a:buChar char="•"/>
            </a:pPr>
            <a:r>
              <a:rPr lang="en-US" sz="2000" dirty="0"/>
              <a:t>Max 20 federated credentials per managed identity</a:t>
            </a:r>
          </a:p>
          <a:p>
            <a:pPr marL="800100" lvl="1" indent="-342900">
              <a:buFont typeface="Arial" panose="020B0604020202020204" pitchFamily="34" charset="0"/>
              <a:buChar char="•"/>
            </a:pPr>
            <a:r>
              <a:rPr lang="en-US" sz="2000" dirty="0"/>
              <a:t>Virtual nodes addon is not supported</a:t>
            </a:r>
          </a:p>
          <a:p>
            <a:pPr marL="800100" lvl="1" indent="-342900">
              <a:buFont typeface="Arial" panose="020B0604020202020204" pitchFamily="34" charset="0"/>
              <a:buChar char="•"/>
            </a:pPr>
            <a:r>
              <a:rPr lang="en-US" sz="2000" dirty="0"/>
              <a:t>Select regions do not support user assigned MI</a:t>
            </a:r>
          </a:p>
          <a:p>
            <a:pPr marL="800100" lvl="1" indent="-342900">
              <a:buFont typeface="Arial" panose="020B0604020202020204" pitchFamily="34" charset="0"/>
              <a:buChar char="•"/>
            </a:pPr>
            <a:endParaRPr lang="en-US" sz="2000" dirty="0"/>
          </a:p>
          <a:p>
            <a:pPr algn="l"/>
            <a:endParaRPr lang="en-US" sz="2000" dirty="0"/>
          </a:p>
        </p:txBody>
      </p:sp>
      <p:pic>
        <p:nvPicPr>
          <p:cNvPr id="1028" name="Picture 4" descr="Diagram of the AKS workload identity security model.">
            <a:extLst>
              <a:ext uri="{FF2B5EF4-FFF2-40B4-BE49-F238E27FC236}">
                <a16:creationId xmlns:a16="http://schemas.microsoft.com/office/drawing/2014/main" id="{CDB921A7-BB63-A0CE-B118-FB7280827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9063" y="2216142"/>
            <a:ext cx="6230732" cy="3669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3371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CA10-4629-E76B-0537-4F45D695D08C}"/>
              </a:ext>
            </a:extLst>
          </p:cNvPr>
          <p:cNvSpPr>
            <a:spLocks noGrp="1"/>
          </p:cNvSpPr>
          <p:nvPr>
            <p:ph type="title"/>
          </p:nvPr>
        </p:nvSpPr>
        <p:spPr/>
        <p:txBody>
          <a:bodyPr/>
          <a:lstStyle/>
          <a:p>
            <a:r>
              <a:rPr lang="en-US" dirty="0"/>
              <a:t>Walkthrough</a:t>
            </a:r>
          </a:p>
        </p:txBody>
      </p:sp>
      <p:sp>
        <p:nvSpPr>
          <p:cNvPr id="3" name="Footer Placeholder 2">
            <a:extLst>
              <a:ext uri="{FF2B5EF4-FFF2-40B4-BE49-F238E27FC236}">
                <a16:creationId xmlns:a16="http://schemas.microsoft.com/office/drawing/2014/main" id="{2AAC40F2-E521-0328-B5FA-DD3903B7889D}"/>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549B2387-4480-EED0-9379-311520DB9A0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5" name="Picture 4">
            <a:extLst>
              <a:ext uri="{FF2B5EF4-FFF2-40B4-BE49-F238E27FC236}">
                <a16:creationId xmlns:a16="http://schemas.microsoft.com/office/drawing/2014/main" id="{6DEDD675-FA87-807D-B758-A9D6B25A486C}"/>
              </a:ext>
            </a:extLst>
          </p:cNvPr>
          <p:cNvPicPr>
            <a:picLocks noChangeAspect="1"/>
          </p:cNvPicPr>
          <p:nvPr/>
        </p:nvPicPr>
        <p:blipFill>
          <a:blip r:embed="rId3"/>
          <a:stretch>
            <a:fillRect/>
          </a:stretch>
        </p:blipFill>
        <p:spPr>
          <a:xfrm>
            <a:off x="4775872" y="0"/>
            <a:ext cx="7416128" cy="6858000"/>
          </a:xfrm>
          <a:prstGeom prst="rect">
            <a:avLst/>
          </a:prstGeom>
        </p:spPr>
      </p:pic>
    </p:spTree>
    <p:extLst>
      <p:ext uri="{BB962C8B-B14F-4D97-AF65-F5344CB8AC3E}">
        <p14:creationId xmlns:p14="http://schemas.microsoft.com/office/powerpoint/2010/main" val="258359103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C8A2-3376-9A52-8B3F-E80423C99D1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5EAFAC4-2830-56E6-24BF-3C20F9C64CE5}"/>
              </a:ext>
            </a:extLst>
          </p:cNvPr>
          <p:cNvSpPr>
            <a:spLocks noGrp="1"/>
          </p:cNvSpPr>
          <p:nvPr>
            <p:ph type="title"/>
          </p:nvPr>
        </p:nvSpPr>
        <p:spPr>
          <a:xfrm>
            <a:off x="575481" y="599436"/>
            <a:ext cx="11018520" cy="1661993"/>
          </a:xfrm>
        </p:spPr>
        <p:txBody>
          <a:bodyPr/>
          <a:lstStyle/>
          <a:p>
            <a:r>
              <a:rPr lang="en-US">
                <a:cs typeface="Segoe UI Semibold"/>
              </a:rPr>
              <a:t>ACR Continuous patching</a:t>
            </a:r>
            <a:endParaRPr lang="en-US">
              <a:solidFill>
                <a:srgbClr val="000000"/>
              </a:solidFill>
              <a:cs typeface="Segoe UI Semibold"/>
            </a:endParaRPr>
          </a:p>
          <a:p>
            <a:endParaRPr lang="en-US" dirty="0">
              <a:solidFill>
                <a:srgbClr val="FFFFFF"/>
              </a:solidFill>
              <a:cs typeface="Segoe UI Semibold"/>
            </a:endParaRPr>
          </a:p>
          <a:p>
            <a:endParaRPr lang="en-US" dirty="0">
              <a:solidFill>
                <a:srgbClr val="FFFFFF"/>
              </a:solidFill>
            </a:endParaRPr>
          </a:p>
        </p:txBody>
      </p:sp>
      <p:sp>
        <p:nvSpPr>
          <p:cNvPr id="34" name="TextBox 33">
            <a:extLst>
              <a:ext uri="{FF2B5EF4-FFF2-40B4-BE49-F238E27FC236}">
                <a16:creationId xmlns:a16="http://schemas.microsoft.com/office/drawing/2014/main" id="{6959C099-0A9D-2D53-19D3-830992727A79}"/>
              </a:ext>
            </a:extLst>
          </p:cNvPr>
          <p:cNvSpPr txBox="1"/>
          <p:nvPr/>
        </p:nvSpPr>
        <p:spPr>
          <a:xfrm>
            <a:off x="315950" y="2211658"/>
            <a:ext cx="6439829"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buFont typeface="Arial"/>
              <a:buChar char="•"/>
            </a:pPr>
            <a:endParaRPr lang="en-US" sz="2000" dirty="0" err="1">
              <a:cs typeface="Segoe UI"/>
            </a:endParaRPr>
          </a:p>
        </p:txBody>
      </p:sp>
      <p:sp>
        <p:nvSpPr>
          <p:cNvPr id="2" name="TextBox 1">
            <a:extLst>
              <a:ext uri="{FF2B5EF4-FFF2-40B4-BE49-F238E27FC236}">
                <a16:creationId xmlns:a16="http://schemas.microsoft.com/office/drawing/2014/main" id="{C38A20E5-F3C3-7CBE-E468-B4CC99EB3B33}"/>
              </a:ext>
            </a:extLst>
          </p:cNvPr>
          <p:cNvSpPr txBox="1"/>
          <p:nvPr/>
        </p:nvSpPr>
        <p:spPr>
          <a:xfrm>
            <a:off x="575481" y="2211658"/>
            <a:ext cx="11155308" cy="4001095"/>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Automatic detection and remediation of OS </a:t>
            </a:r>
            <a:r>
              <a:rPr lang="en-US" sz="2000" dirty="0" err="1"/>
              <a:t>vulernabilities</a:t>
            </a:r>
            <a:r>
              <a:rPr lang="en-US" sz="2000" dirty="0"/>
              <a:t> for Containers</a:t>
            </a:r>
          </a:p>
          <a:p>
            <a:pPr marL="800100" lvl="1" indent="-342900">
              <a:buFont typeface="Arial" panose="020B0604020202020204" pitchFamily="34" charset="0"/>
              <a:buChar char="•"/>
            </a:pPr>
            <a:r>
              <a:rPr lang="en-US" sz="2000" dirty="0">
                <a:hlinkClick r:id="rId3"/>
              </a:rPr>
              <a:t>Trivy</a:t>
            </a:r>
            <a:r>
              <a:rPr lang="en-US" sz="2000" dirty="0"/>
              <a:t> for Scans</a:t>
            </a:r>
          </a:p>
          <a:p>
            <a:pPr marL="800100" lvl="1" indent="-342900">
              <a:buFont typeface="Arial" panose="020B0604020202020204" pitchFamily="34" charset="0"/>
              <a:buChar char="•"/>
            </a:pPr>
            <a:r>
              <a:rPr lang="en-US" sz="2000" dirty="0">
                <a:hlinkClick r:id="rId4"/>
              </a:rPr>
              <a:t>Copa</a:t>
            </a:r>
            <a:r>
              <a:rPr lang="en-US" sz="2000" dirty="0"/>
              <a:t> for Applying fixes</a:t>
            </a:r>
          </a:p>
          <a:p>
            <a:pPr marL="342900" indent="-342900">
              <a:buFont typeface="Arial" panose="020B0604020202020204" pitchFamily="34" charset="0"/>
              <a:buChar char="•"/>
            </a:pPr>
            <a:r>
              <a:rPr lang="en-US" sz="2000" dirty="0"/>
              <a:t>Use Cases</a:t>
            </a:r>
          </a:p>
          <a:p>
            <a:pPr marL="800100" lvl="1" indent="-342900">
              <a:buFont typeface="Arial" panose="020B0604020202020204" pitchFamily="34" charset="0"/>
              <a:buChar char="•"/>
            </a:pPr>
            <a:r>
              <a:rPr lang="en-US" sz="2000" dirty="0"/>
              <a:t>Enforcing Container security and Hygiene</a:t>
            </a:r>
          </a:p>
          <a:p>
            <a:pPr marL="800100" lvl="1" indent="-342900">
              <a:buFont typeface="Arial" panose="020B0604020202020204" pitchFamily="34" charset="0"/>
              <a:buChar char="•"/>
            </a:pPr>
            <a:r>
              <a:rPr lang="en-US" sz="2000" dirty="0"/>
              <a:t>Speed of Use</a:t>
            </a:r>
          </a:p>
          <a:p>
            <a:pPr marL="342900" indent="-342900">
              <a:buFont typeface="Arial" panose="020B0604020202020204" pitchFamily="34" charset="0"/>
              <a:buChar char="•"/>
            </a:pPr>
            <a:r>
              <a:rPr lang="en-US" sz="2000" dirty="0"/>
              <a:t>Limitations</a:t>
            </a:r>
          </a:p>
          <a:p>
            <a:pPr marL="800100" lvl="1" indent="-342900">
              <a:buFont typeface="Arial" panose="020B0604020202020204" pitchFamily="34" charset="0"/>
              <a:buChar char="•"/>
            </a:pPr>
            <a:r>
              <a:rPr lang="en-US" sz="2000" dirty="0"/>
              <a:t>Linux Only</a:t>
            </a:r>
          </a:p>
          <a:p>
            <a:pPr marL="800100" lvl="1" indent="-342900">
              <a:buFont typeface="Arial" panose="020B0604020202020204" pitchFamily="34" charset="0"/>
              <a:buChar char="•"/>
            </a:pPr>
            <a:r>
              <a:rPr lang="en-US" sz="2000" dirty="0"/>
              <a:t>Does not patch Application packages ( Python, NodeJS, Go)</a:t>
            </a:r>
          </a:p>
          <a:p>
            <a:pPr marL="800100" lvl="1" indent="-342900">
              <a:buFont typeface="Arial" panose="020B0604020202020204" pitchFamily="34" charset="0"/>
              <a:buChar char="•"/>
            </a:pPr>
            <a:r>
              <a:rPr lang="en-US" sz="2000" dirty="0"/>
              <a:t>EOSL Images are not supported</a:t>
            </a:r>
          </a:p>
          <a:p>
            <a:pPr marL="800100" lvl="1" indent="-342900">
              <a:buFont typeface="Arial" panose="020B0604020202020204" pitchFamily="34" charset="0"/>
              <a:buChar char="•"/>
            </a:pPr>
            <a:r>
              <a:rPr lang="en-US" sz="2000" dirty="0"/>
              <a:t>Not compatible with ABAC (Attribute Based Access Control) enabled registries and with PTC (Pull Through Cache) enabled</a:t>
            </a:r>
          </a:p>
          <a:p>
            <a:pPr marL="800100" lvl="1" indent="-342900">
              <a:buFont typeface="Arial" panose="020B0604020202020204" pitchFamily="34" charset="0"/>
              <a:buChar char="•"/>
            </a:pPr>
            <a:r>
              <a:rPr lang="en-US" sz="2000" dirty="0"/>
              <a:t>100 Image limit</a:t>
            </a:r>
          </a:p>
        </p:txBody>
      </p:sp>
    </p:spTree>
    <p:extLst>
      <p:ext uri="{BB962C8B-B14F-4D97-AF65-F5344CB8AC3E}">
        <p14:creationId xmlns:p14="http://schemas.microsoft.com/office/powerpoint/2010/main" val="337521950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EA08-7A39-6614-FB14-F4C99A20AE9A}"/>
              </a:ext>
            </a:extLst>
          </p:cNvPr>
          <p:cNvSpPr>
            <a:spLocks noGrp="1"/>
          </p:cNvSpPr>
          <p:nvPr>
            <p:ph type="title"/>
          </p:nvPr>
        </p:nvSpPr>
        <p:spPr/>
        <p:txBody>
          <a:bodyPr/>
          <a:lstStyle/>
          <a:p>
            <a:r>
              <a:rPr lang="en-US" dirty="0"/>
              <a:t>Azure Key Vault</a:t>
            </a:r>
          </a:p>
        </p:txBody>
      </p:sp>
      <p:sp>
        <p:nvSpPr>
          <p:cNvPr id="3" name="Footer Placeholder 2">
            <a:extLst>
              <a:ext uri="{FF2B5EF4-FFF2-40B4-BE49-F238E27FC236}">
                <a16:creationId xmlns:a16="http://schemas.microsoft.com/office/drawing/2014/main" id="{980121A7-B891-63A5-385E-8AD8C6F4F650}"/>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3C7037B3-76D3-288B-B60B-CE8E9DCD346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TextBox 8">
            <a:extLst>
              <a:ext uri="{FF2B5EF4-FFF2-40B4-BE49-F238E27FC236}">
                <a16:creationId xmlns:a16="http://schemas.microsoft.com/office/drawing/2014/main" id="{7AC01BB8-D6E6-E427-6A23-64E5055E779C}"/>
              </a:ext>
            </a:extLst>
          </p:cNvPr>
          <p:cNvSpPr txBox="1"/>
          <p:nvPr/>
        </p:nvSpPr>
        <p:spPr>
          <a:xfrm>
            <a:off x="448176" y="2022900"/>
            <a:ext cx="10933698" cy="2262158"/>
          </a:xfrm>
          <a:prstGeom prst="rect">
            <a:avLst/>
          </a:prstGeom>
          <a:noFill/>
        </p:spPr>
        <p:txBody>
          <a:bodyPr wrap="square">
            <a:spAutoFit/>
          </a:bodyPr>
          <a:lstStyle/>
          <a:p>
            <a:pPr marL="342900" indent="-342900">
              <a:spcBef>
                <a:spcPts val="600"/>
              </a:spcBef>
              <a:spcAft>
                <a:spcPts val="0"/>
              </a:spcAft>
              <a:buFont typeface="Arial" panose="020B0604020202020204" pitchFamily="34" charset="0"/>
              <a:buChar char="•"/>
            </a:pPr>
            <a:r>
              <a:rPr lang="en-US" sz="1800" b="1" i="1" dirty="0"/>
              <a:t>Azure Key Vault</a:t>
            </a:r>
            <a:r>
              <a:rPr lang="en-US" sz="1800" dirty="0"/>
              <a:t> is a cloud service for securely storing and accessing secrets. </a:t>
            </a:r>
          </a:p>
          <a:p>
            <a:pPr marL="342900" indent="-342900">
              <a:spcBef>
                <a:spcPts val="600"/>
              </a:spcBef>
              <a:spcAft>
                <a:spcPts val="0"/>
              </a:spcAft>
              <a:buFont typeface="Arial" panose="020B0604020202020204" pitchFamily="34" charset="0"/>
              <a:buChar char="•"/>
            </a:pPr>
            <a:r>
              <a:rPr lang="en-US" sz="1800" dirty="0"/>
              <a:t>A secret is anything that you want to tightly control access to, such as API keys, passwords, certificates, or cryptographic keys. </a:t>
            </a:r>
          </a:p>
          <a:p>
            <a:pPr marL="342900" indent="-342900">
              <a:spcBef>
                <a:spcPts val="600"/>
              </a:spcBef>
              <a:spcAft>
                <a:spcPts val="0"/>
              </a:spcAft>
              <a:buFont typeface="Arial" panose="020B0604020202020204" pitchFamily="34" charset="0"/>
              <a:buChar char="•"/>
            </a:pPr>
            <a:r>
              <a:rPr lang="en-US" sz="1800" dirty="0"/>
              <a:t>When you enable Azure Key Vault support in your AKS cluster, you’ll be able to automatically create Kubernetes Secrets in your cluster when you need them.</a:t>
            </a:r>
          </a:p>
          <a:p>
            <a:pPr marL="342900" indent="-342900">
              <a:spcBef>
                <a:spcPts val="600"/>
              </a:spcBef>
              <a:spcAft>
                <a:spcPts val="0"/>
              </a:spcAft>
              <a:buFont typeface="Arial" panose="020B0604020202020204" pitchFamily="34" charset="0"/>
              <a:buChar char="•"/>
            </a:pPr>
            <a:r>
              <a:rPr lang="en-US" sz="1800" dirty="0"/>
              <a:t>You also have the option of directly injecting sensitive content directly into containers, without creating Kubernetes Secrets first.</a:t>
            </a:r>
          </a:p>
        </p:txBody>
      </p:sp>
      <p:pic>
        <p:nvPicPr>
          <p:cNvPr id="10" name="Picture 9" descr="Graphical user interface, application, Teams&#10;&#10;Description automatically generated">
            <a:extLst>
              <a:ext uri="{FF2B5EF4-FFF2-40B4-BE49-F238E27FC236}">
                <a16:creationId xmlns:a16="http://schemas.microsoft.com/office/drawing/2014/main" id="{BEA64396-9BDD-AFE9-3ECC-0A5FFF0C8D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1580" y="4143667"/>
            <a:ext cx="6515385" cy="2395851"/>
          </a:xfrm>
          <a:prstGeom prst="rect">
            <a:avLst/>
          </a:prstGeom>
        </p:spPr>
      </p:pic>
    </p:spTree>
    <p:extLst>
      <p:ext uri="{BB962C8B-B14F-4D97-AF65-F5344CB8AC3E}">
        <p14:creationId xmlns:p14="http://schemas.microsoft.com/office/powerpoint/2010/main" val="2692335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solidFill>
                  <a:schemeClr val="bg1"/>
                </a:solidFill>
              </a:rPr>
              <a:t>Azure Key Vault Integration</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431800" y="1508048"/>
            <a:ext cx="7971737" cy="2123658"/>
          </a:xfrm>
        </p:spPr>
        <p:txBody>
          <a:bodyPr/>
          <a:lstStyle/>
          <a:p>
            <a:pPr marL="342900" indent="-342900">
              <a:spcBef>
                <a:spcPts val="600"/>
              </a:spcBef>
              <a:spcAft>
                <a:spcPts val="0"/>
              </a:spcAft>
              <a:buFont typeface="Arial" panose="020B0604020202020204" pitchFamily="34" charset="0"/>
              <a:buChar char="•"/>
            </a:pPr>
            <a:r>
              <a:rPr lang="en-US" sz="2200" dirty="0"/>
              <a:t>When Azure Key Vault is enabled in AKS, a custom resource called </a:t>
            </a:r>
            <a:r>
              <a:rPr lang="en-US" sz="2200" b="1" i="1" dirty="0" err="1"/>
              <a:t>SecretProviderClass</a:t>
            </a:r>
            <a:r>
              <a:rPr lang="en-US" sz="2200" dirty="0"/>
              <a:t> is available.</a:t>
            </a:r>
          </a:p>
          <a:p>
            <a:pPr marL="342900" indent="-342900">
              <a:spcBef>
                <a:spcPts val="600"/>
              </a:spcBef>
              <a:spcAft>
                <a:spcPts val="0"/>
              </a:spcAft>
              <a:buFont typeface="Arial" panose="020B0604020202020204" pitchFamily="34" charset="0"/>
              <a:buChar char="•"/>
            </a:pPr>
            <a:r>
              <a:rPr lang="en-US" sz="2200" dirty="0"/>
              <a:t>This manifest provides the connection information to Key Vault.  </a:t>
            </a:r>
          </a:p>
          <a:p>
            <a:pPr marL="800100" lvl="1" indent="-342900">
              <a:spcBef>
                <a:spcPts val="600"/>
              </a:spcBef>
              <a:spcAft>
                <a:spcPts val="0"/>
              </a:spcAft>
              <a:buFont typeface="Arial" panose="020B0604020202020204" pitchFamily="34" charset="0"/>
              <a:buChar char="•"/>
            </a:pPr>
            <a:r>
              <a:rPr lang="en-US" dirty="0"/>
              <a:t>The </a:t>
            </a:r>
            <a:r>
              <a:rPr lang="en-US" b="1" i="1" dirty="0" err="1"/>
              <a:t>secretObjects</a:t>
            </a:r>
            <a:r>
              <a:rPr lang="en-US" dirty="0"/>
              <a:t> section is optional and only used if you want to create a Kubernetes Secret object.</a:t>
            </a:r>
          </a:p>
        </p:txBody>
      </p:sp>
      <p:pic>
        <p:nvPicPr>
          <p:cNvPr id="11" name="Picture 10">
            <a:extLst>
              <a:ext uri="{FF2B5EF4-FFF2-40B4-BE49-F238E27FC236}">
                <a16:creationId xmlns:a16="http://schemas.microsoft.com/office/drawing/2014/main" id="{CDA7756F-1665-45B2-BA88-C954A5A89B4A}"/>
              </a:ext>
            </a:extLst>
          </p:cNvPr>
          <p:cNvPicPr>
            <a:picLocks noChangeAspect="1"/>
          </p:cNvPicPr>
          <p:nvPr/>
        </p:nvPicPr>
        <p:blipFill>
          <a:blip r:embed="rId3"/>
          <a:stretch>
            <a:fillRect/>
          </a:stretch>
        </p:blipFill>
        <p:spPr>
          <a:xfrm>
            <a:off x="8858386" y="1508048"/>
            <a:ext cx="3090991" cy="4390871"/>
          </a:xfrm>
          <a:prstGeom prst="rect">
            <a:avLst/>
          </a:prstGeom>
        </p:spPr>
      </p:pic>
      <p:pic>
        <p:nvPicPr>
          <p:cNvPr id="9" name="Picture 8">
            <a:extLst>
              <a:ext uri="{FF2B5EF4-FFF2-40B4-BE49-F238E27FC236}">
                <a16:creationId xmlns:a16="http://schemas.microsoft.com/office/drawing/2014/main" id="{2829D648-6478-4EE1-A034-66AA893DFE1A}"/>
              </a:ext>
            </a:extLst>
          </p:cNvPr>
          <p:cNvPicPr>
            <a:picLocks noChangeAspect="1"/>
          </p:cNvPicPr>
          <p:nvPr/>
        </p:nvPicPr>
        <p:blipFill>
          <a:blip r:embed="rId4"/>
          <a:stretch>
            <a:fillRect/>
          </a:stretch>
        </p:blipFill>
        <p:spPr>
          <a:xfrm>
            <a:off x="5550348" y="4077147"/>
            <a:ext cx="3033977" cy="1821772"/>
          </a:xfrm>
          <a:prstGeom prst="rect">
            <a:avLst/>
          </a:prstGeom>
        </p:spPr>
      </p:pic>
      <p:sp>
        <p:nvSpPr>
          <p:cNvPr id="12" name="Content Placeholder 2">
            <a:extLst>
              <a:ext uri="{FF2B5EF4-FFF2-40B4-BE49-F238E27FC236}">
                <a16:creationId xmlns:a16="http://schemas.microsoft.com/office/drawing/2014/main" id="{C596947A-2A85-4A48-AA4C-D7B7A7F4F640}"/>
              </a:ext>
            </a:extLst>
          </p:cNvPr>
          <p:cNvSpPr txBox="1">
            <a:spLocks/>
          </p:cNvSpPr>
          <p:nvPr/>
        </p:nvSpPr>
        <p:spPr>
          <a:xfrm>
            <a:off x="431800" y="3706879"/>
            <a:ext cx="4902200" cy="2862322"/>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1200"/>
              </a:spcAft>
              <a:buClrTx/>
              <a:buSzPct val="90000"/>
              <a:buFont typeface="Wingdings" panose="05000000000000000000" pitchFamily="2" charset="2"/>
              <a:buNone/>
              <a:tabLst/>
              <a:defRPr sz="24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spcBef>
                <a:spcPts val="0"/>
              </a:spcBef>
              <a:buFont typeface="Arial" panose="020B0604020202020204" pitchFamily="34" charset="0"/>
              <a:buChar char="•"/>
            </a:pPr>
            <a:r>
              <a:rPr lang="en-US" sz="2200" dirty="0"/>
              <a:t>When a Pod mounts the </a:t>
            </a:r>
            <a:r>
              <a:rPr lang="en-US" sz="2200" b="1" i="1" dirty="0"/>
              <a:t>Secrets CSI</a:t>
            </a:r>
            <a:r>
              <a:rPr lang="en-US" sz="2200" dirty="0"/>
              <a:t> volume, the Key Vault secret(s) is injected into the container (and a Secret object is created if specified).</a:t>
            </a:r>
          </a:p>
          <a:p>
            <a:pPr marL="342900" indent="-342900">
              <a:spcBef>
                <a:spcPts val="0"/>
              </a:spcBef>
              <a:buFont typeface="Arial" panose="020B0604020202020204" pitchFamily="34" charset="0"/>
              <a:buChar char="•"/>
            </a:pPr>
            <a:r>
              <a:rPr lang="en-US" sz="2200" dirty="0"/>
              <a:t>If a Secret object is created, it’s automatically deleted when the last Pod that accesses that Secret is deleted.</a:t>
            </a:r>
          </a:p>
        </p:txBody>
      </p:sp>
    </p:spTree>
    <p:extLst>
      <p:ext uri="{BB962C8B-B14F-4D97-AF65-F5344CB8AC3E}">
        <p14:creationId xmlns:p14="http://schemas.microsoft.com/office/powerpoint/2010/main" val="18033582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fade">
                                      <p:cBhvr>
                                        <p:cTn id="20" dur="500"/>
                                        <p:tgtEl>
                                          <p:spTgt spid="12">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fade">
                                      <p:cBhvr>
                                        <p:cTn id="28"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A4614-1AF6-60B5-16E3-AE532BC06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7122AB8-9196-BE74-4EE0-33E1C3F10E2B}"/>
              </a:ext>
            </a:extLst>
          </p:cNvPr>
          <p:cNvSpPr>
            <a:spLocks noGrp="1"/>
          </p:cNvSpPr>
          <p:nvPr>
            <p:ph type="title"/>
          </p:nvPr>
        </p:nvSpPr>
        <p:spPr>
          <a:xfrm>
            <a:off x="575481" y="599436"/>
            <a:ext cx="11018520" cy="835142"/>
          </a:xfrm>
        </p:spPr>
        <p:txBody>
          <a:bodyPr/>
          <a:lstStyle/>
          <a:p>
            <a:r>
              <a:rPr lang="en-US">
                <a:cs typeface="Segoe UI Semibold"/>
              </a:rPr>
              <a:t>Open Source Options</a:t>
            </a:r>
            <a:endParaRPr lang="en-US">
              <a:solidFill>
                <a:srgbClr val="000000"/>
              </a:solidFill>
              <a:cs typeface="Segoe UI Semibold"/>
            </a:endParaRPr>
          </a:p>
          <a:p>
            <a:endParaRPr lang="en-US" dirty="0">
              <a:solidFill>
                <a:srgbClr val="FFFFFF"/>
              </a:solidFill>
              <a:cs typeface="Segoe UI Semibold"/>
            </a:endParaRPr>
          </a:p>
          <a:p>
            <a:endParaRPr lang="en-US" dirty="0">
              <a:solidFill>
                <a:srgbClr val="FFFFFF"/>
              </a:solidFill>
            </a:endParaRPr>
          </a:p>
        </p:txBody>
      </p:sp>
      <p:sp>
        <p:nvSpPr>
          <p:cNvPr id="34" name="TextBox 33">
            <a:extLst>
              <a:ext uri="{FF2B5EF4-FFF2-40B4-BE49-F238E27FC236}">
                <a16:creationId xmlns:a16="http://schemas.microsoft.com/office/drawing/2014/main" id="{C5BFA30C-CC3F-14A3-BF89-99D1F35E0CB4}"/>
              </a:ext>
            </a:extLst>
          </p:cNvPr>
          <p:cNvSpPr txBox="1"/>
          <p:nvPr/>
        </p:nvSpPr>
        <p:spPr>
          <a:xfrm>
            <a:off x="315950" y="2211658"/>
            <a:ext cx="6439829"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buFont typeface="Arial"/>
              <a:buChar char="•"/>
            </a:pPr>
            <a:endParaRPr lang="en-US" sz="2000" dirty="0" err="1">
              <a:cs typeface="Segoe UI"/>
            </a:endParaRPr>
          </a:p>
        </p:txBody>
      </p:sp>
      <p:sp>
        <p:nvSpPr>
          <p:cNvPr id="2" name="TextBox 1">
            <a:extLst>
              <a:ext uri="{FF2B5EF4-FFF2-40B4-BE49-F238E27FC236}">
                <a16:creationId xmlns:a16="http://schemas.microsoft.com/office/drawing/2014/main" id="{EAA6D396-5284-3781-FFD8-979EF9D4D695}"/>
              </a:ext>
            </a:extLst>
          </p:cNvPr>
          <p:cNvSpPr txBox="1"/>
          <p:nvPr/>
        </p:nvSpPr>
        <p:spPr>
          <a:xfrm>
            <a:off x="485775" y="2305050"/>
            <a:ext cx="5610225" cy="3385542"/>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Network Security Options</a:t>
            </a:r>
          </a:p>
          <a:p>
            <a:pPr marL="800100" lvl="1" indent="-342900">
              <a:buFont typeface="Arial" panose="020B0604020202020204" pitchFamily="34" charset="0"/>
              <a:buChar char="•"/>
            </a:pPr>
            <a:r>
              <a:rPr lang="en-US" sz="2000" dirty="0"/>
              <a:t>Calico</a:t>
            </a:r>
          </a:p>
          <a:p>
            <a:pPr marL="800100" lvl="1" indent="-342900">
              <a:buFont typeface="Arial" panose="020B0604020202020204" pitchFamily="34" charset="0"/>
              <a:buChar char="•"/>
            </a:pPr>
            <a:r>
              <a:rPr lang="en-US" sz="2000" dirty="0"/>
              <a:t>Cilium for Azure CNI Powered by Cilium Clusters (</a:t>
            </a:r>
            <a:r>
              <a:rPr lang="en-US" sz="2000" b="1" dirty="0"/>
              <a:t>Recommended Option</a:t>
            </a:r>
            <a:r>
              <a:rPr lang="en-US" sz="2000" dirty="0"/>
              <a:t>)</a:t>
            </a:r>
          </a:p>
          <a:p>
            <a:pPr marL="342900" indent="-342900">
              <a:buFont typeface="Arial" panose="020B0604020202020204" pitchFamily="34" charset="0"/>
              <a:buChar char="•"/>
            </a:pPr>
            <a:r>
              <a:rPr lang="en-US" sz="2000" dirty="0"/>
              <a:t>Service to Service traffic encryption</a:t>
            </a:r>
          </a:p>
          <a:p>
            <a:pPr marL="800100" lvl="1" indent="-342900">
              <a:buFont typeface="Arial" panose="020B0604020202020204" pitchFamily="34" charset="0"/>
              <a:buChar char="•"/>
            </a:pPr>
            <a:r>
              <a:rPr lang="en-US" sz="2000" dirty="0"/>
              <a:t>Service mesh (Istio </a:t>
            </a:r>
            <a:r>
              <a:rPr lang="en-US" sz="2000" dirty="0" err="1"/>
              <a:t>mTLS</a:t>
            </a:r>
            <a:r>
              <a:rPr lang="en-US" sz="2000" dirty="0"/>
              <a:t>)</a:t>
            </a:r>
          </a:p>
          <a:p>
            <a:pPr marL="800100" lvl="1" indent="-342900">
              <a:buFont typeface="Arial" panose="020B0604020202020204" pitchFamily="34" charset="0"/>
              <a:buChar char="•"/>
            </a:pPr>
            <a:r>
              <a:rPr lang="en-US" sz="2000" dirty="0" err="1"/>
              <a:t>Dapr</a:t>
            </a:r>
            <a:r>
              <a:rPr lang="en-US" sz="2000" dirty="0"/>
              <a:t> (</a:t>
            </a:r>
            <a:r>
              <a:rPr lang="en-US" sz="2000" dirty="0" err="1"/>
              <a:t>mTLS</a:t>
            </a:r>
            <a:r>
              <a:rPr lang="en-US" sz="2000" dirty="0"/>
              <a:t>)\</a:t>
            </a:r>
          </a:p>
          <a:p>
            <a:pPr marL="342900" indent="-342900">
              <a:buFont typeface="Arial" panose="020B0604020202020204" pitchFamily="34" charset="0"/>
              <a:buChar char="•"/>
            </a:pPr>
            <a:r>
              <a:rPr lang="en-US" sz="2000" dirty="0"/>
              <a:t>Policy Engines</a:t>
            </a:r>
          </a:p>
          <a:p>
            <a:pPr marL="800100" lvl="1" indent="-342900">
              <a:buFont typeface="Arial" panose="020B0604020202020204" pitchFamily="34" charset="0"/>
              <a:buChar char="•"/>
            </a:pPr>
            <a:r>
              <a:rPr lang="en-US" sz="2000" dirty="0"/>
              <a:t>Gatekeeper</a:t>
            </a:r>
          </a:p>
          <a:p>
            <a:pPr marL="800100" lvl="1" indent="-342900">
              <a:buFont typeface="Arial" panose="020B0604020202020204" pitchFamily="34" charset="0"/>
              <a:buChar char="•"/>
            </a:pPr>
            <a:r>
              <a:rPr lang="en-US" sz="2000" dirty="0" err="1"/>
              <a:t>Kyverno</a:t>
            </a:r>
            <a:endParaRPr lang="en-US" sz="2000" dirty="0"/>
          </a:p>
          <a:p>
            <a:pPr marL="800100" lvl="1"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88550344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79464-08C8-C645-6DA3-261D2141975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7506AB1-FC93-AC66-D944-0AB7CB0E9368}"/>
              </a:ext>
              <a:ext uri="{C183D7F6-B498-43B3-948B-1728B52AA6E4}">
                <adec:decorative xmlns:adec="http://schemas.microsoft.com/office/drawing/2017/decorative" val="1"/>
              </a:ext>
            </a:extLst>
          </p:cNvPr>
          <p:cNvSpPr>
            <a:spLocks/>
          </p:cNvSpPr>
          <p:nvPr/>
        </p:nvSpPr>
        <p:spPr>
          <a:xfrm>
            <a:off x="571500" y="1508338"/>
            <a:ext cx="11049000" cy="4760700"/>
          </a:xfrm>
          <a:prstGeom prst="rect">
            <a:avLst/>
          </a:prstGeom>
          <a:noFill/>
          <a:ln w="3175">
            <a:solidFill>
              <a:schemeClr val="bg1">
                <a:lumMod val="85000"/>
              </a:schemeClr>
            </a:solidFill>
          </a:ln>
        </p:spPr>
        <p:txBody>
          <a:bodyPr wrap="square" lIns="137160" tIns="768096" rIns="137160" bIns="91440" anchor="t">
            <a:noAutofit/>
          </a:bodyPr>
          <a:lstStyle/>
          <a:p>
            <a:pPr marL="230188" indent="-230188" defTabSz="914192">
              <a:spcBef>
                <a:spcPts val="300"/>
              </a:spcBef>
              <a:spcAft>
                <a:spcPts val="300"/>
              </a:spcAft>
              <a:buFont typeface="Arial" panose="020B0604020202020204" pitchFamily="34" charset="0"/>
              <a:buChar char="•"/>
              <a:defRPr/>
            </a:pPr>
            <a:endParaRPr lang="en-US" sz="1600">
              <a:cs typeface="Segoe UI Semibold" panose="020B0702040204020203" pitchFamily="34" charset="0"/>
            </a:endParaRPr>
          </a:p>
        </p:txBody>
      </p:sp>
      <p:sp>
        <p:nvSpPr>
          <p:cNvPr id="2" name="Title 1">
            <a:extLst>
              <a:ext uri="{FF2B5EF4-FFF2-40B4-BE49-F238E27FC236}">
                <a16:creationId xmlns:a16="http://schemas.microsoft.com/office/drawing/2014/main" id="{D0391C99-D121-1BD0-E4A4-1570D6E2DC1D}"/>
              </a:ext>
            </a:extLst>
          </p:cNvPr>
          <p:cNvSpPr>
            <a:spLocks noGrp="1"/>
          </p:cNvSpPr>
          <p:nvPr>
            <p:ph type="title"/>
          </p:nvPr>
        </p:nvSpPr>
        <p:spPr>
          <a:xfrm>
            <a:off x="575481" y="599436"/>
            <a:ext cx="11018520" cy="553998"/>
          </a:xfrm>
        </p:spPr>
        <p:txBody>
          <a:bodyPr/>
          <a:lstStyle/>
          <a:p>
            <a:r>
              <a:rPr lang="en-US" dirty="0">
                <a:cs typeface="Segoe UI"/>
              </a:rPr>
              <a:t>Lab </a:t>
            </a:r>
          </a:p>
        </p:txBody>
      </p:sp>
      <p:sp>
        <p:nvSpPr>
          <p:cNvPr id="8" name="Rectangle 7">
            <a:extLst>
              <a:ext uri="{FF2B5EF4-FFF2-40B4-BE49-F238E27FC236}">
                <a16:creationId xmlns:a16="http://schemas.microsoft.com/office/drawing/2014/main" id="{9C821D21-546D-452F-6056-21A7094BCE6B}"/>
              </a:ext>
            </a:extLst>
          </p:cNvPr>
          <p:cNvSpPr>
            <a:spLocks/>
          </p:cNvSpPr>
          <p:nvPr/>
        </p:nvSpPr>
        <p:spPr>
          <a:xfrm>
            <a:off x="571499" y="1751640"/>
            <a:ext cx="11049000" cy="465121"/>
          </a:xfrm>
          <a:prstGeom prst="rect">
            <a:avLst/>
          </a:prstGeom>
          <a:solidFill>
            <a:schemeClr val="accent2"/>
          </a:solidFill>
        </p:spPr>
        <p:txBody>
          <a:bodyPr wrap="square" lIns="91440" tIns="45720" rIns="91440" bIns="45720" anchor="ctr">
            <a:noAutofit/>
          </a:bodyPr>
          <a:lstStyle/>
          <a:p>
            <a:pPr algn="ctr" defTabSz="914192">
              <a:spcAft>
                <a:spcPts val="300"/>
              </a:spcAft>
            </a:pPr>
            <a:r>
              <a:rPr lang="en-US">
                <a:solidFill>
                  <a:srgbClr val="FFFFFF"/>
                </a:solidFill>
                <a:latin typeface="Segoe Semibold"/>
                <a:cs typeface="Segoe UI Semibold"/>
              </a:rPr>
              <a:t>Lab Description</a:t>
            </a:r>
          </a:p>
        </p:txBody>
      </p:sp>
      <p:grpSp>
        <p:nvGrpSpPr>
          <p:cNvPr id="9" name="Group 8">
            <a:extLst>
              <a:ext uri="{FF2B5EF4-FFF2-40B4-BE49-F238E27FC236}">
                <a16:creationId xmlns:a16="http://schemas.microsoft.com/office/drawing/2014/main" id="{9C7FCC72-279A-7B0B-6A17-6440A84D6F18}"/>
              </a:ext>
              <a:ext uri="{C183D7F6-B498-43B3-948B-1728B52AA6E4}">
                <adec:decorative xmlns:adec="http://schemas.microsoft.com/office/drawing/2017/decorative" val="1"/>
              </a:ext>
            </a:extLst>
          </p:cNvPr>
          <p:cNvGrpSpPr>
            <a:grpSpLocks/>
          </p:cNvGrpSpPr>
          <p:nvPr/>
        </p:nvGrpSpPr>
        <p:grpSpPr>
          <a:xfrm>
            <a:off x="574674" y="1751640"/>
            <a:ext cx="11045826" cy="465121"/>
            <a:chOff x="574675" y="1519848"/>
            <a:chExt cx="7312025" cy="465121"/>
          </a:xfrm>
        </p:grpSpPr>
        <p:cxnSp>
          <p:nvCxnSpPr>
            <p:cNvPr id="12" name="Straight Connector 11">
              <a:extLst>
                <a:ext uri="{FF2B5EF4-FFF2-40B4-BE49-F238E27FC236}">
                  <a16:creationId xmlns:a16="http://schemas.microsoft.com/office/drawing/2014/main" id="{36AC7045-1646-5043-0DA6-F9D5E5C44ACD}"/>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10C7BC-A38C-693F-EDB3-9502F831947E}"/>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96D8F3CF-67AA-025E-23FF-8DADB1ABA5BF}"/>
              </a:ext>
            </a:extLst>
          </p:cNvPr>
          <p:cNvSpPr txBox="1">
            <a:spLocks/>
          </p:cNvSpPr>
          <p:nvPr/>
        </p:nvSpPr>
        <p:spPr>
          <a:xfrm>
            <a:off x="571500" y="2339873"/>
            <a:ext cx="11048999" cy="3669041"/>
          </a:xfrm>
          <a:prstGeom prst="rect">
            <a:avLst/>
          </a:prstGeom>
        </p:spPr>
        <p:txBody>
          <a:bodyPr wrap="square" lIns="91440" tIns="45720" rIns="91440" bIns="45720" anchor="t">
            <a:noAutofit/>
          </a:bodyPr>
          <a:lstStyle/>
          <a:p>
            <a:pPr marL="229870" indent="-229870" defTabSz="914192">
              <a:spcBef>
                <a:spcPts val="600"/>
              </a:spcBef>
              <a:spcAft>
                <a:spcPts val="600"/>
              </a:spcAft>
              <a:buFont typeface="Arial" panose="020B0604020202020204" pitchFamily="34" charset="0"/>
              <a:buChar char="•"/>
              <a:defRPr/>
            </a:pPr>
            <a:r>
              <a:rPr lang="en-US" sz="1600" dirty="0">
                <a:cs typeface="Segoe UI Semibold"/>
              </a:rPr>
              <a:t>Azure </a:t>
            </a:r>
            <a:r>
              <a:rPr lang="en-US" sz="1600" dirty="0" err="1">
                <a:cs typeface="Segoe UI Semibold"/>
              </a:rPr>
              <a:t>Keyvault</a:t>
            </a:r>
            <a:endParaRPr lang="en-US" sz="1600" dirty="0">
              <a:cs typeface="Segoe UI Semibold"/>
            </a:endParaRPr>
          </a:p>
          <a:p>
            <a:pPr marL="229870" indent="-229870" defTabSz="914192">
              <a:spcBef>
                <a:spcPts val="600"/>
              </a:spcBef>
              <a:spcAft>
                <a:spcPts val="600"/>
              </a:spcAft>
              <a:buFont typeface="Arial" panose="020B0604020202020204" pitchFamily="34" charset="0"/>
              <a:buChar char="•"/>
              <a:defRPr/>
            </a:pPr>
            <a:r>
              <a:rPr lang="en-US" sz="1600" dirty="0" err="1">
                <a:cs typeface="Segoe UI Semibold"/>
              </a:rPr>
              <a:t>Acr</a:t>
            </a:r>
            <a:r>
              <a:rPr lang="en-US" sz="1600" dirty="0">
                <a:cs typeface="Segoe UI Semibold"/>
              </a:rPr>
              <a:t> Continuous Patching</a:t>
            </a:r>
          </a:p>
          <a:p>
            <a:pPr marL="229870" indent="-229870" defTabSz="914192">
              <a:spcBef>
                <a:spcPts val="600"/>
              </a:spcBef>
              <a:spcAft>
                <a:spcPts val="600"/>
              </a:spcAft>
              <a:buFont typeface="Arial" panose="020B0604020202020204" pitchFamily="34" charset="0"/>
              <a:buChar char="•"/>
              <a:defRPr/>
            </a:pPr>
            <a:r>
              <a:rPr lang="en-US" sz="1600" dirty="0">
                <a:cs typeface="Segoe UI Semibold"/>
              </a:rPr>
              <a:t>Instructor workload Identity demo</a:t>
            </a:r>
          </a:p>
        </p:txBody>
      </p:sp>
      <p:sp>
        <p:nvSpPr>
          <p:cNvPr id="17" name="Footer Placeholder 4">
            <a:extLst>
              <a:ext uri="{FF2B5EF4-FFF2-40B4-BE49-F238E27FC236}">
                <a16:creationId xmlns:a16="http://schemas.microsoft.com/office/drawing/2014/main" id="{DB9105E0-CCA9-407E-8D0F-4D752D99EBEC}"/>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8" name="Slide Number Placeholder 3">
            <a:extLst>
              <a:ext uri="{FF2B5EF4-FFF2-40B4-BE49-F238E27FC236}">
                <a16:creationId xmlns:a16="http://schemas.microsoft.com/office/drawing/2014/main" id="{304AE491-A747-7B90-EEE6-BB05137D3A8F}"/>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522704287"/>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1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7.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4.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4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4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9.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2.xml><?xml version="1.0" encoding="utf-8"?>
<ds:datastoreItem xmlns:ds="http://schemas.openxmlformats.org/officeDocument/2006/customXml" ds:itemID="{103AB8E4-C30A-4895-9606-8D77F2E70F19}">
  <ds:schemaRefs>
    <ds:schemaRef ds:uri="Strauss.PersonalizationDefinition"/>
  </ds:schemaRefs>
</ds:datastoreItem>
</file>

<file path=customXml/itemProps3.xml><?xml version="1.0" encoding="utf-8"?>
<ds:datastoreItem xmlns:ds="http://schemas.openxmlformats.org/officeDocument/2006/customXml" ds:itemID="{628127A0-F2C3-45C3-BB9F-5B29A6B848BE}">
  <ds:schemaRefs>
    <ds:schemaRef ds:uri="Strauss.PersonalizationDefinition"/>
  </ds:schemaRefs>
</ds:datastoreItem>
</file>

<file path=customXml/itemProps4.xml><?xml version="1.0" encoding="utf-8"?>
<ds:datastoreItem xmlns:ds="http://schemas.openxmlformats.org/officeDocument/2006/customXml" ds:itemID="{A0EED17B-F609-411E-840C-8A361DF5E053}">
  <ds:schemaRefs>
    <ds:schemaRef ds:uri="Strauss.PersonalizationDefinition"/>
  </ds:schemaRefs>
</ds:datastoreItem>
</file>

<file path=customXml/itemProps5.xml><?xml version="1.0" encoding="utf-8"?>
<ds:datastoreItem xmlns:ds="http://schemas.openxmlformats.org/officeDocument/2006/customXml" ds:itemID="{82C716E8-B770-4139-99B0-F35B9C64B90F}">
  <ds:schemaRefs>
    <ds:schemaRef ds:uri="Strauss.PersonalizationDefinition"/>
  </ds:schemaRefs>
</ds:datastoreItem>
</file>

<file path=customXml/itemProps6.xml><?xml version="1.0" encoding="utf-8"?>
<ds:datastoreItem xmlns:ds="http://schemas.openxmlformats.org/officeDocument/2006/customXml" ds:itemID="{D55AC15F-0A03-4D96-AA43-65FC3DCE2717}">
  <ds:schemaRefs>
    <ds:schemaRef ds:uri="Strauss.PersonalizationDefinition"/>
  </ds:schemaRefs>
</ds:datastoreItem>
</file>

<file path=customXml/itemProps7.xml><?xml version="1.0" encoding="utf-8"?>
<ds:datastoreItem xmlns:ds="http://schemas.openxmlformats.org/officeDocument/2006/customXml" ds:itemID="{46522A59-B026-4350-BB1A-BEB05240770F}">
  <ds:schemaRefs>
    <ds:schemaRef ds:uri="Strauss.PersonalizationDefinition"/>
  </ds:schemaRefs>
</ds:datastoreItem>
</file>

<file path=customXml/itemProps8.xml><?xml version="1.0" encoding="utf-8"?>
<ds:datastoreItem xmlns:ds="http://schemas.openxmlformats.org/officeDocument/2006/customXml" ds:itemID="{B09E3EAE-66CA-4A91-A5FE-A34A70B099ED}">
  <ds:schemaRefs>
    <ds:schemaRef ds:uri="Strauss.PersonalizationDefinition"/>
  </ds:schemaRefs>
</ds:datastoreItem>
</file>

<file path=customXml/itemProps9.xml><?xml version="1.0" encoding="utf-8"?>
<ds:datastoreItem xmlns:ds="http://schemas.openxmlformats.org/officeDocument/2006/customXml" ds:itemID="{68BE9F8F-073F-46B7-B2D0-86DC8E2E9DCE}">
  <ds:schemaRefs>
    <ds:schemaRef ds:uri="Strauss.PersonalizationDefinition"/>
  </ds:schemaRefs>
</ds:datastoreItem>
</file>

<file path=customXml/itemProps10.xml><?xml version="1.0" encoding="utf-8"?>
<ds:datastoreItem xmlns:ds="http://schemas.openxmlformats.org/officeDocument/2006/customXml" ds:itemID="{4C485A9E-99A8-4277-BE90-E837A967DB2E}">
  <ds:schemaRefs>
    <ds:schemaRef ds:uri="Strauss.PersonalizationDefinition"/>
  </ds:schemaRefs>
</ds:datastoreItem>
</file>

<file path=customXml/itemProps11.xml><?xml version="1.0" encoding="utf-8"?>
<ds:datastoreItem xmlns:ds="http://schemas.openxmlformats.org/officeDocument/2006/customXml" ds:itemID="{D76C1D54-C31A-41C7-8796-37E3A885C9B9}">
  <ds:schemaRefs>
    <ds:schemaRef ds:uri="Strauss.PersonalizationDefinition"/>
  </ds:schemaRefs>
</ds:datastoreItem>
</file>

<file path=customXml/itemProps12.xml><?xml version="1.0" encoding="utf-8"?>
<ds:datastoreItem xmlns:ds="http://schemas.openxmlformats.org/officeDocument/2006/customXml" ds:itemID="{C1060A51-5976-4775-97EE-ABE1B1E4972A}">
  <ds:schemaRefs>
    <ds:schemaRef ds:uri="Strauss.PersonalizationDefinition"/>
  </ds:schemaRefs>
</ds:datastoreItem>
</file>

<file path=customXml/itemProps13.xml><?xml version="1.0" encoding="utf-8"?>
<ds:datastoreItem xmlns:ds="http://schemas.openxmlformats.org/officeDocument/2006/customXml" ds:itemID="{AC7687D8-5695-4F99-A8BA-1D247B418C22}">
  <ds:schemaRefs>
    <ds:schemaRef ds:uri="http://purl.org/dc/dcmitype/"/>
    <ds:schemaRef ds:uri="cea7764e-6bf9-427d-be15-e74097e0a61c"/>
    <ds:schemaRef ds:uri="http://schemas.microsoft.com/office/2006/documentManagement/types"/>
    <ds:schemaRef ds:uri="http://schemas.microsoft.com/office/infopath/2007/PartnerControls"/>
    <ds:schemaRef ds:uri="230e9df3-be65-4c73-a93b-d1236ebd677e"/>
    <ds:schemaRef ds:uri="http://purl.org/dc/terms/"/>
    <ds:schemaRef ds:uri="http://schemas.microsoft.com/office/2006/metadata/properties"/>
    <ds:schemaRef ds:uri="http://www.w3.org/XML/1998/namespace"/>
    <ds:schemaRef ds:uri="http://schemas.openxmlformats.org/package/2006/metadata/core-properties"/>
    <ds:schemaRef ds:uri="fb9ea31f-0ab8-44ff-80d1-5777f6d9d945"/>
    <ds:schemaRef ds:uri="http://schemas.microsoft.com/sharepoint/v3"/>
    <ds:schemaRef ds:uri="http://purl.org/dc/elements/1.1/"/>
  </ds:schemaRefs>
</ds:datastoreItem>
</file>

<file path=customXml/itemProps14.xml><?xml version="1.0" encoding="utf-8"?>
<ds:datastoreItem xmlns:ds="http://schemas.openxmlformats.org/officeDocument/2006/customXml" ds:itemID="{DF333A1B-0A9C-4DA8-ADAB-4378B69FDC48}">
  <ds:schemaRefs>
    <ds:schemaRef ds:uri="Strauss.PersonalizationDefinition"/>
  </ds:schemaRefs>
</ds:datastoreItem>
</file>

<file path=customXml/itemProps15.xml><?xml version="1.0" encoding="utf-8"?>
<ds:datastoreItem xmlns:ds="http://schemas.openxmlformats.org/officeDocument/2006/customXml" ds:itemID="{E7EBEF02-C69B-46E0-B38A-E51611CE5254}">
  <ds:schemaRefs>
    <ds:schemaRef ds:uri="Strauss.PersonalizationDefinition"/>
  </ds:schemaRefs>
</ds:datastoreItem>
</file>

<file path=customXml/itemProps16.xml><?xml version="1.0" encoding="utf-8"?>
<ds:datastoreItem xmlns:ds="http://schemas.openxmlformats.org/officeDocument/2006/customXml" ds:itemID="{4EA01338-72BB-48B6-B6A4-05B31FE21105}">
  <ds:schemaRefs>
    <ds:schemaRef ds:uri="Strauss.PersonalizationDefinition"/>
  </ds:schemaRefs>
</ds:datastoreItem>
</file>

<file path=customXml/itemProps17.xml><?xml version="1.0" encoding="utf-8"?>
<ds:datastoreItem xmlns:ds="http://schemas.openxmlformats.org/officeDocument/2006/customXml" ds:itemID="{B228D3F7-8445-4CE7-92DC-AC7FE2D5A2AF}">
  <ds:schemaRefs>
    <ds:schemaRef ds:uri="Strauss.PersonalizationDefinition"/>
  </ds:schemaRefs>
</ds:datastoreItem>
</file>

<file path=customXml/itemProps18.xml><?xml version="1.0" encoding="utf-8"?>
<ds:datastoreItem xmlns:ds="http://schemas.openxmlformats.org/officeDocument/2006/customXml" ds:itemID="{DE0DC7DC-A960-4E6E-BF1B-D3D906B081A2}">
  <ds:schemaRefs>
    <ds:schemaRef ds:uri="Strauss.PersonalizationDefinition"/>
  </ds:schemaRefs>
</ds:datastoreItem>
</file>

<file path=customXml/itemProps19.xml><?xml version="1.0" encoding="utf-8"?>
<ds:datastoreItem xmlns:ds="http://schemas.openxmlformats.org/officeDocument/2006/customXml" ds:itemID="{2BCFCE7B-4A43-491B-887D-365E2A1C50B2}">
  <ds:schemaRefs>
    <ds:schemaRef ds:uri="Strauss.PersonalizationDefinition"/>
  </ds:schemaRefs>
</ds:datastoreItem>
</file>

<file path=customXml/itemProps20.xml><?xml version="1.0" encoding="utf-8"?>
<ds:datastoreItem xmlns:ds="http://schemas.openxmlformats.org/officeDocument/2006/customXml" ds:itemID="{11767EAE-0FC6-472D-9D35-EB3533243F22}">
  <ds:schemaRefs>
    <ds:schemaRef ds:uri="Strauss.PersonalizationDefinition"/>
  </ds:schemaRefs>
</ds:datastoreItem>
</file>

<file path=customXml/itemProps21.xml><?xml version="1.0" encoding="utf-8"?>
<ds:datastoreItem xmlns:ds="http://schemas.openxmlformats.org/officeDocument/2006/customXml" ds:itemID="{FBC13881-F2DC-4AA3-88C8-97C40CA1EBC7}">
  <ds:schemaRefs>
    <ds:schemaRef ds:uri="Strauss.PersonalizationDefinition"/>
  </ds:schemaRefs>
</ds:datastoreItem>
</file>

<file path=customXml/itemProps22.xml><?xml version="1.0" encoding="utf-8"?>
<ds:datastoreItem xmlns:ds="http://schemas.openxmlformats.org/officeDocument/2006/customXml" ds:itemID="{32920470-F086-4197-B6FE-12027DE25DCC}">
  <ds:schemaRefs>
    <ds:schemaRef ds:uri="Strauss.PersonalizationDefinition"/>
  </ds:schemaRefs>
</ds:datastoreItem>
</file>

<file path=customXml/itemProps23.xml><?xml version="1.0" encoding="utf-8"?>
<ds:datastoreItem xmlns:ds="http://schemas.openxmlformats.org/officeDocument/2006/customXml" ds:itemID="{406127A5-B8F7-4F8A-95A9-8E20F72EA129}">
  <ds:schemaRefs>
    <ds:schemaRef ds:uri="Strauss.PersonalizationDefinition"/>
  </ds:schemaRefs>
</ds:datastoreItem>
</file>

<file path=customXml/itemProps24.xml><?xml version="1.0" encoding="utf-8"?>
<ds:datastoreItem xmlns:ds="http://schemas.openxmlformats.org/officeDocument/2006/customXml" ds:itemID="{08068EAD-DA6C-4DC8-843E-9CB0982D15F3}">
  <ds:schemaRefs>
    <ds:schemaRef ds:uri="Strauss.PersonalizationDefinition"/>
  </ds:schemaRefs>
</ds:datastoreItem>
</file>

<file path=customXml/itemProps25.xml><?xml version="1.0" encoding="utf-8"?>
<ds:datastoreItem xmlns:ds="http://schemas.openxmlformats.org/officeDocument/2006/customXml" ds:itemID="{4A3F169F-E27D-4A25-888C-4C5D83BAC082}">
  <ds:schemaRefs>
    <ds:schemaRef ds:uri="Strauss.PersonalizationDefinition"/>
  </ds:schemaRefs>
</ds:datastoreItem>
</file>

<file path=customXml/itemProps26.xml><?xml version="1.0" encoding="utf-8"?>
<ds:datastoreItem xmlns:ds="http://schemas.openxmlformats.org/officeDocument/2006/customXml" ds:itemID="{C8AE8F79-15F6-4394-93D6-ACBA2B52E6CA}">
  <ds:schemaRefs>
    <ds:schemaRef ds:uri="Strauss.PersonalizationDefinition"/>
  </ds:schemaRefs>
</ds:datastoreItem>
</file>

<file path=customXml/itemProps27.xml><?xml version="1.0" encoding="utf-8"?>
<ds:datastoreItem xmlns:ds="http://schemas.openxmlformats.org/officeDocument/2006/customXml" ds:itemID="{65F23EE1-DAEE-432E-A491-6A22CD2A31A2}"/>
</file>

<file path=customXml/itemProps28.xml><?xml version="1.0" encoding="utf-8"?>
<ds:datastoreItem xmlns:ds="http://schemas.openxmlformats.org/officeDocument/2006/customXml" ds:itemID="{ECCE7DC3-F525-4E76-8812-56FCA2D21E50}">
  <ds:schemaRefs>
    <ds:schemaRef ds:uri="Strauss.PersonalizationDefinition"/>
  </ds:schemaRefs>
</ds:datastoreItem>
</file>

<file path=customXml/itemProps29.xml><?xml version="1.0" encoding="utf-8"?>
<ds:datastoreItem xmlns:ds="http://schemas.openxmlformats.org/officeDocument/2006/customXml" ds:itemID="{6552B3D2-5F72-49FB-8B35-AFE12BF36804}">
  <ds:schemaRefs>
    <ds:schemaRef ds:uri="Strauss.PersonalizationDefinition"/>
  </ds:schemaRefs>
</ds:datastoreItem>
</file>

<file path=customXml/itemProps30.xml><?xml version="1.0" encoding="utf-8"?>
<ds:datastoreItem xmlns:ds="http://schemas.openxmlformats.org/officeDocument/2006/customXml" ds:itemID="{7469151F-B4F3-4C21-84F8-69D9E2B09815}">
  <ds:schemaRefs>
    <ds:schemaRef ds:uri="Strauss.PersonalizationDefinition"/>
  </ds:schemaRefs>
</ds:datastoreItem>
</file>

<file path=customXml/itemProps31.xml><?xml version="1.0" encoding="utf-8"?>
<ds:datastoreItem xmlns:ds="http://schemas.openxmlformats.org/officeDocument/2006/customXml" ds:itemID="{5C919DC8-E31E-42F0-9621-B916C2E029BA}">
  <ds:schemaRefs>
    <ds:schemaRef ds:uri="Strauss.PersonalizationDefinition"/>
  </ds:schemaRefs>
</ds:datastoreItem>
</file>

<file path=customXml/itemProps32.xml><?xml version="1.0" encoding="utf-8"?>
<ds:datastoreItem xmlns:ds="http://schemas.openxmlformats.org/officeDocument/2006/customXml" ds:itemID="{BCB2E2E3-B462-474B-AE37-CADA5D4AFEBD}">
  <ds:schemaRefs>
    <ds:schemaRef ds:uri="Strauss.PersonalizationDefinition"/>
  </ds:schemaRefs>
</ds:datastoreItem>
</file>

<file path=customXml/itemProps33.xml><?xml version="1.0" encoding="utf-8"?>
<ds:datastoreItem xmlns:ds="http://schemas.openxmlformats.org/officeDocument/2006/customXml" ds:itemID="{F56EB5D8-3CD5-48EE-9536-13CF2B9AC25D}">
  <ds:schemaRefs>
    <ds:schemaRef ds:uri="Strauss.PersonalizationDefinition"/>
  </ds:schemaRefs>
</ds:datastoreItem>
</file>

<file path=customXml/itemProps34.xml><?xml version="1.0" encoding="utf-8"?>
<ds:datastoreItem xmlns:ds="http://schemas.openxmlformats.org/officeDocument/2006/customXml" ds:itemID="{541D4602-AC17-4CBD-B95E-D5B3D757BC54}">
  <ds:schemaRefs>
    <ds:schemaRef ds:uri="Strauss.PersonalizationDefinition"/>
  </ds:schemaRefs>
</ds:datastoreItem>
</file>

<file path=customXml/itemProps35.xml><?xml version="1.0" encoding="utf-8"?>
<ds:datastoreItem xmlns:ds="http://schemas.openxmlformats.org/officeDocument/2006/customXml" ds:itemID="{554B1D04-949E-404D-83B4-CEAAF347F350}">
  <ds:schemaRefs>
    <ds:schemaRef ds:uri="Strauss.PersonalizationDefinition"/>
  </ds:schemaRefs>
</ds:datastoreItem>
</file>

<file path=customXml/itemProps36.xml><?xml version="1.0" encoding="utf-8"?>
<ds:datastoreItem xmlns:ds="http://schemas.openxmlformats.org/officeDocument/2006/customXml" ds:itemID="{5B8C224E-9BDE-4DAE-96F1-00192EEB23E7}">
  <ds:schemaRefs>
    <ds:schemaRef ds:uri="Strauss.PersonalizationDefinition"/>
  </ds:schemaRefs>
</ds:datastoreItem>
</file>

<file path=customXml/itemProps37.xml><?xml version="1.0" encoding="utf-8"?>
<ds:datastoreItem xmlns:ds="http://schemas.openxmlformats.org/officeDocument/2006/customXml" ds:itemID="{6F485757-9F3C-4A1E-9E86-E1C1551910BA}">
  <ds:schemaRefs>
    <ds:schemaRef ds:uri="Strauss.PersonalizationDefinition"/>
  </ds:schemaRefs>
</ds:datastoreItem>
</file>

<file path=customXml/itemProps38.xml><?xml version="1.0" encoding="utf-8"?>
<ds:datastoreItem xmlns:ds="http://schemas.openxmlformats.org/officeDocument/2006/customXml" ds:itemID="{734F6CED-B619-41E0-BEDE-58B64D5F5EB2}">
  <ds:schemaRefs>
    <ds:schemaRef ds:uri="Strauss.PersonalizationDefinition"/>
  </ds:schemaRefs>
</ds:datastoreItem>
</file>

<file path=customXml/itemProps39.xml><?xml version="1.0" encoding="utf-8"?>
<ds:datastoreItem xmlns:ds="http://schemas.openxmlformats.org/officeDocument/2006/customXml" ds:itemID="{CB6765BB-83B4-43B2-A3EF-D95F1359751E}">
  <ds:schemaRefs>
    <ds:schemaRef ds:uri="Strauss.PersonalizationDefinition"/>
  </ds:schemaRefs>
</ds:datastoreItem>
</file>

<file path=customXml/itemProps40.xml><?xml version="1.0" encoding="utf-8"?>
<ds:datastoreItem xmlns:ds="http://schemas.openxmlformats.org/officeDocument/2006/customXml" ds:itemID="{FC25CD5D-A9DA-407F-9106-47BDA14BCED9}">
  <ds:schemaRefs>
    <ds:schemaRef ds:uri="Strauss.PersonalizationDefinition"/>
  </ds:schemaRefs>
</ds:datastoreItem>
</file>

<file path=customXml/itemProps41.xml><?xml version="1.0" encoding="utf-8"?>
<ds:datastoreItem xmlns:ds="http://schemas.openxmlformats.org/officeDocument/2006/customXml" ds:itemID="{7BE5F28F-50CA-40F1-A02E-E794FE33362D}">
  <ds:schemaRefs>
    <ds:schemaRef ds:uri="Strauss.PersonalizationDefinition"/>
  </ds:schemaRefs>
</ds:datastoreItem>
</file>

<file path=customXml/itemProps42.xml><?xml version="1.0" encoding="utf-8"?>
<ds:datastoreItem xmlns:ds="http://schemas.openxmlformats.org/officeDocument/2006/customXml" ds:itemID="{712108F3-86F2-4B95-AF2D-FE4E45965FCC}">
  <ds:schemaRefs>
    <ds:schemaRef ds:uri="Strauss.PersonalizationDefinition"/>
  </ds:schemaRefs>
</ds:datastoreItem>
</file>

<file path=customXml/itemProps43.xml><?xml version="1.0" encoding="utf-8"?>
<ds:datastoreItem xmlns:ds="http://schemas.openxmlformats.org/officeDocument/2006/customXml" ds:itemID="{194EAFFC-155D-4E49-BFA2-3618972F1F2D}">
  <ds:schemaRefs>
    <ds:schemaRef ds:uri="Strauss.PersonalizationDefinition"/>
  </ds:schemaRefs>
</ds:datastoreItem>
</file>

<file path=customXml/itemProps44.xml><?xml version="1.0" encoding="utf-8"?>
<ds:datastoreItem xmlns:ds="http://schemas.openxmlformats.org/officeDocument/2006/customXml" ds:itemID="{EF4AA5EB-A638-4D3A-B852-E71E18ED4953}">
  <ds:schemaRefs>
    <ds:schemaRef ds:uri="Strauss.PersonalizationDefinition"/>
  </ds:schemaRefs>
</ds:datastoreItem>
</file>

<file path=customXml/itemProps45.xml><?xml version="1.0" encoding="utf-8"?>
<ds:datastoreItem xmlns:ds="http://schemas.openxmlformats.org/officeDocument/2006/customXml" ds:itemID="{EDFBA6C8-3A38-44F0-B645-B6B0034983DA}">
  <ds:schemaRefs>
    <ds:schemaRef ds:uri="Strauss.PersonalizationDefinition"/>
  </ds:schemaRefs>
</ds:datastoreItem>
</file>

<file path=customXml/itemProps46.xml><?xml version="1.0" encoding="utf-8"?>
<ds:datastoreItem xmlns:ds="http://schemas.openxmlformats.org/officeDocument/2006/customXml" ds:itemID="{D7FDC28F-4CBD-40ED-9D33-0A1360D5DEC4}">
  <ds:schemaRefs>
    <ds:schemaRef ds:uri="Strauss.PersonalizationDefinition"/>
  </ds:schemaRefs>
</ds:datastoreItem>
</file>

<file path=customXml/itemProps47.xml><?xml version="1.0" encoding="utf-8"?>
<ds:datastoreItem xmlns:ds="http://schemas.openxmlformats.org/officeDocument/2006/customXml" ds:itemID="{13A5538B-5199-4900-941A-B01E377F2065}">
  <ds:schemaRefs>
    <ds:schemaRef ds:uri="Strauss.PersonalizationDefinition"/>
  </ds:schemaRefs>
</ds:datastoreItem>
</file>

<file path=customXml/itemProps48.xml><?xml version="1.0" encoding="utf-8"?>
<ds:datastoreItem xmlns:ds="http://schemas.openxmlformats.org/officeDocument/2006/customXml" ds:itemID="{BC268A45-186B-46A3-937F-0E016CEA70C1}">
  <ds:schemaRefs>
    <ds:schemaRef ds:uri="Strauss.PersonalizationDefinition"/>
  </ds:schemaRefs>
</ds:datastoreItem>
</file>

<file path=customXml/itemProps49.xml><?xml version="1.0" encoding="utf-8"?>
<ds:datastoreItem xmlns:ds="http://schemas.openxmlformats.org/officeDocument/2006/customXml" ds:itemID="{A09B3D8F-A36C-4B6D-871D-C53F61DFD219}">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15126</TotalTime>
  <Words>6400</Words>
  <Application>Microsoft Office PowerPoint</Application>
  <PresentationFormat>Widescreen</PresentationFormat>
  <Paragraphs>933</Paragraphs>
  <Slides>27</Slides>
  <Notes>25</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White Template</vt:lpstr>
      <vt:lpstr>Azure Kubernetes Service (AKS) Security</vt:lpstr>
      <vt:lpstr>Conditions and terms of use</vt:lpstr>
      <vt:lpstr>Learning Units covered  in this Module</vt:lpstr>
      <vt:lpstr>Core Kubernetes Security Concepts</vt:lpstr>
      <vt:lpstr>Secure all the things!!</vt:lpstr>
      <vt:lpstr>Containers Secure Supply Chain (CSSC) Framework</vt:lpstr>
      <vt:lpstr>Acquire Stage</vt:lpstr>
      <vt:lpstr>Acquire Stage</vt:lpstr>
      <vt:lpstr>Catalog Stage</vt:lpstr>
      <vt:lpstr>Catalog Stage</vt:lpstr>
      <vt:lpstr>Build Stage</vt:lpstr>
      <vt:lpstr>Build Stage</vt:lpstr>
      <vt:lpstr>Deploy Stage</vt:lpstr>
      <vt:lpstr>Deploy Stage</vt:lpstr>
      <vt:lpstr>Run Stage</vt:lpstr>
      <vt:lpstr>Run Stage</vt:lpstr>
      <vt:lpstr>Authenticity &amp; Integrity</vt:lpstr>
      <vt:lpstr>Observability</vt:lpstr>
      <vt:lpstr>Security Options for AKS</vt:lpstr>
      <vt:lpstr>Defender for Containers </vt:lpstr>
      <vt:lpstr>Workload Identity </vt:lpstr>
      <vt:lpstr>Walkthrough</vt:lpstr>
      <vt:lpstr>ACR Continuous patching  </vt:lpstr>
      <vt:lpstr>Azure Key Vault</vt:lpstr>
      <vt:lpstr>Azure Key Vault Integration</vt:lpstr>
      <vt:lpstr>Open Source Options  </vt:lpstr>
      <vt:lpstr>Lab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Andrew Albers</cp:lastModifiedBy>
  <cp:revision>51</cp:revision>
  <dcterms:created xsi:type="dcterms:W3CDTF">2019-02-08T20:09:46Z</dcterms:created>
  <dcterms:modified xsi:type="dcterms:W3CDTF">2025-09-08T19:12:49Z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25353600</vt:r8>
  </property>
  <property fmtid="{D5CDD505-2E9C-101B-9397-08002B2CF9AE}" pid="21" name="Lead Signoff">
    <vt:bool>false</vt:bool>
  </property>
  <property fmtid="{D5CDD505-2E9C-101B-9397-08002B2CF9AE}" pid="22" name="Title URL">
    <vt:lpwstr>, </vt:lpwstr>
  </property>
  <property fmtid="{D5CDD505-2E9C-101B-9397-08002B2CF9AE}" pid="23" name="xd_Signature">
    <vt:bool>false</vt:bool>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State">
    <vt:lpwstr>Open</vt:lpwstr>
  </property>
  <property fmtid="{D5CDD505-2E9C-101B-9397-08002B2CF9AE}" pid="30" name="_ExtendedDescription">
    <vt:lpwstr/>
  </property>
  <property fmtid="{D5CDD505-2E9C-101B-9397-08002B2CF9AE}" pid="31" name="TriggerFlowInfo">
    <vt:lpwstr/>
  </property>
  <property fmtid="{D5CDD505-2E9C-101B-9397-08002B2CF9AE}" pid="32" name="Mail Sent">
    <vt:bool>false</vt:bool>
  </property>
</Properties>
</file>